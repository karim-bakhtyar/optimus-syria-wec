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3"/>
  </p:notesMasterIdLst>
  <p:sldIdLst>
    <p:sldId id="256" r:id="rId4"/>
    <p:sldId id="259" r:id="rId5"/>
    <p:sldId id="279" r:id="rId6"/>
    <p:sldId id="280" r:id="rId7"/>
    <p:sldId id="281" r:id="rId8"/>
    <p:sldId id="268" r:id="rId9"/>
    <p:sldId id="277" r:id="rId10"/>
    <p:sldId id="28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9"/>
            <p14:sldId id="280"/>
            <p14:sldId id="281"/>
            <p14:sldId id="268"/>
            <p14:sldId id="277"/>
            <p14:sldId id="282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9AA2A-3B22-C2C4-DBDE-61718F2823EF}" v="723" dt="2025-12-15T16:19:39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4" autoAdjust="0"/>
    <p:restoredTop sz="80528" autoAdjust="0"/>
  </p:normalViewPr>
  <p:slideViewPr>
    <p:cSldViewPr snapToGrid="0">
      <p:cViewPr varScale="1">
        <p:scale>
          <a:sx n="69" d="100"/>
          <a:sy n="69" d="100"/>
        </p:scale>
        <p:origin x="14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678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3567-945C-EAF4-1018-813BBC5C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601874-15A5-189E-3377-14F24866B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31E68A-55E6-D4F6-EA6B-FB20BDA53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41BD7-F59F-F392-1DAA-14B4E0670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755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0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46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F73DF-2B02-06F6-C67D-DDFB6038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076C3-000A-8972-9AA8-48E9E7D13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63B77-1FA8-7219-399A-DE668F57E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929E1-26E1-C6EE-C78B-7F34592C5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322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works ??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21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958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73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7331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06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5504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20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337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7692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078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7826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12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3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ntryeconomy.com/energy-and-environment/electricity-consumption/syri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Energy_in_Syria" TargetMode="External"/><Relationship Id="rId4" Type="http://schemas.openxmlformats.org/officeDocument/2006/relationships/hyperlink" Target="https://www.worlddata.info/asia/syria/energy-consumption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000" dirty="0"/>
              <a:t>Weekly report: </a:t>
            </a:r>
            <a:r>
              <a:rPr lang="en-US" altLang="it-IT" sz="4000" dirty="0"/>
              <a:t>Storage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/>
              <a:t>12th week – </a:t>
            </a:r>
            <a:r>
              <a:rPr lang="ar-EG" altLang="it-IT" sz="2000" dirty="0">
                <a:cs typeface="Arial"/>
              </a:rPr>
              <a:t>13</a:t>
            </a:r>
            <a:r>
              <a:rPr lang="it-IT" sz="2000" dirty="0"/>
              <a:t>th Presentation</a:t>
            </a:r>
          </a:p>
          <a:p>
            <a:r>
              <a:rPr lang="it-IT" sz="2000" dirty="0"/>
              <a:t>Date: </a:t>
            </a:r>
            <a:r>
              <a:rPr lang="ar-EG" altLang="it-IT" sz="2000" dirty="0">
                <a:cs typeface="Arial"/>
              </a:rPr>
              <a:t> 16</a:t>
            </a:r>
            <a:r>
              <a:rPr lang="it-IT" sz="2000" dirty="0"/>
              <a:t>/</a:t>
            </a:r>
            <a:r>
              <a:rPr lang="en-US" altLang="it-IT" sz="2000" dirty="0"/>
              <a:t>12</a:t>
            </a:r>
            <a:r>
              <a:rPr lang="it-IT" sz="2000" dirty="0"/>
              <a:t>/2025</a:t>
            </a:r>
          </a:p>
          <a:p>
            <a:r>
              <a:rPr lang="it-IT" sz="2000" dirty="0"/>
              <a:t>Supervisor: Dr. </a:t>
            </a:r>
            <a:r>
              <a:rPr lang="en-US" sz="2000" dirty="0"/>
              <a:t>Laurence </a:t>
            </a:r>
            <a:r>
              <a:rPr lang="en-US" sz="2000" dirty="0" err="1"/>
              <a:t>Alhrshy</a:t>
            </a:r>
            <a:endParaRPr lang="en-GB" sz="2000" dirty="0"/>
          </a:p>
        </p:txBody>
      </p:sp>
      <p:pic>
        <p:nvPicPr>
          <p:cNvPr id="8" name="Picture 8" descr="Hochschule Flensburg (Fachhochschule) –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2454216" y="460966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Presented by</a:t>
            </a:r>
            <a:r>
              <a:rPr lang="ar-EG" dirty="0"/>
              <a:t> :</a:t>
            </a:r>
            <a:r>
              <a:rPr lang="en-US" altLang="de-DE" dirty="0"/>
              <a:t>Mohamed Ahmed</a:t>
            </a:r>
          </a:p>
        </p:txBody>
      </p:sp>
      <p:sp>
        <p:nvSpPr>
          <p:cNvPr id="34" name="Free-form: Shape 13"/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/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/>
          <p:cNvSpPr/>
          <p:nvPr/>
        </p:nvSpPr>
        <p:spPr>
          <a:xfrm>
            <a:off x="31410" y="5935177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98" y="5340555"/>
            <a:ext cx="1753782" cy="131363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77213" y="6492562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16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03544" y="1444973"/>
            <a:ext cx="11499858" cy="4659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it-IT" sz="2800" dirty="0">
                <a:solidFill>
                  <a:srgbClr val="FF0000"/>
                </a:solidFill>
              </a:rPr>
              <a:t>Content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ar-EG" dirty="0"/>
            </a:b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ptos Display"/>
              </a:rPr>
              <a:t>Economic Evaluation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ptos Display"/>
              </a:rPr>
              <a:t>Payback Period Evaluation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ptos Display"/>
              </a:rPr>
              <a:t>Environmental Impact and CO₂ Reduction Potential</a:t>
            </a:r>
            <a:endParaRPr lang="en-GB" dirty="0">
              <a:latin typeface="Aptos Display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/>
              <a:t>References</a:t>
            </a:r>
          </a:p>
          <a:p>
            <a:endParaRPr lang="it-IT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16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BD0EF25-9C31-465D-A782-00E58F9E1039}"/>
              </a:ext>
            </a:extLst>
          </p:cNvPr>
          <p:cNvSpPr txBox="1">
            <a:spLocks/>
          </p:cNvSpPr>
          <p:nvPr/>
        </p:nvSpPr>
        <p:spPr>
          <a:xfrm>
            <a:off x="2877213" y="6492562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Advantages of Wind Energy | Avaada">
            <a:extLst>
              <a:ext uri="{FF2B5EF4-FFF2-40B4-BE49-F238E27FC236}">
                <a16:creationId xmlns:a16="http://schemas.microsoft.com/office/drawing/2014/main" id="{9D9AFD5D-E77B-4277-BE85-9743483CC8F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792" y="1969731"/>
            <a:ext cx="5998651" cy="350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ABC005-122F-40ED-BE0F-9183EFAF1C3A}"/>
              </a:ext>
            </a:extLst>
          </p:cNvPr>
          <p:cNvSpPr txBox="1"/>
          <p:nvPr/>
        </p:nvSpPr>
        <p:spPr>
          <a:xfrm>
            <a:off x="5998403" y="5480303"/>
            <a:ext cx="6144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avaada.com/advantages-of-wind-energy/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35" y="417316"/>
            <a:ext cx="10860065" cy="741016"/>
          </a:xfrm>
        </p:spPr>
        <p:txBody>
          <a:bodyPr>
            <a:normAutofit/>
          </a:bodyPr>
          <a:lstStyle/>
          <a:p>
            <a:r>
              <a:rPr lang="en-GB" dirty="0">
                <a:ea typeface="+mj-lt"/>
                <a:cs typeface="+mj-lt"/>
              </a:rPr>
              <a:t>Economic Evaluation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735" y="1178449"/>
            <a:ext cx="5880968" cy="517596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Steadying Power Infeed</a:t>
            </a:r>
            <a:r>
              <a:rPr lang="en-GB" dirty="0"/>
              <a:t>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Fast Frequency Response (FFR).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Synthetic / Continuous Inertia Provision.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Low Voltage Ride Through (LVRT).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Power System Stabilization (PSS).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Reduction of Mechanical Loads &amp; Stress.</a:t>
            </a:r>
            <a:endParaRPr lang="ar-EG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Support for Emergency Braking &amp; Ramp Control.</a:t>
            </a:r>
            <a:endParaRPr lang="ar-EG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EC1D65-9D7D-4C41-B651-FC8915DA0A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835" y="1467035"/>
            <a:ext cx="5582425" cy="3493867"/>
          </a:xfr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84418" y="1140565"/>
            <a:ext cx="11312929" cy="198328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16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pic>
        <p:nvPicPr>
          <p:cNvPr id="3" name="Picture 2" descr="A table of numbers&#10;&#10;AI-generated content may be incorrect.">
            <a:extLst>
              <a:ext uri="{FF2B5EF4-FFF2-40B4-BE49-F238E27FC236}">
                <a16:creationId xmlns:a16="http://schemas.microsoft.com/office/drawing/2014/main" id="{F8A5DB86-C919-0236-259C-F1531C4A9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8" y="1062038"/>
            <a:ext cx="3362325" cy="4733925"/>
          </a:xfrm>
          <a:prstGeom prst="rect">
            <a:avLst/>
          </a:prstGeom>
        </p:spPr>
      </p:pic>
      <p:pic>
        <p:nvPicPr>
          <p:cNvPr id="6" name="Picture 5" descr="A graph with numbers and a number on it&#10;&#10;AI-generated content may be incorrect.">
            <a:extLst>
              <a:ext uri="{FF2B5EF4-FFF2-40B4-BE49-F238E27FC236}">
                <a16:creationId xmlns:a16="http://schemas.microsoft.com/office/drawing/2014/main" id="{2AC8B7C6-2B3A-A668-CDFA-DA8E11AB1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6881"/>
            <a:ext cx="12192000" cy="462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8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0465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3379498" y="6555722"/>
            <a:ext cx="370401" cy="3129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22" y="670438"/>
            <a:ext cx="11479045" cy="521044"/>
          </a:xfrm>
        </p:spPr>
        <p:txBody>
          <a:bodyPr>
            <a:normAutofit fontScale="90000"/>
          </a:bodyPr>
          <a:lstStyle/>
          <a:p>
            <a:r>
              <a:rPr lang="en-GB" dirty="0">
                <a:ea typeface="+mj-lt"/>
                <a:cs typeface="+mj-lt"/>
              </a:rPr>
              <a:t>Payback Period Evaluation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0CE86B-BA1B-4A2C-B63B-D3995EEF3E63}"/>
              </a:ext>
            </a:extLst>
          </p:cNvPr>
          <p:cNvCxnSpPr/>
          <p:nvPr/>
        </p:nvCxnSpPr>
        <p:spPr>
          <a:xfrm>
            <a:off x="463541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99492B8-E6AB-4E0F-8279-910A7FDA3ABF}"/>
              </a:ext>
            </a:extLst>
          </p:cNvPr>
          <p:cNvSpPr txBox="1"/>
          <p:nvPr/>
        </p:nvSpPr>
        <p:spPr>
          <a:xfrm>
            <a:off x="3961391" y="655601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57DED-CB21-4913-A6EE-23CCB0DB26BD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33658246-FF2B-4F5F-B6FD-4F30B360AD84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16/12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EC22C-C79A-443D-941E-52C75CEB0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158" y="1710289"/>
            <a:ext cx="5551129" cy="35731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Payback Period =</a:t>
            </a:r>
            <a:endParaRPr 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the last year with negative Cf + (Amount of Cf at the end of that year/ Cf during the year after that year)</a:t>
            </a:r>
            <a:endParaRPr lang="en-US">
              <a:cs typeface="Arial" panose="020B0604020202020204" pitchFamily="34" charset="0"/>
            </a:endParaRPr>
          </a:p>
        </p:txBody>
      </p:sp>
      <p:pic>
        <p:nvPicPr>
          <p:cNvPr id="3" name="Picture 2" descr="A table of numbers and digits&#10;&#10;AI-generated content may be incorrect.">
            <a:extLst>
              <a:ext uri="{FF2B5EF4-FFF2-40B4-BE49-F238E27FC236}">
                <a16:creationId xmlns:a16="http://schemas.microsoft.com/office/drawing/2014/main" id="{9FF1205E-0B6C-B979-90BC-419C73D01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93" y="1448258"/>
            <a:ext cx="4582568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69C9-BE6A-8846-A2B4-0C011EAE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DA65D10-2E02-4056-7BC5-4501C2CF51D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3679F6B9-B47A-B45E-EB3C-8780C8001AD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25C642A-54C2-6F01-7102-17CF1D101ECD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9C4949-ED74-91FB-7EC7-ADC5D857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700" dirty="0">
                <a:ea typeface="+mj-lt"/>
                <a:cs typeface="+mj-lt"/>
              </a:rPr>
              <a:t>Economic Overview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80E83B0-491A-F5C7-FC73-661CB9C1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47C546-80B0-4554-E396-585C9578510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CEB50D89-B5A1-5639-516C-A720EE2A152B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DB87D-4567-7682-0A4E-BF43A92753D0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DF6CDC-5F8F-1D10-E782-4A292FB77016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E77BE7-DB62-C6AB-9C61-ADAB973C8805}"/>
              </a:ext>
            </a:extLst>
          </p:cNvPr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F130315F-25F4-2375-14C9-83D8CDF4A60A}"/>
              </a:ext>
            </a:extLst>
          </p:cNvPr>
          <p:cNvSpPr txBox="1"/>
          <p:nvPr/>
        </p:nvSpPr>
        <p:spPr>
          <a:xfrm>
            <a:off x="1029979" y="6552895"/>
            <a:ext cx="957580" cy="27559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16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44B9B-6E76-65D6-C0CB-3CE9E710E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435836"/>
              </p:ext>
            </p:extLst>
          </p:nvPr>
        </p:nvGraphicFramePr>
        <p:xfrm>
          <a:off x="480164" y="1273479"/>
          <a:ext cx="8238705" cy="27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553">
                  <a:extLst>
                    <a:ext uri="{9D8B030D-6E8A-4147-A177-3AD203B41FA5}">
                      <a16:colId xmlns:a16="http://schemas.microsoft.com/office/drawing/2014/main" val="1465823881"/>
                    </a:ext>
                  </a:extLst>
                </a:gridCol>
                <a:gridCol w="5141152">
                  <a:extLst>
                    <a:ext uri="{9D8B030D-6E8A-4147-A177-3AD203B41FA5}">
                      <a16:colId xmlns:a16="http://schemas.microsoft.com/office/drawing/2014/main" val="3242564364"/>
                    </a:ext>
                  </a:extLst>
                </a:gridCol>
              </a:tblGrid>
              <a:tr h="54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97253"/>
                  </a:ext>
                </a:extLst>
              </a:tr>
              <a:tr h="540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LCOE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85.81(USD/MWh)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596806"/>
                  </a:ext>
                </a:extLst>
              </a:tr>
              <a:tr h="540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NPV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20832.06(USD)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625210"/>
                  </a:ext>
                </a:extLst>
              </a:tr>
              <a:tr h="540070">
                <a:tc>
                  <a:txBody>
                    <a:bodyPr/>
                    <a:lstStyle/>
                    <a:p>
                      <a:r>
                        <a:rPr lang="en-US" dirty="0"/>
                        <a:t>IRR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24343"/>
                  </a:ext>
                </a:extLst>
              </a:tr>
              <a:tr h="5400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Economic feasibility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418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AA66FC-8585-DD9D-CCFF-4D997D99BA6F}"/>
              </a:ext>
            </a:extLst>
          </p:cNvPr>
          <p:cNvSpPr txBox="1"/>
          <p:nvPr/>
        </p:nvSpPr>
        <p:spPr>
          <a:xfrm>
            <a:off x="473217" y="4271847"/>
            <a:ext cx="599876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LCOE: Levelized cost of energy.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NPV: Net present value.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IRR: Internal rate of return.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7769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137934" y="1428181"/>
            <a:ext cx="11824473" cy="5150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1.</a:t>
            </a:r>
            <a:r>
              <a:rPr lang="en-GB" b="1" dirty="0"/>
              <a:t>Power Sector Emissions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GB" dirty="0"/>
              <a:t>In 2024, Syria’s power sector emitted approximately 22 million metric tons of CO₂.</a:t>
            </a:r>
          </a:p>
          <a:p>
            <a:pPr lvl="1">
              <a:lnSpc>
                <a:spcPct val="150000"/>
              </a:lnSpc>
            </a:pPr>
            <a:r>
              <a:rPr lang="en-GB" b="1" dirty="0"/>
              <a:t>Renewable energy share</a:t>
            </a:r>
            <a:r>
              <a:rPr lang="en-GB" dirty="0"/>
              <a:t>: Approximately</a:t>
            </a:r>
            <a:r>
              <a:rPr lang="en-GB" b="1" dirty="0"/>
              <a:t> 4.5%</a:t>
            </a:r>
            <a:r>
              <a:rPr lang="en-GB" dirty="0"/>
              <a:t> of total power generation.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•</a:t>
            </a:r>
            <a:r>
              <a:rPr lang="en-GB" b="1" dirty="0"/>
              <a:t>Calculation:</a:t>
            </a:r>
            <a:endParaRPr lang="en-GB"/>
          </a:p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•</a:t>
            </a:r>
            <a:r>
              <a:rPr lang="en-GB" dirty="0"/>
              <a:t>Total electricity generation = </a:t>
            </a:r>
            <a:r>
              <a:rPr lang="en-GB" dirty="0">
                <a:ea typeface="+mn-lt"/>
                <a:cs typeface="+mn-lt"/>
              </a:rPr>
              <a:t>0.891</a:t>
            </a:r>
            <a:r>
              <a:rPr lang="en-GB" dirty="0"/>
              <a:t> TWh (renewables) / 0.045 ≈ </a:t>
            </a:r>
            <a:r>
              <a:rPr lang="en-GB" b="1" dirty="0"/>
              <a:t>19.8 TWh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ea typeface="+mn-lt"/>
                <a:cs typeface="+mn-lt"/>
              </a:rPr>
              <a:t>CO₂ emissions per kWh = 22 million metric tons / 19.8 TWh ≈ </a:t>
            </a:r>
            <a:r>
              <a:rPr lang="en-GB" b="1" dirty="0">
                <a:ea typeface="+mn-lt"/>
                <a:cs typeface="+mn-lt"/>
              </a:rPr>
              <a:t>1111.1 g CO₂/kWh </a:t>
            </a:r>
            <a:endParaRPr lang="en-GB" b="1" dirty="0"/>
          </a:p>
          <a:p>
            <a:pPr lvl="1">
              <a:lnSpc>
                <a:spcPct val="150000"/>
              </a:lnSpc>
            </a:pPr>
            <a:r>
              <a:rPr lang="en-GB" b="1" dirty="0"/>
              <a:t>2.Wind Energy Curtailment &amp; Battery Storage Impact</a:t>
            </a:r>
            <a:endParaRPr lang="en-GB"/>
          </a:p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•</a:t>
            </a:r>
            <a:r>
              <a:rPr lang="en-GB" b="1" dirty="0"/>
              <a:t>Annual Energy Production (AEP):</a:t>
            </a:r>
            <a:r>
              <a:rPr lang="en-GB" dirty="0"/>
              <a:t> 16,721.96 MWh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•</a:t>
            </a:r>
            <a:r>
              <a:rPr lang="en-GB" b="1" dirty="0"/>
              <a:t>Annual Curtailment:</a:t>
            </a:r>
            <a:r>
              <a:rPr lang="en-GB" dirty="0"/>
              <a:t> 6.6% = </a:t>
            </a:r>
            <a:r>
              <a:rPr lang="en-GB" b="1" dirty="0"/>
              <a:t>1,103.65 MWh/year</a:t>
            </a:r>
            <a:endParaRPr lang="en-GB"/>
          </a:p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•</a:t>
            </a:r>
            <a:r>
              <a:rPr lang="en-GB" b="1" dirty="0"/>
              <a:t>Curtailment Emissions if Grid-Supplied:</a:t>
            </a:r>
            <a:endParaRPr lang="en-GB"/>
          </a:p>
          <a:p>
            <a:pPr lvl="1">
              <a:lnSpc>
                <a:spcPct val="150000"/>
              </a:lnSpc>
            </a:pPr>
            <a:r>
              <a:rPr lang="en-GB" dirty="0">
                <a:latin typeface="Arial"/>
                <a:cs typeface="Arial"/>
              </a:rPr>
              <a:t>•</a:t>
            </a:r>
            <a:r>
              <a:rPr lang="en-GB" dirty="0"/>
              <a:t>CO₂ emissions = 1,103.65 MWh ×1111.11 g CO₂/kWh ≈ </a:t>
            </a:r>
            <a:r>
              <a:rPr lang="en-GB" b="1" dirty="0"/>
              <a:t>1226.27 metric tons/year</a:t>
            </a:r>
          </a:p>
          <a:p>
            <a:pPr lvl="1"/>
            <a:endParaRPr lang="en-GB" sz="2000" b="1" dirty="0"/>
          </a:p>
          <a:p>
            <a:pPr lvl="1"/>
            <a:endParaRPr lang="en-GB" sz="2000" b="1" dirty="0"/>
          </a:p>
          <a:p>
            <a:pPr marL="914400" lvl="1">
              <a:spcBef>
                <a:spcPts val="1000"/>
              </a:spcBef>
            </a:pPr>
            <a:endParaRPr lang="en-GB" dirty="0"/>
          </a:p>
          <a:p>
            <a:pPr lvl="1">
              <a:spcBef>
                <a:spcPts val="1000"/>
              </a:spcBef>
            </a:pPr>
            <a:endParaRPr lang="en-GB" sz="2400" dirty="0"/>
          </a:p>
          <a:p>
            <a:pPr lvl="1">
              <a:spcBef>
                <a:spcPts val="1000"/>
              </a:spcBef>
            </a:pPr>
            <a:endParaRPr lang="en-GB" sz="24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62997" y="91737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ea typeface="+mj-lt"/>
                <a:cs typeface="+mj-lt"/>
              </a:rPr>
              <a:t>Environmental Impact and CO₂ Reduction Potential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sz="1200" dirty="0">
                <a:solidFill>
                  <a:schemeClr val="bg1"/>
                </a:solidFill>
              </a:rPr>
              <a:t>Mohamed Ahmed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Storage System Team/ Optimus Syria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8275" y="5849957"/>
            <a:ext cx="18473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endParaRPr lang="ar-EG"/>
          </a:p>
        </p:txBody>
      </p:sp>
      <p:sp>
        <p:nvSpPr>
          <p:cNvPr id="32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it-IT" sz="1200" dirty="0">
                <a:solidFill>
                  <a:schemeClr val="bg1"/>
                </a:solidFill>
              </a:rPr>
              <a:t>16</a:t>
            </a:r>
            <a:r>
              <a:rPr lang="it-IT" sz="1200" dirty="0">
                <a:solidFill>
                  <a:schemeClr val="bg1"/>
                </a:solidFill>
              </a:rPr>
              <a:t>/</a:t>
            </a:r>
            <a:r>
              <a:rPr lang="en-US" altLang="it-IT" sz="1200" dirty="0">
                <a:solidFill>
                  <a:schemeClr val="bg1"/>
                </a:solidFill>
              </a:rPr>
              <a:t>12</a:t>
            </a:r>
            <a:r>
              <a:rPr lang="it-IT" sz="1200" dirty="0">
                <a:solidFill>
                  <a:schemeClr val="bg1"/>
                </a:solidFill>
              </a:rPr>
              <a:t>/2025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2328" y="240140"/>
            <a:ext cx="10515600" cy="10437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ea typeface="+mj-lt"/>
                <a:cs typeface="+mj-lt"/>
              </a:rPr>
              <a:t>Environmental Impact and CO₂ Reduction Potential</a:t>
            </a:r>
            <a:endParaRPr lang="en-US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7CCE0A0-B4E2-481B-8241-7A2C5B516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267736"/>
            <a:ext cx="11683797" cy="5089676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b="1" dirty="0"/>
              <a:t>3. Battery System Emissions</a:t>
            </a:r>
            <a:endParaRPr lang="en-US" sz="180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dirty="0"/>
              <a:t>Battery capacity: </a:t>
            </a:r>
            <a:r>
              <a:rPr lang="en-GB" sz="1800" b="1" dirty="0"/>
              <a:t>3.2 MWh</a:t>
            </a:r>
            <a:r>
              <a:rPr lang="en-GB" sz="1800" dirty="0"/>
              <a:t> </a:t>
            </a:r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dirty="0"/>
              <a:t>Battery production emissions: </a:t>
            </a:r>
            <a:r>
              <a:rPr lang="en-GB" sz="1800" b="1" dirty="0"/>
              <a:t>85 kg </a:t>
            </a:r>
            <a:r>
              <a:rPr lang="en-GB" sz="1800" b="1" dirty="0" err="1"/>
              <a:t>CO₂e</a:t>
            </a:r>
            <a:r>
              <a:rPr lang="en-GB" sz="1800" b="1" dirty="0"/>
              <a:t>/kWh</a:t>
            </a:r>
            <a:r>
              <a:rPr lang="en-GB" sz="1800" dirty="0"/>
              <a:t> (lithium-ion)</a:t>
            </a:r>
            <a:endParaRPr lang="en-US" sz="180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b="1" dirty="0"/>
              <a:t>Calculation:</a:t>
            </a:r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dirty="0"/>
              <a:t>Total emissions from production = 3,020 kWh × 85 kg </a:t>
            </a:r>
            <a:r>
              <a:rPr lang="en-GB" sz="1800" dirty="0" err="1"/>
              <a:t>CO₂e</a:t>
            </a:r>
            <a:r>
              <a:rPr lang="en-GB" sz="1800" dirty="0"/>
              <a:t>/kWh ≈ </a:t>
            </a:r>
            <a:r>
              <a:rPr lang="en-GB" sz="1800" b="1" dirty="0"/>
              <a:t>256.7 metric tons</a:t>
            </a:r>
            <a:endParaRPr lang="en-GB" sz="1800" dirty="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b="1" dirty="0"/>
              <a:t>4. Total Emissions Impact Over 15 Years</a:t>
            </a:r>
            <a:endParaRPr lang="en-GB" sz="1800" dirty="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b="1" dirty="0"/>
              <a:t>Emissions Saved:</a:t>
            </a:r>
            <a:endParaRPr lang="en-GB" sz="1800" dirty="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dirty="0"/>
              <a:t>Total emissions avoided = 1111.11 metric tons/year × 15 ≈ </a:t>
            </a:r>
            <a:r>
              <a:rPr lang="en-GB" sz="1800" b="1" dirty="0"/>
              <a:t>16,666.65 metric tons</a:t>
            </a:r>
            <a:endParaRPr lang="en-GB" sz="1800" dirty="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b="1" dirty="0"/>
              <a:t>Net Emissions Reduction:</a:t>
            </a:r>
            <a:endParaRPr lang="en-GB" sz="1800" dirty="0"/>
          </a:p>
          <a:p>
            <a:pPr lvl="1">
              <a:lnSpc>
                <a:spcPct val="150000"/>
              </a:lnSpc>
              <a:buNone/>
            </a:pPr>
            <a:r>
              <a:rPr lang="en-GB" sz="1800" dirty="0">
                <a:latin typeface="Arial"/>
                <a:cs typeface="Arial"/>
              </a:rPr>
              <a:t>•</a:t>
            </a:r>
            <a:r>
              <a:rPr lang="en-GB" sz="1800" dirty="0"/>
              <a:t>Net savings = </a:t>
            </a:r>
            <a:r>
              <a:rPr lang="en-GB" sz="1800" b="1" dirty="0"/>
              <a:t>16,666.65</a:t>
            </a:r>
            <a:r>
              <a:rPr lang="en-GB" sz="1800" dirty="0"/>
              <a:t> - 256.7 ≈ </a:t>
            </a:r>
            <a:r>
              <a:rPr lang="en-GB" sz="1800" b="1" dirty="0"/>
              <a:t>16,409.8 metric tons</a:t>
            </a:r>
            <a:endParaRPr lang="en-GB" sz="1800" dirty="0"/>
          </a:p>
          <a:p>
            <a:pPr lvl="1">
              <a:buNone/>
            </a:pPr>
            <a:endParaRPr lang="en-GB" sz="1600" b="1" dirty="0"/>
          </a:p>
          <a:p>
            <a:pPr marL="914400" lvl="1" indent="0">
              <a:lnSpc>
                <a:spcPct val="100000"/>
              </a:lnSpc>
              <a:buNone/>
            </a:pPr>
            <a:endParaRPr lang="en-GB" sz="1800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/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16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lang="en-US" altLang="it-IT" sz="1200" dirty="0">
                <a:solidFill>
                  <a:prstClr val="white"/>
                </a:solidFill>
                <a:latin typeface="Aptos"/>
              </a:rPr>
              <a:t>12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3EA7592-B30A-4269-831A-2CC2800ED94A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297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69E60-12E3-26A6-930F-970D25C7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338F6ABF-FE10-4CF5-517B-4791AC7DD3E5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0C2768A-084D-0594-3DFD-0B2D492411A0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28B7A830-FC6E-EB9B-C620-FD9CE7318ACE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6B707C-B8B6-0E05-C1CC-5FD9B578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28" y="240140"/>
            <a:ext cx="10515600" cy="90803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/>
              <a:t>Environmental Impact and CO₂ Reduction Potential</a:t>
            </a:r>
            <a:endParaRPr lang="en-US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DECBCEE7-CF89-ECE8-D1AE-946C1E6AD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328" y="1299051"/>
            <a:ext cx="11683797" cy="50583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  <a:buNone/>
            </a:pPr>
            <a:r>
              <a:rPr lang="en-GB" sz="2000" dirty="0">
                <a:latin typeface="Arial"/>
                <a:cs typeface="Arial"/>
              </a:rPr>
              <a:t>•</a:t>
            </a:r>
            <a:r>
              <a:rPr lang="en-GB" sz="2000" b="1" dirty="0"/>
              <a:t>5. Conclusion:</a:t>
            </a:r>
            <a:endParaRPr lang="en-US" sz="2000" b="1"/>
          </a:p>
          <a:p>
            <a:pPr lvl="1">
              <a:lnSpc>
                <a:spcPct val="150000"/>
              </a:lnSpc>
              <a:buNone/>
            </a:pPr>
            <a:r>
              <a:rPr lang="en-GB" sz="2000" dirty="0">
                <a:latin typeface="Arial"/>
                <a:cs typeface="Arial"/>
              </a:rPr>
              <a:t>•</a:t>
            </a:r>
            <a:r>
              <a:rPr lang="en-GB" sz="2000" b="1" dirty="0"/>
              <a:t>Significant CO₂ Reduction Potential:</a:t>
            </a:r>
            <a:r>
              <a:rPr lang="en-GB" sz="2000" dirty="0"/>
              <a:t> Despite the emissions from battery production, integrating storage prevents substantial CO₂ emissions over its 15-year lifecycle.</a:t>
            </a:r>
          </a:p>
          <a:p>
            <a:pPr lvl="1">
              <a:lnSpc>
                <a:spcPct val="150000"/>
              </a:lnSpc>
              <a:buNone/>
            </a:pPr>
            <a:r>
              <a:rPr lang="en-GB" sz="2000" dirty="0">
                <a:latin typeface="Arial"/>
                <a:cs typeface="Arial"/>
              </a:rPr>
              <a:t>•</a:t>
            </a:r>
            <a:r>
              <a:rPr lang="en-GB" sz="2000" b="1" dirty="0"/>
              <a:t>Environmental Impact:</a:t>
            </a:r>
            <a:r>
              <a:rPr lang="en-GB" sz="2000" dirty="0"/>
              <a:t> The system could </a:t>
            </a:r>
            <a:r>
              <a:rPr lang="en-GB" sz="2000" b="1" dirty="0"/>
              <a:t>save over 16,000 metric tons</a:t>
            </a:r>
            <a:r>
              <a:rPr lang="en-GB" sz="2000" dirty="0"/>
              <a:t> of CO₂ emissions by reducing reliance on the regional grid mix.</a:t>
            </a:r>
          </a:p>
          <a:p>
            <a:pPr lvl="1">
              <a:buNone/>
            </a:pPr>
            <a:endParaRPr lang="en-GB" sz="1600" b="1" dirty="0"/>
          </a:p>
          <a:p>
            <a:pPr lvl="1">
              <a:buNone/>
            </a:pPr>
            <a:endParaRPr lang="en-GB" sz="1600" b="1" dirty="0"/>
          </a:p>
          <a:p>
            <a:pPr marL="914400" lvl="1" indent="0">
              <a:lnSpc>
                <a:spcPct val="100000"/>
              </a:lnSpc>
              <a:buNone/>
            </a:pPr>
            <a:endParaRPr lang="en-GB" sz="18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692AB11-F4E1-B0E1-70D2-5FB0E6C1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AACF63-D7ED-D08D-B53D-6FA282158750}"/>
              </a:ext>
            </a:extLst>
          </p:cNvPr>
          <p:cNvCxnSpPr/>
          <p:nvPr/>
        </p:nvCxnSpPr>
        <p:spPr>
          <a:xfrm>
            <a:off x="129514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>
            <a:extLst>
              <a:ext uri="{FF2B5EF4-FFF2-40B4-BE49-F238E27FC236}">
                <a16:creationId xmlns:a16="http://schemas.microsoft.com/office/drawing/2014/main" id="{82594E0A-51E6-7C61-ADB0-62028BE58679}"/>
              </a:ext>
            </a:extLst>
          </p:cNvPr>
          <p:cNvSpPr/>
          <p:nvPr/>
        </p:nvSpPr>
        <p:spPr>
          <a:xfrm>
            <a:off x="-7747" y="6580056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5E063C-D2CD-5A24-C75D-2E51EA7D5794}"/>
              </a:ext>
            </a:extLst>
          </p:cNvPr>
          <p:cNvSpPr txBox="1"/>
          <p:nvPr/>
        </p:nvSpPr>
        <p:spPr>
          <a:xfrm>
            <a:off x="5161802" y="6597767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B8F64E-0D5B-C612-BCB7-7F356CFEFA8A}"/>
              </a:ext>
            </a:extLst>
          </p:cNvPr>
          <p:cNvSpPr txBox="1"/>
          <p:nvPr/>
        </p:nvSpPr>
        <p:spPr>
          <a:xfrm>
            <a:off x="9172575" y="6584089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35F394FB-D3AE-A2BD-A5AC-34EA821F1A5F}"/>
              </a:ext>
            </a:extLst>
          </p:cNvPr>
          <p:cNvSpPr txBox="1"/>
          <p:nvPr/>
        </p:nvSpPr>
        <p:spPr>
          <a:xfrm>
            <a:off x="1029979" y="6552895"/>
            <a:ext cx="944489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it-IT" sz="1200">
                <a:solidFill>
                  <a:prstClr val="white"/>
                </a:solidFill>
                <a:latin typeface="Aptos"/>
              </a:rPr>
              <a:t>16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lang="en-US" altLang="it-IT" sz="1200">
                <a:solidFill>
                  <a:prstClr val="white"/>
                </a:solidFill>
                <a:latin typeface="Aptos"/>
              </a:rPr>
              <a:t>11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553F1DA-A4DD-57CA-6BE3-F3A5AE47736F}"/>
              </a:ext>
            </a:extLst>
          </p:cNvPr>
          <p:cNvSpPr txBox="1">
            <a:spLocks/>
          </p:cNvSpPr>
          <p:nvPr/>
        </p:nvSpPr>
        <p:spPr>
          <a:xfrm>
            <a:off x="2877213" y="6511224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99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/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298230" y="1408172"/>
            <a:ext cx="11239919" cy="37572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cs typeface="Arial"/>
                <a:hlinkClick r:id="rId3"/>
              </a:rPr>
              <a:t>https://countryeconomy.com/energy-and-environment/electricity-consumption/syria</a:t>
            </a:r>
            <a:endParaRPr lang="ar-EG" sz="1800">
              <a:cs typeface="Arial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  <a:hlinkClick r:id="rId4"/>
              </a:rPr>
              <a:t>https://www.worlddata.info/asia/syria/energy-consumption.php</a:t>
            </a:r>
            <a:endParaRPr lang="en-US" dirty="0">
              <a:cs typeface="Arial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>
                <a:ea typeface="+mn-lt"/>
                <a:cs typeface="+mn-lt"/>
                <a:hlinkClick r:id="rId5"/>
              </a:rPr>
              <a:t>https://en.wikipedia.org/wiki/Energy_in_Syria</a:t>
            </a:r>
            <a:endParaRPr lang="en-US" dirty="0">
              <a:ea typeface="+mn-lt"/>
              <a:cs typeface="Arial"/>
            </a:endParaRPr>
          </a:p>
          <a:p>
            <a:pPr marL="457200" indent="-457200">
              <a:buAutoNum type="arabicPeriod"/>
            </a:pPr>
            <a:endParaRPr lang="en-US" dirty="0">
              <a:cs typeface="Arial"/>
            </a:endParaRPr>
          </a:p>
          <a:p>
            <a:pPr marL="457200" indent="-457200">
              <a:buAutoNum type="arabicPeriod"/>
            </a:pPr>
            <a:endParaRPr lang="en-US" dirty="0"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endParaRPr lang="en-US" sz="1800" dirty="0"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endParaRPr lang="en-GB" dirty="0">
              <a:cs typeface="Arial" panose="020B0604020202020204" pitchFamily="34" charset="0"/>
            </a:endParaRPr>
          </a:p>
          <a:p>
            <a:endParaRPr lang="ar-EG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ar-EG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endParaRPr lang="it-I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8230" y="370993"/>
            <a:ext cx="10036690" cy="712728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References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7"/>
          <p:cNvSpPr/>
          <p:nvPr/>
        </p:nvSpPr>
        <p:spPr>
          <a:xfrm>
            <a:off x="0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853492" y="6580056"/>
            <a:ext cx="438631" cy="258834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3F6232-4F06-48BA-8F69-BF531F607829}" type="slidenum">
              <a:rPr kumimoji="0" lang="en-GB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9</a:t>
            </a:fld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9549" y="6555894"/>
            <a:ext cx="1317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Mohamed Ahmed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726" y="6552895"/>
            <a:ext cx="982961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it-IT" sz="1200" dirty="0">
                <a:solidFill>
                  <a:schemeClr val="bg1"/>
                </a:solidFill>
              </a:rPr>
              <a:t>25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</a:t>
            </a:r>
            <a:r>
              <a:rPr kumimoji="0" lang="en-US" alt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kumimoji="0" lang="ar-EG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1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322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Storage System Team/ Optimus Syria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503</Words>
  <Application>Microsoft Office PowerPoint</Application>
  <PresentationFormat>Widescreen</PresentationFormat>
  <Paragraphs>118</Paragraphs>
  <Slides>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Office Theme</vt:lpstr>
      <vt:lpstr>Custom Design</vt:lpstr>
      <vt:lpstr>1_Office Theme</vt:lpstr>
      <vt:lpstr>Weekly report: Storage System</vt:lpstr>
      <vt:lpstr>PowerPoint Presentation</vt:lpstr>
      <vt:lpstr>Economic Evaluation</vt:lpstr>
      <vt:lpstr>Payback Period Evaluation</vt:lpstr>
      <vt:lpstr>Economic Overview</vt:lpstr>
      <vt:lpstr>Environmental Impact and CO₂ Reduction Potential</vt:lpstr>
      <vt:lpstr>Environmental Impact and CO₂ Reduction Potential</vt:lpstr>
      <vt:lpstr>Environmental Impact and CO₂ Reduction Potential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mohamed Alywa</cp:lastModifiedBy>
  <cp:revision>396</cp:revision>
  <dcterms:created xsi:type="dcterms:W3CDTF">2025-07-21T13:11:00Z</dcterms:created>
  <dcterms:modified xsi:type="dcterms:W3CDTF">2025-12-15T16:25:03Z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2F57D44E6381456FBAA078C14AE94E08_13</vt:lpwstr>
  </property>
  <property fmtid="{D5CDD505-2E9C-101B-9397-08002B2CF9AE}" pid="3" name="KSOProductBuildVer">
    <vt:lpwstr>1033-12.2.0.23131</vt:lpwstr>
  </property>
</Properties>
</file>