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7"/>
  </p:notesMasterIdLst>
  <p:handoutMasterIdLst>
    <p:handoutMasterId r:id="rId18"/>
  </p:handoutMasterIdLst>
  <p:sldIdLst>
    <p:sldId id="263" r:id="rId3"/>
    <p:sldId id="259" r:id="rId4"/>
    <p:sldId id="303" r:id="rId5"/>
    <p:sldId id="310" r:id="rId6"/>
    <p:sldId id="305" r:id="rId7"/>
    <p:sldId id="306" r:id="rId8"/>
    <p:sldId id="311" r:id="rId9"/>
    <p:sldId id="312" r:id="rId10"/>
    <p:sldId id="368" r:id="rId11"/>
    <p:sldId id="369" r:id="rId12"/>
    <p:sldId id="370" r:id="rId13"/>
    <p:sldId id="371" r:id="rId14"/>
    <p:sldId id="272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3"/>
            <p14:sldId id="310"/>
            <p14:sldId id="305"/>
            <p14:sldId id="306"/>
            <p14:sldId id="311"/>
            <p14:sldId id="312"/>
            <p14:sldId id="368"/>
            <p14:sldId id="369"/>
            <p14:sldId id="370"/>
            <p14:sldId id="371"/>
            <p14:sldId id="272"/>
          </p14:sldIdLst>
        </p14:section>
        <p14:section name="Next Step" id="{B26F6679-C236-4D3D-BC2F-CAE5ED400718}">
          <p14:sldIdLst/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48"/>
  </p:normalViewPr>
  <p:slideViewPr>
    <p:cSldViewPr snapToGrid="0">
      <p:cViewPr varScale="1">
        <p:scale>
          <a:sx n="83" d="100"/>
          <a:sy n="83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19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14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09/12/2025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pt.hopewind.com/bocupload/2022/11/24/166926457699or15g.pdf" TargetMode="External"/><Relationship Id="rId5" Type="http://schemas.openxmlformats.org/officeDocument/2006/relationships/hyperlink" Target="https://new.abb.com/power-converters-inverters/wind-turbines" TargetMode="External"/><Relationship Id="rId4" Type="http://schemas.openxmlformats.org/officeDocument/2006/relationships/hyperlink" Target="https://doi.org/10.1109/access.2024.34198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12</a:t>
            </a:r>
            <a:endParaRPr lang="en-US" dirty="0"/>
          </a:p>
          <a:p>
            <a:r>
              <a:rPr lang="it-IT" sz="2000" dirty="0"/>
              <a:t>Date: 16/12/2025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</a:t>
            </a:r>
            <a:r>
              <a:rPr lang="de-DE" b="1" dirty="0"/>
              <a:t>Aiswarya Vijayan</a:t>
            </a:r>
            <a:r>
              <a:rPr lang="de-DE" dirty="0"/>
              <a:t>, Vishranti Shivajirao Patil 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Aiswarya Vijayan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44802"/>
            <a:ext cx="87599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 Parameter of Converter.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Dimension of Converter.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 lab simulation model of Converter.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Rotor side converter simulation model.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Grid side converter simulation model.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Result of Converter.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Final cable selection.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Switchgear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D7E7-51E4-86DB-4936-A6A01661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Design parameter of Converter (Updated)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9D1-43A9-6029-36E6-4B8D174E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CAA7-950A-7DB4-9028-EE53B011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1DC0-50DF-B803-1A88-ECEB941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DD7BFCC-80C2-ECA2-1D8D-D11B35477C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82B521-88F4-0E16-639E-DD9E9107A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28345"/>
              </p:ext>
            </p:extLst>
          </p:nvPr>
        </p:nvGraphicFramePr>
        <p:xfrm>
          <a:off x="1508243" y="1488767"/>
          <a:ext cx="8935470" cy="4703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735">
                  <a:extLst>
                    <a:ext uri="{9D8B030D-6E8A-4147-A177-3AD203B41FA5}">
                      <a16:colId xmlns:a16="http://schemas.microsoft.com/office/drawing/2014/main" val="3465778776"/>
                    </a:ext>
                  </a:extLst>
                </a:gridCol>
                <a:gridCol w="4467735">
                  <a:extLst>
                    <a:ext uri="{9D8B030D-6E8A-4147-A177-3AD203B41FA5}">
                      <a16:colId xmlns:a16="http://schemas.microsoft.com/office/drawing/2014/main" val="1725745728"/>
                    </a:ext>
                  </a:extLst>
                </a:gridCol>
              </a:tblGrid>
              <a:tr h="37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Concept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560541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Converter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DFIG rotor-connected partial-scale back-to-back VSC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13235"/>
                  </a:ext>
                </a:extLst>
              </a:tr>
              <a:tr h="362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Converter topology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2-level back-to-back Voltage Source Converter (VSC)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098124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Semiconductor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IGBT (6+6)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377998"/>
                  </a:ext>
                </a:extLst>
              </a:tr>
              <a:tr h="3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Converter input power(Rotor slip power)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1.03 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450115"/>
                  </a:ext>
                </a:extLst>
              </a:tr>
              <a:tr h="3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Converter output power (Grid side) , </a:t>
                      </a:r>
                      <a:r>
                        <a:rPr lang="en-GB" sz="1500" dirty="0" err="1"/>
                        <a:t>Pgsc</a:t>
                      </a:r>
                      <a:r>
                        <a:rPr lang="en-GB" sz="1500" dirty="0"/>
                        <a:t> 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1.009 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8079189"/>
                  </a:ext>
                </a:extLst>
              </a:tr>
              <a:tr h="3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Ploss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1.03 – 1.009 = 0.0021 MW = 21 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252869"/>
                  </a:ext>
                </a:extLst>
              </a:tr>
              <a:tr h="3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 err="1"/>
                        <a:t>Pgrid,total</a:t>
                      </a:r>
                      <a:endParaRPr lang="en-GB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4.12 + 1.01 = 5.13 MW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797364"/>
                  </a:ext>
                </a:extLst>
              </a:tr>
              <a:tr h="348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Converter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1.14 MVA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396701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Grid filter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LCL filter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642563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Manufacturer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ABB ACS880-87LC / Hopewind DFIG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806585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/>
                        <a:t>Mechanical arrangement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/>
                        <a:t>In-line, 2 cabinets (line-styled)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557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17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2BB2262-7A2B-0322-EBA0-2D183BE9F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933292"/>
              </p:ext>
            </p:extLst>
          </p:nvPr>
        </p:nvGraphicFramePr>
        <p:xfrm>
          <a:off x="608162" y="1301115"/>
          <a:ext cx="105156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680688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1405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98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Switching frequency, (f_{sw})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2500 Hz (2.5 kHz)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232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 generator/grid voltage, (V_g)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0.96 kV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294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DC-link setpoint (VSC), (V_{vsc})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1.6 kV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64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Converter reactance, (X_g)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0.08 Ω</a:t>
                      </a:r>
                      <a:endParaRPr lang="el-G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67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Converter angle, (\delta)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/>
                        <a:t>10°</a:t>
                      </a:r>
                      <a:endParaRPr lang="en-DE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16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LCL filter – converter-side inductance, (L_{f1})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0.00035 H (0.35 mH)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24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LCL filter – filter capacitor, (C_f)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0.0002 F (200 µF)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09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LCL filter – grid-side inductance, (L_{f2})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0.00025 H (0.25 mH)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97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DC-link capacitance, (C_{dc})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0.02 F (20 mF)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61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Nominal DC-link current, (I_{dc,nom})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643.8 A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43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Base line current (AC side), (I_{base})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688.3 A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71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Base impedance (AC side), (Z_{base})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b="1"/>
                        <a:t>0.805 Ω</a:t>
                      </a:r>
                      <a:endParaRPr lang="el-G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615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Base inductance at 50 Hz, (L_{base})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0.002563 H (2.563 </a:t>
                      </a:r>
                      <a:r>
                        <a:rPr lang="en-GB" b="1" dirty="0" err="1"/>
                        <a:t>mH</a:t>
                      </a:r>
                      <a:r>
                        <a:rPr lang="en-GB" b="1" dirty="0"/>
                        <a:t>)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17059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FCD7597-F848-9FA2-8E71-9E6D6C86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498"/>
            <a:ext cx="10515600" cy="1325563"/>
          </a:xfrm>
        </p:spPr>
        <p:txBody>
          <a:bodyPr/>
          <a:lstStyle/>
          <a:p>
            <a:r>
              <a:rPr lang="en-US" dirty="0"/>
              <a:t>Converter data sheet (Update)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3F911-FE11-5919-8C4F-1265A7C24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80A9-3251-43DE-D701-48F65CC5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8A151-188B-4286-1885-3B37DDEB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E706DC-2AC3-4AC2-C02F-73980FC28A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3405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D59E-654C-5E63-1C6D-9934CDE4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55F37-159E-12CA-6A26-EDEECDEA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Mechanical Dimension of Converter.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58D-45E0-72F7-B055-588B28F9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1A40-9FF1-D64A-E89C-F4A3897B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45AE-9755-D904-E827-8B8FAFFE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4398B52-F7AB-B6A9-E084-6571B5C335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760C9-C700-38AA-D2BE-3D82D5B18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504088"/>
              </p:ext>
            </p:extLst>
          </p:nvPr>
        </p:nvGraphicFramePr>
        <p:xfrm>
          <a:off x="448322" y="2257827"/>
          <a:ext cx="6450495" cy="220350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37363">
                  <a:extLst>
                    <a:ext uri="{9D8B030D-6E8A-4147-A177-3AD203B41FA5}">
                      <a16:colId xmlns:a16="http://schemas.microsoft.com/office/drawing/2014/main" val="1649238277"/>
                    </a:ext>
                  </a:extLst>
                </a:gridCol>
                <a:gridCol w="2913132">
                  <a:extLst>
                    <a:ext uri="{9D8B030D-6E8A-4147-A177-3AD203B41FA5}">
                      <a16:colId xmlns:a16="http://schemas.microsoft.com/office/drawing/2014/main" val="2578191316"/>
                    </a:ext>
                  </a:extLst>
                </a:gridCol>
              </a:tblGrid>
              <a:tr h="445728"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1300 * 2000 * 2600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Converter Dimensions</a:t>
                      </a:r>
                    </a:p>
                    <a:p>
                      <a:pPr algn="ctr" rtl="1"/>
                      <a:r>
                        <a:rPr lang="en-US" sz="1400" b="1" u="none" strike="noStrike" cap="none" dirty="0"/>
                        <a:t>(</a:t>
                      </a:r>
                      <a:r>
                        <a:rPr lang="en-US" sz="1400" b="1" u="none" strike="noStrike" cap="none" dirty="0" err="1"/>
                        <a:t>LxHxW</a:t>
                      </a:r>
                      <a:r>
                        <a:rPr lang="en-US" sz="1400" b="1" u="none" strike="noStrike" cap="none" dirty="0"/>
                        <a:t>)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0356"/>
                  </a:ext>
                </a:extLst>
              </a:tr>
              <a:tr h="38906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~3000 kg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440230"/>
                  </a:ext>
                </a:extLst>
              </a:tr>
              <a:tr h="38906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Liquid Cooling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Cooling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41586"/>
                  </a:ext>
                </a:extLst>
              </a:tr>
              <a:tr h="389063">
                <a:tc>
                  <a:txBody>
                    <a:bodyPr/>
                    <a:lstStyle/>
                    <a:p>
                      <a:pPr marL="0" indent="0" algn="ctr" rtl="1">
                        <a:buFont typeface="+mj-lt"/>
                        <a:buNone/>
                      </a:pPr>
                      <a:r>
                        <a:rPr lang="en-US" sz="1400" b="1" dirty="0"/>
                        <a:t>98.0%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Efficiency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21756"/>
                  </a:ext>
                </a:extLst>
              </a:tr>
              <a:tr h="38906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€80,000 - €120,000 EUR </a:t>
                      </a:r>
                    </a:p>
                    <a:p>
                      <a:pPr marL="0" indent="0" algn="ctr" rtl="1">
                        <a:buFont typeface="+mj-lt"/>
                        <a:buNone/>
                      </a:pP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GB" sz="1400" b="1" dirty="0"/>
                        <a:t>Cost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6083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842E04-71D5-41E2-F7B2-C7AF69BE7C7C}"/>
              </a:ext>
            </a:extLst>
          </p:cNvPr>
          <p:cNvSpPr txBox="1"/>
          <p:nvPr/>
        </p:nvSpPr>
        <p:spPr>
          <a:xfrm>
            <a:off x="1217479" y="5966180"/>
            <a:ext cx="5972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 Dimensions ,Weight , Cost we take reference from: </a:t>
            </a:r>
            <a:r>
              <a:rPr lang="en-GB" sz="1200" dirty="0"/>
              <a:t>[Source. 4] ,[Source.5] [Source. 6]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6774D-B71C-298F-70F7-9641EA332CD1}"/>
              </a:ext>
            </a:extLst>
          </p:cNvPr>
          <p:cNvSpPr txBox="1"/>
          <p:nvPr/>
        </p:nvSpPr>
        <p:spPr>
          <a:xfrm>
            <a:off x="6566444" y="5497327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/>
              <a:t>Converter scheme . </a:t>
            </a:r>
            <a:r>
              <a:rPr lang="fr-MA" sz="1800" dirty="0"/>
              <a:t>Source [own]. 06.12.2025 </a:t>
            </a:r>
            <a:endParaRPr lang="en-US" sz="1800" dirty="0"/>
          </a:p>
        </p:txBody>
      </p:sp>
      <p:pic>
        <p:nvPicPr>
          <p:cNvPr id="12" name="Picture 11" descr="A grey metal lockers on a black tile floor">
            <a:extLst>
              <a:ext uri="{FF2B5EF4-FFF2-40B4-BE49-F238E27FC236}">
                <a16:creationId xmlns:a16="http://schemas.microsoft.com/office/drawing/2014/main" id="{6E799C0B-6784-E87D-EF24-6FBC9C790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355" y="1553185"/>
            <a:ext cx="4584091" cy="384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6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7A2A-CD46-C8F9-AC0F-691D48F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A749C3-F008-A713-2000-7FC7301F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dirty="0"/>
              <a:t>3. Mat lab simulation of Converter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F37D-9692-D66B-C366-0654E51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D62-937F-5DBD-F13A-5609E4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E856-9DD6-C744-E363-C762E70B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05E2D33-711D-FF81-B80A-936F3A2FD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EBC5F-ECD7-D0BA-8EE3-63C18DE1A935}"/>
              </a:ext>
            </a:extLst>
          </p:cNvPr>
          <p:cNvSpPr txBox="1"/>
          <p:nvPr/>
        </p:nvSpPr>
        <p:spPr>
          <a:xfrm>
            <a:off x="3257550" y="6169551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Converter</a:t>
            </a:r>
            <a:r>
              <a:rPr lang="fr-MA" sz="1800" dirty="0"/>
              <a:t> scheme . Source [own]. 06.12.2025 </a:t>
            </a:r>
            <a:endParaRPr lang="en-US" sz="1800" dirty="0"/>
          </a:p>
        </p:txBody>
      </p:sp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448A7EA1-4C91-50A5-8D53-8D20F4FD3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80" y="1397479"/>
            <a:ext cx="11381118" cy="476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1F3D82A9-9697-2C94-2CB8-96298C806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12" y="2051038"/>
            <a:ext cx="10382326" cy="34385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EF5413-4E8D-67D9-A4AC-589CE5DA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Rotor </a:t>
            </a:r>
            <a:r>
              <a:rPr lang="de-DE" dirty="0" err="1"/>
              <a:t>sidecontrol</a:t>
            </a:r>
            <a:r>
              <a:rPr lang="de-DE" dirty="0"/>
              <a:t> </a:t>
            </a:r>
            <a:r>
              <a:rPr lang="de-DE" dirty="0" err="1"/>
              <a:t>scheme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A912-A98D-2BDD-80A5-5D2FF953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EBE5-8964-A973-FC88-C7B4F39C4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4B93A-9C10-6538-DEE4-3D795F0F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0290DD0-E044-66A4-9E32-751F7B1CAD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2C36534-0AA6-73BE-5D57-1374A232999B}"/>
              </a:ext>
            </a:extLst>
          </p:cNvPr>
          <p:cNvSpPr txBox="1"/>
          <p:nvPr/>
        </p:nvSpPr>
        <p:spPr>
          <a:xfrm>
            <a:off x="3338055" y="5749851"/>
            <a:ext cx="4055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MA" sz="1200" dirty="0"/>
              <a:t>Rotor </a:t>
            </a:r>
            <a:r>
              <a:rPr lang="fr-MA" sz="1200" dirty="0" err="1"/>
              <a:t>side</a:t>
            </a:r>
            <a:r>
              <a:rPr lang="fr-MA" sz="1200" dirty="0"/>
              <a:t> control </a:t>
            </a:r>
            <a:r>
              <a:rPr lang="fr-MA" sz="1200" dirty="0" err="1"/>
              <a:t>scheme</a:t>
            </a:r>
            <a:r>
              <a:rPr lang="fr-MA" sz="1200" dirty="0"/>
              <a:t> . Source [</a:t>
            </a:r>
            <a:r>
              <a:rPr lang="fr-MA" sz="1200" dirty="0" err="1"/>
              <a:t>own</a:t>
            </a:r>
            <a:r>
              <a:rPr lang="fr-MA" sz="1200" dirty="0"/>
              <a:t>]. 06.12.2024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771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5F4A-8B9E-6DE7-1A9F-D3C6D29B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534B30-B352-E116-9E03-987F0783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scheme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7B72F-F9C7-3EE2-EF3D-266E87EE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7A374-68E6-DC2A-3D5B-5CE49215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A5A7-EB5E-14E5-A6E8-17D5B72B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45530A-1640-9833-A5DA-989ED31767A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3DB74F0-7BA8-5D8A-6BC1-BAFF2A63D63E}"/>
              </a:ext>
            </a:extLst>
          </p:cNvPr>
          <p:cNvSpPr txBox="1"/>
          <p:nvPr/>
        </p:nvSpPr>
        <p:spPr>
          <a:xfrm>
            <a:off x="3556591" y="6152417"/>
            <a:ext cx="4055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MA" sz="1200" dirty="0" err="1"/>
              <a:t>Grid</a:t>
            </a:r>
            <a:r>
              <a:rPr lang="fr-MA" sz="1200" dirty="0"/>
              <a:t> </a:t>
            </a:r>
            <a:r>
              <a:rPr lang="fr-MA" sz="1200" dirty="0" err="1"/>
              <a:t>side</a:t>
            </a:r>
            <a:r>
              <a:rPr lang="fr-MA" sz="1200" dirty="0"/>
              <a:t> control </a:t>
            </a:r>
            <a:r>
              <a:rPr lang="fr-MA" sz="1200" dirty="0" err="1"/>
              <a:t>scheme</a:t>
            </a:r>
            <a:r>
              <a:rPr lang="fr-MA" sz="1200" dirty="0"/>
              <a:t> . Source [</a:t>
            </a:r>
            <a:r>
              <a:rPr lang="fr-MA" sz="1200" dirty="0" err="1"/>
              <a:t>own</a:t>
            </a:r>
            <a:r>
              <a:rPr lang="fr-MA" sz="1200" dirty="0"/>
              <a:t>]. 06.12.2024 </a:t>
            </a:r>
            <a:endParaRPr lang="en-US" sz="1200" dirty="0"/>
          </a:p>
        </p:txBody>
      </p:sp>
      <p:pic>
        <p:nvPicPr>
          <p:cNvPr id="12" name="Content Placeholder 11" descr="A group of black squares&#10;&#10;AI-generated content may be incorrect.">
            <a:extLst>
              <a:ext uri="{FF2B5EF4-FFF2-40B4-BE49-F238E27FC236}">
                <a16:creationId xmlns:a16="http://schemas.microsoft.com/office/drawing/2014/main" id="{860F132E-7F3C-47CA-AA89-2B0208919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16" y="1753277"/>
            <a:ext cx="10515600" cy="3922165"/>
          </a:xfrm>
        </p:spPr>
      </p:pic>
    </p:spTree>
    <p:extLst>
      <p:ext uri="{BB962C8B-B14F-4D97-AF65-F5344CB8AC3E}">
        <p14:creationId xmlns:p14="http://schemas.microsoft.com/office/powerpoint/2010/main" val="159523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AAE2-D670-467A-0D86-40CA49A9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01C73-9A8D-6455-2741-0BA71AE4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 </a:t>
            </a:r>
            <a:r>
              <a:rPr lang="de-DE" dirty="0" err="1"/>
              <a:t>signals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8EE8A-D313-57EF-0D27-BE82B33AB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2D619-8DE1-32F0-336E-E207EF1D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DC414-C392-7638-58A5-298C544A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488F06-4B6A-9472-A9E0-AF32A64BFB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81366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501A78-51DF-ACC1-33BA-7CA8DDC77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3854"/>
          </a:xfrm>
        </p:spPr>
        <p:txBody>
          <a:bodyPr/>
          <a:lstStyle/>
          <a:p>
            <a:endParaRPr lang="en-DE"/>
          </a:p>
        </p:txBody>
      </p:sp>
      <p:pic>
        <p:nvPicPr>
          <p:cNvPr id="9" name="Picture 8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66FBC96-7FB9-D404-0F44-81FF2209A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12" y="1573172"/>
            <a:ext cx="5632788" cy="4069508"/>
          </a:xfrm>
          <a:prstGeom prst="rect">
            <a:avLst/>
          </a:prstGeom>
        </p:spPr>
      </p:pic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02427771-E6FA-165E-8039-E47E00403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75" y="1613576"/>
            <a:ext cx="5437313" cy="4029104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CE64AA7A-89FB-4305-22B3-41DDE7F91C33}"/>
              </a:ext>
            </a:extLst>
          </p:cNvPr>
          <p:cNvSpPr txBox="1"/>
          <p:nvPr/>
        </p:nvSpPr>
        <p:spPr>
          <a:xfrm>
            <a:off x="1205794" y="6098814"/>
            <a:ext cx="3671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200" dirty="0"/>
              <a:t>Converter output </a:t>
            </a:r>
            <a:r>
              <a:rPr lang="fr-MA" sz="1200" dirty="0" err="1"/>
              <a:t>current</a:t>
            </a:r>
            <a:r>
              <a:rPr lang="fr-MA" sz="1200" dirty="0"/>
              <a:t> . Source [</a:t>
            </a:r>
            <a:r>
              <a:rPr lang="fr-MA" sz="1200" dirty="0" err="1"/>
              <a:t>own</a:t>
            </a:r>
            <a:r>
              <a:rPr lang="fr-MA" sz="1200" dirty="0"/>
              <a:t>]. 08.12.2024 </a:t>
            </a:r>
            <a:endParaRPr lang="en-US" sz="1200" dirty="0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BA51E1E-50E0-0C20-8BC9-A99114D26936}"/>
              </a:ext>
            </a:extLst>
          </p:cNvPr>
          <p:cNvSpPr txBox="1"/>
          <p:nvPr/>
        </p:nvSpPr>
        <p:spPr>
          <a:xfrm>
            <a:off x="7013588" y="6116067"/>
            <a:ext cx="3671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200" dirty="0"/>
              <a:t>Converter output voltage . Source [</a:t>
            </a:r>
            <a:r>
              <a:rPr lang="fr-MA" sz="1200" dirty="0" err="1"/>
              <a:t>own</a:t>
            </a:r>
            <a:r>
              <a:rPr lang="fr-MA" sz="1200" dirty="0"/>
              <a:t>]. 08.12.2024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90397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C867-BA10-5089-F3F9-CD7EC41E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8FCA23-AB78-0771-A62B-7A738CA1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 </a:t>
            </a:r>
            <a:r>
              <a:rPr lang="de-DE" dirty="0" err="1"/>
              <a:t>signals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15BCC-E5D6-447C-3AC3-ED7B12D3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3AEB-BEFC-8BBF-6971-CD1023B7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7C4A6-17FC-B7C2-26A6-244FF1BC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1DA522-0CEF-42BA-55C4-E47B2FC5C63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81366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61B27A-7011-0736-527C-6502B7DA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3854"/>
          </a:xfrm>
        </p:spPr>
        <p:txBody>
          <a:bodyPr/>
          <a:lstStyle/>
          <a:p>
            <a:endParaRPr lang="en-DE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774A6C-C12E-8D5C-2367-DF50BF351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5251"/>
            <a:ext cx="5257800" cy="401000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84B93-9AEB-B556-E882-7A6EDC639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873" y="1733446"/>
            <a:ext cx="4895927" cy="3981808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0B917DD7-D153-EF71-1CED-AF42F8B80350}"/>
              </a:ext>
            </a:extLst>
          </p:cNvPr>
          <p:cNvSpPr txBox="1"/>
          <p:nvPr/>
        </p:nvSpPr>
        <p:spPr>
          <a:xfrm>
            <a:off x="1332315" y="6129641"/>
            <a:ext cx="3671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200" dirty="0"/>
              <a:t>DC </a:t>
            </a:r>
            <a:r>
              <a:rPr lang="fr-MA" sz="1200" dirty="0" err="1"/>
              <a:t>link</a:t>
            </a:r>
            <a:r>
              <a:rPr lang="fr-MA" sz="1200" dirty="0"/>
              <a:t> voltage . Source [</a:t>
            </a:r>
            <a:r>
              <a:rPr lang="fr-MA" sz="1200" dirty="0" err="1"/>
              <a:t>own</a:t>
            </a:r>
            <a:r>
              <a:rPr lang="fr-MA" sz="1200" dirty="0"/>
              <a:t>]. 08.12.2024 </a:t>
            </a:r>
            <a:endParaRPr lang="en-US" sz="1200" dirty="0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977B020-9716-D1EC-7978-8D6F4A21A356}"/>
              </a:ext>
            </a:extLst>
          </p:cNvPr>
          <p:cNvSpPr txBox="1"/>
          <p:nvPr/>
        </p:nvSpPr>
        <p:spPr>
          <a:xfrm>
            <a:off x="7138081" y="6136923"/>
            <a:ext cx="36716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200" dirty="0"/>
              <a:t>DC </a:t>
            </a:r>
            <a:r>
              <a:rPr lang="fr-MA" sz="1200" dirty="0" err="1"/>
              <a:t>link</a:t>
            </a:r>
            <a:r>
              <a:rPr lang="fr-MA" sz="1200" dirty="0"/>
              <a:t> </a:t>
            </a:r>
            <a:r>
              <a:rPr lang="fr-MA" sz="1200" dirty="0" err="1"/>
              <a:t>current</a:t>
            </a:r>
            <a:r>
              <a:rPr lang="fr-MA" sz="1200" dirty="0"/>
              <a:t>. Source [</a:t>
            </a:r>
            <a:r>
              <a:rPr lang="fr-MA" sz="1200" dirty="0" err="1"/>
              <a:t>own</a:t>
            </a:r>
            <a:r>
              <a:rPr lang="fr-MA" sz="1200" dirty="0"/>
              <a:t>]. 08.12.2024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98802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DA2C-CF02-394E-620D-93D79C80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612AC-980B-2036-DA2F-B1F226AA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9499E-4A54-ABCB-4D6D-CBE1EC65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48C9B-AEF7-11AF-0BD2-7B54C724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05DC1F-0A16-79D6-BBBE-5C44B9C40B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81366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83562D-A480-A52A-6FEF-ED12EF4A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57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Final </a:t>
            </a:r>
            <a:r>
              <a:rPr lang="de-DE" dirty="0" err="1"/>
              <a:t>cable</a:t>
            </a:r>
            <a:r>
              <a:rPr lang="de-DE" dirty="0"/>
              <a:t> </a:t>
            </a:r>
            <a:r>
              <a:rPr lang="de-DE" dirty="0" err="1"/>
              <a:t>selection</a:t>
            </a:r>
            <a:br>
              <a:rPr lang="de-DE" dirty="0"/>
            </a:br>
            <a:r>
              <a:rPr lang="de-DE" sz="2200" b="1" dirty="0">
                <a:solidFill>
                  <a:srgbClr val="002060"/>
                </a:solidFill>
              </a:rPr>
              <a:t>NA2XS2Y  (Al) 95 mm²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D880C6-0A9C-0DEB-FFBF-521AFDC1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46" y="1483214"/>
            <a:ext cx="11461898" cy="9206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B6788D-8CF4-3565-44E9-0DF0AA2E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5" y="2315554"/>
            <a:ext cx="11423176" cy="11463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970F8D-C1E6-4B6E-5D44-1B93339DE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79" y="3434111"/>
            <a:ext cx="11461898" cy="12094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9E6DC6-28C9-1F50-2715-47C529103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79" y="4636154"/>
            <a:ext cx="11525509" cy="12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65D8-CBF7-A7C5-8362-4CCD35E8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CBD1-55D1-A1E9-2C2D-C18DFA976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FA348-3564-0906-1317-4D472374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7629-FAB1-4CB1-B11E-3678FC8F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BBE9DC-59B7-63C3-F277-6378D1D3CB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81366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  <a:endParaRPr lang="en-DE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46CB841-F2E9-995D-0877-320A84C7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Switchgear</a:t>
            </a:r>
          </a:p>
        </p:txBody>
      </p:sp>
      <p:pic>
        <p:nvPicPr>
          <p:cNvPr id="11" name="Picture 10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278FE430-49E7-3DE6-520A-B6EAC2A61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109" y="1590495"/>
            <a:ext cx="7608304" cy="44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13</a:t>
            </a:fld>
            <a:endParaRPr lang="de-DE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16/12/2025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5D078B-14F7-F4E5-748E-5707AED5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1737143"/>
            <a:ext cx="9418320" cy="1298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finalize the simulation for all components combined.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start the redaction of report and final presentation.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59D6EBF-8E1B-AEB8-95A4-B5DC5509C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14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chemeClr val="bg1"/>
                </a:solidFill>
              </a:rPr>
              <a:t>16/12/2025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AF1E9-7386-B27F-9F9D-313E52F38408}"/>
              </a:ext>
            </a:extLst>
          </p:cNvPr>
          <p:cNvSpPr txBox="1"/>
          <p:nvPr/>
        </p:nvSpPr>
        <p:spPr>
          <a:xfrm>
            <a:off x="838200" y="1211491"/>
            <a:ext cx="10515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Electrical machines and power electronics course </a:t>
            </a:r>
            <a:r>
              <a:rPr lang="de-DE" sz="1400" dirty="0"/>
              <a:t>Prof.</a:t>
            </a:r>
            <a:r>
              <a:rPr lang="en-US" sz="1400" dirty="0"/>
              <a:t>Dr.-Ing Rajesh </a:t>
            </a:r>
            <a:r>
              <a:rPr lang="en-US" sz="1400" dirty="0" err="1"/>
              <a:t>Saiju</a:t>
            </a:r>
            <a:r>
              <a:rPr lang="en-US" sz="1400" dirty="0"/>
              <a:t>,</a:t>
            </a:r>
          </a:p>
          <a:p>
            <a:r>
              <a:rPr lang="en-US" sz="1400" dirty="0"/>
              <a:t>2. Power system analysis by </a:t>
            </a:r>
            <a:r>
              <a:rPr lang="en-US" sz="1400" dirty="0" err="1"/>
              <a:t>hadi</a:t>
            </a:r>
            <a:r>
              <a:rPr lang="en-US" sz="1400" dirty="0"/>
              <a:t> </a:t>
            </a:r>
            <a:r>
              <a:rPr lang="en-US" sz="1400" dirty="0" err="1"/>
              <a:t>saadat</a:t>
            </a:r>
            <a:r>
              <a:rPr lang="en-US" sz="1400" dirty="0"/>
              <a:t>. </a:t>
            </a:r>
            <a:r>
              <a:rPr lang="en-GB" sz="1400" dirty="0"/>
              <a:t>[ 13.12.2025]</a:t>
            </a:r>
          </a:p>
          <a:p>
            <a:r>
              <a:rPr lang="en-GB" sz="1400" dirty="0"/>
              <a:t>3. </a:t>
            </a:r>
            <a:r>
              <a:rPr lang="en-US" sz="1400" dirty="0"/>
              <a:t>Electrical engineering for wind turbines course of </a:t>
            </a:r>
            <a:r>
              <a:rPr lang="en-GB" sz="1400" dirty="0"/>
              <a:t>Prof. Dr. Ingmar Leise. [ 11.12.2025]</a:t>
            </a:r>
          </a:p>
          <a:p>
            <a:r>
              <a:rPr lang="en-GB" sz="1400" dirty="0"/>
              <a:t>4. </a:t>
            </a:r>
            <a:r>
              <a:rPr lang="en-DE" altLang="en-DE" sz="1400" dirty="0">
                <a:latin typeface="Aptos (body)"/>
                <a:cs typeface="Times New Roman" panose="02020603050405020304" pitchFamily="18" charset="0"/>
              </a:rPr>
              <a:t>H. A. Hussain, J. </a:t>
            </a:r>
            <a:r>
              <a:rPr lang="en-DE" altLang="en-DE" sz="1400" dirty="0" err="1">
                <a:latin typeface="Aptos (body)"/>
                <a:cs typeface="Times New Roman" panose="02020603050405020304" pitchFamily="18" charset="0"/>
              </a:rPr>
              <a:t>Loncarski</a:t>
            </a:r>
            <a:r>
              <a:rPr lang="en-DE" altLang="en-DE" sz="1400" dirty="0">
                <a:latin typeface="Aptos (body)"/>
                <a:cs typeface="Times New Roman" panose="02020603050405020304" pitchFamily="18" charset="0"/>
              </a:rPr>
              <a:t>, L. B. Ristic, and A. Bellini, “DFIG-Based WECS with Partial-Scale Converter: Efficiency, cost, and volume comparison of SIC-Based and IGBT-Based converter solution,” </a:t>
            </a:r>
            <a:r>
              <a:rPr lang="en-DE" altLang="en-DE" sz="1400" i="1" dirty="0">
                <a:latin typeface="Aptos (body)"/>
                <a:cs typeface="Times New Roman" panose="02020603050405020304" pitchFamily="18" charset="0"/>
              </a:rPr>
              <a:t>IEEE Access</a:t>
            </a:r>
            <a:r>
              <a:rPr lang="en-DE" altLang="en-DE" sz="1400" dirty="0">
                <a:latin typeface="Aptos (body)"/>
                <a:cs typeface="Times New Roman" panose="02020603050405020304" pitchFamily="18" charset="0"/>
              </a:rPr>
              <a:t>, vol. 12, pp. 89908–89920, Jan. 2024, </a:t>
            </a:r>
            <a:r>
              <a:rPr lang="en-DE" altLang="en-DE" sz="1400" dirty="0" err="1">
                <a:latin typeface="Aptos (body)"/>
                <a:cs typeface="Times New Roman" panose="02020603050405020304" pitchFamily="18" charset="0"/>
              </a:rPr>
              <a:t>doi</a:t>
            </a:r>
            <a:r>
              <a:rPr lang="en-DE" altLang="en-DE" sz="1400" dirty="0">
                <a:latin typeface="Aptos (body)"/>
                <a:cs typeface="Times New Roman" panose="02020603050405020304" pitchFamily="18" charset="0"/>
              </a:rPr>
              <a:t>: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  <a:hlinkClick r:id="rId4"/>
              </a:rPr>
              <a:t>https://doi.org/10.1109/access.2024.3419810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 [09.12.2025]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5. ABB, “Wind turbine converters,” ABB Power Converters and Controllers Products, Jan. 2025. [Online]. Available: 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  <a:hlinkClick r:id="rId5"/>
              </a:rPr>
              <a:t>https://new.abb.com/power-converters-inverters/wind-turbines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.809.12.2025] 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6.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Hopewind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Electric Co., Ltd., “Wind Power Generation System Product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Catalog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,” Nov. 2022. [Online]. Available: 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  <a:hlinkClick r:id="rId6"/>
              </a:rPr>
              <a:t>https://pt.hopewind.com/bocupload/2022/11/24/166926457699or15g.pdf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.[09.12.2025]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7. J.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Loncarski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, H. A. Hussain, T.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Taluo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and L. Ristic, “BDFRG Based WECS With Partial-Scale Converter: Efficiency, Cost and Volume Comparison of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SiC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-Based and IGBT-Based Converter Solution,” in Proc. 2023 IEEE Belgrade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PowerTech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, Belgrade, Serbia, Jun. 2023.[14.12.2025]</a:t>
            </a:r>
          </a:p>
          <a:p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8. M. </a:t>
            </a:r>
            <a:r>
              <a:rPr lang="en-GB" altLang="en-DE" sz="1400" dirty="0" err="1">
                <a:latin typeface="Aptos (body)"/>
                <a:cs typeface="Times New Roman" panose="02020603050405020304" pitchFamily="18" charset="0"/>
              </a:rPr>
              <a:t>Abdelateef</a:t>
            </a:r>
            <a:r>
              <a:rPr lang="en-GB" altLang="en-DE" sz="1400" dirty="0">
                <a:latin typeface="Aptos (body)"/>
                <a:cs typeface="Times New Roman" panose="02020603050405020304" pitchFamily="18" charset="0"/>
              </a:rPr>
              <a:t> Mostafa, E. A. El-Hay and M. M. ELkholy, “Recent Trends in Wind Energy Conversion System With Grid Integration Based on Soft Computing Methods,” *Archives of Computational Methods in Engineering*, vol. 30, 2023. [14.12.2025]</a:t>
            </a:r>
          </a:p>
          <a:p>
            <a:endParaRPr lang="en-GB" altLang="en-DE" sz="1400" dirty="0">
              <a:latin typeface="Aptos (body)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Aptos (body)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D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DE" altLang="en-DE" sz="2000" dirty="0">
              <a:latin typeface="Arial" panose="020B0604020202020204" pitchFamily="34" charset="0"/>
            </a:endParaRPr>
          </a:p>
          <a:p>
            <a:endParaRPr lang="en-GB" sz="1400" dirty="0"/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33EFD-688E-5819-AF39-35D0F808C897}"/>
              </a:ext>
            </a:extLst>
          </p:cNvPr>
          <p:cNvSpPr txBox="1"/>
          <p:nvPr/>
        </p:nvSpPr>
        <p:spPr>
          <a:xfrm>
            <a:off x="5089585" y="6581001"/>
            <a:ext cx="3582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solidFill>
                  <a:schemeClr val="bg1"/>
                </a:solidFill>
              </a:rPr>
              <a:t>Aiswarya Vijayan</a:t>
            </a:r>
            <a:endParaRPr lang="en-DE" sz="1200" dirty="0">
              <a:solidFill>
                <a:schemeClr val="bg1"/>
              </a:solidFill>
            </a:endParaRP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496730EC-9A73-C07B-9E3D-CE7964FD9CE7}"/>
              </a:ext>
            </a:extLst>
          </p:cNvPr>
          <p:cNvSpPr txBox="1">
            <a:spLocks/>
          </p:cNvSpPr>
          <p:nvPr/>
        </p:nvSpPr>
        <p:spPr>
          <a:xfrm>
            <a:off x="2101970" y="6558175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A6D213-0805-4C3E-849D-17C75FD348C3}" type="slidenum">
              <a:rPr lang="de-DE" sz="1200" smtClean="0">
                <a:solidFill>
                  <a:schemeClr val="bg1"/>
                </a:solidFill>
              </a:rPr>
              <a:pPr/>
              <a:t>14</a:t>
            </a:fld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0</TotalTime>
  <Words>996</Words>
  <Application>Microsoft Office PowerPoint</Application>
  <PresentationFormat>Widescreen</PresentationFormat>
  <Paragraphs>178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(body)</vt:lpstr>
      <vt:lpstr>Aptos (Textkörper)</vt:lpstr>
      <vt:lpstr>Aptos Display</vt:lpstr>
      <vt:lpstr>Arial</vt:lpstr>
      <vt:lpstr>Calibri</vt:lpstr>
      <vt:lpstr>Calibri Light</vt:lpstr>
      <vt:lpstr>Times New Roman</vt:lpstr>
      <vt:lpstr>Benutzerdefiniertes Design</vt:lpstr>
      <vt:lpstr>Office</vt:lpstr>
      <vt:lpstr>PowerPoint Presentation</vt:lpstr>
      <vt:lpstr>List of contents</vt:lpstr>
      <vt:lpstr>1. Design parameter of Converter (Updated)</vt:lpstr>
      <vt:lpstr>Converter data sheet (Update)</vt:lpstr>
      <vt:lpstr>2. Mechanical Dimension of Converter.</vt:lpstr>
      <vt:lpstr>3. Mat lab simulation of Converter</vt:lpstr>
      <vt:lpstr>Rotor sidecontrol scheme</vt:lpstr>
      <vt:lpstr>Grid side control scheme</vt:lpstr>
      <vt:lpstr>Output signals</vt:lpstr>
      <vt:lpstr>Output signals</vt:lpstr>
      <vt:lpstr>Final cable selection NA2XS2Y  (Al) 95 mm²</vt:lpstr>
      <vt:lpstr>Switchgear</vt:lpstr>
      <vt:lpstr>6.Next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AISWARYA VIJAYAN</cp:lastModifiedBy>
  <cp:revision>119</cp:revision>
  <dcterms:created xsi:type="dcterms:W3CDTF">2025-09-27T08:52:45Z</dcterms:created>
  <dcterms:modified xsi:type="dcterms:W3CDTF">2025-12-15T08:18:23Z</dcterms:modified>
</cp:coreProperties>
</file>