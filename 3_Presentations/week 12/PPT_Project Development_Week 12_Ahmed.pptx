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60" r:id="rId5"/>
    <p:sldMasterId id="2147483674" r:id="rId6"/>
  </p:sldMasterIdLst>
  <p:notesMasterIdLst>
    <p:notesMasterId r:id="rId17"/>
  </p:notesMasterIdLst>
  <p:sldIdLst>
    <p:sldId id="256" r:id="rId7"/>
    <p:sldId id="381" r:id="rId8"/>
    <p:sldId id="386" r:id="rId9"/>
    <p:sldId id="388" r:id="rId10"/>
    <p:sldId id="275" r:id="rId11"/>
    <p:sldId id="373" r:id="rId12"/>
    <p:sldId id="383" r:id="rId13"/>
    <p:sldId id="382" r:id="rId14"/>
    <p:sldId id="385" r:id="rId15"/>
    <p:sldId id="384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first slide" id="{EBA04D78-D1FF-49F4-BDD6-03EE135E606E}">
          <p14:sldIdLst>
            <p14:sldId id="256"/>
            <p14:sldId id="381"/>
            <p14:sldId id="386"/>
            <p14:sldId id="388"/>
            <p14:sldId id="275"/>
            <p14:sldId id="373"/>
            <p14:sldId id="383"/>
            <p14:sldId id="382"/>
            <p14:sldId id="385"/>
            <p14:sldId id="384"/>
          </p14:sldIdLst>
        </p14:section>
        <p14:section name="text slide" id="{65043596-36B7-4360-BB5C-7A99EFAEC5C9}">
          <p14:sldIdLst/>
        </p14:section>
        <p14:section name="graph slide" id="{B26F6679-C236-4D3D-BC2F-CAE5ED400718}">
          <p14:sldIdLst/>
        </p14:section>
        <p14:section name="bibliography" id="{2ECB0A3B-7D16-4F98-AD6A-5308DF7BF078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8ECEFA"/>
    <a:srgbClr val="92C6E6"/>
    <a:srgbClr val="80D2F7"/>
    <a:srgbClr val="7ED1F7"/>
    <a:srgbClr val="A1DFFD"/>
    <a:srgbClr val="C0F5FF"/>
    <a:srgbClr val="3C96FA"/>
    <a:srgbClr val="BDE5F9"/>
    <a:srgbClr val="C1E5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806" y="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10" Type="http://schemas.openxmlformats.org/officeDocument/2006/relationships/slide" Target="slides/slide4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52B7C8-164C-4140-932B-122F288D33CD}" type="datetimeFigureOut">
              <a:rPr lang="en-GB" smtClean="0"/>
              <a:t>15/12/2025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23327E-A3FE-4279-B080-AD6DAF9EDC3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756791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3327E-A3FE-4279-B080-AD6DAF9EDC39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155244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E31CA9-C0A7-3774-6313-5C0F192049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E48BE7A-5C96-2F5C-8150-D090DF813E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52D4F5-91B8-C4C4-DC3C-DE8A363E92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Wingdings" panose="05000000000000000000" pitchFamily="2" charset="2"/>
              <a:buChar char="à"/>
            </a:pPr>
            <a:r>
              <a:rPr lang="de-DE" dirty="0">
                <a:sym typeface="Wingdings" panose="05000000000000000000" pitchFamily="2" charset="2"/>
              </a:rPr>
              <a:t>Shows </a:t>
            </a:r>
            <a:r>
              <a:rPr lang="de-DE" dirty="0" err="1">
                <a:sym typeface="Wingdings" panose="05000000000000000000" pitchFamily="2" charset="2"/>
              </a:rPr>
              <a:t>the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distances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to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the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surrounding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buildings</a:t>
            </a:r>
            <a:r>
              <a:rPr lang="de-DE" dirty="0">
                <a:sym typeface="Wingdings" panose="05000000000000000000" pitchFamily="2" charset="2"/>
              </a:rPr>
              <a:t>.</a:t>
            </a:r>
          </a:p>
          <a:p>
            <a:pPr marL="171450" indent="-171450">
              <a:buFont typeface="Wingdings" panose="05000000000000000000" pitchFamily="2" charset="2"/>
              <a:buChar char="à"/>
            </a:pPr>
            <a:endParaRPr lang="de-DE" dirty="0">
              <a:sym typeface="Wingdings" panose="05000000000000000000" pitchFamily="2" charset="2"/>
            </a:endParaRPr>
          </a:p>
          <a:p>
            <a:pPr marL="171450" indent="-171450">
              <a:buFont typeface="Wingdings" panose="05000000000000000000" pitchFamily="2" charset="2"/>
              <a:buChar char="à"/>
            </a:pPr>
            <a:r>
              <a:rPr lang="de-DE" dirty="0">
                <a:sym typeface="Wingdings" panose="05000000000000000000" pitchFamily="2" charset="2"/>
              </a:rPr>
              <a:t>In </a:t>
            </a:r>
            <a:r>
              <a:rPr lang="de-DE" dirty="0" err="1">
                <a:sym typeface="Wingdings" panose="05000000000000000000" pitchFamily="2" charset="2"/>
              </a:rPr>
              <a:t>general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the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distance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is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longer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to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the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surrounding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buildings</a:t>
            </a:r>
            <a:r>
              <a:rPr lang="de-DE" dirty="0">
                <a:sym typeface="Wingdings" panose="05000000000000000000" pitchFamily="2" charset="2"/>
              </a:rPr>
              <a:t>, </a:t>
            </a:r>
            <a:r>
              <a:rPr lang="de-DE" dirty="0" err="1">
                <a:sym typeface="Wingdings" panose="05000000000000000000" pitchFamily="2" charset="2"/>
              </a:rPr>
              <a:t>especially</a:t>
            </a:r>
            <a:r>
              <a:rPr lang="de-DE" dirty="0">
                <a:sym typeface="Wingdings" panose="05000000000000000000" pitchFamily="2" charset="2"/>
              </a:rPr>
              <a:t> in </a:t>
            </a:r>
            <a:r>
              <a:rPr lang="de-DE" dirty="0" err="1">
                <a:sym typeface="Wingdings" panose="05000000000000000000" pitchFamily="2" charset="2"/>
              </a:rPr>
              <a:t>the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main</a:t>
            </a:r>
            <a:r>
              <a:rPr lang="de-DE" dirty="0">
                <a:sym typeface="Wingdings" panose="05000000000000000000" pitchFamily="2" charset="2"/>
              </a:rPr>
              <a:t> wind </a:t>
            </a:r>
            <a:r>
              <a:rPr lang="de-DE" dirty="0" err="1">
                <a:sym typeface="Wingdings" panose="05000000000000000000" pitchFamily="2" charset="2"/>
              </a:rPr>
              <a:t>dirction</a:t>
            </a:r>
            <a:r>
              <a:rPr lang="de-DE" dirty="0">
                <a:sym typeface="Wingdings" panose="05000000000000000000" pitchFamily="2" charset="2"/>
              </a:rPr>
              <a:t>, </a:t>
            </a:r>
            <a:r>
              <a:rPr lang="de-DE" dirty="0" err="1">
                <a:sym typeface="Wingdings" panose="05000000000000000000" pitchFamily="2" charset="2"/>
              </a:rPr>
              <a:t>which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is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cruicual</a:t>
            </a:r>
            <a:r>
              <a:rPr lang="de-DE" dirty="0">
                <a:sym typeface="Wingdings" panose="05000000000000000000" pitchFamily="2" charset="2"/>
              </a:rPr>
              <a:t>!</a:t>
            </a:r>
          </a:p>
          <a:p>
            <a:pPr marL="171450" indent="-171450">
              <a:buFont typeface="Wingdings" panose="05000000000000000000" pitchFamily="2" charset="2"/>
              <a:buChar char="à"/>
            </a:pPr>
            <a:endParaRPr lang="de-DE" dirty="0">
              <a:sym typeface="Wingdings" panose="05000000000000000000" pitchFamily="2" charset="2"/>
            </a:endParaRPr>
          </a:p>
          <a:p>
            <a:pPr marL="171450" indent="-171450">
              <a:buFont typeface="Wingdings" panose="05000000000000000000" pitchFamily="2" charset="2"/>
              <a:buChar char="à"/>
            </a:pPr>
            <a:r>
              <a:rPr lang="de-DE" dirty="0" err="1">
                <a:sym typeface="Wingdings" panose="05000000000000000000" pitchFamily="2" charset="2"/>
              </a:rPr>
              <a:t>Regarding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the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buildings</a:t>
            </a:r>
            <a:r>
              <a:rPr lang="de-DE" dirty="0">
                <a:sym typeface="Wingdings" panose="05000000000000000000" pitchFamily="2" charset="2"/>
              </a:rPr>
              <a:t> A, </a:t>
            </a:r>
            <a:r>
              <a:rPr lang="de-DE" dirty="0" err="1">
                <a:sym typeface="Wingdings" panose="05000000000000000000" pitchFamily="2" charset="2"/>
              </a:rPr>
              <a:t>the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shaddow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flicker</a:t>
            </a:r>
            <a:r>
              <a:rPr lang="de-DE" dirty="0">
                <a:sym typeface="Wingdings" panose="05000000000000000000" pitchFamily="2" charset="2"/>
              </a:rPr>
              <a:t> will </a:t>
            </a:r>
            <a:r>
              <a:rPr lang="de-DE" dirty="0" err="1">
                <a:sym typeface="Wingdings" panose="05000000000000000000" pitchFamily="2" charset="2"/>
              </a:rPr>
              <a:t>be</a:t>
            </a:r>
            <a:r>
              <a:rPr lang="de-DE" dirty="0">
                <a:sym typeface="Wingdings" panose="05000000000000000000" pitchFamily="2" charset="2"/>
              </a:rPr>
              <a:t> a </a:t>
            </a:r>
            <a:r>
              <a:rPr lang="de-DE" dirty="0" err="1">
                <a:sym typeface="Wingdings" panose="05000000000000000000" pitchFamily="2" charset="2"/>
              </a:rPr>
              <a:t>problem</a:t>
            </a:r>
            <a:r>
              <a:rPr lang="de-DE" dirty="0">
                <a:sym typeface="Wingdings" panose="05000000000000000000" pitchFamily="2" charset="2"/>
              </a:rPr>
              <a:t>, but </a:t>
            </a:r>
            <a:r>
              <a:rPr lang="de-DE" dirty="0" err="1">
                <a:sym typeface="Wingdings" panose="05000000000000000000" pitchFamily="2" charset="2"/>
              </a:rPr>
              <a:t>only</a:t>
            </a:r>
            <a:r>
              <a:rPr lang="de-DE" dirty="0">
                <a:sym typeface="Wingdings" panose="05000000000000000000" pitchFamily="2" charset="2"/>
              </a:rPr>
              <a:t> in </a:t>
            </a:r>
            <a:r>
              <a:rPr lang="de-DE" dirty="0" err="1">
                <a:sym typeface="Wingdings" panose="05000000000000000000" pitchFamily="2" charset="2"/>
              </a:rPr>
              <a:t>the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morning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ours</a:t>
            </a:r>
            <a:r>
              <a:rPr lang="de-DE" dirty="0">
                <a:sym typeface="Wingdings" panose="05000000000000000000" pitchFamily="2" charset="2"/>
              </a:rPr>
              <a:t>.</a:t>
            </a:r>
          </a:p>
          <a:p>
            <a:pPr marL="171450" indent="-171450">
              <a:buFont typeface="Wingdings" panose="05000000000000000000" pitchFamily="2" charset="2"/>
              <a:buChar char="à"/>
            </a:pPr>
            <a:endParaRPr lang="de-DE" dirty="0">
              <a:sym typeface="Wingdings" panose="05000000000000000000" pitchFamily="2" charset="2"/>
            </a:endParaRPr>
          </a:p>
          <a:p>
            <a:pPr marL="171450" indent="-171450">
              <a:buFont typeface="Wingdings" panose="05000000000000000000" pitchFamily="2" charset="2"/>
              <a:buChar char="à"/>
            </a:pPr>
            <a:r>
              <a:rPr lang="de-DE" dirty="0">
                <a:sym typeface="Wingdings" panose="05000000000000000000" pitchFamily="2" charset="2"/>
              </a:rPr>
              <a:t>With </a:t>
            </a:r>
            <a:r>
              <a:rPr lang="de-DE" dirty="0" err="1">
                <a:sym typeface="Wingdings" panose="05000000000000000000" pitchFamily="2" charset="2"/>
              </a:rPr>
              <a:t>the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buildings</a:t>
            </a:r>
            <a:r>
              <a:rPr lang="de-DE" dirty="0">
                <a:sym typeface="Wingdings" panose="05000000000000000000" pitchFamily="2" charset="2"/>
              </a:rPr>
              <a:t> F-H, I am not </a:t>
            </a:r>
            <a:r>
              <a:rPr lang="de-DE" dirty="0" err="1">
                <a:sym typeface="Wingdings" panose="05000000000000000000" pitchFamily="2" charset="2"/>
              </a:rPr>
              <a:t>sure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if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they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are</a:t>
            </a:r>
            <a:r>
              <a:rPr lang="de-DE" dirty="0">
                <a:sym typeface="Wingdings" panose="05000000000000000000" pitchFamily="2" charset="2"/>
              </a:rPr>
              <a:t> in </a:t>
            </a:r>
            <a:r>
              <a:rPr lang="de-DE" dirty="0" err="1">
                <a:sym typeface="Wingdings" panose="05000000000000000000" pitchFamily="2" charset="2"/>
              </a:rPr>
              <a:t>use</a:t>
            </a:r>
            <a:r>
              <a:rPr lang="de-DE" dirty="0">
                <a:sym typeface="Wingdings" panose="05000000000000000000" pitchFamily="2" charset="2"/>
              </a:rPr>
              <a:t>. I </a:t>
            </a:r>
            <a:r>
              <a:rPr lang="de-DE" dirty="0" err="1">
                <a:sym typeface="Wingdings" panose="05000000000000000000" pitchFamily="2" charset="2"/>
              </a:rPr>
              <a:t>assume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its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for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farmers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or</a:t>
            </a:r>
            <a:r>
              <a:rPr lang="de-DE" dirty="0">
                <a:sym typeface="Wingdings" panose="05000000000000000000" pitchFamily="2" charset="2"/>
              </a:rPr>
              <a:t> so.</a:t>
            </a:r>
          </a:p>
          <a:p>
            <a:pPr marL="171450" indent="-171450">
              <a:buFont typeface="Wingdings" panose="05000000000000000000" pitchFamily="2" charset="2"/>
              <a:buChar char="à"/>
            </a:pPr>
            <a:endParaRPr lang="de-DE" dirty="0">
              <a:sym typeface="Wingdings" panose="05000000000000000000" pitchFamily="2" charset="2"/>
            </a:endParaRPr>
          </a:p>
          <a:p>
            <a:pPr marL="171450" indent="-171450">
              <a:buFont typeface="Wingdings" panose="05000000000000000000" pitchFamily="2" charset="2"/>
              <a:buChar char="à"/>
            </a:pPr>
            <a:r>
              <a:rPr lang="de-DE" dirty="0">
                <a:sym typeface="Wingdings" panose="05000000000000000000" pitchFamily="2" charset="2"/>
              </a:rPr>
              <a:t>In </a:t>
            </a:r>
            <a:r>
              <a:rPr lang="de-DE" dirty="0" err="1">
                <a:sym typeface="Wingdings" panose="05000000000000000000" pitchFamily="2" charset="2"/>
              </a:rPr>
              <a:t>my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opinion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its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the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better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side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now</a:t>
            </a:r>
            <a:r>
              <a:rPr lang="de-DE" dirty="0">
                <a:sym typeface="Wingdings" panose="05000000000000000000" pitchFamily="2" charset="2"/>
              </a:rPr>
              <a:t>. </a:t>
            </a:r>
            <a:r>
              <a:rPr lang="de-DE" dirty="0" err="1">
                <a:sym typeface="Wingdings" panose="05000000000000000000" pitchFamily="2" charset="2"/>
              </a:rPr>
              <a:t>Only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the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amount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of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water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resources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could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be</a:t>
            </a:r>
            <a:r>
              <a:rPr lang="de-DE" dirty="0">
                <a:sym typeface="Wingdings" panose="05000000000000000000" pitchFamily="2" charset="2"/>
              </a:rPr>
              <a:t> a </a:t>
            </a:r>
            <a:r>
              <a:rPr lang="de-DE" dirty="0" err="1">
                <a:sym typeface="Wingdings" panose="05000000000000000000" pitchFamily="2" charset="2"/>
              </a:rPr>
              <a:t>major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problem</a:t>
            </a:r>
            <a:r>
              <a:rPr lang="de-DE" dirty="0">
                <a:sym typeface="Wingdings" panose="05000000000000000000" pitchFamily="2" charset="2"/>
              </a:rPr>
              <a:t>, but </a:t>
            </a:r>
            <a:r>
              <a:rPr lang="de-DE" dirty="0" err="1">
                <a:sym typeface="Wingdings" panose="05000000000000000000" pitchFamily="2" charset="2"/>
              </a:rPr>
              <a:t>according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to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the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soil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analysis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it</a:t>
            </a:r>
            <a:r>
              <a:rPr lang="de-DE" dirty="0">
                <a:sym typeface="Wingdings" panose="05000000000000000000" pitchFamily="2" charset="2"/>
              </a:rPr>
              <a:t> will not </a:t>
            </a:r>
            <a:r>
              <a:rPr lang="de-DE" dirty="0" err="1">
                <a:sym typeface="Wingdings" panose="05000000000000000000" pitchFamily="2" charset="2"/>
              </a:rPr>
              <a:t>be</a:t>
            </a:r>
            <a:r>
              <a:rPr lang="de-DE" dirty="0">
                <a:sym typeface="Wingdings" panose="05000000000000000000" pitchFamily="2" charset="2"/>
              </a:rPr>
              <a:t> a </a:t>
            </a:r>
            <a:r>
              <a:rPr lang="de-DE" dirty="0" err="1">
                <a:sym typeface="Wingdings" panose="05000000000000000000" pitchFamily="2" charset="2"/>
              </a:rPr>
              <a:t>problem</a:t>
            </a:r>
            <a:r>
              <a:rPr lang="de-DE" dirty="0">
                <a:sym typeface="Wingdings" panose="05000000000000000000" pitchFamily="2" charset="2"/>
              </a:rPr>
              <a:t>!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47C25D-84A0-BE45-5F58-45C867B1B1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23327E-A3FE-4279-B080-AD6DAF9EDC39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763710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mybib.com/tools/ieee-citation-generator" TargetMode="External"/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09CFF2-C4A0-C88B-1E9C-7E88513856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F93A8F-E2E3-B4BD-3B84-D178AF0ED9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D5BFD4-B46B-34FE-9A8B-9033E96DC6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2582E-7652-4336-8F82-B8F78DEBE1E6}" type="datetime1">
              <a:rPr lang="en-GB" smtClean="0"/>
              <a:t>15/12/2025</a:t>
            </a:fld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F83137-53E8-FAAE-F427-32424D8671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73579" y="6356350"/>
            <a:ext cx="403654" cy="365125"/>
          </a:xfrm>
        </p:spPr>
        <p:txBody>
          <a:bodyPr/>
          <a:lstStyle>
            <a:lvl1pPr>
              <a:defRPr sz="1600"/>
            </a:lvl1pPr>
          </a:lstStyle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203395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93033-AA4A-D955-AE39-E7F2A40C8A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38BDBB-4827-8B89-3EE0-5A3DD22172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EA4901-6338-2E30-CCE8-77FD13F592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1100E-89DB-4D21-B66A-B5E24FA59FB2}" type="datetime1">
              <a:rPr lang="en-GB" smtClean="0"/>
              <a:t>15/12/2025</a:t>
            </a:fld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6B5D97-094A-D8D8-0C4D-1DC08462EC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69428" y="6349546"/>
            <a:ext cx="653143" cy="365125"/>
          </a:xfrm>
        </p:spPr>
        <p:txBody>
          <a:bodyPr/>
          <a:lstStyle/>
          <a:p>
            <a:fld id="{013F6232-4F06-48BA-8F69-BF531F60782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270134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690F5D-2977-B8B5-3FC5-DF3AE8740E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C247B5-0632-4013-2832-15D3D21A8C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1A4BC1-6A36-94FE-17CE-DFAD0BF1AC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37878B-5315-4496-8D10-2F17543DB034}" type="datetime1">
              <a:rPr lang="en-GB" smtClean="0"/>
              <a:t>15/12/2025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D5FD8C-55CD-AD30-1E91-60750BCCDF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5A2AD0-0D56-CC63-D932-D1C61C7780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694861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013920-E451-6E8D-B0CB-C3FB9C0F7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7CFBA5-B73E-6B89-322D-7C32A35A12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BF8199-371A-141A-1CD7-D551EEEFDF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63C60A-FE48-2910-84A1-612B23A782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BEA969-CEB0-4E87-8DDD-72161074DF01}" type="datetime1">
              <a:rPr lang="en-GB" smtClean="0"/>
              <a:t>15/12/2025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BC67CE-6F73-71D9-BF0B-18A7CD945C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580765-E2ED-A6A2-9401-8425BFA027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457548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5BF7B7-87CF-1A3E-E33E-44DC6E015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B21B8D-C5F5-5242-4069-B1546B4BC0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4D26CD-98BD-17E2-BE55-DBB74BBC64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3B8D60-279E-D76A-9222-12B704BAEB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A1AF34B-F683-41AD-C71C-8E8C66CC4C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9696258-07C0-0BF2-CA2A-156B572B5B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35A96A-71C8-435E-B03B-275B6E0D4AB2}" type="datetime1">
              <a:rPr lang="en-GB" smtClean="0"/>
              <a:t>15/12/2025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B07D047-C31B-4C8F-E0B3-75014FF62F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484742A-6F5B-071B-E0EA-980402529B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481019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7C287-18A0-EB82-8A27-F94CA3880D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42CDD78-FBCD-76B9-2CA1-031942F219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2E411-883A-45F0-8C4F-B0FE2C65FB28}" type="datetime1">
              <a:rPr lang="en-GB" smtClean="0"/>
              <a:t>15/12/2025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8218E7-E787-22C8-B531-FFEC9002A9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876BDA-2FCA-9763-2EA1-4033A5600E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867054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F0FDB8F-73D7-2EBC-A62D-4DC737946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6F6F48-3B55-4945-B23D-B0C51AFE28E6}" type="datetime1">
              <a:rPr lang="en-GB" smtClean="0"/>
              <a:t>15/12/2025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CD8D704-B4F5-F739-D1FA-65F2302BC1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C7751D-0392-D26F-33B1-9B05704F8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42798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4D20E-7D43-D4CD-1058-46300B8EE4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B6584A-B476-0EA1-C12B-07C273F70E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694232-1597-B186-D108-397BCF214D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3685DB-F13A-97BE-F448-1741607973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09ACC-63FA-4EE9-AE4D-ECCDA5B91432}" type="datetime1">
              <a:rPr lang="en-GB" smtClean="0"/>
              <a:t>15/12/2025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70ACE2-CF77-9AC4-52EF-82FBD40BB6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60D674-CAD3-59F8-9DF5-CA4D8E7A04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279824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E2DC87-27CE-5A07-9629-719DC91DE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F65E744-3606-1D16-E7B2-58DAFC3E88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A9C703-BF20-85AF-358A-01ADED33CF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4AE937-083F-51CA-E382-30FE9BEB0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8D1FE4-6F4F-4845-8022-15597911E7C2}" type="datetime1">
              <a:rPr lang="en-GB" smtClean="0"/>
              <a:t>15/12/2025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1F255A-C1CC-7A32-A0B3-4283D85836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76C013-C03F-024A-D0F4-FF67E6709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363175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F44B09-72C5-4D15-0E4C-46764EB8C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B470E9-1D3C-D5B3-7A54-66BD900997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516D05-728D-ACC9-D7EA-DC9D733002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4C014-E638-4D69-B7E7-9E0555AE7620}" type="datetime1">
              <a:rPr lang="en-GB" smtClean="0"/>
              <a:t>15/12/2025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74FC10-CEAF-B332-2960-AABF9CE254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6ED6E7-B58D-A523-935C-4B108C943D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687582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368A110-A33F-744D-89CB-FFCF49E08A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B6FACB-31E5-361F-D71D-18FCBA5503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A399A6-3C5A-016E-2F7E-AE842F8D7B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5F2F9-D101-4F42-A846-5D94E4802AD7}" type="datetime1">
              <a:rPr lang="en-GB" smtClean="0"/>
              <a:t>15/12/2025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6242F9-DB70-E4F8-D075-6A90518751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EFAB33-4759-572E-2291-D19531D81F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914601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AEF21-84C8-586D-C38F-81DE3F931C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13036B-E08D-B4B8-69CB-C42176842B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93DB72-09E0-8BDF-14B4-4FA2820C1D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3EC99-01D5-4EE5-ACB1-C061987EA0AA}" type="datetimeFigureOut">
              <a:rPr lang="en-GB" smtClean="0"/>
              <a:t>15/12/2025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1F2740-59F3-8354-CF52-53337A807A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0C06A1-E2ED-D4C3-86B0-3C97240937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6457B-11B5-4397-9456-911FAE9FD3F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9850836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F8E779-A5CF-33E3-89F5-B43337C271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69D232-4F34-AEFC-AFD0-741DABBA5F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5F2E77-D5DF-1D17-C854-897B9DD3BE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3EC99-01D5-4EE5-ACB1-C061987EA0AA}" type="datetimeFigureOut">
              <a:rPr lang="en-GB" smtClean="0"/>
              <a:t>15/12/2025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3614D6-F2CE-1582-32E1-94A59C7A80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C27D5C-0D68-9101-A36C-9187E79BB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6457B-11B5-4397-9456-911FAE9FD3F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4639292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758CC5-208E-4B47-6CAD-E29FCCC396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B79405-6B60-96C3-7F85-CE10C28770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ECBA10-7C40-29AA-A669-FC240702E6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3EC99-01D5-4EE5-ACB1-C061987EA0AA}" type="datetimeFigureOut">
              <a:rPr lang="en-GB" smtClean="0"/>
              <a:t>15/12/2025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999825-A403-E91C-FFA8-F874E991D8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CCBFE7-28C4-5DF1-911F-E0B622EAA9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6457B-11B5-4397-9456-911FAE9FD3F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7221988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9B7720-A6A0-DF50-E2F8-F9527E23D1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86D186-8E32-BEAD-C81B-DE65895FD5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E57542-2B68-1767-C023-57D111E4E8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85A417-9018-30E4-0A47-8170AD7D24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3EC99-01D5-4EE5-ACB1-C061987EA0AA}" type="datetimeFigureOut">
              <a:rPr lang="en-GB" smtClean="0"/>
              <a:t>15/12/2025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7AF8F7-6A80-4F6A-4E5F-660537A251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AD3418-4BA9-CD34-AE32-0EF416780F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6457B-11B5-4397-9456-911FAE9FD3F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036608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7908D8-A3B6-96B0-A29C-1B8262BE5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905487-0425-138F-F9A2-0872272282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3BCB02-5AB4-A5E9-0917-4B9DD049B7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0A50C77-85F2-0754-8AD9-7A5A4AEF653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03DDF01-B6D2-31ED-A641-114B1A0ADB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B1FCA1D-B4D0-56C6-A678-3E0624361E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3EC99-01D5-4EE5-ACB1-C061987EA0AA}" type="datetimeFigureOut">
              <a:rPr lang="en-GB" smtClean="0"/>
              <a:t>15/12/2025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30E1DB4-3501-792C-CAF9-4235B2E915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CDD0757-7BFA-7895-D03C-767D640502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6457B-11B5-4397-9456-911FAE9FD3F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4731796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B62EA9-258F-B5EB-624D-2EFA68C419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E148340-45BA-0901-1551-9D9DAFF07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3EC99-01D5-4EE5-ACB1-C061987EA0AA}" type="datetimeFigureOut">
              <a:rPr lang="en-GB" smtClean="0"/>
              <a:t>15/12/2025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42F2D2-B0BF-4202-0381-8243671BB6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F6687B-3FE7-76CE-1134-2B3A5D187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6457B-11B5-4397-9456-911FAE9FD3F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4762813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9B9E6C1-24CC-682A-8886-999E9A21F1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3EC99-01D5-4EE5-ACB1-C061987EA0AA}" type="datetimeFigureOut">
              <a:rPr lang="en-GB" smtClean="0"/>
              <a:t>15/12/2025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B275448-9567-EFBD-FC78-2B80C2BDF3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E95C70-5A8D-518E-49A4-1BE4538533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6457B-11B5-4397-9456-911FAE9FD3F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2801574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2520AB-BD7C-3FEC-DC53-91B047807E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EFA408-CFF5-5EB0-4399-BB87E6CF02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736F81-445C-5EF6-6E32-68D1E9C1C9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A08E69-7027-0F17-B524-CD221B586F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3EC99-01D5-4EE5-ACB1-C061987EA0AA}" type="datetimeFigureOut">
              <a:rPr lang="en-GB" smtClean="0"/>
              <a:t>15/12/2025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145A00-EFDD-31BA-C55F-26A6CC9020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1ACCAF-2E21-16F5-1C68-06D177E12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6457B-11B5-4397-9456-911FAE9FD3F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524733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BEA28B-29EC-E505-5884-CB4B1C6FD8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5425986-DCF9-FBB5-39AD-D04792C6534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1AEB0E-C7EC-4F26-009D-409178E43F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4AB446-5A6F-5112-F417-65A55A0DC5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3EC99-01D5-4EE5-ACB1-C061987EA0AA}" type="datetimeFigureOut">
              <a:rPr lang="en-GB" smtClean="0"/>
              <a:t>15/12/2025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42D12D-03AA-1A0A-4595-8E0638173A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CB350E-16AC-3E65-1704-09F648ABB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6457B-11B5-4397-9456-911FAE9FD3F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3764417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C8C89-C725-395E-E708-BEF95E19CC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1E4975-013E-CB40-86C9-4D346B73C9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A6C674-4D68-9DAC-8E93-7EB627FCC2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3EC99-01D5-4EE5-ACB1-C061987EA0AA}" type="datetimeFigureOut">
              <a:rPr lang="en-GB" smtClean="0"/>
              <a:t>15/12/2025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CC36B8-CAAE-BDC6-8DF5-9451A698F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6750A4-9B92-8DB3-B407-A8A74CEA4C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6457B-11B5-4397-9456-911FAE9FD3F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780521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F9A6511-7D12-4461-0A24-9B3134C2C7D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5222EB-F23C-083B-09C9-48B924AC7F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A908F9-D1F7-F94A-CA98-198F714C58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3EC99-01D5-4EE5-ACB1-C061987EA0AA}" type="datetimeFigureOut">
              <a:rPr lang="en-GB" smtClean="0"/>
              <a:t>15/12/2025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D1FCF1-AD09-ED98-9C1F-DDCABBE25E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63C831-E5D1-B4E6-5F4E-FB9FFB5D91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6457B-11B5-4397-9456-911FAE9FD3F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5642537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st of tea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8B5CAFF-79AF-87AE-7EAE-604CC93E76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458857" y="1978025"/>
            <a:ext cx="4894943" cy="4351338"/>
          </a:xfrm>
        </p:spPr>
        <p:txBody>
          <a:bodyPr>
            <a:normAutofit/>
          </a:bodyPr>
          <a:lstStyle>
            <a:lvl1pPr marL="514350" indent="-514350">
              <a:buFont typeface="+mj-lt"/>
              <a:buAutoNum type="arabicPeriod"/>
              <a:defRPr sz="2200"/>
            </a:lvl1pPr>
            <a:lvl2pPr marL="457200" indent="0">
              <a:buFont typeface="Arial" panose="020B0604020202020204" pitchFamily="34" charset="0"/>
              <a:buNone/>
              <a:defRPr sz="2200"/>
            </a:lvl2pPr>
          </a:lstStyle>
          <a:p>
            <a:pPr lvl="1"/>
            <a:r>
              <a:rPr lang="de-DE" dirty="0"/>
              <a:t>12. </a:t>
            </a:r>
            <a:r>
              <a:rPr lang="de-DE" dirty="0" err="1"/>
              <a:t>Machine</a:t>
            </a:r>
            <a:r>
              <a:rPr lang="de-DE" dirty="0"/>
              <a:t> </a:t>
            </a:r>
            <a:r>
              <a:rPr lang="de-DE" dirty="0" err="1"/>
              <a:t>Bed</a:t>
            </a:r>
            <a:r>
              <a:rPr lang="de-DE" dirty="0"/>
              <a:t> &amp; Yaw System  </a:t>
            </a:r>
          </a:p>
          <a:p>
            <a:pPr lvl="1"/>
            <a:r>
              <a:rPr lang="de-DE" dirty="0"/>
              <a:t>13. Tower  </a:t>
            </a:r>
          </a:p>
          <a:p>
            <a:pPr lvl="1"/>
            <a:r>
              <a:rPr lang="de-DE" dirty="0"/>
              <a:t>14. </a:t>
            </a:r>
            <a:r>
              <a:rPr lang="de-DE" dirty="0" err="1"/>
              <a:t>Foundation</a:t>
            </a:r>
            <a:r>
              <a:rPr lang="de-DE" dirty="0"/>
              <a:t>  </a:t>
            </a:r>
          </a:p>
          <a:p>
            <a:pPr lvl="1"/>
            <a:r>
              <a:rPr lang="de-DE" dirty="0"/>
              <a:t>15. Storage System </a:t>
            </a:r>
          </a:p>
          <a:p>
            <a:pPr lvl="1"/>
            <a:endParaRPr lang="de-DE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62E2414-A9F3-5C69-E3A8-481E091525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</p:spPr>
        <p:txBody>
          <a:bodyPr/>
          <a:lstStyle>
            <a:lvl1pPr>
              <a:defRPr/>
            </a:lvl1pPr>
          </a:lstStyle>
          <a:p>
            <a:r>
              <a:rPr lang="en-GB" dirty="0"/>
              <a:t>Teams</a:t>
            </a:r>
          </a:p>
        </p:txBody>
      </p:sp>
      <p:cxnSp>
        <p:nvCxnSpPr>
          <p:cNvPr id="9" name="Straight Connector 5">
            <a:extLst>
              <a:ext uri="{FF2B5EF4-FFF2-40B4-BE49-F238E27FC236}">
                <a16:creationId xmlns:a16="http://schemas.microsoft.com/office/drawing/2014/main" id="{66EB7C6A-45A8-A327-54B4-9E3A0BCAC0B4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D2466CB9-E665-36BA-2132-8519CA303C97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838200" y="1978025"/>
            <a:ext cx="4894943" cy="4351338"/>
          </a:xfrm>
        </p:spPr>
        <p:txBody>
          <a:bodyPr>
            <a:normAutofit/>
          </a:bodyPr>
          <a:lstStyle>
            <a:lvl1pPr marL="514350" indent="-514350">
              <a:buFont typeface="+mj-lt"/>
              <a:buAutoNum type="arabicPeriod"/>
              <a:defRPr sz="2200"/>
            </a:lvl1pPr>
            <a:lvl2pPr marL="457200" indent="0" algn="l">
              <a:buFont typeface="Arial" panose="020B0604020202020204" pitchFamily="34" charset="0"/>
              <a:buNone/>
              <a:defRPr sz="2200"/>
            </a:lvl2pPr>
          </a:lstStyle>
          <a:p>
            <a:pPr lvl="1"/>
            <a:r>
              <a:rPr lang="de-DE" dirty="0"/>
              <a:t>1.  </a:t>
            </a:r>
            <a:r>
              <a:rPr lang="de-DE" dirty="0" err="1"/>
              <a:t>Windfarm</a:t>
            </a:r>
            <a:r>
              <a:rPr lang="de-DE" dirty="0"/>
              <a:t> Project Development  </a:t>
            </a:r>
          </a:p>
          <a:p>
            <a:pPr lvl="1"/>
            <a:r>
              <a:rPr lang="de-DE" dirty="0"/>
              <a:t>2.  Loads and Dynamics  </a:t>
            </a:r>
          </a:p>
          <a:p>
            <a:pPr lvl="1"/>
            <a:r>
              <a:rPr lang="de-DE" dirty="0"/>
              <a:t>3.  Feedback Controller  </a:t>
            </a:r>
          </a:p>
          <a:p>
            <a:pPr lvl="1"/>
            <a:r>
              <a:rPr lang="de-DE" dirty="0"/>
              <a:t>4.  Lidar-</a:t>
            </a:r>
            <a:r>
              <a:rPr lang="de-DE" dirty="0" err="1"/>
              <a:t>Assisted</a:t>
            </a:r>
            <a:r>
              <a:rPr lang="de-DE" dirty="0"/>
              <a:t> Controller  </a:t>
            </a:r>
          </a:p>
          <a:p>
            <a:pPr lvl="1"/>
            <a:r>
              <a:rPr lang="de-DE" dirty="0"/>
              <a:t>5.  Rotor Blade </a:t>
            </a:r>
            <a:r>
              <a:rPr lang="de-DE" dirty="0" err="1"/>
              <a:t>Aerodynamics</a:t>
            </a:r>
            <a:r>
              <a:rPr lang="de-DE" dirty="0"/>
              <a:t>  </a:t>
            </a:r>
          </a:p>
          <a:p>
            <a:pPr lvl="1"/>
            <a:r>
              <a:rPr lang="de-DE" dirty="0"/>
              <a:t>6.  Rotor Blade </a:t>
            </a:r>
            <a:r>
              <a:rPr lang="de-DE" dirty="0" err="1"/>
              <a:t>Structures</a:t>
            </a:r>
            <a:r>
              <a:rPr lang="de-DE" dirty="0"/>
              <a:t>  </a:t>
            </a:r>
          </a:p>
          <a:p>
            <a:pPr lvl="1"/>
            <a:r>
              <a:rPr lang="de-DE" dirty="0"/>
              <a:t>7.  </a:t>
            </a:r>
            <a:r>
              <a:rPr lang="de-DE" dirty="0" err="1"/>
              <a:t>Electrical</a:t>
            </a:r>
            <a:r>
              <a:rPr lang="de-DE" dirty="0"/>
              <a:t> </a:t>
            </a:r>
            <a:r>
              <a:rPr lang="de-DE" dirty="0" err="1"/>
              <a:t>Drivetrain</a:t>
            </a:r>
            <a:r>
              <a:rPr lang="de-DE" dirty="0"/>
              <a:t> (EDT)  </a:t>
            </a:r>
          </a:p>
          <a:p>
            <a:pPr lvl="1"/>
            <a:r>
              <a:rPr lang="de-DE" dirty="0"/>
              <a:t>8.  </a:t>
            </a:r>
            <a:r>
              <a:rPr lang="de-DE" dirty="0" err="1"/>
              <a:t>Grid</a:t>
            </a:r>
            <a:r>
              <a:rPr lang="de-DE" dirty="0"/>
              <a:t> Code Development (GCD)  </a:t>
            </a:r>
          </a:p>
          <a:p>
            <a:pPr lvl="1"/>
            <a:r>
              <a:rPr lang="de-DE" dirty="0"/>
              <a:t>9.  Rotor Hub &amp; Pitch System  </a:t>
            </a:r>
          </a:p>
          <a:p>
            <a:pPr lvl="1"/>
            <a:r>
              <a:rPr lang="de-DE" dirty="0"/>
              <a:t>10. Rotor </a:t>
            </a:r>
            <a:r>
              <a:rPr lang="de-DE" dirty="0" err="1"/>
              <a:t>Bearing</a:t>
            </a:r>
            <a:r>
              <a:rPr lang="de-DE" dirty="0"/>
              <a:t> System  </a:t>
            </a:r>
          </a:p>
          <a:p>
            <a:pPr lvl="1"/>
            <a:r>
              <a:rPr lang="de-DE" dirty="0"/>
              <a:t>11. </a:t>
            </a:r>
            <a:r>
              <a:rPr lang="de-DE" dirty="0" err="1"/>
              <a:t>Gearbox</a:t>
            </a:r>
            <a:r>
              <a:rPr lang="de-DE" dirty="0"/>
              <a:t>, Brake, Coupling  </a:t>
            </a:r>
          </a:p>
          <a:p>
            <a:pPr lvl="1"/>
            <a:r>
              <a:rPr lang="de-DE" dirty="0"/>
              <a:t>						</a:t>
            </a:r>
          </a:p>
        </p:txBody>
      </p:sp>
      <p:sp>
        <p:nvSpPr>
          <p:cNvPr id="12" name="Datumsplatzhalter 11">
            <a:extLst>
              <a:ext uri="{FF2B5EF4-FFF2-40B4-BE49-F238E27FC236}">
                <a16:creationId xmlns:a16="http://schemas.microsoft.com/office/drawing/2014/main" id="{FD841E35-8D66-8DA2-B806-8C18E5D2806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15/12/2025</a:t>
            </a:fld>
            <a:endParaRPr lang="en-GB" dirty="0"/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6C28938A-3748-78F8-3D01-B82DF87C9BE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 dirty="0"/>
              <a:t>Optimus Syria</a:t>
            </a:r>
          </a:p>
        </p:txBody>
      </p:sp>
      <p:sp>
        <p:nvSpPr>
          <p:cNvPr id="17" name="Foliennummernplatzhalter 16">
            <a:extLst>
              <a:ext uri="{FF2B5EF4-FFF2-40B4-BE49-F238E27FC236}">
                <a16:creationId xmlns:a16="http://schemas.microsoft.com/office/drawing/2014/main" id="{3A903679-8273-AC0E-AD57-A9C78EE236F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3263217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st of contents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8B5CAFF-79AF-87AE-7EAE-604CC93E76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15600" cy="4351338"/>
          </a:xfrm>
        </p:spPr>
        <p:txBody>
          <a:bodyPr/>
          <a:lstStyle>
            <a:lvl1pPr marL="514350" indent="-514350">
              <a:buFont typeface="+mj-lt"/>
              <a:buAutoNum type="arabicPeriod"/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dirty="0"/>
              <a:t>Title, </a:t>
            </a:r>
            <a:r>
              <a:rPr lang="de-DE" dirty="0" err="1"/>
              <a:t>example</a:t>
            </a:r>
            <a:r>
              <a:rPr lang="de-DE" dirty="0"/>
              <a:t>: Tasks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r>
              <a:rPr lang="de-DE" dirty="0"/>
              <a:t>   (</a:t>
            </a:r>
            <a:r>
              <a:rPr lang="de-DE" dirty="0" err="1"/>
              <a:t>Aptos</a:t>
            </a:r>
            <a:r>
              <a:rPr lang="de-DE" dirty="0"/>
              <a:t>, 22)</a:t>
            </a:r>
          </a:p>
          <a:p>
            <a:pPr lvl="1"/>
            <a:r>
              <a:rPr lang="de-DE" dirty="0" err="1"/>
              <a:t>Example</a:t>
            </a:r>
            <a:r>
              <a:rPr lang="de-DE" dirty="0"/>
              <a:t>: </a:t>
            </a:r>
            <a:r>
              <a:rPr lang="de-DE" dirty="0" err="1"/>
              <a:t>drawings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r>
              <a:rPr lang="de-DE" dirty="0"/>
              <a:t>  (</a:t>
            </a:r>
            <a:r>
              <a:rPr lang="de-DE" dirty="0" err="1"/>
              <a:t>Aptos</a:t>
            </a:r>
            <a:r>
              <a:rPr lang="de-DE" dirty="0"/>
              <a:t>, 20)</a:t>
            </a:r>
          </a:p>
          <a:p>
            <a:pPr lvl="0"/>
            <a:r>
              <a:rPr lang="de-DE" dirty="0"/>
              <a:t>X</a:t>
            </a:r>
          </a:p>
          <a:p>
            <a:pPr lvl="1"/>
            <a:endParaRPr lang="de-DE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62E2414-A9F3-5C69-E3A8-481E091525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List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contents</a:t>
            </a:r>
            <a:endParaRPr lang="en-GB" dirty="0"/>
          </a:p>
        </p:txBody>
      </p:sp>
      <p:cxnSp>
        <p:nvCxnSpPr>
          <p:cNvPr id="9" name="Straight Connector 5">
            <a:extLst>
              <a:ext uri="{FF2B5EF4-FFF2-40B4-BE49-F238E27FC236}">
                <a16:creationId xmlns:a16="http://schemas.microsoft.com/office/drawing/2014/main" id="{66EB7C6A-45A8-A327-54B4-9E3A0BCAC0B4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Isosceles Triangle 6">
            <a:extLst>
              <a:ext uri="{FF2B5EF4-FFF2-40B4-BE49-F238E27FC236}">
                <a16:creationId xmlns:a16="http://schemas.microsoft.com/office/drawing/2014/main" id="{170C5CF7-7129-6BD6-B815-EAF32508EFB5}"/>
              </a:ext>
            </a:extLst>
          </p:cNvPr>
          <p:cNvSpPr/>
          <p:nvPr userDrawn="1"/>
        </p:nvSpPr>
        <p:spPr>
          <a:xfrm>
            <a:off x="5218873" y="2853022"/>
            <a:ext cx="1546144" cy="1209996"/>
          </a:xfrm>
          <a:prstGeom prst="triangle">
            <a:avLst>
              <a:gd name="adj" fmla="val 50565"/>
            </a:avLst>
          </a:prstGeom>
          <a:ln w="571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3" name="Rectangle 7">
            <a:extLst>
              <a:ext uri="{FF2B5EF4-FFF2-40B4-BE49-F238E27FC236}">
                <a16:creationId xmlns:a16="http://schemas.microsoft.com/office/drawing/2014/main" id="{C7BE5E88-0734-5426-D3DF-C7901A7359D4}"/>
              </a:ext>
            </a:extLst>
          </p:cNvPr>
          <p:cNvSpPr/>
          <p:nvPr userDrawn="1"/>
        </p:nvSpPr>
        <p:spPr>
          <a:xfrm>
            <a:off x="4025317" y="4094711"/>
            <a:ext cx="3933255" cy="2327860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an </a:t>
            </a:r>
            <a:r>
              <a:rPr lang="it-IT" dirty="0" err="1"/>
              <a:t>example</a:t>
            </a:r>
            <a:r>
              <a:rPr lang="it-IT" dirty="0"/>
              <a:t> </a:t>
            </a:r>
            <a:r>
              <a:rPr lang="it-IT" b="1" dirty="0"/>
              <a:t>BUT</a:t>
            </a:r>
            <a:br>
              <a:rPr lang="it-IT" dirty="0"/>
            </a:br>
            <a:r>
              <a:rPr lang="it-IT" dirty="0"/>
              <a:t>use the </a:t>
            </a:r>
            <a:r>
              <a:rPr lang="it-IT" dirty="0" err="1"/>
              <a:t>same</a:t>
            </a:r>
            <a:r>
              <a:rPr lang="it-IT" dirty="0"/>
              <a:t> style and short, concise bullet points) </a:t>
            </a:r>
            <a:br>
              <a:rPr lang="it-IT" dirty="0"/>
            </a:br>
            <a:r>
              <a:rPr lang="it-IT" dirty="0" err="1"/>
              <a:t>Only</a:t>
            </a:r>
            <a:r>
              <a:rPr lang="it-IT" dirty="0"/>
              <a:t> </a:t>
            </a:r>
            <a:r>
              <a:rPr lang="it-IT" dirty="0" err="1"/>
              <a:t>topics</a:t>
            </a:r>
            <a:r>
              <a:rPr lang="it-IT" dirty="0"/>
              <a:t> for the 4 min </a:t>
            </a:r>
            <a:r>
              <a:rPr lang="it-IT" dirty="0" err="1"/>
              <a:t>timeslot</a:t>
            </a:r>
            <a:r>
              <a:rPr lang="it-IT" dirty="0"/>
              <a:t>!</a:t>
            </a:r>
            <a:endParaRPr lang="en-GB" dirty="0"/>
          </a:p>
        </p:txBody>
      </p:sp>
      <p:sp>
        <p:nvSpPr>
          <p:cNvPr id="14" name="Rectangle 11">
            <a:extLst>
              <a:ext uri="{FF2B5EF4-FFF2-40B4-BE49-F238E27FC236}">
                <a16:creationId xmlns:a16="http://schemas.microsoft.com/office/drawing/2014/main" id="{11100C08-BD4D-E3E4-CE88-2FD7DF2770C3}"/>
              </a:ext>
            </a:extLst>
          </p:cNvPr>
          <p:cNvSpPr/>
          <p:nvPr userDrawn="1"/>
        </p:nvSpPr>
        <p:spPr>
          <a:xfrm>
            <a:off x="5727842" y="3001184"/>
            <a:ext cx="542886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GB" sz="7200" b="1" cap="none" spc="0" dirty="0">
                <a:ln w="0"/>
                <a:solidFill>
                  <a:schemeClr val="tx1"/>
                </a:solidFill>
              </a:rPr>
              <a:t>!</a:t>
            </a:r>
          </a:p>
        </p:txBody>
      </p:sp>
      <p:sp>
        <p:nvSpPr>
          <p:cNvPr id="2" name="Rectangle 7">
            <a:extLst>
              <a:ext uri="{FF2B5EF4-FFF2-40B4-BE49-F238E27FC236}">
                <a16:creationId xmlns:a16="http://schemas.microsoft.com/office/drawing/2014/main" id="{65B86036-57A0-C8C5-C8BB-699A37ABA2A8}"/>
              </a:ext>
            </a:extLst>
          </p:cNvPr>
          <p:cNvSpPr/>
          <p:nvPr userDrawn="1"/>
        </p:nvSpPr>
        <p:spPr>
          <a:xfrm>
            <a:off x="908165" y="3299037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slide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only</a:t>
            </a:r>
            <a:r>
              <a:rPr lang="it-IT" dirty="0"/>
              <a:t> for </a:t>
            </a:r>
            <a:r>
              <a:rPr lang="it-IT" dirty="0" err="1"/>
              <a:t>explanation</a:t>
            </a:r>
            <a:r>
              <a:rPr lang="it-IT" dirty="0"/>
              <a:t>, </a:t>
            </a:r>
            <a:r>
              <a:rPr lang="it-IT" dirty="0" err="1"/>
              <a:t>dont´t</a:t>
            </a:r>
            <a:r>
              <a:rPr lang="it-IT" dirty="0"/>
              <a:t> use </a:t>
            </a:r>
            <a:r>
              <a:rPr lang="it-IT" dirty="0" err="1"/>
              <a:t>it!</a:t>
            </a:r>
            <a:endParaRPr lang="en-GB" dirty="0"/>
          </a:p>
        </p:txBody>
      </p:sp>
      <p:sp>
        <p:nvSpPr>
          <p:cNvPr id="10" name="Datumsplatzhalter 9">
            <a:extLst>
              <a:ext uri="{FF2B5EF4-FFF2-40B4-BE49-F238E27FC236}">
                <a16:creationId xmlns:a16="http://schemas.microsoft.com/office/drawing/2014/main" id="{64195E91-DEC0-2198-8D7F-F5D7511FB319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15/12/2025</a:t>
            </a:fld>
            <a:endParaRPr lang="en-GB" dirty="0"/>
          </a:p>
        </p:txBody>
      </p:sp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0EC107A6-E0D9-69FD-44BC-CFD5F05D7C8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5" name="Foliennummernplatzhalter 14">
            <a:extLst>
              <a:ext uri="{FF2B5EF4-FFF2-40B4-BE49-F238E27FC236}">
                <a16:creationId xmlns:a16="http://schemas.microsoft.com/office/drawing/2014/main" id="{8CC2EBC5-DD43-6B7E-A5D7-5CD5B0E30A5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7" name="Textplatzhalter 16">
            <a:extLst>
              <a:ext uri="{FF2B5EF4-FFF2-40B4-BE49-F238E27FC236}">
                <a16:creationId xmlns:a16="http://schemas.microsoft.com/office/drawing/2014/main" id="{E7DFBCC3-CC46-17B2-DF15-92940A3865D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337402928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ist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8B5CAFF-79AF-87AE-7EAE-604CC93E76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15600" cy="4351338"/>
          </a:xfrm>
        </p:spPr>
        <p:txBody>
          <a:bodyPr/>
          <a:lstStyle>
            <a:lvl1pPr marL="514350" indent="-514350">
              <a:buFont typeface="+mj-lt"/>
              <a:buAutoNum type="arabicPeriod"/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dirty="0"/>
              <a:t>Title, </a:t>
            </a:r>
            <a:r>
              <a:rPr lang="de-DE" dirty="0" err="1"/>
              <a:t>example</a:t>
            </a:r>
            <a:r>
              <a:rPr lang="de-DE" dirty="0"/>
              <a:t>: Tasks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endParaRPr lang="de-DE" dirty="0"/>
          </a:p>
          <a:p>
            <a:pPr lvl="1"/>
            <a:r>
              <a:rPr lang="de-DE" dirty="0" err="1"/>
              <a:t>Example</a:t>
            </a:r>
            <a:r>
              <a:rPr lang="de-DE" dirty="0"/>
              <a:t>: </a:t>
            </a:r>
            <a:r>
              <a:rPr lang="de-DE" dirty="0" err="1"/>
              <a:t>drawings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endParaRPr lang="de-DE" dirty="0"/>
          </a:p>
          <a:p>
            <a:pPr lvl="0"/>
            <a:r>
              <a:rPr lang="de-DE" dirty="0"/>
              <a:t>X</a:t>
            </a:r>
          </a:p>
          <a:p>
            <a:pPr lvl="1"/>
            <a:endParaRPr lang="de-DE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62E2414-A9F3-5C69-E3A8-481E091525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List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contents</a:t>
            </a:r>
            <a:endParaRPr lang="en-GB" dirty="0"/>
          </a:p>
        </p:txBody>
      </p:sp>
      <p:cxnSp>
        <p:nvCxnSpPr>
          <p:cNvPr id="9" name="Straight Connector 5">
            <a:extLst>
              <a:ext uri="{FF2B5EF4-FFF2-40B4-BE49-F238E27FC236}">
                <a16:creationId xmlns:a16="http://schemas.microsoft.com/office/drawing/2014/main" id="{66EB7C6A-45A8-A327-54B4-9E3A0BCAC0B4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Datumsplatzhalter 10">
            <a:extLst>
              <a:ext uri="{FF2B5EF4-FFF2-40B4-BE49-F238E27FC236}">
                <a16:creationId xmlns:a16="http://schemas.microsoft.com/office/drawing/2014/main" id="{8F6D1F16-A947-CEE2-C58A-50217E9017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15/12/2025</a:t>
            </a:fld>
            <a:endParaRPr lang="en-GB" dirty="0"/>
          </a:p>
        </p:txBody>
      </p:sp>
      <p:sp>
        <p:nvSpPr>
          <p:cNvPr id="12" name="Fußzeilenplatzhalter 11">
            <a:extLst>
              <a:ext uri="{FF2B5EF4-FFF2-40B4-BE49-F238E27FC236}">
                <a16:creationId xmlns:a16="http://schemas.microsoft.com/office/drawing/2014/main" id="{873EF994-6CA7-B763-F215-A7D1723E2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3" name="Foliennummernplatzhalter 12">
            <a:extLst>
              <a:ext uri="{FF2B5EF4-FFF2-40B4-BE49-F238E27FC236}">
                <a16:creationId xmlns:a16="http://schemas.microsoft.com/office/drawing/2014/main" id="{67F2F56B-9E4F-A460-92A9-87055C42B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4" name="Textplatzhalter 16">
            <a:extLst>
              <a:ext uri="{FF2B5EF4-FFF2-40B4-BE49-F238E27FC236}">
                <a16:creationId xmlns:a16="http://schemas.microsoft.com/office/drawing/2014/main" id="{3A8B7922-CD64-E421-B5E5-B7BA56CBCB0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330837575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slide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48CB4A-E85F-FC1F-2439-52B071A98E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de-DE" dirty="0"/>
              <a:t>1. Title, </a:t>
            </a:r>
            <a:r>
              <a:rPr lang="de-DE" dirty="0" err="1"/>
              <a:t>example</a:t>
            </a:r>
            <a:r>
              <a:rPr lang="de-DE" dirty="0"/>
              <a:t>: Tasks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r>
              <a:rPr lang="de-DE" dirty="0"/>
              <a:t>   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4216958-F611-9E4F-AA4F-56999F637A75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dirty="0" err="1"/>
              <a:t>Abcd</a:t>
            </a:r>
            <a:r>
              <a:rPr lang="de-DE" dirty="0"/>
              <a:t> (</a:t>
            </a:r>
            <a:r>
              <a:rPr lang="de-DE" dirty="0" err="1"/>
              <a:t>Aptos</a:t>
            </a:r>
            <a:r>
              <a:rPr lang="de-DE" dirty="0"/>
              <a:t>, 22)</a:t>
            </a:r>
          </a:p>
          <a:p>
            <a:pPr marL="971550" marR="0" lvl="1" indent="-51435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+mj-lt"/>
              <a:buAutoNum type="romanLcPeriod"/>
              <a:tabLst/>
              <a:defRPr/>
            </a:pPr>
            <a:r>
              <a:rPr lang="de-DE" dirty="0" err="1"/>
              <a:t>efgh</a:t>
            </a:r>
            <a:r>
              <a:rPr lang="de-DE" dirty="0"/>
              <a:t> (</a:t>
            </a:r>
            <a:r>
              <a:rPr lang="de-DE" dirty="0" err="1"/>
              <a:t>Aptos</a:t>
            </a:r>
            <a:r>
              <a:rPr lang="de-DE" dirty="0"/>
              <a:t>, 20)</a:t>
            </a:r>
          </a:p>
          <a:p>
            <a:pPr lvl="1"/>
            <a:endParaRPr lang="de-DE" dirty="0"/>
          </a:p>
        </p:txBody>
      </p:sp>
      <p:cxnSp>
        <p:nvCxnSpPr>
          <p:cNvPr id="7" name="Straight Connector 5">
            <a:extLst>
              <a:ext uri="{FF2B5EF4-FFF2-40B4-BE49-F238E27FC236}">
                <a16:creationId xmlns:a16="http://schemas.microsoft.com/office/drawing/2014/main" id="{C5BF7EBE-3919-817C-149B-CF38705C6BC9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Isosceles Triangle 6">
            <a:extLst>
              <a:ext uri="{FF2B5EF4-FFF2-40B4-BE49-F238E27FC236}">
                <a16:creationId xmlns:a16="http://schemas.microsoft.com/office/drawing/2014/main" id="{3272B118-64EE-99BB-8728-CE26B185DCFC}"/>
              </a:ext>
            </a:extLst>
          </p:cNvPr>
          <p:cNvSpPr/>
          <p:nvPr userDrawn="1"/>
        </p:nvSpPr>
        <p:spPr>
          <a:xfrm>
            <a:off x="8353959" y="1690688"/>
            <a:ext cx="1546144" cy="1209996"/>
          </a:xfrm>
          <a:prstGeom prst="triangle">
            <a:avLst>
              <a:gd name="adj" fmla="val 50565"/>
            </a:avLst>
          </a:prstGeom>
          <a:ln w="571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CCA8528F-A469-ED70-E9CA-F25798C1A305}"/>
              </a:ext>
            </a:extLst>
          </p:cNvPr>
          <p:cNvSpPr/>
          <p:nvPr userDrawn="1"/>
        </p:nvSpPr>
        <p:spPr>
          <a:xfrm>
            <a:off x="2209800" y="3095720"/>
            <a:ext cx="3933255" cy="2327860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/>
              <a:t>Use [1], [2], [3] for </a:t>
            </a:r>
            <a:r>
              <a:rPr lang="it-IT" dirty="0" err="1"/>
              <a:t>everything</a:t>
            </a:r>
            <a:r>
              <a:rPr lang="it-IT" dirty="0"/>
              <a:t> </a:t>
            </a:r>
            <a:r>
              <a:rPr lang="it-IT" dirty="0" err="1"/>
              <a:t>you</a:t>
            </a:r>
            <a:r>
              <a:rPr lang="it-IT" dirty="0"/>
              <a:t> </a:t>
            </a:r>
            <a:r>
              <a:rPr lang="it-IT" dirty="0" err="1"/>
              <a:t>have</a:t>
            </a:r>
            <a:r>
              <a:rPr lang="it-IT" dirty="0"/>
              <a:t> from a source (</a:t>
            </a:r>
            <a:r>
              <a:rPr lang="it-IT" dirty="0" err="1"/>
              <a:t>numbers</a:t>
            </a:r>
            <a:r>
              <a:rPr lang="it-IT" dirty="0"/>
              <a:t> </a:t>
            </a:r>
            <a:r>
              <a:rPr lang="it-IT" dirty="0" err="1"/>
              <a:t>should</a:t>
            </a:r>
            <a:r>
              <a:rPr lang="it-IT" dirty="0"/>
              <a:t> be the </a:t>
            </a:r>
            <a:r>
              <a:rPr lang="it-IT" dirty="0" err="1"/>
              <a:t>same</a:t>
            </a:r>
            <a:r>
              <a:rPr lang="it-IT" dirty="0"/>
              <a:t> like in the </a:t>
            </a:r>
            <a:r>
              <a:rPr lang="it-IT" dirty="0" err="1"/>
              <a:t>bibliography</a:t>
            </a:r>
            <a:r>
              <a:rPr lang="it-IT" dirty="0"/>
              <a:t>) (</a:t>
            </a:r>
            <a:r>
              <a:rPr lang="it-IT" dirty="0" err="1"/>
              <a:t>incl</a:t>
            </a:r>
            <a:r>
              <a:rPr lang="it-IT" dirty="0"/>
              <a:t>. pictures / </a:t>
            </a:r>
            <a:r>
              <a:rPr lang="it-IT" dirty="0" err="1"/>
              <a:t>if</a:t>
            </a:r>
            <a:r>
              <a:rPr lang="it-IT" dirty="0"/>
              <a:t> </a:t>
            </a:r>
            <a:r>
              <a:rPr lang="it-IT" dirty="0" err="1"/>
              <a:t>you</a:t>
            </a:r>
            <a:r>
              <a:rPr lang="it-IT" dirty="0"/>
              <a:t> </a:t>
            </a:r>
            <a:r>
              <a:rPr lang="it-IT" dirty="0" err="1"/>
              <a:t>created</a:t>
            </a:r>
            <a:r>
              <a:rPr lang="it-IT" dirty="0"/>
              <a:t> </a:t>
            </a:r>
            <a:r>
              <a:rPr lang="it-IT" dirty="0" err="1"/>
              <a:t>them</a:t>
            </a:r>
            <a:r>
              <a:rPr lang="it-IT" dirty="0"/>
              <a:t> by </a:t>
            </a:r>
            <a:r>
              <a:rPr lang="it-IT" dirty="0" err="1"/>
              <a:t>your</a:t>
            </a:r>
            <a:r>
              <a:rPr lang="it-IT" dirty="0"/>
              <a:t> </a:t>
            </a:r>
            <a:r>
              <a:rPr lang="it-IT" dirty="0" err="1"/>
              <a:t>own</a:t>
            </a:r>
            <a:r>
              <a:rPr lang="it-IT" dirty="0"/>
              <a:t>, </a:t>
            </a:r>
            <a:r>
              <a:rPr lang="it-IT" dirty="0" err="1"/>
              <a:t>declare</a:t>
            </a:r>
            <a:r>
              <a:rPr lang="it-IT" dirty="0"/>
              <a:t> </a:t>
            </a:r>
            <a:r>
              <a:rPr lang="it-IT" dirty="0" err="1"/>
              <a:t>them</a:t>
            </a:r>
            <a:r>
              <a:rPr lang="it-IT" dirty="0"/>
              <a:t> </a:t>
            </a:r>
            <a:r>
              <a:rPr lang="it-IT" dirty="0" err="1"/>
              <a:t>as</a:t>
            </a:r>
            <a:r>
              <a:rPr lang="it-IT" dirty="0"/>
              <a:t> a </a:t>
            </a:r>
            <a:r>
              <a:rPr lang="it-IT" dirty="0" err="1"/>
              <a:t>thing</a:t>
            </a:r>
            <a:r>
              <a:rPr lang="it-IT" dirty="0"/>
              <a:t> </a:t>
            </a:r>
            <a:r>
              <a:rPr lang="it-IT" dirty="0" err="1"/>
              <a:t>you’ve</a:t>
            </a:r>
            <a:r>
              <a:rPr lang="it-IT" dirty="0"/>
              <a:t> </a:t>
            </a:r>
            <a:r>
              <a:rPr lang="it-IT" dirty="0" err="1"/>
              <a:t>done</a:t>
            </a:r>
            <a:r>
              <a:rPr lang="it-IT" dirty="0"/>
              <a:t> ) [Style </a:t>
            </a:r>
            <a:r>
              <a:rPr lang="it-IT" dirty="0" err="1"/>
              <a:t>Aptos</a:t>
            </a:r>
            <a:r>
              <a:rPr lang="it-IT" dirty="0"/>
              <a:t>/14]</a:t>
            </a:r>
            <a:endParaRPr lang="en-GB" dirty="0"/>
          </a:p>
        </p:txBody>
      </p:sp>
      <p:sp>
        <p:nvSpPr>
          <p:cNvPr id="10" name="Rectangle 11">
            <a:extLst>
              <a:ext uri="{FF2B5EF4-FFF2-40B4-BE49-F238E27FC236}">
                <a16:creationId xmlns:a16="http://schemas.microsoft.com/office/drawing/2014/main" id="{E1F8C099-06EF-7661-9A3C-60FE5CD4C5D5}"/>
              </a:ext>
            </a:extLst>
          </p:cNvPr>
          <p:cNvSpPr/>
          <p:nvPr userDrawn="1"/>
        </p:nvSpPr>
        <p:spPr>
          <a:xfrm>
            <a:off x="8862928" y="1838850"/>
            <a:ext cx="542886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GB" sz="7200" b="1" cap="none" spc="0" dirty="0">
                <a:ln w="0"/>
                <a:solidFill>
                  <a:schemeClr val="tx1"/>
                </a:solidFill>
              </a:rPr>
              <a:t>!</a:t>
            </a:r>
          </a:p>
        </p:txBody>
      </p:sp>
      <p:sp>
        <p:nvSpPr>
          <p:cNvPr id="11" name="Rectangle 7">
            <a:extLst>
              <a:ext uri="{FF2B5EF4-FFF2-40B4-BE49-F238E27FC236}">
                <a16:creationId xmlns:a16="http://schemas.microsoft.com/office/drawing/2014/main" id="{6E31FDF0-C963-BED4-C97E-FF9F67C07D21}"/>
              </a:ext>
            </a:extLst>
          </p:cNvPr>
          <p:cNvSpPr/>
          <p:nvPr userDrawn="1"/>
        </p:nvSpPr>
        <p:spPr>
          <a:xfrm>
            <a:off x="7312803" y="3084777"/>
            <a:ext cx="3933255" cy="2327860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an </a:t>
            </a:r>
            <a:r>
              <a:rPr lang="it-IT" dirty="0" err="1"/>
              <a:t>example</a:t>
            </a:r>
            <a:r>
              <a:rPr lang="it-IT" dirty="0"/>
              <a:t> </a:t>
            </a:r>
            <a:r>
              <a:rPr lang="it-IT" b="1" dirty="0"/>
              <a:t>BUT</a:t>
            </a:r>
          </a:p>
          <a:p>
            <a:pPr algn="ctr"/>
            <a:r>
              <a:rPr lang="it-IT" dirty="0"/>
              <a:t>an </a:t>
            </a:r>
            <a:r>
              <a:rPr lang="it-IT" dirty="0" err="1"/>
              <a:t>intial</a:t>
            </a:r>
            <a:r>
              <a:rPr lang="it-IT" dirty="0"/>
              <a:t> slide with </a:t>
            </a:r>
            <a:r>
              <a:rPr lang="it-IT" dirty="0" err="1"/>
              <a:t>all</a:t>
            </a:r>
            <a:r>
              <a:rPr lang="it-IT" dirty="0"/>
              <a:t> the tasks </a:t>
            </a:r>
            <a:r>
              <a:rPr lang="it-IT" dirty="0" err="1"/>
              <a:t>completed</a:t>
            </a:r>
            <a:r>
              <a:rPr lang="it-IT" dirty="0"/>
              <a:t> for the week </a:t>
            </a:r>
            <a:r>
              <a:rPr lang="it-IT" dirty="0" err="1"/>
              <a:t>should</a:t>
            </a:r>
            <a:r>
              <a:rPr lang="it-IT" dirty="0"/>
              <a:t> </a:t>
            </a:r>
            <a:r>
              <a:rPr lang="it-IT" dirty="0" err="1"/>
              <a:t>always</a:t>
            </a:r>
            <a:r>
              <a:rPr lang="it-IT" dirty="0"/>
              <a:t> be </a:t>
            </a:r>
            <a:r>
              <a:rPr lang="it-IT" dirty="0" err="1"/>
              <a:t>included</a:t>
            </a:r>
            <a:br>
              <a:rPr lang="it-IT" dirty="0"/>
            </a:br>
            <a:r>
              <a:rPr lang="it-IT" dirty="0"/>
              <a:t>Use the </a:t>
            </a:r>
            <a:r>
              <a:rPr lang="it-IT" dirty="0" err="1"/>
              <a:t>same</a:t>
            </a:r>
            <a:r>
              <a:rPr lang="it-IT" dirty="0"/>
              <a:t> style, do </a:t>
            </a:r>
            <a:r>
              <a:rPr lang="it-IT" dirty="0" err="1"/>
              <a:t>not</a:t>
            </a:r>
            <a:r>
              <a:rPr lang="it-IT" dirty="0"/>
              <a:t> </a:t>
            </a:r>
            <a:r>
              <a:rPr lang="it-IT" dirty="0" err="1"/>
              <a:t>write</a:t>
            </a:r>
            <a:r>
              <a:rPr lang="it-IT" dirty="0"/>
              <a:t> more text </a:t>
            </a:r>
            <a:r>
              <a:rPr lang="it-IT" dirty="0" err="1"/>
              <a:t>than</a:t>
            </a:r>
            <a:r>
              <a:rPr lang="it-IT" dirty="0"/>
              <a:t> </a:t>
            </a:r>
            <a:r>
              <a:rPr lang="it-IT" dirty="0" err="1"/>
              <a:t>necessary</a:t>
            </a:r>
            <a:r>
              <a:rPr lang="it-IT" dirty="0"/>
              <a:t> (short, concise bullet points are </a:t>
            </a:r>
            <a:r>
              <a:rPr lang="it-IT" dirty="0" err="1"/>
              <a:t>often</a:t>
            </a:r>
            <a:r>
              <a:rPr lang="it-IT" dirty="0"/>
              <a:t> </a:t>
            </a:r>
            <a:r>
              <a:rPr lang="it-IT" dirty="0" err="1"/>
              <a:t>enough</a:t>
            </a:r>
            <a:r>
              <a:rPr lang="it-IT" dirty="0"/>
              <a:t>)</a:t>
            </a:r>
            <a:endParaRPr lang="en-GB" dirty="0"/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5BA9FE0F-4438-A90E-178E-370DFB88F067}"/>
              </a:ext>
            </a:extLst>
          </p:cNvPr>
          <p:cNvSpPr txBox="1"/>
          <p:nvPr userDrawn="1"/>
        </p:nvSpPr>
        <p:spPr>
          <a:xfrm>
            <a:off x="812800" y="6219031"/>
            <a:ext cx="21209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/>
              <a:t>[1], [2]….</a:t>
            </a:r>
          </a:p>
        </p:txBody>
      </p:sp>
      <p:cxnSp>
        <p:nvCxnSpPr>
          <p:cNvPr id="13" name="Straight Arrow Connector 21">
            <a:extLst>
              <a:ext uri="{FF2B5EF4-FFF2-40B4-BE49-F238E27FC236}">
                <a16:creationId xmlns:a16="http://schemas.microsoft.com/office/drawing/2014/main" id="{C9F1C9AE-6377-666B-8F06-CF0B8B317160}"/>
              </a:ext>
            </a:extLst>
          </p:cNvPr>
          <p:cNvCxnSpPr>
            <a:cxnSpLocks/>
          </p:cNvCxnSpPr>
          <p:nvPr userDrawn="1"/>
        </p:nvCxnSpPr>
        <p:spPr>
          <a:xfrm flipH="1">
            <a:off x="1502229" y="4898571"/>
            <a:ext cx="1487714" cy="131838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7">
            <a:extLst>
              <a:ext uri="{FF2B5EF4-FFF2-40B4-BE49-F238E27FC236}">
                <a16:creationId xmlns:a16="http://schemas.microsoft.com/office/drawing/2014/main" id="{8C56F642-24B4-9889-6DFF-DDDACEFB7E68}"/>
              </a:ext>
            </a:extLst>
          </p:cNvPr>
          <p:cNvSpPr/>
          <p:nvPr userDrawn="1"/>
        </p:nvSpPr>
        <p:spPr>
          <a:xfrm>
            <a:off x="5256400" y="1634301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slide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only</a:t>
            </a:r>
            <a:r>
              <a:rPr lang="it-IT" dirty="0"/>
              <a:t> for </a:t>
            </a:r>
            <a:r>
              <a:rPr lang="it-IT" dirty="0" err="1"/>
              <a:t>explanation</a:t>
            </a:r>
            <a:r>
              <a:rPr lang="it-IT" dirty="0"/>
              <a:t>, </a:t>
            </a:r>
            <a:r>
              <a:rPr lang="it-IT" dirty="0" err="1"/>
              <a:t>dont´t</a:t>
            </a:r>
            <a:r>
              <a:rPr lang="it-IT" dirty="0"/>
              <a:t> use </a:t>
            </a:r>
            <a:r>
              <a:rPr lang="it-IT" dirty="0" err="1"/>
              <a:t>it!</a:t>
            </a:r>
            <a:endParaRPr lang="en-GB" dirty="0"/>
          </a:p>
        </p:txBody>
      </p:sp>
      <p:sp>
        <p:nvSpPr>
          <p:cNvPr id="15" name="Datumsplatzhalter 14">
            <a:extLst>
              <a:ext uri="{FF2B5EF4-FFF2-40B4-BE49-F238E27FC236}">
                <a16:creationId xmlns:a16="http://schemas.microsoft.com/office/drawing/2014/main" id="{F5B6D5E1-3173-F7DB-AFEA-577613F3A0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15/12/2025</a:t>
            </a:fld>
            <a:endParaRPr lang="en-GB" dirty="0"/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4201E827-9609-58AA-70BC-996E2AD05F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7" name="Foliennummernplatzhalter 16">
            <a:extLst>
              <a:ext uri="{FF2B5EF4-FFF2-40B4-BE49-F238E27FC236}">
                <a16:creationId xmlns:a16="http://schemas.microsoft.com/office/drawing/2014/main" id="{DE013F6E-0CEE-85C3-4AD1-ADEED88F5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8" name="Textplatzhalter 16">
            <a:extLst>
              <a:ext uri="{FF2B5EF4-FFF2-40B4-BE49-F238E27FC236}">
                <a16:creationId xmlns:a16="http://schemas.microsoft.com/office/drawing/2014/main" id="{4C7AB516-D061-772D-6849-99EBB446891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61594985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48CB4A-E85F-FC1F-2439-52B071A98E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de-DE" dirty="0"/>
              <a:t>1. Title, </a:t>
            </a:r>
            <a:r>
              <a:rPr lang="de-DE" dirty="0" err="1"/>
              <a:t>example</a:t>
            </a:r>
            <a:r>
              <a:rPr lang="de-DE" dirty="0"/>
              <a:t>: Tasks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r>
              <a:rPr lang="de-DE" dirty="0"/>
              <a:t>   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4216958-F611-9E4F-AA4F-56999F637A75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dirty="0" err="1"/>
              <a:t>Abcd</a:t>
            </a:r>
            <a:endParaRPr lang="de-DE" dirty="0"/>
          </a:p>
          <a:p>
            <a:pPr lvl="1"/>
            <a:r>
              <a:rPr lang="de-DE" dirty="0" err="1"/>
              <a:t>efgh</a:t>
            </a:r>
            <a:endParaRPr lang="de-DE" dirty="0"/>
          </a:p>
        </p:txBody>
      </p:sp>
      <p:cxnSp>
        <p:nvCxnSpPr>
          <p:cNvPr id="7" name="Straight Connector 5">
            <a:extLst>
              <a:ext uri="{FF2B5EF4-FFF2-40B4-BE49-F238E27FC236}">
                <a16:creationId xmlns:a16="http://schemas.microsoft.com/office/drawing/2014/main" id="{C5BF7EBE-3919-817C-149B-CF38705C6BC9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platzhalter 16">
            <a:extLst>
              <a:ext uri="{FF2B5EF4-FFF2-40B4-BE49-F238E27FC236}">
                <a16:creationId xmlns:a16="http://schemas.microsoft.com/office/drawing/2014/main" id="{479D6A9B-7716-D398-EE18-2F2D6AC11B7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  <p:sp>
        <p:nvSpPr>
          <p:cNvPr id="9" name="Datumsplatzhalter 8">
            <a:extLst>
              <a:ext uri="{FF2B5EF4-FFF2-40B4-BE49-F238E27FC236}">
                <a16:creationId xmlns:a16="http://schemas.microsoft.com/office/drawing/2014/main" id="{45BE17EA-55E6-D579-4D1F-7901F944C6AA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15/12/2025</a:t>
            </a:fld>
            <a:endParaRPr lang="en-GB" dirty="0"/>
          </a:p>
        </p:txBody>
      </p:sp>
      <p:sp>
        <p:nvSpPr>
          <p:cNvPr id="10" name="Fußzeilenplatzhalter 9">
            <a:extLst>
              <a:ext uri="{FF2B5EF4-FFF2-40B4-BE49-F238E27FC236}">
                <a16:creationId xmlns:a16="http://schemas.microsoft.com/office/drawing/2014/main" id="{810CEF70-3482-4FC0-A3A4-7FB408C94A42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4879E7A9-C563-396E-C6B6-B45497D433BD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9AB8CDF8-03C0-DF20-0ABC-80A78BDABFB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49023" y="6216958"/>
            <a:ext cx="2248453" cy="309850"/>
          </a:xfrm>
        </p:spPr>
        <p:txBody>
          <a:bodyPr/>
          <a:lstStyle>
            <a:lvl2pPr marL="457200" indent="0">
              <a:buNone/>
              <a:defRPr/>
            </a:lvl2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[1], [2]….</a:t>
            </a:r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6304038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item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48CB4A-E85F-FC1F-2439-52B071A98E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de-DE" dirty="0"/>
              <a:t>1-i. </a:t>
            </a:r>
            <a:r>
              <a:rPr lang="de-DE" dirty="0" err="1"/>
              <a:t>Example</a:t>
            </a:r>
            <a:r>
              <a:rPr lang="de-DE" dirty="0"/>
              <a:t>: </a:t>
            </a:r>
            <a:r>
              <a:rPr lang="de-DE" dirty="0" err="1"/>
              <a:t>Drawings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4216958-F611-9E4F-AA4F-56999F637A75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dirty="0" err="1"/>
              <a:t>Abcd</a:t>
            </a:r>
            <a:r>
              <a:rPr lang="de-DE" dirty="0"/>
              <a:t> (</a:t>
            </a:r>
            <a:r>
              <a:rPr lang="de-DE" dirty="0" err="1"/>
              <a:t>Aptos</a:t>
            </a:r>
            <a:r>
              <a:rPr lang="de-DE" dirty="0"/>
              <a:t> 22)</a:t>
            </a:r>
          </a:p>
          <a:p>
            <a:pPr lvl="1"/>
            <a:r>
              <a:rPr lang="de-DE" dirty="0" err="1"/>
              <a:t>efgh</a:t>
            </a:r>
            <a:r>
              <a:rPr lang="de-DE" dirty="0"/>
              <a:t> (</a:t>
            </a:r>
            <a:r>
              <a:rPr lang="de-DE" dirty="0" err="1"/>
              <a:t>Aptos</a:t>
            </a:r>
            <a:r>
              <a:rPr lang="de-DE" dirty="0"/>
              <a:t> 20)</a:t>
            </a:r>
          </a:p>
        </p:txBody>
      </p:sp>
      <p:cxnSp>
        <p:nvCxnSpPr>
          <p:cNvPr id="7" name="Straight Connector 5">
            <a:extLst>
              <a:ext uri="{FF2B5EF4-FFF2-40B4-BE49-F238E27FC236}">
                <a16:creationId xmlns:a16="http://schemas.microsoft.com/office/drawing/2014/main" id="{C5BF7EBE-3919-817C-149B-CF38705C6BC9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Isosceles Triangle 6">
            <a:extLst>
              <a:ext uri="{FF2B5EF4-FFF2-40B4-BE49-F238E27FC236}">
                <a16:creationId xmlns:a16="http://schemas.microsoft.com/office/drawing/2014/main" id="{703A19AF-E449-D353-12E1-A3DAF32E3EAB}"/>
              </a:ext>
            </a:extLst>
          </p:cNvPr>
          <p:cNvSpPr/>
          <p:nvPr userDrawn="1"/>
        </p:nvSpPr>
        <p:spPr>
          <a:xfrm>
            <a:off x="5218873" y="2853022"/>
            <a:ext cx="1546144" cy="1209996"/>
          </a:xfrm>
          <a:prstGeom prst="triangle">
            <a:avLst>
              <a:gd name="adj" fmla="val 50565"/>
            </a:avLst>
          </a:prstGeom>
          <a:ln w="571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2" name="Rectangle 7">
            <a:extLst>
              <a:ext uri="{FF2B5EF4-FFF2-40B4-BE49-F238E27FC236}">
                <a16:creationId xmlns:a16="http://schemas.microsoft.com/office/drawing/2014/main" id="{650D751B-3D4C-8864-D7F4-6EC8348A31EE}"/>
              </a:ext>
            </a:extLst>
          </p:cNvPr>
          <p:cNvSpPr/>
          <p:nvPr userDrawn="1"/>
        </p:nvSpPr>
        <p:spPr>
          <a:xfrm>
            <a:off x="4025317" y="4094711"/>
            <a:ext cx="3933255" cy="1298198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an </a:t>
            </a:r>
            <a:r>
              <a:rPr lang="it-IT" dirty="0" err="1"/>
              <a:t>example</a:t>
            </a:r>
            <a:r>
              <a:rPr lang="it-IT" dirty="0"/>
              <a:t> BUT </a:t>
            </a:r>
            <a:r>
              <a:rPr lang="it-IT" dirty="0" err="1"/>
              <a:t>if</a:t>
            </a:r>
            <a:r>
              <a:rPr lang="it-IT" dirty="0"/>
              <a:t> </a:t>
            </a:r>
            <a:r>
              <a:rPr lang="it-IT" dirty="0" err="1"/>
              <a:t>you</a:t>
            </a:r>
            <a:r>
              <a:rPr lang="it-IT" dirty="0"/>
              <a:t> use </a:t>
            </a:r>
            <a:r>
              <a:rPr lang="it-IT" dirty="0" err="1"/>
              <a:t>underpoints</a:t>
            </a:r>
            <a:r>
              <a:rPr lang="it-IT" dirty="0"/>
              <a:t> </a:t>
            </a:r>
            <a:r>
              <a:rPr lang="it-IT" dirty="0" err="1"/>
              <a:t>please</a:t>
            </a:r>
            <a:r>
              <a:rPr lang="it-IT" dirty="0"/>
              <a:t> with the i, ii, iii….</a:t>
            </a:r>
            <a:endParaRPr lang="en-GB" dirty="0"/>
          </a:p>
        </p:txBody>
      </p:sp>
      <p:sp>
        <p:nvSpPr>
          <p:cNvPr id="13" name="Rectangle 11">
            <a:extLst>
              <a:ext uri="{FF2B5EF4-FFF2-40B4-BE49-F238E27FC236}">
                <a16:creationId xmlns:a16="http://schemas.microsoft.com/office/drawing/2014/main" id="{9BDEC9EB-F30A-F42A-26C3-F9AE08765705}"/>
              </a:ext>
            </a:extLst>
          </p:cNvPr>
          <p:cNvSpPr/>
          <p:nvPr userDrawn="1"/>
        </p:nvSpPr>
        <p:spPr>
          <a:xfrm>
            <a:off x="5727842" y="3001184"/>
            <a:ext cx="542886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GB" sz="7200" b="1" cap="none" spc="0" dirty="0">
                <a:ln w="0"/>
                <a:solidFill>
                  <a:schemeClr val="tx1"/>
                </a:solidFill>
              </a:rPr>
              <a:t>!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54BA2A1-6BBA-CA7A-578A-6529C5AD3CFE}"/>
              </a:ext>
            </a:extLst>
          </p:cNvPr>
          <p:cNvSpPr/>
          <p:nvPr userDrawn="1"/>
        </p:nvSpPr>
        <p:spPr>
          <a:xfrm>
            <a:off x="927758" y="2796999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slide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only</a:t>
            </a:r>
            <a:r>
              <a:rPr lang="it-IT" dirty="0"/>
              <a:t> for </a:t>
            </a:r>
            <a:r>
              <a:rPr lang="it-IT" dirty="0" err="1"/>
              <a:t>explanation</a:t>
            </a:r>
            <a:r>
              <a:rPr lang="it-IT" dirty="0"/>
              <a:t>, </a:t>
            </a:r>
            <a:r>
              <a:rPr lang="it-IT" dirty="0" err="1"/>
              <a:t>dont´t</a:t>
            </a:r>
            <a:r>
              <a:rPr lang="it-IT" dirty="0"/>
              <a:t> use </a:t>
            </a:r>
            <a:r>
              <a:rPr lang="it-IT" dirty="0" err="1"/>
              <a:t>it!</a:t>
            </a:r>
            <a:endParaRPr lang="en-GB" dirty="0"/>
          </a:p>
        </p:txBody>
      </p:sp>
      <p:sp>
        <p:nvSpPr>
          <p:cNvPr id="9" name="Datumsplatzhalter 8">
            <a:extLst>
              <a:ext uri="{FF2B5EF4-FFF2-40B4-BE49-F238E27FC236}">
                <a16:creationId xmlns:a16="http://schemas.microsoft.com/office/drawing/2014/main" id="{19E5AF50-94A3-4308-3B68-BAD76E7A7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15/12/2025</a:t>
            </a:fld>
            <a:endParaRPr lang="en-GB" dirty="0"/>
          </a:p>
        </p:txBody>
      </p:sp>
      <p:sp>
        <p:nvSpPr>
          <p:cNvPr id="10" name="Fußzeilenplatzhalter 9">
            <a:extLst>
              <a:ext uri="{FF2B5EF4-FFF2-40B4-BE49-F238E27FC236}">
                <a16:creationId xmlns:a16="http://schemas.microsoft.com/office/drawing/2014/main" id="{9798D87B-B794-AD8A-40F1-DEA4D547F7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4" name="Foliennummernplatzhalter 13">
            <a:extLst>
              <a:ext uri="{FF2B5EF4-FFF2-40B4-BE49-F238E27FC236}">
                <a16:creationId xmlns:a16="http://schemas.microsoft.com/office/drawing/2014/main" id="{5E6253E5-E305-7986-3017-8FAC6F34D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5" name="Textplatzhalter 16">
            <a:extLst>
              <a:ext uri="{FF2B5EF4-FFF2-40B4-BE49-F238E27FC236}">
                <a16:creationId xmlns:a16="http://schemas.microsoft.com/office/drawing/2014/main" id="{7E202380-1BD6-7A10-C51A-497A42391B9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45659210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ubit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48CB4A-E85F-FC1F-2439-52B071A98E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de-DE" dirty="0"/>
              <a:t>1-i. </a:t>
            </a:r>
            <a:r>
              <a:rPr lang="de-DE" dirty="0" err="1"/>
              <a:t>Example</a:t>
            </a:r>
            <a:r>
              <a:rPr lang="de-DE" dirty="0"/>
              <a:t>: </a:t>
            </a:r>
            <a:r>
              <a:rPr lang="de-DE" dirty="0" err="1"/>
              <a:t>Drawings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4216958-F611-9E4F-AA4F-56999F637A75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dirty="0" err="1"/>
              <a:t>Abcd</a:t>
            </a:r>
            <a:endParaRPr lang="de-DE" dirty="0"/>
          </a:p>
          <a:p>
            <a:pPr lvl="1"/>
            <a:r>
              <a:rPr lang="de-DE" dirty="0" err="1"/>
              <a:t>efgh</a:t>
            </a:r>
            <a:endParaRPr lang="de-DE" dirty="0"/>
          </a:p>
        </p:txBody>
      </p:sp>
      <p:cxnSp>
        <p:nvCxnSpPr>
          <p:cNvPr id="7" name="Straight Connector 5">
            <a:extLst>
              <a:ext uri="{FF2B5EF4-FFF2-40B4-BE49-F238E27FC236}">
                <a16:creationId xmlns:a16="http://schemas.microsoft.com/office/drawing/2014/main" id="{C5BF7EBE-3919-817C-149B-CF38705C6BC9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5228F91E-E7AD-B275-5A60-89428222DD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15/12/2025</a:t>
            </a:fld>
            <a:endParaRPr lang="en-GB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8F4F81C7-2C44-8CF8-2928-655E74DC8F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260D8F3F-3088-D685-66AD-D2110FD40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1" name="Textplatzhalter 16">
            <a:extLst>
              <a:ext uri="{FF2B5EF4-FFF2-40B4-BE49-F238E27FC236}">
                <a16:creationId xmlns:a16="http://schemas.microsoft.com/office/drawing/2014/main" id="{29BD9540-0DAC-F607-0D84-145CAF084DC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  <p:sp>
        <p:nvSpPr>
          <p:cNvPr id="4" name="Textplatzhalter 4">
            <a:extLst>
              <a:ext uri="{FF2B5EF4-FFF2-40B4-BE49-F238E27FC236}">
                <a16:creationId xmlns:a16="http://schemas.microsoft.com/office/drawing/2014/main" id="{9943038B-A8F9-48D6-0A29-94D4AA659F6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49023" y="6216958"/>
            <a:ext cx="2248453" cy="309850"/>
          </a:xfrm>
        </p:spPr>
        <p:txBody>
          <a:bodyPr/>
          <a:lstStyle>
            <a:lvl2pPr marL="457200" indent="0">
              <a:buNone/>
              <a:defRPr/>
            </a:lvl2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[1], [2]….</a:t>
            </a:r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9714891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 Slide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7C287-18A0-EB82-8A27-F94CA3880D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X. Graph</a:t>
            </a:r>
            <a:endParaRPr lang="en-GB" dirty="0"/>
          </a:p>
        </p:txBody>
      </p:sp>
      <p:pic>
        <p:nvPicPr>
          <p:cNvPr id="6" name="Picture 2" descr="How HOMER Calculates Wind Turbine Power Output">
            <a:extLst>
              <a:ext uri="{FF2B5EF4-FFF2-40B4-BE49-F238E27FC236}">
                <a16:creationId xmlns:a16="http://schemas.microsoft.com/office/drawing/2014/main" id="{002A61B1-6859-B9E0-5E8D-876C02B28C1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724" y="1939999"/>
            <a:ext cx="5429250" cy="3067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2">
            <a:extLst>
              <a:ext uri="{FF2B5EF4-FFF2-40B4-BE49-F238E27FC236}">
                <a16:creationId xmlns:a16="http://schemas.microsoft.com/office/drawing/2014/main" id="{70DEEB4B-BB48-7BA1-DC37-D3F70525E158}"/>
              </a:ext>
            </a:extLst>
          </p:cNvPr>
          <p:cNvSpPr txBox="1"/>
          <p:nvPr userDrawn="1"/>
        </p:nvSpPr>
        <p:spPr>
          <a:xfrm>
            <a:off x="764619" y="5102669"/>
            <a:ext cx="5187461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100" dirty="0"/>
              <a:t>(</a:t>
            </a:r>
            <a:r>
              <a:rPr lang="it-IT" sz="1100" dirty="0" err="1"/>
              <a:t>Description</a:t>
            </a:r>
            <a:r>
              <a:rPr lang="it-IT" sz="1100" dirty="0"/>
              <a:t> of the </a:t>
            </a:r>
            <a:r>
              <a:rPr lang="it-IT" sz="1100" dirty="0" err="1"/>
              <a:t>graph</a:t>
            </a:r>
            <a:r>
              <a:rPr lang="it-IT" sz="1100" dirty="0"/>
              <a:t>, </a:t>
            </a:r>
            <a:r>
              <a:rPr lang="it-IT" sz="1100" dirty="0" err="1"/>
              <a:t>example</a:t>
            </a:r>
            <a:r>
              <a:rPr lang="it-IT" sz="1100" dirty="0"/>
              <a:t>: </a:t>
            </a:r>
            <a:r>
              <a:rPr lang="it-IT" sz="1100" i="1" dirty="0"/>
              <a:t>power curve power over wind speed</a:t>
            </a:r>
            <a:r>
              <a:rPr lang="it-IT" sz="1100" dirty="0"/>
              <a:t> )</a:t>
            </a:r>
          </a:p>
          <a:p>
            <a:r>
              <a:rPr lang="it-IT" sz="1100" dirty="0"/>
              <a:t>(</a:t>
            </a:r>
            <a:r>
              <a:rPr lang="it-IT" sz="1100" dirty="0" err="1"/>
              <a:t>Citation</a:t>
            </a:r>
            <a:r>
              <a:rPr lang="it-IT" sz="1100" dirty="0"/>
              <a:t> of the sources, </a:t>
            </a:r>
            <a:r>
              <a:rPr lang="it-IT" sz="1100" dirty="0" err="1"/>
              <a:t>example</a:t>
            </a:r>
            <a:r>
              <a:rPr lang="it-IT" sz="1100" dirty="0"/>
              <a:t>:</a:t>
            </a:r>
            <a:r>
              <a:rPr lang="it-IT" sz="1100" b="1" dirty="0"/>
              <a:t> </a:t>
            </a:r>
            <a:r>
              <a:rPr lang="it-IT" sz="1100" b="0" dirty="0"/>
              <a:t>[1] </a:t>
            </a:r>
            <a:r>
              <a:rPr lang="it-IT" sz="1100" dirty="0"/>
              <a:t>)  </a:t>
            </a:r>
          </a:p>
          <a:p>
            <a:r>
              <a:rPr lang="it-IT" sz="1100" dirty="0"/>
              <a:t>(Last date of access, </a:t>
            </a:r>
            <a:r>
              <a:rPr lang="it-IT" sz="1100" dirty="0" err="1"/>
              <a:t>example</a:t>
            </a:r>
            <a:r>
              <a:rPr lang="it-IT" sz="1100" dirty="0"/>
              <a:t>: 21/12/2015)</a:t>
            </a:r>
            <a:endParaRPr lang="en-GB" sz="1100" dirty="0"/>
          </a:p>
        </p:txBody>
      </p:sp>
      <p:cxnSp>
        <p:nvCxnSpPr>
          <p:cNvPr id="8" name="Connector: Elbow 6">
            <a:extLst>
              <a:ext uri="{FF2B5EF4-FFF2-40B4-BE49-F238E27FC236}">
                <a16:creationId xmlns:a16="http://schemas.microsoft.com/office/drawing/2014/main" id="{7A01EE56-12C5-DD96-C172-C145A0ED64CB}"/>
              </a:ext>
            </a:extLst>
          </p:cNvPr>
          <p:cNvCxnSpPr>
            <a:cxnSpLocks/>
          </p:cNvCxnSpPr>
          <p:nvPr userDrawn="1"/>
        </p:nvCxnSpPr>
        <p:spPr>
          <a:xfrm rot="10800000" flipV="1">
            <a:off x="3791371" y="4238699"/>
            <a:ext cx="4563205" cy="1222134"/>
          </a:xfrm>
          <a:prstGeom prst="bentConnector3">
            <a:avLst>
              <a:gd name="adj1" fmla="val 50000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15">
            <a:extLst>
              <a:ext uri="{FF2B5EF4-FFF2-40B4-BE49-F238E27FC236}">
                <a16:creationId xmlns:a16="http://schemas.microsoft.com/office/drawing/2014/main" id="{EE3D1715-661B-80A0-F167-264ACC369A68}"/>
              </a:ext>
            </a:extLst>
          </p:cNvPr>
          <p:cNvSpPr/>
          <p:nvPr userDrawn="1"/>
        </p:nvSpPr>
        <p:spPr>
          <a:xfrm>
            <a:off x="7796637" y="3405202"/>
            <a:ext cx="3922209" cy="2011693"/>
          </a:xfrm>
          <a:prstGeom prst="ellips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1400" dirty="0" err="1"/>
              <a:t>Add</a:t>
            </a:r>
            <a:r>
              <a:rPr lang="it-IT" sz="1400" dirty="0"/>
              <a:t> a link to the </a:t>
            </a:r>
            <a:r>
              <a:rPr lang="it-IT" sz="1400" dirty="0" err="1"/>
              <a:t>reference</a:t>
            </a:r>
            <a:r>
              <a:rPr lang="it-IT" sz="1400" dirty="0"/>
              <a:t> </a:t>
            </a:r>
            <a:r>
              <a:rPr lang="it-IT" sz="1400" dirty="0" err="1"/>
              <a:t>number</a:t>
            </a:r>
            <a:r>
              <a:rPr lang="it-IT" sz="1400" dirty="0"/>
              <a:t> </a:t>
            </a:r>
            <a:r>
              <a:rPr lang="it-IT" sz="1400" dirty="0" err="1"/>
              <a:t>that</a:t>
            </a:r>
            <a:r>
              <a:rPr lang="it-IT" sz="1400" dirty="0"/>
              <a:t> </a:t>
            </a:r>
            <a:r>
              <a:rPr lang="it-IT" sz="1400" dirty="0" err="1"/>
              <a:t>goes</a:t>
            </a:r>
            <a:r>
              <a:rPr lang="it-IT" sz="1400" dirty="0"/>
              <a:t> to the last slide: highlight the </a:t>
            </a:r>
            <a:r>
              <a:rPr lang="it-IT" sz="1400" dirty="0" err="1"/>
              <a:t>number</a:t>
            </a:r>
            <a:r>
              <a:rPr lang="it-IT" sz="1400" dirty="0"/>
              <a:t>-&gt;</a:t>
            </a:r>
            <a:r>
              <a:rPr lang="it-IT" sz="1400" dirty="0" err="1"/>
              <a:t>right</a:t>
            </a:r>
            <a:r>
              <a:rPr lang="it-IT" sz="1400" dirty="0"/>
              <a:t> click-&gt;</a:t>
            </a:r>
            <a:r>
              <a:rPr lang="it-IT" sz="1400" dirty="0" err="1"/>
              <a:t>select</a:t>
            </a:r>
            <a:r>
              <a:rPr lang="it-IT" sz="1400" dirty="0"/>
              <a:t> link-&gt;place in </a:t>
            </a:r>
            <a:r>
              <a:rPr lang="it-IT" sz="1400" dirty="0" err="1"/>
              <a:t>this</a:t>
            </a:r>
            <a:r>
              <a:rPr lang="it-IT" sz="1400" dirty="0"/>
              <a:t> </a:t>
            </a:r>
            <a:r>
              <a:rPr lang="it-IT" sz="1400" dirty="0" err="1"/>
              <a:t>document</a:t>
            </a:r>
            <a:r>
              <a:rPr lang="it-IT" sz="1400" dirty="0"/>
              <a:t>-&gt;</a:t>
            </a:r>
            <a:r>
              <a:rPr lang="it-IT" sz="1400" dirty="0" err="1"/>
              <a:t>select</a:t>
            </a:r>
            <a:r>
              <a:rPr lang="it-IT" sz="1400" dirty="0"/>
              <a:t> last slide</a:t>
            </a:r>
            <a:endParaRPr lang="en-GB" sz="1400" dirty="0"/>
          </a:p>
        </p:txBody>
      </p:sp>
      <p:cxnSp>
        <p:nvCxnSpPr>
          <p:cNvPr id="10" name="Straight Connector 5">
            <a:extLst>
              <a:ext uri="{FF2B5EF4-FFF2-40B4-BE49-F238E27FC236}">
                <a16:creationId xmlns:a16="http://schemas.microsoft.com/office/drawing/2014/main" id="{9CCD7462-E12C-CDA3-D609-4AB679728A2E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7">
            <a:extLst>
              <a:ext uri="{FF2B5EF4-FFF2-40B4-BE49-F238E27FC236}">
                <a16:creationId xmlns:a16="http://schemas.microsoft.com/office/drawing/2014/main" id="{A1188C36-D6CB-FA53-013E-FC56AD427952}"/>
              </a:ext>
            </a:extLst>
          </p:cNvPr>
          <p:cNvSpPr/>
          <p:nvPr userDrawn="1"/>
        </p:nvSpPr>
        <p:spPr>
          <a:xfrm>
            <a:off x="6495002" y="1875014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slide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only</a:t>
            </a:r>
            <a:r>
              <a:rPr lang="it-IT" dirty="0"/>
              <a:t> for </a:t>
            </a:r>
            <a:r>
              <a:rPr lang="it-IT" dirty="0" err="1"/>
              <a:t>explanation</a:t>
            </a:r>
            <a:r>
              <a:rPr lang="it-IT" dirty="0"/>
              <a:t>, </a:t>
            </a:r>
            <a:r>
              <a:rPr lang="it-IT" dirty="0" err="1"/>
              <a:t>dont´t</a:t>
            </a:r>
            <a:r>
              <a:rPr lang="it-IT" dirty="0"/>
              <a:t> use </a:t>
            </a:r>
            <a:r>
              <a:rPr lang="it-IT" dirty="0" err="1"/>
              <a:t>it!</a:t>
            </a:r>
            <a:endParaRPr lang="en-GB" dirty="0"/>
          </a:p>
        </p:txBody>
      </p:sp>
      <p:sp>
        <p:nvSpPr>
          <p:cNvPr id="12" name="Datumsplatzhalter 11">
            <a:extLst>
              <a:ext uri="{FF2B5EF4-FFF2-40B4-BE49-F238E27FC236}">
                <a16:creationId xmlns:a16="http://schemas.microsoft.com/office/drawing/2014/main" id="{749D4654-CB69-04EA-986A-2264B7AF43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15/12/2025</a:t>
            </a:fld>
            <a:endParaRPr lang="en-GB" dirty="0"/>
          </a:p>
        </p:txBody>
      </p:sp>
      <p:sp>
        <p:nvSpPr>
          <p:cNvPr id="13" name="Fußzeilenplatzhalter 12">
            <a:extLst>
              <a:ext uri="{FF2B5EF4-FFF2-40B4-BE49-F238E27FC236}">
                <a16:creationId xmlns:a16="http://schemas.microsoft.com/office/drawing/2014/main" id="{FC28337D-790B-E06F-0074-04AA48B925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4" name="Foliennummernplatzhalter 13">
            <a:extLst>
              <a:ext uri="{FF2B5EF4-FFF2-40B4-BE49-F238E27FC236}">
                <a16:creationId xmlns:a16="http://schemas.microsoft.com/office/drawing/2014/main" id="{A2A63292-0139-33E2-79E8-D1F485A4C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5" name="Textplatzhalter 16">
            <a:extLst>
              <a:ext uri="{FF2B5EF4-FFF2-40B4-BE49-F238E27FC236}">
                <a16:creationId xmlns:a16="http://schemas.microsoft.com/office/drawing/2014/main" id="{596BA109-7562-188F-19E6-BAFF28DC5C7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32496217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7C287-18A0-EB82-8A27-F94CA3880D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X. Graph</a:t>
            </a:r>
            <a:endParaRPr lang="en-GB" dirty="0"/>
          </a:p>
        </p:txBody>
      </p:sp>
      <p:pic>
        <p:nvPicPr>
          <p:cNvPr id="6" name="Picture 2" descr="How HOMER Calculates Wind Turbine Power Output">
            <a:extLst>
              <a:ext uri="{FF2B5EF4-FFF2-40B4-BE49-F238E27FC236}">
                <a16:creationId xmlns:a16="http://schemas.microsoft.com/office/drawing/2014/main" id="{002A61B1-6859-B9E0-5E8D-876C02B28C1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724" y="1939999"/>
            <a:ext cx="5429250" cy="3067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2">
            <a:extLst>
              <a:ext uri="{FF2B5EF4-FFF2-40B4-BE49-F238E27FC236}">
                <a16:creationId xmlns:a16="http://schemas.microsoft.com/office/drawing/2014/main" id="{70DEEB4B-BB48-7BA1-DC37-D3F70525E158}"/>
              </a:ext>
            </a:extLst>
          </p:cNvPr>
          <p:cNvSpPr txBox="1"/>
          <p:nvPr userDrawn="1"/>
        </p:nvSpPr>
        <p:spPr>
          <a:xfrm>
            <a:off x="764619" y="5102669"/>
            <a:ext cx="5187461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100" dirty="0"/>
              <a:t>(</a:t>
            </a:r>
            <a:r>
              <a:rPr lang="it-IT" sz="1100" dirty="0" err="1"/>
              <a:t>Description</a:t>
            </a:r>
            <a:r>
              <a:rPr lang="it-IT" sz="1100" dirty="0"/>
              <a:t> of the </a:t>
            </a:r>
            <a:r>
              <a:rPr lang="it-IT" sz="1100" dirty="0" err="1"/>
              <a:t>graph</a:t>
            </a:r>
            <a:r>
              <a:rPr lang="it-IT" sz="1100" dirty="0"/>
              <a:t>, </a:t>
            </a:r>
            <a:r>
              <a:rPr lang="it-IT" sz="1100" dirty="0" err="1"/>
              <a:t>example</a:t>
            </a:r>
            <a:r>
              <a:rPr lang="it-IT" sz="1100" dirty="0"/>
              <a:t>: </a:t>
            </a:r>
            <a:r>
              <a:rPr lang="it-IT" sz="1100" i="1" dirty="0"/>
              <a:t>power curve power over wind speed</a:t>
            </a:r>
            <a:r>
              <a:rPr lang="it-IT" sz="1100" dirty="0"/>
              <a:t> )</a:t>
            </a:r>
          </a:p>
          <a:p>
            <a:r>
              <a:rPr lang="it-IT" sz="1100" dirty="0"/>
              <a:t>(</a:t>
            </a:r>
            <a:r>
              <a:rPr lang="it-IT" sz="1100" dirty="0" err="1"/>
              <a:t>Citation</a:t>
            </a:r>
            <a:r>
              <a:rPr lang="it-IT" sz="1100" dirty="0"/>
              <a:t> of the sources, </a:t>
            </a:r>
            <a:r>
              <a:rPr lang="it-IT" sz="1100" dirty="0" err="1"/>
              <a:t>example</a:t>
            </a:r>
            <a:r>
              <a:rPr lang="it-IT" sz="1100" dirty="0"/>
              <a:t>:</a:t>
            </a:r>
            <a:r>
              <a:rPr lang="it-IT" sz="1100" b="1" dirty="0"/>
              <a:t> </a:t>
            </a:r>
            <a:r>
              <a:rPr lang="it-IT" sz="1100" b="0" dirty="0"/>
              <a:t>[1] </a:t>
            </a:r>
            <a:r>
              <a:rPr lang="it-IT" sz="1100" dirty="0"/>
              <a:t>)  </a:t>
            </a:r>
          </a:p>
          <a:p>
            <a:r>
              <a:rPr lang="it-IT" sz="1100" dirty="0"/>
              <a:t>(Last date of access, </a:t>
            </a:r>
            <a:r>
              <a:rPr lang="it-IT" sz="1100" dirty="0" err="1"/>
              <a:t>example</a:t>
            </a:r>
            <a:r>
              <a:rPr lang="it-IT" sz="1100" dirty="0"/>
              <a:t>: 21/12/2015)</a:t>
            </a:r>
            <a:endParaRPr lang="en-GB" sz="1100" dirty="0"/>
          </a:p>
        </p:txBody>
      </p:sp>
      <p:cxnSp>
        <p:nvCxnSpPr>
          <p:cNvPr id="10" name="Straight Connector 5">
            <a:extLst>
              <a:ext uri="{FF2B5EF4-FFF2-40B4-BE49-F238E27FC236}">
                <a16:creationId xmlns:a16="http://schemas.microsoft.com/office/drawing/2014/main" id="{9CCD7462-E12C-CDA3-D609-4AB679728A2E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98D8651D-3525-44E9-EF74-5AE1C96E2B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15/12/2025</a:t>
            </a:fld>
            <a:endParaRPr lang="en-GB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FC35C132-0CB8-F9A6-EC6C-F3AC1F1B31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722F58FF-5AD5-CF97-4FEE-FB1F38CD9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2" name="Textplatzhalter 16">
            <a:extLst>
              <a:ext uri="{FF2B5EF4-FFF2-40B4-BE49-F238E27FC236}">
                <a16:creationId xmlns:a16="http://schemas.microsoft.com/office/drawing/2014/main" id="{DC21B0DD-4D97-871C-E587-F10AD55D8BD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53358242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bliography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93033-AA4A-D955-AE39-E7F2A40C8A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 err="1"/>
              <a:t>Bibliography</a:t>
            </a:r>
            <a:r>
              <a:rPr lang="de-DE" dirty="0"/>
              <a:t> – </a:t>
            </a:r>
            <a:r>
              <a:rPr lang="de-DE" dirty="0" err="1"/>
              <a:t>team</a:t>
            </a:r>
            <a:r>
              <a:rPr lang="de-DE" dirty="0"/>
              <a:t> </a:t>
            </a:r>
            <a:r>
              <a:rPr lang="de-DE" dirty="0" err="1"/>
              <a:t>name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38BDBB-4827-8B89-3EE0-5A3DD22172FC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>
            <a:normAutofit/>
          </a:bodyPr>
          <a:lstStyle>
            <a:lvl1pPr marL="0" indent="0">
              <a:buNone/>
              <a:defRPr sz="160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it-IT" dirty="0"/>
              <a:t>[1] </a:t>
            </a:r>
            <a:r>
              <a:rPr lang="en-GB" dirty="0"/>
              <a:t>“How HOMER Calculates Wind Turbine Power Output,” </a:t>
            </a:r>
            <a:r>
              <a:rPr lang="en-GB" i="1" dirty="0"/>
              <a:t>Homerenergy.com</a:t>
            </a:r>
            <a:r>
              <a:rPr lang="en-GB" dirty="0"/>
              <a:t>, 2017. https://www.homerenergy.com/products/pro/docs/3.15/how_homer_calculates_wind_turbine_power_output.html (accessed Aug. 25, 2025).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[2] …..</a:t>
            </a:r>
            <a:endParaRPr lang="it-IT" dirty="0"/>
          </a:p>
          <a:p>
            <a:pPr lvl="0"/>
            <a:endParaRPr lang="de-DE" dirty="0"/>
          </a:p>
        </p:txBody>
      </p:sp>
      <p:cxnSp>
        <p:nvCxnSpPr>
          <p:cNvPr id="6" name="Straight Arrow Connector 21">
            <a:extLst>
              <a:ext uri="{FF2B5EF4-FFF2-40B4-BE49-F238E27FC236}">
                <a16:creationId xmlns:a16="http://schemas.microsoft.com/office/drawing/2014/main" id="{9B5BA113-ABD0-9B33-1E2F-5863B083FE29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4994031" y="2734408"/>
            <a:ext cx="1245576" cy="183759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22">
            <a:extLst>
              <a:ext uri="{FF2B5EF4-FFF2-40B4-BE49-F238E27FC236}">
                <a16:creationId xmlns:a16="http://schemas.microsoft.com/office/drawing/2014/main" id="{59531AAE-8AA3-6039-F69E-EDD1AF57C810}"/>
              </a:ext>
            </a:extLst>
          </p:cNvPr>
          <p:cNvSpPr/>
          <p:nvPr userDrawn="1"/>
        </p:nvSpPr>
        <p:spPr>
          <a:xfrm>
            <a:off x="4475285" y="4572000"/>
            <a:ext cx="5969977" cy="167786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/>
              <a:t>The style </a:t>
            </a:r>
            <a:r>
              <a:rPr lang="it-IT" dirty="0" err="1"/>
              <a:t>chosen</a:t>
            </a:r>
            <a:r>
              <a:rPr lang="it-IT" dirty="0"/>
              <a:t> for </a:t>
            </a:r>
            <a:r>
              <a:rPr lang="it-IT" dirty="0" err="1"/>
              <a:t>citation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IEEE, so </a:t>
            </a:r>
            <a:r>
              <a:rPr lang="it-IT" dirty="0" err="1"/>
              <a:t>if</a:t>
            </a:r>
            <a:r>
              <a:rPr lang="it-IT" dirty="0"/>
              <a:t> </a:t>
            </a:r>
            <a:r>
              <a:rPr lang="it-IT" dirty="0" err="1"/>
              <a:t>you</a:t>
            </a:r>
            <a:r>
              <a:rPr lang="it-IT" dirty="0"/>
              <a:t> </a:t>
            </a:r>
            <a:r>
              <a:rPr lang="it-IT" dirty="0" err="1"/>
              <a:t>want</a:t>
            </a:r>
            <a:r>
              <a:rPr lang="it-IT" dirty="0"/>
              <a:t> to create </a:t>
            </a:r>
            <a:r>
              <a:rPr lang="it-IT" dirty="0" err="1"/>
              <a:t>your</a:t>
            </a:r>
            <a:r>
              <a:rPr lang="it-IT" dirty="0"/>
              <a:t> </a:t>
            </a:r>
            <a:r>
              <a:rPr lang="it-IT" dirty="0" err="1"/>
              <a:t>citation</a:t>
            </a:r>
            <a:r>
              <a:rPr lang="it-IT" dirty="0"/>
              <a:t> follow </a:t>
            </a:r>
            <a:r>
              <a:rPr lang="it-IT" dirty="0" err="1"/>
              <a:t>that</a:t>
            </a:r>
            <a:r>
              <a:rPr lang="it-IT" dirty="0"/>
              <a:t> style. </a:t>
            </a:r>
            <a:r>
              <a:rPr lang="it-IT" dirty="0" err="1"/>
              <a:t>If</a:t>
            </a:r>
            <a:r>
              <a:rPr lang="it-IT" dirty="0"/>
              <a:t> </a:t>
            </a:r>
            <a:r>
              <a:rPr lang="it-IT" dirty="0" err="1"/>
              <a:t>you</a:t>
            </a:r>
            <a:r>
              <a:rPr lang="it-IT" dirty="0"/>
              <a:t> </a:t>
            </a:r>
            <a:r>
              <a:rPr lang="it-IT" dirty="0" err="1"/>
              <a:t>want</a:t>
            </a:r>
            <a:r>
              <a:rPr lang="it-IT" dirty="0"/>
              <a:t> to create an IEEE </a:t>
            </a:r>
            <a:r>
              <a:rPr lang="it-IT" dirty="0" err="1"/>
              <a:t>citation</a:t>
            </a:r>
            <a:r>
              <a:rPr lang="it-IT" dirty="0"/>
              <a:t> from a website, </a:t>
            </a:r>
            <a:r>
              <a:rPr lang="it-IT" dirty="0" err="1"/>
              <a:t>you</a:t>
            </a:r>
            <a:r>
              <a:rPr lang="it-IT" dirty="0"/>
              <a:t> can use some free </a:t>
            </a:r>
            <a:r>
              <a:rPr lang="it-IT" dirty="0" err="1"/>
              <a:t>converters</a:t>
            </a:r>
            <a:r>
              <a:rPr lang="it-IT" dirty="0"/>
              <a:t> </a:t>
            </a:r>
            <a:r>
              <a:rPr lang="it-IT" dirty="0" err="1"/>
              <a:t>available</a:t>
            </a:r>
            <a:r>
              <a:rPr lang="it-IT" dirty="0"/>
              <a:t> on the internet, like:</a:t>
            </a:r>
          </a:p>
          <a:p>
            <a:pPr algn="ctr"/>
            <a:r>
              <a:rPr lang="en-GB" b="1" dirty="0">
                <a:hlinkClick r:id="rId2"/>
              </a:rPr>
              <a:t>https://www.mybib.com/tools/ieee-citation-generator</a:t>
            </a:r>
            <a:r>
              <a:rPr lang="en-GB" b="1" dirty="0"/>
              <a:t> </a:t>
            </a:r>
          </a:p>
        </p:txBody>
      </p:sp>
      <p:cxnSp>
        <p:nvCxnSpPr>
          <p:cNvPr id="4" name="Straight Connector 5">
            <a:extLst>
              <a:ext uri="{FF2B5EF4-FFF2-40B4-BE49-F238E27FC236}">
                <a16:creationId xmlns:a16="http://schemas.microsoft.com/office/drawing/2014/main" id="{7CC2DA80-2404-1A96-924E-A52A1DBAA341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7">
            <a:extLst>
              <a:ext uri="{FF2B5EF4-FFF2-40B4-BE49-F238E27FC236}">
                <a16:creationId xmlns:a16="http://schemas.microsoft.com/office/drawing/2014/main" id="{226F6F8F-D65D-4B43-5785-E89E617F8616}"/>
              </a:ext>
            </a:extLst>
          </p:cNvPr>
          <p:cNvSpPr/>
          <p:nvPr userDrawn="1"/>
        </p:nvSpPr>
        <p:spPr>
          <a:xfrm>
            <a:off x="908165" y="3299037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slide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only</a:t>
            </a:r>
            <a:r>
              <a:rPr lang="it-IT" dirty="0"/>
              <a:t> for </a:t>
            </a:r>
            <a:r>
              <a:rPr lang="it-IT" dirty="0" err="1"/>
              <a:t>explanation</a:t>
            </a:r>
            <a:r>
              <a:rPr lang="it-IT" dirty="0"/>
              <a:t>, </a:t>
            </a:r>
            <a:r>
              <a:rPr lang="it-IT" dirty="0" err="1"/>
              <a:t>dont´t</a:t>
            </a:r>
            <a:r>
              <a:rPr lang="it-IT" dirty="0"/>
              <a:t> use </a:t>
            </a:r>
            <a:r>
              <a:rPr lang="it-IT" dirty="0" err="1"/>
              <a:t>it!</a:t>
            </a:r>
            <a:endParaRPr lang="en-GB" dirty="0"/>
          </a:p>
        </p:txBody>
      </p:sp>
      <p:sp>
        <p:nvSpPr>
          <p:cNvPr id="11" name="Datumsplatzhalter 10">
            <a:extLst>
              <a:ext uri="{FF2B5EF4-FFF2-40B4-BE49-F238E27FC236}">
                <a16:creationId xmlns:a16="http://schemas.microsoft.com/office/drawing/2014/main" id="{376AEEC7-3E6C-8FE6-7104-34FC93794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15/12/2025</a:t>
            </a:fld>
            <a:endParaRPr lang="en-GB" dirty="0"/>
          </a:p>
        </p:txBody>
      </p:sp>
      <p:sp>
        <p:nvSpPr>
          <p:cNvPr id="12" name="Fußzeilenplatzhalter 11">
            <a:extLst>
              <a:ext uri="{FF2B5EF4-FFF2-40B4-BE49-F238E27FC236}">
                <a16:creationId xmlns:a16="http://schemas.microsoft.com/office/drawing/2014/main" id="{527D13C7-4982-3CF9-E6C0-8109C888A5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3" name="Foliennummernplatzhalter 12">
            <a:extLst>
              <a:ext uri="{FF2B5EF4-FFF2-40B4-BE49-F238E27FC236}">
                <a16:creationId xmlns:a16="http://schemas.microsoft.com/office/drawing/2014/main" id="{44A0136B-0337-50A8-941C-6DC048DC6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4" name="Textplatzhalter 16">
            <a:extLst>
              <a:ext uri="{FF2B5EF4-FFF2-40B4-BE49-F238E27FC236}">
                <a16:creationId xmlns:a16="http://schemas.microsoft.com/office/drawing/2014/main" id="{A21B8924-2541-A57C-7990-899E2DC11FD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350834877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ibliograp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93033-AA4A-D955-AE39-E7F2A40C8A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 err="1"/>
              <a:t>Bibliography</a:t>
            </a:r>
            <a:r>
              <a:rPr lang="de-DE" dirty="0"/>
              <a:t> – </a:t>
            </a:r>
            <a:r>
              <a:rPr lang="de-DE" dirty="0" err="1"/>
              <a:t>team</a:t>
            </a:r>
            <a:r>
              <a:rPr lang="de-DE" dirty="0"/>
              <a:t> </a:t>
            </a:r>
            <a:r>
              <a:rPr lang="de-DE" dirty="0" err="1"/>
              <a:t>name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38BDBB-4827-8B89-3EE0-5A3DD22172FC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>
            <a:normAutofit/>
          </a:bodyPr>
          <a:lstStyle>
            <a:lvl1pPr marL="0" indent="0">
              <a:buNone/>
              <a:defRPr sz="160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it-IT" dirty="0"/>
              <a:t>[1] </a:t>
            </a:r>
            <a:r>
              <a:rPr lang="en-GB" dirty="0"/>
              <a:t>“How HOMER Calculates Wind Turbine Power Output,” </a:t>
            </a:r>
            <a:r>
              <a:rPr lang="en-GB" i="1" dirty="0"/>
              <a:t>Homerenergy.com</a:t>
            </a:r>
            <a:r>
              <a:rPr lang="en-GB" dirty="0"/>
              <a:t>, 2017. https://www.homerenergy.com/products/pro/docs/3.15/how_homer_calculates_wind_turbine_power_output.html (accessed Aug. 25, 2025).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[2] …..</a:t>
            </a:r>
            <a:endParaRPr lang="it-IT" dirty="0"/>
          </a:p>
          <a:p>
            <a:pPr lvl="0"/>
            <a:endParaRPr lang="de-DE" dirty="0"/>
          </a:p>
        </p:txBody>
      </p:sp>
      <p:cxnSp>
        <p:nvCxnSpPr>
          <p:cNvPr id="4" name="Straight Connector 5">
            <a:extLst>
              <a:ext uri="{FF2B5EF4-FFF2-40B4-BE49-F238E27FC236}">
                <a16:creationId xmlns:a16="http://schemas.microsoft.com/office/drawing/2014/main" id="{7CC2DA80-2404-1A96-924E-A52A1DBAA341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79BDC2AF-40F8-8529-16FE-AE51A8BD44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15/12/2025</a:t>
            </a:fld>
            <a:endParaRPr lang="en-GB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3A36B392-F5AC-41D8-5903-3EE036BA8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7595A811-7A18-1583-7B9C-87A7CBB7F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1" name="Textplatzhalter 16">
            <a:extLst>
              <a:ext uri="{FF2B5EF4-FFF2-40B4-BE49-F238E27FC236}">
                <a16:creationId xmlns:a16="http://schemas.microsoft.com/office/drawing/2014/main" id="{5E735FEA-D591-2E8E-B9B4-2A6BAFE00D4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30510807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013920-E451-6E8D-B0CB-C3FB9C0F7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7CFBA5-B73E-6B89-322D-7C32A35A12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BF8199-371A-141A-1CD7-D551EEEFDF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16092FF3-E2C2-B5C5-579F-21F140EB3A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15/12/2025</a:t>
            </a:fld>
            <a:endParaRPr lang="en-GB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85AD0AE9-D3B7-2239-8DBB-350367E7D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E1BD0BA0-666C-E532-C68B-11386947B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1" name="Textplatzhalter 16">
            <a:extLst>
              <a:ext uri="{FF2B5EF4-FFF2-40B4-BE49-F238E27FC236}">
                <a16:creationId xmlns:a16="http://schemas.microsoft.com/office/drawing/2014/main" id="{027E2607-9D4B-3DD5-A6A2-FC3CB80BCC1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65704026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5BF7B7-87CF-1A3E-E33E-44DC6E015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B21B8D-C5F5-5242-4069-B1546B4BC0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4D26CD-98BD-17E2-BE55-DBB74BBC64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3B8D60-279E-D76A-9222-12B704BAEB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A1AF34B-F683-41AD-C71C-8E8C66CC4C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" name="Datumsplatzhalter 9">
            <a:extLst>
              <a:ext uri="{FF2B5EF4-FFF2-40B4-BE49-F238E27FC236}">
                <a16:creationId xmlns:a16="http://schemas.microsoft.com/office/drawing/2014/main" id="{4EB4231A-B976-E0CE-75F3-D34A6911E2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15/12/2025</a:t>
            </a:fld>
            <a:endParaRPr lang="en-GB" dirty="0"/>
          </a:p>
        </p:txBody>
      </p:sp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2E601F58-36C8-D2D9-A619-7EE495853C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2" name="Foliennummernplatzhalter 11">
            <a:extLst>
              <a:ext uri="{FF2B5EF4-FFF2-40B4-BE49-F238E27FC236}">
                <a16:creationId xmlns:a16="http://schemas.microsoft.com/office/drawing/2014/main" id="{EBFB4D11-F600-12A5-E5C2-DCA390332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3" name="Textplatzhalter 16">
            <a:extLst>
              <a:ext uri="{FF2B5EF4-FFF2-40B4-BE49-F238E27FC236}">
                <a16:creationId xmlns:a16="http://schemas.microsoft.com/office/drawing/2014/main" id="{39AFE95F-2805-F887-3AF4-313C835B173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7736372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A9CAB1E-C3D8-B43B-64D5-963D13F3D8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15/12/2025</a:t>
            </a:fld>
            <a:endParaRPr lang="en-GB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B3E84C0-2A5E-8136-84E3-1F57CD264A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79EE80A-8782-7800-16FF-963D026BC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8" name="Textplatzhalter 16">
            <a:extLst>
              <a:ext uri="{FF2B5EF4-FFF2-40B4-BE49-F238E27FC236}">
                <a16:creationId xmlns:a16="http://schemas.microsoft.com/office/drawing/2014/main" id="{CFBF4831-0820-F79B-E15A-914A0E578D4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71027017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4D20E-7D43-D4CD-1058-46300B8EE4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B6584A-B476-0EA1-C12B-07C273F70E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694232-1597-B186-D108-397BCF214D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63342531-5FA3-5F71-CEB1-CFCD86F170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15/12/2025</a:t>
            </a:fld>
            <a:endParaRPr lang="en-GB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0D108632-F456-C23D-6809-CF44E36A52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14F6375C-67FA-9BF2-A821-A5611C211C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1" name="Textplatzhalter 16">
            <a:extLst>
              <a:ext uri="{FF2B5EF4-FFF2-40B4-BE49-F238E27FC236}">
                <a16:creationId xmlns:a16="http://schemas.microsoft.com/office/drawing/2014/main" id="{6E6CFA6E-C964-BB71-3D6D-D966EE46607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10964869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E2DC87-27CE-5A07-9629-719DC91DE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F65E744-3606-1D16-E7B2-58DAFC3E88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A9C703-BF20-85AF-358A-01ADED33CF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0DAC50BC-A24B-779F-0533-7A27D611B1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15/12/2025</a:t>
            </a:fld>
            <a:endParaRPr lang="en-GB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2B06DBDC-0EA1-59AB-DB5D-AEE297E618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3EB43FC5-BB47-1A87-75C6-C0AFB5C72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1" name="Textplatzhalter 16">
            <a:extLst>
              <a:ext uri="{FF2B5EF4-FFF2-40B4-BE49-F238E27FC236}">
                <a16:creationId xmlns:a16="http://schemas.microsoft.com/office/drawing/2014/main" id="{680B36F8-3A7C-6F05-A0AB-F3F43BA0922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356353267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F44B09-72C5-4D15-0E4C-46764EB8C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B470E9-1D3C-D5B3-7A54-66BD900997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0C34C088-08EA-3896-8F05-16D82C5114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15/12/2025</a:t>
            </a:fld>
            <a:endParaRPr lang="en-GB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08EA7E74-7B1F-8648-209E-BFE07FF1E4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62B97D1D-1741-1791-CBA3-FA5CA67CA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0" name="Textplatzhalter 16">
            <a:extLst>
              <a:ext uri="{FF2B5EF4-FFF2-40B4-BE49-F238E27FC236}">
                <a16:creationId xmlns:a16="http://schemas.microsoft.com/office/drawing/2014/main" id="{6A2FA29E-F5F4-39E0-E0C6-CACC20E04F1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590073905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368A110-A33F-744D-89CB-FFCF49E08A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B6FACB-31E5-361F-D71D-18FCBA5503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05945ED5-EBD1-3567-F959-B92E831E51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15/12/2025</a:t>
            </a:fld>
            <a:endParaRPr lang="en-GB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CBB6A4D0-1BA6-C02F-BE18-391B96E98D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9412E4BF-484F-C87E-8228-534B62A6BC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0" name="Textplatzhalter 16">
            <a:extLst>
              <a:ext uri="{FF2B5EF4-FFF2-40B4-BE49-F238E27FC236}">
                <a16:creationId xmlns:a16="http://schemas.microsoft.com/office/drawing/2014/main" id="{A24C13F3-9C79-1E9F-ED48-61D2AD9586E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3196523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slideLayout" Target="../slideLayouts/slideLayout35.xml"/><Relationship Id="rId18" Type="http://schemas.openxmlformats.org/officeDocument/2006/relationships/slideLayout" Target="../slideLayouts/slideLayout4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slideLayout" Target="../slideLayouts/slideLayout34.xml"/><Relationship Id="rId17" Type="http://schemas.openxmlformats.org/officeDocument/2006/relationships/slideLayout" Target="../slideLayouts/slideLayout39.xml"/><Relationship Id="rId2" Type="http://schemas.openxmlformats.org/officeDocument/2006/relationships/slideLayout" Target="../slideLayouts/slideLayout24.xml"/><Relationship Id="rId16" Type="http://schemas.openxmlformats.org/officeDocument/2006/relationships/slideLayout" Target="../slideLayouts/slideLayout38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5" Type="http://schemas.openxmlformats.org/officeDocument/2006/relationships/slideLayout" Target="../slideLayouts/slideLayout37.xml"/><Relationship Id="rId10" Type="http://schemas.openxmlformats.org/officeDocument/2006/relationships/slideLayout" Target="../slideLayouts/slideLayout32.xml"/><Relationship Id="rId19" Type="http://schemas.openxmlformats.org/officeDocument/2006/relationships/theme" Target="../theme/theme3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14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4A75E23-C68E-95B1-6539-4A187BBC4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6B4C36-B64B-F839-789E-0C40D5E60E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D593D3-E60D-CF97-AC8A-2B02D933B0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516A2C-1914-4EE9-9598-2A06F9BE67BF}" type="datetime1">
              <a:rPr lang="en-GB" smtClean="0"/>
              <a:t>15/12/2025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64827E-F028-4C94-EB63-600BCABCD1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B8DD39-3F07-862A-3C91-AC52452918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13F6232-4F06-48BA-8F69-BF531F60782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250772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F324F72-DEC3-C328-E288-A7FC5B1D56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7096B6-F39D-5D3A-895A-1CE61CD3F6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0726E2-FBE9-5D75-A698-6FD0ED09701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D3EC99-01D5-4EE5-ACB1-C061987EA0AA}" type="datetimeFigureOut">
              <a:rPr lang="en-GB" smtClean="0"/>
              <a:t>15/12/2025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5CAFA2-68FA-9BA2-4F27-A8680F5079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A027B2-667B-4034-930B-AB076347AC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26457B-11B5-4397-9456-911FAE9FD3F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614817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hteck 13">
            <a:extLst>
              <a:ext uri="{FF2B5EF4-FFF2-40B4-BE49-F238E27FC236}">
                <a16:creationId xmlns:a16="http://schemas.microsoft.com/office/drawing/2014/main" id="{CD36E4AE-BF2C-D504-0887-03D81D07CDC8}"/>
              </a:ext>
            </a:extLst>
          </p:cNvPr>
          <p:cNvSpPr/>
          <p:nvPr userDrawn="1"/>
        </p:nvSpPr>
        <p:spPr>
          <a:xfrm>
            <a:off x="-4172" y="6542492"/>
            <a:ext cx="12207494" cy="365126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7" name="Free-form: Shape 13">
            <a:extLst>
              <a:ext uri="{FF2B5EF4-FFF2-40B4-BE49-F238E27FC236}">
                <a16:creationId xmlns:a16="http://schemas.microsoft.com/office/drawing/2014/main" id="{7608A32D-44F3-01F2-D6ED-924DFF3CC333}"/>
              </a:ext>
            </a:extLst>
          </p:cNvPr>
          <p:cNvSpPr/>
          <p:nvPr/>
        </p:nvSpPr>
        <p:spPr>
          <a:xfrm rot="10800000">
            <a:off x="-35168" y="277945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6B4C36-B64B-F839-789E-0C40D5E60E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GB" dirty="0"/>
          </a:p>
        </p:txBody>
      </p:sp>
      <p:sp>
        <p:nvSpPr>
          <p:cNvPr id="8" name="Free-form: Shape 13">
            <a:extLst>
              <a:ext uri="{FF2B5EF4-FFF2-40B4-BE49-F238E27FC236}">
                <a16:creationId xmlns:a16="http://schemas.microsoft.com/office/drawing/2014/main" id="{1DE142EE-E501-93E6-565D-AB4A5A647F0F}"/>
              </a:ext>
            </a:extLst>
          </p:cNvPr>
          <p:cNvSpPr/>
          <p:nvPr/>
        </p:nvSpPr>
        <p:spPr>
          <a:xfrm rot="10800000">
            <a:off x="-2090" y="-18190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Free-form: Shape 13">
            <a:extLst>
              <a:ext uri="{FF2B5EF4-FFF2-40B4-BE49-F238E27FC236}">
                <a16:creationId xmlns:a16="http://schemas.microsoft.com/office/drawing/2014/main" id="{776A7918-93DA-D7CE-97A3-DDF18B379B65}"/>
              </a:ext>
            </a:extLst>
          </p:cNvPr>
          <p:cNvSpPr/>
          <p:nvPr/>
        </p:nvSpPr>
        <p:spPr>
          <a:xfrm rot="10800000">
            <a:off x="-26376" y="-237830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64827E-F028-4C94-EB63-600BCABCD1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474613" y="6564113"/>
            <a:ext cx="28791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Team Name / Optimus Syria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B8DD39-3F07-862A-3C91-AC52452918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949570" y="6566803"/>
            <a:ext cx="92895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D593D3-E60D-CF97-AC8A-2B02D933B0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566803"/>
            <a:ext cx="11113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fld id="{02AEE8E4-D792-40D2-B8D4-0007E21A0CF8}" type="datetime1">
              <a:rPr lang="en-GB" smtClean="0"/>
              <a:t>15/12/2025</a:t>
            </a:fld>
            <a:endParaRPr lang="en-GB" dirty="0"/>
          </a:p>
        </p:txBody>
      </p:sp>
      <p:sp>
        <p:nvSpPr>
          <p:cNvPr id="11" name="Free-form: Shape 13">
            <a:extLst>
              <a:ext uri="{FF2B5EF4-FFF2-40B4-BE49-F238E27FC236}">
                <a16:creationId xmlns:a16="http://schemas.microsoft.com/office/drawing/2014/main" id="{1ABD3F4B-4853-EC8E-00EB-5109F86CE0F1}"/>
              </a:ext>
            </a:extLst>
          </p:cNvPr>
          <p:cNvSpPr/>
          <p:nvPr userDrawn="1"/>
        </p:nvSpPr>
        <p:spPr>
          <a:xfrm rot="10800000">
            <a:off x="-35168" y="277945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2" name="Free-form: Shape 13">
            <a:extLst>
              <a:ext uri="{FF2B5EF4-FFF2-40B4-BE49-F238E27FC236}">
                <a16:creationId xmlns:a16="http://schemas.microsoft.com/office/drawing/2014/main" id="{2BF40EC9-0D42-5E08-04BD-F330229C7518}"/>
              </a:ext>
            </a:extLst>
          </p:cNvPr>
          <p:cNvSpPr/>
          <p:nvPr userDrawn="1"/>
        </p:nvSpPr>
        <p:spPr>
          <a:xfrm rot="10800000">
            <a:off x="-2090" y="-18190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Free-form: Shape 13">
            <a:extLst>
              <a:ext uri="{FF2B5EF4-FFF2-40B4-BE49-F238E27FC236}">
                <a16:creationId xmlns:a16="http://schemas.microsoft.com/office/drawing/2014/main" id="{0BB1BAA4-B843-57F3-9FCE-C9585D332FAE}"/>
              </a:ext>
            </a:extLst>
          </p:cNvPr>
          <p:cNvSpPr/>
          <p:nvPr userDrawn="1"/>
        </p:nvSpPr>
        <p:spPr>
          <a:xfrm rot="10800000">
            <a:off x="-26376" y="-254312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4A75E23-C68E-95B1-6539-4A187BBC4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dirty="0"/>
              <a:t>Mastertitelformat bearbeiten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776928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  <p:sldLayoutId id="2147483687" r:id="rId13"/>
    <p:sldLayoutId id="2147483688" r:id="rId14"/>
    <p:sldLayoutId id="2147483689" r:id="rId15"/>
    <p:sldLayoutId id="2147483690" r:id="rId16"/>
    <p:sldLayoutId id="2147483691" r:id="rId17"/>
    <p:sldLayoutId id="2147483692" r:id="rId18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6.jp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F47672-3CC8-A3D9-5404-84F2B78B62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12841" y="2206093"/>
            <a:ext cx="9144000" cy="912598"/>
          </a:xfrm>
        </p:spPr>
        <p:txBody>
          <a:bodyPr>
            <a:noAutofit/>
          </a:bodyPr>
          <a:lstStyle/>
          <a:p>
            <a:r>
              <a:rPr lang="it-IT" sz="4000" dirty="0"/>
              <a:t>Weekly report: Team Project Development</a:t>
            </a:r>
            <a:endParaRPr lang="en-GB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77A63BB-08BE-619B-2533-3CC69CC19E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429000"/>
            <a:ext cx="9144000" cy="1655762"/>
          </a:xfrm>
        </p:spPr>
        <p:txBody>
          <a:bodyPr>
            <a:normAutofit/>
          </a:bodyPr>
          <a:lstStyle/>
          <a:p>
            <a:r>
              <a:rPr lang="it-IT" sz="2000" dirty="0"/>
              <a:t>Week number: 12</a:t>
            </a:r>
          </a:p>
          <a:p>
            <a:r>
              <a:rPr lang="it-IT" sz="2000" dirty="0"/>
              <a:t>Date: </a:t>
            </a:r>
            <a:r>
              <a:rPr lang="en-US" sz="2000" dirty="0"/>
              <a:t>16</a:t>
            </a:r>
            <a:r>
              <a:rPr lang="it-IT" sz="2000" dirty="0"/>
              <a:t>/11/2025</a:t>
            </a:r>
          </a:p>
          <a:p>
            <a:r>
              <a:rPr lang="it-IT" sz="2000" dirty="0"/>
              <a:t>Supervisor: Dr.</a:t>
            </a:r>
            <a:r>
              <a:rPr lang="tr-TR" sz="2000" dirty="0"/>
              <a:t> </a:t>
            </a:r>
            <a:r>
              <a:rPr lang="it-IT" sz="2000" dirty="0"/>
              <a:t>Marina Blohm</a:t>
            </a:r>
            <a:endParaRPr lang="en-GB" sz="2000" dirty="0"/>
          </a:p>
        </p:txBody>
      </p:sp>
      <p:pic>
        <p:nvPicPr>
          <p:cNvPr id="8" name="Picture 8" descr="Hochschule Flensburg (Fachhochschule) – Wikipedia">
            <a:extLst>
              <a:ext uri="{FF2B5EF4-FFF2-40B4-BE49-F238E27FC236}">
                <a16:creationId xmlns:a16="http://schemas.microsoft.com/office/drawing/2014/main" id="{E88D30C2-B846-594F-69A8-55F5538046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70439" y="264131"/>
            <a:ext cx="2518129" cy="1672124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14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EE7EEC8C-633A-AEB3-3E8A-978E3C75A1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445647" y="719916"/>
            <a:ext cx="3586922" cy="1040207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D13120F1-DE8B-A6AA-A1D5-19926A98F02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25103" y="243054"/>
            <a:ext cx="3684008" cy="1703223"/>
          </a:xfrm>
          <a:prstGeom prst="rect">
            <a:avLst/>
          </a:prstGeom>
        </p:spPr>
      </p:pic>
      <p:sp>
        <p:nvSpPr>
          <p:cNvPr id="13" name="Textfeld 12">
            <a:extLst>
              <a:ext uri="{FF2B5EF4-FFF2-40B4-BE49-F238E27FC236}">
                <a16:creationId xmlns:a16="http://schemas.microsoft.com/office/drawing/2014/main" id="{132D16E5-6BE7-8FC8-CFB3-81C918BB45F1}"/>
              </a:ext>
            </a:extLst>
          </p:cNvPr>
          <p:cNvSpPr txBox="1"/>
          <p:nvPr/>
        </p:nvSpPr>
        <p:spPr>
          <a:xfrm>
            <a:off x="2172911" y="4701104"/>
            <a:ext cx="7370674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400" dirty="0"/>
              <a:t>Group members:</a:t>
            </a:r>
            <a:r>
              <a:rPr lang="tr-TR" sz="1400" dirty="0"/>
              <a:t> Ahmed Sallam</a:t>
            </a:r>
            <a:r>
              <a:rPr lang="en-US" sz="1400" dirty="0"/>
              <a:t>,</a:t>
            </a:r>
            <a:r>
              <a:rPr lang="tr-TR" sz="1400" dirty="0"/>
              <a:t> Luis Urhahn, Ceren Cetin, Sohail Mansuri</a:t>
            </a:r>
          </a:p>
          <a:p>
            <a:pPr algn="ctr"/>
            <a:endParaRPr lang="tr-TR" sz="1400" b="1" dirty="0"/>
          </a:p>
          <a:p>
            <a:pPr algn="ctr"/>
            <a:endParaRPr lang="tr-TR" sz="1400" b="1" dirty="0"/>
          </a:p>
          <a:p>
            <a:pPr algn="ctr"/>
            <a:endParaRPr lang="tr-TR" sz="1400" b="1" dirty="0"/>
          </a:p>
          <a:p>
            <a:pPr algn="ctr"/>
            <a:endParaRPr lang="de-DE" sz="1400" dirty="0"/>
          </a:p>
        </p:txBody>
      </p:sp>
      <p:sp>
        <p:nvSpPr>
          <p:cNvPr id="34" name="Free-form: Shape 13">
            <a:extLst>
              <a:ext uri="{FF2B5EF4-FFF2-40B4-BE49-F238E27FC236}">
                <a16:creationId xmlns:a16="http://schemas.microsoft.com/office/drawing/2014/main" id="{44C88E41-E5B3-0D11-A4D3-711DA18380C9}"/>
              </a:ext>
            </a:extLst>
          </p:cNvPr>
          <p:cNvSpPr/>
          <p:nvPr/>
        </p:nvSpPr>
        <p:spPr>
          <a:xfrm>
            <a:off x="0" y="5526425"/>
            <a:ext cx="12218376" cy="72825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solidFill>
              <a:schemeClr val="bg1"/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5" name="Free-form: Shape 13">
            <a:extLst>
              <a:ext uri="{FF2B5EF4-FFF2-40B4-BE49-F238E27FC236}">
                <a16:creationId xmlns:a16="http://schemas.microsoft.com/office/drawing/2014/main" id="{C26B78DF-71CA-5509-F4C5-6276C7251B89}"/>
              </a:ext>
            </a:extLst>
          </p:cNvPr>
          <p:cNvSpPr/>
          <p:nvPr/>
        </p:nvSpPr>
        <p:spPr>
          <a:xfrm>
            <a:off x="0" y="5838824"/>
            <a:ext cx="12192000" cy="675673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" name="Free-form: Shape 13">
            <a:extLst>
              <a:ext uri="{FF2B5EF4-FFF2-40B4-BE49-F238E27FC236}">
                <a16:creationId xmlns:a16="http://schemas.microsoft.com/office/drawing/2014/main" id="{2AC7F7CE-A165-18C0-6918-B9EA07638042}"/>
              </a:ext>
            </a:extLst>
          </p:cNvPr>
          <p:cNvSpPr/>
          <p:nvPr/>
        </p:nvSpPr>
        <p:spPr>
          <a:xfrm>
            <a:off x="31399" y="5928072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Rechteck 17">
            <a:extLst>
              <a:ext uri="{FF2B5EF4-FFF2-40B4-BE49-F238E27FC236}">
                <a16:creationId xmlns:a16="http://schemas.microsoft.com/office/drawing/2014/main" id="{735E7E19-AD9A-2739-2D13-BC73EA4C7596}"/>
              </a:ext>
            </a:extLst>
          </p:cNvPr>
          <p:cNvSpPr/>
          <p:nvPr/>
        </p:nvSpPr>
        <p:spPr>
          <a:xfrm>
            <a:off x="-7747" y="6586566"/>
            <a:ext cx="12207494" cy="319817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19" name="Picture 18" descr="A white windmill with clouds in the background&#10;&#10;AI-generated content may be incorrect.">
            <a:extLst>
              <a:ext uri="{FF2B5EF4-FFF2-40B4-BE49-F238E27FC236}">
                <a16:creationId xmlns:a16="http://schemas.microsoft.com/office/drawing/2014/main" id="{2FD2ECB6-38EA-E857-A881-0C8E141A489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9950" y="5592750"/>
            <a:ext cx="1753782" cy="131363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B5856BF-EFF3-551E-51E0-355C5C495450}"/>
              </a:ext>
            </a:extLst>
          </p:cNvPr>
          <p:cNvSpPr txBox="1"/>
          <p:nvPr/>
        </p:nvSpPr>
        <p:spPr>
          <a:xfrm>
            <a:off x="4455298" y="5153243"/>
            <a:ext cx="34019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Presenter: </a:t>
            </a:r>
            <a:r>
              <a:rPr lang="en-US" b="1" dirty="0"/>
              <a:t>Ahmed Sallam</a:t>
            </a:r>
            <a:endParaRPr lang="LID4096" b="1" dirty="0"/>
          </a:p>
        </p:txBody>
      </p:sp>
      <p:sp>
        <p:nvSpPr>
          <p:cNvPr id="7" name="Datumsplatzhalter 3">
            <a:extLst>
              <a:ext uri="{FF2B5EF4-FFF2-40B4-BE49-F238E27FC236}">
                <a16:creationId xmlns:a16="http://schemas.microsoft.com/office/drawing/2014/main" id="{9E844D23-30BC-4661-B4A3-5C291D066A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566803"/>
            <a:ext cx="1111370" cy="365125"/>
          </a:xfrm>
        </p:spPr>
        <p:txBody>
          <a:bodyPr/>
          <a:lstStyle/>
          <a:p>
            <a:fld id="{4FB90975-892A-460D-9B99-2E14471E45A4}" type="datetime1">
              <a:rPr lang="en-GB" noProof="0" smtClean="0">
                <a:solidFill>
                  <a:schemeClr val="bg1"/>
                </a:solidFill>
              </a:rPr>
              <a:t>15/12/2025</a:t>
            </a:fld>
            <a:endParaRPr lang="en-GB" noProof="0" dirty="0">
              <a:solidFill>
                <a:schemeClr val="bg1"/>
              </a:solidFill>
            </a:endParaRPr>
          </a:p>
        </p:txBody>
      </p:sp>
      <p:sp>
        <p:nvSpPr>
          <p:cNvPr id="10" name="Foliennummernplatzhalter 5">
            <a:extLst>
              <a:ext uri="{FF2B5EF4-FFF2-40B4-BE49-F238E27FC236}">
                <a16:creationId xmlns:a16="http://schemas.microsoft.com/office/drawing/2014/main" id="{AF38CB1A-73D9-0730-5D81-93EF679E308C}"/>
              </a:ext>
            </a:extLst>
          </p:cNvPr>
          <p:cNvSpPr txBox="1">
            <a:spLocks/>
          </p:cNvSpPr>
          <p:nvPr/>
        </p:nvSpPr>
        <p:spPr>
          <a:xfrm>
            <a:off x="1949570" y="6566803"/>
            <a:ext cx="92895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5A6D213-0805-4C3E-849D-17C75FD348C3}" type="slidenum">
              <a:rPr lang="en-GB" smtClean="0">
                <a:solidFill>
                  <a:schemeClr val="bg1"/>
                </a:solidFill>
              </a:rPr>
              <a:pPr/>
              <a:t>1</a:t>
            </a:fld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12" name="Fußzeilenplatzhalter 4">
            <a:extLst>
              <a:ext uri="{FF2B5EF4-FFF2-40B4-BE49-F238E27FC236}">
                <a16:creationId xmlns:a16="http://schemas.microsoft.com/office/drawing/2014/main" id="{F0D39595-989E-9C55-42E2-6C4A033CEFD5}"/>
              </a:ext>
            </a:extLst>
          </p:cNvPr>
          <p:cNvSpPr txBox="1">
            <a:spLocks/>
          </p:cNvSpPr>
          <p:nvPr/>
        </p:nvSpPr>
        <p:spPr>
          <a:xfrm>
            <a:off x="8474613" y="6564113"/>
            <a:ext cx="2879187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de-DE" sz="1200" dirty="0">
                <a:solidFill>
                  <a:prstClr val="white"/>
                </a:solidFill>
                <a:latin typeface="Aptos" panose="02110004020202020204"/>
              </a:rPr>
              <a:t>Project Development / Optimus Syria</a:t>
            </a:r>
          </a:p>
        </p:txBody>
      </p:sp>
    </p:spTree>
    <p:extLst>
      <p:ext uri="{BB962C8B-B14F-4D97-AF65-F5344CB8AC3E}">
        <p14:creationId xmlns:p14="http://schemas.microsoft.com/office/powerpoint/2010/main" val="7364081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B55EF1-F0B2-651E-802E-1E95ED867A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-form: Shape 13">
            <a:extLst>
              <a:ext uri="{FF2B5EF4-FFF2-40B4-BE49-F238E27FC236}">
                <a16:creationId xmlns:a16="http://schemas.microsoft.com/office/drawing/2014/main" id="{B4A594E4-5EF5-00C3-6BBE-E84E6E515DAA}"/>
              </a:ext>
            </a:extLst>
          </p:cNvPr>
          <p:cNvSpPr/>
          <p:nvPr/>
        </p:nvSpPr>
        <p:spPr>
          <a:xfrm rot="10800000">
            <a:off x="-35168" y="277945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" name="Free-form: Shape 13">
            <a:extLst>
              <a:ext uri="{FF2B5EF4-FFF2-40B4-BE49-F238E27FC236}">
                <a16:creationId xmlns:a16="http://schemas.microsoft.com/office/drawing/2014/main" id="{6862D75B-AAE6-0630-1B7B-3BAAC4E8D7FA}"/>
              </a:ext>
            </a:extLst>
          </p:cNvPr>
          <p:cNvSpPr/>
          <p:nvPr/>
        </p:nvSpPr>
        <p:spPr>
          <a:xfrm rot="10800000">
            <a:off x="-2090" y="-10376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9" name="Free-form: Shape 13">
            <a:extLst>
              <a:ext uri="{FF2B5EF4-FFF2-40B4-BE49-F238E27FC236}">
                <a16:creationId xmlns:a16="http://schemas.microsoft.com/office/drawing/2014/main" id="{2BF506A8-2DE4-79FF-DF19-0D10B8A76D5C}"/>
              </a:ext>
            </a:extLst>
          </p:cNvPr>
          <p:cNvSpPr/>
          <p:nvPr/>
        </p:nvSpPr>
        <p:spPr>
          <a:xfrm rot="10800000">
            <a:off x="-26376" y="-237830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F2F9376C-C79D-4DE0-780F-120E664AA9E9}"/>
              </a:ext>
            </a:extLst>
          </p:cNvPr>
          <p:cNvSpPr/>
          <p:nvPr/>
        </p:nvSpPr>
        <p:spPr>
          <a:xfrm>
            <a:off x="-7747" y="6538183"/>
            <a:ext cx="12207494" cy="319817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0E64413-88C2-AA77-825D-45B03B0F1F70}"/>
              </a:ext>
            </a:extLst>
          </p:cNvPr>
          <p:cNvCxnSpPr/>
          <p:nvPr/>
        </p:nvCxnSpPr>
        <p:spPr>
          <a:xfrm>
            <a:off x="630115" y="1176770"/>
            <a:ext cx="11218984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CC39D098-7DBF-484D-536E-4C72852A8325}"/>
              </a:ext>
            </a:extLst>
          </p:cNvPr>
          <p:cNvSpPr txBox="1"/>
          <p:nvPr/>
        </p:nvSpPr>
        <p:spPr>
          <a:xfrm>
            <a:off x="629750" y="576685"/>
            <a:ext cx="798330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Weekly progress of the team</a:t>
            </a:r>
          </a:p>
          <a:p>
            <a:endParaRPr lang="LID4096" sz="3200" dirty="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66A85E97-8213-4FB3-F0A7-8895EED825C8}"/>
              </a:ext>
            </a:extLst>
          </p:cNvPr>
          <p:cNvSpPr/>
          <p:nvPr/>
        </p:nvSpPr>
        <p:spPr>
          <a:xfrm>
            <a:off x="8908026" y="2605548"/>
            <a:ext cx="1573161" cy="383458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16D9438-5258-2C3A-CB58-6C9201E8931C}"/>
              </a:ext>
            </a:extLst>
          </p:cNvPr>
          <p:cNvSpPr txBox="1"/>
          <p:nvPr/>
        </p:nvSpPr>
        <p:spPr>
          <a:xfrm>
            <a:off x="629750" y="1619084"/>
            <a:ext cx="47883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Update the wind turbine capital cost </a:t>
            </a:r>
            <a:endParaRPr lang="LID4096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C6B89A3-0BE2-1B6F-EAFD-FC9FF6F8C698}"/>
              </a:ext>
            </a:extLst>
          </p:cNvPr>
          <p:cNvSpPr txBox="1"/>
          <p:nvPr/>
        </p:nvSpPr>
        <p:spPr>
          <a:xfrm>
            <a:off x="629508" y="2105532"/>
            <a:ext cx="39918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Teams updated price contributions </a:t>
            </a:r>
            <a:endParaRPr lang="LID4096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4C98915-AEEA-3C80-3BC4-C8A815366D2A}"/>
              </a:ext>
            </a:extLst>
          </p:cNvPr>
          <p:cNvSpPr txBox="1"/>
          <p:nvPr/>
        </p:nvSpPr>
        <p:spPr>
          <a:xfrm>
            <a:off x="629508" y="2605548"/>
            <a:ext cx="43163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Optimization  of feasibility study </a:t>
            </a:r>
            <a:endParaRPr lang="LID4096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E6D3D9C-693D-B647-FB27-68C1CAC69F38}"/>
              </a:ext>
            </a:extLst>
          </p:cNvPr>
          <p:cNvSpPr txBox="1"/>
          <p:nvPr/>
        </p:nvSpPr>
        <p:spPr>
          <a:xfrm>
            <a:off x="629508" y="3182892"/>
            <a:ext cx="40410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Finalize the cost analysis</a:t>
            </a:r>
            <a:endParaRPr lang="LID4096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7E5AB34-07A4-0764-6492-1E37FBDA2B2E}"/>
              </a:ext>
            </a:extLst>
          </p:cNvPr>
          <p:cNvSpPr txBox="1"/>
          <p:nvPr/>
        </p:nvSpPr>
        <p:spPr>
          <a:xfrm>
            <a:off x="7775909" y="5203010"/>
            <a:ext cx="22566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Scan me </a:t>
            </a:r>
            <a:endParaRPr lang="LID4096" sz="2400" dirty="0"/>
          </a:p>
        </p:txBody>
      </p:sp>
      <p:pic>
        <p:nvPicPr>
          <p:cNvPr id="4" name="Picture 3" descr="A qr code with a colorful letter&#10;&#10;AI-generated content may be incorrect.">
            <a:extLst>
              <a:ext uri="{FF2B5EF4-FFF2-40B4-BE49-F238E27FC236}">
                <a16:creationId xmlns:a16="http://schemas.microsoft.com/office/drawing/2014/main" id="{91218DA3-768C-065A-20E4-C17CFE8CC5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27326" y="2098972"/>
            <a:ext cx="3153861" cy="3153861"/>
          </a:xfrm>
          <a:prstGeom prst="rect">
            <a:avLst/>
          </a:prstGeom>
        </p:spPr>
      </p:pic>
      <p:sp>
        <p:nvSpPr>
          <p:cNvPr id="3" name="Datumsplatzhalter 3">
            <a:extLst>
              <a:ext uri="{FF2B5EF4-FFF2-40B4-BE49-F238E27FC236}">
                <a16:creationId xmlns:a16="http://schemas.microsoft.com/office/drawing/2014/main" id="{EC2E2505-2C67-A510-1DDA-339261FA72B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566803"/>
            <a:ext cx="1111370" cy="365125"/>
          </a:xfrm>
        </p:spPr>
        <p:txBody>
          <a:bodyPr/>
          <a:lstStyle/>
          <a:p>
            <a:fld id="{4FB90975-892A-460D-9B99-2E14471E45A4}" type="datetime1">
              <a:rPr lang="en-GB" noProof="0" smtClean="0">
                <a:solidFill>
                  <a:schemeClr val="bg1"/>
                </a:solidFill>
              </a:rPr>
              <a:t>15/12/2025</a:t>
            </a:fld>
            <a:endParaRPr lang="en-GB" noProof="0" dirty="0">
              <a:solidFill>
                <a:schemeClr val="bg1"/>
              </a:solidFill>
            </a:endParaRPr>
          </a:p>
        </p:txBody>
      </p:sp>
      <p:sp>
        <p:nvSpPr>
          <p:cNvPr id="16" name="Foliennummernplatzhalter 5">
            <a:extLst>
              <a:ext uri="{FF2B5EF4-FFF2-40B4-BE49-F238E27FC236}">
                <a16:creationId xmlns:a16="http://schemas.microsoft.com/office/drawing/2014/main" id="{ECF42B32-1CD0-A131-9939-154ADA541CEA}"/>
              </a:ext>
            </a:extLst>
          </p:cNvPr>
          <p:cNvSpPr txBox="1">
            <a:spLocks/>
          </p:cNvSpPr>
          <p:nvPr/>
        </p:nvSpPr>
        <p:spPr>
          <a:xfrm>
            <a:off x="1949570" y="6566803"/>
            <a:ext cx="92895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5A6D213-0805-4C3E-849D-17C75FD348C3}" type="slidenum">
              <a:rPr lang="en-GB" smtClean="0">
                <a:solidFill>
                  <a:schemeClr val="bg1"/>
                </a:solidFill>
              </a:rPr>
              <a:pPr/>
              <a:t>2</a:t>
            </a:fld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19" name="Datumsplatzhalter 3">
            <a:extLst>
              <a:ext uri="{FF2B5EF4-FFF2-40B4-BE49-F238E27FC236}">
                <a16:creationId xmlns:a16="http://schemas.microsoft.com/office/drawing/2014/main" id="{151A8008-AA05-2EB3-61B3-61A3F955A315}"/>
              </a:ext>
            </a:extLst>
          </p:cNvPr>
          <p:cNvSpPr txBox="1">
            <a:spLocks/>
          </p:cNvSpPr>
          <p:nvPr/>
        </p:nvSpPr>
        <p:spPr>
          <a:xfrm>
            <a:off x="838200" y="6566803"/>
            <a:ext cx="11113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FB90975-892A-460D-9B99-2E14471E45A4}" type="datetime1">
              <a:rPr lang="en-GB" smtClean="0">
                <a:solidFill>
                  <a:schemeClr val="bg1"/>
                </a:solidFill>
              </a:rPr>
              <a:pPr/>
              <a:t>15/12/2025</a:t>
            </a:fld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21" name="Foliennummernplatzhalter 5">
            <a:extLst>
              <a:ext uri="{FF2B5EF4-FFF2-40B4-BE49-F238E27FC236}">
                <a16:creationId xmlns:a16="http://schemas.microsoft.com/office/drawing/2014/main" id="{D914CA86-6F01-AEAF-A012-2BE27722EE8C}"/>
              </a:ext>
            </a:extLst>
          </p:cNvPr>
          <p:cNvSpPr txBox="1">
            <a:spLocks/>
          </p:cNvSpPr>
          <p:nvPr/>
        </p:nvSpPr>
        <p:spPr>
          <a:xfrm>
            <a:off x="4907766" y="6567436"/>
            <a:ext cx="15702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de-DE">
                <a:solidFill>
                  <a:prstClr val="white"/>
                </a:solidFill>
                <a:latin typeface="Aptos" panose="02110004020202020204"/>
              </a:rPr>
              <a:t>Ahmed Sallam</a:t>
            </a:r>
            <a:endParaRPr lang="de-DE" dirty="0">
              <a:solidFill>
                <a:prstClr val="white"/>
              </a:solidFill>
              <a:latin typeface="Aptos" panose="02110004020202020204"/>
            </a:endParaRPr>
          </a:p>
        </p:txBody>
      </p:sp>
      <p:sp>
        <p:nvSpPr>
          <p:cNvPr id="22" name="Fußzeilenplatzhalter 4">
            <a:extLst>
              <a:ext uri="{FF2B5EF4-FFF2-40B4-BE49-F238E27FC236}">
                <a16:creationId xmlns:a16="http://schemas.microsoft.com/office/drawing/2014/main" id="{F43A232A-47FA-C780-6E81-97C046B03D88}"/>
              </a:ext>
            </a:extLst>
          </p:cNvPr>
          <p:cNvSpPr txBox="1">
            <a:spLocks/>
          </p:cNvSpPr>
          <p:nvPr/>
        </p:nvSpPr>
        <p:spPr>
          <a:xfrm>
            <a:off x="8474613" y="6566803"/>
            <a:ext cx="28791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de-DE">
                <a:solidFill>
                  <a:prstClr val="white"/>
                </a:solidFill>
                <a:latin typeface="Aptos" panose="02110004020202020204"/>
              </a:rPr>
              <a:t>Project Development / Optimus Syria</a:t>
            </a:r>
            <a:endParaRPr lang="de-DE" dirty="0">
              <a:solidFill>
                <a:prstClr val="white"/>
              </a:solidFill>
              <a:latin typeface="Aptos" panose="02110004020202020204"/>
            </a:endParaRPr>
          </a:p>
        </p:txBody>
      </p:sp>
      <p:sp>
        <p:nvSpPr>
          <p:cNvPr id="23" name="Foliennummernplatzhalter 5">
            <a:extLst>
              <a:ext uri="{FF2B5EF4-FFF2-40B4-BE49-F238E27FC236}">
                <a16:creationId xmlns:a16="http://schemas.microsoft.com/office/drawing/2014/main" id="{0FAF3313-A804-A202-C5BD-3A782D133AA3}"/>
              </a:ext>
            </a:extLst>
          </p:cNvPr>
          <p:cNvSpPr txBox="1">
            <a:spLocks/>
          </p:cNvSpPr>
          <p:nvPr/>
        </p:nvSpPr>
        <p:spPr>
          <a:xfrm>
            <a:off x="1949570" y="6569493"/>
            <a:ext cx="92895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5A6D213-0805-4C3E-849D-17C75FD348C3}" type="slidenum">
              <a:rPr lang="en-GB" smtClean="0">
                <a:solidFill>
                  <a:schemeClr val="bg1"/>
                </a:solidFill>
              </a:rPr>
              <a:pPr/>
              <a:t>2</a:t>
            </a:fld>
            <a:endParaRPr lang="en-GB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5779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8" grpId="0"/>
      <p:bldP spid="13" grpId="0"/>
      <p:bldP spid="12" grpId="0"/>
      <p:bldP spid="1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55C98E-0159-2524-D283-ADC4ED9B5E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-form: Shape 13">
            <a:extLst>
              <a:ext uri="{FF2B5EF4-FFF2-40B4-BE49-F238E27FC236}">
                <a16:creationId xmlns:a16="http://schemas.microsoft.com/office/drawing/2014/main" id="{9C3856ED-4B7B-DAD5-6E95-EDB26F425D3D}"/>
              </a:ext>
            </a:extLst>
          </p:cNvPr>
          <p:cNvSpPr/>
          <p:nvPr/>
        </p:nvSpPr>
        <p:spPr>
          <a:xfrm rot="10800000">
            <a:off x="-35168" y="277945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" name="Free-form: Shape 13">
            <a:extLst>
              <a:ext uri="{FF2B5EF4-FFF2-40B4-BE49-F238E27FC236}">
                <a16:creationId xmlns:a16="http://schemas.microsoft.com/office/drawing/2014/main" id="{74EC6EC1-37CC-68FF-AF6B-4A4C5662AFF2}"/>
              </a:ext>
            </a:extLst>
          </p:cNvPr>
          <p:cNvSpPr/>
          <p:nvPr/>
        </p:nvSpPr>
        <p:spPr>
          <a:xfrm rot="10800000">
            <a:off x="-2090" y="-10376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9" name="Free-form: Shape 13">
            <a:extLst>
              <a:ext uri="{FF2B5EF4-FFF2-40B4-BE49-F238E27FC236}">
                <a16:creationId xmlns:a16="http://schemas.microsoft.com/office/drawing/2014/main" id="{E09C6564-4B90-500D-966A-FBB20C73B272}"/>
              </a:ext>
            </a:extLst>
          </p:cNvPr>
          <p:cNvSpPr/>
          <p:nvPr/>
        </p:nvSpPr>
        <p:spPr>
          <a:xfrm rot="10800000">
            <a:off x="-26376" y="-237830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B7FB1F3D-C03B-05B1-68E7-8D5DF03EC4B1}"/>
              </a:ext>
            </a:extLst>
          </p:cNvPr>
          <p:cNvSpPr/>
          <p:nvPr/>
        </p:nvSpPr>
        <p:spPr>
          <a:xfrm>
            <a:off x="-7747" y="6538183"/>
            <a:ext cx="12207494" cy="319817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CFE68EA-55D4-84A4-AB86-288A35FD063D}"/>
              </a:ext>
            </a:extLst>
          </p:cNvPr>
          <p:cNvCxnSpPr/>
          <p:nvPr/>
        </p:nvCxnSpPr>
        <p:spPr>
          <a:xfrm>
            <a:off x="630115" y="1176770"/>
            <a:ext cx="11218984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9C7DCFBC-6452-8FB3-19E7-6E41E407F353}"/>
              </a:ext>
            </a:extLst>
          </p:cNvPr>
          <p:cNvSpPr txBox="1"/>
          <p:nvPr/>
        </p:nvSpPr>
        <p:spPr>
          <a:xfrm>
            <a:off x="629750" y="576685"/>
            <a:ext cx="798330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Progress AEP simulation</a:t>
            </a:r>
          </a:p>
          <a:p>
            <a:endParaRPr lang="LID4096" sz="3200" dirty="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01C523E7-518D-0D66-D463-C74A0726597B}"/>
              </a:ext>
            </a:extLst>
          </p:cNvPr>
          <p:cNvSpPr/>
          <p:nvPr/>
        </p:nvSpPr>
        <p:spPr>
          <a:xfrm>
            <a:off x="8908026" y="2605548"/>
            <a:ext cx="1573161" cy="383458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3" name="Content Placeholder 8">
            <a:extLst>
              <a:ext uri="{FF2B5EF4-FFF2-40B4-BE49-F238E27FC236}">
                <a16:creationId xmlns:a16="http://schemas.microsoft.com/office/drawing/2014/main" id="{A18206B6-6C2C-287D-2951-EA759CDA6E13}"/>
              </a:ext>
            </a:extLst>
          </p:cNvPr>
          <p:cNvSpPr txBox="1">
            <a:spLocks/>
          </p:cNvSpPr>
          <p:nvPr/>
        </p:nvSpPr>
        <p:spPr>
          <a:xfrm>
            <a:off x="3101008" y="1352300"/>
            <a:ext cx="5989983" cy="448627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71550" indent="-5143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+mj-lt"/>
              <a:buAutoNum type="romanLcPeriod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GB" dirty="0"/>
              <a:t>Park Calculation with shadow curtailment:</a:t>
            </a: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42E4480F-3292-BEBD-6C6E-863B58E74CAA}"/>
              </a:ext>
            </a:extLst>
          </p:cNvPr>
          <p:cNvGraphicFramePr>
            <a:graphicFrameLocks noGrp="1"/>
          </p:cNvGraphicFramePr>
          <p:nvPr/>
        </p:nvGraphicFramePr>
        <p:xfrm>
          <a:off x="2977932" y="1770944"/>
          <a:ext cx="6236133" cy="38881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78711">
                  <a:extLst>
                    <a:ext uri="{9D8B030D-6E8A-4147-A177-3AD203B41FA5}">
                      <a16:colId xmlns:a16="http://schemas.microsoft.com/office/drawing/2014/main" val="1176280577"/>
                    </a:ext>
                  </a:extLst>
                </a:gridCol>
                <a:gridCol w="2078711">
                  <a:extLst>
                    <a:ext uri="{9D8B030D-6E8A-4147-A177-3AD203B41FA5}">
                      <a16:colId xmlns:a16="http://schemas.microsoft.com/office/drawing/2014/main" val="3117882319"/>
                    </a:ext>
                  </a:extLst>
                </a:gridCol>
                <a:gridCol w="2078711">
                  <a:extLst>
                    <a:ext uri="{9D8B030D-6E8A-4147-A177-3AD203B41FA5}">
                      <a16:colId xmlns:a16="http://schemas.microsoft.com/office/drawing/2014/main" val="611750719"/>
                    </a:ext>
                  </a:extLst>
                </a:gridCol>
              </a:tblGrid>
              <a:tr h="39485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Parameter</a:t>
                      </a:r>
                      <a:endParaRPr lang="en-D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Unit</a:t>
                      </a:r>
                      <a:endParaRPr lang="en-D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Value</a:t>
                      </a:r>
                      <a:endParaRPr lang="en-DE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97450043"/>
                  </a:ext>
                </a:extLst>
              </a:tr>
              <a:tr h="589087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Result Park (AEP)  (no loss)</a:t>
                      </a:r>
                      <a:endParaRPr lang="en-D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MWh/year</a:t>
                      </a:r>
                      <a:endParaRPr lang="en-D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1" dirty="0"/>
                        <a:t>22 491.8</a:t>
                      </a:r>
                      <a:endParaRPr lang="en-DE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80889762"/>
                  </a:ext>
                </a:extLst>
              </a:tr>
              <a:tr h="589087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Result Park (AEP)</a:t>
                      </a:r>
                      <a:endParaRPr lang="en-D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MWh/year</a:t>
                      </a:r>
                      <a:endParaRPr lang="en-D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b="1" dirty="0"/>
                        <a:t>21 908.8</a:t>
                      </a:r>
                      <a:endParaRPr lang="en-DE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89470395"/>
                  </a:ext>
                </a:extLst>
              </a:tr>
              <a:tr h="589087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Capacity factor</a:t>
                      </a:r>
                      <a:endParaRPr lang="en-D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%</a:t>
                      </a:r>
                      <a:endParaRPr lang="en-D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1" dirty="0"/>
                        <a:t>50</a:t>
                      </a:r>
                      <a:endParaRPr lang="en-DE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17233972"/>
                  </a:ext>
                </a:extLst>
              </a:tr>
              <a:tr h="589087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Full Load Hours (FLH)</a:t>
                      </a:r>
                      <a:endParaRPr lang="en-D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Hours/year</a:t>
                      </a:r>
                      <a:endParaRPr lang="en-D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1" dirty="0"/>
                        <a:t>4 382</a:t>
                      </a:r>
                      <a:endParaRPr lang="en-DE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94610934"/>
                  </a:ext>
                </a:extLst>
              </a:tr>
              <a:tr h="39485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Average wind speed</a:t>
                      </a:r>
                      <a:endParaRPr lang="en-D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m/s</a:t>
                      </a:r>
                      <a:endParaRPr lang="en-D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8.5</a:t>
                      </a:r>
                      <a:endParaRPr lang="en-DE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25303196"/>
                  </a:ext>
                </a:extLst>
              </a:tr>
              <a:tr h="39485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Curtailment loss</a:t>
                      </a:r>
                      <a:endParaRPr lang="en-D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%</a:t>
                      </a:r>
                      <a:endParaRPr lang="en-D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2.6</a:t>
                      </a:r>
                      <a:endParaRPr lang="en-DE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75054629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2F61F3A6-8F40-EE35-49DF-3ECD85C9B8C7}"/>
              </a:ext>
            </a:extLst>
          </p:cNvPr>
          <p:cNvSpPr txBox="1"/>
          <p:nvPr/>
        </p:nvSpPr>
        <p:spPr>
          <a:xfrm>
            <a:off x="2507276" y="5775146"/>
            <a:ext cx="71774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solidFill>
                  <a:srgbClr val="FF0000"/>
                </a:solidFill>
              </a:rPr>
              <a:t>Including the shadow restriction: </a:t>
            </a:r>
          </a:p>
          <a:p>
            <a:pPr algn="ctr"/>
            <a:r>
              <a:rPr lang="en-GB" b="1" dirty="0">
                <a:solidFill>
                  <a:srgbClr val="FF0000"/>
                </a:solidFill>
              </a:rPr>
              <a:t>30 min before </a:t>
            </a:r>
            <a:r>
              <a:rPr lang="en-GB" dirty="0">
                <a:solidFill>
                  <a:srgbClr val="FF0000"/>
                </a:solidFill>
              </a:rPr>
              <a:t>sunrise to </a:t>
            </a:r>
            <a:r>
              <a:rPr lang="en-GB" b="1" dirty="0">
                <a:solidFill>
                  <a:srgbClr val="FF0000"/>
                </a:solidFill>
              </a:rPr>
              <a:t>30 min after </a:t>
            </a:r>
            <a:r>
              <a:rPr lang="en-GB" dirty="0">
                <a:solidFill>
                  <a:srgbClr val="FF0000"/>
                </a:solidFill>
              </a:rPr>
              <a:t>sunrise </a:t>
            </a:r>
            <a:r>
              <a:rPr lang="en-GB" dirty="0">
                <a:solidFill>
                  <a:srgbClr val="FF0000"/>
                </a:solidFill>
                <a:sym typeface="Wingdings" panose="05000000000000000000" pitchFamily="2" charset="2"/>
              </a:rPr>
              <a:t> </a:t>
            </a:r>
            <a:r>
              <a:rPr lang="en-GB" b="1" dirty="0">
                <a:solidFill>
                  <a:srgbClr val="FF0000"/>
                </a:solidFill>
                <a:sym typeface="Wingdings" panose="05000000000000000000" pitchFamily="2" charset="2"/>
              </a:rPr>
              <a:t>shutdown</a:t>
            </a:r>
            <a:r>
              <a:rPr lang="en-GB" dirty="0">
                <a:solidFill>
                  <a:srgbClr val="FF0000"/>
                </a:solidFill>
                <a:sym typeface="Wingdings" panose="05000000000000000000" pitchFamily="2" charset="2"/>
              </a:rPr>
              <a:t> of turbine</a:t>
            </a:r>
            <a:endParaRPr lang="en-DE" dirty="0">
              <a:solidFill>
                <a:srgbClr val="FF0000"/>
              </a:solidFill>
            </a:endParaRPr>
          </a:p>
        </p:txBody>
      </p:sp>
      <p:sp>
        <p:nvSpPr>
          <p:cNvPr id="21" name="Datumsplatzhalter 3">
            <a:extLst>
              <a:ext uri="{FF2B5EF4-FFF2-40B4-BE49-F238E27FC236}">
                <a16:creationId xmlns:a16="http://schemas.microsoft.com/office/drawing/2014/main" id="{75F64CB4-BD73-0BDC-47EB-4C3A1A9B618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566803"/>
            <a:ext cx="1111370" cy="365125"/>
          </a:xfrm>
        </p:spPr>
        <p:txBody>
          <a:bodyPr/>
          <a:lstStyle/>
          <a:p>
            <a:fld id="{4FB90975-892A-460D-9B99-2E14471E45A4}" type="datetime1">
              <a:rPr lang="en-GB" noProof="0" smtClean="0">
                <a:solidFill>
                  <a:schemeClr val="bg1"/>
                </a:solidFill>
              </a:rPr>
              <a:t>15/12/2025</a:t>
            </a:fld>
            <a:endParaRPr lang="en-GB" noProof="0" dirty="0">
              <a:solidFill>
                <a:schemeClr val="bg1"/>
              </a:solidFill>
            </a:endParaRPr>
          </a:p>
        </p:txBody>
      </p:sp>
      <p:sp>
        <p:nvSpPr>
          <p:cNvPr id="22" name="Foliennummernplatzhalter 5">
            <a:extLst>
              <a:ext uri="{FF2B5EF4-FFF2-40B4-BE49-F238E27FC236}">
                <a16:creationId xmlns:a16="http://schemas.microsoft.com/office/drawing/2014/main" id="{0E386438-760F-975F-EBD6-A3292D6345AB}"/>
              </a:ext>
            </a:extLst>
          </p:cNvPr>
          <p:cNvSpPr txBox="1">
            <a:spLocks/>
          </p:cNvSpPr>
          <p:nvPr/>
        </p:nvSpPr>
        <p:spPr>
          <a:xfrm>
            <a:off x="1949570" y="6566803"/>
            <a:ext cx="92895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5A6D213-0805-4C3E-849D-17C75FD348C3}" type="slidenum">
              <a:rPr lang="en-GB" smtClean="0">
                <a:solidFill>
                  <a:schemeClr val="bg1"/>
                </a:solidFill>
              </a:rPr>
              <a:pPr/>
              <a:t>3</a:t>
            </a:fld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23" name="Datumsplatzhalter 3">
            <a:extLst>
              <a:ext uri="{FF2B5EF4-FFF2-40B4-BE49-F238E27FC236}">
                <a16:creationId xmlns:a16="http://schemas.microsoft.com/office/drawing/2014/main" id="{369D43F4-C216-E01B-49B7-74EA577F01D1}"/>
              </a:ext>
            </a:extLst>
          </p:cNvPr>
          <p:cNvSpPr txBox="1">
            <a:spLocks/>
          </p:cNvSpPr>
          <p:nvPr/>
        </p:nvSpPr>
        <p:spPr>
          <a:xfrm>
            <a:off x="838200" y="6566803"/>
            <a:ext cx="11113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FB90975-892A-460D-9B99-2E14471E45A4}" type="datetime1">
              <a:rPr lang="en-GB" smtClean="0">
                <a:solidFill>
                  <a:schemeClr val="bg1"/>
                </a:solidFill>
              </a:rPr>
              <a:pPr/>
              <a:t>15/12/2025</a:t>
            </a:fld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24" name="Foliennummernplatzhalter 5">
            <a:extLst>
              <a:ext uri="{FF2B5EF4-FFF2-40B4-BE49-F238E27FC236}">
                <a16:creationId xmlns:a16="http://schemas.microsoft.com/office/drawing/2014/main" id="{6CD87EC6-37D6-C899-7F19-0F6ACEA46BAF}"/>
              </a:ext>
            </a:extLst>
          </p:cNvPr>
          <p:cNvSpPr txBox="1">
            <a:spLocks/>
          </p:cNvSpPr>
          <p:nvPr/>
        </p:nvSpPr>
        <p:spPr>
          <a:xfrm>
            <a:off x="4907766" y="6567436"/>
            <a:ext cx="15702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de-DE">
                <a:solidFill>
                  <a:prstClr val="white"/>
                </a:solidFill>
                <a:latin typeface="Aptos" panose="02110004020202020204"/>
              </a:rPr>
              <a:t>Ahmed Sallam</a:t>
            </a:r>
            <a:endParaRPr lang="de-DE" dirty="0">
              <a:solidFill>
                <a:prstClr val="white"/>
              </a:solidFill>
              <a:latin typeface="Aptos" panose="02110004020202020204"/>
            </a:endParaRPr>
          </a:p>
        </p:txBody>
      </p:sp>
      <p:sp>
        <p:nvSpPr>
          <p:cNvPr id="25" name="Fußzeilenplatzhalter 4">
            <a:extLst>
              <a:ext uri="{FF2B5EF4-FFF2-40B4-BE49-F238E27FC236}">
                <a16:creationId xmlns:a16="http://schemas.microsoft.com/office/drawing/2014/main" id="{60E73D1F-5329-8304-E2BD-5E9CD101EB99}"/>
              </a:ext>
            </a:extLst>
          </p:cNvPr>
          <p:cNvSpPr txBox="1">
            <a:spLocks/>
          </p:cNvSpPr>
          <p:nvPr/>
        </p:nvSpPr>
        <p:spPr>
          <a:xfrm>
            <a:off x="8474613" y="6566803"/>
            <a:ext cx="28791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de-DE">
                <a:solidFill>
                  <a:prstClr val="white"/>
                </a:solidFill>
                <a:latin typeface="Aptos" panose="02110004020202020204"/>
              </a:rPr>
              <a:t>Project Development / Optimus Syria</a:t>
            </a:r>
            <a:endParaRPr lang="de-DE" dirty="0">
              <a:solidFill>
                <a:prstClr val="white"/>
              </a:solidFill>
              <a:latin typeface="Aptos" panose="02110004020202020204"/>
            </a:endParaRPr>
          </a:p>
        </p:txBody>
      </p:sp>
      <p:sp>
        <p:nvSpPr>
          <p:cNvPr id="26" name="Foliennummernplatzhalter 5">
            <a:extLst>
              <a:ext uri="{FF2B5EF4-FFF2-40B4-BE49-F238E27FC236}">
                <a16:creationId xmlns:a16="http://schemas.microsoft.com/office/drawing/2014/main" id="{4251DD4F-B2BE-773A-87AB-330D2AC11767}"/>
              </a:ext>
            </a:extLst>
          </p:cNvPr>
          <p:cNvSpPr txBox="1">
            <a:spLocks/>
          </p:cNvSpPr>
          <p:nvPr/>
        </p:nvSpPr>
        <p:spPr>
          <a:xfrm>
            <a:off x="1949570" y="6569493"/>
            <a:ext cx="92895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5A6D213-0805-4C3E-849D-17C75FD348C3}" type="slidenum">
              <a:rPr lang="en-GB" smtClean="0">
                <a:solidFill>
                  <a:schemeClr val="bg1"/>
                </a:solidFill>
              </a:rPr>
              <a:pPr/>
              <a:t>3</a:t>
            </a:fld>
            <a:endParaRPr lang="en-GB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202230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BBEB86-68D6-A27D-2681-0DF3FEA674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-form: Shape 13">
            <a:extLst>
              <a:ext uri="{FF2B5EF4-FFF2-40B4-BE49-F238E27FC236}">
                <a16:creationId xmlns:a16="http://schemas.microsoft.com/office/drawing/2014/main" id="{A503539C-8247-07FC-9AA5-AD3B1AAAA9B5}"/>
              </a:ext>
            </a:extLst>
          </p:cNvPr>
          <p:cNvSpPr/>
          <p:nvPr/>
        </p:nvSpPr>
        <p:spPr>
          <a:xfrm rot="10800000">
            <a:off x="-35168" y="277945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" name="Free-form: Shape 13">
            <a:extLst>
              <a:ext uri="{FF2B5EF4-FFF2-40B4-BE49-F238E27FC236}">
                <a16:creationId xmlns:a16="http://schemas.microsoft.com/office/drawing/2014/main" id="{89A0C7D7-A674-DB57-1037-0BB45CA0CF68}"/>
              </a:ext>
            </a:extLst>
          </p:cNvPr>
          <p:cNvSpPr/>
          <p:nvPr/>
        </p:nvSpPr>
        <p:spPr>
          <a:xfrm rot="10800000">
            <a:off x="-2090" y="-10376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9" name="Free-form: Shape 13">
            <a:extLst>
              <a:ext uri="{FF2B5EF4-FFF2-40B4-BE49-F238E27FC236}">
                <a16:creationId xmlns:a16="http://schemas.microsoft.com/office/drawing/2014/main" id="{FD3CFAAB-DD0E-618E-5107-CEF6F985DD00}"/>
              </a:ext>
            </a:extLst>
          </p:cNvPr>
          <p:cNvSpPr/>
          <p:nvPr/>
        </p:nvSpPr>
        <p:spPr>
          <a:xfrm rot="10800000">
            <a:off x="-26376" y="-237830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FFCA8D10-83AD-4491-1960-838291AA6DA7}"/>
              </a:ext>
            </a:extLst>
          </p:cNvPr>
          <p:cNvSpPr/>
          <p:nvPr/>
        </p:nvSpPr>
        <p:spPr>
          <a:xfrm>
            <a:off x="-7747" y="6538183"/>
            <a:ext cx="12207494" cy="319817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691DAB2-44F7-CB92-162B-CCFC38A692D5}"/>
              </a:ext>
            </a:extLst>
          </p:cNvPr>
          <p:cNvCxnSpPr/>
          <p:nvPr/>
        </p:nvCxnSpPr>
        <p:spPr>
          <a:xfrm>
            <a:off x="630115" y="1176770"/>
            <a:ext cx="11218984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1A8B27E9-6408-8543-665C-81AEBD3B6EA3}"/>
              </a:ext>
            </a:extLst>
          </p:cNvPr>
          <p:cNvSpPr txBox="1"/>
          <p:nvPr/>
        </p:nvSpPr>
        <p:spPr>
          <a:xfrm>
            <a:off x="629750" y="576685"/>
            <a:ext cx="798330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Progress AEP simulation</a:t>
            </a:r>
          </a:p>
          <a:p>
            <a:endParaRPr lang="LID4096" sz="3200" dirty="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6270B4A7-C9D4-01BB-9324-0D188DCA0A57}"/>
              </a:ext>
            </a:extLst>
          </p:cNvPr>
          <p:cNvSpPr/>
          <p:nvPr/>
        </p:nvSpPr>
        <p:spPr>
          <a:xfrm>
            <a:off x="8908026" y="2605548"/>
            <a:ext cx="1573161" cy="383458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2" name="Content Placeholder 8">
            <a:extLst>
              <a:ext uri="{FF2B5EF4-FFF2-40B4-BE49-F238E27FC236}">
                <a16:creationId xmlns:a16="http://schemas.microsoft.com/office/drawing/2014/main" id="{4CDB3C04-4351-D9ED-52EA-DE39B6B966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690688"/>
            <a:ext cx="5257800" cy="4486275"/>
          </a:xfrm>
          <a:ln>
            <a:noFill/>
          </a:ln>
        </p:spPr>
        <p:txBody>
          <a:bodyPr/>
          <a:lstStyle/>
          <a:p>
            <a:pPr marL="0" indent="0">
              <a:buNone/>
            </a:pPr>
            <a:r>
              <a:rPr lang="en-GB" sz="2200" dirty="0"/>
              <a:t>Park Calculation (</a:t>
            </a:r>
            <a:r>
              <a:rPr lang="en-GB" sz="2200" b="1" dirty="0"/>
              <a:t>w/o </a:t>
            </a:r>
            <a:r>
              <a:rPr lang="en-GB" sz="2200" dirty="0"/>
              <a:t>curtailments):</a:t>
            </a:r>
          </a:p>
          <a:p>
            <a:pPr marL="0" indent="0">
              <a:buNone/>
            </a:pPr>
            <a:endParaRPr lang="en-GB" dirty="0"/>
          </a:p>
        </p:txBody>
      </p:sp>
      <p:sp>
        <p:nvSpPr>
          <p:cNvPr id="13" name="Content Placeholder 8">
            <a:extLst>
              <a:ext uri="{FF2B5EF4-FFF2-40B4-BE49-F238E27FC236}">
                <a16:creationId xmlns:a16="http://schemas.microsoft.com/office/drawing/2014/main" id="{7CC62A3D-DE59-6F44-E564-CB11E171DEB0}"/>
              </a:ext>
            </a:extLst>
          </p:cNvPr>
          <p:cNvSpPr txBox="1">
            <a:spLocks/>
          </p:cNvSpPr>
          <p:nvPr/>
        </p:nvSpPr>
        <p:spPr>
          <a:xfrm>
            <a:off x="6095999" y="1687998"/>
            <a:ext cx="5257800" cy="448627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71550" indent="-5143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+mj-lt"/>
              <a:buAutoNum type="romanLcPeriod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dirty="0"/>
              <a:t>Park Calculation (</a:t>
            </a:r>
            <a:r>
              <a:rPr lang="en-GB" b="1" dirty="0"/>
              <a:t>with</a:t>
            </a:r>
            <a:r>
              <a:rPr lang="en-GB" dirty="0"/>
              <a:t> curtailments):</a:t>
            </a:r>
          </a:p>
          <a:p>
            <a:pPr marL="0" indent="0">
              <a:buNone/>
            </a:pPr>
            <a:endParaRPr lang="en-GB" dirty="0"/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855624F4-9E0C-5D99-0E92-E01B0866BFA3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2328353"/>
          <a:ext cx="4736445" cy="38649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8815">
                  <a:extLst>
                    <a:ext uri="{9D8B030D-6E8A-4147-A177-3AD203B41FA5}">
                      <a16:colId xmlns:a16="http://schemas.microsoft.com/office/drawing/2014/main" val="1176280577"/>
                    </a:ext>
                  </a:extLst>
                </a:gridCol>
                <a:gridCol w="1578815">
                  <a:extLst>
                    <a:ext uri="{9D8B030D-6E8A-4147-A177-3AD203B41FA5}">
                      <a16:colId xmlns:a16="http://schemas.microsoft.com/office/drawing/2014/main" val="3117882319"/>
                    </a:ext>
                  </a:extLst>
                </a:gridCol>
                <a:gridCol w="1578815">
                  <a:extLst>
                    <a:ext uri="{9D8B030D-6E8A-4147-A177-3AD203B41FA5}">
                      <a16:colId xmlns:a16="http://schemas.microsoft.com/office/drawing/2014/main" val="611750719"/>
                    </a:ext>
                  </a:extLst>
                </a:gridCol>
              </a:tblGrid>
              <a:tr h="644165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Parameter</a:t>
                      </a:r>
                      <a:endParaRPr lang="en-D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Unit</a:t>
                      </a:r>
                      <a:endParaRPr lang="en-D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Value</a:t>
                      </a:r>
                      <a:endParaRPr lang="en-DE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97450043"/>
                  </a:ext>
                </a:extLst>
              </a:tr>
              <a:tr h="644165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Result Park (AEP)</a:t>
                      </a:r>
                      <a:endParaRPr lang="en-D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MWh/year</a:t>
                      </a:r>
                      <a:endParaRPr lang="en-D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1" dirty="0"/>
                        <a:t>22 491.8</a:t>
                      </a:r>
                      <a:endParaRPr lang="en-DE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80889762"/>
                  </a:ext>
                </a:extLst>
              </a:tr>
              <a:tr h="644165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Capacity factor</a:t>
                      </a:r>
                      <a:endParaRPr lang="en-D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%</a:t>
                      </a:r>
                      <a:endParaRPr lang="en-D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1" dirty="0"/>
                        <a:t>51.3</a:t>
                      </a:r>
                      <a:endParaRPr lang="en-DE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89470395"/>
                  </a:ext>
                </a:extLst>
              </a:tr>
              <a:tr h="644165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Full Load Hours (FLH)</a:t>
                      </a:r>
                      <a:endParaRPr lang="en-D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Hours/year</a:t>
                      </a:r>
                      <a:endParaRPr lang="en-D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1" dirty="0"/>
                        <a:t>4 498</a:t>
                      </a:r>
                      <a:endParaRPr lang="en-DE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17233972"/>
                  </a:ext>
                </a:extLst>
              </a:tr>
              <a:tr h="644165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Average wind speed</a:t>
                      </a:r>
                      <a:endParaRPr lang="en-D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m/s</a:t>
                      </a:r>
                      <a:endParaRPr lang="en-D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8.5</a:t>
                      </a:r>
                      <a:endParaRPr lang="en-DE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94610934"/>
                  </a:ext>
                </a:extLst>
              </a:tr>
              <a:tr h="644165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Curtailment loss</a:t>
                      </a:r>
                      <a:endParaRPr lang="en-D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%</a:t>
                      </a:r>
                      <a:endParaRPr lang="en-D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0.0</a:t>
                      </a:r>
                      <a:endParaRPr lang="en-DE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99973609"/>
                  </a:ext>
                </a:extLst>
              </a:tr>
            </a:tbl>
          </a:graphicData>
        </a:graphic>
      </p:graphicFrame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590C5FA0-1DC2-4489-A15C-8AE2F65CB31C}"/>
              </a:ext>
            </a:extLst>
          </p:cNvPr>
          <p:cNvGraphicFramePr>
            <a:graphicFrameLocks noGrp="1"/>
          </p:cNvGraphicFramePr>
          <p:nvPr/>
        </p:nvGraphicFramePr>
        <p:xfrm>
          <a:off x="6176963" y="2328353"/>
          <a:ext cx="4736445" cy="38649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8815">
                  <a:extLst>
                    <a:ext uri="{9D8B030D-6E8A-4147-A177-3AD203B41FA5}">
                      <a16:colId xmlns:a16="http://schemas.microsoft.com/office/drawing/2014/main" val="1176280577"/>
                    </a:ext>
                  </a:extLst>
                </a:gridCol>
                <a:gridCol w="1578815">
                  <a:extLst>
                    <a:ext uri="{9D8B030D-6E8A-4147-A177-3AD203B41FA5}">
                      <a16:colId xmlns:a16="http://schemas.microsoft.com/office/drawing/2014/main" val="3117882319"/>
                    </a:ext>
                  </a:extLst>
                </a:gridCol>
                <a:gridCol w="1578815">
                  <a:extLst>
                    <a:ext uri="{9D8B030D-6E8A-4147-A177-3AD203B41FA5}">
                      <a16:colId xmlns:a16="http://schemas.microsoft.com/office/drawing/2014/main" val="611750719"/>
                    </a:ext>
                  </a:extLst>
                </a:gridCol>
              </a:tblGrid>
              <a:tr h="644165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Parameter</a:t>
                      </a:r>
                      <a:endParaRPr lang="en-D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Unit</a:t>
                      </a:r>
                      <a:endParaRPr lang="en-D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Value</a:t>
                      </a:r>
                      <a:endParaRPr lang="en-DE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97450043"/>
                  </a:ext>
                </a:extLst>
              </a:tr>
              <a:tr h="644165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Result Park (AEP)</a:t>
                      </a:r>
                      <a:endParaRPr lang="en-D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MWh/year</a:t>
                      </a:r>
                      <a:endParaRPr lang="en-D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b="1" dirty="0"/>
                        <a:t>21 908.8</a:t>
                      </a:r>
                      <a:endParaRPr lang="en-DE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80889762"/>
                  </a:ext>
                </a:extLst>
              </a:tr>
              <a:tr h="644165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Capacity factor</a:t>
                      </a:r>
                      <a:endParaRPr lang="en-D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%</a:t>
                      </a:r>
                      <a:endParaRPr lang="en-D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1" dirty="0"/>
                        <a:t>50</a:t>
                      </a:r>
                      <a:endParaRPr lang="en-DE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89470395"/>
                  </a:ext>
                </a:extLst>
              </a:tr>
              <a:tr h="644165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Full Load Hours (FLH)</a:t>
                      </a:r>
                      <a:endParaRPr lang="en-D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Hours/year</a:t>
                      </a:r>
                      <a:endParaRPr lang="en-D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1" dirty="0"/>
                        <a:t>4 382</a:t>
                      </a:r>
                      <a:endParaRPr lang="en-DE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17233972"/>
                  </a:ext>
                </a:extLst>
              </a:tr>
              <a:tr h="644165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Average wind speed</a:t>
                      </a:r>
                      <a:endParaRPr lang="en-D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m/s</a:t>
                      </a:r>
                      <a:endParaRPr lang="en-D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8.5</a:t>
                      </a:r>
                      <a:endParaRPr lang="en-DE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94610934"/>
                  </a:ext>
                </a:extLst>
              </a:tr>
              <a:tr h="644165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Curtailment loss</a:t>
                      </a:r>
                      <a:endParaRPr lang="en-D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%</a:t>
                      </a:r>
                      <a:endParaRPr lang="en-D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2.6</a:t>
                      </a:r>
                      <a:endParaRPr lang="en-DE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99973609"/>
                  </a:ext>
                </a:extLst>
              </a:tr>
            </a:tbl>
          </a:graphicData>
        </a:graphic>
      </p:graphicFrame>
      <p:sp>
        <p:nvSpPr>
          <p:cNvPr id="22" name="Datumsplatzhalter 3">
            <a:extLst>
              <a:ext uri="{FF2B5EF4-FFF2-40B4-BE49-F238E27FC236}">
                <a16:creationId xmlns:a16="http://schemas.microsoft.com/office/drawing/2014/main" id="{A4A45788-B973-7336-D245-15F5CC0C940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566803"/>
            <a:ext cx="1111370" cy="365125"/>
          </a:xfrm>
        </p:spPr>
        <p:txBody>
          <a:bodyPr/>
          <a:lstStyle/>
          <a:p>
            <a:fld id="{4FB90975-892A-460D-9B99-2E14471E45A4}" type="datetime1">
              <a:rPr lang="en-GB" noProof="0" smtClean="0">
                <a:solidFill>
                  <a:schemeClr val="bg1"/>
                </a:solidFill>
              </a:rPr>
              <a:t>15/12/2025</a:t>
            </a:fld>
            <a:endParaRPr lang="en-GB" noProof="0" dirty="0">
              <a:solidFill>
                <a:schemeClr val="bg1"/>
              </a:solidFill>
            </a:endParaRPr>
          </a:p>
        </p:txBody>
      </p:sp>
      <p:sp>
        <p:nvSpPr>
          <p:cNvPr id="23" name="Foliennummernplatzhalter 5">
            <a:extLst>
              <a:ext uri="{FF2B5EF4-FFF2-40B4-BE49-F238E27FC236}">
                <a16:creationId xmlns:a16="http://schemas.microsoft.com/office/drawing/2014/main" id="{436B300E-8F92-90AC-E969-996CEAA434B1}"/>
              </a:ext>
            </a:extLst>
          </p:cNvPr>
          <p:cNvSpPr txBox="1">
            <a:spLocks/>
          </p:cNvSpPr>
          <p:nvPr/>
        </p:nvSpPr>
        <p:spPr>
          <a:xfrm>
            <a:off x="1949570" y="6566803"/>
            <a:ext cx="92895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5A6D213-0805-4C3E-849D-17C75FD348C3}" type="slidenum">
              <a:rPr lang="en-GB" smtClean="0">
                <a:solidFill>
                  <a:schemeClr val="bg1"/>
                </a:solidFill>
              </a:rPr>
              <a:pPr/>
              <a:t>4</a:t>
            </a:fld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28" name="Datumsplatzhalter 3">
            <a:extLst>
              <a:ext uri="{FF2B5EF4-FFF2-40B4-BE49-F238E27FC236}">
                <a16:creationId xmlns:a16="http://schemas.microsoft.com/office/drawing/2014/main" id="{C8C24CF7-4259-B285-3CE0-9641B4633385}"/>
              </a:ext>
            </a:extLst>
          </p:cNvPr>
          <p:cNvSpPr txBox="1">
            <a:spLocks/>
          </p:cNvSpPr>
          <p:nvPr/>
        </p:nvSpPr>
        <p:spPr>
          <a:xfrm>
            <a:off x="838200" y="6566803"/>
            <a:ext cx="11113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FB90975-892A-460D-9B99-2E14471E45A4}" type="datetime1">
              <a:rPr lang="en-GB" smtClean="0">
                <a:solidFill>
                  <a:schemeClr val="bg1"/>
                </a:solidFill>
              </a:rPr>
              <a:pPr/>
              <a:t>15/12/2025</a:t>
            </a:fld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29" name="Foliennummernplatzhalter 5">
            <a:extLst>
              <a:ext uri="{FF2B5EF4-FFF2-40B4-BE49-F238E27FC236}">
                <a16:creationId xmlns:a16="http://schemas.microsoft.com/office/drawing/2014/main" id="{68F5ACD4-422F-F321-8AF4-06DF4745AD60}"/>
              </a:ext>
            </a:extLst>
          </p:cNvPr>
          <p:cNvSpPr txBox="1">
            <a:spLocks/>
          </p:cNvSpPr>
          <p:nvPr/>
        </p:nvSpPr>
        <p:spPr>
          <a:xfrm>
            <a:off x="4907766" y="6567436"/>
            <a:ext cx="15702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de-DE">
                <a:solidFill>
                  <a:prstClr val="white"/>
                </a:solidFill>
                <a:latin typeface="Aptos" panose="02110004020202020204"/>
              </a:rPr>
              <a:t>Ahmed Sallam</a:t>
            </a:r>
            <a:endParaRPr lang="de-DE" dirty="0">
              <a:solidFill>
                <a:prstClr val="white"/>
              </a:solidFill>
              <a:latin typeface="Aptos" panose="02110004020202020204"/>
            </a:endParaRPr>
          </a:p>
        </p:txBody>
      </p:sp>
      <p:sp>
        <p:nvSpPr>
          <p:cNvPr id="30" name="Fußzeilenplatzhalter 4">
            <a:extLst>
              <a:ext uri="{FF2B5EF4-FFF2-40B4-BE49-F238E27FC236}">
                <a16:creationId xmlns:a16="http://schemas.microsoft.com/office/drawing/2014/main" id="{55F54B4F-C974-C26E-036D-E9FBC3BF8D80}"/>
              </a:ext>
            </a:extLst>
          </p:cNvPr>
          <p:cNvSpPr txBox="1">
            <a:spLocks/>
          </p:cNvSpPr>
          <p:nvPr/>
        </p:nvSpPr>
        <p:spPr>
          <a:xfrm>
            <a:off x="8474613" y="6566803"/>
            <a:ext cx="28791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de-DE">
                <a:solidFill>
                  <a:prstClr val="white"/>
                </a:solidFill>
                <a:latin typeface="Aptos" panose="02110004020202020204"/>
              </a:rPr>
              <a:t>Project Development / Optimus Syria</a:t>
            </a:r>
            <a:endParaRPr lang="de-DE" dirty="0">
              <a:solidFill>
                <a:prstClr val="white"/>
              </a:solidFill>
              <a:latin typeface="Aptos" panose="02110004020202020204"/>
            </a:endParaRPr>
          </a:p>
        </p:txBody>
      </p:sp>
      <p:sp>
        <p:nvSpPr>
          <p:cNvPr id="31" name="Foliennummernplatzhalter 5">
            <a:extLst>
              <a:ext uri="{FF2B5EF4-FFF2-40B4-BE49-F238E27FC236}">
                <a16:creationId xmlns:a16="http://schemas.microsoft.com/office/drawing/2014/main" id="{239E461A-9D97-8EDE-32EB-0A012487C7A0}"/>
              </a:ext>
            </a:extLst>
          </p:cNvPr>
          <p:cNvSpPr txBox="1">
            <a:spLocks/>
          </p:cNvSpPr>
          <p:nvPr/>
        </p:nvSpPr>
        <p:spPr>
          <a:xfrm>
            <a:off x="1949570" y="6569493"/>
            <a:ext cx="92895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5A6D213-0805-4C3E-849D-17C75FD348C3}" type="slidenum">
              <a:rPr lang="en-GB" smtClean="0">
                <a:solidFill>
                  <a:schemeClr val="bg1"/>
                </a:solidFill>
              </a:rPr>
              <a:pPr/>
              <a:t>4</a:t>
            </a:fld>
            <a:endParaRPr lang="en-GB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89398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6A1673-C806-16FF-C047-6A3A62BA73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>
            <a:extLst>
              <a:ext uri="{FF2B5EF4-FFF2-40B4-BE49-F238E27FC236}">
                <a16:creationId xmlns:a16="http://schemas.microsoft.com/office/drawing/2014/main" id="{4B4220DB-ABED-BB7E-C689-63ED759C85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01524"/>
            <a:ext cx="9896168" cy="573273"/>
          </a:xfrm>
        </p:spPr>
        <p:txBody>
          <a:bodyPr>
            <a:normAutofit/>
          </a:bodyPr>
          <a:lstStyle/>
          <a:p>
            <a:r>
              <a:rPr lang="en-US" sz="3200" dirty="0"/>
              <a:t>Initial price contributions </a:t>
            </a:r>
            <a:endParaRPr lang="LID4096" sz="320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97CDDA4-CAF1-6B99-9CD2-DE8D91163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Project Development / Optimus Syria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54E5387-0264-DBE7-B9F4-72DC5ACFA2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907766" y="6564746"/>
            <a:ext cx="1570221" cy="36512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dirty="0">
                <a:solidFill>
                  <a:prstClr val="white"/>
                </a:solidFill>
                <a:latin typeface="Aptos" panose="02110004020202020204"/>
              </a:rPr>
              <a:t>Ahmed Sallam</a:t>
            </a:r>
            <a:endParaRPr kumimoji="0" lang="de-DE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12" name="Picture 11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D251D2D4-65F7-E6CB-EFE2-690105D866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475561"/>
            <a:ext cx="12192000" cy="5053691"/>
          </a:xfrm>
          <a:prstGeom prst="rect">
            <a:avLst/>
          </a:prstGeom>
        </p:spPr>
      </p:pic>
      <p:sp>
        <p:nvSpPr>
          <p:cNvPr id="3" name="Oval 2">
            <a:extLst>
              <a:ext uri="{FF2B5EF4-FFF2-40B4-BE49-F238E27FC236}">
                <a16:creationId xmlns:a16="http://schemas.microsoft.com/office/drawing/2014/main" id="{28A7E3DF-3F83-D7BF-DECD-DAE1B7B4AFDD}"/>
              </a:ext>
            </a:extLst>
          </p:cNvPr>
          <p:cNvSpPr/>
          <p:nvPr/>
        </p:nvSpPr>
        <p:spPr>
          <a:xfrm>
            <a:off x="7895303" y="2802194"/>
            <a:ext cx="481781" cy="226141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DDF5CEE9-C598-EC65-5019-5BA06F47D8CE}"/>
              </a:ext>
            </a:extLst>
          </p:cNvPr>
          <p:cNvCxnSpPr>
            <a:cxnSpLocks/>
          </p:cNvCxnSpPr>
          <p:nvPr/>
        </p:nvCxnSpPr>
        <p:spPr>
          <a:xfrm flipH="1">
            <a:off x="8377084" y="2251587"/>
            <a:ext cx="521110" cy="550607"/>
          </a:xfrm>
          <a:prstGeom prst="straightConnector1">
            <a:avLst/>
          </a:prstGeom>
          <a:ln w="3492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363922DB-1ECE-6015-8EDE-F42B1A1A1AA6}"/>
              </a:ext>
            </a:extLst>
          </p:cNvPr>
          <p:cNvSpPr/>
          <p:nvPr/>
        </p:nvSpPr>
        <p:spPr>
          <a:xfrm>
            <a:off x="2487561" y="4395019"/>
            <a:ext cx="914400" cy="265471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9903BCA-94C9-6616-9BEA-70027D93579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566803"/>
            <a:ext cx="1111370" cy="365125"/>
          </a:xfrm>
        </p:spPr>
        <p:txBody>
          <a:bodyPr/>
          <a:lstStyle/>
          <a:p>
            <a:fld id="{4FB90975-892A-460D-9B99-2E14471E45A4}" type="datetime1">
              <a:rPr lang="en-GB" noProof="0" smtClean="0">
                <a:solidFill>
                  <a:schemeClr val="bg1"/>
                </a:solidFill>
              </a:rPr>
              <a:t>15/12/2025</a:t>
            </a:fld>
            <a:endParaRPr lang="en-GB" noProof="0" dirty="0">
              <a:solidFill>
                <a:schemeClr val="bg1"/>
              </a:solidFill>
            </a:endParaRPr>
          </a:p>
        </p:txBody>
      </p:sp>
      <p:sp>
        <p:nvSpPr>
          <p:cNvPr id="9" name="Foliennummernplatzhalter 5">
            <a:extLst>
              <a:ext uri="{FF2B5EF4-FFF2-40B4-BE49-F238E27FC236}">
                <a16:creationId xmlns:a16="http://schemas.microsoft.com/office/drawing/2014/main" id="{7DA41955-58D1-0818-2556-A1947C74A916}"/>
              </a:ext>
            </a:extLst>
          </p:cNvPr>
          <p:cNvSpPr txBox="1">
            <a:spLocks/>
          </p:cNvSpPr>
          <p:nvPr/>
        </p:nvSpPr>
        <p:spPr>
          <a:xfrm>
            <a:off x="1949570" y="6566803"/>
            <a:ext cx="92895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5A6D213-0805-4C3E-849D-17C75FD348C3}" type="slidenum">
              <a:rPr lang="en-GB" smtClean="0">
                <a:solidFill>
                  <a:schemeClr val="bg1"/>
                </a:solidFill>
              </a:rPr>
              <a:pPr/>
              <a:t>5</a:t>
            </a:fld>
            <a:endParaRPr lang="en-GB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630657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01853C-2D3A-85E9-BAEE-AE0FD97305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-form: Shape 13">
            <a:extLst>
              <a:ext uri="{FF2B5EF4-FFF2-40B4-BE49-F238E27FC236}">
                <a16:creationId xmlns:a16="http://schemas.microsoft.com/office/drawing/2014/main" id="{678CE47D-F523-067D-3DDA-C7CAD5BE4472}"/>
              </a:ext>
            </a:extLst>
          </p:cNvPr>
          <p:cNvSpPr/>
          <p:nvPr/>
        </p:nvSpPr>
        <p:spPr>
          <a:xfrm rot="10800000">
            <a:off x="16530" y="260090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0" name="Free-form: Shape 13">
            <a:extLst>
              <a:ext uri="{FF2B5EF4-FFF2-40B4-BE49-F238E27FC236}">
                <a16:creationId xmlns:a16="http://schemas.microsoft.com/office/drawing/2014/main" id="{7326A9D7-E377-F2EB-2473-15EEB6F09593}"/>
              </a:ext>
            </a:extLst>
          </p:cNvPr>
          <p:cNvSpPr/>
          <p:nvPr/>
        </p:nvSpPr>
        <p:spPr>
          <a:xfrm rot="10800000">
            <a:off x="16530" y="-4891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Free-form: Shape 13">
            <a:extLst>
              <a:ext uri="{FF2B5EF4-FFF2-40B4-BE49-F238E27FC236}">
                <a16:creationId xmlns:a16="http://schemas.microsoft.com/office/drawing/2014/main" id="{81617261-DAB0-0842-3E61-29707826E19A}"/>
              </a:ext>
            </a:extLst>
          </p:cNvPr>
          <p:cNvSpPr/>
          <p:nvPr/>
        </p:nvSpPr>
        <p:spPr>
          <a:xfrm rot="10800000">
            <a:off x="-26376" y="-237829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7A5CF224-45D0-914A-1CAC-A01CDC4A0C23}"/>
              </a:ext>
            </a:extLst>
          </p:cNvPr>
          <p:cNvSpPr/>
          <p:nvPr/>
        </p:nvSpPr>
        <p:spPr>
          <a:xfrm>
            <a:off x="-7747" y="6538183"/>
            <a:ext cx="12207494" cy="319817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8D74410-48CC-3922-30ED-0CE92203FDA0}"/>
              </a:ext>
            </a:extLst>
          </p:cNvPr>
          <p:cNvCxnSpPr/>
          <p:nvPr/>
        </p:nvCxnSpPr>
        <p:spPr>
          <a:xfrm>
            <a:off x="484418" y="1171879"/>
            <a:ext cx="11218984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itle 6">
            <a:extLst>
              <a:ext uri="{FF2B5EF4-FFF2-40B4-BE49-F238E27FC236}">
                <a16:creationId xmlns:a16="http://schemas.microsoft.com/office/drawing/2014/main" id="{39ED3F44-6F4F-569A-B781-E875986A9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6269" y="311031"/>
            <a:ext cx="10515600" cy="1325563"/>
          </a:xfrm>
        </p:spPr>
        <p:txBody>
          <a:bodyPr>
            <a:normAutofit/>
          </a:bodyPr>
          <a:lstStyle/>
          <a:p>
            <a:r>
              <a:rPr lang="en-US" sz="2800" dirty="0"/>
              <a:t>Update the wind turbine Capex cost </a:t>
            </a:r>
            <a:endParaRPr lang="LID4096" sz="2800" dirty="0"/>
          </a:p>
        </p:txBody>
      </p:sp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0E65A37-9161-C10C-18BA-60B8419B04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43133"/>
            <a:ext cx="12181118" cy="5336923"/>
          </a:xfrm>
          <a:prstGeom prst="rect">
            <a:avLst/>
          </a:prstGeom>
          <a:noFill/>
        </p:spPr>
      </p:pic>
      <p:sp>
        <p:nvSpPr>
          <p:cNvPr id="14" name="Oval 13">
            <a:extLst>
              <a:ext uri="{FF2B5EF4-FFF2-40B4-BE49-F238E27FC236}">
                <a16:creationId xmlns:a16="http://schemas.microsoft.com/office/drawing/2014/main" id="{4527920B-8445-E8A9-D25D-0968E7109549}"/>
              </a:ext>
            </a:extLst>
          </p:cNvPr>
          <p:cNvSpPr/>
          <p:nvPr/>
        </p:nvSpPr>
        <p:spPr>
          <a:xfrm>
            <a:off x="10156723" y="5860026"/>
            <a:ext cx="639096" cy="246601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B662C065-39BA-686B-830D-C3C698692143}"/>
              </a:ext>
            </a:extLst>
          </p:cNvPr>
          <p:cNvCxnSpPr/>
          <p:nvPr/>
        </p:nvCxnSpPr>
        <p:spPr>
          <a:xfrm flipH="1">
            <a:off x="10874477" y="5860026"/>
            <a:ext cx="924233" cy="117987"/>
          </a:xfrm>
          <a:prstGeom prst="straightConnector1">
            <a:avLst/>
          </a:prstGeom>
          <a:ln w="412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2F08626C-79B8-CBC5-9B28-75567A2FE74D}"/>
              </a:ext>
            </a:extLst>
          </p:cNvPr>
          <p:cNvSpPr/>
          <p:nvPr/>
        </p:nvSpPr>
        <p:spPr>
          <a:xfrm>
            <a:off x="8986683" y="6249945"/>
            <a:ext cx="1821613" cy="330111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6C7DEE3-1318-570B-A57A-1B137B33E991}"/>
              </a:ext>
            </a:extLst>
          </p:cNvPr>
          <p:cNvSpPr/>
          <p:nvPr/>
        </p:nvSpPr>
        <p:spPr>
          <a:xfrm>
            <a:off x="9052864" y="6249945"/>
            <a:ext cx="1821613" cy="27527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462EC0DE-D86B-96F3-BE91-F6322F8831F7}"/>
              </a:ext>
            </a:extLst>
          </p:cNvPr>
          <p:cNvSpPr/>
          <p:nvPr/>
        </p:nvSpPr>
        <p:spPr>
          <a:xfrm>
            <a:off x="3611040" y="2196764"/>
            <a:ext cx="563056" cy="319817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B06B4075-2A75-E308-D492-CD93F5D3C090}"/>
              </a:ext>
            </a:extLst>
          </p:cNvPr>
          <p:cNvSpPr/>
          <p:nvPr/>
        </p:nvSpPr>
        <p:spPr>
          <a:xfrm>
            <a:off x="1977850" y="2196764"/>
            <a:ext cx="563056" cy="319817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8D147325-25FC-69AB-981D-8196795DB2C7}"/>
              </a:ext>
            </a:extLst>
          </p:cNvPr>
          <p:cNvSpPr/>
          <p:nvPr/>
        </p:nvSpPr>
        <p:spPr>
          <a:xfrm>
            <a:off x="6667837" y="2220599"/>
            <a:ext cx="563056" cy="319817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3BE85ACA-EA74-6E3F-4CE0-019D9776BAD1}"/>
              </a:ext>
            </a:extLst>
          </p:cNvPr>
          <p:cNvSpPr/>
          <p:nvPr/>
        </p:nvSpPr>
        <p:spPr>
          <a:xfrm>
            <a:off x="8585128" y="2200934"/>
            <a:ext cx="563056" cy="319817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CEEF3845-0923-B5A6-8242-AE6DBE60A84E}"/>
              </a:ext>
            </a:extLst>
          </p:cNvPr>
          <p:cNvSpPr/>
          <p:nvPr/>
        </p:nvSpPr>
        <p:spPr>
          <a:xfrm>
            <a:off x="10964534" y="2961102"/>
            <a:ext cx="563056" cy="319817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D9412463-15EC-0F7A-1041-0880B14C1B48}"/>
              </a:ext>
            </a:extLst>
          </p:cNvPr>
          <p:cNvSpPr/>
          <p:nvPr/>
        </p:nvSpPr>
        <p:spPr>
          <a:xfrm>
            <a:off x="7444586" y="4424974"/>
            <a:ext cx="563056" cy="319817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180301D4-7C10-C1F1-9A41-1542D445BA59}"/>
              </a:ext>
            </a:extLst>
          </p:cNvPr>
          <p:cNvSpPr/>
          <p:nvPr/>
        </p:nvSpPr>
        <p:spPr>
          <a:xfrm>
            <a:off x="3611040" y="4424974"/>
            <a:ext cx="563056" cy="319817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09E5B1F1-C74B-8B9D-966D-23F403586620}"/>
              </a:ext>
            </a:extLst>
          </p:cNvPr>
          <p:cNvSpPr/>
          <p:nvPr/>
        </p:nvSpPr>
        <p:spPr>
          <a:xfrm>
            <a:off x="3648758" y="6214196"/>
            <a:ext cx="563056" cy="319817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75965894-99EA-2878-CCC9-670ED7FFEBB7}"/>
              </a:ext>
            </a:extLst>
          </p:cNvPr>
          <p:cNvSpPr/>
          <p:nvPr/>
        </p:nvSpPr>
        <p:spPr>
          <a:xfrm>
            <a:off x="7398514" y="6203676"/>
            <a:ext cx="563056" cy="319817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690CC7A-03D3-510B-A195-62649C7A01C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566803"/>
            <a:ext cx="1111370" cy="365125"/>
          </a:xfrm>
        </p:spPr>
        <p:txBody>
          <a:bodyPr/>
          <a:lstStyle/>
          <a:p>
            <a:fld id="{4FB90975-892A-460D-9B99-2E14471E45A4}" type="datetime1">
              <a:rPr lang="en-GB" noProof="0" smtClean="0">
                <a:solidFill>
                  <a:schemeClr val="bg1"/>
                </a:solidFill>
              </a:rPr>
              <a:t>15/12/2025</a:t>
            </a:fld>
            <a:endParaRPr lang="en-GB" noProof="0" dirty="0">
              <a:solidFill>
                <a:schemeClr val="bg1"/>
              </a:solidFill>
            </a:endParaRPr>
          </a:p>
        </p:txBody>
      </p:sp>
      <p:sp>
        <p:nvSpPr>
          <p:cNvPr id="12" name="Foliennummernplatzhalter 5">
            <a:extLst>
              <a:ext uri="{FF2B5EF4-FFF2-40B4-BE49-F238E27FC236}">
                <a16:creationId xmlns:a16="http://schemas.microsoft.com/office/drawing/2014/main" id="{10CF784F-05E0-0E40-D962-7217A63108B1}"/>
              </a:ext>
            </a:extLst>
          </p:cNvPr>
          <p:cNvSpPr txBox="1">
            <a:spLocks/>
          </p:cNvSpPr>
          <p:nvPr/>
        </p:nvSpPr>
        <p:spPr>
          <a:xfrm>
            <a:off x="4907766" y="6567436"/>
            <a:ext cx="15702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de-DE">
                <a:solidFill>
                  <a:prstClr val="white"/>
                </a:solidFill>
                <a:latin typeface="Aptos" panose="02110004020202020204"/>
              </a:rPr>
              <a:t>Ahmed Sallam</a:t>
            </a:r>
            <a:endParaRPr lang="de-DE" dirty="0">
              <a:solidFill>
                <a:prstClr val="white"/>
              </a:solidFill>
              <a:latin typeface="Aptos" panose="02110004020202020204"/>
            </a:endParaRPr>
          </a:p>
        </p:txBody>
      </p:sp>
      <p:sp>
        <p:nvSpPr>
          <p:cNvPr id="13" name="Fußzeilenplatzhalter 4">
            <a:extLst>
              <a:ext uri="{FF2B5EF4-FFF2-40B4-BE49-F238E27FC236}">
                <a16:creationId xmlns:a16="http://schemas.microsoft.com/office/drawing/2014/main" id="{CB65D358-DF8F-401B-F967-159146236135}"/>
              </a:ext>
            </a:extLst>
          </p:cNvPr>
          <p:cNvSpPr txBox="1">
            <a:spLocks/>
          </p:cNvSpPr>
          <p:nvPr/>
        </p:nvSpPr>
        <p:spPr>
          <a:xfrm>
            <a:off x="8474613" y="6566803"/>
            <a:ext cx="28791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de-DE">
                <a:solidFill>
                  <a:prstClr val="white"/>
                </a:solidFill>
                <a:latin typeface="Aptos" panose="02110004020202020204"/>
              </a:rPr>
              <a:t>Project Development / Optimus Syria</a:t>
            </a:r>
            <a:endParaRPr lang="de-DE" dirty="0">
              <a:solidFill>
                <a:prstClr val="white"/>
              </a:solidFill>
              <a:latin typeface="Aptos" panose="02110004020202020204"/>
            </a:endParaRPr>
          </a:p>
        </p:txBody>
      </p:sp>
      <p:sp>
        <p:nvSpPr>
          <p:cNvPr id="15" name="Foliennummernplatzhalter 5">
            <a:extLst>
              <a:ext uri="{FF2B5EF4-FFF2-40B4-BE49-F238E27FC236}">
                <a16:creationId xmlns:a16="http://schemas.microsoft.com/office/drawing/2014/main" id="{D400C556-E696-6DE7-C87D-01987E37C89E}"/>
              </a:ext>
            </a:extLst>
          </p:cNvPr>
          <p:cNvSpPr txBox="1">
            <a:spLocks/>
          </p:cNvSpPr>
          <p:nvPr/>
        </p:nvSpPr>
        <p:spPr>
          <a:xfrm>
            <a:off x="1949570" y="6569493"/>
            <a:ext cx="92895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5A6D213-0805-4C3E-849D-17C75FD348C3}" type="slidenum">
              <a:rPr lang="en-GB" smtClean="0">
                <a:solidFill>
                  <a:schemeClr val="bg1"/>
                </a:solidFill>
              </a:rPr>
              <a:pPr/>
              <a:t>6</a:t>
            </a:fld>
            <a:endParaRPr lang="en-GB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7182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21" grpId="0" animBg="1"/>
      <p:bldP spid="22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3" grpId="0" animBg="1"/>
      <p:bldP spid="3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E6CEDA-6973-B80F-4EA3-1892DD870D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Finalize the cost analysis</a:t>
            </a:r>
            <a:endParaRPr lang="LID4096" sz="3200" dirty="0"/>
          </a:p>
        </p:txBody>
      </p:sp>
      <p:sp>
        <p:nvSpPr>
          <p:cNvPr id="10" name="Foliennummernplatzhalter 5">
            <a:extLst>
              <a:ext uri="{FF2B5EF4-FFF2-40B4-BE49-F238E27FC236}">
                <a16:creationId xmlns:a16="http://schemas.microsoft.com/office/drawing/2014/main" id="{B53532CD-0762-37DE-2E79-7B7341D124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907766" y="6564746"/>
            <a:ext cx="1570221" cy="36512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dirty="0">
                <a:solidFill>
                  <a:prstClr val="white"/>
                </a:solidFill>
                <a:latin typeface="Aptos" panose="02110004020202020204"/>
              </a:rPr>
              <a:t>Ahmed Sallam</a:t>
            </a:r>
            <a:endParaRPr kumimoji="0" lang="de-DE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1" name="Fußzeilenplatzhalter 4">
            <a:extLst>
              <a:ext uri="{FF2B5EF4-FFF2-40B4-BE49-F238E27FC236}">
                <a16:creationId xmlns:a16="http://schemas.microsoft.com/office/drawing/2014/main" id="{01774174-16A2-E26D-91E0-F4888FD3C7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74613" y="6564113"/>
            <a:ext cx="2879187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Project Development / Optimus Syria</a:t>
            </a:r>
          </a:p>
        </p:txBody>
      </p:sp>
      <p:pic>
        <p:nvPicPr>
          <p:cNvPr id="17" name="Picture 16" descr="A close-up of a graph&#10;&#10;AI-generated content may be incorrect.">
            <a:extLst>
              <a:ext uri="{FF2B5EF4-FFF2-40B4-BE49-F238E27FC236}">
                <a16:creationId xmlns:a16="http://schemas.microsoft.com/office/drawing/2014/main" id="{AD5193E5-B2E6-8D78-DF73-65A9DA8A41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43821"/>
            <a:ext cx="12054347" cy="4601497"/>
          </a:xfrm>
          <a:prstGeom prst="rect">
            <a:avLst/>
          </a:prstGeom>
        </p:spPr>
      </p:pic>
      <p:pic>
        <p:nvPicPr>
          <p:cNvPr id="15" name="Picture 1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1B93344-6AFF-0B45-5248-3B466718E28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5403"/>
          <a:stretch>
            <a:fillRect/>
          </a:stretch>
        </p:blipFill>
        <p:spPr>
          <a:xfrm>
            <a:off x="7098890" y="4332954"/>
            <a:ext cx="4955457" cy="2159921"/>
          </a:xfrm>
          <a:prstGeom prst="rect">
            <a:avLst/>
          </a:prstGeom>
        </p:spPr>
      </p:pic>
      <p:sp>
        <p:nvSpPr>
          <p:cNvPr id="3" name="Oval 2">
            <a:extLst>
              <a:ext uri="{FF2B5EF4-FFF2-40B4-BE49-F238E27FC236}">
                <a16:creationId xmlns:a16="http://schemas.microsoft.com/office/drawing/2014/main" id="{71F08498-A337-013B-68B3-48E0A4C14A18}"/>
              </a:ext>
            </a:extLst>
          </p:cNvPr>
          <p:cNvSpPr/>
          <p:nvPr/>
        </p:nvSpPr>
        <p:spPr>
          <a:xfrm>
            <a:off x="1253511" y="3609641"/>
            <a:ext cx="322566" cy="17272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E01CFEEB-6E84-C6B9-84C2-04D9315B4EB6}"/>
              </a:ext>
            </a:extLst>
          </p:cNvPr>
          <p:cNvCxnSpPr/>
          <p:nvPr/>
        </p:nvCxnSpPr>
        <p:spPr>
          <a:xfrm flipH="1">
            <a:off x="1576077" y="3119120"/>
            <a:ext cx="283203" cy="457200"/>
          </a:xfrm>
          <a:prstGeom prst="straightConnector1">
            <a:avLst/>
          </a:prstGeom>
          <a:ln w="254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5D78CBD-9040-4A5A-8144-A593532EE45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566803"/>
            <a:ext cx="1111370" cy="365125"/>
          </a:xfrm>
        </p:spPr>
        <p:txBody>
          <a:bodyPr/>
          <a:lstStyle/>
          <a:p>
            <a:fld id="{4FB90975-892A-460D-9B99-2E14471E45A4}" type="datetime1">
              <a:rPr lang="en-GB" noProof="0" smtClean="0">
                <a:solidFill>
                  <a:schemeClr val="bg1"/>
                </a:solidFill>
              </a:rPr>
              <a:t>15/12/2025</a:t>
            </a:fld>
            <a:endParaRPr lang="en-GB" noProof="0" dirty="0">
              <a:solidFill>
                <a:schemeClr val="bg1"/>
              </a:solidFill>
            </a:endParaRP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1CDE082-4C17-BD35-69F1-DE97E293540D}"/>
              </a:ext>
            </a:extLst>
          </p:cNvPr>
          <p:cNvSpPr txBox="1">
            <a:spLocks/>
          </p:cNvSpPr>
          <p:nvPr/>
        </p:nvSpPr>
        <p:spPr>
          <a:xfrm>
            <a:off x="1949570" y="6566803"/>
            <a:ext cx="92895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5A6D213-0805-4C3E-849D-17C75FD348C3}" type="slidenum">
              <a:rPr lang="en-GB" smtClean="0">
                <a:solidFill>
                  <a:schemeClr val="bg1"/>
                </a:solidFill>
              </a:rPr>
              <a:pPr/>
              <a:t>7</a:t>
            </a:fld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7" name="Foliennummernplatzhalter 5">
            <a:extLst>
              <a:ext uri="{FF2B5EF4-FFF2-40B4-BE49-F238E27FC236}">
                <a16:creationId xmlns:a16="http://schemas.microsoft.com/office/drawing/2014/main" id="{2B51B22C-4BE0-99AC-8A06-B5184591991D}"/>
              </a:ext>
            </a:extLst>
          </p:cNvPr>
          <p:cNvSpPr txBox="1">
            <a:spLocks/>
          </p:cNvSpPr>
          <p:nvPr/>
        </p:nvSpPr>
        <p:spPr>
          <a:xfrm>
            <a:off x="4907766" y="6567436"/>
            <a:ext cx="15702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de-DE">
                <a:solidFill>
                  <a:prstClr val="white"/>
                </a:solidFill>
                <a:latin typeface="Aptos" panose="02110004020202020204"/>
              </a:rPr>
              <a:t>Ahmed Sallam</a:t>
            </a:r>
            <a:endParaRPr lang="de-DE" dirty="0">
              <a:solidFill>
                <a:prstClr val="white"/>
              </a:solidFill>
              <a:latin typeface="Aptos" panose="02110004020202020204"/>
            </a:endParaRPr>
          </a:p>
        </p:txBody>
      </p:sp>
      <p:sp>
        <p:nvSpPr>
          <p:cNvPr id="8" name="Fußzeilenplatzhalter 4">
            <a:extLst>
              <a:ext uri="{FF2B5EF4-FFF2-40B4-BE49-F238E27FC236}">
                <a16:creationId xmlns:a16="http://schemas.microsoft.com/office/drawing/2014/main" id="{DAE1C431-09A6-AAA0-D3C9-2DE0C3387142}"/>
              </a:ext>
            </a:extLst>
          </p:cNvPr>
          <p:cNvSpPr txBox="1">
            <a:spLocks/>
          </p:cNvSpPr>
          <p:nvPr/>
        </p:nvSpPr>
        <p:spPr>
          <a:xfrm>
            <a:off x="8474613" y="6566803"/>
            <a:ext cx="28791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de-DE">
                <a:solidFill>
                  <a:prstClr val="white"/>
                </a:solidFill>
                <a:latin typeface="Aptos" panose="02110004020202020204"/>
              </a:rPr>
              <a:t>Project Development / Optimus Syria</a:t>
            </a:r>
            <a:endParaRPr lang="de-DE" dirty="0">
              <a:solidFill>
                <a:prstClr val="white"/>
              </a:solidFill>
              <a:latin typeface="Aptos" panose="02110004020202020204"/>
            </a:endParaRPr>
          </a:p>
        </p:txBody>
      </p:sp>
      <p:sp>
        <p:nvSpPr>
          <p:cNvPr id="12" name="Foliennummernplatzhalter 5">
            <a:extLst>
              <a:ext uri="{FF2B5EF4-FFF2-40B4-BE49-F238E27FC236}">
                <a16:creationId xmlns:a16="http://schemas.microsoft.com/office/drawing/2014/main" id="{3E1149E1-7A38-1C91-748C-A1E1D16C2E31}"/>
              </a:ext>
            </a:extLst>
          </p:cNvPr>
          <p:cNvSpPr txBox="1">
            <a:spLocks/>
          </p:cNvSpPr>
          <p:nvPr/>
        </p:nvSpPr>
        <p:spPr>
          <a:xfrm>
            <a:off x="1949570" y="6569493"/>
            <a:ext cx="92895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5A6D213-0805-4C3E-849D-17C75FD348C3}" type="slidenum">
              <a:rPr lang="en-GB" smtClean="0">
                <a:solidFill>
                  <a:schemeClr val="bg1"/>
                </a:solidFill>
              </a:rPr>
              <a:pPr/>
              <a:t>7</a:t>
            </a:fld>
            <a:endParaRPr lang="en-GB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569574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ußzeilenplatzhalter 4">
            <a:extLst>
              <a:ext uri="{FF2B5EF4-FFF2-40B4-BE49-F238E27FC236}">
                <a16:creationId xmlns:a16="http://schemas.microsoft.com/office/drawing/2014/main" id="{D6B6DE25-FF62-3573-A3B1-1B685753A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74613" y="6564113"/>
            <a:ext cx="2879187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Project Development / Optimus Syria</a:t>
            </a:r>
          </a:p>
        </p:txBody>
      </p:sp>
      <p:sp>
        <p:nvSpPr>
          <p:cNvPr id="10" name="Foliennummernplatzhalter 5">
            <a:extLst>
              <a:ext uri="{FF2B5EF4-FFF2-40B4-BE49-F238E27FC236}">
                <a16:creationId xmlns:a16="http://schemas.microsoft.com/office/drawing/2014/main" id="{624B1FB4-D4D9-2B01-D75A-821963FC3B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907766" y="6564746"/>
            <a:ext cx="1570221" cy="36512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dirty="0">
                <a:solidFill>
                  <a:prstClr val="white"/>
                </a:solidFill>
                <a:latin typeface="Aptos" panose="02110004020202020204"/>
              </a:rPr>
              <a:t>Ahmed Sallam</a:t>
            </a:r>
            <a:endParaRPr kumimoji="0" lang="de-DE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2" name="Titel 6">
            <a:extLst>
              <a:ext uri="{FF2B5EF4-FFF2-40B4-BE49-F238E27FC236}">
                <a16:creationId xmlns:a16="http://schemas.microsoft.com/office/drawing/2014/main" id="{4CC86B38-F79F-7278-9404-1A8591D55E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555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3200" dirty="0"/>
              <a:t>Optimization  of feasibility study </a:t>
            </a:r>
            <a:endParaRPr lang="LID4096" sz="3200" dirty="0"/>
          </a:p>
        </p:txBody>
      </p:sp>
      <p:pic>
        <p:nvPicPr>
          <p:cNvPr id="7" name="Picture 6" descr="A screenshot of a spreadsheet&#10;&#10;AI-generated content may be incorrect.">
            <a:extLst>
              <a:ext uri="{FF2B5EF4-FFF2-40B4-BE49-F238E27FC236}">
                <a16:creationId xmlns:a16="http://schemas.microsoft.com/office/drawing/2014/main" id="{5EBA9708-9FB8-17E7-0792-139507A57C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59840"/>
            <a:ext cx="8662219" cy="5269412"/>
          </a:xfrm>
          <a:prstGeom prst="rect">
            <a:avLst/>
          </a:prstGeom>
        </p:spPr>
      </p:pic>
      <p:pic>
        <p:nvPicPr>
          <p:cNvPr id="13" name="Picture 12" descr="A pie chart with numbers and symbols&#10;&#10;AI-generated content may be incorrect.">
            <a:extLst>
              <a:ext uri="{FF2B5EF4-FFF2-40B4-BE49-F238E27FC236}">
                <a16:creationId xmlns:a16="http://schemas.microsoft.com/office/drawing/2014/main" id="{530856F9-2911-DCA1-9B8F-90090A8B440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563"/>
          <a:stretch>
            <a:fillRect/>
          </a:stretch>
        </p:blipFill>
        <p:spPr>
          <a:xfrm>
            <a:off x="7735447" y="2057400"/>
            <a:ext cx="4145280" cy="321392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E434D53-A459-083B-F100-A76B290156BD}"/>
              </a:ext>
            </a:extLst>
          </p:cNvPr>
          <p:cNvSpPr txBox="1"/>
          <p:nvPr/>
        </p:nvSpPr>
        <p:spPr>
          <a:xfrm>
            <a:off x="9075404" y="6215876"/>
            <a:ext cx="13106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200" dirty="0"/>
              <a:t>Scan me </a:t>
            </a:r>
            <a:endParaRPr lang="LID4096" sz="1200" dirty="0"/>
          </a:p>
        </p:txBody>
      </p:sp>
      <p:pic>
        <p:nvPicPr>
          <p:cNvPr id="5" name="Picture 4" descr="A qr code with a colorful letter&#10;&#10;AI-generated content may be incorrect.">
            <a:extLst>
              <a:ext uri="{FF2B5EF4-FFF2-40B4-BE49-F238E27FC236}">
                <a16:creationId xmlns:a16="http://schemas.microsoft.com/office/drawing/2014/main" id="{AB2F7602-C30C-D572-5BD6-9DA4ECC26F8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88006" y="5306182"/>
            <a:ext cx="926200" cy="926200"/>
          </a:xfrm>
          <a:prstGeom prst="rect">
            <a:avLst/>
          </a:prstGeom>
        </p:spPr>
      </p:pic>
      <p:sp>
        <p:nvSpPr>
          <p:cNvPr id="2" name="Datumsplatzhalter 3">
            <a:extLst>
              <a:ext uri="{FF2B5EF4-FFF2-40B4-BE49-F238E27FC236}">
                <a16:creationId xmlns:a16="http://schemas.microsoft.com/office/drawing/2014/main" id="{B7AE797C-B848-3E55-CF8A-5567E38F32F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566803"/>
            <a:ext cx="1111370" cy="365125"/>
          </a:xfrm>
        </p:spPr>
        <p:txBody>
          <a:bodyPr/>
          <a:lstStyle/>
          <a:p>
            <a:fld id="{4FB90975-892A-460D-9B99-2E14471E45A4}" type="datetime1">
              <a:rPr lang="en-GB" noProof="0" smtClean="0">
                <a:solidFill>
                  <a:schemeClr val="bg1"/>
                </a:solidFill>
              </a:rPr>
              <a:t>15/12/2025</a:t>
            </a:fld>
            <a:endParaRPr lang="en-GB" noProof="0" dirty="0">
              <a:solidFill>
                <a:schemeClr val="bg1"/>
              </a:solidFill>
            </a:endParaRPr>
          </a:p>
        </p:txBody>
      </p:sp>
      <p:sp>
        <p:nvSpPr>
          <p:cNvPr id="3" name="Foliennummernplatzhalter 5">
            <a:extLst>
              <a:ext uri="{FF2B5EF4-FFF2-40B4-BE49-F238E27FC236}">
                <a16:creationId xmlns:a16="http://schemas.microsoft.com/office/drawing/2014/main" id="{D9E8E53E-339F-AC3A-9E03-F50DEBC51650}"/>
              </a:ext>
            </a:extLst>
          </p:cNvPr>
          <p:cNvSpPr txBox="1">
            <a:spLocks/>
          </p:cNvSpPr>
          <p:nvPr/>
        </p:nvSpPr>
        <p:spPr>
          <a:xfrm>
            <a:off x="1949570" y="6566803"/>
            <a:ext cx="92895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5A6D213-0805-4C3E-849D-17C75FD348C3}" type="slidenum">
              <a:rPr lang="en-GB" smtClean="0">
                <a:solidFill>
                  <a:schemeClr val="bg1"/>
                </a:solidFill>
              </a:rPr>
              <a:pPr/>
              <a:t>8</a:t>
            </a:fld>
            <a:endParaRPr lang="en-GB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535256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91E2FB-0D2E-5CB7-A7E5-60ADE846FD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829" y="331192"/>
            <a:ext cx="9893644" cy="1325563"/>
          </a:xfrm>
        </p:spPr>
        <p:txBody>
          <a:bodyPr>
            <a:normAutofit/>
          </a:bodyPr>
          <a:lstStyle/>
          <a:p>
            <a:r>
              <a:rPr lang="en-US" sz="2800" dirty="0"/>
              <a:t>Benchmark for cost of wind energy </a:t>
            </a:r>
            <a:endParaRPr lang="LID4096" sz="2800" dirty="0"/>
          </a:p>
        </p:txBody>
      </p:sp>
      <p:pic>
        <p:nvPicPr>
          <p:cNvPr id="10" name="Content Placeholder 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F63FCEC-63FF-6887-0BEE-520CDCE9F33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442" y="1907458"/>
            <a:ext cx="11814637" cy="4050890"/>
          </a:xfrm>
          <a:solidFill>
            <a:srgbClr val="C00000"/>
          </a:solidFill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9462748-3824-4579-E2E4-3751FE6F182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694736" y="4625353"/>
            <a:ext cx="3841219" cy="36512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100" dirty="0"/>
              <a:t>https://docs.nrel.gov/docs/fy25osti/91775.pdf</a:t>
            </a:r>
            <a:endParaRPr lang="LID4096" sz="1100" dirty="0"/>
          </a:p>
        </p:txBody>
      </p:sp>
      <p:sp>
        <p:nvSpPr>
          <p:cNvPr id="11" name="Fußzeilenplatzhalter 4">
            <a:extLst>
              <a:ext uri="{FF2B5EF4-FFF2-40B4-BE49-F238E27FC236}">
                <a16:creationId xmlns:a16="http://schemas.microsoft.com/office/drawing/2014/main" id="{D833FE78-3CD4-0FAE-568E-C3D6BCA251E5}"/>
              </a:ext>
            </a:extLst>
          </p:cNvPr>
          <p:cNvSpPr txBox="1">
            <a:spLocks/>
          </p:cNvSpPr>
          <p:nvPr/>
        </p:nvSpPr>
        <p:spPr>
          <a:xfrm>
            <a:off x="8802836" y="6558051"/>
            <a:ext cx="28791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de-DE" dirty="0">
                <a:solidFill>
                  <a:prstClr val="white"/>
                </a:solidFill>
                <a:latin typeface="Aptos" panose="02110004020202020204"/>
              </a:rPr>
              <a:t>Project Development / Optimus Syria</a:t>
            </a:r>
          </a:p>
        </p:txBody>
      </p:sp>
      <p:sp>
        <p:nvSpPr>
          <p:cNvPr id="12" name="Foliennummernplatzhalter 5">
            <a:extLst>
              <a:ext uri="{FF2B5EF4-FFF2-40B4-BE49-F238E27FC236}">
                <a16:creationId xmlns:a16="http://schemas.microsoft.com/office/drawing/2014/main" id="{DFBA2659-302F-3370-4038-08542A2573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907766" y="6564746"/>
            <a:ext cx="1570221" cy="36512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dirty="0">
                <a:solidFill>
                  <a:prstClr val="white"/>
                </a:solidFill>
                <a:latin typeface="Aptos" panose="02110004020202020204"/>
              </a:rPr>
              <a:t>Ahmed Sallam</a:t>
            </a:r>
            <a:endParaRPr kumimoji="0" lang="de-DE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BD624781-84A5-E18C-CF03-7395339B911A}"/>
              </a:ext>
            </a:extLst>
          </p:cNvPr>
          <p:cNvSpPr/>
          <p:nvPr/>
        </p:nvSpPr>
        <p:spPr>
          <a:xfrm>
            <a:off x="570271" y="2556387"/>
            <a:ext cx="727587" cy="176981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58F9F300-8F64-19FB-2574-CEBCD46F0CF0}"/>
              </a:ext>
            </a:extLst>
          </p:cNvPr>
          <p:cNvSpPr/>
          <p:nvPr/>
        </p:nvSpPr>
        <p:spPr>
          <a:xfrm>
            <a:off x="5477673" y="2389238"/>
            <a:ext cx="727587" cy="176981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814C897-D414-042C-6641-538C7C82F438}"/>
              </a:ext>
            </a:extLst>
          </p:cNvPr>
          <p:cNvSpPr/>
          <p:nvPr/>
        </p:nvSpPr>
        <p:spPr>
          <a:xfrm>
            <a:off x="5399604" y="3106993"/>
            <a:ext cx="727587" cy="176981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9C2B7CBA-EEB4-CAE8-48EC-EE1ECAB55A29}"/>
              </a:ext>
            </a:extLst>
          </p:cNvPr>
          <p:cNvSpPr/>
          <p:nvPr/>
        </p:nvSpPr>
        <p:spPr>
          <a:xfrm>
            <a:off x="5368413" y="3264329"/>
            <a:ext cx="727587" cy="176981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EEC448F-4C61-54DF-1A89-D542F1EB5BC9}"/>
              </a:ext>
            </a:extLst>
          </p:cNvPr>
          <p:cNvSpPr/>
          <p:nvPr/>
        </p:nvSpPr>
        <p:spPr>
          <a:xfrm>
            <a:off x="5368413" y="3429000"/>
            <a:ext cx="727587" cy="176981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cxnSp>
        <p:nvCxnSpPr>
          <p:cNvPr id="14" name="Connector: Elbow 13">
            <a:extLst>
              <a:ext uri="{FF2B5EF4-FFF2-40B4-BE49-F238E27FC236}">
                <a16:creationId xmlns:a16="http://schemas.microsoft.com/office/drawing/2014/main" id="{8472F334-4DD8-6E70-CC30-9B14316E6360}"/>
              </a:ext>
            </a:extLst>
          </p:cNvPr>
          <p:cNvCxnSpPr>
            <a:cxnSpLocks/>
          </p:cNvCxnSpPr>
          <p:nvPr/>
        </p:nvCxnSpPr>
        <p:spPr>
          <a:xfrm rot="10800000">
            <a:off x="6205260" y="4548077"/>
            <a:ext cx="1101213" cy="669298"/>
          </a:xfrm>
          <a:prstGeom prst="bentConnector3">
            <a:avLst>
              <a:gd name="adj1" fmla="val 62500"/>
            </a:avLst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>
            <a:extLst>
              <a:ext uri="{FF2B5EF4-FFF2-40B4-BE49-F238E27FC236}">
                <a16:creationId xmlns:a16="http://schemas.microsoft.com/office/drawing/2014/main" id="{2D921B26-EA2A-AE60-F9E9-4F9775861375}"/>
              </a:ext>
            </a:extLst>
          </p:cNvPr>
          <p:cNvSpPr/>
          <p:nvPr/>
        </p:nvSpPr>
        <p:spPr>
          <a:xfrm>
            <a:off x="5558011" y="4822772"/>
            <a:ext cx="537989" cy="176981"/>
          </a:xfrm>
          <a:prstGeom prst="ellipse">
            <a:avLst/>
          </a:prstGeom>
          <a:solidFill>
            <a:srgbClr val="C00000">
              <a:alpha val="55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A48A015B-D46F-C420-6B94-C7F2DE9F799B}"/>
              </a:ext>
            </a:extLst>
          </p:cNvPr>
          <p:cNvCxnSpPr/>
          <p:nvPr/>
        </p:nvCxnSpPr>
        <p:spPr>
          <a:xfrm flipH="1">
            <a:off x="4041707" y="2546554"/>
            <a:ext cx="331595" cy="2674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8D35FBCE-28A0-DAFF-F6EA-1D9EF1F1E59A}"/>
              </a:ext>
            </a:extLst>
          </p:cNvPr>
          <p:cNvSpPr/>
          <p:nvPr/>
        </p:nvSpPr>
        <p:spPr>
          <a:xfrm>
            <a:off x="3396344" y="2745144"/>
            <a:ext cx="633046" cy="176981"/>
          </a:xfrm>
          <a:prstGeom prst="roundRect">
            <a:avLst/>
          </a:prstGeom>
          <a:solidFill>
            <a:srgbClr val="C00000">
              <a:alpha val="52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9" name="Datumsplatzhalter 3">
            <a:extLst>
              <a:ext uri="{FF2B5EF4-FFF2-40B4-BE49-F238E27FC236}">
                <a16:creationId xmlns:a16="http://schemas.microsoft.com/office/drawing/2014/main" id="{397DE0D8-9A64-2940-F71A-82275D8BE62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566803"/>
            <a:ext cx="1111370" cy="365125"/>
          </a:xfrm>
        </p:spPr>
        <p:txBody>
          <a:bodyPr/>
          <a:lstStyle/>
          <a:p>
            <a:fld id="{4FB90975-892A-460D-9B99-2E14471E45A4}" type="datetime1">
              <a:rPr lang="en-GB" noProof="0" smtClean="0">
                <a:solidFill>
                  <a:schemeClr val="bg1"/>
                </a:solidFill>
              </a:rPr>
              <a:t>15/12/2025</a:t>
            </a:fld>
            <a:endParaRPr lang="en-GB" noProof="0" dirty="0">
              <a:solidFill>
                <a:schemeClr val="bg1"/>
              </a:solidFill>
            </a:endParaRPr>
          </a:p>
        </p:txBody>
      </p:sp>
      <p:sp>
        <p:nvSpPr>
          <p:cNvPr id="15" name="Foliennummernplatzhalter 5">
            <a:extLst>
              <a:ext uri="{FF2B5EF4-FFF2-40B4-BE49-F238E27FC236}">
                <a16:creationId xmlns:a16="http://schemas.microsoft.com/office/drawing/2014/main" id="{86079760-ED1E-6EE1-9754-FF0D3B47C8E2}"/>
              </a:ext>
            </a:extLst>
          </p:cNvPr>
          <p:cNvSpPr txBox="1">
            <a:spLocks/>
          </p:cNvSpPr>
          <p:nvPr/>
        </p:nvSpPr>
        <p:spPr>
          <a:xfrm>
            <a:off x="1949570" y="6566803"/>
            <a:ext cx="92895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5A6D213-0805-4C3E-849D-17C75FD348C3}" type="slidenum">
              <a:rPr lang="en-GB" smtClean="0">
                <a:solidFill>
                  <a:schemeClr val="bg1"/>
                </a:solidFill>
              </a:rPr>
              <a:pPr/>
              <a:t>9</a:t>
            </a:fld>
            <a:endParaRPr lang="en-GB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67703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1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ECF438-9DF4-0470-A97F-B7DE8F93FB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53BF50-284A-A126-D2FB-D90484A419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Finalize the cost analysis</a:t>
            </a:r>
            <a:endParaRPr lang="LID4096" sz="2800" dirty="0"/>
          </a:p>
        </p:txBody>
      </p:sp>
      <p:sp>
        <p:nvSpPr>
          <p:cNvPr id="10" name="Foliennummernplatzhalter 5">
            <a:extLst>
              <a:ext uri="{FF2B5EF4-FFF2-40B4-BE49-F238E27FC236}">
                <a16:creationId xmlns:a16="http://schemas.microsoft.com/office/drawing/2014/main" id="{17CF4F2E-419A-0059-FEFD-AAF6309D69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907766" y="6564746"/>
            <a:ext cx="1570221" cy="36512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dirty="0">
                <a:solidFill>
                  <a:prstClr val="white"/>
                </a:solidFill>
                <a:latin typeface="Aptos" panose="02110004020202020204"/>
              </a:rPr>
              <a:t>Ahmed Sallam</a:t>
            </a:r>
            <a:endParaRPr kumimoji="0" lang="de-DE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1" name="Fußzeilenplatzhalter 4">
            <a:extLst>
              <a:ext uri="{FF2B5EF4-FFF2-40B4-BE49-F238E27FC236}">
                <a16:creationId xmlns:a16="http://schemas.microsoft.com/office/drawing/2014/main" id="{5E5D14E0-938D-68E4-D74C-74E11F81CA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74613" y="6564113"/>
            <a:ext cx="2879187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Project Development / Optimus Syria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E67297B-29E2-AD7F-E624-FB32519D56FB}"/>
              </a:ext>
            </a:extLst>
          </p:cNvPr>
          <p:cNvSpPr txBox="1"/>
          <p:nvPr/>
        </p:nvSpPr>
        <p:spPr>
          <a:xfrm>
            <a:off x="550606" y="1602658"/>
            <a:ext cx="84950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600" dirty="0">
                <a:highlight>
                  <a:srgbClr val="FFFFFF"/>
                </a:highlight>
              </a:rPr>
              <a:t>Recontacting teams with overloaded prices </a:t>
            </a:r>
            <a:endParaRPr lang="LID4096" sz="1600" dirty="0">
              <a:highlight>
                <a:srgbClr val="FFFFFF"/>
              </a:highlight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8CB7BDD-A70C-DCDB-04CD-EABFC7D8F25B}"/>
              </a:ext>
            </a:extLst>
          </p:cNvPr>
          <p:cNvSpPr txBox="1"/>
          <p:nvPr/>
        </p:nvSpPr>
        <p:spPr>
          <a:xfrm>
            <a:off x="550606" y="2272948"/>
            <a:ext cx="70202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600" dirty="0">
                <a:highlight>
                  <a:srgbClr val="FFFFFF"/>
                </a:highlight>
              </a:rPr>
              <a:t>Searching for  finance from banks </a:t>
            </a:r>
            <a:endParaRPr lang="LID4096" sz="1600" dirty="0">
              <a:highlight>
                <a:srgbClr val="FFFFFF"/>
              </a:highlight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309657D-53C5-607C-9757-73C8F676BE90}"/>
              </a:ext>
            </a:extLst>
          </p:cNvPr>
          <p:cNvSpPr txBox="1"/>
          <p:nvPr/>
        </p:nvSpPr>
        <p:spPr>
          <a:xfrm>
            <a:off x="550605" y="2928221"/>
            <a:ext cx="750201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600" dirty="0"/>
              <a:t>Terms and conditions of the bank and the Profts on the loan  required </a:t>
            </a:r>
          </a:p>
          <a:p>
            <a:pPr algn="l"/>
            <a:endParaRPr lang="LID4096" sz="16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87710E0-D308-2574-2598-89D05500E52E}"/>
              </a:ext>
            </a:extLst>
          </p:cNvPr>
          <p:cNvSpPr txBox="1"/>
          <p:nvPr/>
        </p:nvSpPr>
        <p:spPr>
          <a:xfrm>
            <a:off x="550605" y="3552601"/>
            <a:ext cx="70202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600" dirty="0"/>
              <a:t>Available Banks for renewable energy investment 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endParaRPr lang="LID4096" sz="1600" dirty="0"/>
          </a:p>
        </p:txBody>
      </p:sp>
      <p:sp>
        <p:nvSpPr>
          <p:cNvPr id="3" name="Datumsplatzhalter 3">
            <a:extLst>
              <a:ext uri="{FF2B5EF4-FFF2-40B4-BE49-F238E27FC236}">
                <a16:creationId xmlns:a16="http://schemas.microsoft.com/office/drawing/2014/main" id="{48ADA174-F2A9-93F6-C007-315EE98F15E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566803"/>
            <a:ext cx="1111370" cy="365125"/>
          </a:xfrm>
        </p:spPr>
        <p:txBody>
          <a:bodyPr/>
          <a:lstStyle/>
          <a:p>
            <a:fld id="{4FB90975-892A-460D-9B99-2E14471E45A4}" type="datetime1">
              <a:rPr lang="en-GB" noProof="0" smtClean="0">
                <a:solidFill>
                  <a:schemeClr val="bg1"/>
                </a:solidFill>
              </a:rPr>
              <a:t>15/12/2025</a:t>
            </a:fld>
            <a:endParaRPr lang="en-GB" noProof="0" dirty="0">
              <a:solidFill>
                <a:schemeClr val="bg1"/>
              </a:solidFill>
            </a:endParaRPr>
          </a:p>
        </p:txBody>
      </p:sp>
      <p:sp>
        <p:nvSpPr>
          <p:cNvPr id="7" name="Foliennummernplatzhalter 5">
            <a:extLst>
              <a:ext uri="{FF2B5EF4-FFF2-40B4-BE49-F238E27FC236}">
                <a16:creationId xmlns:a16="http://schemas.microsoft.com/office/drawing/2014/main" id="{FE46C9A3-044A-1B4A-38FA-70E2DF53BC0E}"/>
              </a:ext>
            </a:extLst>
          </p:cNvPr>
          <p:cNvSpPr txBox="1">
            <a:spLocks/>
          </p:cNvSpPr>
          <p:nvPr/>
        </p:nvSpPr>
        <p:spPr>
          <a:xfrm>
            <a:off x="1949570" y="6566803"/>
            <a:ext cx="92895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5A6D213-0805-4C3E-849D-17C75FD348C3}" type="slidenum">
              <a:rPr lang="en-GB" smtClean="0">
                <a:solidFill>
                  <a:schemeClr val="bg1"/>
                </a:solidFill>
              </a:rPr>
              <a:pPr/>
              <a:t>10</a:t>
            </a:fld>
            <a:endParaRPr lang="en-GB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08099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defRPr sz="1200" dirty="0" smtClean="0">
            <a:solidFill>
              <a:schemeClr val="bg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_Project Development_Week_01" id="{565AEDCE-AEA5-4BFA-88F3-D43DDDF3E38B}" vid="{7E403B28-2726-4574-8041-C7D53A5C5E62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  <wetp:taskpane dockstate="right" visibility="0" width="875" row="0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BCD039B6-C6AB-492A-94BF-C46AF895D2E7}">
  <we:reference id="WA200007130" version="1.0.0.1" store="en-US" storeType="omex"/>
  <we:alternateReferences>
    <we:reference id="WA200007130" version="1.0.0.1" store="en-US" storeType="omex"/>
  </we:alternateReferences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73D784B2-E216-4A14-BE4B-F0CA301E2B20}">
  <we:reference id="WA200005566" version="3.0.0.3" store="en-US" storeType="omex"/>
  <we:alternateReferences>
    <we:reference id="WA200005566" version="3.0.0.3" store="en-US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c2e2211f-efd8-41c4-b0e4-f9d02e6fa652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AB8ED8C6ACF53C418E42EFCEE2100334" ma:contentTypeVersion="14" ma:contentTypeDescription="Ein neues Dokument erstellen." ma:contentTypeScope="" ma:versionID="55daf8c1348c2d18c78aba756c4375d5">
  <xsd:schema xmlns:xsd="http://www.w3.org/2001/XMLSchema" xmlns:xs="http://www.w3.org/2001/XMLSchema" xmlns:p="http://schemas.microsoft.com/office/2006/metadata/properties" xmlns:ns3="c2e2211f-efd8-41c4-b0e4-f9d02e6fa652" xmlns:ns4="117e12d0-7e6a-4baf-90da-da83f86f542e" targetNamespace="http://schemas.microsoft.com/office/2006/metadata/properties" ma:root="true" ma:fieldsID="608b4dd469a240f50e4a9492b3699c70" ns3:_="" ns4:_="">
    <xsd:import namespace="c2e2211f-efd8-41c4-b0e4-f9d02e6fa652"/>
    <xsd:import namespace="117e12d0-7e6a-4baf-90da-da83f86f542e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ServiceObjectDetectorVersions" minOccurs="0"/>
                <xsd:element ref="ns3:MediaServiceDateTaken" minOccurs="0"/>
                <xsd:element ref="ns3:_activity" minOccurs="0"/>
                <xsd:element ref="ns3:MediaServiceSearchProperties" minOccurs="0"/>
                <xsd:element ref="ns3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2e2211f-efd8-41c4-b0e4-f9d02e6fa65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ObjectDetectorVersions" ma:index="1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_activity" ma:index="19" nillable="true" ma:displayName="_activity" ma:hidden="true" ma:internalName="_activity">
      <xsd:simpleType>
        <xsd:restriction base="dms:Note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21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17e12d0-7e6a-4baf-90da-da83f86f542e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Freigabehinweis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4E1FA3D-3612-45D1-BA6C-325405A7CD8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7F1061A-17C7-4F4A-9830-A9F1702CCAEA}">
  <ds:schemaRefs>
    <ds:schemaRef ds:uri="http://schemas.microsoft.com/office/infopath/2007/PartnerControls"/>
    <ds:schemaRef ds:uri="c2e2211f-efd8-41c4-b0e4-f9d02e6fa652"/>
    <ds:schemaRef ds:uri="http://purl.org/dc/dcmitype/"/>
    <ds:schemaRef ds:uri="http://schemas.microsoft.com/office/2006/documentManagement/types"/>
    <ds:schemaRef ds:uri="http://purl.org/dc/elements/1.1/"/>
    <ds:schemaRef ds:uri="http://purl.org/dc/terms/"/>
    <ds:schemaRef ds:uri="117e12d0-7e6a-4baf-90da-da83f86f542e"/>
    <ds:schemaRef ds:uri="http://schemas.openxmlformats.org/package/2006/metadata/core-properties"/>
    <ds:schemaRef ds:uri="http://schemas.microsoft.com/office/2006/metadata/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51366F2C-8C74-4E59-ACF3-4A33DBC1BAC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2e2211f-efd8-41c4-b0e4-f9d02e6fa652"/>
    <ds:schemaRef ds:uri="117e12d0-7e6a-4baf-90da-da83f86f542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5677</TotalTime>
  <Words>522</Words>
  <Application>Microsoft Office PowerPoint</Application>
  <PresentationFormat>Widescreen</PresentationFormat>
  <Paragraphs>149</Paragraphs>
  <Slides>10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Aptos</vt:lpstr>
      <vt:lpstr>Aptos Display</vt:lpstr>
      <vt:lpstr>Arial</vt:lpstr>
      <vt:lpstr>Wingdings</vt:lpstr>
      <vt:lpstr>Office Theme</vt:lpstr>
      <vt:lpstr>Custom Design</vt:lpstr>
      <vt:lpstr>Office</vt:lpstr>
      <vt:lpstr>Weekly report: Team Project Development</vt:lpstr>
      <vt:lpstr>PowerPoint Presentation</vt:lpstr>
      <vt:lpstr>PowerPoint Presentation</vt:lpstr>
      <vt:lpstr>PowerPoint Presentation</vt:lpstr>
      <vt:lpstr>Initial price contributions </vt:lpstr>
      <vt:lpstr>Update the wind turbine Capex cost </vt:lpstr>
      <vt:lpstr>Finalize the cost analysis</vt:lpstr>
      <vt:lpstr>Optimization  of feasibility study </vt:lpstr>
      <vt:lpstr>Benchmark for cost of wind energy </vt:lpstr>
      <vt:lpstr>Finalize the cost analysis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Weekly report lidar-assisted control group</dc:title>
  <dc:creator>Federico De Mita</dc:creator>
  <cp:lastModifiedBy>Luis Urhahn</cp:lastModifiedBy>
  <cp:revision>23</cp:revision>
  <dcterms:created xsi:type="dcterms:W3CDTF">2025-07-21T13:11:31Z</dcterms:created>
  <dcterms:modified xsi:type="dcterms:W3CDTF">2025-12-15T09:27:37Z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0x010100AB8ED8C6ACF53C418E42EFCEE2100334</vt:lpwstr>
  </property>
</Properties>
</file>