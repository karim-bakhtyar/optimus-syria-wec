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90" r:id="rId5"/>
    <p:sldId id="289" r:id="rId6"/>
    <p:sldId id="276" r:id="rId7"/>
    <p:sldId id="291" r:id="rId8"/>
    <p:sldId id="292" r:id="rId9"/>
    <p:sldId id="29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90"/>
            <p14:sldId id="289"/>
            <p14:sldId id="276"/>
            <p14:sldId id="291"/>
            <p14:sldId id="292"/>
            <p14:sldId id="293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231E-5A67-3A7D-9899-E9C3D164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6000-FC93-AF5B-725E-3B0F00E45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B7B2-B716-A1D9-3ECD-FE9CB36C2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ED5D-D283-566F-3508-C5310D95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C545-ADA7-787D-6D7C-2C63B378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1A81B-C275-BE86-D6D6-F14BD32A9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F224-9798-4EFB-9B22-9F6ED7FF8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80CE-72EA-0238-243D-FD70A6059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916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841A-68C1-E977-EF10-2F13702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3C6E-A737-72C2-AA57-F437EC30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D82A-8C4C-1044-594E-580A10C1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D6B7-AC09-0DC6-468A-449328D32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39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F18C-5B6B-EA5D-C010-91984E5E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E1D18-8703-851A-1639-AA916C5B1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A24A6-F7E9-A81D-A634-2DAF58546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958AC-9438-8EFC-CF34-2F2D4A328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72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89E7-C996-FEB3-53F5-7AF1D7B2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40169-1C5D-453E-6E44-29AA7A270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591B7-61AF-86A4-B24B-6835C028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A4BB3-2DE1-835F-65D9-69EB5E298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19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7D5E-EC1D-CB17-ACD9-CA2152BE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F400F-7385-6278-F6F6-84F834564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EF4A5-D8A5-17A3-72DC-35B22601B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058A6-FC44-A60A-BC34-8634FFA1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209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12</a:t>
            </a:r>
          </a:p>
          <a:p>
            <a:r>
              <a:rPr lang="it-IT" sz="2000" dirty="0"/>
              <a:t>Date: 16/12/2025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Presenter  –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4158" y="6528076"/>
            <a:ext cx="433176" cy="365125"/>
          </a:xfrm>
        </p:spPr>
        <p:txBody>
          <a:bodyPr/>
          <a:lstStyle/>
          <a:p>
            <a:pPr algn="ctr"/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 algn="ctr"/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Final Procedure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Working Directory of </a:t>
            </a:r>
            <a:r>
              <a:rPr lang="en-US" sz="2400" dirty="0" err="1">
                <a:cs typeface="Times New Roman" panose="02020603050405020304" pitchFamily="18" charset="0"/>
              </a:rPr>
              <a:t>MExtremes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MExtremes</a:t>
            </a:r>
            <a:r>
              <a:rPr lang="en-US" sz="2400" dirty="0">
                <a:cs typeface="Times New Roman" panose="02020603050405020304" pitchFamily="18" charset="0"/>
              </a:rPr>
              <a:t>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6048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5526F-EA1E-29F5-D36D-9C6FF00049B8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8FCD7-DBCC-C4DB-3EB2-24DC1CB1FC1F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06B-41C3-447D-33BA-0D095651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126A9F-06B4-29D1-C004-78EB4398FCB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8160115-CB47-939B-646F-5DF9D9A5CD7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475720C-15ED-C4E1-573A-2EAB3788DA3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6AF1D8-C329-CDBE-C1DE-0A432B3C26B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A00BD-51B9-1925-C5F5-CA0097FBBF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C65F497-F6BF-58E3-28B0-4EF64451C25E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048A1B-615F-FD29-6EA3-DA58C1AC200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CFC4D300-B489-7D27-17D0-ABFC6397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04" y="38294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Final Procedure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0A627C37-F687-41A8-1B00-9EB192220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73" y="1584188"/>
            <a:ext cx="8383894" cy="3892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06A184-5B48-5C77-E46B-3739FEFF4D8C}"/>
              </a:ext>
            </a:extLst>
          </p:cNvPr>
          <p:cNvSpPr txBox="1"/>
          <p:nvPr/>
        </p:nvSpPr>
        <p:spPr>
          <a:xfrm>
            <a:off x="759721" y="1993043"/>
            <a:ext cx="737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/>
                </a:solidFill>
              </a:rPr>
              <a:t>         Done                                                    </a:t>
            </a:r>
            <a:r>
              <a:rPr lang="en-US" b="1" i="1" dirty="0" err="1">
                <a:solidFill>
                  <a:schemeClr val="accent6"/>
                </a:solidFill>
              </a:rPr>
              <a:t>Done</a:t>
            </a:r>
            <a:r>
              <a:rPr lang="en-US" b="1" i="1" dirty="0">
                <a:solidFill>
                  <a:schemeClr val="accent6"/>
                </a:solidFill>
              </a:rPr>
              <a:t>                                       Almost Done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E8DF2-C34D-1FF4-7D17-625F91E6417D}"/>
              </a:ext>
            </a:extLst>
          </p:cNvPr>
          <p:cNvSpPr txBox="1"/>
          <p:nvPr/>
        </p:nvSpPr>
        <p:spPr>
          <a:xfrm>
            <a:off x="861980" y="5482997"/>
            <a:ext cx="19426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Optimus Oceanus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AA43D5-E791-FCEE-2A98-D0C779ABDD81}"/>
              </a:ext>
            </a:extLst>
          </p:cNvPr>
          <p:cNvSpPr/>
          <p:nvPr/>
        </p:nvSpPr>
        <p:spPr>
          <a:xfrm>
            <a:off x="5869858" y="3932903"/>
            <a:ext cx="3302717" cy="9702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0AE88-8E6A-8813-E6C1-05A9E2F8749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50523-E86D-D69F-DD90-D25887BB89C9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9FDA8-884A-C27E-AD4F-DEB6599D5B39}"/>
              </a:ext>
            </a:extLst>
          </p:cNvPr>
          <p:cNvSpPr txBox="1"/>
          <p:nvPr/>
        </p:nvSpPr>
        <p:spPr>
          <a:xfrm>
            <a:off x="9466119" y="1603508"/>
            <a:ext cx="22372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DLC File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Extremes Test with MATLAB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Extreme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started with scaled down value of Optimus Shakti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5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6DC0-382D-7F4F-F8B0-FF65B0CB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7F99DAC-6BDB-79AA-BCB7-38A44ED489A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95D4429-EAB1-ADCB-E8C6-EDC5716D9F5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AA599E5-54FF-7800-4481-5906F90CB03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4D8B95-A993-7077-85E5-6FD48F2C21F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AA462A-A5CF-B513-33F9-8CB107B9E72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FD726-7276-05C8-A4CC-92285796EB94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F8DAA-5442-FF59-DF02-86A6F8A8208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63716046-8535-EC17-EC9E-552A9ED8C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Working Directory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61D2C-60C9-6E42-36B2-28F7E1958AA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AF5EA0-EDED-CA51-2FDD-1B751F3D2134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52901-0AAF-EB20-9577-D1468E62E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16" y="1231014"/>
            <a:ext cx="7228629" cy="1272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B39F1-330E-4A82-EE5E-99D1AB163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843" y="2439871"/>
            <a:ext cx="9192830" cy="1959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F3802-6EA3-0542-51B0-305BF79B2E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16" y="4399151"/>
            <a:ext cx="9458265" cy="197793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20E8112-14C5-5009-CE68-6E92B567222A}"/>
              </a:ext>
            </a:extLst>
          </p:cNvPr>
          <p:cNvSpPr/>
          <p:nvPr/>
        </p:nvSpPr>
        <p:spPr>
          <a:xfrm>
            <a:off x="484418" y="5958348"/>
            <a:ext cx="1423040" cy="29151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0EFD-879B-333A-DADF-811203A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1146A40-1723-98E5-0A30-1B424176E4E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A702EAB-710C-AE5B-0FAC-DE25147E387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63D863B-C1BD-E06D-7371-B341E5FB197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9F3BE4-1887-9E96-1479-96A7764214B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7EE61D-15D7-3F86-7CDD-CCB0A1FC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Working Directory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2EB72-B6B0-6F50-0553-8A7EBA47EF3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F80CF7-D661-ECEA-C323-8A635239A2B9}"/>
              </a:ext>
            </a:extLst>
          </p:cNvPr>
          <p:cNvSpPr txBox="1"/>
          <p:nvPr/>
        </p:nvSpPr>
        <p:spPr>
          <a:xfrm>
            <a:off x="484417" y="1535257"/>
            <a:ext cx="10536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DLC with Update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DLC has Analyzed with different </a:t>
            </a:r>
            <a:r>
              <a:rPr lang="en-US" dirty="0" err="1"/>
              <a:t>different</a:t>
            </a:r>
            <a:r>
              <a:rPr lang="en-US" dirty="0"/>
              <a:t> wind speed and for every wind speed has a total of 6 simulation for getting more accurate result.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120C60-37B7-21C9-2762-545988EF49AC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270B-C2B0-1B61-E8C4-35B5C0C53617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C7E68-A27A-94A1-CFF3-93B677B8D91A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3D1F8-B839-DFDA-593A-1CD5D405F98A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CCCE8F-D4D9-2E0B-79C9-B5257E9F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5" y="3029184"/>
            <a:ext cx="9696228" cy="20398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9A7A139-BE57-8C21-C89E-5ADCB8A5ED22}"/>
              </a:ext>
            </a:extLst>
          </p:cNvPr>
          <p:cNvSpPr txBox="1"/>
          <p:nvPr/>
        </p:nvSpPr>
        <p:spPr>
          <a:xfrm>
            <a:off x="484417" y="5598254"/>
            <a:ext cx="7492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total of 245 output files is generated for analysis with all working DLC.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4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E1F7-3C20-DEA7-B847-A36EBE89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FD35403-9E92-25AF-606E-F1D167645D5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C11F9B4-C76E-6673-4758-D6989D873D7A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3D04911F-ADAE-1CA0-8DB7-DEEBA916525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BFA095A-9914-F7A7-EC2E-52736B6BE47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0F849CA-BC98-D940-EF40-9CEFEC2F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Extreme Tables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1E822C-1BB4-4CAF-16C7-6298EE4393E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15FB17-1D93-4634-FBF6-03174029AF43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B4546-9B4B-8AFE-35F2-06FD912B5F79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85624-A655-7D07-0D69-93FDADDCCE3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B8B382-E8C2-4DC0-3CF0-A6ABC7DFDD5A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0CCFE-883A-3CD3-1986-093960B6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7" y="1274715"/>
            <a:ext cx="11218985" cy="27861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6620C6-9F17-66F3-2249-727FFBE31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18" y="4158808"/>
            <a:ext cx="11218984" cy="23356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FE481C-4439-15CB-C45C-6B9B5DF3ADE2}"/>
              </a:ext>
            </a:extLst>
          </p:cNvPr>
          <p:cNvSpPr txBox="1"/>
          <p:nvPr/>
        </p:nvSpPr>
        <p:spPr>
          <a:xfrm>
            <a:off x="8288593" y="1235904"/>
            <a:ext cx="269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*Safety factor included</a:t>
            </a:r>
          </a:p>
        </p:txBody>
      </p:sp>
    </p:spTree>
    <p:extLst>
      <p:ext uri="{BB962C8B-B14F-4D97-AF65-F5344CB8AC3E}">
        <p14:creationId xmlns:p14="http://schemas.microsoft.com/office/powerpoint/2010/main" val="223001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F9F6-5CC0-704F-84B0-97F8713E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F498FA3-7348-0864-0380-4ADF3DCE05F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F87EA25-380B-9B8B-A442-466C8D2E038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23D5A26-7EA5-4F10-4B05-A48433E826CB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0752C93-FA88-F612-DC1A-28C7F1C0FD5E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00AE7B-6D68-24EC-B4A3-A777CA012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Extreme Tables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504970-0D3D-31FD-22EA-F4493530F5B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32B7D9-7463-0EC5-85C0-337FA1F58550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4A737-9AF3-130A-5FC3-4F73D880EF11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04077-2D68-4855-57A5-C9190FC9DEFD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0331E-3EAE-D18C-E2FB-A898AA375C31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CFC2B-8848-5920-84CE-0C21D5BE4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6" y="1242847"/>
            <a:ext cx="11218985" cy="26057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EBAC8D-FC2B-D5C9-CC98-98847ABBB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15" y="3944173"/>
            <a:ext cx="11218985" cy="26057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182307-56A6-7927-8815-47FFBFAE6BA1}"/>
              </a:ext>
            </a:extLst>
          </p:cNvPr>
          <p:cNvSpPr txBox="1"/>
          <p:nvPr/>
        </p:nvSpPr>
        <p:spPr>
          <a:xfrm>
            <a:off x="8288593" y="1235904"/>
            <a:ext cx="269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*Safety factor included</a:t>
            </a:r>
          </a:p>
        </p:txBody>
      </p:sp>
    </p:spTree>
    <p:extLst>
      <p:ext uri="{BB962C8B-B14F-4D97-AF65-F5344CB8AC3E}">
        <p14:creationId xmlns:p14="http://schemas.microsoft.com/office/powerpoint/2010/main" val="108996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2F46-87DA-68A6-C6A4-6761BFE2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1F7C864-DD95-32E7-1648-136621A637F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0BBAE24-3B19-B9C1-49DB-0254544123B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F9423F1-4EE1-9C25-8FE3-2A3DAA0300C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F1F55E8-3941-97C9-CB04-D825658CA3B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C3AE7E-FAB4-358F-1D16-C44C5D70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114096-A77C-FF58-EAFB-223242195D0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411549-E99C-BA76-A58E-EAD18673631F}"/>
              </a:ext>
            </a:extLst>
          </p:cNvPr>
          <p:cNvSpPr txBox="1"/>
          <p:nvPr/>
        </p:nvSpPr>
        <p:spPr>
          <a:xfrm>
            <a:off x="484417" y="1840667"/>
            <a:ext cx="100459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DLC with Updated parameters with  feedback controller result are optimized.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Extremes with updated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Delivering Forces and moments to different group to analyze their scaled down value from shakti.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with Batch Extreme calculations.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C4E52FD-3D1B-730F-6986-CC1DD2079981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C1AE3-9990-4F4B-7ADE-BE9342DE7129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D068C-4E60-3639-3CDC-8889BDAF662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C814FD-C7F2-2A70-EF01-82D0EF784D2B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06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Load Reports of the OPTIMUS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Ocenaus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Standard, DNVGL-ST-0376 – Edition December 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OpenFAST_v3.0 &amp; NREL 5 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MatLAB</a:t>
            </a:r>
            <a:r>
              <a:rPr lang="en-GB" dirty="0">
                <a:cs typeface="Times New Roman" panose="02020603050405020304" pitchFamily="18" charset="0"/>
              </a:rPr>
              <a:t> 2011b, </a:t>
            </a:r>
            <a:r>
              <a:rPr lang="en-GB" dirty="0" err="1">
                <a:cs typeface="Times New Roman" panose="02020603050405020304" pitchFamily="18" charset="0"/>
              </a:rPr>
              <a:t>MExtremes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4D7F5-6570-ACBE-ED5E-F8FE71E45631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4D57-B39A-6E7C-09BD-BB4527BE02A1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310</Words>
  <Application>Microsoft Office PowerPoint</Application>
  <PresentationFormat>Widescreen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Custom Design</vt:lpstr>
      <vt:lpstr>Weekly report: Load &amp; Dynamics</vt:lpstr>
      <vt:lpstr>Agenda For Loads &amp; Dynamics</vt:lpstr>
      <vt:lpstr>Final Procedure</vt:lpstr>
      <vt:lpstr>Working Directory</vt:lpstr>
      <vt:lpstr>Working Directory</vt:lpstr>
      <vt:lpstr>Extreme Tables</vt:lpstr>
      <vt:lpstr>Extreme Tables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97</cp:revision>
  <dcterms:created xsi:type="dcterms:W3CDTF">2025-07-21T13:11:31Z</dcterms:created>
  <dcterms:modified xsi:type="dcterms:W3CDTF">2025-12-15T01:15:29Z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