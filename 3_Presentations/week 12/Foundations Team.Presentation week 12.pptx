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handoutMasterIdLst>
    <p:handoutMasterId r:id="rId13"/>
  </p:handoutMasterIdLst>
  <p:sldIdLst>
    <p:sldId id="300" r:id="rId3"/>
    <p:sldId id="301" r:id="rId4"/>
    <p:sldId id="303" r:id="rId5"/>
    <p:sldId id="328" r:id="rId6"/>
    <p:sldId id="329" r:id="rId7"/>
    <p:sldId id="322" r:id="rId8"/>
    <p:sldId id="325" r:id="rId9"/>
    <p:sldId id="324" r:id="rId10"/>
    <p:sldId id="33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331BD3D6-B7F1-4148-BF99-E0643B5FA8FF}">
          <p14:sldIdLst/>
        </p14:section>
        <p14:section name="management team" id="{2B72163D-2949-4563-8835-B5A6BF3A1808}">
          <p14:sldIdLst/>
        </p14:section>
        <p14:section name="Project development team" id="{0165734E-D582-475F-8D8F-D8390D9A02F3}">
          <p14:sldIdLst/>
        </p14:section>
        <p14:section name="foundation team" id="{6CF20BCC-30C5-49D5-BB67-A7F7C47F67D3}">
          <p14:sldIdLst/>
        </p14:section>
        <p14:section name="loads &amp; dynamics team" id="{B2556EC8-272D-48A5-B94D-86DE413BDD53}">
          <p14:sldIdLst/>
        </p14:section>
        <p14:section name="tower structure team" id="{B080B7D5-51DE-4691-A612-847AD1AAFC82}">
          <p14:sldIdLst>
            <p14:sldId id="300"/>
            <p14:sldId id="301"/>
            <p14:sldId id="303"/>
            <p14:sldId id="328"/>
            <p14:sldId id="329"/>
            <p14:sldId id="322"/>
            <p14:sldId id="325"/>
            <p14:sldId id="324"/>
            <p14:sldId id="330"/>
          </p14:sldIdLst>
        </p14:section>
        <p14:section name="rotor blade design" id="{B146C9B3-C78A-4A61-AAEC-721247ABE854}">
          <p14:sldIdLst/>
        </p14:section>
        <p14:section name="Rotor blades structure" id="{B442706D-6274-49C9-A7D1-C313276DB185}">
          <p14:sldIdLst/>
        </p14:section>
        <p14:section name="rotor hub and pitch system" id="{08747EF3-CA38-42EE-A1AF-7484E45039CE}">
          <p14:sldIdLst/>
        </p14:section>
        <p14:section name="electrical drivetrain" id="{1A5D22D2-BE65-4E6F-884C-4B877022F03F}">
          <p14:sldIdLst/>
        </p14:section>
        <p14:section name="rotor bearing system team" id="{DB3BAE13-317B-46D5-BF13-1546F7D1D6D4}">
          <p14:sldIdLst/>
        </p14:section>
        <p14:section name="GBC team" id="{62FD1619-6AFB-4D97-A60C-6FD16F62286D}">
          <p14:sldIdLst/>
        </p14:section>
        <p14:section name="Machine bed &amp; yaw team" id="{2739FDC4-7BC0-4D24-A2DB-018568B325C8}">
          <p14:sldIdLst/>
        </p14:section>
        <p14:section name="feedback controller team" id="{6415024D-93AC-4C7E-84F4-D0225312DA45}">
          <p14:sldIdLst/>
        </p14:section>
        <p14:section name="grid code team" id="{FD3B8E82-6082-4521-B98B-5BAB918F1115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FFD"/>
    <a:srgbClr val="FFFFFF"/>
    <a:srgbClr val="8ECEFA"/>
    <a:srgbClr val="92C6E6"/>
    <a:srgbClr val="80D2F7"/>
    <a:srgbClr val="7ED1F7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70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had Albaali" userId="c071a3306c18ab5a" providerId="LiveId" clId="{8F852F4F-CA7A-477A-B247-6875DA08BB51}"/>
    <pc:docChg chg="undo custSel modSld">
      <pc:chgData name="Jehad Albaali" userId="c071a3306c18ab5a" providerId="LiveId" clId="{8F852F4F-CA7A-477A-B247-6875DA08BB51}" dt="2025-12-15T11:58:44.995" v="9" actId="1076"/>
      <pc:docMkLst>
        <pc:docMk/>
      </pc:docMkLst>
      <pc:sldChg chg="modSp mod">
        <pc:chgData name="Jehad Albaali" userId="c071a3306c18ab5a" providerId="LiveId" clId="{8F852F4F-CA7A-477A-B247-6875DA08BB51}" dt="2025-12-15T11:58:44.995" v="9" actId="1076"/>
        <pc:sldMkLst>
          <pc:docMk/>
          <pc:sldMk cId="2648591394" sldId="324"/>
        </pc:sldMkLst>
        <pc:spChg chg="mod">
          <ac:chgData name="Jehad Albaali" userId="c071a3306c18ab5a" providerId="LiveId" clId="{8F852F4F-CA7A-477A-B247-6875DA08BB51}" dt="2025-12-15T11:58:40.960" v="8" actId="108"/>
          <ac:spMkLst>
            <pc:docMk/>
            <pc:sldMk cId="2648591394" sldId="324"/>
            <ac:spMk id="8" creationId="{DE874A80-466E-1BDF-CE03-C88EFD913618}"/>
          </ac:spMkLst>
        </pc:spChg>
        <pc:picChg chg="mod">
          <ac:chgData name="Jehad Albaali" userId="c071a3306c18ab5a" providerId="LiveId" clId="{8F852F4F-CA7A-477A-B247-6875DA08BB51}" dt="2025-12-15T11:58:44.995" v="9" actId="1076"/>
          <ac:picMkLst>
            <pc:docMk/>
            <pc:sldMk cId="2648591394" sldId="324"/>
            <ac:picMk id="3" creationId="{178C5092-EBE2-4968-8F10-1AC0FA31ED8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62120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91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16/12/2025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Foundations team/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7ED1BF-5D66-636D-5730-97FE37F448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86247" y="6564113"/>
            <a:ext cx="1918447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</a:t>
            </a:r>
            <a:r>
              <a:rPr lang="it-IT" b="1" dirty="0" err="1">
                <a:latin typeface="Times New Roman" pitchFamily="18" charset="0"/>
                <a:cs typeface="Times New Roman" pitchFamily="18" charset="0"/>
              </a:rPr>
              <a:t>Foundations</a:t>
            </a:r>
            <a:r>
              <a:rPr lang="it-IT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Week number: 12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Date: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/12/2025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Supervisor: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2000" b="1" dirty="0">
                <a:latin typeface="Lato" panose="020B0604020202020204" pitchFamily="34" charset="0"/>
              </a:rPr>
              <a:t>Prof. Dr.-Ing. Torsten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b="1" dirty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de-DE" b="1" dirty="0"/>
              <a:t>Jehad </a:t>
            </a:r>
            <a:r>
              <a:rPr lang="de-DE" b="1" dirty="0" err="1"/>
              <a:t>Albaali</a:t>
            </a:r>
            <a:r>
              <a:rPr lang="de-DE" b="1" dirty="0"/>
              <a:t>- Amgad Gerges - Reda </a:t>
            </a:r>
            <a:r>
              <a:rPr lang="de-DE" b="1" dirty="0" err="1"/>
              <a:t>Deif</a:t>
            </a:r>
            <a:endParaRPr lang="de-DE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047405" y="5070436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presented </a:t>
            </a:r>
            <a:r>
              <a:rPr lang="de-DE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</a:t>
            </a:r>
            <a:r>
              <a:rPr lang="de-DE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Jehad </a:t>
            </a:r>
            <a:r>
              <a:rPr lang="de-DE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Albaali</a:t>
            </a:r>
            <a:endParaRPr lang="de-DE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1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de-DE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838200" y="883947"/>
            <a:ext cx="8222130" cy="6810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 </a:t>
            </a:r>
          </a:p>
          <a:p>
            <a:pPr marL="285750" indent="-285750" algn="l">
              <a:lnSpc>
                <a:spcPts val="455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Seismic Analysis Parameters</a:t>
            </a:r>
            <a:endParaRPr lang="en-US" sz="1800" dirty="0"/>
          </a:p>
          <a:p>
            <a:pPr marL="285750" indent="-285750" algn="l">
              <a:lnSpc>
                <a:spcPts val="48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Seismic Forces &amp; Moments</a:t>
            </a:r>
            <a:endParaRPr lang="en-US" sz="1800" dirty="0"/>
          </a:p>
          <a:p>
            <a:pPr marL="285750" indent="-285750" algn="l">
              <a:lnSpc>
                <a:spcPts val="485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Global Stability Verification</a:t>
            </a:r>
            <a:endParaRPr lang="en-US" sz="1800" dirty="0"/>
          </a:p>
          <a:p>
            <a:pPr marL="285750" indent="-285750" algn="l">
              <a:lnSpc>
                <a:spcPts val="485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Soil-Structure Interaction Analysis</a:t>
            </a:r>
          </a:p>
          <a:p>
            <a:pPr marL="285750" indent="-285750" algn="l">
              <a:lnSpc>
                <a:spcPts val="485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</a:rPr>
              <a:t>3D Modeling</a:t>
            </a:r>
            <a:endParaRPr lang="en-US" sz="1800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References</a:t>
            </a:r>
            <a:endParaRPr lang="en-GB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GB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CF6CC94F-C4BC-47B3-8441-0EFA779D39FB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>
                <a:solidFill>
                  <a:schemeClr val="tx1"/>
                </a:solidFill>
              </a:rPr>
              <a:t>16/12/2025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535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2D30E5-E8EB-4514-D402-7006892C79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0" name="Textfeld 12">
            <a:extLst>
              <a:ext uri="{FF2B5EF4-FFF2-40B4-BE49-F238E27FC236}">
                <a16:creationId xmlns:a16="http://schemas.microsoft.com/office/drawing/2014/main" id="{DE04D7BF-ACF2-44DB-9EDE-31B6CDA40272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Datumsplatzhalter 4">
            <a:extLst>
              <a:ext uri="{FF2B5EF4-FFF2-40B4-BE49-F238E27FC236}">
                <a16:creationId xmlns:a16="http://schemas.microsoft.com/office/drawing/2014/main" id="{68A53A3C-D89B-48E8-9D4C-2DB0740D89EE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/>
              <a:t>16/12/2025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4E8F9F52-569B-4C1D-A6BB-BC95997ADE08}"/>
              </a:ext>
            </a:extLst>
          </p:cNvPr>
          <p:cNvSpPr/>
          <p:nvPr/>
        </p:nvSpPr>
        <p:spPr>
          <a:xfrm>
            <a:off x="822941" y="555916"/>
            <a:ext cx="765167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Seismic Analysis Parameters</a:t>
            </a:r>
            <a:endParaRPr lang="en-US" sz="365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A79488F9-7205-42E0-9EBA-3562D02DDC0F}"/>
              </a:ext>
            </a:extLst>
          </p:cNvPr>
          <p:cNvSpPr/>
          <p:nvPr/>
        </p:nvSpPr>
        <p:spPr>
          <a:xfrm>
            <a:off x="619164" y="1470157"/>
            <a:ext cx="2787610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Design Methodology</a:t>
            </a:r>
            <a:endParaRPr lang="en-US" sz="2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BDF0FAB4-989E-40B4-8457-4761BABDADDD}"/>
              </a:ext>
            </a:extLst>
          </p:cNvPr>
          <p:cNvSpPr/>
          <p:nvPr/>
        </p:nvSpPr>
        <p:spPr>
          <a:xfrm>
            <a:off x="619164" y="2137440"/>
            <a:ext cx="6950035" cy="23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analysis employs the </a:t>
            </a:r>
            <a:r>
              <a:rPr lang="en-US" sz="14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Equivalent Static Force Method</a:t>
            </a: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(Pseudo-Static approach) in accordance with Eurocode 8 standards. This simplified method is appropriate for regular structures and provides conservative results for seismic design verification.</a:t>
            </a:r>
            <a:endParaRPr lang="en-US" sz="145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3946CE41-F6CA-4208-A022-9DB55E79D8D6}"/>
              </a:ext>
            </a:extLst>
          </p:cNvPr>
          <p:cNvSpPr/>
          <p:nvPr/>
        </p:nvSpPr>
        <p:spPr>
          <a:xfrm>
            <a:off x="619164" y="3429000"/>
            <a:ext cx="2787610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Seismic Coefficient:</a:t>
            </a: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450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a_g=0.4g</a:t>
            </a:r>
            <a:endParaRPr lang="en-US" sz="145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3273BE40-EEA5-4865-B1D4-843959EEFF3F}"/>
              </a:ext>
            </a:extLst>
          </p:cNvPr>
          <p:cNvSpPr/>
          <p:nvPr/>
        </p:nvSpPr>
        <p:spPr>
          <a:xfrm>
            <a:off x="497915" y="4226909"/>
            <a:ext cx="6950034" cy="119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represents a high seismic zone classification, requiring rigorous stability verification across all failure modes.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D1EF0-202F-478D-8ACD-FF46C5083B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943"/>
          <a:stretch/>
        </p:blipFill>
        <p:spPr>
          <a:xfrm>
            <a:off x="8219069" y="1354667"/>
            <a:ext cx="3736635" cy="4998896"/>
          </a:xfrm>
          <a:prstGeom prst="rect">
            <a:avLst/>
          </a:prstGeom>
        </p:spPr>
      </p:pic>
      <p:sp>
        <p:nvSpPr>
          <p:cNvPr id="28" name="Text 11">
            <a:extLst>
              <a:ext uri="{FF2B5EF4-FFF2-40B4-BE49-F238E27FC236}">
                <a16:creationId xmlns:a16="http://schemas.microsoft.com/office/drawing/2014/main" id="{D0590C12-3247-4717-BADA-52D4ADEDA5A4}"/>
              </a:ext>
            </a:extLst>
          </p:cNvPr>
          <p:cNvSpPr/>
          <p:nvPr/>
        </p:nvSpPr>
        <p:spPr>
          <a:xfrm>
            <a:off x="7068205" y="6252923"/>
            <a:ext cx="4408884" cy="59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Figure </a:t>
            </a:r>
            <a:r>
              <a:rPr lang="de-DE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: </a:t>
            </a:r>
            <a:r>
              <a:rPr lang="de-DE" sz="1050" dirty="0" err="1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by</a:t>
            </a:r>
            <a:r>
              <a:rPr lang="de-DE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de-DE" sz="1050" dirty="0" err="1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Dr</a:t>
            </a:r>
            <a:r>
              <a:rPr lang="de-DE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de-DE" sz="1050" dirty="0" err="1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faber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49519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8DEF-95C2-8867-B8E7-2D6FE68E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7433A7-8F5F-6FC4-675A-084AF22E98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301870" y="6009074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4</a:t>
            </a:fld>
            <a:endParaRPr lang="en-GB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17594F-BFA6-E9ED-69AA-1EE1C861C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3700" y="-330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11CABE42-A908-4286-9FAB-B2A11EC2B497}"/>
              </a:ext>
            </a:extLst>
          </p:cNvPr>
          <p:cNvSpPr/>
          <p:nvPr/>
        </p:nvSpPr>
        <p:spPr>
          <a:xfrm>
            <a:off x="388541" y="552945"/>
            <a:ext cx="7885509" cy="611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>
              <a:lnSpc>
                <a:spcPts val="4800"/>
              </a:lnSpc>
            </a:pPr>
            <a:r>
              <a:rPr lang="en-US" sz="3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Seismic Forces &amp; Moments</a:t>
            </a:r>
            <a:endParaRPr lang="en-US" sz="38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A942AC6C-0B8E-4C63-A521-63D21474C61B}"/>
              </a:ext>
            </a:extLst>
          </p:cNvPr>
          <p:cNvSpPr/>
          <p:nvPr/>
        </p:nvSpPr>
        <p:spPr>
          <a:xfrm>
            <a:off x="388541" y="1210588"/>
            <a:ext cx="13065919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Applying the seismic coefficient (0.4) to the precise structural weights yields the following demand on the structure:</a:t>
            </a:r>
            <a:endParaRPr lang="en-US" sz="15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35D03572-C579-45EC-A00E-33C6F3BBD90F}"/>
              </a:ext>
            </a:extLst>
          </p:cNvPr>
          <p:cNvSpPr/>
          <p:nvPr/>
        </p:nvSpPr>
        <p:spPr>
          <a:xfrm>
            <a:off x="134541" y="1515864"/>
            <a:ext cx="13065919" cy="2828687"/>
          </a:xfrm>
          <a:prstGeom prst="roundRect">
            <a:avLst>
              <a:gd name="adj" fmla="val 10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E0F842DD-E27C-43EB-8537-3A80227B68DE}"/>
              </a:ext>
            </a:extLst>
          </p:cNvPr>
          <p:cNvSpPr/>
          <p:nvPr/>
        </p:nvSpPr>
        <p:spPr>
          <a:xfrm>
            <a:off x="142162" y="1523484"/>
            <a:ext cx="11907678" cy="562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FE0A1D3-A438-4F57-BFE5-B0D0DE9DB1CE}"/>
              </a:ext>
            </a:extLst>
          </p:cNvPr>
          <p:cNvSpPr/>
          <p:nvPr/>
        </p:nvSpPr>
        <p:spPr>
          <a:xfrm>
            <a:off x="337780" y="1648380"/>
            <a:ext cx="35203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Component</a:t>
            </a:r>
            <a:endParaRPr lang="en-US" sz="15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525FA9E-CAA4-4964-A5FC-3248F5BE3F40}"/>
              </a:ext>
            </a:extLst>
          </p:cNvPr>
          <p:cNvSpPr/>
          <p:nvPr/>
        </p:nvSpPr>
        <p:spPr>
          <a:xfrm>
            <a:off x="4256723" y="1648380"/>
            <a:ext cx="286404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Weight (G)</a:t>
            </a:r>
            <a:endParaRPr lang="en-US" sz="15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4C2FF94B-7F35-482D-85F4-F66BEE653FD8}"/>
              </a:ext>
            </a:extLst>
          </p:cNvPr>
          <p:cNvSpPr/>
          <p:nvPr/>
        </p:nvSpPr>
        <p:spPr>
          <a:xfrm>
            <a:off x="7519392" y="1648380"/>
            <a:ext cx="286404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Seismic Force</a:t>
            </a:r>
            <a:endParaRPr lang="en-US" sz="15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13AEA6B-D710-4548-9040-44271DBEC07D}"/>
              </a:ext>
            </a:extLst>
          </p:cNvPr>
          <p:cNvSpPr/>
          <p:nvPr/>
        </p:nvSpPr>
        <p:spPr>
          <a:xfrm>
            <a:off x="10782063" y="1648380"/>
            <a:ext cx="1267776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Lever Arm (H)</a:t>
            </a:r>
            <a:endParaRPr lang="en-US" sz="15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3CB583A-AF72-498B-AFA9-8218A9F8C77C}"/>
              </a:ext>
            </a:extLst>
          </p:cNvPr>
          <p:cNvSpPr/>
          <p:nvPr/>
        </p:nvSpPr>
        <p:spPr>
          <a:xfrm>
            <a:off x="142161" y="2086173"/>
            <a:ext cx="11712059" cy="562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664582D0-0338-4481-805B-B716F6D91B9A}"/>
              </a:ext>
            </a:extLst>
          </p:cNvPr>
          <p:cNvSpPr/>
          <p:nvPr/>
        </p:nvSpPr>
        <p:spPr>
          <a:xfrm>
            <a:off x="337780" y="2211069"/>
            <a:ext cx="35203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Nacelle</a:t>
            </a:r>
            <a:endParaRPr lang="en-US" sz="15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F6ED89A-19BF-44EA-8519-49D18E722D2F}"/>
              </a:ext>
            </a:extLst>
          </p:cNvPr>
          <p:cNvSpPr/>
          <p:nvPr/>
        </p:nvSpPr>
        <p:spPr>
          <a:xfrm>
            <a:off x="4256723" y="2211069"/>
            <a:ext cx="286404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146.3 tons</a:t>
            </a:r>
            <a:endParaRPr lang="en-US" sz="15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4931F93A-975C-4ECC-8204-F6DB51C041B8}"/>
              </a:ext>
            </a:extLst>
          </p:cNvPr>
          <p:cNvSpPr/>
          <p:nvPr/>
        </p:nvSpPr>
        <p:spPr>
          <a:xfrm>
            <a:off x="7519392" y="2211069"/>
            <a:ext cx="286404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58.5 tons</a:t>
            </a:r>
            <a:endParaRPr lang="en-US" sz="15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28F0FF93-3997-41B5-AA3A-57975D5E1AD2}"/>
              </a:ext>
            </a:extLst>
          </p:cNvPr>
          <p:cNvSpPr/>
          <p:nvPr/>
        </p:nvSpPr>
        <p:spPr>
          <a:xfrm>
            <a:off x="10782062" y="2211069"/>
            <a:ext cx="2215277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100.0 m</a:t>
            </a:r>
            <a:endParaRPr lang="en-US" sz="15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E25DD363-C175-4D86-B9CF-F4789DE1BA45}"/>
              </a:ext>
            </a:extLst>
          </p:cNvPr>
          <p:cNvSpPr/>
          <p:nvPr/>
        </p:nvSpPr>
        <p:spPr>
          <a:xfrm>
            <a:off x="142161" y="2648862"/>
            <a:ext cx="11656139" cy="562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21C647C-2989-4E75-B804-7FF22876651D}"/>
              </a:ext>
            </a:extLst>
          </p:cNvPr>
          <p:cNvSpPr/>
          <p:nvPr/>
        </p:nvSpPr>
        <p:spPr>
          <a:xfrm>
            <a:off x="337780" y="2773759"/>
            <a:ext cx="35203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Tower</a:t>
            </a:r>
            <a:endParaRPr lang="en-US" sz="15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7437A6EB-66AF-48BF-A5B7-E974E7CADDAE}"/>
              </a:ext>
            </a:extLst>
          </p:cNvPr>
          <p:cNvSpPr/>
          <p:nvPr/>
        </p:nvSpPr>
        <p:spPr>
          <a:xfrm>
            <a:off x="4256723" y="2773759"/>
            <a:ext cx="286404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349.0 tons</a:t>
            </a:r>
            <a:endParaRPr lang="en-US" sz="15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89F1D67E-FCAC-49CE-A753-05028B15C245}"/>
              </a:ext>
            </a:extLst>
          </p:cNvPr>
          <p:cNvSpPr/>
          <p:nvPr/>
        </p:nvSpPr>
        <p:spPr>
          <a:xfrm>
            <a:off x="7519392" y="2773759"/>
            <a:ext cx="286404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139.6 tons</a:t>
            </a:r>
            <a:endParaRPr lang="en-US" sz="15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7A3BB62A-155E-42E3-B6FC-4AB01124EB57}"/>
              </a:ext>
            </a:extLst>
          </p:cNvPr>
          <p:cNvSpPr/>
          <p:nvPr/>
        </p:nvSpPr>
        <p:spPr>
          <a:xfrm>
            <a:off x="10782062" y="2773759"/>
            <a:ext cx="2215277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50.0 m</a:t>
            </a:r>
            <a:endParaRPr lang="en-US" sz="1500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30B992C0-790E-40C1-B11C-522806E1AF5A}"/>
              </a:ext>
            </a:extLst>
          </p:cNvPr>
          <p:cNvSpPr/>
          <p:nvPr/>
        </p:nvSpPr>
        <p:spPr>
          <a:xfrm>
            <a:off x="142162" y="3211552"/>
            <a:ext cx="11907678" cy="562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181AFB90-C2E4-443E-901F-7FEA9D99DCC1}"/>
              </a:ext>
            </a:extLst>
          </p:cNvPr>
          <p:cNvSpPr/>
          <p:nvPr/>
        </p:nvSpPr>
        <p:spPr>
          <a:xfrm>
            <a:off x="337780" y="3336448"/>
            <a:ext cx="35203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6FE5A07E-31B1-42C2-812C-7EAC9DE922C3}"/>
              </a:ext>
            </a:extLst>
          </p:cNvPr>
          <p:cNvSpPr/>
          <p:nvPr/>
        </p:nvSpPr>
        <p:spPr>
          <a:xfrm>
            <a:off x="4256723" y="3336448"/>
            <a:ext cx="286404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2,856.0 tons</a:t>
            </a:r>
            <a:endParaRPr lang="en-US" sz="15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44B3D6E4-84C1-4D52-B705-7A8AF1B4435E}"/>
              </a:ext>
            </a:extLst>
          </p:cNvPr>
          <p:cNvSpPr/>
          <p:nvPr/>
        </p:nvSpPr>
        <p:spPr>
          <a:xfrm>
            <a:off x="7519392" y="3336448"/>
            <a:ext cx="286404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1,142.4 tons</a:t>
            </a:r>
            <a:endParaRPr lang="en-US" sz="15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692FA14A-23B0-4772-86A9-320068A0DC39}"/>
              </a:ext>
            </a:extLst>
          </p:cNvPr>
          <p:cNvSpPr/>
          <p:nvPr/>
        </p:nvSpPr>
        <p:spPr>
          <a:xfrm>
            <a:off x="10782062" y="3336448"/>
            <a:ext cx="2215277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1.0 m</a:t>
            </a:r>
            <a:endParaRPr lang="en-US" sz="1500" dirty="0"/>
          </a:p>
        </p:txBody>
      </p:sp>
      <p:sp>
        <p:nvSpPr>
          <p:cNvPr id="36" name="Shape 23">
            <a:extLst>
              <a:ext uri="{FF2B5EF4-FFF2-40B4-BE49-F238E27FC236}">
                <a16:creationId xmlns:a16="http://schemas.microsoft.com/office/drawing/2014/main" id="{25615EBB-7935-4FB4-A1DF-59AF4465781A}"/>
              </a:ext>
            </a:extLst>
          </p:cNvPr>
          <p:cNvSpPr/>
          <p:nvPr/>
        </p:nvSpPr>
        <p:spPr>
          <a:xfrm>
            <a:off x="142161" y="3774241"/>
            <a:ext cx="11656139" cy="562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445DE832-049B-44A4-9296-C63A23668156}"/>
              </a:ext>
            </a:extLst>
          </p:cNvPr>
          <p:cNvSpPr/>
          <p:nvPr/>
        </p:nvSpPr>
        <p:spPr>
          <a:xfrm>
            <a:off x="337780" y="3899138"/>
            <a:ext cx="35203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TOTAL (Demand)</a:t>
            </a:r>
            <a:endParaRPr lang="en-US" sz="1500" dirty="0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080E65B5-AF5D-4F09-ACD8-20201BB9C607}"/>
              </a:ext>
            </a:extLst>
          </p:cNvPr>
          <p:cNvSpPr/>
          <p:nvPr/>
        </p:nvSpPr>
        <p:spPr>
          <a:xfrm>
            <a:off x="4256723" y="3899138"/>
            <a:ext cx="286404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3,351.3 tons</a:t>
            </a:r>
            <a:endParaRPr lang="en-US" sz="15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2C24D890-72DD-4A55-B2DF-358E1F388147}"/>
              </a:ext>
            </a:extLst>
          </p:cNvPr>
          <p:cNvSpPr/>
          <p:nvPr/>
        </p:nvSpPr>
        <p:spPr>
          <a:xfrm>
            <a:off x="7519392" y="3899138"/>
            <a:ext cx="286404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1,340.5 tons</a:t>
            </a:r>
            <a:endParaRPr lang="en-US" sz="1500" dirty="0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B49D5BB6-B4E6-48AA-BA59-1950D285C3E8}"/>
              </a:ext>
            </a:extLst>
          </p:cNvPr>
          <p:cNvSpPr/>
          <p:nvPr/>
        </p:nvSpPr>
        <p:spPr>
          <a:xfrm>
            <a:off x="10782062" y="3899138"/>
            <a:ext cx="2215277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—</a:t>
            </a:r>
            <a:endParaRPr lang="en-US" sz="150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AE4EB5C2-B337-463D-84EE-BD1D2D7F9AE3}"/>
              </a:ext>
            </a:extLst>
          </p:cNvPr>
          <p:cNvSpPr/>
          <p:nvPr/>
        </p:nvSpPr>
        <p:spPr>
          <a:xfrm>
            <a:off x="-974513" y="4344551"/>
            <a:ext cx="6410682" cy="645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1,340</a:t>
            </a:r>
            <a:endParaRPr lang="en-US" sz="5050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313D7FFA-6E34-4F69-8C73-6AE714FF0656}"/>
              </a:ext>
            </a:extLst>
          </p:cNvPr>
          <p:cNvSpPr/>
          <p:nvPr/>
        </p:nvSpPr>
        <p:spPr>
          <a:xfrm>
            <a:off x="1008473" y="5234186"/>
            <a:ext cx="244471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Base Shear</a:t>
            </a:r>
            <a:endParaRPr lang="en-US" sz="1900" dirty="0"/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BD9CE88E-0591-46A7-B408-A174F5414122}"/>
              </a:ext>
            </a:extLst>
          </p:cNvPr>
          <p:cNvSpPr/>
          <p:nvPr/>
        </p:nvSpPr>
        <p:spPr>
          <a:xfrm>
            <a:off x="-989912" y="5553593"/>
            <a:ext cx="6410682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Total horizontal force in tons</a:t>
            </a:r>
            <a:endParaRPr lang="en-US" sz="1500" dirty="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BFAF70CA-C4DB-4D11-89F2-8DFD806209B0}"/>
              </a:ext>
            </a:extLst>
          </p:cNvPr>
          <p:cNvSpPr/>
          <p:nvPr/>
        </p:nvSpPr>
        <p:spPr>
          <a:xfrm>
            <a:off x="5987018" y="4287577"/>
            <a:ext cx="6410801" cy="645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14K</a:t>
            </a:r>
            <a:endParaRPr lang="en-US" sz="5050" dirty="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38C61C68-F266-4C36-8D63-A8CF0EC1BA88}"/>
              </a:ext>
            </a:extLst>
          </p:cNvPr>
          <p:cNvSpPr/>
          <p:nvPr/>
        </p:nvSpPr>
        <p:spPr>
          <a:xfrm>
            <a:off x="7580670" y="5177212"/>
            <a:ext cx="322337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Overturning Moment</a:t>
            </a:r>
            <a:endParaRPr lang="en-US" sz="1900" dirty="0"/>
          </a:p>
        </p:txBody>
      </p:sp>
      <p:sp>
        <p:nvSpPr>
          <p:cNvPr id="46" name="Text 33">
            <a:extLst>
              <a:ext uri="{FF2B5EF4-FFF2-40B4-BE49-F238E27FC236}">
                <a16:creationId xmlns:a16="http://schemas.microsoft.com/office/drawing/2014/main" id="{5EBE1125-4705-4A75-8BC0-E5F8F7BCE343}"/>
              </a:ext>
            </a:extLst>
          </p:cNvPr>
          <p:cNvSpPr/>
          <p:nvPr/>
        </p:nvSpPr>
        <p:spPr>
          <a:xfrm>
            <a:off x="5987018" y="5458101"/>
            <a:ext cx="641080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Total moment in ton·m</a:t>
            </a:r>
            <a:endParaRPr lang="en-US" sz="1500" dirty="0"/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5BBAB797-167A-45F9-8618-9256EE94950E}"/>
              </a:ext>
            </a:extLst>
          </p:cNvPr>
          <p:cNvSpPr/>
          <p:nvPr/>
        </p:nvSpPr>
        <p:spPr>
          <a:xfrm>
            <a:off x="364986" y="5809973"/>
            <a:ext cx="10647522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seismic force calculation follows </a:t>
            </a:r>
            <a:r>
              <a:rPr lang="en-US" sz="1500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V_i = 0.4 \times G</a:t>
            </a: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for each component, with forces applied at respective centers of gravity to determine the total base shear and overturning moment acting on the foundation.</a:t>
            </a:r>
            <a:endParaRPr lang="en-US" sz="1500" dirty="0"/>
          </a:p>
        </p:txBody>
      </p:sp>
      <p:sp>
        <p:nvSpPr>
          <p:cNvPr id="48" name="Fußzeilenplatzhalter 5">
            <a:extLst>
              <a:ext uri="{FF2B5EF4-FFF2-40B4-BE49-F238E27FC236}">
                <a16:creationId xmlns:a16="http://schemas.microsoft.com/office/drawing/2014/main" id="{89224792-CD00-404D-B62D-D454085006B1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49" name="Textfeld 12">
            <a:extLst>
              <a:ext uri="{FF2B5EF4-FFF2-40B4-BE49-F238E27FC236}">
                <a16:creationId xmlns:a16="http://schemas.microsoft.com/office/drawing/2014/main" id="{41793E71-5EAC-4996-88DB-38A2923665C6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Datumsplatzhalter 4">
            <a:extLst>
              <a:ext uri="{FF2B5EF4-FFF2-40B4-BE49-F238E27FC236}">
                <a16:creationId xmlns:a16="http://schemas.microsoft.com/office/drawing/2014/main" id="{43179E24-EBC3-4DDC-981A-462416638F0A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/>
              <a:t>16/12/2025</a:t>
            </a:r>
          </a:p>
        </p:txBody>
      </p:sp>
    </p:spTree>
    <p:extLst>
      <p:ext uri="{BB962C8B-B14F-4D97-AF65-F5344CB8AC3E}">
        <p14:creationId xmlns:p14="http://schemas.microsoft.com/office/powerpoint/2010/main" val="26415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A701C-ED6F-45B9-C725-7587C612E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6921F3-D68D-9241-6B31-2CC540335B4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5</a:t>
            </a:fld>
            <a:endParaRPr lang="en-GB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02104CE-3B0B-289F-821C-D617AC9E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D48E8BB5-58E9-39C3-AC09-609F8B7BB23C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1" name="Textfeld 12">
            <a:extLst>
              <a:ext uri="{FF2B5EF4-FFF2-40B4-BE49-F238E27FC236}">
                <a16:creationId xmlns:a16="http://schemas.microsoft.com/office/drawing/2014/main" id="{A8E00E50-B010-4CCA-82D9-E0D3ECD81534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Datumsplatzhalter 4">
            <a:extLst>
              <a:ext uri="{FF2B5EF4-FFF2-40B4-BE49-F238E27FC236}">
                <a16:creationId xmlns:a16="http://schemas.microsoft.com/office/drawing/2014/main" id="{987EEA56-B7AD-4A9E-92C4-D5CCAE30EE3E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b="1"/>
              <a:t>16/12/2025</a:t>
            </a:r>
            <a:endParaRPr lang="en-GB" sz="1200" b="1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46CBE18F-C2CB-499A-853A-E256AE3EAF44}"/>
              </a:ext>
            </a:extLst>
          </p:cNvPr>
          <p:cNvSpPr/>
          <p:nvPr/>
        </p:nvSpPr>
        <p:spPr>
          <a:xfrm>
            <a:off x="196891" y="398407"/>
            <a:ext cx="951988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Global Stability Verification</a:t>
            </a:r>
            <a:endParaRPr lang="en-US" sz="39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0C2D9AEB-EB78-4B85-AE3A-FB442CDDEE27}"/>
              </a:ext>
            </a:extLst>
          </p:cNvPr>
          <p:cNvSpPr/>
          <p:nvPr/>
        </p:nvSpPr>
        <p:spPr>
          <a:xfrm>
            <a:off x="196891" y="1263658"/>
            <a:ext cx="1099181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Two critical stability checks ensure the foundation remains secure under seismic loading conditions. Both checks demonstrate adequate safety factors exceeding minimum code requirements.</a:t>
            </a:r>
            <a:endParaRPr lang="en-US" sz="155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AE736FC-E69F-4361-B6D8-62E3CE0627B9}"/>
              </a:ext>
            </a:extLst>
          </p:cNvPr>
          <p:cNvSpPr/>
          <p:nvPr/>
        </p:nvSpPr>
        <p:spPr>
          <a:xfrm>
            <a:off x="1733025" y="2136744"/>
            <a:ext cx="501699" cy="595313"/>
          </a:xfrm>
          <a:prstGeom prst="roundRect">
            <a:avLst>
              <a:gd name="adj" fmla="val 153600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CF5EAD44-4EC1-4E3E-AABE-ADC1A9BD2006}"/>
              </a:ext>
            </a:extLst>
          </p:cNvPr>
          <p:cNvSpPr/>
          <p:nvPr/>
        </p:nvSpPr>
        <p:spPr>
          <a:xfrm>
            <a:off x="1911619" y="2285573"/>
            <a:ext cx="2006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85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1006386-87C0-46A9-9D66-0ACCFA5CEC6D}"/>
              </a:ext>
            </a:extLst>
          </p:cNvPr>
          <p:cNvSpPr/>
          <p:nvPr/>
        </p:nvSpPr>
        <p:spPr>
          <a:xfrm>
            <a:off x="418109" y="2915769"/>
            <a:ext cx="31572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Sliding Stability Check</a:t>
            </a:r>
            <a:endParaRPr lang="en-US" sz="19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DC4A0C74-0B79-4CEF-8649-8DE4F7082491}"/>
              </a:ext>
            </a:extLst>
          </p:cNvPr>
          <p:cNvSpPr/>
          <p:nvPr/>
        </p:nvSpPr>
        <p:spPr>
          <a:xfrm>
            <a:off x="418109" y="3344989"/>
            <a:ext cx="503946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check verifies that horizontal seismic forces do not cause the foundation to slide across the soil interface.</a:t>
            </a:r>
            <a:endParaRPr lang="en-US" sz="155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8869C099-B576-4143-B401-75EB01BBC56D}"/>
              </a:ext>
            </a:extLst>
          </p:cNvPr>
          <p:cNvSpPr/>
          <p:nvPr/>
        </p:nvSpPr>
        <p:spPr>
          <a:xfrm>
            <a:off x="418109" y="4099131"/>
            <a:ext cx="503946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Resisting Force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(Friction + Cohesion): 2,372 tons (23,295 kN)</a:t>
            </a:r>
            <a:endParaRPr lang="en-US" sz="15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2F029DD-D38C-437F-825B-26F3CF3D56E5}"/>
              </a:ext>
            </a:extLst>
          </p:cNvPr>
          <p:cNvSpPr/>
          <p:nvPr/>
        </p:nvSpPr>
        <p:spPr>
          <a:xfrm>
            <a:off x="418109" y="4535733"/>
            <a:ext cx="503946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Driving Shear Force: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1,340 tons (13,158 kN)</a:t>
            </a:r>
            <a:endParaRPr lang="en-US" sz="15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13FC4CFA-24E3-4F12-B7CC-EF27B3E9FE1D}"/>
              </a:ext>
            </a:extLst>
          </p:cNvPr>
          <p:cNvSpPr/>
          <p:nvPr/>
        </p:nvSpPr>
        <p:spPr>
          <a:xfrm>
            <a:off x="418109" y="4972336"/>
            <a:ext cx="503946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Factor of Safety: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550" b="1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1.77 &gt; 1.0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</a:t>
            </a:r>
            <a:r>
              <a:rPr lang="en-US" sz="1550" dirty="0">
                <a:solidFill>
                  <a:srgbClr val="55575A"/>
                </a:solidFill>
                <a:highlight>
                  <a:srgbClr val="DBDCD4"/>
                </a:highlight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SAFE</a:t>
            </a:r>
            <a:endParaRPr lang="en-US" sz="155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59199FE5-5D4D-4485-A163-D4EB1AF25CC2}"/>
              </a:ext>
            </a:extLst>
          </p:cNvPr>
          <p:cNvSpPr/>
          <p:nvPr/>
        </p:nvSpPr>
        <p:spPr>
          <a:xfrm>
            <a:off x="418109" y="5408938"/>
            <a:ext cx="503946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resisting forces, generated through friction between the foundation base and soil plus soil cohesion, significantly exceed the applied horizontal seismic force.</a:t>
            </a:r>
            <a:endParaRPr lang="en-US" sz="155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B63BF553-6479-4EEF-8883-6C5804DEAFDE}"/>
              </a:ext>
            </a:extLst>
          </p:cNvPr>
          <p:cNvSpPr/>
          <p:nvPr/>
        </p:nvSpPr>
        <p:spPr>
          <a:xfrm>
            <a:off x="8892336" y="2160197"/>
            <a:ext cx="501699" cy="595313"/>
          </a:xfrm>
          <a:prstGeom prst="roundRect">
            <a:avLst>
              <a:gd name="adj" fmla="val 153600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DA3DBBA0-EF25-456A-8A4E-BB029DE3F6D2}"/>
              </a:ext>
            </a:extLst>
          </p:cNvPr>
          <p:cNvSpPr/>
          <p:nvPr/>
        </p:nvSpPr>
        <p:spPr>
          <a:xfrm>
            <a:off x="9090505" y="2307392"/>
            <a:ext cx="2006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85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D57E23C6-EF24-4B86-88DF-0FC11B003106}"/>
              </a:ext>
            </a:extLst>
          </p:cNvPr>
          <p:cNvSpPr/>
          <p:nvPr/>
        </p:nvSpPr>
        <p:spPr>
          <a:xfrm>
            <a:off x="7038698" y="2915769"/>
            <a:ext cx="38420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Overturning Stability Check</a:t>
            </a:r>
            <a:endParaRPr lang="en-US" sz="195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B2D3F69F-32E6-41F8-BC57-3992E97E0D29}"/>
              </a:ext>
            </a:extLst>
          </p:cNvPr>
          <p:cNvSpPr/>
          <p:nvPr/>
        </p:nvSpPr>
        <p:spPr>
          <a:xfrm>
            <a:off x="7038698" y="3344989"/>
            <a:ext cx="503946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check ensures the foundation weight provides sufficient resistance against rotational failure.</a:t>
            </a:r>
            <a:endParaRPr lang="en-US" sz="155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42B7C133-8501-4C7D-9FEC-E7328C8F829B}"/>
              </a:ext>
            </a:extLst>
          </p:cNvPr>
          <p:cNvSpPr/>
          <p:nvPr/>
        </p:nvSpPr>
        <p:spPr>
          <a:xfrm>
            <a:off x="6817480" y="4152304"/>
            <a:ext cx="503946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Stabilizing Moment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(Weight × Radius): 41,891 </a:t>
            </a:r>
            <a:r>
              <a:rPr lang="en-US" sz="1550" dirty="0" err="1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ton·m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(315,800 kN·m)</a:t>
            </a:r>
            <a:endParaRPr lang="en-US" sz="1550" dirty="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551FFF20-0AE6-49B4-8C78-577C17E98F26}"/>
              </a:ext>
            </a:extLst>
          </p:cNvPr>
          <p:cNvSpPr/>
          <p:nvPr/>
        </p:nvSpPr>
        <p:spPr>
          <a:xfrm>
            <a:off x="7038698" y="4535733"/>
            <a:ext cx="503946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Overturning Moment: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~13,972 ton·m (137,133 kN·m)</a:t>
            </a:r>
            <a:endParaRPr lang="en-US" sz="155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FE0FAC9D-E93C-43BA-A79E-0B968B5D0689}"/>
              </a:ext>
            </a:extLst>
          </p:cNvPr>
          <p:cNvSpPr/>
          <p:nvPr/>
        </p:nvSpPr>
        <p:spPr>
          <a:xfrm>
            <a:off x="7038698" y="4972336"/>
            <a:ext cx="503946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Factor of Safety: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550" b="1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2.30 &gt; 1.0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</a:t>
            </a:r>
            <a:r>
              <a:rPr lang="en-US" sz="1550" dirty="0">
                <a:solidFill>
                  <a:srgbClr val="55575A"/>
                </a:solidFill>
                <a:highlight>
                  <a:srgbClr val="DBDCD4"/>
                </a:highlight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SAFE</a:t>
            </a:r>
            <a:endParaRPr lang="en-US" sz="1550" dirty="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81423C0D-72C7-4403-AED4-2C120972D4EA}"/>
              </a:ext>
            </a:extLst>
          </p:cNvPr>
          <p:cNvSpPr/>
          <p:nvPr/>
        </p:nvSpPr>
        <p:spPr>
          <a:xfrm>
            <a:off x="7038698" y="5408938"/>
            <a:ext cx="503946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stabilizing moment from the foundation's self-weight provides more than double the resistance needed to prevent overturning.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3182439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E9E51-5D28-F1C4-C8CD-7EB6AF80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13F397-CBDE-7568-B0AE-84A97318BB4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6</a:t>
            </a:fld>
            <a:endParaRPr lang="en-GB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38912C-E882-AF7B-56ED-AC5449FAE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35F654B8-99BD-AD73-01EC-119C8E7576D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9" name="Textfeld 12">
            <a:extLst>
              <a:ext uri="{FF2B5EF4-FFF2-40B4-BE49-F238E27FC236}">
                <a16:creationId xmlns:a16="http://schemas.microsoft.com/office/drawing/2014/main" id="{E3FB5FBD-EE9F-4A99-A1D7-7B7ACB15224C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Datumsplatzhalter 4">
            <a:extLst>
              <a:ext uri="{FF2B5EF4-FFF2-40B4-BE49-F238E27FC236}">
                <a16:creationId xmlns:a16="http://schemas.microsoft.com/office/drawing/2014/main" id="{18DE21F1-606C-42B2-AABD-BD6F0272A5B8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b="1"/>
              <a:t>16/12/2025</a:t>
            </a:r>
            <a:endParaRPr lang="en-GB" sz="1200" b="1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D523ED0C-85F5-4186-9CC3-0ECE90449046}"/>
              </a:ext>
            </a:extLst>
          </p:cNvPr>
          <p:cNvSpPr/>
          <p:nvPr/>
        </p:nvSpPr>
        <p:spPr>
          <a:xfrm>
            <a:off x="277000" y="585240"/>
            <a:ext cx="116001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Soil-Structure Interaction Analysis</a:t>
            </a:r>
            <a:endParaRPr lang="en-US" sz="39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E6881110-66F6-4461-955A-EE0BF03F52A3}"/>
              </a:ext>
            </a:extLst>
          </p:cNvPr>
          <p:cNvSpPr/>
          <p:nvPr/>
        </p:nvSpPr>
        <p:spPr>
          <a:xfrm>
            <a:off x="295930" y="1294615"/>
            <a:ext cx="45058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Bearing Capacity Verification</a:t>
            </a:r>
            <a:endParaRPr lang="en-US" sz="23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4AE32A7F-FF03-4CBE-A686-413FA1CD72C6}"/>
              </a:ext>
            </a:extLst>
          </p:cNvPr>
          <p:cNvSpPr/>
          <p:nvPr/>
        </p:nvSpPr>
        <p:spPr>
          <a:xfrm>
            <a:off x="295930" y="1865044"/>
            <a:ext cx="48290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bearing pressure check ensures soil beneath the foundation can support the combined static and seismic loads without failure.</a:t>
            </a:r>
            <a:endParaRPr lang="en-US" sz="155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5672166-339F-4D53-9AFE-AB5BCE0D56B9}"/>
              </a:ext>
            </a:extLst>
          </p:cNvPr>
          <p:cNvSpPr/>
          <p:nvPr/>
        </p:nvSpPr>
        <p:spPr>
          <a:xfrm>
            <a:off x="277000" y="2836542"/>
            <a:ext cx="48290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Maximum Edge Pressure (</a:t>
            </a:r>
            <a:r>
              <a:rPr lang="en-US" sz="1550" b="1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q_{max}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): 356 kPa</a:t>
            </a:r>
            <a:endParaRPr lang="en-US" sz="155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B4DFD4E-EC04-4B34-8C66-4C164AC3A957}"/>
              </a:ext>
            </a:extLst>
          </p:cNvPr>
          <p:cNvSpPr/>
          <p:nvPr/>
        </p:nvSpPr>
        <p:spPr>
          <a:xfrm>
            <a:off x="295930" y="3174850"/>
            <a:ext cx="48290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Allowable Dynamic Bearing Capacity: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&gt; 400 kPa</a:t>
            </a:r>
            <a:endParaRPr lang="en-US" sz="155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74365A7A-3861-4CE5-A7FC-B488213985C2}"/>
              </a:ext>
            </a:extLst>
          </p:cNvPr>
          <p:cNvSpPr/>
          <p:nvPr/>
        </p:nvSpPr>
        <p:spPr>
          <a:xfrm>
            <a:off x="295930" y="3670984"/>
            <a:ext cx="48290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allowable capacity assumes compacted fill material with appropriate seismic increase factors per Eurocode 8 provisions.</a:t>
            </a:r>
            <a:endParaRPr lang="en-US" sz="155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CB1A7B80-02B2-4C0D-B870-2EA9B693B845}"/>
              </a:ext>
            </a:extLst>
          </p:cNvPr>
          <p:cNvSpPr/>
          <p:nvPr/>
        </p:nvSpPr>
        <p:spPr>
          <a:xfrm>
            <a:off x="295930" y="4561273"/>
            <a:ext cx="48290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Result: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550" dirty="0">
                <a:solidFill>
                  <a:srgbClr val="55575A"/>
                </a:solidFill>
                <a:highlight>
                  <a:srgbClr val="DBDCD4"/>
                </a:highlight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Safe against soil failure</a:t>
            </a:r>
            <a:endParaRPr lang="en-US" sz="155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643B324-A04B-43CD-9AE8-FD676572E7BE}"/>
              </a:ext>
            </a:extLst>
          </p:cNvPr>
          <p:cNvSpPr/>
          <p:nvPr/>
        </p:nvSpPr>
        <p:spPr>
          <a:xfrm>
            <a:off x="295930" y="4980790"/>
            <a:ext cx="48290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maximum bearing pressure remains below the soil's dynamic capacity, ensuring no bearing failure occurs during seismic loading.</a:t>
            </a:r>
            <a:endParaRPr lang="en-US" sz="15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22DEE79-2582-481D-ADC8-C67E791463C8}"/>
              </a:ext>
            </a:extLst>
          </p:cNvPr>
          <p:cNvSpPr/>
          <p:nvPr/>
        </p:nvSpPr>
        <p:spPr>
          <a:xfrm>
            <a:off x="7067014" y="1294615"/>
            <a:ext cx="47150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Eccentricity &amp; Gapping Analysis</a:t>
            </a:r>
            <a:endParaRPr lang="en-US" sz="23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EBC8370-F956-4001-B06C-F3EED7CF571A}"/>
              </a:ext>
            </a:extLst>
          </p:cNvPr>
          <p:cNvSpPr/>
          <p:nvPr/>
        </p:nvSpPr>
        <p:spPr>
          <a:xfrm>
            <a:off x="7067014" y="1865044"/>
            <a:ext cx="48290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Eccentricity measures how far the resultant force shifts from the foundation center, indicating potential edge uplift.</a:t>
            </a:r>
            <a:endParaRPr lang="en-US" sz="155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1424013-50A9-4138-B234-7EC3A3753A5F}"/>
              </a:ext>
            </a:extLst>
          </p:cNvPr>
          <p:cNvSpPr/>
          <p:nvPr/>
        </p:nvSpPr>
        <p:spPr>
          <a:xfrm>
            <a:off x="7067014" y="2678717"/>
            <a:ext cx="48290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Calculated Eccentricity (e):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5.43 m</a:t>
            </a:r>
            <a:endParaRPr lang="en-US" sz="155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182AB9BF-5ECD-4182-A8B9-3B709A06AA96}"/>
              </a:ext>
            </a:extLst>
          </p:cNvPr>
          <p:cNvSpPr/>
          <p:nvPr/>
        </p:nvSpPr>
        <p:spPr>
          <a:xfrm>
            <a:off x="7067014" y="3174850"/>
            <a:ext cx="48290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Critical Threshold: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R/4 = 3.12 m</a:t>
            </a:r>
            <a:endParaRPr lang="en-US" sz="155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0A63B3D4-2933-401D-A88F-5C79B72C059E}"/>
              </a:ext>
            </a:extLst>
          </p:cNvPr>
          <p:cNvSpPr/>
          <p:nvPr/>
        </p:nvSpPr>
        <p:spPr>
          <a:xfrm>
            <a:off x="7067014" y="3670984"/>
            <a:ext cx="48290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Foundation Radius (R):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12.5 m</a:t>
            </a:r>
            <a:endParaRPr lang="en-US" sz="155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4182F801-90B8-419E-9E4B-E773370C8796}"/>
              </a:ext>
            </a:extLst>
          </p:cNvPr>
          <p:cNvSpPr/>
          <p:nvPr/>
        </p:nvSpPr>
        <p:spPr>
          <a:xfrm>
            <a:off x="7067014" y="4167117"/>
            <a:ext cx="48290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Observation: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Since e &gt; R/4, partial gap opening occurs at the foundation edge under peak seismic loading.</a:t>
            </a:r>
            <a:endParaRPr lang="en-US" sz="155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F54E7646-405A-4ACA-AED7-7B646394CA5A}"/>
              </a:ext>
            </a:extLst>
          </p:cNvPr>
          <p:cNvSpPr/>
          <p:nvPr/>
        </p:nvSpPr>
        <p:spPr>
          <a:xfrm>
            <a:off x="7067014" y="4980790"/>
            <a:ext cx="48290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Conclusion:</a:t>
            </a: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550" dirty="0">
                <a:solidFill>
                  <a:srgbClr val="55575A"/>
                </a:solidFill>
                <a:highlight>
                  <a:srgbClr val="DBDCD4"/>
                </a:highlight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Acceptable under ULS conditions</a:t>
            </a:r>
            <a:endParaRPr lang="en-US" sz="155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D92FE9E1-E5AF-482F-AE30-5CBDA999785D}"/>
              </a:ext>
            </a:extLst>
          </p:cNvPr>
          <p:cNvSpPr/>
          <p:nvPr/>
        </p:nvSpPr>
        <p:spPr>
          <a:xfrm>
            <a:off x="7067014" y="5476924"/>
            <a:ext cx="48290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While edge gapping occurs, global stability is maintained with adequate safety factors. This behavior is acceptable for extreme seismic events at Ultimate Limit State.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14015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DB11C-DC81-C89E-1432-71989630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24E356-0A82-9F51-FE14-E5412EA137B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7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59A5B6EA-01AA-8C9A-6AAA-0DA5CD33FD5C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2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</a:rPr>
              <a:t>3D Modeling Wind of Turbine Foundation </a:t>
            </a:r>
            <a:r>
              <a:rPr lang="de-DE" sz="2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</a:rPr>
              <a:t>(Anchor </a:t>
            </a:r>
            <a:r>
              <a:rPr lang="de-DE" sz="2000" b="1" dirty="0" err="1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</a:rPr>
              <a:t>cage</a:t>
            </a:r>
            <a:r>
              <a:rPr lang="de-DE" sz="2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</a:rPr>
              <a:t>) </a:t>
            </a:r>
            <a:endParaRPr lang="en-GB" sz="2000" b="1" dirty="0">
              <a:solidFill>
                <a:srgbClr val="0C0D0F"/>
              </a:solidFill>
              <a:latin typeface="Hubot Sans Bold" pitchFamily="34" charset="0"/>
              <a:ea typeface="Hubot Sans Bold" pitchFamily="34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3B5579-620B-4DD6-088E-FFF364E00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59C79438-CE19-8EC2-C1CA-C7CBFD61C83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9" name="Textfeld 12">
            <a:extLst>
              <a:ext uri="{FF2B5EF4-FFF2-40B4-BE49-F238E27FC236}">
                <a16:creationId xmlns:a16="http://schemas.microsoft.com/office/drawing/2014/main" id="{7AD64D1C-2A71-49CD-8EB6-09042F54F03C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7C7D4-A6AE-4D93-A1C1-80E78FF1E721}"/>
              </a:ext>
            </a:extLst>
          </p:cNvPr>
          <p:cNvSpPr txBox="1"/>
          <p:nvPr/>
        </p:nvSpPr>
        <p:spPr>
          <a:xfrm>
            <a:off x="9446804" y="6226311"/>
            <a:ext cx="29396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100" dirty="0"/>
              <a:t>Figure created by </a:t>
            </a:r>
            <a:r>
              <a:rPr lang="de-DE" sz="1100" dirty="0"/>
              <a:t>(</a:t>
            </a:r>
            <a:r>
              <a:rPr lang="en-AE" sz="1100" dirty="0" err="1"/>
              <a:t>Solidwork</a:t>
            </a:r>
            <a:r>
              <a:rPr lang="de-DE" sz="1100" dirty="0"/>
              <a:t>)</a:t>
            </a:r>
            <a:endParaRPr lang="ar-SA" sz="1100" dirty="0"/>
          </a:p>
        </p:txBody>
      </p:sp>
      <p:sp>
        <p:nvSpPr>
          <p:cNvPr id="11" name="Datumsplatzhalter 4">
            <a:extLst>
              <a:ext uri="{FF2B5EF4-FFF2-40B4-BE49-F238E27FC236}">
                <a16:creationId xmlns:a16="http://schemas.microsoft.com/office/drawing/2014/main" id="{931DF59A-D2A0-433B-A723-43B318706E62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b="1"/>
              <a:t>16/12/2025</a:t>
            </a:r>
            <a:endParaRPr lang="en-GB" sz="1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C7DBB-5A21-4BE3-9751-BDD5B8FB2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32" y="1388347"/>
            <a:ext cx="7418238" cy="50115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0F6831-53D1-41F3-AD45-3FE6CCA61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412" y="1391939"/>
            <a:ext cx="5843588" cy="48913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FD8765-3810-4D0C-AE60-28368C36664C}"/>
              </a:ext>
            </a:extLst>
          </p:cNvPr>
          <p:cNvSpPr txBox="1"/>
          <p:nvPr/>
        </p:nvSpPr>
        <p:spPr>
          <a:xfrm>
            <a:off x="2245263" y="5995662"/>
            <a:ext cx="622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dirty="0"/>
              <a:t>3D model of anchor cage with anchor bolts</a:t>
            </a:r>
          </a:p>
        </p:txBody>
      </p:sp>
    </p:spTree>
    <p:extLst>
      <p:ext uri="{BB962C8B-B14F-4D97-AF65-F5344CB8AC3E}">
        <p14:creationId xmlns:p14="http://schemas.microsoft.com/office/powerpoint/2010/main" val="1738758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1A103-2B6B-3CE8-CD64-0DDD23CE9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F9C15D-46DF-5DDC-7696-159F89D748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8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DE874A80-466E-1BDF-CE03-C88EFD913618}"/>
              </a:ext>
            </a:extLst>
          </p:cNvPr>
          <p:cNvSpPr txBox="1">
            <a:spLocks/>
          </p:cNvSpPr>
          <p:nvPr/>
        </p:nvSpPr>
        <p:spPr>
          <a:xfrm>
            <a:off x="838200" y="244572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3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</a:rPr>
              <a:t>3D Modeling</a:t>
            </a:r>
            <a:r>
              <a:rPr lang="en-US" sz="4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</a:rPr>
              <a:t> </a:t>
            </a:r>
            <a:r>
              <a:rPr lang="en-US" sz="3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</a:rPr>
              <a:t>Wind of Turbine Foundation</a:t>
            </a:r>
            <a:endParaRPr lang="en-GB" sz="3200" b="1" dirty="0">
              <a:solidFill>
                <a:srgbClr val="0C0D0F"/>
              </a:solidFill>
              <a:latin typeface="Hubot Sans Bold" pitchFamily="34" charset="0"/>
              <a:ea typeface="Hubot Sans Bold" pitchFamily="34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06A30D-A6FA-72FB-4D00-A27889CCB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C22EF552-7B54-BD9F-B064-38DBDD9BE034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0" name="Textfeld 12">
            <a:extLst>
              <a:ext uri="{FF2B5EF4-FFF2-40B4-BE49-F238E27FC236}">
                <a16:creationId xmlns:a16="http://schemas.microsoft.com/office/drawing/2014/main" id="{1AC22109-92FE-4466-BE6C-4C7B5E95FF4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F633D8-87CC-424D-ABB5-72DF031D2F6A}"/>
              </a:ext>
            </a:extLst>
          </p:cNvPr>
          <p:cNvSpPr txBox="1"/>
          <p:nvPr/>
        </p:nvSpPr>
        <p:spPr>
          <a:xfrm>
            <a:off x="9252368" y="6226311"/>
            <a:ext cx="29396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100" dirty="0"/>
              <a:t>Figure created by the author </a:t>
            </a:r>
            <a:r>
              <a:rPr lang="de-DE" sz="1100" dirty="0"/>
              <a:t>(</a:t>
            </a:r>
            <a:r>
              <a:rPr lang="en-AE" sz="1100" dirty="0"/>
              <a:t>Solid work </a:t>
            </a:r>
            <a:r>
              <a:rPr lang="de-DE" sz="1100" dirty="0"/>
              <a:t>)</a:t>
            </a:r>
            <a:endParaRPr lang="ar-SA" sz="1100" dirty="0"/>
          </a:p>
        </p:txBody>
      </p:sp>
      <p:sp>
        <p:nvSpPr>
          <p:cNvPr id="12" name="Datumsplatzhalter 4">
            <a:extLst>
              <a:ext uri="{FF2B5EF4-FFF2-40B4-BE49-F238E27FC236}">
                <a16:creationId xmlns:a16="http://schemas.microsoft.com/office/drawing/2014/main" id="{0C3B6461-DC7D-49BB-A488-CCBB3E1DADC4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b="1"/>
              <a:t>16/12/2025</a:t>
            </a:r>
            <a:endParaRPr lang="en-GB" sz="1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8C5092-EBE2-4968-8F10-1AC0FA31E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623" y="1415072"/>
            <a:ext cx="8964360" cy="45831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BD42F4-2F74-4AE4-9A13-5B65EF7584D3}"/>
              </a:ext>
            </a:extLst>
          </p:cNvPr>
          <p:cNvSpPr txBox="1"/>
          <p:nvPr/>
        </p:nvSpPr>
        <p:spPr>
          <a:xfrm>
            <a:off x="1949570" y="6030013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dirty="0"/>
              <a:t>3D model of wind turbine foundation and pedestal (SolidWorks)</a:t>
            </a:r>
          </a:p>
        </p:txBody>
      </p:sp>
    </p:spTree>
    <p:extLst>
      <p:ext uri="{BB962C8B-B14F-4D97-AF65-F5344CB8AC3E}">
        <p14:creationId xmlns:p14="http://schemas.microsoft.com/office/powerpoint/2010/main" val="2648591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644E-617A-F74B-11FB-893622E1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0CD23F-74D8-5D24-0F87-D905D8DAD21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9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3BFF5D4D-F268-6B83-790B-A43A508D9FDF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References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8F22E22-5CE2-4832-0A06-99D8D6BEE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789EADDA-0ADA-F208-DDD9-F0EF009DAB3A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9" name="Textfeld 12">
            <a:extLst>
              <a:ext uri="{FF2B5EF4-FFF2-40B4-BE49-F238E27FC236}">
                <a16:creationId xmlns:a16="http://schemas.microsoft.com/office/drawing/2014/main" id="{A3AC6B89-5C42-48FC-837A-35DA4D90E62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DE4C5-E6CF-47FD-80DB-56DDF3F4A124}"/>
              </a:ext>
            </a:extLst>
          </p:cNvPr>
          <p:cNvSpPr txBox="1"/>
          <p:nvPr/>
        </p:nvSpPr>
        <p:spPr>
          <a:xfrm>
            <a:off x="764309" y="1467534"/>
            <a:ext cx="61383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EN 1998-1 (Eurocode 8)Design of structures for earthquake resistance – Part 1: General rules, seismic actions and rules for buildings,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 1997-1 (Eurocode 7)Geotechnical design – Part 1: General </a:t>
            </a:r>
            <a:r>
              <a:rPr lang="en-US" dirty="0" err="1"/>
              <a:t>rules,European</a:t>
            </a:r>
            <a:r>
              <a:rPr lang="en-US" dirty="0"/>
              <a:t> Committee for Standardization (CEN).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SolidWorks </a:t>
            </a:r>
            <a:r>
              <a:rPr lang="en-US" dirty="0" err="1"/>
              <a:t>Corporation.SolidWorks</a:t>
            </a:r>
            <a:r>
              <a:rPr lang="en-US" dirty="0"/>
              <a:t> User Documentation – 3D Modeling and Assembly,</a:t>
            </a:r>
            <a:endParaRPr lang="ar-SA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DE7A8468-688B-48CA-B6D5-0061F61D022C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b="1"/>
              <a:t>16/12/2025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2408364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nagment team" id="{49CF8F14-4D36-410B-8FD7-EF9AC5FC0265}" vid="{E0BCDBF3-E95D-42DF-9CFA-5A341A93A409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nagment team" id="{49CF8F14-4D36-410B-8FD7-EF9AC5FC0265}" vid="{B7A59B36-2137-465F-86DC-E5A6887FF7C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Managment team</Template>
  <TotalTime>0</TotalTime>
  <Words>810</Words>
  <Application>Microsoft Office PowerPoint</Application>
  <PresentationFormat>Widescreen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Aptos</vt:lpstr>
      <vt:lpstr>Aptos (Textkörper)</vt:lpstr>
      <vt:lpstr>Aptos Display</vt:lpstr>
      <vt:lpstr>Arial</vt:lpstr>
      <vt:lpstr>Calibri</vt:lpstr>
      <vt:lpstr>Calibri Light</vt:lpstr>
      <vt:lpstr>Hubot Sans Bold</vt:lpstr>
      <vt:lpstr>Lato</vt:lpstr>
      <vt:lpstr>Roboto Condensed</vt:lpstr>
      <vt:lpstr>Tahoma</vt:lpstr>
      <vt:lpstr>Times New Roman</vt:lpstr>
      <vt:lpstr>Wingdings</vt:lpstr>
      <vt:lpstr>Office</vt:lpstr>
      <vt:lpstr>Benutzerdefiniertes Design</vt:lpstr>
      <vt:lpstr>Weekly report: Foundations 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of contents</dc:title>
  <dc:creator>Bakhtiar Sabir</dc:creator>
  <cp:lastModifiedBy>Jehad Albaali</cp:lastModifiedBy>
  <cp:revision>93</cp:revision>
  <dcterms:created xsi:type="dcterms:W3CDTF">2025-09-29T10:47:20Z</dcterms:created>
  <dcterms:modified xsi:type="dcterms:W3CDTF">2025-12-15T11:58:51Z</dcterms:modified>
</cp:coreProperties>
</file>