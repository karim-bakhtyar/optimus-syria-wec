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 /><Relationship Id="rId2" Type="http://schemas.openxmlformats.org/officeDocument/2006/relationships/officeDocument" Target="ppt/presentation.xml" /><Relationship Id="rId1" Type="http://schemas.microsoft.com/office/2011/relationships/webextensiontaskpanes" Target="ppt/webextensions/taskpanes.xml" /><Relationship Id="rId5" Type="http://schemas.openxmlformats.org/officeDocument/2006/relationships/extended-properties" Target="docProps/app.xml" /><Relationship Id="rId4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7"/>
  </p:notesMasterIdLst>
  <p:handoutMasterIdLst>
    <p:handoutMasterId r:id="rId18"/>
  </p:handoutMasterIdLst>
  <p:sldIdLst>
    <p:sldId id="271" r:id="rId3"/>
    <p:sldId id="263" r:id="rId4"/>
    <p:sldId id="259" r:id="rId5"/>
    <p:sldId id="308" r:id="rId6"/>
    <p:sldId id="320" r:id="rId7"/>
    <p:sldId id="302" r:id="rId8"/>
    <p:sldId id="309" r:id="rId9"/>
    <p:sldId id="314" r:id="rId10"/>
    <p:sldId id="321" r:id="rId11"/>
    <p:sldId id="292" r:id="rId12"/>
    <p:sldId id="322" r:id="rId13"/>
    <p:sldId id="324" r:id="rId14"/>
    <p:sldId id="325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63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308"/>
            <p14:sldId id="320"/>
            <p14:sldId id="302"/>
            <p14:sldId id="309"/>
            <p14:sldId id="314"/>
            <p14:sldId id="321"/>
            <p14:sldId id="292"/>
            <p14:sldId id="322"/>
            <p14:sldId id="324"/>
            <p14:sldId id="325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80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handoutMaster" Target="handoutMasters/handoutMaster1.xml" /><Relationship Id="rId3" Type="http://schemas.openxmlformats.org/officeDocument/2006/relationships/slide" Target="slides/slide1.xml" /><Relationship Id="rId21" Type="http://schemas.openxmlformats.org/officeDocument/2006/relationships/theme" Target="theme/theme1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notesMaster" Target="notesMasters/notesMaster1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10" Type="http://schemas.openxmlformats.org/officeDocument/2006/relationships/slide" Target="slides/slide8.xml" /><Relationship Id="rId19" Type="http://schemas.openxmlformats.org/officeDocument/2006/relationships/presProps" Target="presProps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tableStyles" Target="tableStyle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9B92D8-576F-E2EC-294B-2558F9D8C6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647B16-EA31-6786-DA18-D9B47CB286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44)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 /><Relationship Id="rId2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9.xml" /><Relationship Id="rId5" Type="http://schemas.openxmlformats.org/officeDocument/2006/relationships/theme" Target="../theme/theme2.xml" /><Relationship Id="rId4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983DE9D-3043-CD58-EF37-FD7A4639229C}"/>
              </a:ext>
            </a:extLst>
          </p:cNvPr>
          <p:cNvSpPr txBox="1"/>
          <p:nvPr userDrawn="1"/>
        </p:nvSpPr>
        <p:spPr>
          <a:xfrm>
            <a:off x="8505523" y="6616896"/>
            <a:ext cx="2817365" cy="25955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u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Rotor Bearing System/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16/12/2025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1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23.png" /><Relationship Id="rId4" Type="http://schemas.openxmlformats.org/officeDocument/2006/relationships/image" Target="../media/image22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 /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26.png" /><Relationship Id="rId4" Type="http://schemas.openxmlformats.org/officeDocument/2006/relationships/image" Target="../media/image25.png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ylib.net/doc/18166049/din-en-10083-steel-for-quenching-and-tempering-part-3-" TargetMode="External" /><Relationship Id="rId2" Type="http://schemas.openxmlformats.org/officeDocument/2006/relationships/hyperlink" Target="http://www.ith.de/schraubwerkzeuge/hydraulische-drehmomentschrauber" TargetMode="External" /><Relationship Id="rId1" Type="http://schemas.openxmlformats.org/officeDocument/2006/relationships/slideLayout" Target="../slideLayouts/slideLayout11.xml" /><Relationship Id="rId6" Type="http://schemas.openxmlformats.org/officeDocument/2006/relationships/hyperlink" Target="https://ehandel.mw.dk/en/steel-bolts-din-931/steel-bolt-m48-109" TargetMode="External" /><Relationship Id="rId5" Type="http://schemas.openxmlformats.org/officeDocument/2006/relationships/hyperlink" Target="https://boltport.com/weights/din-125/" TargetMode="External" /><Relationship Id="rId4" Type="http://schemas.openxmlformats.org/officeDocument/2006/relationships/hyperlink" Target="https://archive.org/details/manualofsteelcon0000ame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</a:t>
            </a:r>
            <a:r>
              <a:rPr lang="it-IT" dirty="0">
                <a:solidFill>
                  <a:srgbClr val="0E2841">
                    <a:lumMod val="90000"/>
                    <a:lumOff val="10000"/>
                  </a:srgbClr>
                </a:solidFill>
                <a:latin typeface="Aptos (Textkörper)"/>
                <a:cs typeface="Times New Roman" panose="02020603050405020304" pitchFamily="18" charset="0"/>
              </a:rPr>
              <a:t>16 December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158240" y="2516402"/>
            <a:ext cx="1041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Presentation : Rotor Bearing System</a:t>
            </a:r>
            <a:endParaRPr lang="en-GB" sz="4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dirty="0">
                <a:latin typeface="Aptos (Textkörper)"/>
              </a:rPr>
              <a:t>Week number: 12</a:t>
            </a:r>
          </a:p>
          <a:p>
            <a:pPr algn="ctr"/>
            <a:r>
              <a:rPr lang="it-IT" sz="2000" dirty="0">
                <a:latin typeface="Aptos (Textkörper)"/>
              </a:rPr>
              <a:t>Date: 16 /12/2025</a:t>
            </a:r>
          </a:p>
          <a:p>
            <a:pPr algn="ctr"/>
            <a:r>
              <a:rPr lang="it-IT" sz="2000" dirty="0">
                <a:latin typeface="Aptos (Textkörper)"/>
              </a:rPr>
              <a:t>Supervisor: </a:t>
            </a:r>
            <a:r>
              <a:rPr lang="it-IT" sz="2000" dirty="0"/>
              <a:t>Prof.  Peter Quell </a:t>
            </a:r>
            <a:endParaRPr lang="it-IT" sz="2000" dirty="0">
              <a:latin typeface="Aptos (Textkörper)"/>
            </a:endParaRPr>
          </a:p>
          <a:p>
            <a:endParaRPr lang="en-GB" dirty="0"/>
          </a:p>
        </p:txBody>
      </p:sp>
      <p:sp>
        <p:nvSpPr>
          <p:cNvPr id="5" name="Textfeld 12">
            <a:extLst>
              <a:ext uri="{FF2B5EF4-FFF2-40B4-BE49-F238E27FC236}">
                <a16:creationId xmlns:a16="http://schemas.microsoft.com/office/drawing/2014/main" id="{D9A567B7-3E99-FE45-F4F9-8DF602E8F987}"/>
              </a:ext>
            </a:extLst>
          </p:cNvPr>
          <p:cNvSpPr txBox="1">
            <a:spLocks/>
          </p:cNvSpPr>
          <p:nvPr/>
        </p:nvSpPr>
        <p:spPr>
          <a:xfrm>
            <a:off x="1393885" y="4570995"/>
            <a:ext cx="10450286" cy="371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Divyesh Mistry,  Venkata Sreekanth .K , Sreehari Padachery, Jill Sadariya 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BEA2004-2B46-4FBB-0674-B520F411077A}"/>
              </a:ext>
            </a:extLst>
          </p:cNvPr>
          <p:cNvSpPr txBox="1">
            <a:spLocks/>
          </p:cNvSpPr>
          <p:nvPr/>
        </p:nvSpPr>
        <p:spPr>
          <a:xfrm>
            <a:off x="4801762" y="4942122"/>
            <a:ext cx="3399846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Divyesh Mistry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666DE2-1276-7519-CD3A-64862C4F70A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endParaRPr lang="de-DE" sz="2000" dirty="0"/>
          </a:p>
          <a:p>
            <a:r>
              <a:rPr lang="en-US" sz="2000" dirty="0"/>
              <a:t>Bearing</a:t>
            </a:r>
          </a:p>
          <a:p>
            <a:r>
              <a:rPr lang="de-DE" sz="2000" dirty="0"/>
              <a:t>Bearing Housing.</a:t>
            </a:r>
            <a:endParaRPr lang="en-US" sz="2000" dirty="0"/>
          </a:p>
          <a:p>
            <a:r>
              <a:rPr lang="en-US" sz="2000" dirty="0"/>
              <a:t>Shaft.</a:t>
            </a:r>
          </a:p>
          <a:p>
            <a:r>
              <a:rPr lang="en-US" sz="2000" dirty="0"/>
              <a:t>Rotor Lock Disc.</a:t>
            </a:r>
          </a:p>
          <a:p>
            <a:r>
              <a:rPr lang="en-US" sz="2000" dirty="0"/>
              <a:t>Rotor Lock Pin.</a:t>
            </a:r>
          </a:p>
          <a:p>
            <a:r>
              <a:rPr lang="en-US" sz="2000" dirty="0"/>
              <a:t>Lock nut</a:t>
            </a:r>
          </a:p>
          <a:p>
            <a:r>
              <a:rPr lang="de-DE" sz="2000" dirty="0"/>
              <a:t>Rotor Bearing Assembly.</a:t>
            </a:r>
          </a:p>
          <a:p>
            <a:r>
              <a:rPr lang="en-US" sz="2000" dirty="0"/>
              <a:t>Lock pin  calculation using new Load cases</a:t>
            </a:r>
            <a:endParaRPr lang="de-DE" sz="2000" dirty="0"/>
          </a:p>
          <a:p>
            <a:r>
              <a:rPr lang="en-US" sz="2000" dirty="0"/>
              <a:t>Bibliography.</a:t>
            </a:r>
          </a:p>
          <a:p>
            <a:pPr marL="457200" lvl="1" indent="0">
              <a:buNone/>
            </a:pPr>
            <a:endParaRPr lang="de-DE" dirty="0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278CF838-7112-4F3F-EAE6-B2D4ED8F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  <p:sp>
        <p:nvSpPr>
          <p:cNvPr id="3" name="Datumsplatzhalter 22">
            <a:extLst>
              <a:ext uri="{FF2B5EF4-FFF2-40B4-BE49-F238E27FC236}">
                <a16:creationId xmlns:a16="http://schemas.microsoft.com/office/drawing/2014/main" id="{A6E2EAB9-B1A6-2D7F-9370-FA47D0E5A727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FC6A-4A46-EA54-71F5-786625E3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Bearing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3985E-3E0D-30EA-A141-3DD0D20225D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8A39C-E6FB-AF11-A80B-1D9A52BC1C2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3" name="Datumsplatzhalter 22">
            <a:extLst>
              <a:ext uri="{FF2B5EF4-FFF2-40B4-BE49-F238E27FC236}">
                <a16:creationId xmlns:a16="http://schemas.microsoft.com/office/drawing/2014/main" id="{4AD3DC1B-DA04-F86F-C53E-73B0C956493B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  <p:pic>
        <p:nvPicPr>
          <p:cNvPr id="8" name="Picture 7" descr="A drawing of a ball bearing&#10;&#10;AI-generated content may be incorrect.">
            <a:extLst>
              <a:ext uri="{FF2B5EF4-FFF2-40B4-BE49-F238E27FC236}">
                <a16:creationId xmlns:a16="http://schemas.microsoft.com/office/drawing/2014/main" id="{E01A1EAD-4AC8-1A73-D0D8-D5D986C8B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95" y="1690688"/>
            <a:ext cx="4671465" cy="3825572"/>
          </a:xfrm>
          <a:prstGeom prst="rect">
            <a:avLst/>
          </a:prstGeom>
        </p:spPr>
      </p:pic>
      <p:pic>
        <p:nvPicPr>
          <p:cNvPr id="10" name="Picture 9" descr="A black rectangular object with a white background&#10;&#10;AI-generated content may be incorrect.">
            <a:extLst>
              <a:ext uri="{FF2B5EF4-FFF2-40B4-BE49-F238E27FC236}">
                <a16:creationId xmlns:a16="http://schemas.microsoft.com/office/drawing/2014/main" id="{6E2F031D-4E1E-6524-2086-7A1C043D1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645" y="1579783"/>
            <a:ext cx="1585097" cy="355122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8D7EDD1-3D56-0262-DD03-F4D7D40C4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79410"/>
              </p:ext>
            </p:extLst>
          </p:nvPr>
        </p:nvGraphicFramePr>
        <p:xfrm>
          <a:off x="7954643" y="4107606"/>
          <a:ext cx="4098472" cy="21336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04274">
                  <a:extLst>
                    <a:ext uri="{9D8B030D-6E8A-4147-A177-3AD203B41FA5}">
                      <a16:colId xmlns:a16="http://schemas.microsoft.com/office/drawing/2014/main" val="970685163"/>
                    </a:ext>
                  </a:extLst>
                </a:gridCol>
                <a:gridCol w="1297099">
                  <a:extLst>
                    <a:ext uri="{9D8B030D-6E8A-4147-A177-3AD203B41FA5}">
                      <a16:colId xmlns:a16="http://schemas.microsoft.com/office/drawing/2014/main" val="4072492264"/>
                    </a:ext>
                  </a:extLst>
                </a:gridCol>
                <a:gridCol w="1297099">
                  <a:extLst>
                    <a:ext uri="{9D8B030D-6E8A-4147-A177-3AD203B41FA5}">
                      <a16:colId xmlns:a16="http://schemas.microsoft.com/office/drawing/2014/main" val="139763066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value 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unit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ctr"/>
                </a:tc>
                <a:extLst>
                  <a:ext uri="{0D108BD9-81ED-4DB2-BD59-A6C34878D82A}">
                    <a16:rowId xmlns:a16="http://schemas.microsoft.com/office/drawing/2014/main" val="25158479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Bore diameter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1600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79036226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Outer diameter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2240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75335188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 width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6138843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Rollers per row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numbers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42182045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Roller diameter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131.60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387122974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Roller length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249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30358194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Safety factor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09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4010309901"/>
                  </a:ext>
                </a:extLst>
              </a:tr>
            </a:tbl>
          </a:graphicData>
        </a:graphic>
      </p:graphicFrame>
      <p:pic>
        <p:nvPicPr>
          <p:cNvPr id="16" name="Picture 15" descr="A grey oval object with a shadow&#10;&#10;AI-generated content may be incorrect.">
            <a:extLst>
              <a:ext uri="{FF2B5EF4-FFF2-40B4-BE49-F238E27FC236}">
                <a16:creationId xmlns:a16="http://schemas.microsoft.com/office/drawing/2014/main" id="{4E6AA6EF-3FB6-5829-AEA0-B594C659E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492" y="5007027"/>
            <a:ext cx="847898" cy="6904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056A18C-28F6-A758-74AA-D8B544EC50FE}"/>
              </a:ext>
            </a:extLst>
          </p:cNvPr>
          <p:cNvSpPr txBox="1"/>
          <p:nvPr/>
        </p:nvSpPr>
        <p:spPr>
          <a:xfrm>
            <a:off x="3099023" y="6335971"/>
            <a:ext cx="27979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/>
              <a:t>(Own Design)</a:t>
            </a:r>
          </a:p>
        </p:txBody>
      </p:sp>
    </p:spTree>
    <p:extLst>
      <p:ext uri="{BB962C8B-B14F-4D97-AF65-F5344CB8AC3E}">
        <p14:creationId xmlns:p14="http://schemas.microsoft.com/office/powerpoint/2010/main" val="341886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77EB4-97BF-D036-2744-F02DA7B7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8863-482F-4F05-10AE-280512BE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Bearing Housing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B1020-7B21-6E10-70B5-49C7300D409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B2856-D9D0-43E5-4472-BA197B73DC8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3" name="Datumsplatzhalter 22">
            <a:extLst>
              <a:ext uri="{FF2B5EF4-FFF2-40B4-BE49-F238E27FC236}">
                <a16:creationId xmlns:a16="http://schemas.microsoft.com/office/drawing/2014/main" id="{30ED4F70-780E-893B-2A1B-B2B478827270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  <p:pic>
        <p:nvPicPr>
          <p:cNvPr id="7" name="Picture 6" descr="A drawing of a circular object&#10;&#10;AI-generated content may be incorrect.">
            <a:extLst>
              <a:ext uri="{FF2B5EF4-FFF2-40B4-BE49-F238E27FC236}">
                <a16:creationId xmlns:a16="http://schemas.microsoft.com/office/drawing/2014/main" id="{B59F0F25-114E-CA1A-22B0-C22085757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16" y="2061169"/>
            <a:ext cx="5121084" cy="359695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0AD67F-374D-930E-BAB1-C342B9F10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547327"/>
              </p:ext>
            </p:extLst>
          </p:nvPr>
        </p:nvGraphicFramePr>
        <p:xfrm>
          <a:off x="7557796" y="4139450"/>
          <a:ext cx="4534716" cy="208831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664390">
                  <a:extLst>
                    <a:ext uri="{9D8B030D-6E8A-4147-A177-3AD203B41FA5}">
                      <a16:colId xmlns:a16="http://schemas.microsoft.com/office/drawing/2014/main" val="2214404313"/>
                    </a:ext>
                  </a:extLst>
                </a:gridCol>
                <a:gridCol w="1435163">
                  <a:extLst>
                    <a:ext uri="{9D8B030D-6E8A-4147-A177-3AD203B41FA5}">
                      <a16:colId xmlns:a16="http://schemas.microsoft.com/office/drawing/2014/main" val="90597830"/>
                    </a:ext>
                  </a:extLst>
                </a:gridCol>
                <a:gridCol w="1435163">
                  <a:extLst>
                    <a:ext uri="{9D8B030D-6E8A-4147-A177-3AD203B41FA5}">
                      <a16:colId xmlns:a16="http://schemas.microsoft.com/office/drawing/2014/main" val="2813170613"/>
                    </a:ext>
                  </a:extLst>
                </a:gridCol>
              </a:tblGrid>
              <a:tr h="2706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parameter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value 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ctr"/>
                </a:tc>
                <a:extLst>
                  <a:ext uri="{0D108BD9-81ED-4DB2-BD59-A6C34878D82A}">
                    <a16:rowId xmlns:a16="http://schemas.microsoft.com/office/drawing/2014/main" val="3823132640"/>
                  </a:ext>
                </a:extLst>
              </a:tr>
              <a:tr h="27062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3442520887"/>
                  </a:ext>
                </a:extLst>
              </a:tr>
              <a:tr h="27062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ID/Bore </a:t>
                      </a:r>
                      <a:r>
                        <a:rPr lang="en-US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2240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637174496"/>
                  </a:ext>
                </a:extLst>
              </a:tr>
              <a:tr h="27062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Width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720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971563120"/>
                  </a:ext>
                </a:extLst>
              </a:tr>
              <a:tr h="27062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lenght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695596530"/>
                  </a:ext>
                </a:extLst>
              </a:tr>
              <a:tr h="2706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Rib Radius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825064760"/>
                  </a:ext>
                </a:extLst>
              </a:tr>
              <a:tr h="4645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Length of the Legs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26564293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47C8CAB-C68F-8508-3BA7-9645814992D0}"/>
              </a:ext>
            </a:extLst>
          </p:cNvPr>
          <p:cNvSpPr txBox="1"/>
          <p:nvPr/>
        </p:nvSpPr>
        <p:spPr>
          <a:xfrm>
            <a:off x="3099023" y="6335971"/>
            <a:ext cx="27979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/>
              <a:t>(Own Design)</a:t>
            </a:r>
          </a:p>
        </p:txBody>
      </p:sp>
    </p:spTree>
    <p:extLst>
      <p:ext uri="{BB962C8B-B14F-4D97-AF65-F5344CB8AC3E}">
        <p14:creationId xmlns:p14="http://schemas.microsoft.com/office/powerpoint/2010/main" val="900372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3360-C419-8135-5DA7-6EE58FF7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DA28F-A84E-1BB7-1FB4-21BDA2870C8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37854-92E1-A67A-9C9C-A408E89D036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6" name="Titel 4">
            <a:extLst>
              <a:ext uri="{FF2B5EF4-FFF2-40B4-BE49-F238E27FC236}">
                <a16:creationId xmlns:a16="http://schemas.microsoft.com/office/drawing/2014/main" id="{A45C4106-E156-8535-290A-85008260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201"/>
            <a:ext cx="10515600" cy="1325563"/>
          </a:xfrm>
        </p:spPr>
        <p:txBody>
          <a:bodyPr>
            <a:normAutofit/>
          </a:bodyPr>
          <a:lstStyle/>
          <a:p>
            <a:r>
              <a:rPr lang="de-DE" sz="4800" dirty="0"/>
              <a:t> Rotor </a:t>
            </a:r>
            <a:r>
              <a:rPr lang="en-US" sz="4800" dirty="0"/>
              <a:t>Shaft </a:t>
            </a:r>
            <a:endParaRPr lang="en-GB" sz="48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E8532A-FF1C-1FD2-3C5F-2A98BEED2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093915"/>
              </p:ext>
            </p:extLst>
          </p:nvPr>
        </p:nvGraphicFramePr>
        <p:xfrm>
          <a:off x="6362750" y="1558569"/>
          <a:ext cx="5676800" cy="251038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583578">
                  <a:extLst>
                    <a:ext uri="{9D8B030D-6E8A-4147-A177-3AD203B41FA5}">
                      <a16:colId xmlns:a16="http://schemas.microsoft.com/office/drawing/2014/main" val="2533635215"/>
                    </a:ext>
                  </a:extLst>
                </a:gridCol>
                <a:gridCol w="1592537">
                  <a:extLst>
                    <a:ext uri="{9D8B030D-6E8A-4147-A177-3AD203B41FA5}">
                      <a16:colId xmlns:a16="http://schemas.microsoft.com/office/drawing/2014/main" val="4063132216"/>
                    </a:ext>
                  </a:extLst>
                </a:gridCol>
                <a:gridCol w="1030506">
                  <a:extLst>
                    <a:ext uri="{9D8B030D-6E8A-4147-A177-3AD203B41FA5}">
                      <a16:colId xmlns:a16="http://schemas.microsoft.com/office/drawing/2014/main" val="116457611"/>
                    </a:ext>
                  </a:extLst>
                </a:gridCol>
                <a:gridCol w="470179">
                  <a:extLst>
                    <a:ext uri="{9D8B030D-6E8A-4147-A177-3AD203B41FA5}">
                      <a16:colId xmlns:a16="http://schemas.microsoft.com/office/drawing/2014/main" val="423459598"/>
                    </a:ext>
                  </a:extLst>
                </a:gridCol>
              </a:tblGrid>
              <a:tr h="52046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Description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Symbol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Value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Unit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114745481"/>
                  </a:ext>
                </a:extLst>
              </a:tr>
              <a:tr h="39798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Outer screw circle diameter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dt2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2450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1265938367"/>
                  </a:ext>
                </a:extLst>
              </a:tr>
              <a:tr h="39798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Inner screw circle diameter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dt1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2250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2019828821"/>
                  </a:ext>
                </a:extLst>
              </a:tr>
              <a:tr h="39798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No. of screws per bolt circle diameter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200" dirty="0">
                          <a:effectLst/>
                        </a:rPr>
                        <a:t>N</a:t>
                      </a:r>
                      <a:r>
                        <a:rPr lang="pt-BR" sz="1200" baseline="-25000" dirty="0">
                          <a:effectLst/>
                        </a:rPr>
                        <a:t>total</a:t>
                      </a:r>
                      <a:r>
                        <a:rPr lang="pt-BR" sz="1200" dirty="0">
                          <a:effectLst/>
                        </a:rPr>
                        <a:t> = N</a:t>
                      </a:r>
                      <a:r>
                        <a:rPr lang="pt-BR" sz="1200" baseline="-25000" dirty="0">
                          <a:effectLst/>
                        </a:rPr>
                        <a:t>ICB</a:t>
                      </a:r>
                      <a:r>
                        <a:rPr lang="pt-BR" sz="1200" dirty="0">
                          <a:effectLst/>
                        </a:rPr>
                        <a:t> + N</a:t>
                      </a:r>
                      <a:r>
                        <a:rPr lang="pt-BR" sz="1200" baseline="-25000" dirty="0">
                          <a:effectLst/>
                        </a:rPr>
                        <a:t>OCB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94+102=196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991108475"/>
                  </a:ext>
                </a:extLst>
              </a:tr>
              <a:tr h="39798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Integrated </a:t>
                      </a:r>
                      <a:r>
                        <a:rPr lang="en-US" sz="1200" dirty="0" err="1">
                          <a:effectLst/>
                        </a:rPr>
                        <a:t>rotorlock</a:t>
                      </a:r>
                      <a:r>
                        <a:rPr lang="en-US" sz="1200" dirty="0">
                          <a:effectLst/>
                        </a:rPr>
                        <a:t> Flange outer </a:t>
                      </a:r>
                      <a:r>
                        <a:rPr lang="en-US" sz="1200" dirty="0" err="1">
                          <a:effectLst/>
                        </a:rPr>
                        <a:t>dia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200" baseline="0" dirty="0">
                          <a:effectLst/>
                        </a:rPr>
                        <a:t>D</a:t>
                      </a:r>
                      <a:r>
                        <a:rPr lang="pt-BR" sz="1200" baseline="-25000" dirty="0">
                          <a:effectLst/>
                        </a:rPr>
                        <a:t>flange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3190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3317019928"/>
                  </a:ext>
                </a:extLst>
              </a:tr>
              <a:tr h="39798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Integrated Flange Thickness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800" baseline="-25000" dirty="0">
                          <a:effectLst/>
                        </a:rPr>
                        <a:t>t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200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369356604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879C6CA-377A-5819-128B-0BCA8E5C343C}"/>
              </a:ext>
            </a:extLst>
          </p:cNvPr>
          <p:cNvSpPr txBox="1"/>
          <p:nvPr/>
        </p:nvSpPr>
        <p:spPr>
          <a:xfrm>
            <a:off x="6567643" y="4000841"/>
            <a:ext cx="305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u="sng" dirty="0"/>
              <a:t>Gear box Side Flange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976937E-6616-E83D-E6FB-593998949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76878"/>
              </p:ext>
            </p:extLst>
          </p:nvPr>
        </p:nvGraphicFramePr>
        <p:xfrm>
          <a:off x="6415574" y="4338587"/>
          <a:ext cx="5571153" cy="201321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01933">
                  <a:extLst>
                    <a:ext uri="{9D8B030D-6E8A-4147-A177-3AD203B41FA5}">
                      <a16:colId xmlns:a16="http://schemas.microsoft.com/office/drawing/2014/main" val="2533635215"/>
                    </a:ext>
                  </a:extLst>
                </a:gridCol>
                <a:gridCol w="1474626">
                  <a:extLst>
                    <a:ext uri="{9D8B030D-6E8A-4147-A177-3AD203B41FA5}">
                      <a16:colId xmlns:a16="http://schemas.microsoft.com/office/drawing/2014/main" val="4063132216"/>
                    </a:ext>
                  </a:extLst>
                </a:gridCol>
                <a:gridCol w="1060881">
                  <a:extLst>
                    <a:ext uri="{9D8B030D-6E8A-4147-A177-3AD203B41FA5}">
                      <a16:colId xmlns:a16="http://schemas.microsoft.com/office/drawing/2014/main" val="116457611"/>
                    </a:ext>
                  </a:extLst>
                </a:gridCol>
                <a:gridCol w="433713">
                  <a:extLst>
                    <a:ext uri="{9D8B030D-6E8A-4147-A177-3AD203B41FA5}">
                      <a16:colId xmlns:a16="http://schemas.microsoft.com/office/drawing/2014/main" val="423459598"/>
                    </a:ext>
                  </a:extLst>
                </a:gridCol>
              </a:tblGrid>
              <a:tr h="43241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Description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Symbol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Value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Unit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114745481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screw circle diameter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dt1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1464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2019828821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No. of screws per bolt circle diameter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400" dirty="0">
                          <a:effectLst/>
                        </a:rPr>
                        <a:t>N</a:t>
                      </a:r>
                      <a:r>
                        <a:rPr lang="pt-BR" sz="1400" baseline="-25000" dirty="0">
                          <a:effectLst/>
                        </a:rPr>
                        <a:t>total</a:t>
                      </a:r>
                      <a:r>
                        <a:rPr lang="pt-BR" sz="1400" dirty="0">
                          <a:effectLst/>
                        </a:rPr>
                        <a:t> </a:t>
                      </a:r>
                      <a:endParaRPr lang="pt-BR" sz="1400" baseline="-250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46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991108475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Flange outer </a:t>
                      </a:r>
                      <a:r>
                        <a:rPr lang="en-US" sz="1400" dirty="0" err="1">
                          <a:effectLst/>
                        </a:rPr>
                        <a:t>dia</a:t>
                      </a:r>
                      <a:endParaRPr lang="en-US" sz="14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aseline="0" dirty="0">
                          <a:effectLst/>
                        </a:rPr>
                        <a:t>D</a:t>
                      </a:r>
                      <a:r>
                        <a:rPr lang="pt-BR" sz="1400" baseline="-25000" dirty="0">
                          <a:effectLst/>
                        </a:rPr>
                        <a:t>flange</a:t>
                      </a:r>
                    </a:p>
                    <a:p>
                      <a:pPr algn="ctr" rtl="0" fontAlgn="b">
                        <a:buNone/>
                      </a:pPr>
                      <a:endParaRPr lang="pt-BR" sz="1400" baseline="-25000" dirty="0">
                        <a:effectLst/>
                      </a:endParaRP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1584</a:t>
                      </a:r>
                    </a:p>
                  </a:txBody>
                  <a:tcPr marL="20270" marR="20270" marT="13513" marB="13513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ctr"/>
                </a:tc>
                <a:extLst>
                  <a:ext uri="{0D108BD9-81ED-4DB2-BD59-A6C34878D82A}">
                    <a16:rowId xmlns:a16="http://schemas.microsoft.com/office/drawing/2014/main" val="332071872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6AF81C8-B9D4-6C71-7878-5A3AB3CCC600}"/>
              </a:ext>
            </a:extLst>
          </p:cNvPr>
          <p:cNvSpPr txBox="1"/>
          <p:nvPr/>
        </p:nvSpPr>
        <p:spPr>
          <a:xfrm>
            <a:off x="7449717" y="1257349"/>
            <a:ext cx="305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u="sng" dirty="0"/>
              <a:t>Hub Side Flange</a:t>
            </a:r>
          </a:p>
        </p:txBody>
      </p:sp>
      <p:sp>
        <p:nvSpPr>
          <p:cNvPr id="2" name="Datumsplatzhalter 22">
            <a:extLst>
              <a:ext uri="{FF2B5EF4-FFF2-40B4-BE49-F238E27FC236}">
                <a16:creationId xmlns:a16="http://schemas.microsoft.com/office/drawing/2014/main" id="{0F7B8853-5241-7C59-57BD-8AC4E4B6D03F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  <p:pic>
        <p:nvPicPr>
          <p:cNvPr id="6" name="Picture 5" descr="A drawing of a machine&#10;&#10;AI-generated content may be incorrect.">
            <a:extLst>
              <a:ext uri="{FF2B5EF4-FFF2-40B4-BE49-F238E27FC236}">
                <a16:creationId xmlns:a16="http://schemas.microsoft.com/office/drawing/2014/main" id="{9D8DAC7F-4351-5C02-6561-5A766384C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32" y="1626681"/>
            <a:ext cx="4454228" cy="41816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DBCBD8-A2AF-0C1A-A6A0-A6DD587F07A2}"/>
              </a:ext>
            </a:extLst>
          </p:cNvPr>
          <p:cNvSpPr txBox="1"/>
          <p:nvPr/>
        </p:nvSpPr>
        <p:spPr>
          <a:xfrm>
            <a:off x="3099023" y="6335971"/>
            <a:ext cx="27979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/>
              <a:t>(Own Design)</a:t>
            </a:r>
          </a:p>
        </p:txBody>
      </p:sp>
    </p:spTree>
    <p:extLst>
      <p:ext uri="{BB962C8B-B14F-4D97-AF65-F5344CB8AC3E}">
        <p14:creationId xmlns:p14="http://schemas.microsoft.com/office/powerpoint/2010/main" val="4121561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D565-0BBF-4489-829E-6A942814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Rotor Lock Disc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EA314-E1CD-FA35-8A68-6B05268CD6E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66260-867D-095A-0BC9-44084227AF7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9" name="Datumsplatzhalter 22">
            <a:extLst>
              <a:ext uri="{FF2B5EF4-FFF2-40B4-BE49-F238E27FC236}">
                <a16:creationId xmlns:a16="http://schemas.microsoft.com/office/drawing/2014/main" id="{92833BA3-8EDA-7695-60E8-60EB24D17EA9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8B81B7-EA69-FFD6-D3DB-A8F4E23BB885}"/>
              </a:ext>
            </a:extLst>
          </p:cNvPr>
          <p:cNvSpPr txBox="1"/>
          <p:nvPr/>
        </p:nvSpPr>
        <p:spPr>
          <a:xfrm>
            <a:off x="8862526" y="6000822"/>
            <a:ext cx="3329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*Value we assigned based on our assumption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AFC5A6-76D0-16B3-82C9-4FB0AB3B1E08}"/>
              </a:ext>
            </a:extLst>
          </p:cNvPr>
          <p:cNvSpPr txBox="1"/>
          <p:nvPr/>
        </p:nvSpPr>
        <p:spPr>
          <a:xfrm>
            <a:off x="9459685" y="6285471"/>
            <a:ext cx="444759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LLM(Large Language Models).</a:t>
            </a:r>
          </a:p>
          <a:p>
            <a:r>
              <a:rPr lang="en-US" sz="1200" b="0" i="0" dirty="0">
                <a:effectLst/>
              </a:rPr>
              <a:t> </a:t>
            </a:r>
            <a:endParaRPr lang="en-US" sz="12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F4DF9C-1EED-E825-F36A-BB0159811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365791"/>
              </p:ext>
            </p:extLst>
          </p:nvPr>
        </p:nvGraphicFramePr>
        <p:xfrm>
          <a:off x="7112000" y="2543740"/>
          <a:ext cx="4689474" cy="226537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577626">
                  <a:extLst>
                    <a:ext uri="{9D8B030D-6E8A-4147-A177-3AD203B41FA5}">
                      <a16:colId xmlns:a16="http://schemas.microsoft.com/office/drawing/2014/main" val="773787763"/>
                    </a:ext>
                  </a:extLst>
                </a:gridCol>
                <a:gridCol w="974300">
                  <a:extLst>
                    <a:ext uri="{9D8B030D-6E8A-4147-A177-3AD203B41FA5}">
                      <a16:colId xmlns:a16="http://schemas.microsoft.com/office/drawing/2014/main" val="1623910389"/>
                    </a:ext>
                  </a:extLst>
                </a:gridCol>
                <a:gridCol w="1137548">
                  <a:extLst>
                    <a:ext uri="{9D8B030D-6E8A-4147-A177-3AD203B41FA5}">
                      <a16:colId xmlns:a16="http://schemas.microsoft.com/office/drawing/2014/main" val="238776865"/>
                    </a:ext>
                  </a:extLst>
                </a:gridCol>
              </a:tblGrid>
              <a:tr h="54483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Blade &amp; Reference Angle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1-pin Angle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2-pin Angle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918752704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1st Blade (0∘)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15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165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184847409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2nd Blade (0∘)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255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45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669811869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3rd Blade (0∘)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135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285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070617744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1st Blade (90∘)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285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75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85051722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2nd Blade (90∘)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165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315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981396104"/>
                  </a:ext>
                </a:extLst>
              </a:tr>
              <a:tr h="28675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3rd Blade (90∘)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45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195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521142405"/>
                  </a:ext>
                </a:extLst>
              </a:tr>
            </a:tbl>
          </a:graphicData>
        </a:graphic>
      </p:graphicFrame>
      <p:pic>
        <p:nvPicPr>
          <p:cNvPr id="6" name="Picture 5" descr="A circular object with holes&#10;&#10;AI-generated content may be incorrect.">
            <a:extLst>
              <a:ext uri="{FF2B5EF4-FFF2-40B4-BE49-F238E27FC236}">
                <a16:creationId xmlns:a16="http://schemas.microsoft.com/office/drawing/2014/main" id="{CC23FACB-43C3-2116-3634-570BD7A45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8" y="2069875"/>
            <a:ext cx="4692026" cy="39597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0FBFC-5518-E4C0-6AE2-239EB8AF1F06}"/>
              </a:ext>
            </a:extLst>
          </p:cNvPr>
          <p:cNvSpPr txBox="1"/>
          <p:nvPr/>
        </p:nvSpPr>
        <p:spPr>
          <a:xfrm>
            <a:off x="3099023" y="6335971"/>
            <a:ext cx="27979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/>
              <a:t>(Own Design)</a:t>
            </a:r>
          </a:p>
        </p:txBody>
      </p:sp>
    </p:spTree>
    <p:extLst>
      <p:ext uri="{BB962C8B-B14F-4D97-AF65-F5344CB8AC3E}">
        <p14:creationId xmlns:p14="http://schemas.microsoft.com/office/powerpoint/2010/main" val="2422475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23958-A7DD-15FC-2C16-F2CEE979C81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47AF1-976A-1881-A28D-26F3403087C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F82B381-0302-71AE-39B3-E8A02990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Rotor Lock Pin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5CEFEF9-2C21-5287-B4C1-53F14F7F3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624574"/>
              </p:ext>
            </p:extLst>
          </p:nvPr>
        </p:nvGraphicFramePr>
        <p:xfrm>
          <a:off x="6844420" y="4676857"/>
          <a:ext cx="5239187" cy="152337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81587">
                  <a:extLst>
                    <a:ext uri="{9D8B030D-6E8A-4147-A177-3AD203B41FA5}">
                      <a16:colId xmlns:a16="http://schemas.microsoft.com/office/drawing/2014/main" val="132961152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1488458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97244497"/>
                    </a:ext>
                  </a:extLst>
                </a:gridCol>
              </a:tblGrid>
              <a:tr h="5784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value 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unit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ctr"/>
                </a:tc>
                <a:extLst>
                  <a:ext uri="{0D108BD9-81ED-4DB2-BD59-A6C34878D82A}">
                    <a16:rowId xmlns:a16="http://schemas.microsoft.com/office/drawing/2014/main" val="14008572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7817201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3141626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5482124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63577240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5970285-3EE9-91C2-4F4B-4D86EF11D11B}"/>
              </a:ext>
            </a:extLst>
          </p:cNvPr>
          <p:cNvGrpSpPr/>
          <p:nvPr/>
        </p:nvGrpSpPr>
        <p:grpSpPr>
          <a:xfrm>
            <a:off x="773198" y="2195737"/>
            <a:ext cx="2576583" cy="1505395"/>
            <a:chOff x="682665" y="4923270"/>
            <a:chExt cx="2336602" cy="150539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58755C7-DE29-3EC5-0908-33666B2DBF47}"/>
                </a:ext>
              </a:extLst>
            </p:cNvPr>
            <p:cNvSpPr/>
            <p:nvPr/>
          </p:nvSpPr>
          <p:spPr>
            <a:xfrm>
              <a:off x="1427800" y="5195502"/>
              <a:ext cx="986247" cy="81802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922E20F-6FE7-B4F2-E066-CF135DAC43D6}"/>
                </a:ext>
              </a:extLst>
            </p:cNvPr>
            <p:cNvCxnSpPr/>
            <p:nvPr/>
          </p:nvCxnSpPr>
          <p:spPr>
            <a:xfrm flipH="1">
              <a:off x="1157211" y="5195502"/>
              <a:ext cx="270588" cy="1832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AA49DDC-EF5E-C2FF-B473-2E79C0F02149}"/>
                </a:ext>
              </a:extLst>
            </p:cNvPr>
            <p:cNvCxnSpPr/>
            <p:nvPr/>
          </p:nvCxnSpPr>
          <p:spPr>
            <a:xfrm>
              <a:off x="1157211" y="5378724"/>
              <a:ext cx="0" cy="4985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37D85F0-64E0-A8A5-C1EB-57F2B9717D5D}"/>
                </a:ext>
              </a:extLst>
            </p:cNvPr>
            <p:cNvCxnSpPr/>
            <p:nvPr/>
          </p:nvCxnSpPr>
          <p:spPr>
            <a:xfrm>
              <a:off x="1157211" y="5877322"/>
              <a:ext cx="270588" cy="1362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14A5121-297E-2C0C-0156-28375EA42960}"/>
                </a:ext>
              </a:extLst>
            </p:cNvPr>
            <p:cNvCxnSpPr>
              <a:cxnSpLocks/>
            </p:cNvCxnSpPr>
            <p:nvPr/>
          </p:nvCxnSpPr>
          <p:spPr>
            <a:xfrm>
              <a:off x="1427799" y="6197215"/>
              <a:ext cx="98625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FC31EEF-B349-6B85-7F33-07F79A9D9EB9}"/>
                </a:ext>
              </a:extLst>
            </p:cNvPr>
            <p:cNvSpPr txBox="1"/>
            <p:nvPr/>
          </p:nvSpPr>
          <p:spPr>
            <a:xfrm>
              <a:off x="1678982" y="6151666"/>
              <a:ext cx="5411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/>
                <a:t>L1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D39F3F4-6A95-96A6-740B-D82EA2DAE946}"/>
                </a:ext>
              </a:extLst>
            </p:cNvPr>
            <p:cNvSpPr txBox="1"/>
            <p:nvPr/>
          </p:nvSpPr>
          <p:spPr>
            <a:xfrm>
              <a:off x="1012586" y="4923270"/>
              <a:ext cx="5411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/>
                <a:t>L2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2682326-1084-7CC4-9B0D-1817DF334BCE}"/>
                </a:ext>
              </a:extLst>
            </p:cNvPr>
            <p:cNvCxnSpPr>
              <a:cxnSpLocks/>
            </p:cNvCxnSpPr>
            <p:nvPr/>
          </p:nvCxnSpPr>
          <p:spPr>
            <a:xfrm>
              <a:off x="965916" y="5157832"/>
              <a:ext cx="38258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6221DFD-CDE0-43D5-2E68-AED0D57C95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2547" y="5378724"/>
              <a:ext cx="0" cy="58658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8441DDB-D945-EAFF-887B-CECF5A139382}"/>
                </a:ext>
              </a:extLst>
            </p:cNvPr>
            <p:cNvSpPr txBox="1"/>
            <p:nvPr/>
          </p:nvSpPr>
          <p:spPr>
            <a:xfrm>
              <a:off x="682665" y="5543411"/>
              <a:ext cx="5411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/>
                <a:t>D2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9F06328-A787-1075-FB5A-F9AB23A867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9746" y="5186338"/>
              <a:ext cx="0" cy="76980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81269E4-ABF8-85EF-1BAB-43C7FBB69756}"/>
                </a:ext>
              </a:extLst>
            </p:cNvPr>
            <p:cNvSpPr txBox="1"/>
            <p:nvPr/>
          </p:nvSpPr>
          <p:spPr>
            <a:xfrm>
              <a:off x="2478091" y="5432742"/>
              <a:ext cx="5411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/>
                <a:t>D1</a:t>
              </a:r>
            </a:p>
          </p:txBody>
        </p:sp>
      </p:grpSp>
      <p:pic>
        <p:nvPicPr>
          <p:cNvPr id="3" name="Picture 2" descr="A red cylinder with a white background&#10;&#10;AI-generated content may be incorrect.">
            <a:extLst>
              <a:ext uri="{FF2B5EF4-FFF2-40B4-BE49-F238E27FC236}">
                <a16:creationId xmlns:a16="http://schemas.microsoft.com/office/drawing/2014/main" id="{D42F02EC-A168-E16C-9D6B-A74606909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965" y="1997288"/>
            <a:ext cx="2236408" cy="1902294"/>
          </a:xfrm>
          <a:prstGeom prst="rect">
            <a:avLst/>
          </a:prstGeom>
        </p:spPr>
      </p:pic>
      <p:pic>
        <p:nvPicPr>
          <p:cNvPr id="10" name="Picture 9" descr="A circular object with holes&#10;&#10;AI-generated content may be incorrect.">
            <a:extLst>
              <a:ext uri="{FF2B5EF4-FFF2-40B4-BE49-F238E27FC236}">
                <a16:creationId xmlns:a16="http://schemas.microsoft.com/office/drawing/2014/main" id="{96B5C1DE-E5C7-6AD1-1950-3FB442255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404" y="1332335"/>
            <a:ext cx="4130398" cy="32396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E64A8A-D21A-A03D-5DD0-D3D7B2D1F4FB}"/>
              </a:ext>
            </a:extLst>
          </p:cNvPr>
          <p:cNvSpPr txBox="1"/>
          <p:nvPr/>
        </p:nvSpPr>
        <p:spPr>
          <a:xfrm>
            <a:off x="2590900" y="6277431"/>
            <a:ext cx="27979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/>
              <a:t>(Own Design)</a:t>
            </a:r>
          </a:p>
        </p:txBody>
      </p:sp>
    </p:spTree>
    <p:extLst>
      <p:ext uri="{BB962C8B-B14F-4D97-AF65-F5344CB8AC3E}">
        <p14:creationId xmlns:p14="http://schemas.microsoft.com/office/powerpoint/2010/main" val="245546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B8B22-9D54-56F3-C95A-E4D98451F64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CBC4F-E8D3-BFD1-F3ED-F83F46B4C79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10" name="Picture 9" descr="A black circular object with a hole&#10;&#10;AI-generated content may be incorrect.">
            <a:extLst>
              <a:ext uri="{FF2B5EF4-FFF2-40B4-BE49-F238E27FC236}">
                <a16:creationId xmlns:a16="http://schemas.microsoft.com/office/drawing/2014/main" id="{0218E9EB-E264-9F69-9645-FD3451B50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20870"/>
            <a:ext cx="3677735" cy="30737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199496D-C79E-A74A-2FBE-B84AF9D84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 Lock Nut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19A3BAD-CFF2-C2C7-28EB-D6CB4C986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634429"/>
              </p:ext>
            </p:extLst>
          </p:nvPr>
        </p:nvGraphicFramePr>
        <p:xfrm>
          <a:off x="6726726" y="4581053"/>
          <a:ext cx="5223851" cy="153776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292578">
                  <a:extLst>
                    <a:ext uri="{9D8B030D-6E8A-4147-A177-3AD203B41FA5}">
                      <a16:colId xmlns:a16="http://schemas.microsoft.com/office/drawing/2014/main" val="946027037"/>
                    </a:ext>
                  </a:extLst>
                </a:gridCol>
                <a:gridCol w="942967">
                  <a:extLst>
                    <a:ext uri="{9D8B030D-6E8A-4147-A177-3AD203B41FA5}">
                      <a16:colId xmlns:a16="http://schemas.microsoft.com/office/drawing/2014/main" val="11480301"/>
                    </a:ext>
                  </a:extLst>
                </a:gridCol>
                <a:gridCol w="677444">
                  <a:extLst>
                    <a:ext uri="{9D8B030D-6E8A-4147-A177-3AD203B41FA5}">
                      <a16:colId xmlns:a16="http://schemas.microsoft.com/office/drawing/2014/main" val="586813924"/>
                    </a:ext>
                  </a:extLst>
                </a:gridCol>
                <a:gridCol w="813684">
                  <a:extLst>
                    <a:ext uri="{9D8B030D-6E8A-4147-A177-3AD203B41FA5}">
                      <a16:colId xmlns:a16="http://schemas.microsoft.com/office/drawing/2014/main" val="2231323201"/>
                    </a:ext>
                  </a:extLst>
                </a:gridCol>
                <a:gridCol w="1497178">
                  <a:extLst>
                    <a:ext uri="{9D8B030D-6E8A-4147-A177-3AD203B41FA5}">
                      <a16:colId xmlns:a16="http://schemas.microsoft.com/office/drawing/2014/main" val="3547500575"/>
                    </a:ext>
                  </a:extLst>
                </a:gridCol>
              </a:tblGrid>
              <a:tr h="81124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Thread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Outer diameter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Width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Gap width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Thread for mounting lever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147392125"/>
                  </a:ext>
                </a:extLst>
              </a:tr>
              <a:tr h="36326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G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d3​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B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b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G1​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671030708"/>
                  </a:ext>
                </a:extLst>
              </a:tr>
              <a:tr h="36326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Tr 1600x 8 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1750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110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40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M24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29376094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788E2C8-21C7-356F-E8FE-84BFB0F466C7}"/>
              </a:ext>
            </a:extLst>
          </p:cNvPr>
          <p:cNvSpPr txBox="1"/>
          <p:nvPr/>
        </p:nvSpPr>
        <p:spPr>
          <a:xfrm>
            <a:off x="2590900" y="6351359"/>
            <a:ext cx="27979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/>
              <a:t>(Own Design)</a:t>
            </a:r>
          </a:p>
        </p:txBody>
      </p:sp>
    </p:spTree>
    <p:extLst>
      <p:ext uri="{BB962C8B-B14F-4D97-AF65-F5344CB8AC3E}">
        <p14:creationId xmlns:p14="http://schemas.microsoft.com/office/powerpoint/2010/main" val="3273253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2BCFC-C01F-F901-E135-349BFC14650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361D1-C8CB-69C7-0D73-E3696CCF4A1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95378A32-4F0F-FB4F-6AB0-6C9A00899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574"/>
            <a:ext cx="10515600" cy="1325563"/>
          </a:xfrm>
        </p:spPr>
        <p:txBody>
          <a:bodyPr/>
          <a:lstStyle/>
          <a:p>
            <a:r>
              <a:rPr lang="de-DE" dirty="0"/>
              <a:t>Rotor Bearing Assembly</a:t>
            </a:r>
          </a:p>
        </p:txBody>
      </p:sp>
      <p:sp>
        <p:nvSpPr>
          <p:cNvPr id="8" name="Datumsplatzhalter 22">
            <a:extLst>
              <a:ext uri="{FF2B5EF4-FFF2-40B4-BE49-F238E27FC236}">
                <a16:creationId xmlns:a16="http://schemas.microsoft.com/office/drawing/2014/main" id="{B132EBC8-FEE4-C493-EA3D-E21891BD8F0C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004DD-AD3D-86F5-1D20-512678774C97}"/>
              </a:ext>
            </a:extLst>
          </p:cNvPr>
          <p:cNvSpPr txBox="1"/>
          <p:nvPr/>
        </p:nvSpPr>
        <p:spPr>
          <a:xfrm>
            <a:off x="3099023" y="6335971"/>
            <a:ext cx="27979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/>
              <a:t>(Own Design)</a:t>
            </a:r>
          </a:p>
        </p:txBody>
      </p:sp>
      <p:pic>
        <p:nvPicPr>
          <p:cNvPr id="11" name="Picture 10" descr="A drawing of a machine&#10;&#10;AI-generated content may be incorrect.">
            <a:extLst>
              <a:ext uri="{FF2B5EF4-FFF2-40B4-BE49-F238E27FC236}">
                <a16:creationId xmlns:a16="http://schemas.microsoft.com/office/drawing/2014/main" id="{606CDAD8-0B03-5633-7A9E-6C65C1A3B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44" y="1834819"/>
            <a:ext cx="4693732" cy="3416442"/>
          </a:xfrm>
          <a:prstGeom prst="rect">
            <a:avLst/>
          </a:prstGeom>
        </p:spPr>
      </p:pic>
      <p:pic>
        <p:nvPicPr>
          <p:cNvPr id="14" name="Picture 13" descr="A drawing of a machine&#10;&#10;AI-generated content may be incorrect.">
            <a:extLst>
              <a:ext uri="{FF2B5EF4-FFF2-40B4-BE49-F238E27FC236}">
                <a16:creationId xmlns:a16="http://schemas.microsoft.com/office/drawing/2014/main" id="{644F629B-2750-8CA5-54D8-773EC5DE9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960" y="1891539"/>
            <a:ext cx="4431506" cy="307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32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C3E72-CB0C-1433-50E9-C63226B9EA4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E0708-2891-4A3E-E93C-FA4946E9F04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2E5CB5-6C21-B44D-8BBB-4E699BAF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Lock pin  calculation using new Load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99831A-08F4-89CF-A507-62B38A262D6F}"/>
                  </a:ext>
                </a:extLst>
              </p:cNvPr>
              <p:cNvSpPr txBox="1"/>
              <p:nvPr/>
            </p:nvSpPr>
            <p:spPr>
              <a:xfrm>
                <a:off x="838200" y="1731547"/>
                <a:ext cx="4461621" cy="4874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𝑭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1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2∗</m:t>
                        </m:r>
                        <m:r>
                          <m:rPr>
                            <m:nor/>
                          </m:rPr>
                          <a:rPr lang="en-US" sz="2000" b="0" i="1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99831A-08F4-89CF-A507-62B38A262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31547"/>
                <a:ext cx="4461621" cy="487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8271360-1541-71F5-870A-7848CBED6E96}"/>
              </a:ext>
            </a:extLst>
          </p:cNvPr>
          <p:cNvSpPr txBox="1"/>
          <p:nvPr/>
        </p:nvSpPr>
        <p:spPr>
          <a:xfrm>
            <a:off x="2072953" y="1844508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where, Lock pin hole circle radius r = 1425mm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6E90B-ADD9-65DD-9B28-51CD8FCFDACA}"/>
              </a:ext>
            </a:extLst>
          </p:cNvPr>
          <p:cNvSpPr txBox="1"/>
          <p:nvPr/>
        </p:nvSpPr>
        <p:spPr>
          <a:xfrm>
            <a:off x="755251" y="2355398"/>
            <a:ext cx="8305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Torsional moment Mt= 24435 </a:t>
            </a:r>
            <a:r>
              <a:rPr lang="en-US" dirty="0" err="1"/>
              <a:t>KN.m</a:t>
            </a:r>
            <a:r>
              <a:rPr lang="en-US" dirty="0"/>
              <a:t> ( 250% * Rated Torque (</a:t>
            </a:r>
            <a:r>
              <a:rPr lang="en-US" dirty="0">
                <a:highlight>
                  <a:srgbClr val="FFFF00"/>
                </a:highlight>
              </a:rPr>
              <a:t>9774KN.m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91494B-61A0-9D4F-E320-BCF9DF6CBFC4}"/>
                  </a:ext>
                </a:extLst>
              </p:cNvPr>
              <p:cNvSpPr txBox="1"/>
              <p:nvPr/>
            </p:nvSpPr>
            <p:spPr>
              <a:xfrm>
                <a:off x="819803" y="2927854"/>
                <a:ext cx="446162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𝑭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 8573.68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KN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91494B-61A0-9D4F-E320-BCF9DF6CB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03" y="2927854"/>
                <a:ext cx="4461621" cy="307777"/>
              </a:xfrm>
              <a:prstGeom prst="rect">
                <a:avLst/>
              </a:prstGeom>
              <a:blipFill>
                <a:blip r:embed="rId3"/>
                <a:stretch>
                  <a:fillRect l="-3279" t="-19608" b="-43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6C7A8C5-B946-DE92-3AE2-09DCC2E3F39C}"/>
              </a:ext>
            </a:extLst>
          </p:cNvPr>
          <p:cNvSpPr txBox="1"/>
          <p:nvPr/>
        </p:nvSpPr>
        <p:spPr>
          <a:xfrm>
            <a:off x="755251" y="3485685"/>
            <a:ext cx="10170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Thickness of Integrated rotor lock disc =   Flange </a:t>
            </a:r>
            <a:r>
              <a:rPr lang="en-US" dirty="0" err="1"/>
              <a:t>thickness+thickness</a:t>
            </a:r>
            <a:r>
              <a:rPr lang="en-US" dirty="0"/>
              <a:t> of disc= 200 mm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417A3E-DED8-054A-DDB6-E8DEE074B1EE}"/>
              </a:ext>
            </a:extLst>
          </p:cNvPr>
          <p:cNvSpPr txBox="1"/>
          <p:nvPr/>
        </p:nvSpPr>
        <p:spPr>
          <a:xfrm>
            <a:off x="699549" y="3937179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Bending Moment acting on the Lock pin ,</a:t>
            </a:r>
            <a:r>
              <a:rPr lang="en-US" sz="1800" dirty="0" err="1">
                <a:solidFill>
                  <a:srgbClr val="1B1C1D"/>
                </a:solidFill>
                <a:effectLst/>
              </a:rPr>
              <a:t>M</a:t>
            </a:r>
            <a:r>
              <a:rPr lang="en-US" sz="1800" baseline="-25000" dirty="0" err="1">
                <a:solidFill>
                  <a:srgbClr val="1B1C1D"/>
                </a:solidFill>
                <a:effectLst/>
              </a:rPr>
              <a:t>bpin</a:t>
            </a:r>
            <a:r>
              <a:rPr lang="en-US" sz="1800" baseline="-25000" dirty="0">
                <a:solidFill>
                  <a:srgbClr val="1B1C1D"/>
                </a:solidFill>
                <a:effectLst/>
              </a:rPr>
              <a:t>=</a:t>
            </a:r>
            <a:r>
              <a:rPr lang="en-US" sz="1800" dirty="0">
                <a:solidFill>
                  <a:srgbClr val="1B1C1D"/>
                </a:solidFill>
                <a:effectLst/>
              </a:rPr>
              <a:t>F*L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1B1C1D"/>
                </a:solidFill>
              </a:rPr>
              <a:t>M</a:t>
            </a:r>
            <a:r>
              <a:rPr lang="en-US" baseline="-25000" dirty="0" err="1">
                <a:solidFill>
                  <a:srgbClr val="1B1C1D"/>
                </a:solidFill>
              </a:rPr>
              <a:t>bpin</a:t>
            </a:r>
            <a:r>
              <a:rPr lang="en-US" baseline="-25000" dirty="0">
                <a:solidFill>
                  <a:srgbClr val="1B1C1D"/>
                </a:solidFill>
              </a:rPr>
              <a:t>= </a:t>
            </a:r>
            <a:r>
              <a:rPr lang="en-US" dirty="0">
                <a:solidFill>
                  <a:srgbClr val="1B1C1D"/>
                </a:solidFill>
              </a:rPr>
              <a:t>943105.2 </a:t>
            </a:r>
            <a:r>
              <a:rPr lang="en-US" dirty="0" err="1">
                <a:solidFill>
                  <a:srgbClr val="1B1C1D"/>
                </a:solidFill>
              </a:rPr>
              <a:t>KNmm</a:t>
            </a:r>
            <a:endParaRPr lang="en-US" dirty="0">
              <a:solidFill>
                <a:srgbClr val="1B1C1D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61A9D9-F1BA-7BFC-1097-189A3EBC3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133" y="3825367"/>
            <a:ext cx="3132549" cy="6943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AE5D01-188B-6265-D1D4-117DD04B21DF}"/>
              </a:ext>
            </a:extLst>
          </p:cNvPr>
          <p:cNvSpPr txBox="1"/>
          <p:nvPr/>
        </p:nvSpPr>
        <p:spPr>
          <a:xfrm>
            <a:off x="704005" y="4738240"/>
            <a:ext cx="90447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Allowable bending stress of the steel material  = 0.66f</a:t>
            </a:r>
            <a:r>
              <a:rPr lang="en-US" sz="1600" baseline="-25000" dirty="0"/>
              <a:t>y</a:t>
            </a:r>
            <a:r>
              <a:rPr lang="en-US" sz="1600" dirty="0"/>
              <a:t>  (As per Steel Design Indian Standard (IS) 800, American Institute of Steel Construction (AISC) ASD 9th Edition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F078B0-3D63-E161-107B-D7B4B1D1D5C7}"/>
                  </a:ext>
                </a:extLst>
              </p:cNvPr>
              <p:cNvSpPr txBox="1"/>
              <p:nvPr/>
            </p:nvSpPr>
            <p:spPr>
              <a:xfrm>
                <a:off x="700843" y="5413609"/>
                <a:ext cx="6138248" cy="531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pressure acting on the hole of the disk ,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F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den>
                    </m:f>
                  </m:oMath>
                </a14:m>
                <a:endParaRPr lang="en-US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F078B0-3D63-E161-107B-D7B4B1D1D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43" y="5413609"/>
                <a:ext cx="6138248" cy="531299"/>
              </a:xfrm>
              <a:prstGeom prst="rect">
                <a:avLst/>
              </a:prstGeom>
              <a:blipFill>
                <a:blip r:embed="rId5"/>
                <a:stretch>
                  <a:fillRect l="-695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196BEC9-028D-727E-8240-15EA5421DA82}"/>
              </a:ext>
            </a:extLst>
          </p:cNvPr>
          <p:cNvSpPr txBox="1"/>
          <p:nvPr/>
        </p:nvSpPr>
        <p:spPr>
          <a:xfrm>
            <a:off x="10263612" y="6289804"/>
            <a:ext cx="1928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dirty="0"/>
              <a:t>Source: Optimus Shakti</a:t>
            </a:r>
          </a:p>
        </p:txBody>
      </p:sp>
    </p:spTree>
    <p:extLst>
      <p:ext uri="{BB962C8B-B14F-4D97-AF65-F5344CB8AC3E}">
        <p14:creationId xmlns:p14="http://schemas.microsoft.com/office/powerpoint/2010/main" val="1291088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1EC99-1FD7-8B87-3599-599C0DAF905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B3266-818A-2D16-6380-568E241C32D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61AB14-117F-E6D5-A59A-D53E1762E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151" y="1425083"/>
            <a:ext cx="5112869" cy="40078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1C4A297-FAA6-70E9-99F7-5A91715FC435}"/>
              </a:ext>
            </a:extLst>
          </p:cNvPr>
          <p:cNvSpPr/>
          <p:nvPr/>
        </p:nvSpPr>
        <p:spPr>
          <a:xfrm>
            <a:off x="5984340" y="3505592"/>
            <a:ext cx="362139" cy="88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0416E-26BC-0076-2CD9-0E0DB3C4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820439"/>
              </p:ext>
            </p:extLst>
          </p:nvPr>
        </p:nvGraphicFramePr>
        <p:xfrm>
          <a:off x="543208" y="1701901"/>
          <a:ext cx="5232903" cy="2647962"/>
        </p:xfrm>
        <a:graphic>
          <a:graphicData uri="http://schemas.openxmlformats.org/drawingml/2006/table">
            <a:tbl>
              <a:tblPr/>
              <a:tblGrid>
                <a:gridCol w="1765426">
                  <a:extLst>
                    <a:ext uri="{9D8B030D-6E8A-4147-A177-3AD203B41FA5}">
                      <a16:colId xmlns:a16="http://schemas.microsoft.com/office/drawing/2014/main" val="1755366632"/>
                    </a:ext>
                  </a:extLst>
                </a:gridCol>
                <a:gridCol w="1122629">
                  <a:extLst>
                    <a:ext uri="{9D8B030D-6E8A-4147-A177-3AD203B41FA5}">
                      <a16:colId xmlns:a16="http://schemas.microsoft.com/office/drawing/2014/main" val="701865235"/>
                    </a:ext>
                  </a:extLst>
                </a:gridCol>
                <a:gridCol w="976137">
                  <a:extLst>
                    <a:ext uri="{9D8B030D-6E8A-4147-A177-3AD203B41FA5}">
                      <a16:colId xmlns:a16="http://schemas.microsoft.com/office/drawing/2014/main" val="1668876090"/>
                    </a:ext>
                  </a:extLst>
                </a:gridCol>
                <a:gridCol w="1368711">
                  <a:extLst>
                    <a:ext uri="{9D8B030D-6E8A-4147-A177-3AD203B41FA5}">
                      <a16:colId xmlns:a16="http://schemas.microsoft.com/office/drawing/2014/main" val="2554245994"/>
                    </a:ext>
                  </a:extLst>
                </a:gridCol>
              </a:tblGrid>
              <a:tr h="6932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Material</a:t>
                      </a:r>
                    </a:p>
                  </a:txBody>
                  <a:tcPr marL="152400" marR="1524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Yield Strength</a:t>
                      </a:r>
                    </a:p>
                  </a:txBody>
                  <a:tcPr marL="152400" marR="1524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Case 1 (</a:t>
                      </a:r>
                      <a:r>
                        <a:rPr lang="el-GR" sz="14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σ = </a:t>
                      </a: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f</a:t>
                      </a:r>
                      <a:r>
                        <a:rPr lang="en-US" sz="1400" baseline="-250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152400" marR="1524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Case 2 (σ = 0.66 f</a:t>
                      </a:r>
                      <a:r>
                        <a:rPr lang="en-US" sz="1400" baseline="-250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152400" marR="1524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76739"/>
                  </a:ext>
                </a:extLst>
              </a:tr>
              <a:tr h="5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30 </a:t>
                      </a:r>
                      <a:r>
                        <a:rPr lang="en-US" sz="1400" b="1" dirty="0" err="1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NiC</a:t>
                      </a:r>
                      <a:r>
                        <a:rPr lang="en-US" sz="1400" b="1" dirty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 rMo16-6</a:t>
                      </a:r>
                      <a:endParaRPr lang="en-US" sz="1400" dirty="0">
                        <a:solidFill>
                          <a:srgbClr val="1E293B"/>
                        </a:solidFill>
                        <a:effectLst/>
                        <a:latin typeface="+mn-lt"/>
                      </a:endParaRP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880 MPa</a:t>
                      </a: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221.84 mm</a:t>
                      </a:r>
                      <a:endParaRPr lang="en-US" sz="1400" dirty="0">
                        <a:solidFill>
                          <a:srgbClr val="1E293B"/>
                        </a:solidFill>
                        <a:effectLst/>
                        <a:latin typeface="+mn-lt"/>
                      </a:endParaRP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254.79 mm</a:t>
                      </a:r>
                      <a:endParaRPr lang="en-US" sz="1400">
                        <a:solidFill>
                          <a:srgbClr val="1E293B"/>
                        </a:solidFill>
                        <a:effectLst/>
                        <a:latin typeface="+mn-lt"/>
                      </a:endParaRP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374031"/>
                  </a:ext>
                </a:extLst>
              </a:tr>
              <a:tr h="5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42CrMo4</a:t>
                      </a:r>
                      <a:endParaRPr lang="en-US" sz="1400" dirty="0">
                        <a:solidFill>
                          <a:srgbClr val="1E293B"/>
                        </a:solidFill>
                        <a:effectLst/>
                        <a:latin typeface="+mn-lt"/>
                      </a:endParaRP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500 MPa</a:t>
                      </a: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267.83 mm</a:t>
                      </a: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307.61 mm</a:t>
                      </a: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14497"/>
                  </a:ext>
                </a:extLst>
              </a:tr>
              <a:tr h="514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i="1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Difference</a:t>
                      </a:r>
                      <a:endParaRPr lang="en-US" sz="1400">
                        <a:solidFill>
                          <a:srgbClr val="1E293B"/>
                        </a:solidFill>
                        <a:effectLst/>
                        <a:latin typeface="+mn-lt"/>
                      </a:endParaRP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-380 MPa</a:t>
                      </a: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+46 mm</a:t>
                      </a: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+53 mm</a:t>
                      </a:r>
                    </a:p>
                  </a:txBody>
                  <a:tcPr marL="152400" marR="152400" marT="137160" marB="1371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99343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6A5C8D1-8E83-A439-372F-0AA4747E491E}"/>
              </a:ext>
            </a:extLst>
          </p:cNvPr>
          <p:cNvSpPr/>
          <p:nvPr/>
        </p:nvSpPr>
        <p:spPr>
          <a:xfrm>
            <a:off x="5984340" y="4762515"/>
            <a:ext cx="362139" cy="88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0B9194-213A-6348-0DD6-2E94CE7E360D}"/>
              </a:ext>
            </a:extLst>
          </p:cNvPr>
          <p:cNvSpPr/>
          <p:nvPr/>
        </p:nvSpPr>
        <p:spPr>
          <a:xfrm>
            <a:off x="10302844" y="3431272"/>
            <a:ext cx="179559" cy="74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5214E1-2447-E17A-1974-F825C8A02FAF}"/>
              </a:ext>
            </a:extLst>
          </p:cNvPr>
          <p:cNvSpPr/>
          <p:nvPr/>
        </p:nvSpPr>
        <p:spPr>
          <a:xfrm>
            <a:off x="10292281" y="4762515"/>
            <a:ext cx="179559" cy="74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CF5EBC-E7CB-09D7-8014-7CAE3D143F8B}"/>
                  </a:ext>
                </a:extLst>
              </p:cNvPr>
              <p:cNvSpPr txBox="1"/>
              <p:nvPr/>
            </p:nvSpPr>
            <p:spPr>
              <a:xfrm>
                <a:off x="477831" y="4480916"/>
                <a:ext cx="1894178" cy="4985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/>
                      <m:t>σ</m:t>
                    </m:r>
                    <m:r>
                      <m:rPr>
                        <m:nor/>
                      </m:rPr>
                      <a:rPr lang="en-US" sz="2000" b="0" i="0" dirty="0" smtClean="0"/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/>
                          <m:t>𝑀</m:t>
                        </m:r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  <m:r>
                          <m:rPr>
                            <m:nor/>
                          </m:rPr>
                          <a:rPr lang="en-US" sz="2000" dirty="0"/>
                          <m:t>𝑏</m:t>
                        </m:r>
                        <m:r>
                          <m:rPr>
                            <m:nor/>
                          </m:rPr>
                          <a:rPr lang="en-US" sz="2000" dirty="0"/>
                          <m:t>,</m:t>
                        </m:r>
                        <m:r>
                          <m:rPr>
                            <m:nor/>
                          </m:rPr>
                          <a:rPr lang="en-US" sz="2000" dirty="0"/>
                          <m:t>𝑝𝑖𝑛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dirty="0"/>
                          <m:t>𝑊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CF5EBC-E7CB-09D7-8014-7CAE3D143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31" y="4480916"/>
                <a:ext cx="1894178" cy="4985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4C2C0D-FD63-8097-7677-8BF9A8B6941C}"/>
                  </a:ext>
                </a:extLst>
              </p:cNvPr>
              <p:cNvSpPr txBox="1"/>
              <p:nvPr/>
            </p:nvSpPr>
            <p:spPr>
              <a:xfrm>
                <a:off x="477831" y="4966328"/>
                <a:ext cx="1894178" cy="4985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/>
                      <m:t>W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000" dirty="0"/>
                          <m:t>𝜋</m:t>
                        </m:r>
                        <m:r>
                          <m:rPr>
                            <m:nor/>
                          </m:rPr>
                          <a:rPr lang="fr-FR" sz="2000" dirty="0"/>
                          <m:t> × </m:t>
                        </m:r>
                        <m:r>
                          <m:rPr>
                            <m:nor/>
                          </m:rPr>
                          <a:rPr lang="fr-FR" sz="2000" dirty="0"/>
                          <m:t>𝑑</m:t>
                        </m:r>
                        <m:r>
                          <m:rPr>
                            <m:nor/>
                          </m:rPr>
                          <a:rPr lang="fr-FR" sz="2000" baseline="30000" dirty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sz="2000" dirty="0"/>
                          <m:t>32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4C2C0D-FD63-8097-7677-8BF9A8B69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31" y="4966328"/>
                <a:ext cx="1894178" cy="498598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4EF1A0C-557C-1D44-61CF-495437B643C2}"/>
              </a:ext>
            </a:extLst>
          </p:cNvPr>
          <p:cNvSpPr txBox="1"/>
          <p:nvPr/>
        </p:nvSpPr>
        <p:spPr>
          <a:xfrm>
            <a:off x="10263612" y="6289804"/>
            <a:ext cx="1928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dirty="0"/>
              <a:t>Source: Optimus Shakti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5E27C3-3E5B-D575-D349-001414584B29}"/>
              </a:ext>
            </a:extLst>
          </p:cNvPr>
          <p:cNvSpPr txBox="1"/>
          <p:nvPr/>
        </p:nvSpPr>
        <p:spPr>
          <a:xfrm>
            <a:off x="7312289" y="5432917"/>
            <a:ext cx="61395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</a:rPr>
              <a:t>(From DIN EN 10083-3,Table 8)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8ADAD5-AA63-338F-D2EA-A6B35A1A9B32}"/>
                  </a:ext>
                </a:extLst>
              </p:cNvPr>
              <p:cNvSpPr txBox="1"/>
              <p:nvPr/>
            </p:nvSpPr>
            <p:spPr>
              <a:xfrm>
                <a:off x="349861" y="5444089"/>
                <a:ext cx="6138248" cy="531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pressure acting on the hole of the disk ,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F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den>
                    </m:f>
                  </m:oMath>
                </a14:m>
                <a:endParaRPr lang="en-US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8ADAD5-AA63-338F-D2EA-A6B35A1A9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61" y="5444089"/>
                <a:ext cx="6138248" cy="531299"/>
              </a:xfrm>
              <a:prstGeom prst="rect">
                <a:avLst/>
              </a:prstGeom>
              <a:blipFill>
                <a:blip r:embed="rId5"/>
                <a:stretch>
                  <a:fillRect l="-596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92FB050-AFB2-F54B-00D4-C5E075637704}"/>
              </a:ext>
            </a:extLst>
          </p:cNvPr>
          <p:cNvSpPr txBox="1"/>
          <p:nvPr/>
        </p:nvSpPr>
        <p:spPr>
          <a:xfrm>
            <a:off x="727363" y="5963137"/>
            <a:ext cx="675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Area (A) = Hole Diameter* Thickness of flange </a:t>
            </a:r>
          </a:p>
        </p:txBody>
      </p:sp>
    </p:spTree>
    <p:extLst>
      <p:ext uri="{BB962C8B-B14F-4D97-AF65-F5344CB8AC3E}">
        <p14:creationId xmlns:p14="http://schemas.microsoft.com/office/powerpoint/2010/main" val="1937578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6720C-024D-791C-A3CE-58B0A131DBF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C6AE9-27CB-0533-EAFE-F05A7B3B4B3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C5FDD0-72EA-5895-4FD7-0869CC5BB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590802"/>
              </p:ext>
            </p:extLst>
          </p:nvPr>
        </p:nvGraphicFramePr>
        <p:xfrm>
          <a:off x="457955" y="1724197"/>
          <a:ext cx="10596326" cy="29383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122519">
                  <a:extLst>
                    <a:ext uri="{9D8B030D-6E8A-4147-A177-3AD203B41FA5}">
                      <a16:colId xmlns:a16="http://schemas.microsoft.com/office/drawing/2014/main" val="3534297818"/>
                    </a:ext>
                  </a:extLst>
                </a:gridCol>
                <a:gridCol w="2136381">
                  <a:extLst>
                    <a:ext uri="{9D8B030D-6E8A-4147-A177-3AD203B41FA5}">
                      <a16:colId xmlns:a16="http://schemas.microsoft.com/office/drawing/2014/main" val="2829727788"/>
                    </a:ext>
                  </a:extLst>
                </a:gridCol>
                <a:gridCol w="1412341">
                  <a:extLst>
                    <a:ext uri="{9D8B030D-6E8A-4147-A177-3AD203B41FA5}">
                      <a16:colId xmlns:a16="http://schemas.microsoft.com/office/drawing/2014/main" val="280195965"/>
                    </a:ext>
                  </a:extLst>
                </a:gridCol>
                <a:gridCol w="1520982">
                  <a:extLst>
                    <a:ext uri="{9D8B030D-6E8A-4147-A177-3AD203B41FA5}">
                      <a16:colId xmlns:a16="http://schemas.microsoft.com/office/drawing/2014/main" val="3835205721"/>
                    </a:ext>
                  </a:extLst>
                </a:gridCol>
                <a:gridCol w="1656784">
                  <a:extLst>
                    <a:ext uri="{9D8B030D-6E8A-4147-A177-3AD203B41FA5}">
                      <a16:colId xmlns:a16="http://schemas.microsoft.com/office/drawing/2014/main" val="1780932813"/>
                    </a:ext>
                  </a:extLst>
                </a:gridCol>
                <a:gridCol w="1747319">
                  <a:extLst>
                    <a:ext uri="{9D8B030D-6E8A-4147-A177-3AD203B41FA5}">
                      <a16:colId xmlns:a16="http://schemas.microsoft.com/office/drawing/2014/main" val="2086099278"/>
                    </a:ext>
                  </a:extLst>
                </a:gridCol>
              </a:tblGrid>
              <a:tr h="11357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Material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Case (Yield Strength Basis)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Pin Diameter (mm)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Hole Diameter (mm)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Area (mm²)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Pressure (N/mm²)</a:t>
                      </a:r>
                    </a:p>
                  </a:txBody>
                  <a:tcPr marL="0" marR="0" marT="15240" marB="15240" anchor="b"/>
                </a:tc>
                <a:extLst>
                  <a:ext uri="{0D108BD9-81ED-4DB2-BD59-A6C34878D82A}">
                    <a16:rowId xmlns:a16="http://schemas.microsoft.com/office/drawing/2014/main" val="1622277547"/>
                  </a:ext>
                </a:extLst>
              </a:tr>
              <a:tr h="45065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30 NiCrMo16-6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Case 1 (</a:t>
                      </a:r>
                      <a:r>
                        <a:rPr lang="el-GR">
                          <a:effectLst/>
                        </a:rPr>
                        <a:t>σ=</a:t>
                      </a:r>
                      <a:r>
                        <a:rPr lang="en-US">
                          <a:effectLst/>
                        </a:rPr>
                        <a:t>fy​)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221.84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224.84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44,968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190.66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959443192"/>
                  </a:ext>
                </a:extLst>
              </a:tr>
              <a:tr h="45065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30 NiCrMo16-6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Case 2 (</a:t>
                      </a:r>
                      <a:r>
                        <a:rPr lang="el-GR">
                          <a:effectLst/>
                        </a:rPr>
                        <a:t>σ=0.66</a:t>
                      </a:r>
                      <a:r>
                        <a:rPr lang="en-US">
                          <a:effectLst/>
                        </a:rPr>
                        <a:t>fy​)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254.79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257.79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51,558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166.29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31351023"/>
                  </a:ext>
                </a:extLst>
              </a:tr>
              <a:tr h="45065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42CrMo4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Case 1 (</a:t>
                      </a:r>
                      <a:r>
                        <a:rPr lang="el-GR">
                          <a:effectLst/>
                        </a:rPr>
                        <a:t>σ=</a:t>
                      </a:r>
                      <a:r>
                        <a:rPr lang="en-US">
                          <a:effectLst/>
                        </a:rPr>
                        <a:t>fy​)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267.83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270.83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54,166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158.29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270614694"/>
                  </a:ext>
                </a:extLst>
              </a:tr>
              <a:tr h="45065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42CrMo4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Case 2 (</a:t>
                      </a:r>
                      <a:r>
                        <a:rPr lang="el-GR">
                          <a:effectLst/>
                        </a:rPr>
                        <a:t>σ=0.66</a:t>
                      </a:r>
                      <a:r>
                        <a:rPr lang="en-US">
                          <a:effectLst/>
                        </a:rPr>
                        <a:t>fy​)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307.61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310.61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>
                          <a:effectLst/>
                        </a:rPr>
                        <a:t>62,122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dirty="0">
                          <a:effectLst/>
                        </a:rPr>
                        <a:t>138.01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597306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844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 – Rotor Bearing System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0688"/>
            <a:ext cx="10988040" cy="4616806"/>
          </a:xfrm>
        </p:spPr>
        <p:txBody>
          <a:bodyPr>
            <a:normAutofit lnSpcReduction="10000"/>
          </a:bodyPr>
          <a:lstStyle>
            <a:lvl1pPr marL="0" indent="0">
              <a:buNone/>
              <a:defRPr sz="1600"/>
            </a:lvl1pPr>
          </a:lstStyle>
          <a:p>
            <a:pPr marL="342900" indent="-342900">
              <a:buFont typeface="+mj-lt"/>
              <a:buAutoNum type="arabicPeriod"/>
            </a:pPr>
            <a:r>
              <a:rPr lang="en-US" dirty="0"/>
              <a:t>Optimus Shakti, Optimus 60E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ITH. (n.d.). ITH Hydraulic Torque Wrenches Catalog. Retrieved November 08, 2025, from </a:t>
            </a:r>
            <a:r>
              <a:rPr lang="en-US" dirty="0">
                <a:hlinkClick r:id="rId2"/>
              </a:rPr>
              <a:t>www.ITH.de/schraubwerkzeuge/hydraulische-drehmomentschrauber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i="1" dirty="0"/>
              <a:t>DIN EN 10083-3: Steels for quenching and tempering – Part 3: Technical delivery conditions for alloy steels</a:t>
            </a:r>
            <a:r>
              <a:rPr lang="en-US" dirty="0"/>
              <a:t>. Retrieved November 22, 2025, from </a:t>
            </a:r>
            <a:r>
              <a:rPr lang="en-US" dirty="0">
                <a:hlinkClick r:id="rId3"/>
              </a:rPr>
              <a:t>https://studylib.net/doc/18166049/din-en-10083-steel-for-quenching-and-tempering-part-3-</a:t>
            </a:r>
            <a:r>
              <a:rPr lang="en-US" dirty="0"/>
              <a:t>       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American Institute of Steel Construction. (1989). </a:t>
            </a:r>
            <a:r>
              <a:rPr lang="en-US" altLang="en-US" i="1" dirty="0"/>
              <a:t>Manual of Steel Construction: Allowable Stress Design</a:t>
            </a:r>
            <a:r>
              <a:rPr lang="en-US" altLang="en-US" dirty="0"/>
              <a:t> (9th ed.). Chicago, IL: Author. Retrieved November 22, 2025, from </a:t>
            </a:r>
            <a:r>
              <a:rPr lang="en-US" altLang="en-US" dirty="0">
                <a:hlinkClick r:id="rId4"/>
              </a:rPr>
              <a:t>Internet Archive (Manual of Steel Construction: Allowable Stress Design, 9th Edition)</a:t>
            </a:r>
            <a:endParaRPr lang="en-US" alt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/>
              <a:t>LLM(Large Language Models).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 err="1"/>
              <a:t>Germanischer</a:t>
            </a:r>
            <a:r>
              <a:rPr lang="en-US" dirty="0"/>
              <a:t> Lloyd Industrial Services GmbH, Renewables Certification. (2010). Guideline for the certification of wind turbines.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 err="1"/>
              <a:t>Boltport</a:t>
            </a:r>
            <a:r>
              <a:rPr lang="en-US" dirty="0"/>
              <a:t> Fasteners. (n.d.). DIN 125 Flat Washers Weights Chart. Retrieved December 8, 2025, from </a:t>
            </a:r>
            <a:r>
              <a:rPr lang="en-US" dirty="0">
                <a:hlinkClick r:id="rId5"/>
              </a:rPr>
              <a:t>https://boltport.com/weights/din-125/</a:t>
            </a: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dirty="0"/>
              <a:t>M. Wilhelmsen A/S. (n.d.). </a:t>
            </a:r>
            <a:r>
              <a:rPr lang="de-DE" i="1" dirty="0"/>
              <a:t>STEEL BOLT M48X240 10.9 DIN 931</a:t>
            </a:r>
            <a:r>
              <a:rPr lang="de-DE" dirty="0"/>
              <a:t>. Abgerufen am 8. Dezember 2025, von </a:t>
            </a:r>
            <a:r>
              <a:rPr lang="de-DE" dirty="0">
                <a:hlinkClick r:id="rId6"/>
              </a:rPr>
              <a:t>https://ehandel.mw.dk/en/steel-bolts-din-931/steel-bolt-m48-109</a:t>
            </a: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lvl="0" indent="-342900">
              <a:buFont typeface="+mj-lt"/>
              <a:buAutoNum type="arabicPeriod"/>
              <a:defRPr/>
            </a:pPr>
            <a:endParaRPr lang="en-US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it-IT" dirty="0"/>
          </a:p>
          <a:p>
            <a:pPr lv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16/12/2025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Datumsplatzhalter 22">
            <a:extLst>
              <a:ext uri="{FF2B5EF4-FFF2-40B4-BE49-F238E27FC236}">
                <a16:creationId xmlns:a16="http://schemas.microsoft.com/office/drawing/2014/main" id="{D522F266-0CCB-4197-ED4F-AD0F111BC028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2F211972-A5F6-4C5A-812C-358509A8F2F3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EEC5F849-3D6F-4317-9095-D7FC4779F1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 /><Relationship Id="rId1" Type="http://schemas.microsoft.com/office/2011/relationships/webextension" Target="webextension1.xml" 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6210</TotalTime>
  <Words>934</Words>
  <Application>Microsoft Office PowerPoint</Application>
  <PresentationFormat>Widescreen</PresentationFormat>
  <Paragraphs>296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</vt:lpstr>
      <vt:lpstr>Benutzerdefiniertes Design</vt:lpstr>
      <vt:lpstr>PowerPoint Presentation</vt:lpstr>
      <vt:lpstr>PowerPoint Presentation</vt:lpstr>
      <vt:lpstr>Agenda</vt:lpstr>
      <vt:lpstr>Bearing </vt:lpstr>
      <vt:lpstr>Bearing Housing</vt:lpstr>
      <vt:lpstr> Rotor Shaft </vt:lpstr>
      <vt:lpstr>Rotor Lock Disc</vt:lpstr>
      <vt:lpstr>Rotor Lock Pin</vt:lpstr>
      <vt:lpstr> Lock Nut</vt:lpstr>
      <vt:lpstr>Rotor Bearing Assembly</vt:lpstr>
      <vt:lpstr>Lock pin  calculation using new Load data</vt:lpstr>
      <vt:lpstr>PowerPoint Presentation</vt:lpstr>
      <vt:lpstr>PowerPoint Presentation</vt:lpstr>
      <vt:lpstr>Bibliography – Rotor Bearing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Divyesh Satishkumar Mistry</cp:lastModifiedBy>
  <cp:revision>173</cp:revision>
  <dcterms:created xsi:type="dcterms:W3CDTF">2025-10-24T16:53:52Z</dcterms:created>
  <dcterms:modified xsi:type="dcterms:W3CDTF">2025-12-15T20:39:18Z</dcterms:modified>
</cp:coreProperties>
</file>