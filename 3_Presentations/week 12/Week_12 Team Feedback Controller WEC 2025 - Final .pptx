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Lst>
  <p:notesMasterIdLst>
    <p:notesMasterId r:id="rId30"/>
  </p:notesMasterIdLst>
  <p:sldIdLst>
    <p:sldId id="257" r:id="rId3"/>
    <p:sldId id="259" r:id="rId4"/>
    <p:sldId id="261" r:id="rId5"/>
    <p:sldId id="323" r:id="rId6"/>
    <p:sldId id="324" r:id="rId7"/>
    <p:sldId id="297" r:id="rId8"/>
    <p:sldId id="298" r:id="rId9"/>
    <p:sldId id="300" r:id="rId10"/>
    <p:sldId id="301" r:id="rId11"/>
    <p:sldId id="302" r:id="rId12"/>
    <p:sldId id="303" r:id="rId13"/>
    <p:sldId id="304" r:id="rId14"/>
    <p:sldId id="305" r:id="rId15"/>
    <p:sldId id="314" r:id="rId16"/>
    <p:sldId id="312" r:id="rId17"/>
    <p:sldId id="313" r:id="rId18"/>
    <p:sldId id="306" r:id="rId19"/>
    <p:sldId id="317" r:id="rId20"/>
    <p:sldId id="315" r:id="rId21"/>
    <p:sldId id="308" r:id="rId22"/>
    <p:sldId id="309" r:id="rId23"/>
    <p:sldId id="318" r:id="rId24"/>
    <p:sldId id="310" r:id="rId25"/>
    <p:sldId id="319" r:id="rId26"/>
    <p:sldId id="311" r:id="rId27"/>
    <p:sldId id="307" r:id="rId28"/>
    <p:sldId id="26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CE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E4C64E-E1A8-4D2A-8C33-5937CD587AEB}" v="45" dt="2025-12-15T10:44:37.546"/>
    <p1510:client id="{85E09888-B262-4080-8C06-2F25140AE9A1}" v="19" dt="2025-12-15T13:41:29.567"/>
    <p1510:client id="{BD9D4A05-CAF8-420C-BF6D-71A04EC16F45}" v="14" dt="2025-12-15T13:48:41.006"/>
    <p1510:client id="{CB32D31C-075A-46A2-8E80-F87F4AB13507}" v="32" dt="2025-12-15T10:40:01.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95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Schlipf" userId="42e3ab0d-bd86-46c8-a131-9fd9c29bdce4" providerId="ADAL" clId="{8805D8F0-70E8-497D-B71A-8D710B12D196}"/>
    <pc:docChg chg="custSel addSld delSld modSld">
      <pc:chgData name="David Schlipf" userId="42e3ab0d-bd86-46c8-a131-9fd9c29bdce4" providerId="ADAL" clId="{8805D8F0-70E8-497D-B71A-8D710B12D196}" dt="2025-12-15T13:52:38.316" v="335" actId="1076"/>
      <pc:docMkLst>
        <pc:docMk/>
      </pc:docMkLst>
      <pc:sldChg chg="modSp mod">
        <pc:chgData name="David Schlipf" userId="42e3ab0d-bd86-46c8-a131-9fd9c29bdce4" providerId="ADAL" clId="{8805D8F0-70E8-497D-B71A-8D710B12D196}" dt="2025-12-15T13:41:59.586" v="1" actId="27636"/>
        <pc:sldMkLst>
          <pc:docMk/>
          <pc:sldMk cId="996576297" sldId="320"/>
        </pc:sldMkLst>
        <pc:spChg chg="mod">
          <ac:chgData name="David Schlipf" userId="42e3ab0d-bd86-46c8-a131-9fd9c29bdce4" providerId="ADAL" clId="{8805D8F0-70E8-497D-B71A-8D710B12D196}" dt="2025-12-15T13:41:59.586" v="1" actId="27636"/>
          <ac:spMkLst>
            <pc:docMk/>
            <pc:sldMk cId="996576297" sldId="320"/>
            <ac:spMk id="8" creationId="{51542E95-640F-4C03-F580-30EAC65AA7EC}"/>
          </ac:spMkLst>
        </pc:spChg>
      </pc:sldChg>
      <pc:sldChg chg="modSp mod">
        <pc:chgData name="David Schlipf" userId="42e3ab0d-bd86-46c8-a131-9fd9c29bdce4" providerId="ADAL" clId="{8805D8F0-70E8-497D-B71A-8D710B12D196}" dt="2025-12-15T13:41:59.592" v="2" actId="27636"/>
        <pc:sldMkLst>
          <pc:docMk/>
          <pc:sldMk cId="3710097373" sldId="321"/>
        </pc:sldMkLst>
        <pc:spChg chg="mod">
          <ac:chgData name="David Schlipf" userId="42e3ab0d-bd86-46c8-a131-9fd9c29bdce4" providerId="ADAL" clId="{8805D8F0-70E8-497D-B71A-8D710B12D196}" dt="2025-12-15T13:41:59.592" v="2" actId="27636"/>
          <ac:spMkLst>
            <pc:docMk/>
            <pc:sldMk cId="3710097373" sldId="321"/>
            <ac:spMk id="8" creationId="{B7EB6796-EFEF-8C4E-A4D0-A9DBA979BDBE}"/>
          </ac:spMkLst>
        </pc:spChg>
      </pc:sldChg>
      <pc:sldChg chg="del">
        <pc:chgData name="David Schlipf" userId="42e3ab0d-bd86-46c8-a131-9fd9c29bdce4" providerId="ADAL" clId="{8805D8F0-70E8-497D-B71A-8D710B12D196}" dt="2025-12-15T13:45:50.448" v="256" actId="47"/>
        <pc:sldMkLst>
          <pc:docMk/>
          <pc:sldMk cId="2363819949" sldId="322"/>
        </pc:sldMkLst>
      </pc:sldChg>
      <pc:sldChg chg="addSp modSp add mod">
        <pc:chgData name="David Schlipf" userId="42e3ab0d-bd86-46c8-a131-9fd9c29bdce4" providerId="ADAL" clId="{8805D8F0-70E8-497D-B71A-8D710B12D196}" dt="2025-12-15T13:45:42.958" v="255" actId="20577"/>
        <pc:sldMkLst>
          <pc:docMk/>
          <pc:sldMk cId="3268536240" sldId="323"/>
        </pc:sldMkLst>
        <pc:spChg chg="mod">
          <ac:chgData name="David Schlipf" userId="42e3ab0d-bd86-46c8-a131-9fd9c29bdce4" providerId="ADAL" clId="{8805D8F0-70E8-497D-B71A-8D710B12D196}" dt="2025-12-15T13:42:57.574" v="35" actId="20577"/>
          <ac:spMkLst>
            <pc:docMk/>
            <pc:sldMk cId="3268536240" sldId="323"/>
            <ac:spMk id="2" creationId="{103A3430-4BE4-DBE3-1E0E-E328A2FC6E53}"/>
          </ac:spMkLst>
        </pc:spChg>
        <pc:spChg chg="mod">
          <ac:chgData name="David Schlipf" userId="42e3ab0d-bd86-46c8-a131-9fd9c29bdce4" providerId="ADAL" clId="{8805D8F0-70E8-497D-B71A-8D710B12D196}" dt="2025-12-15T13:45:42.958" v="255" actId="20577"/>
          <ac:spMkLst>
            <pc:docMk/>
            <pc:sldMk cId="3268536240" sldId="323"/>
            <ac:spMk id="6" creationId="{26A2CC9E-C47A-C94D-DEED-F2E888FA0655}"/>
          </ac:spMkLst>
        </pc:spChg>
        <pc:picChg chg="add mod">
          <ac:chgData name="David Schlipf" userId="42e3ab0d-bd86-46c8-a131-9fd9c29bdce4" providerId="ADAL" clId="{8805D8F0-70E8-497D-B71A-8D710B12D196}" dt="2025-12-15T13:44:32.053" v="109" actId="1076"/>
          <ac:picMkLst>
            <pc:docMk/>
            <pc:sldMk cId="3268536240" sldId="323"/>
            <ac:picMk id="1026" creationId="{FE1E2C04-E1F7-EF39-5139-F2169DFC817F}"/>
          </ac:picMkLst>
        </pc:picChg>
      </pc:sldChg>
      <pc:sldChg chg="addSp delSp modSp add mod">
        <pc:chgData name="David Schlipf" userId="42e3ab0d-bd86-46c8-a131-9fd9c29bdce4" providerId="ADAL" clId="{8805D8F0-70E8-497D-B71A-8D710B12D196}" dt="2025-12-15T13:52:38.316" v="335" actId="1076"/>
        <pc:sldMkLst>
          <pc:docMk/>
          <pc:sldMk cId="3420739991" sldId="324"/>
        </pc:sldMkLst>
        <pc:spChg chg="mod">
          <ac:chgData name="David Schlipf" userId="42e3ab0d-bd86-46c8-a131-9fd9c29bdce4" providerId="ADAL" clId="{8805D8F0-70E8-497D-B71A-8D710B12D196}" dt="2025-12-15T13:52:32.718" v="333" actId="1076"/>
          <ac:spMkLst>
            <pc:docMk/>
            <pc:sldMk cId="3420739991" sldId="324"/>
            <ac:spMk id="6" creationId="{F7458B27-B631-5CB7-E42B-03CA38E40C0A}"/>
          </ac:spMkLst>
        </pc:spChg>
        <pc:picChg chg="add mod">
          <ac:chgData name="David Schlipf" userId="42e3ab0d-bd86-46c8-a131-9fd9c29bdce4" providerId="ADAL" clId="{8805D8F0-70E8-497D-B71A-8D710B12D196}" dt="2025-12-15T13:52:38.316" v="335" actId="1076"/>
          <ac:picMkLst>
            <pc:docMk/>
            <pc:sldMk cId="3420739991" sldId="324"/>
            <ac:picMk id="5" creationId="{D8DB6A71-6E43-04CF-5B89-0964CD4F421E}"/>
          </ac:picMkLst>
        </pc:picChg>
        <pc:picChg chg="add mod">
          <ac:chgData name="David Schlipf" userId="42e3ab0d-bd86-46c8-a131-9fd9c29bdce4" providerId="ADAL" clId="{8805D8F0-70E8-497D-B71A-8D710B12D196}" dt="2025-12-15T13:52:34.021" v="334" actId="1076"/>
          <ac:picMkLst>
            <pc:docMk/>
            <pc:sldMk cId="3420739991" sldId="324"/>
            <ac:picMk id="11" creationId="{117C0700-5050-AE2F-C606-810BBE320522}"/>
          </ac:picMkLst>
        </pc:picChg>
        <pc:picChg chg="del">
          <ac:chgData name="David Schlipf" userId="42e3ab0d-bd86-46c8-a131-9fd9c29bdce4" providerId="ADAL" clId="{8805D8F0-70E8-497D-B71A-8D710B12D196}" dt="2025-12-15T13:45:56.385" v="258" actId="478"/>
          <ac:picMkLst>
            <pc:docMk/>
            <pc:sldMk cId="3420739991" sldId="324"/>
            <ac:picMk id="1026" creationId="{B58AF4A1-7832-A2C3-95F0-9614F4645818}"/>
          </ac:picMkLst>
        </pc:picChg>
      </pc:sldChg>
    </pc:docChg>
  </pc:docChgLst>
  <pc:docChgLst>
    <pc:chgData name="Mirza Dincer" userId="S::midi5327@stud.hs-flensburg.de::379adbd7-337b-4551-930c-e9513034144b" providerId="AD" clId="Web-{CB32D31C-075A-46A2-8E80-F87F4AB13507}"/>
    <pc:docChg chg="modSld">
      <pc:chgData name="Mirza Dincer" userId="S::midi5327@stud.hs-flensburg.de::379adbd7-337b-4551-930c-e9513034144b" providerId="AD" clId="Web-{CB32D31C-075A-46A2-8E80-F87F4AB13507}" dt="2025-12-15T10:40:01.122" v="31" actId="20577"/>
      <pc:docMkLst>
        <pc:docMk/>
      </pc:docMkLst>
      <pc:sldChg chg="modSp">
        <pc:chgData name="Mirza Dincer" userId="S::midi5327@stud.hs-flensburg.de::379adbd7-337b-4551-930c-e9513034144b" providerId="AD" clId="Web-{CB32D31C-075A-46A2-8E80-F87F4AB13507}" dt="2025-12-15T10:40:01.122" v="31" actId="20577"/>
        <pc:sldMkLst>
          <pc:docMk/>
          <pc:sldMk cId="996576297" sldId="320"/>
        </pc:sldMkLst>
        <pc:spChg chg="mod">
          <ac:chgData name="Mirza Dincer" userId="S::midi5327@stud.hs-flensburg.de::379adbd7-337b-4551-930c-e9513034144b" providerId="AD" clId="Web-{CB32D31C-075A-46A2-8E80-F87F4AB13507}" dt="2025-12-15T10:40:01.122" v="31" actId="20577"/>
          <ac:spMkLst>
            <pc:docMk/>
            <pc:sldMk cId="996576297" sldId="320"/>
            <ac:spMk id="3" creationId="{2A495AC4-07B0-8002-ABA4-67B4D30FD5E0}"/>
          </ac:spMkLst>
        </pc:spChg>
      </pc:sldChg>
    </pc:docChg>
  </pc:docChgLst>
  <pc:docChgLst>
    <pc:chgData name="Mirza Dincer" userId="S::midi5327@stud.hs-flensburg.de::379adbd7-337b-4551-930c-e9513034144b" providerId="AD" clId="Web-{6BE4C64E-E1A8-4D2A-8C33-5937CD587AEB}"/>
    <pc:docChg chg="modSld">
      <pc:chgData name="Mirza Dincer" userId="S::midi5327@stud.hs-flensburg.de::379adbd7-337b-4551-930c-e9513034144b" providerId="AD" clId="Web-{6BE4C64E-E1A8-4D2A-8C33-5937CD587AEB}" dt="2025-12-15T10:44:37.546" v="44" actId="20577"/>
      <pc:docMkLst>
        <pc:docMk/>
      </pc:docMkLst>
      <pc:sldChg chg="modSp">
        <pc:chgData name="Mirza Dincer" userId="S::midi5327@stud.hs-flensburg.de::379adbd7-337b-4551-930c-e9513034144b" providerId="AD" clId="Web-{6BE4C64E-E1A8-4D2A-8C33-5937CD587AEB}" dt="2025-12-15T10:44:37.546" v="44" actId="20577"/>
        <pc:sldMkLst>
          <pc:docMk/>
          <pc:sldMk cId="996576297" sldId="320"/>
        </pc:sldMkLst>
        <pc:spChg chg="mod">
          <ac:chgData name="Mirza Dincer" userId="S::midi5327@stud.hs-flensburg.de::379adbd7-337b-4551-930c-e9513034144b" providerId="AD" clId="Web-{6BE4C64E-E1A8-4D2A-8C33-5937CD587AEB}" dt="2025-12-15T10:44:37.546" v="44" actId="20577"/>
          <ac:spMkLst>
            <pc:docMk/>
            <pc:sldMk cId="996576297" sldId="320"/>
            <ac:spMk id="3" creationId="{2A495AC4-07B0-8002-ABA4-67B4D30FD5E0}"/>
          </ac:spMkLst>
        </pc:spChg>
      </pc:sldChg>
    </pc:docChg>
  </pc:docChgLst>
  <pc:docChgLst>
    <pc:chgData name="David Schlipf" userId="S::david.schlipf@hs-flensburg.de::42e3ab0d-bd86-46c8-a131-9fd9c29bdce4" providerId="AD" clId="Web-{85E09888-B262-4080-8C06-2F25140AE9A1}"/>
    <pc:docChg chg="addSld modSld">
      <pc:chgData name="David Schlipf" userId="S::david.schlipf@hs-flensburg.de::42e3ab0d-bd86-46c8-a131-9fd9c29bdce4" providerId="AD" clId="Web-{85E09888-B262-4080-8C06-2F25140AE9A1}" dt="2025-12-15T13:41:29.567" v="17"/>
      <pc:docMkLst>
        <pc:docMk/>
      </pc:docMkLst>
      <pc:sldChg chg="addSp delSp modSp add replId">
        <pc:chgData name="David Schlipf" userId="S::david.schlipf@hs-flensburg.de::42e3ab0d-bd86-46c8-a131-9fd9c29bdce4" providerId="AD" clId="Web-{85E09888-B262-4080-8C06-2F25140AE9A1}" dt="2025-12-15T13:41:29.567" v="17"/>
        <pc:sldMkLst>
          <pc:docMk/>
          <pc:sldMk cId="2363819949" sldId="322"/>
        </pc:sldMkLst>
        <pc:spChg chg="mod">
          <ac:chgData name="David Schlipf" userId="S::david.schlipf@hs-flensburg.de::42e3ab0d-bd86-46c8-a131-9fd9c29bdce4" providerId="AD" clId="Web-{85E09888-B262-4080-8C06-2F25140AE9A1}" dt="2025-12-15T13:41:26.332" v="16" actId="20577"/>
          <ac:spMkLst>
            <pc:docMk/>
            <pc:sldMk cId="2363819949" sldId="322"/>
            <ac:spMk id="2" creationId="{BE6529C3-75D8-94FD-D434-5FFB8DD8BA3F}"/>
          </ac:spMkLst>
        </pc:spChg>
        <pc:spChg chg="del">
          <ac:chgData name="David Schlipf" userId="S::david.schlipf@hs-flensburg.de::42e3ab0d-bd86-46c8-a131-9fd9c29bdce4" providerId="AD" clId="Web-{85E09888-B262-4080-8C06-2F25140AE9A1}" dt="2025-12-15T13:41:29.567" v="17"/>
          <ac:spMkLst>
            <pc:docMk/>
            <pc:sldMk cId="2363819949" sldId="322"/>
            <ac:spMk id="5" creationId="{93BF19A1-A17E-F23E-2EEE-17D271CF3B07}"/>
          </ac:spMkLst>
        </pc:spChg>
        <pc:spChg chg="add mod">
          <ac:chgData name="David Schlipf" userId="S::david.schlipf@hs-flensburg.de::42e3ab0d-bd86-46c8-a131-9fd9c29bdce4" providerId="AD" clId="Web-{85E09888-B262-4080-8C06-2F25140AE9A1}" dt="2025-12-15T13:41:29.567" v="17"/>
          <ac:spMkLst>
            <pc:docMk/>
            <pc:sldMk cId="2363819949" sldId="322"/>
            <ac:spMk id="6" creationId="{EB074C5E-E8A8-33D6-F476-AB030DE2838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93C7D5-49C9-4310-99B0-74BF8F98F62E}"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834A5A-C299-4527-A106-DBD1B2885A9E}" type="slidenum">
              <a:rPr lang="en-US" smtClean="0"/>
              <a:t>‹#›</a:t>
            </a:fld>
            <a:endParaRPr lang="en-US"/>
          </a:p>
        </p:txBody>
      </p:sp>
    </p:spTree>
    <p:extLst>
      <p:ext uri="{BB962C8B-B14F-4D97-AF65-F5344CB8AC3E}">
        <p14:creationId xmlns:p14="http://schemas.microsoft.com/office/powerpoint/2010/main" val="1785361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6834A5A-C299-4527-A106-DBD1B2885A9E}" type="slidenum">
              <a:rPr lang="en-US" smtClean="0"/>
              <a:t>2</a:t>
            </a:fld>
            <a:endParaRPr lang="en-US"/>
          </a:p>
        </p:txBody>
      </p:sp>
    </p:spTree>
    <p:extLst>
      <p:ext uri="{BB962C8B-B14F-4D97-AF65-F5344CB8AC3E}">
        <p14:creationId xmlns:p14="http://schemas.microsoft.com/office/powerpoint/2010/main" val="41607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834A5A-C299-4527-A106-DBD1B2885A9E}" type="slidenum">
              <a:rPr lang="en-US" smtClean="0"/>
              <a:t>18</a:t>
            </a:fld>
            <a:endParaRPr lang="en-US"/>
          </a:p>
        </p:txBody>
      </p:sp>
    </p:spTree>
    <p:extLst>
      <p:ext uri="{BB962C8B-B14F-4D97-AF65-F5344CB8AC3E}">
        <p14:creationId xmlns:p14="http://schemas.microsoft.com/office/powerpoint/2010/main" val="2373636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www.mybib.com/tools/ieee-citation-generator"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List of teams">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B5CAFF-79AF-87AE-7EAE-604CC93E7647}"/>
              </a:ext>
            </a:extLst>
          </p:cNvPr>
          <p:cNvSpPr>
            <a:spLocks noGrp="1"/>
          </p:cNvSpPr>
          <p:nvPr>
            <p:ph idx="1" hasCustomPrompt="1"/>
          </p:nvPr>
        </p:nvSpPr>
        <p:spPr>
          <a:xfrm>
            <a:off x="6458857" y="1978025"/>
            <a:ext cx="4894943" cy="4351338"/>
          </a:xfrm>
        </p:spPr>
        <p:txBody>
          <a:bodyPr>
            <a:normAutofit/>
          </a:bodyPr>
          <a:lstStyle>
            <a:lvl1pPr marL="514350" indent="-514350">
              <a:buFont typeface="+mj-lt"/>
              <a:buAutoNum type="arabicPeriod"/>
              <a:defRPr sz="2200"/>
            </a:lvl1pPr>
            <a:lvl2pPr marL="457200" indent="0">
              <a:buFont typeface="Arial" panose="020B0604020202020204" pitchFamily="34" charset="0"/>
              <a:buNone/>
              <a:defRPr sz="2200"/>
            </a:lvl2pPr>
          </a:lstStyle>
          <a:p>
            <a:pPr lvl="1"/>
            <a:r>
              <a:rPr lang="de-DE"/>
              <a:t>12. </a:t>
            </a:r>
            <a:r>
              <a:rPr lang="de-DE" err="1"/>
              <a:t>Machine</a:t>
            </a:r>
            <a:r>
              <a:rPr lang="de-DE"/>
              <a:t> </a:t>
            </a:r>
            <a:r>
              <a:rPr lang="de-DE" err="1"/>
              <a:t>Bed</a:t>
            </a:r>
            <a:r>
              <a:rPr lang="de-DE"/>
              <a:t> &amp; Yaw System  </a:t>
            </a:r>
          </a:p>
          <a:p>
            <a:pPr lvl="1"/>
            <a:r>
              <a:rPr lang="de-DE"/>
              <a:t>13. Tower  </a:t>
            </a:r>
          </a:p>
          <a:p>
            <a:pPr lvl="1"/>
            <a:r>
              <a:rPr lang="de-DE"/>
              <a:t>14. </a:t>
            </a:r>
            <a:r>
              <a:rPr lang="de-DE" err="1"/>
              <a:t>Foundation</a:t>
            </a:r>
            <a:r>
              <a:rPr lang="de-DE"/>
              <a:t>  </a:t>
            </a:r>
          </a:p>
          <a:p>
            <a:pPr lvl="1"/>
            <a:r>
              <a:rPr lang="de-DE"/>
              <a:t>15. Storage System </a:t>
            </a:r>
          </a:p>
          <a:p>
            <a:pPr lvl="1"/>
            <a:endParaRPr lang="de-DE"/>
          </a:p>
        </p:txBody>
      </p:sp>
      <p:sp>
        <p:nvSpPr>
          <p:cNvPr id="8" name="Title 1">
            <a:extLst>
              <a:ext uri="{FF2B5EF4-FFF2-40B4-BE49-F238E27FC236}">
                <a16:creationId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en-GB"/>
              <a:t>Teams</a:t>
            </a:r>
          </a:p>
        </p:txBody>
      </p:sp>
      <p:cxnSp>
        <p:nvCxnSpPr>
          <p:cNvPr id="9" name="Straight Connector 5">
            <a:extLst>
              <a:ext uri="{FF2B5EF4-FFF2-40B4-BE49-F238E27FC236}">
                <a16:creationId xmlns:a16="http://schemas.microsoft.com/office/drawing/2014/main" id="{66EB7C6A-45A8-A327-54B4-9E3A0BCAC0B4}"/>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Content Placeholder 2">
            <a:extLst>
              <a:ext uri="{FF2B5EF4-FFF2-40B4-BE49-F238E27FC236}">
                <a16:creationId xmlns:a16="http://schemas.microsoft.com/office/drawing/2014/main" id="{D2466CB9-E665-36BA-2132-8519CA303C97}"/>
              </a:ext>
            </a:extLst>
          </p:cNvPr>
          <p:cNvSpPr>
            <a:spLocks noGrp="1"/>
          </p:cNvSpPr>
          <p:nvPr>
            <p:ph idx="13" hasCustomPrompt="1"/>
          </p:nvPr>
        </p:nvSpPr>
        <p:spPr>
          <a:xfrm>
            <a:off x="838200" y="1978025"/>
            <a:ext cx="4894943" cy="4351338"/>
          </a:xfrm>
        </p:spPr>
        <p:txBody>
          <a:bodyPr>
            <a:normAutofit/>
          </a:bodyPr>
          <a:lstStyle>
            <a:lvl1pPr marL="514350" indent="-514350">
              <a:buFont typeface="+mj-lt"/>
              <a:buAutoNum type="arabicPeriod"/>
              <a:defRPr sz="2200"/>
            </a:lvl1pPr>
            <a:lvl2pPr marL="457200" indent="0" algn="l">
              <a:buFont typeface="Arial" panose="020B0604020202020204" pitchFamily="34" charset="0"/>
              <a:buNone/>
              <a:defRPr sz="2200"/>
            </a:lvl2pPr>
          </a:lstStyle>
          <a:p>
            <a:pPr lvl="1"/>
            <a:r>
              <a:rPr lang="de-DE"/>
              <a:t>1.  </a:t>
            </a:r>
            <a:r>
              <a:rPr lang="de-DE" err="1"/>
              <a:t>Windfarm</a:t>
            </a:r>
            <a:r>
              <a:rPr lang="de-DE"/>
              <a:t> Project Development  </a:t>
            </a:r>
          </a:p>
          <a:p>
            <a:pPr lvl="1"/>
            <a:r>
              <a:rPr lang="de-DE"/>
              <a:t>2.  Loads and Dynamics  </a:t>
            </a:r>
          </a:p>
          <a:p>
            <a:pPr lvl="1"/>
            <a:r>
              <a:rPr lang="de-DE"/>
              <a:t>3.  Feedback Controller  </a:t>
            </a:r>
          </a:p>
          <a:p>
            <a:pPr lvl="1"/>
            <a:r>
              <a:rPr lang="de-DE"/>
              <a:t>4.  Lidar-</a:t>
            </a:r>
            <a:r>
              <a:rPr lang="de-DE" err="1"/>
              <a:t>Assisted</a:t>
            </a:r>
            <a:r>
              <a:rPr lang="de-DE"/>
              <a:t> Controller  </a:t>
            </a:r>
          </a:p>
          <a:p>
            <a:pPr lvl="1"/>
            <a:r>
              <a:rPr lang="de-DE"/>
              <a:t>5.  Rotor Blade </a:t>
            </a:r>
            <a:r>
              <a:rPr lang="de-DE" err="1"/>
              <a:t>Aerodynamics</a:t>
            </a:r>
            <a:r>
              <a:rPr lang="de-DE"/>
              <a:t>  </a:t>
            </a:r>
          </a:p>
          <a:p>
            <a:pPr lvl="1"/>
            <a:r>
              <a:rPr lang="de-DE"/>
              <a:t>6.  Rotor Blade </a:t>
            </a:r>
            <a:r>
              <a:rPr lang="de-DE" err="1"/>
              <a:t>Structures</a:t>
            </a:r>
            <a:r>
              <a:rPr lang="de-DE"/>
              <a:t>  </a:t>
            </a:r>
          </a:p>
          <a:p>
            <a:pPr lvl="1"/>
            <a:r>
              <a:rPr lang="de-DE"/>
              <a:t>7.  </a:t>
            </a:r>
            <a:r>
              <a:rPr lang="de-DE" err="1"/>
              <a:t>Electrical</a:t>
            </a:r>
            <a:r>
              <a:rPr lang="de-DE"/>
              <a:t> </a:t>
            </a:r>
            <a:r>
              <a:rPr lang="de-DE" err="1"/>
              <a:t>Drivetrain</a:t>
            </a:r>
            <a:r>
              <a:rPr lang="de-DE"/>
              <a:t> (EDT)  </a:t>
            </a:r>
          </a:p>
          <a:p>
            <a:pPr lvl="1"/>
            <a:r>
              <a:rPr lang="de-DE"/>
              <a:t>8.  </a:t>
            </a:r>
            <a:r>
              <a:rPr lang="de-DE" err="1"/>
              <a:t>Grid</a:t>
            </a:r>
            <a:r>
              <a:rPr lang="de-DE"/>
              <a:t> Code Development (GCD)  </a:t>
            </a:r>
          </a:p>
          <a:p>
            <a:pPr lvl="1"/>
            <a:r>
              <a:rPr lang="de-DE"/>
              <a:t>9.  Rotor Hub &amp; Pitch System  </a:t>
            </a:r>
          </a:p>
          <a:p>
            <a:pPr lvl="1"/>
            <a:r>
              <a:rPr lang="de-DE"/>
              <a:t>10. Rotor </a:t>
            </a:r>
            <a:r>
              <a:rPr lang="de-DE" err="1"/>
              <a:t>Bearing</a:t>
            </a:r>
            <a:r>
              <a:rPr lang="de-DE"/>
              <a:t> System  </a:t>
            </a:r>
          </a:p>
          <a:p>
            <a:pPr lvl="1"/>
            <a:r>
              <a:rPr lang="de-DE"/>
              <a:t>11. </a:t>
            </a:r>
            <a:r>
              <a:rPr lang="de-DE" err="1"/>
              <a:t>Gearbox</a:t>
            </a:r>
            <a:r>
              <a:rPr lang="de-DE"/>
              <a:t>, Brake, Coupling  </a:t>
            </a:r>
          </a:p>
          <a:p>
            <a:pPr lvl="1"/>
            <a:r>
              <a:rPr lang="de-DE"/>
              <a:t>						</a:t>
            </a:r>
          </a:p>
        </p:txBody>
      </p:sp>
      <p:sp>
        <p:nvSpPr>
          <p:cNvPr id="12" name="Datumsplatzhalter 11">
            <a:extLst>
              <a:ext uri="{FF2B5EF4-FFF2-40B4-BE49-F238E27FC236}">
                <a16:creationId xmlns:a16="http://schemas.microsoft.com/office/drawing/2014/main" id="{FD841E35-8D66-8DA2-B806-8C18E5D28063}"/>
              </a:ext>
            </a:extLst>
          </p:cNvPr>
          <p:cNvSpPr>
            <a:spLocks noGrp="1"/>
          </p:cNvSpPr>
          <p:nvPr>
            <p:ph type="dt" sz="half" idx="14"/>
          </p:nvPr>
        </p:nvSpPr>
        <p:spPr/>
        <p:txBody>
          <a:bodyPr/>
          <a:lstStyle/>
          <a:p>
            <a:r>
              <a:rPr lang="en-US"/>
              <a:t>16/12/2025</a:t>
            </a:r>
          </a:p>
        </p:txBody>
      </p:sp>
      <p:sp>
        <p:nvSpPr>
          <p:cNvPr id="16" name="Fußzeilenplatzhalter 15">
            <a:extLst>
              <a:ext uri="{FF2B5EF4-FFF2-40B4-BE49-F238E27FC236}">
                <a16:creationId xmlns:a16="http://schemas.microsoft.com/office/drawing/2014/main" id="{6C28938A-3748-78F8-3D01-B82DF87C9BE6}"/>
              </a:ext>
            </a:extLst>
          </p:cNvPr>
          <p:cNvSpPr>
            <a:spLocks noGrp="1"/>
          </p:cNvSpPr>
          <p:nvPr>
            <p:ph type="ftr" sz="quarter" idx="15"/>
          </p:nvPr>
        </p:nvSpPr>
        <p:spPr/>
        <p:txBody>
          <a:bodyPr/>
          <a:lstStyle/>
          <a:p>
            <a:r>
              <a:rPr lang="sv-SE"/>
              <a:t>Feedback &amp; Lidar Controller  / Optimus Syria</a:t>
            </a:r>
            <a:endParaRPr lang="en-US"/>
          </a:p>
        </p:txBody>
      </p:sp>
      <p:sp>
        <p:nvSpPr>
          <p:cNvPr id="17" name="Foliennummernplatzhalter 16">
            <a:extLst>
              <a:ext uri="{FF2B5EF4-FFF2-40B4-BE49-F238E27FC236}">
                <a16:creationId xmlns:a16="http://schemas.microsoft.com/office/drawing/2014/main" id="{3A903679-8273-AC0E-AD57-A9C78EE236F1}"/>
              </a:ext>
            </a:extLst>
          </p:cNvPr>
          <p:cNvSpPr>
            <a:spLocks noGrp="1"/>
          </p:cNvSpPr>
          <p:nvPr>
            <p:ph type="sldNum" sz="quarter" idx="16"/>
          </p:nvPr>
        </p:nvSpPr>
        <p:spPr/>
        <p:txBody>
          <a:bodyPr/>
          <a:lstStyle/>
          <a:p>
            <a:fld id="{3A84E93A-72FE-4BB6-A500-FB6DD421822B}" type="slidenum">
              <a:rPr lang="en-US" smtClean="0"/>
              <a:t>‹#›</a:t>
            </a:fld>
            <a:endParaRPr lang="en-US"/>
          </a:p>
        </p:txBody>
      </p:sp>
    </p:spTree>
    <p:extLst>
      <p:ext uri="{BB962C8B-B14F-4D97-AF65-F5344CB8AC3E}">
        <p14:creationId xmlns:p14="http://schemas.microsoft.com/office/powerpoint/2010/main" val="408704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st of contents (Explana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B5CAFF-79AF-87AE-7EAE-604CC93E7647}"/>
              </a:ext>
            </a:extLst>
          </p:cNvPr>
          <p:cNvSpPr>
            <a:spLocks noGrp="1"/>
          </p:cNvSpPr>
          <p:nvPr>
            <p:ph idx="1" hasCustomPrompt="1"/>
          </p:nvPr>
        </p:nvSpPr>
        <p:spPr>
          <a:xfrm>
            <a:off x="838200" y="1825625"/>
            <a:ext cx="10515600" cy="4351338"/>
          </a:xfrm>
        </p:spPr>
        <p:txBody>
          <a:bodyPr/>
          <a:lstStyle>
            <a:lvl1pPr marL="514350" indent="-514350">
              <a:buFont typeface="+mj-lt"/>
              <a:buAutoNum type="arabicPeriod"/>
              <a:defRPr sz="2200"/>
            </a:lvl1pPr>
            <a:lvl2pPr marL="971550" indent="-514350">
              <a:buFont typeface="+mj-lt"/>
              <a:buAutoNum type="romanLcPeriod"/>
              <a:defRPr sz="2000"/>
            </a:lvl2pPr>
          </a:lstStyle>
          <a:p>
            <a:pPr lvl="0"/>
            <a:r>
              <a:rPr lang="de-DE"/>
              <a:t>Title, </a:t>
            </a:r>
            <a:r>
              <a:rPr lang="de-DE" err="1"/>
              <a:t>example</a:t>
            </a:r>
            <a:r>
              <a:rPr lang="de-DE"/>
              <a:t>: Tasks </a:t>
            </a:r>
            <a:r>
              <a:rPr lang="de-DE" err="1"/>
              <a:t>of</a:t>
            </a:r>
            <a:r>
              <a:rPr lang="de-DE"/>
              <a:t> </a:t>
            </a:r>
            <a:r>
              <a:rPr lang="de-DE" err="1"/>
              <a:t>the</a:t>
            </a:r>
            <a:r>
              <a:rPr lang="de-DE"/>
              <a:t> </a:t>
            </a:r>
            <a:r>
              <a:rPr lang="de-DE" err="1"/>
              <a:t>week</a:t>
            </a:r>
            <a:r>
              <a:rPr lang="de-DE"/>
              <a:t>   (</a:t>
            </a:r>
            <a:r>
              <a:rPr lang="de-DE" err="1"/>
              <a:t>Aptos</a:t>
            </a:r>
            <a:r>
              <a:rPr lang="de-DE"/>
              <a:t>, 22)</a:t>
            </a:r>
          </a:p>
          <a:p>
            <a:pPr lvl="1"/>
            <a:r>
              <a:rPr lang="de-DE" err="1"/>
              <a:t>Example</a:t>
            </a:r>
            <a:r>
              <a:rPr lang="de-DE"/>
              <a:t>: </a:t>
            </a:r>
            <a:r>
              <a:rPr lang="de-DE" err="1"/>
              <a:t>drawings</a:t>
            </a:r>
            <a:r>
              <a:rPr lang="de-DE"/>
              <a:t> </a:t>
            </a:r>
            <a:r>
              <a:rPr lang="de-DE" err="1"/>
              <a:t>from</a:t>
            </a:r>
            <a:r>
              <a:rPr lang="de-DE"/>
              <a:t> </a:t>
            </a:r>
            <a:r>
              <a:rPr lang="de-DE" err="1"/>
              <a:t>the</a:t>
            </a:r>
            <a:r>
              <a:rPr lang="de-DE"/>
              <a:t> </a:t>
            </a:r>
            <a:r>
              <a:rPr lang="de-DE" err="1"/>
              <a:t>week</a:t>
            </a:r>
            <a:r>
              <a:rPr lang="de-DE"/>
              <a:t>  (</a:t>
            </a:r>
            <a:r>
              <a:rPr lang="de-DE" err="1"/>
              <a:t>Aptos</a:t>
            </a:r>
            <a:r>
              <a:rPr lang="de-DE"/>
              <a:t>, 20)</a:t>
            </a:r>
          </a:p>
          <a:p>
            <a:pPr lvl="0"/>
            <a:r>
              <a:rPr lang="de-DE"/>
              <a:t>X</a:t>
            </a:r>
          </a:p>
          <a:p>
            <a:pPr lvl="1"/>
            <a:endParaRPr lang="de-DE"/>
          </a:p>
        </p:txBody>
      </p:sp>
      <p:sp>
        <p:nvSpPr>
          <p:cNvPr id="8" name="Title 1">
            <a:extLst>
              <a:ext uri="{FF2B5EF4-FFF2-40B4-BE49-F238E27FC236}">
                <a16:creationId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de-DE"/>
              <a:t>List </a:t>
            </a:r>
            <a:r>
              <a:rPr lang="de-DE" err="1"/>
              <a:t>of</a:t>
            </a:r>
            <a:r>
              <a:rPr lang="de-DE"/>
              <a:t> </a:t>
            </a:r>
            <a:r>
              <a:rPr lang="de-DE" err="1"/>
              <a:t>contents</a:t>
            </a:r>
            <a:endParaRPr lang="en-GB"/>
          </a:p>
        </p:txBody>
      </p:sp>
      <p:cxnSp>
        <p:nvCxnSpPr>
          <p:cNvPr id="9" name="Straight Connector 5">
            <a:extLst>
              <a:ext uri="{FF2B5EF4-FFF2-40B4-BE49-F238E27FC236}">
                <a16:creationId xmlns:a16="http://schemas.microsoft.com/office/drawing/2014/main" id="{66EB7C6A-45A8-A327-54B4-9E3A0BCAC0B4}"/>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2" name="Isosceles Triangle 6">
            <a:extLst>
              <a:ext uri="{FF2B5EF4-FFF2-40B4-BE49-F238E27FC236}">
                <a16:creationId xmlns:a16="http://schemas.microsoft.com/office/drawing/2014/main" id="{170C5CF7-7129-6BD6-B815-EAF32508EFB5}"/>
              </a:ext>
            </a:extLst>
          </p:cNvPr>
          <p:cNvSpPr/>
          <p:nvPr/>
        </p:nvSpPr>
        <p:spPr>
          <a:xfrm>
            <a:off x="5218873" y="2853022"/>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3" name="Rectangle 7">
            <a:extLst>
              <a:ext uri="{FF2B5EF4-FFF2-40B4-BE49-F238E27FC236}">
                <a16:creationId xmlns:a16="http://schemas.microsoft.com/office/drawing/2014/main" id="{C7BE5E88-0734-5426-D3DF-C7901A7359D4}"/>
              </a:ext>
            </a:extLst>
          </p:cNvPr>
          <p:cNvSpPr/>
          <p:nvPr/>
        </p:nvSpPr>
        <p:spPr>
          <a:xfrm>
            <a:off x="4025317" y="4094711"/>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err="1"/>
              <a:t>This</a:t>
            </a:r>
            <a:r>
              <a:rPr lang="it-IT"/>
              <a:t> </a:t>
            </a:r>
            <a:r>
              <a:rPr lang="it-IT" err="1"/>
              <a:t>is</a:t>
            </a:r>
            <a:r>
              <a:rPr lang="it-IT"/>
              <a:t> an </a:t>
            </a:r>
            <a:r>
              <a:rPr lang="it-IT" err="1"/>
              <a:t>example</a:t>
            </a:r>
            <a:r>
              <a:rPr lang="it-IT"/>
              <a:t> </a:t>
            </a:r>
            <a:r>
              <a:rPr lang="it-IT" b="1"/>
              <a:t>BUT</a:t>
            </a:r>
            <a:br>
              <a:rPr lang="it-IT"/>
            </a:br>
            <a:r>
              <a:rPr lang="it-IT"/>
              <a:t>use the </a:t>
            </a:r>
            <a:r>
              <a:rPr lang="it-IT" err="1"/>
              <a:t>same</a:t>
            </a:r>
            <a:r>
              <a:rPr lang="it-IT"/>
              <a:t> style and short, concise bullet points) </a:t>
            </a:r>
            <a:br>
              <a:rPr lang="it-IT"/>
            </a:br>
            <a:r>
              <a:rPr lang="it-IT" err="1"/>
              <a:t>Only</a:t>
            </a:r>
            <a:r>
              <a:rPr lang="it-IT"/>
              <a:t> </a:t>
            </a:r>
            <a:r>
              <a:rPr lang="it-IT" err="1"/>
              <a:t>topics</a:t>
            </a:r>
            <a:r>
              <a:rPr lang="it-IT"/>
              <a:t> for the 4 min </a:t>
            </a:r>
            <a:r>
              <a:rPr lang="it-IT" err="1"/>
              <a:t>timeslot</a:t>
            </a:r>
            <a:r>
              <a:rPr lang="it-IT"/>
              <a:t>!</a:t>
            </a:r>
            <a:endParaRPr lang="en-GB"/>
          </a:p>
        </p:txBody>
      </p:sp>
      <p:sp>
        <p:nvSpPr>
          <p:cNvPr id="14" name="Rectangle 11">
            <a:extLst>
              <a:ext uri="{FF2B5EF4-FFF2-40B4-BE49-F238E27FC236}">
                <a16:creationId xmlns:a16="http://schemas.microsoft.com/office/drawing/2014/main" id="{11100C08-BD4D-E3E4-CE88-2FD7DF2770C3}"/>
              </a:ext>
            </a:extLst>
          </p:cNvPr>
          <p:cNvSpPr/>
          <p:nvPr/>
        </p:nvSpPr>
        <p:spPr>
          <a:xfrm>
            <a:off x="5727842" y="3001184"/>
            <a:ext cx="542886" cy="1200329"/>
          </a:xfrm>
          <a:prstGeom prst="rect">
            <a:avLst/>
          </a:prstGeom>
          <a:noFill/>
        </p:spPr>
        <p:txBody>
          <a:bodyPr wrap="square" lIns="91440" tIns="45720" rIns="91440" bIns="45720">
            <a:spAutoFit/>
          </a:bodyPr>
          <a:lstStyle/>
          <a:p>
            <a:pPr algn="ctr"/>
            <a:r>
              <a:rPr lang="en-GB" sz="7200" b="1" cap="none" spc="0">
                <a:ln w="0"/>
                <a:solidFill>
                  <a:schemeClr val="tx1"/>
                </a:solidFill>
              </a:rPr>
              <a:t>!</a:t>
            </a:r>
          </a:p>
        </p:txBody>
      </p:sp>
      <p:sp>
        <p:nvSpPr>
          <p:cNvPr id="2" name="Rectangle 7">
            <a:extLst>
              <a:ext uri="{FF2B5EF4-FFF2-40B4-BE49-F238E27FC236}">
                <a16:creationId xmlns:a16="http://schemas.microsoft.com/office/drawing/2014/main" id="{65B86036-57A0-C8C5-C8BB-699A37ABA2A8}"/>
              </a:ext>
            </a:extLst>
          </p:cNvPr>
          <p:cNvSpPr/>
          <p:nvPr/>
        </p:nvSpPr>
        <p:spPr>
          <a:xfrm>
            <a:off x="908165" y="3299037"/>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err="1"/>
              <a:t>This</a:t>
            </a:r>
            <a:r>
              <a:rPr lang="it-IT"/>
              <a:t> slide </a:t>
            </a:r>
            <a:r>
              <a:rPr lang="it-IT" err="1"/>
              <a:t>is</a:t>
            </a:r>
            <a:r>
              <a:rPr lang="it-IT"/>
              <a:t> </a:t>
            </a:r>
            <a:r>
              <a:rPr lang="it-IT" err="1"/>
              <a:t>only</a:t>
            </a:r>
            <a:r>
              <a:rPr lang="it-IT"/>
              <a:t> for </a:t>
            </a:r>
            <a:r>
              <a:rPr lang="it-IT" err="1"/>
              <a:t>explanation</a:t>
            </a:r>
            <a:r>
              <a:rPr lang="it-IT"/>
              <a:t>, </a:t>
            </a:r>
            <a:r>
              <a:rPr lang="it-IT" err="1"/>
              <a:t>dont´t</a:t>
            </a:r>
            <a:r>
              <a:rPr lang="it-IT"/>
              <a:t> use </a:t>
            </a:r>
            <a:r>
              <a:rPr lang="it-IT" err="1"/>
              <a:t>it!</a:t>
            </a:r>
            <a:endParaRPr lang="en-GB"/>
          </a:p>
        </p:txBody>
      </p:sp>
      <p:sp>
        <p:nvSpPr>
          <p:cNvPr id="10" name="Datumsplatzhalter 9">
            <a:extLst>
              <a:ext uri="{FF2B5EF4-FFF2-40B4-BE49-F238E27FC236}">
                <a16:creationId xmlns:a16="http://schemas.microsoft.com/office/drawing/2014/main" id="{64195E91-DEC0-2198-8D7F-F5D7511FB319}"/>
              </a:ext>
            </a:extLst>
          </p:cNvPr>
          <p:cNvSpPr>
            <a:spLocks noGrp="1"/>
          </p:cNvSpPr>
          <p:nvPr>
            <p:ph type="dt" sz="half" idx="15"/>
          </p:nvPr>
        </p:nvSpPr>
        <p:spPr/>
        <p:txBody>
          <a:bodyPr/>
          <a:lstStyle/>
          <a:p>
            <a:r>
              <a:rPr lang="en-US"/>
              <a:t>16/12/2025</a:t>
            </a:r>
          </a:p>
        </p:txBody>
      </p:sp>
      <p:sp>
        <p:nvSpPr>
          <p:cNvPr id="11" name="Fußzeilenplatzhalter 10">
            <a:extLst>
              <a:ext uri="{FF2B5EF4-FFF2-40B4-BE49-F238E27FC236}">
                <a16:creationId xmlns:a16="http://schemas.microsoft.com/office/drawing/2014/main" id="{0EC107A6-E0D9-69FD-44BC-CFD5F05D7C83}"/>
              </a:ext>
            </a:extLst>
          </p:cNvPr>
          <p:cNvSpPr>
            <a:spLocks noGrp="1"/>
          </p:cNvSpPr>
          <p:nvPr>
            <p:ph type="ftr" sz="quarter" idx="16"/>
          </p:nvPr>
        </p:nvSpPr>
        <p:spPr/>
        <p:txBody>
          <a:bodyPr/>
          <a:lstStyle/>
          <a:p>
            <a:r>
              <a:rPr lang="sv-SE"/>
              <a:t>Feedback &amp; Lidar Controller  / Optimus Syria</a:t>
            </a:r>
            <a:endParaRPr lang="en-US"/>
          </a:p>
        </p:txBody>
      </p:sp>
      <p:sp>
        <p:nvSpPr>
          <p:cNvPr id="15" name="Foliennummernplatzhalter 14">
            <a:extLst>
              <a:ext uri="{FF2B5EF4-FFF2-40B4-BE49-F238E27FC236}">
                <a16:creationId xmlns:a16="http://schemas.microsoft.com/office/drawing/2014/main" id="{8CC2EBC5-DD43-6B7E-A5D7-5CD5B0E30A5C}"/>
              </a:ext>
            </a:extLst>
          </p:cNvPr>
          <p:cNvSpPr>
            <a:spLocks noGrp="1"/>
          </p:cNvSpPr>
          <p:nvPr>
            <p:ph type="sldNum" sz="quarter" idx="17"/>
          </p:nvPr>
        </p:nvSpPr>
        <p:spPr/>
        <p:txBody>
          <a:bodyPr/>
          <a:lstStyle/>
          <a:p>
            <a:fld id="{3A84E93A-72FE-4BB6-A500-FB6DD421822B}" type="slidenum">
              <a:rPr lang="en-US" smtClean="0"/>
              <a:t>‹#›</a:t>
            </a:fld>
            <a:endParaRPr lang="en-US"/>
          </a:p>
        </p:txBody>
      </p:sp>
      <p:sp>
        <p:nvSpPr>
          <p:cNvPr id="17" name="Textplatzhalter 16">
            <a:extLst>
              <a:ext uri="{FF2B5EF4-FFF2-40B4-BE49-F238E27FC236}">
                <a16:creationId xmlns:a16="http://schemas.microsoft.com/office/drawing/2014/main" id="{E7DFBCC3-CC46-17B2-DF15-92940A3865D7}"/>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2335032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List of contents">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B5CAFF-79AF-87AE-7EAE-604CC93E7647}"/>
              </a:ext>
            </a:extLst>
          </p:cNvPr>
          <p:cNvSpPr>
            <a:spLocks noGrp="1"/>
          </p:cNvSpPr>
          <p:nvPr>
            <p:ph idx="1" hasCustomPrompt="1"/>
          </p:nvPr>
        </p:nvSpPr>
        <p:spPr>
          <a:xfrm>
            <a:off x="838200" y="1825625"/>
            <a:ext cx="10515600" cy="4351338"/>
          </a:xfrm>
        </p:spPr>
        <p:txBody>
          <a:bodyPr/>
          <a:lstStyle>
            <a:lvl1pPr marL="514350" indent="-514350">
              <a:buFont typeface="+mj-lt"/>
              <a:buAutoNum type="arabicPeriod"/>
              <a:defRPr sz="2200"/>
            </a:lvl1pPr>
            <a:lvl2pPr marL="971550" indent="-514350">
              <a:buFont typeface="+mj-lt"/>
              <a:buAutoNum type="romanLcPeriod"/>
              <a:defRPr sz="2000"/>
            </a:lvl2pPr>
          </a:lstStyle>
          <a:p>
            <a:pPr lvl="0"/>
            <a:r>
              <a:rPr lang="de-DE"/>
              <a:t>Title, </a:t>
            </a:r>
            <a:r>
              <a:rPr lang="de-DE" err="1"/>
              <a:t>example</a:t>
            </a:r>
            <a:r>
              <a:rPr lang="de-DE"/>
              <a:t>: Tasks </a:t>
            </a:r>
            <a:r>
              <a:rPr lang="de-DE" err="1"/>
              <a:t>of</a:t>
            </a:r>
            <a:r>
              <a:rPr lang="de-DE"/>
              <a:t> </a:t>
            </a:r>
            <a:r>
              <a:rPr lang="de-DE" err="1"/>
              <a:t>the</a:t>
            </a:r>
            <a:r>
              <a:rPr lang="de-DE"/>
              <a:t> </a:t>
            </a:r>
            <a:r>
              <a:rPr lang="de-DE" err="1"/>
              <a:t>week</a:t>
            </a:r>
            <a:endParaRPr lang="de-DE"/>
          </a:p>
          <a:p>
            <a:pPr lvl="1"/>
            <a:r>
              <a:rPr lang="de-DE" err="1"/>
              <a:t>Example</a:t>
            </a:r>
            <a:r>
              <a:rPr lang="de-DE"/>
              <a:t>: </a:t>
            </a:r>
            <a:r>
              <a:rPr lang="de-DE" err="1"/>
              <a:t>drawings</a:t>
            </a:r>
            <a:r>
              <a:rPr lang="de-DE"/>
              <a:t> </a:t>
            </a:r>
            <a:r>
              <a:rPr lang="de-DE" err="1"/>
              <a:t>from</a:t>
            </a:r>
            <a:r>
              <a:rPr lang="de-DE"/>
              <a:t> </a:t>
            </a:r>
            <a:r>
              <a:rPr lang="de-DE" err="1"/>
              <a:t>the</a:t>
            </a:r>
            <a:r>
              <a:rPr lang="de-DE"/>
              <a:t> </a:t>
            </a:r>
            <a:r>
              <a:rPr lang="de-DE" err="1"/>
              <a:t>week</a:t>
            </a:r>
            <a:endParaRPr lang="de-DE"/>
          </a:p>
          <a:p>
            <a:pPr lvl="0"/>
            <a:r>
              <a:rPr lang="de-DE"/>
              <a:t>X</a:t>
            </a:r>
          </a:p>
          <a:p>
            <a:pPr lvl="1"/>
            <a:endParaRPr lang="de-DE"/>
          </a:p>
        </p:txBody>
      </p:sp>
      <p:sp>
        <p:nvSpPr>
          <p:cNvPr id="8" name="Title 1">
            <a:extLst>
              <a:ext uri="{FF2B5EF4-FFF2-40B4-BE49-F238E27FC236}">
                <a16:creationId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de-DE"/>
              <a:t>List </a:t>
            </a:r>
            <a:r>
              <a:rPr lang="de-DE" err="1"/>
              <a:t>of</a:t>
            </a:r>
            <a:r>
              <a:rPr lang="de-DE"/>
              <a:t> </a:t>
            </a:r>
            <a:r>
              <a:rPr lang="de-DE" err="1"/>
              <a:t>contents</a:t>
            </a:r>
            <a:endParaRPr lang="en-GB"/>
          </a:p>
        </p:txBody>
      </p:sp>
      <p:cxnSp>
        <p:nvCxnSpPr>
          <p:cNvPr id="9" name="Straight Connector 5">
            <a:extLst>
              <a:ext uri="{FF2B5EF4-FFF2-40B4-BE49-F238E27FC236}">
                <a16:creationId xmlns:a16="http://schemas.microsoft.com/office/drawing/2014/main" id="{66EB7C6A-45A8-A327-54B4-9E3A0BCAC0B4}"/>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Datumsplatzhalter 10">
            <a:extLst>
              <a:ext uri="{FF2B5EF4-FFF2-40B4-BE49-F238E27FC236}">
                <a16:creationId xmlns:a16="http://schemas.microsoft.com/office/drawing/2014/main" id="{8F6D1F16-A947-CEE2-C58A-50217E9017C7}"/>
              </a:ext>
            </a:extLst>
          </p:cNvPr>
          <p:cNvSpPr>
            <a:spLocks noGrp="1"/>
          </p:cNvSpPr>
          <p:nvPr>
            <p:ph type="dt" sz="half" idx="10"/>
          </p:nvPr>
        </p:nvSpPr>
        <p:spPr/>
        <p:txBody>
          <a:bodyPr/>
          <a:lstStyle/>
          <a:p>
            <a:r>
              <a:rPr lang="en-US"/>
              <a:t>16/12/2025</a:t>
            </a:r>
          </a:p>
        </p:txBody>
      </p:sp>
      <p:sp>
        <p:nvSpPr>
          <p:cNvPr id="12" name="Fußzeilenplatzhalter 11">
            <a:extLst>
              <a:ext uri="{FF2B5EF4-FFF2-40B4-BE49-F238E27FC236}">
                <a16:creationId xmlns:a16="http://schemas.microsoft.com/office/drawing/2014/main" id="{873EF994-6CA7-B763-F215-A7D1723E216C}"/>
              </a:ext>
            </a:extLst>
          </p:cNvPr>
          <p:cNvSpPr>
            <a:spLocks noGrp="1"/>
          </p:cNvSpPr>
          <p:nvPr>
            <p:ph type="ftr" sz="quarter" idx="11"/>
          </p:nvPr>
        </p:nvSpPr>
        <p:spPr/>
        <p:txBody>
          <a:bodyPr/>
          <a:lstStyle/>
          <a:p>
            <a:r>
              <a:rPr lang="sv-SE"/>
              <a:t>Feedback &amp; Lidar Controller  / Optimus Syria</a:t>
            </a:r>
            <a:endParaRPr lang="en-US"/>
          </a:p>
        </p:txBody>
      </p:sp>
      <p:sp>
        <p:nvSpPr>
          <p:cNvPr id="13" name="Foliennummernplatzhalter 12">
            <a:extLst>
              <a:ext uri="{FF2B5EF4-FFF2-40B4-BE49-F238E27FC236}">
                <a16:creationId xmlns:a16="http://schemas.microsoft.com/office/drawing/2014/main" id="{67F2F56B-9E4F-A460-92A9-87055C42B86E}"/>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4" name="Textplatzhalter 16">
            <a:extLst>
              <a:ext uri="{FF2B5EF4-FFF2-40B4-BE49-F238E27FC236}">
                <a16:creationId xmlns:a16="http://schemas.microsoft.com/office/drawing/2014/main" id="{3A8B7922-CD64-E421-B5E5-B7BA56CBCB0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1266624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xtslide (Explana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a:t>1. Title, </a:t>
            </a:r>
            <a:r>
              <a:rPr lang="de-DE" err="1"/>
              <a:t>example</a:t>
            </a:r>
            <a:r>
              <a:rPr lang="de-DE"/>
              <a:t>: Tasks </a:t>
            </a:r>
            <a:r>
              <a:rPr lang="de-DE" err="1"/>
              <a:t>of</a:t>
            </a:r>
            <a:r>
              <a:rPr lang="de-DE"/>
              <a:t> </a:t>
            </a:r>
            <a:r>
              <a:rPr lang="de-DE" err="1"/>
              <a:t>the</a:t>
            </a:r>
            <a:r>
              <a:rPr lang="de-DE"/>
              <a:t> </a:t>
            </a:r>
            <a:r>
              <a:rPr lang="de-DE" err="1"/>
              <a:t>week</a:t>
            </a:r>
            <a:r>
              <a:rPr lang="de-DE"/>
              <a:t>   </a:t>
            </a:r>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err="1"/>
              <a:t>Abcd</a:t>
            </a:r>
            <a:r>
              <a:rPr lang="de-DE"/>
              <a:t> (</a:t>
            </a:r>
            <a:r>
              <a:rPr lang="de-DE" err="1"/>
              <a:t>Aptos</a:t>
            </a:r>
            <a:r>
              <a:rPr lang="de-DE"/>
              <a:t>, 22)</a:t>
            </a:r>
          </a:p>
          <a:p>
            <a:pPr marL="971550" marR="0" lvl="1" indent="-514350" algn="l" defTabSz="914400" rtl="0" eaLnBrk="1" fontAlgn="auto" latinLnBrk="0" hangingPunct="1">
              <a:lnSpc>
                <a:spcPct val="90000"/>
              </a:lnSpc>
              <a:spcBef>
                <a:spcPts val="500"/>
              </a:spcBef>
              <a:spcAft>
                <a:spcPts val="0"/>
              </a:spcAft>
              <a:buClrTx/>
              <a:buSzTx/>
              <a:buFont typeface="+mj-lt"/>
              <a:buAutoNum type="romanLcPeriod"/>
              <a:tabLst/>
              <a:defRPr/>
            </a:pPr>
            <a:r>
              <a:rPr lang="de-DE" err="1"/>
              <a:t>efgh</a:t>
            </a:r>
            <a:r>
              <a:rPr lang="de-DE"/>
              <a:t> (</a:t>
            </a:r>
            <a:r>
              <a:rPr lang="de-DE" err="1"/>
              <a:t>Aptos</a:t>
            </a:r>
            <a:r>
              <a:rPr lang="de-DE"/>
              <a:t>, 20)</a:t>
            </a:r>
          </a:p>
          <a:p>
            <a:pPr lvl="1"/>
            <a:endParaRPr lang="de-DE"/>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Isosceles Triangle 6">
            <a:extLst>
              <a:ext uri="{FF2B5EF4-FFF2-40B4-BE49-F238E27FC236}">
                <a16:creationId xmlns:a16="http://schemas.microsoft.com/office/drawing/2014/main" id="{3272B118-64EE-99BB-8728-CE26B185DCFC}"/>
              </a:ext>
            </a:extLst>
          </p:cNvPr>
          <p:cNvSpPr/>
          <p:nvPr/>
        </p:nvSpPr>
        <p:spPr>
          <a:xfrm>
            <a:off x="8353959" y="1690688"/>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9" name="Rectangle 7">
            <a:extLst>
              <a:ext uri="{FF2B5EF4-FFF2-40B4-BE49-F238E27FC236}">
                <a16:creationId xmlns:a16="http://schemas.microsoft.com/office/drawing/2014/main" id="{CCA8528F-A469-ED70-E9CA-F25798C1A305}"/>
              </a:ext>
            </a:extLst>
          </p:cNvPr>
          <p:cNvSpPr/>
          <p:nvPr/>
        </p:nvSpPr>
        <p:spPr>
          <a:xfrm>
            <a:off x="2209800" y="3095720"/>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a:t>Use [1], [2], [3] for </a:t>
            </a:r>
            <a:r>
              <a:rPr lang="it-IT" err="1"/>
              <a:t>everything</a:t>
            </a:r>
            <a:r>
              <a:rPr lang="it-IT"/>
              <a:t> </a:t>
            </a:r>
            <a:r>
              <a:rPr lang="it-IT" err="1"/>
              <a:t>you</a:t>
            </a:r>
            <a:r>
              <a:rPr lang="it-IT"/>
              <a:t> </a:t>
            </a:r>
            <a:r>
              <a:rPr lang="it-IT" err="1"/>
              <a:t>have</a:t>
            </a:r>
            <a:r>
              <a:rPr lang="it-IT"/>
              <a:t> from a source (</a:t>
            </a:r>
            <a:r>
              <a:rPr lang="it-IT" err="1"/>
              <a:t>numbers</a:t>
            </a:r>
            <a:r>
              <a:rPr lang="it-IT"/>
              <a:t> </a:t>
            </a:r>
            <a:r>
              <a:rPr lang="it-IT" err="1"/>
              <a:t>should</a:t>
            </a:r>
            <a:r>
              <a:rPr lang="it-IT"/>
              <a:t> be the </a:t>
            </a:r>
            <a:r>
              <a:rPr lang="it-IT" err="1"/>
              <a:t>same</a:t>
            </a:r>
            <a:r>
              <a:rPr lang="it-IT"/>
              <a:t> like in the </a:t>
            </a:r>
            <a:r>
              <a:rPr lang="it-IT" err="1"/>
              <a:t>bibliography</a:t>
            </a:r>
            <a:r>
              <a:rPr lang="it-IT"/>
              <a:t>) (</a:t>
            </a:r>
            <a:r>
              <a:rPr lang="it-IT" err="1"/>
              <a:t>incl</a:t>
            </a:r>
            <a:r>
              <a:rPr lang="it-IT"/>
              <a:t>. pictures / </a:t>
            </a:r>
            <a:r>
              <a:rPr lang="it-IT" err="1"/>
              <a:t>if</a:t>
            </a:r>
            <a:r>
              <a:rPr lang="it-IT"/>
              <a:t> </a:t>
            </a:r>
            <a:r>
              <a:rPr lang="it-IT" err="1"/>
              <a:t>you</a:t>
            </a:r>
            <a:r>
              <a:rPr lang="it-IT"/>
              <a:t> </a:t>
            </a:r>
            <a:r>
              <a:rPr lang="it-IT" err="1"/>
              <a:t>created</a:t>
            </a:r>
            <a:r>
              <a:rPr lang="it-IT"/>
              <a:t> </a:t>
            </a:r>
            <a:r>
              <a:rPr lang="it-IT" err="1"/>
              <a:t>them</a:t>
            </a:r>
            <a:r>
              <a:rPr lang="it-IT"/>
              <a:t> by </a:t>
            </a:r>
            <a:r>
              <a:rPr lang="it-IT" err="1"/>
              <a:t>your</a:t>
            </a:r>
            <a:r>
              <a:rPr lang="it-IT"/>
              <a:t> </a:t>
            </a:r>
            <a:r>
              <a:rPr lang="it-IT" err="1"/>
              <a:t>own</a:t>
            </a:r>
            <a:r>
              <a:rPr lang="it-IT"/>
              <a:t>, </a:t>
            </a:r>
            <a:r>
              <a:rPr lang="it-IT" err="1"/>
              <a:t>declare</a:t>
            </a:r>
            <a:r>
              <a:rPr lang="it-IT"/>
              <a:t> </a:t>
            </a:r>
            <a:r>
              <a:rPr lang="it-IT" err="1"/>
              <a:t>them</a:t>
            </a:r>
            <a:r>
              <a:rPr lang="it-IT"/>
              <a:t> </a:t>
            </a:r>
            <a:r>
              <a:rPr lang="it-IT" err="1"/>
              <a:t>as</a:t>
            </a:r>
            <a:r>
              <a:rPr lang="it-IT"/>
              <a:t> a </a:t>
            </a:r>
            <a:r>
              <a:rPr lang="it-IT" err="1"/>
              <a:t>thing</a:t>
            </a:r>
            <a:r>
              <a:rPr lang="it-IT"/>
              <a:t> </a:t>
            </a:r>
            <a:r>
              <a:rPr lang="it-IT" err="1"/>
              <a:t>you’ve</a:t>
            </a:r>
            <a:r>
              <a:rPr lang="it-IT"/>
              <a:t> </a:t>
            </a:r>
            <a:r>
              <a:rPr lang="it-IT" err="1"/>
              <a:t>done</a:t>
            </a:r>
            <a:r>
              <a:rPr lang="it-IT"/>
              <a:t> ) [Style </a:t>
            </a:r>
            <a:r>
              <a:rPr lang="it-IT" err="1"/>
              <a:t>Aptos</a:t>
            </a:r>
            <a:r>
              <a:rPr lang="it-IT"/>
              <a:t>/14]</a:t>
            </a:r>
            <a:endParaRPr lang="en-GB"/>
          </a:p>
        </p:txBody>
      </p:sp>
      <p:sp>
        <p:nvSpPr>
          <p:cNvPr id="10" name="Rectangle 11">
            <a:extLst>
              <a:ext uri="{FF2B5EF4-FFF2-40B4-BE49-F238E27FC236}">
                <a16:creationId xmlns:a16="http://schemas.microsoft.com/office/drawing/2014/main" id="{E1F8C099-06EF-7661-9A3C-60FE5CD4C5D5}"/>
              </a:ext>
            </a:extLst>
          </p:cNvPr>
          <p:cNvSpPr/>
          <p:nvPr/>
        </p:nvSpPr>
        <p:spPr>
          <a:xfrm>
            <a:off x="8862928" y="1838850"/>
            <a:ext cx="542886" cy="1200329"/>
          </a:xfrm>
          <a:prstGeom prst="rect">
            <a:avLst/>
          </a:prstGeom>
          <a:noFill/>
        </p:spPr>
        <p:txBody>
          <a:bodyPr wrap="square" lIns="91440" tIns="45720" rIns="91440" bIns="45720">
            <a:spAutoFit/>
          </a:bodyPr>
          <a:lstStyle/>
          <a:p>
            <a:pPr algn="ctr"/>
            <a:r>
              <a:rPr lang="en-GB" sz="7200" b="1" cap="none" spc="0">
                <a:ln w="0"/>
                <a:solidFill>
                  <a:schemeClr val="tx1"/>
                </a:solidFill>
              </a:rPr>
              <a:t>!</a:t>
            </a:r>
          </a:p>
        </p:txBody>
      </p:sp>
      <p:sp>
        <p:nvSpPr>
          <p:cNvPr id="11" name="Rectangle 7">
            <a:extLst>
              <a:ext uri="{FF2B5EF4-FFF2-40B4-BE49-F238E27FC236}">
                <a16:creationId xmlns:a16="http://schemas.microsoft.com/office/drawing/2014/main" id="{6E31FDF0-C963-BED4-C97E-FF9F67C07D21}"/>
              </a:ext>
            </a:extLst>
          </p:cNvPr>
          <p:cNvSpPr/>
          <p:nvPr/>
        </p:nvSpPr>
        <p:spPr>
          <a:xfrm>
            <a:off x="7312803" y="3084777"/>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err="1"/>
              <a:t>This</a:t>
            </a:r>
            <a:r>
              <a:rPr lang="it-IT"/>
              <a:t> </a:t>
            </a:r>
            <a:r>
              <a:rPr lang="it-IT" err="1"/>
              <a:t>is</a:t>
            </a:r>
            <a:r>
              <a:rPr lang="it-IT"/>
              <a:t> an </a:t>
            </a:r>
            <a:r>
              <a:rPr lang="it-IT" err="1"/>
              <a:t>example</a:t>
            </a:r>
            <a:r>
              <a:rPr lang="it-IT"/>
              <a:t> </a:t>
            </a:r>
            <a:r>
              <a:rPr lang="it-IT" b="1"/>
              <a:t>BUT</a:t>
            </a:r>
          </a:p>
          <a:p>
            <a:pPr algn="ctr"/>
            <a:r>
              <a:rPr lang="it-IT"/>
              <a:t>an </a:t>
            </a:r>
            <a:r>
              <a:rPr lang="it-IT" err="1"/>
              <a:t>intial</a:t>
            </a:r>
            <a:r>
              <a:rPr lang="it-IT"/>
              <a:t> slide with </a:t>
            </a:r>
            <a:r>
              <a:rPr lang="it-IT" err="1"/>
              <a:t>all</a:t>
            </a:r>
            <a:r>
              <a:rPr lang="it-IT"/>
              <a:t> the tasks </a:t>
            </a:r>
            <a:r>
              <a:rPr lang="it-IT" err="1"/>
              <a:t>completed</a:t>
            </a:r>
            <a:r>
              <a:rPr lang="it-IT"/>
              <a:t> for the week </a:t>
            </a:r>
            <a:r>
              <a:rPr lang="it-IT" err="1"/>
              <a:t>should</a:t>
            </a:r>
            <a:r>
              <a:rPr lang="it-IT"/>
              <a:t> </a:t>
            </a:r>
            <a:r>
              <a:rPr lang="it-IT" err="1"/>
              <a:t>always</a:t>
            </a:r>
            <a:r>
              <a:rPr lang="it-IT"/>
              <a:t> be </a:t>
            </a:r>
            <a:r>
              <a:rPr lang="it-IT" err="1"/>
              <a:t>included</a:t>
            </a:r>
            <a:br>
              <a:rPr lang="it-IT"/>
            </a:br>
            <a:r>
              <a:rPr lang="it-IT"/>
              <a:t>Use the </a:t>
            </a:r>
            <a:r>
              <a:rPr lang="it-IT" err="1"/>
              <a:t>same</a:t>
            </a:r>
            <a:r>
              <a:rPr lang="it-IT"/>
              <a:t> style, do </a:t>
            </a:r>
            <a:r>
              <a:rPr lang="it-IT" err="1"/>
              <a:t>not</a:t>
            </a:r>
            <a:r>
              <a:rPr lang="it-IT"/>
              <a:t> </a:t>
            </a:r>
            <a:r>
              <a:rPr lang="it-IT" err="1"/>
              <a:t>write</a:t>
            </a:r>
            <a:r>
              <a:rPr lang="it-IT"/>
              <a:t> more text </a:t>
            </a:r>
            <a:r>
              <a:rPr lang="it-IT" err="1"/>
              <a:t>than</a:t>
            </a:r>
            <a:r>
              <a:rPr lang="it-IT"/>
              <a:t> </a:t>
            </a:r>
            <a:r>
              <a:rPr lang="it-IT" err="1"/>
              <a:t>necessary</a:t>
            </a:r>
            <a:r>
              <a:rPr lang="it-IT"/>
              <a:t> (short, concise bullet points are </a:t>
            </a:r>
            <a:r>
              <a:rPr lang="it-IT" err="1"/>
              <a:t>often</a:t>
            </a:r>
            <a:r>
              <a:rPr lang="it-IT"/>
              <a:t> </a:t>
            </a:r>
            <a:r>
              <a:rPr lang="it-IT" err="1"/>
              <a:t>enough</a:t>
            </a:r>
            <a:r>
              <a:rPr lang="it-IT"/>
              <a:t>)</a:t>
            </a:r>
            <a:endParaRPr lang="en-GB"/>
          </a:p>
        </p:txBody>
      </p:sp>
      <p:sp>
        <p:nvSpPr>
          <p:cNvPr id="12" name="Textfeld 11">
            <a:extLst>
              <a:ext uri="{FF2B5EF4-FFF2-40B4-BE49-F238E27FC236}">
                <a16:creationId xmlns:a16="http://schemas.microsoft.com/office/drawing/2014/main" id="{5BA9FE0F-4438-A90E-178E-370DFB88F067}"/>
              </a:ext>
            </a:extLst>
          </p:cNvPr>
          <p:cNvSpPr txBox="1"/>
          <p:nvPr/>
        </p:nvSpPr>
        <p:spPr>
          <a:xfrm>
            <a:off x="812800" y="6219031"/>
            <a:ext cx="2120901" cy="307777"/>
          </a:xfrm>
          <a:prstGeom prst="rect">
            <a:avLst/>
          </a:prstGeom>
          <a:noFill/>
        </p:spPr>
        <p:txBody>
          <a:bodyPr wrap="square" rtlCol="0">
            <a:spAutoFit/>
          </a:bodyPr>
          <a:lstStyle/>
          <a:p>
            <a:r>
              <a:rPr lang="de-DE" sz="1400"/>
              <a:t>[1], [2]….</a:t>
            </a:r>
          </a:p>
        </p:txBody>
      </p:sp>
      <p:cxnSp>
        <p:nvCxnSpPr>
          <p:cNvPr id="13" name="Straight Arrow Connector 21">
            <a:extLst>
              <a:ext uri="{FF2B5EF4-FFF2-40B4-BE49-F238E27FC236}">
                <a16:creationId xmlns:a16="http://schemas.microsoft.com/office/drawing/2014/main" id="{C9F1C9AE-6377-666B-8F06-CF0B8B317160}"/>
              </a:ext>
            </a:extLst>
          </p:cNvPr>
          <p:cNvCxnSpPr>
            <a:cxnSpLocks/>
          </p:cNvCxnSpPr>
          <p:nvPr/>
        </p:nvCxnSpPr>
        <p:spPr>
          <a:xfrm flipH="1">
            <a:off x="1502229" y="4898571"/>
            <a:ext cx="1487714" cy="131838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7">
            <a:extLst>
              <a:ext uri="{FF2B5EF4-FFF2-40B4-BE49-F238E27FC236}">
                <a16:creationId xmlns:a16="http://schemas.microsoft.com/office/drawing/2014/main" id="{8C56F642-24B4-9889-6DFF-DDDACEFB7E68}"/>
              </a:ext>
            </a:extLst>
          </p:cNvPr>
          <p:cNvSpPr/>
          <p:nvPr/>
        </p:nvSpPr>
        <p:spPr>
          <a:xfrm>
            <a:off x="5256400" y="1634301"/>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err="1"/>
              <a:t>This</a:t>
            </a:r>
            <a:r>
              <a:rPr lang="it-IT"/>
              <a:t> slide </a:t>
            </a:r>
            <a:r>
              <a:rPr lang="it-IT" err="1"/>
              <a:t>is</a:t>
            </a:r>
            <a:r>
              <a:rPr lang="it-IT"/>
              <a:t> </a:t>
            </a:r>
            <a:r>
              <a:rPr lang="it-IT" err="1"/>
              <a:t>only</a:t>
            </a:r>
            <a:r>
              <a:rPr lang="it-IT"/>
              <a:t> for </a:t>
            </a:r>
            <a:r>
              <a:rPr lang="it-IT" err="1"/>
              <a:t>explanation</a:t>
            </a:r>
            <a:r>
              <a:rPr lang="it-IT"/>
              <a:t>, </a:t>
            </a:r>
            <a:r>
              <a:rPr lang="it-IT" err="1"/>
              <a:t>dont´t</a:t>
            </a:r>
            <a:r>
              <a:rPr lang="it-IT"/>
              <a:t> use </a:t>
            </a:r>
            <a:r>
              <a:rPr lang="it-IT" err="1"/>
              <a:t>it!</a:t>
            </a:r>
            <a:endParaRPr lang="en-GB"/>
          </a:p>
        </p:txBody>
      </p:sp>
      <p:sp>
        <p:nvSpPr>
          <p:cNvPr id="15" name="Datumsplatzhalter 14">
            <a:extLst>
              <a:ext uri="{FF2B5EF4-FFF2-40B4-BE49-F238E27FC236}">
                <a16:creationId xmlns:a16="http://schemas.microsoft.com/office/drawing/2014/main" id="{F5B6D5E1-3173-F7DB-AFEA-577613F3A0E2}"/>
              </a:ext>
            </a:extLst>
          </p:cNvPr>
          <p:cNvSpPr>
            <a:spLocks noGrp="1"/>
          </p:cNvSpPr>
          <p:nvPr>
            <p:ph type="dt" sz="half" idx="10"/>
          </p:nvPr>
        </p:nvSpPr>
        <p:spPr/>
        <p:txBody>
          <a:bodyPr/>
          <a:lstStyle/>
          <a:p>
            <a:r>
              <a:rPr lang="en-US"/>
              <a:t>16/12/2025</a:t>
            </a:r>
          </a:p>
        </p:txBody>
      </p:sp>
      <p:sp>
        <p:nvSpPr>
          <p:cNvPr id="16" name="Fußzeilenplatzhalter 15">
            <a:extLst>
              <a:ext uri="{FF2B5EF4-FFF2-40B4-BE49-F238E27FC236}">
                <a16:creationId xmlns:a16="http://schemas.microsoft.com/office/drawing/2014/main" id="{4201E827-9609-58AA-70BC-996E2AD05F8D}"/>
              </a:ext>
            </a:extLst>
          </p:cNvPr>
          <p:cNvSpPr>
            <a:spLocks noGrp="1"/>
          </p:cNvSpPr>
          <p:nvPr>
            <p:ph type="ftr" sz="quarter" idx="11"/>
          </p:nvPr>
        </p:nvSpPr>
        <p:spPr/>
        <p:txBody>
          <a:bodyPr/>
          <a:lstStyle/>
          <a:p>
            <a:r>
              <a:rPr lang="sv-SE"/>
              <a:t>Feedback &amp; Lidar Controller  / Optimus Syria</a:t>
            </a:r>
            <a:endParaRPr lang="en-US"/>
          </a:p>
        </p:txBody>
      </p:sp>
      <p:sp>
        <p:nvSpPr>
          <p:cNvPr id="17" name="Foliennummernplatzhalter 16">
            <a:extLst>
              <a:ext uri="{FF2B5EF4-FFF2-40B4-BE49-F238E27FC236}">
                <a16:creationId xmlns:a16="http://schemas.microsoft.com/office/drawing/2014/main" id="{DE013F6E-0CEE-85C3-4AD1-ADEED88F5D1E}"/>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8" name="Textplatzhalter 16">
            <a:extLst>
              <a:ext uri="{FF2B5EF4-FFF2-40B4-BE49-F238E27FC236}">
                <a16:creationId xmlns:a16="http://schemas.microsoft.com/office/drawing/2014/main" id="{4C7AB516-D061-772D-6849-99EBB4468916}"/>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765741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ext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a:t>1. Title, </a:t>
            </a:r>
            <a:r>
              <a:rPr lang="de-DE" err="1"/>
              <a:t>example</a:t>
            </a:r>
            <a:r>
              <a:rPr lang="de-DE"/>
              <a:t>: Tasks </a:t>
            </a:r>
            <a:r>
              <a:rPr lang="de-DE" err="1"/>
              <a:t>of</a:t>
            </a:r>
            <a:r>
              <a:rPr lang="de-DE"/>
              <a:t> </a:t>
            </a:r>
            <a:r>
              <a:rPr lang="de-DE" err="1"/>
              <a:t>the</a:t>
            </a:r>
            <a:r>
              <a:rPr lang="de-DE"/>
              <a:t> </a:t>
            </a:r>
            <a:r>
              <a:rPr lang="de-DE" err="1"/>
              <a:t>week</a:t>
            </a:r>
            <a:r>
              <a:rPr lang="de-DE"/>
              <a:t>   </a:t>
            </a:r>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err="1"/>
              <a:t>Abcd</a:t>
            </a:r>
            <a:endParaRPr lang="de-DE"/>
          </a:p>
          <a:p>
            <a:pPr lvl="1"/>
            <a:r>
              <a:rPr lang="de-DE" err="1"/>
              <a:t>efgh</a:t>
            </a:r>
            <a:endParaRPr lang="de-DE"/>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Textplatzhalter 16">
            <a:extLst>
              <a:ext uri="{FF2B5EF4-FFF2-40B4-BE49-F238E27FC236}">
                <a16:creationId xmlns:a16="http://schemas.microsoft.com/office/drawing/2014/main" id="{479D6A9B-7716-D398-EE18-2F2D6AC11B70}"/>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
        <p:nvSpPr>
          <p:cNvPr id="9" name="Datumsplatzhalter 8">
            <a:extLst>
              <a:ext uri="{FF2B5EF4-FFF2-40B4-BE49-F238E27FC236}">
                <a16:creationId xmlns:a16="http://schemas.microsoft.com/office/drawing/2014/main" id="{45BE17EA-55E6-D579-4D1F-7901F944C6AA}"/>
              </a:ext>
            </a:extLst>
          </p:cNvPr>
          <p:cNvSpPr>
            <a:spLocks noGrp="1"/>
          </p:cNvSpPr>
          <p:nvPr>
            <p:ph type="dt" sz="half" idx="19"/>
          </p:nvPr>
        </p:nvSpPr>
        <p:spPr/>
        <p:txBody>
          <a:bodyPr/>
          <a:lstStyle/>
          <a:p>
            <a:r>
              <a:rPr lang="en-US"/>
              <a:t>16/12/2025</a:t>
            </a:r>
          </a:p>
        </p:txBody>
      </p:sp>
      <p:sp>
        <p:nvSpPr>
          <p:cNvPr id="10" name="Fußzeilenplatzhalter 9">
            <a:extLst>
              <a:ext uri="{FF2B5EF4-FFF2-40B4-BE49-F238E27FC236}">
                <a16:creationId xmlns:a16="http://schemas.microsoft.com/office/drawing/2014/main" id="{810CEF70-3482-4FC0-A3A4-7FB408C94A42}"/>
              </a:ext>
            </a:extLst>
          </p:cNvPr>
          <p:cNvSpPr>
            <a:spLocks noGrp="1"/>
          </p:cNvSpPr>
          <p:nvPr>
            <p:ph type="ftr" sz="quarter" idx="20"/>
          </p:nvPr>
        </p:nvSpPr>
        <p:spPr/>
        <p:txBody>
          <a:bodyPr/>
          <a:lstStyle/>
          <a:p>
            <a:r>
              <a:rPr lang="sv-SE"/>
              <a:t>Feedback &amp; Lidar Controller  / Optimus Syria</a:t>
            </a:r>
            <a:endParaRPr lang="en-US"/>
          </a:p>
        </p:txBody>
      </p:sp>
      <p:sp>
        <p:nvSpPr>
          <p:cNvPr id="11" name="Foliennummernplatzhalter 10">
            <a:extLst>
              <a:ext uri="{FF2B5EF4-FFF2-40B4-BE49-F238E27FC236}">
                <a16:creationId xmlns:a16="http://schemas.microsoft.com/office/drawing/2014/main" id="{4879E7A9-C563-396E-C6B6-B45497D433BD}"/>
              </a:ext>
            </a:extLst>
          </p:cNvPr>
          <p:cNvSpPr>
            <a:spLocks noGrp="1"/>
          </p:cNvSpPr>
          <p:nvPr>
            <p:ph type="sldNum" sz="quarter" idx="21"/>
          </p:nvPr>
        </p:nvSpPr>
        <p:spPr/>
        <p:txBody>
          <a:bodyPr/>
          <a:lstStyle/>
          <a:p>
            <a:fld id="{3A84E93A-72FE-4BB6-A500-FB6DD421822B}" type="slidenum">
              <a:rPr lang="en-US" smtClean="0"/>
              <a:t>‹#›</a:t>
            </a:fld>
            <a:endParaRPr lang="en-US"/>
          </a:p>
        </p:txBody>
      </p:sp>
      <p:sp>
        <p:nvSpPr>
          <p:cNvPr id="5" name="Textplatzhalter 4">
            <a:extLst>
              <a:ext uri="{FF2B5EF4-FFF2-40B4-BE49-F238E27FC236}">
                <a16:creationId xmlns:a16="http://schemas.microsoft.com/office/drawing/2014/main" id="{9AB8CDF8-03C0-DF20-0ABC-80A78BDABFB2}"/>
              </a:ext>
            </a:extLst>
          </p:cNvPr>
          <p:cNvSpPr>
            <a:spLocks noGrp="1"/>
          </p:cNvSpPr>
          <p:nvPr>
            <p:ph type="body" sz="quarter" idx="22" hasCustomPrompt="1"/>
          </p:nvPr>
        </p:nvSpPr>
        <p:spPr>
          <a:xfrm>
            <a:off x="749023" y="6216958"/>
            <a:ext cx="2248453" cy="309850"/>
          </a:xfrm>
        </p:spPr>
        <p:txBody>
          <a:bodyPr/>
          <a:lstStyle>
            <a:lvl2pPr marL="45720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Aptos" panose="02110004020202020204"/>
                <a:ea typeface="+mn-ea"/>
                <a:cs typeface="+mn-cs"/>
              </a:rPr>
              <a:t>[1], [2]….</a:t>
            </a:r>
          </a:p>
          <a:p>
            <a:pPr lvl="1"/>
            <a:endParaRPr lang="en-GB"/>
          </a:p>
        </p:txBody>
      </p:sp>
    </p:spTree>
    <p:extLst>
      <p:ext uri="{BB962C8B-B14F-4D97-AF65-F5344CB8AC3E}">
        <p14:creationId xmlns:p14="http://schemas.microsoft.com/office/powerpoint/2010/main" val="2249233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ubitem (Explana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a:t>1-i. </a:t>
            </a:r>
            <a:r>
              <a:rPr lang="de-DE" err="1"/>
              <a:t>Example</a:t>
            </a:r>
            <a:r>
              <a:rPr lang="de-DE"/>
              <a:t>: </a:t>
            </a:r>
            <a:r>
              <a:rPr lang="de-DE" err="1"/>
              <a:t>Drawings</a:t>
            </a:r>
            <a:r>
              <a:rPr lang="de-DE"/>
              <a:t> </a:t>
            </a:r>
            <a:r>
              <a:rPr lang="de-DE" err="1"/>
              <a:t>from</a:t>
            </a:r>
            <a:r>
              <a:rPr lang="de-DE"/>
              <a:t> </a:t>
            </a:r>
            <a:r>
              <a:rPr lang="de-DE" err="1"/>
              <a:t>the</a:t>
            </a:r>
            <a:r>
              <a:rPr lang="de-DE"/>
              <a:t> </a:t>
            </a:r>
            <a:r>
              <a:rPr lang="de-DE" err="1"/>
              <a:t>week</a:t>
            </a:r>
            <a:endParaRPr lang="de-DE"/>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err="1"/>
              <a:t>Abcd</a:t>
            </a:r>
            <a:r>
              <a:rPr lang="de-DE"/>
              <a:t> (</a:t>
            </a:r>
            <a:r>
              <a:rPr lang="de-DE" err="1"/>
              <a:t>Aptos</a:t>
            </a:r>
            <a:r>
              <a:rPr lang="de-DE"/>
              <a:t> 22)</a:t>
            </a:r>
          </a:p>
          <a:p>
            <a:pPr lvl="1"/>
            <a:r>
              <a:rPr lang="de-DE" err="1"/>
              <a:t>efgh</a:t>
            </a:r>
            <a:r>
              <a:rPr lang="de-DE"/>
              <a:t> (</a:t>
            </a:r>
            <a:r>
              <a:rPr lang="de-DE" err="1"/>
              <a:t>Aptos</a:t>
            </a:r>
            <a:r>
              <a:rPr lang="de-DE"/>
              <a:t> 20)</a:t>
            </a:r>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Isosceles Triangle 6">
            <a:extLst>
              <a:ext uri="{FF2B5EF4-FFF2-40B4-BE49-F238E27FC236}">
                <a16:creationId xmlns:a16="http://schemas.microsoft.com/office/drawing/2014/main" id="{703A19AF-E449-D353-12E1-A3DAF32E3EAB}"/>
              </a:ext>
            </a:extLst>
          </p:cNvPr>
          <p:cNvSpPr/>
          <p:nvPr/>
        </p:nvSpPr>
        <p:spPr>
          <a:xfrm>
            <a:off x="5218873" y="2853022"/>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 name="Rectangle 7">
            <a:extLst>
              <a:ext uri="{FF2B5EF4-FFF2-40B4-BE49-F238E27FC236}">
                <a16:creationId xmlns:a16="http://schemas.microsoft.com/office/drawing/2014/main" id="{650D751B-3D4C-8864-D7F4-6EC8348A31EE}"/>
              </a:ext>
            </a:extLst>
          </p:cNvPr>
          <p:cNvSpPr/>
          <p:nvPr/>
        </p:nvSpPr>
        <p:spPr>
          <a:xfrm>
            <a:off x="4025317" y="4094711"/>
            <a:ext cx="3933255" cy="1298198"/>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err="1"/>
              <a:t>This</a:t>
            </a:r>
            <a:r>
              <a:rPr lang="it-IT"/>
              <a:t> </a:t>
            </a:r>
            <a:r>
              <a:rPr lang="it-IT" err="1"/>
              <a:t>is</a:t>
            </a:r>
            <a:r>
              <a:rPr lang="it-IT"/>
              <a:t> an </a:t>
            </a:r>
            <a:r>
              <a:rPr lang="it-IT" err="1"/>
              <a:t>example</a:t>
            </a:r>
            <a:r>
              <a:rPr lang="it-IT"/>
              <a:t> BUT </a:t>
            </a:r>
            <a:r>
              <a:rPr lang="it-IT" err="1"/>
              <a:t>if</a:t>
            </a:r>
            <a:r>
              <a:rPr lang="it-IT"/>
              <a:t> </a:t>
            </a:r>
            <a:r>
              <a:rPr lang="it-IT" err="1"/>
              <a:t>you</a:t>
            </a:r>
            <a:r>
              <a:rPr lang="it-IT"/>
              <a:t> use </a:t>
            </a:r>
            <a:r>
              <a:rPr lang="it-IT" err="1"/>
              <a:t>underpoints</a:t>
            </a:r>
            <a:r>
              <a:rPr lang="it-IT"/>
              <a:t> </a:t>
            </a:r>
            <a:r>
              <a:rPr lang="it-IT" err="1"/>
              <a:t>please</a:t>
            </a:r>
            <a:r>
              <a:rPr lang="it-IT"/>
              <a:t> with the i, ii, iii….</a:t>
            </a:r>
            <a:endParaRPr lang="en-GB"/>
          </a:p>
        </p:txBody>
      </p:sp>
      <p:sp>
        <p:nvSpPr>
          <p:cNvPr id="13" name="Rectangle 11">
            <a:extLst>
              <a:ext uri="{FF2B5EF4-FFF2-40B4-BE49-F238E27FC236}">
                <a16:creationId xmlns:a16="http://schemas.microsoft.com/office/drawing/2014/main" id="{9BDEC9EB-F30A-F42A-26C3-F9AE08765705}"/>
              </a:ext>
            </a:extLst>
          </p:cNvPr>
          <p:cNvSpPr/>
          <p:nvPr/>
        </p:nvSpPr>
        <p:spPr>
          <a:xfrm>
            <a:off x="5727842" y="3001184"/>
            <a:ext cx="542886" cy="1200329"/>
          </a:xfrm>
          <a:prstGeom prst="rect">
            <a:avLst/>
          </a:prstGeom>
          <a:noFill/>
        </p:spPr>
        <p:txBody>
          <a:bodyPr wrap="square" lIns="91440" tIns="45720" rIns="91440" bIns="45720">
            <a:spAutoFit/>
          </a:bodyPr>
          <a:lstStyle/>
          <a:p>
            <a:pPr algn="ctr"/>
            <a:r>
              <a:rPr lang="en-GB" sz="7200" b="1" cap="none" spc="0">
                <a:ln w="0"/>
                <a:solidFill>
                  <a:schemeClr val="tx1"/>
                </a:solidFill>
              </a:rPr>
              <a:t>!</a:t>
            </a:r>
          </a:p>
        </p:txBody>
      </p:sp>
      <p:sp>
        <p:nvSpPr>
          <p:cNvPr id="8" name="Rectangle 7">
            <a:extLst>
              <a:ext uri="{FF2B5EF4-FFF2-40B4-BE49-F238E27FC236}">
                <a16:creationId xmlns:a16="http://schemas.microsoft.com/office/drawing/2014/main" id="{454BA2A1-6BBA-CA7A-578A-6529C5AD3CFE}"/>
              </a:ext>
            </a:extLst>
          </p:cNvPr>
          <p:cNvSpPr/>
          <p:nvPr/>
        </p:nvSpPr>
        <p:spPr>
          <a:xfrm>
            <a:off x="927758" y="2796999"/>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err="1"/>
              <a:t>This</a:t>
            </a:r>
            <a:r>
              <a:rPr lang="it-IT"/>
              <a:t> slide </a:t>
            </a:r>
            <a:r>
              <a:rPr lang="it-IT" err="1"/>
              <a:t>is</a:t>
            </a:r>
            <a:r>
              <a:rPr lang="it-IT"/>
              <a:t> </a:t>
            </a:r>
            <a:r>
              <a:rPr lang="it-IT" err="1"/>
              <a:t>only</a:t>
            </a:r>
            <a:r>
              <a:rPr lang="it-IT"/>
              <a:t> for </a:t>
            </a:r>
            <a:r>
              <a:rPr lang="it-IT" err="1"/>
              <a:t>explanation</a:t>
            </a:r>
            <a:r>
              <a:rPr lang="it-IT"/>
              <a:t>, </a:t>
            </a:r>
            <a:r>
              <a:rPr lang="it-IT" err="1"/>
              <a:t>dont´t</a:t>
            </a:r>
            <a:r>
              <a:rPr lang="it-IT"/>
              <a:t> use </a:t>
            </a:r>
            <a:r>
              <a:rPr lang="it-IT" err="1"/>
              <a:t>it!</a:t>
            </a:r>
            <a:endParaRPr lang="en-GB"/>
          </a:p>
        </p:txBody>
      </p:sp>
      <p:sp>
        <p:nvSpPr>
          <p:cNvPr id="9" name="Datumsplatzhalter 8">
            <a:extLst>
              <a:ext uri="{FF2B5EF4-FFF2-40B4-BE49-F238E27FC236}">
                <a16:creationId xmlns:a16="http://schemas.microsoft.com/office/drawing/2014/main" id="{19E5AF50-94A3-4308-3B68-BAD76E7A7B09}"/>
              </a:ext>
            </a:extLst>
          </p:cNvPr>
          <p:cNvSpPr>
            <a:spLocks noGrp="1"/>
          </p:cNvSpPr>
          <p:nvPr>
            <p:ph type="dt" sz="half" idx="10"/>
          </p:nvPr>
        </p:nvSpPr>
        <p:spPr/>
        <p:txBody>
          <a:bodyPr/>
          <a:lstStyle/>
          <a:p>
            <a:r>
              <a:rPr lang="en-US"/>
              <a:t>16/12/2025</a:t>
            </a:r>
          </a:p>
        </p:txBody>
      </p:sp>
      <p:sp>
        <p:nvSpPr>
          <p:cNvPr id="10" name="Fußzeilenplatzhalter 9">
            <a:extLst>
              <a:ext uri="{FF2B5EF4-FFF2-40B4-BE49-F238E27FC236}">
                <a16:creationId xmlns:a16="http://schemas.microsoft.com/office/drawing/2014/main" id="{9798D87B-B794-AD8A-40F1-DEA4D547F712}"/>
              </a:ext>
            </a:extLst>
          </p:cNvPr>
          <p:cNvSpPr>
            <a:spLocks noGrp="1"/>
          </p:cNvSpPr>
          <p:nvPr>
            <p:ph type="ftr" sz="quarter" idx="11"/>
          </p:nvPr>
        </p:nvSpPr>
        <p:spPr/>
        <p:txBody>
          <a:bodyPr/>
          <a:lstStyle/>
          <a:p>
            <a:r>
              <a:rPr lang="sv-SE"/>
              <a:t>Feedback &amp; Lidar Controller  / Optimus Syria</a:t>
            </a:r>
            <a:endParaRPr lang="en-US"/>
          </a:p>
        </p:txBody>
      </p:sp>
      <p:sp>
        <p:nvSpPr>
          <p:cNvPr id="14" name="Foliennummernplatzhalter 13">
            <a:extLst>
              <a:ext uri="{FF2B5EF4-FFF2-40B4-BE49-F238E27FC236}">
                <a16:creationId xmlns:a16="http://schemas.microsoft.com/office/drawing/2014/main" id="{5E6253E5-E305-7986-3017-8FAC6F34DD9C}"/>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5" name="Textplatzhalter 16">
            <a:extLst>
              <a:ext uri="{FF2B5EF4-FFF2-40B4-BE49-F238E27FC236}">
                <a16:creationId xmlns:a16="http://schemas.microsoft.com/office/drawing/2014/main" id="{7E202380-1BD6-7A10-C51A-497A42391B9C}"/>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1366636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Subite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a:t>1-i. </a:t>
            </a:r>
            <a:r>
              <a:rPr lang="de-DE" err="1"/>
              <a:t>Example</a:t>
            </a:r>
            <a:r>
              <a:rPr lang="de-DE"/>
              <a:t>: </a:t>
            </a:r>
            <a:r>
              <a:rPr lang="de-DE" err="1"/>
              <a:t>Drawings</a:t>
            </a:r>
            <a:r>
              <a:rPr lang="de-DE"/>
              <a:t> </a:t>
            </a:r>
            <a:r>
              <a:rPr lang="de-DE" err="1"/>
              <a:t>from</a:t>
            </a:r>
            <a:r>
              <a:rPr lang="de-DE"/>
              <a:t> </a:t>
            </a:r>
            <a:r>
              <a:rPr lang="de-DE" err="1"/>
              <a:t>the</a:t>
            </a:r>
            <a:r>
              <a:rPr lang="de-DE"/>
              <a:t> </a:t>
            </a:r>
            <a:r>
              <a:rPr lang="de-DE" err="1"/>
              <a:t>week</a:t>
            </a:r>
            <a:endParaRPr lang="de-DE"/>
          </a:p>
        </p:txBody>
      </p:sp>
      <p:sp>
        <p:nvSpPr>
          <p:cNvPr id="3" name="Inhaltsplatzhalter 2">
            <a:extLst>
              <a:ext uri="{FF2B5EF4-FFF2-40B4-BE49-F238E27FC236}">
                <a16:creationId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err="1"/>
              <a:t>Abcd</a:t>
            </a:r>
            <a:endParaRPr lang="de-DE"/>
          </a:p>
          <a:p>
            <a:pPr lvl="1"/>
            <a:r>
              <a:rPr lang="de-DE" err="1"/>
              <a:t>efgh</a:t>
            </a:r>
            <a:endParaRPr lang="de-DE"/>
          </a:p>
        </p:txBody>
      </p:sp>
      <p:cxnSp>
        <p:nvCxnSpPr>
          <p:cNvPr id="7" name="Straight Connector 5">
            <a:extLst>
              <a:ext uri="{FF2B5EF4-FFF2-40B4-BE49-F238E27FC236}">
                <a16:creationId xmlns:a16="http://schemas.microsoft.com/office/drawing/2014/main" id="{C5BF7EBE-3919-817C-149B-CF38705C6BC9}"/>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Datumsplatzhalter 7">
            <a:extLst>
              <a:ext uri="{FF2B5EF4-FFF2-40B4-BE49-F238E27FC236}">
                <a16:creationId xmlns:a16="http://schemas.microsoft.com/office/drawing/2014/main" id="{5228F91E-E7AD-B275-5A60-89428222DD8C}"/>
              </a:ext>
            </a:extLst>
          </p:cNvPr>
          <p:cNvSpPr>
            <a:spLocks noGrp="1"/>
          </p:cNvSpPr>
          <p:nvPr>
            <p:ph type="dt" sz="half" idx="10"/>
          </p:nvPr>
        </p:nvSpPr>
        <p:spPr/>
        <p:txBody>
          <a:bodyPr/>
          <a:lstStyle/>
          <a:p>
            <a:r>
              <a:rPr lang="en-US"/>
              <a:t>16/12/2025</a:t>
            </a:r>
          </a:p>
        </p:txBody>
      </p:sp>
      <p:sp>
        <p:nvSpPr>
          <p:cNvPr id="9" name="Fußzeilenplatzhalter 8">
            <a:extLst>
              <a:ext uri="{FF2B5EF4-FFF2-40B4-BE49-F238E27FC236}">
                <a16:creationId xmlns:a16="http://schemas.microsoft.com/office/drawing/2014/main" id="{8F4F81C7-2C44-8CF8-2928-655E74DC8F30}"/>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260D8F3F-3088-D685-66AD-D2110FD402DA}"/>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29BD9540-0DAC-F607-0D84-145CAF084DCB}"/>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
        <p:nvSpPr>
          <p:cNvPr id="4" name="Textplatzhalter 4">
            <a:extLst>
              <a:ext uri="{FF2B5EF4-FFF2-40B4-BE49-F238E27FC236}">
                <a16:creationId xmlns:a16="http://schemas.microsoft.com/office/drawing/2014/main" id="{9943038B-A8F9-48D6-0A29-94D4AA659F65}"/>
              </a:ext>
            </a:extLst>
          </p:cNvPr>
          <p:cNvSpPr>
            <a:spLocks noGrp="1"/>
          </p:cNvSpPr>
          <p:nvPr>
            <p:ph type="body" sz="quarter" idx="22" hasCustomPrompt="1"/>
          </p:nvPr>
        </p:nvSpPr>
        <p:spPr>
          <a:xfrm>
            <a:off x="749023" y="6216958"/>
            <a:ext cx="2248453" cy="309850"/>
          </a:xfrm>
        </p:spPr>
        <p:txBody>
          <a:bodyPr/>
          <a:lstStyle>
            <a:lvl2pPr marL="45720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Aptos" panose="02110004020202020204"/>
                <a:ea typeface="+mn-ea"/>
                <a:cs typeface="+mn-cs"/>
              </a:rPr>
              <a:t>[1], [2]….</a:t>
            </a:r>
          </a:p>
          <a:p>
            <a:pPr lvl="1"/>
            <a:endParaRPr lang="en-GB"/>
          </a:p>
        </p:txBody>
      </p:sp>
    </p:spTree>
    <p:extLst>
      <p:ext uri="{BB962C8B-B14F-4D97-AF65-F5344CB8AC3E}">
        <p14:creationId xmlns:p14="http://schemas.microsoft.com/office/powerpoint/2010/main" val="845341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raph Slide (Explan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7C287-18A0-EB82-8A27-F94CA3880D06}"/>
              </a:ext>
            </a:extLst>
          </p:cNvPr>
          <p:cNvSpPr>
            <a:spLocks noGrp="1"/>
          </p:cNvSpPr>
          <p:nvPr>
            <p:ph type="title" hasCustomPrompt="1"/>
          </p:nvPr>
        </p:nvSpPr>
        <p:spPr/>
        <p:txBody>
          <a:bodyPr/>
          <a:lstStyle>
            <a:lvl1pPr>
              <a:defRPr/>
            </a:lvl1pPr>
          </a:lstStyle>
          <a:p>
            <a:r>
              <a:rPr lang="de-DE"/>
              <a:t>X. Graph</a:t>
            </a:r>
            <a:endParaRPr lang="en-GB"/>
          </a:p>
        </p:txBody>
      </p:sp>
      <p:pic>
        <p:nvPicPr>
          <p:cNvPr id="6" name="Picture 2" descr="How HOMER Calculates Wind Turbine Power Output">
            <a:extLst>
              <a:ext uri="{FF2B5EF4-FFF2-40B4-BE49-F238E27FC236}">
                <a16:creationId xmlns:a16="http://schemas.microsoft.com/office/drawing/2014/main" id="{002A61B1-6859-B9E0-5E8D-876C02B28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724" y="1939999"/>
            <a:ext cx="5429250" cy="30670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
            <a:extLst>
              <a:ext uri="{FF2B5EF4-FFF2-40B4-BE49-F238E27FC236}">
                <a16:creationId xmlns:a16="http://schemas.microsoft.com/office/drawing/2014/main" id="{70DEEB4B-BB48-7BA1-DC37-D3F70525E158}"/>
              </a:ext>
            </a:extLst>
          </p:cNvPr>
          <p:cNvSpPr txBox="1"/>
          <p:nvPr/>
        </p:nvSpPr>
        <p:spPr>
          <a:xfrm>
            <a:off x="764619" y="5102669"/>
            <a:ext cx="5187461" cy="600164"/>
          </a:xfrm>
          <a:prstGeom prst="rect">
            <a:avLst/>
          </a:prstGeom>
          <a:noFill/>
        </p:spPr>
        <p:txBody>
          <a:bodyPr wrap="square" rtlCol="0">
            <a:spAutoFit/>
          </a:bodyPr>
          <a:lstStyle/>
          <a:p>
            <a:r>
              <a:rPr lang="it-IT" sz="1100"/>
              <a:t>(</a:t>
            </a:r>
            <a:r>
              <a:rPr lang="it-IT" sz="1100" err="1"/>
              <a:t>Description</a:t>
            </a:r>
            <a:r>
              <a:rPr lang="it-IT" sz="1100"/>
              <a:t> of the </a:t>
            </a:r>
            <a:r>
              <a:rPr lang="it-IT" sz="1100" err="1"/>
              <a:t>graph</a:t>
            </a:r>
            <a:r>
              <a:rPr lang="it-IT" sz="1100"/>
              <a:t>, </a:t>
            </a:r>
            <a:r>
              <a:rPr lang="it-IT" sz="1100" err="1"/>
              <a:t>example</a:t>
            </a:r>
            <a:r>
              <a:rPr lang="it-IT" sz="1100"/>
              <a:t>: </a:t>
            </a:r>
            <a:r>
              <a:rPr lang="it-IT" sz="1100" i="1"/>
              <a:t>power curve power over wind speed</a:t>
            </a:r>
            <a:r>
              <a:rPr lang="it-IT" sz="1100"/>
              <a:t> )</a:t>
            </a:r>
          </a:p>
          <a:p>
            <a:r>
              <a:rPr lang="it-IT" sz="1100"/>
              <a:t>(</a:t>
            </a:r>
            <a:r>
              <a:rPr lang="it-IT" sz="1100" err="1"/>
              <a:t>Citation</a:t>
            </a:r>
            <a:r>
              <a:rPr lang="it-IT" sz="1100"/>
              <a:t> of the sources, </a:t>
            </a:r>
            <a:r>
              <a:rPr lang="it-IT" sz="1100" err="1"/>
              <a:t>example</a:t>
            </a:r>
            <a:r>
              <a:rPr lang="it-IT" sz="1100"/>
              <a:t>:</a:t>
            </a:r>
            <a:r>
              <a:rPr lang="it-IT" sz="1100" b="1"/>
              <a:t> </a:t>
            </a:r>
            <a:r>
              <a:rPr lang="it-IT" sz="1100" b="0"/>
              <a:t>[1] </a:t>
            </a:r>
            <a:r>
              <a:rPr lang="it-IT" sz="1100"/>
              <a:t>)  </a:t>
            </a:r>
          </a:p>
          <a:p>
            <a:r>
              <a:rPr lang="it-IT" sz="1100"/>
              <a:t>(Last date of access, </a:t>
            </a:r>
            <a:r>
              <a:rPr lang="it-IT" sz="1100" err="1"/>
              <a:t>example</a:t>
            </a:r>
            <a:r>
              <a:rPr lang="it-IT" sz="1100"/>
              <a:t>: 21/12/2015)</a:t>
            </a:r>
            <a:endParaRPr lang="en-GB" sz="1100"/>
          </a:p>
        </p:txBody>
      </p:sp>
      <p:cxnSp>
        <p:nvCxnSpPr>
          <p:cNvPr id="8" name="Connector: Elbow 6">
            <a:extLst>
              <a:ext uri="{FF2B5EF4-FFF2-40B4-BE49-F238E27FC236}">
                <a16:creationId xmlns:a16="http://schemas.microsoft.com/office/drawing/2014/main" id="{7A01EE56-12C5-DD96-C172-C145A0ED64CB}"/>
              </a:ext>
            </a:extLst>
          </p:cNvPr>
          <p:cNvCxnSpPr>
            <a:cxnSpLocks/>
          </p:cNvCxnSpPr>
          <p:nvPr/>
        </p:nvCxnSpPr>
        <p:spPr>
          <a:xfrm rot="10800000" flipV="1">
            <a:off x="3791371" y="4238699"/>
            <a:ext cx="4563205" cy="1222134"/>
          </a:xfrm>
          <a:prstGeom prst="bent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Oval 15">
            <a:extLst>
              <a:ext uri="{FF2B5EF4-FFF2-40B4-BE49-F238E27FC236}">
                <a16:creationId xmlns:a16="http://schemas.microsoft.com/office/drawing/2014/main" id="{EE3D1715-661B-80A0-F167-264ACC369A68}"/>
              </a:ext>
            </a:extLst>
          </p:cNvPr>
          <p:cNvSpPr/>
          <p:nvPr/>
        </p:nvSpPr>
        <p:spPr>
          <a:xfrm>
            <a:off x="7796637" y="3405202"/>
            <a:ext cx="3922209" cy="2011693"/>
          </a:xfrm>
          <a:prstGeom prst="ellipse">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err="1"/>
              <a:t>Add</a:t>
            </a:r>
            <a:r>
              <a:rPr lang="it-IT" sz="1400"/>
              <a:t> a link to the </a:t>
            </a:r>
            <a:r>
              <a:rPr lang="it-IT" sz="1400" err="1"/>
              <a:t>reference</a:t>
            </a:r>
            <a:r>
              <a:rPr lang="it-IT" sz="1400"/>
              <a:t> </a:t>
            </a:r>
            <a:r>
              <a:rPr lang="it-IT" sz="1400" err="1"/>
              <a:t>number</a:t>
            </a:r>
            <a:r>
              <a:rPr lang="it-IT" sz="1400"/>
              <a:t> </a:t>
            </a:r>
            <a:r>
              <a:rPr lang="it-IT" sz="1400" err="1"/>
              <a:t>that</a:t>
            </a:r>
            <a:r>
              <a:rPr lang="it-IT" sz="1400"/>
              <a:t> </a:t>
            </a:r>
            <a:r>
              <a:rPr lang="it-IT" sz="1400" err="1"/>
              <a:t>goes</a:t>
            </a:r>
            <a:r>
              <a:rPr lang="it-IT" sz="1400"/>
              <a:t> to the last slide: highlight the </a:t>
            </a:r>
            <a:r>
              <a:rPr lang="it-IT" sz="1400" err="1"/>
              <a:t>number</a:t>
            </a:r>
            <a:r>
              <a:rPr lang="it-IT" sz="1400"/>
              <a:t>-&gt;</a:t>
            </a:r>
            <a:r>
              <a:rPr lang="it-IT" sz="1400" err="1"/>
              <a:t>right</a:t>
            </a:r>
            <a:r>
              <a:rPr lang="it-IT" sz="1400"/>
              <a:t> click-&gt;</a:t>
            </a:r>
            <a:r>
              <a:rPr lang="it-IT" sz="1400" err="1"/>
              <a:t>select</a:t>
            </a:r>
            <a:r>
              <a:rPr lang="it-IT" sz="1400"/>
              <a:t> link-&gt;place in </a:t>
            </a:r>
            <a:r>
              <a:rPr lang="it-IT" sz="1400" err="1"/>
              <a:t>this</a:t>
            </a:r>
            <a:r>
              <a:rPr lang="it-IT" sz="1400"/>
              <a:t> </a:t>
            </a:r>
            <a:r>
              <a:rPr lang="it-IT" sz="1400" err="1"/>
              <a:t>document</a:t>
            </a:r>
            <a:r>
              <a:rPr lang="it-IT" sz="1400"/>
              <a:t>-&gt;</a:t>
            </a:r>
            <a:r>
              <a:rPr lang="it-IT" sz="1400" err="1"/>
              <a:t>select</a:t>
            </a:r>
            <a:r>
              <a:rPr lang="it-IT" sz="1400"/>
              <a:t> last slide</a:t>
            </a:r>
            <a:endParaRPr lang="en-GB" sz="1400"/>
          </a:p>
        </p:txBody>
      </p:sp>
      <p:cxnSp>
        <p:nvCxnSpPr>
          <p:cNvPr id="10" name="Straight Connector 5">
            <a:extLst>
              <a:ext uri="{FF2B5EF4-FFF2-40B4-BE49-F238E27FC236}">
                <a16:creationId xmlns:a16="http://schemas.microsoft.com/office/drawing/2014/main" id="{9CCD7462-E12C-CDA3-D609-4AB679728A2E}"/>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Rectangle 7">
            <a:extLst>
              <a:ext uri="{FF2B5EF4-FFF2-40B4-BE49-F238E27FC236}">
                <a16:creationId xmlns:a16="http://schemas.microsoft.com/office/drawing/2014/main" id="{A1188C36-D6CB-FA53-013E-FC56AD427952}"/>
              </a:ext>
            </a:extLst>
          </p:cNvPr>
          <p:cNvSpPr/>
          <p:nvPr/>
        </p:nvSpPr>
        <p:spPr>
          <a:xfrm>
            <a:off x="6495002" y="1875014"/>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err="1"/>
              <a:t>This</a:t>
            </a:r>
            <a:r>
              <a:rPr lang="it-IT"/>
              <a:t> slide </a:t>
            </a:r>
            <a:r>
              <a:rPr lang="it-IT" err="1"/>
              <a:t>is</a:t>
            </a:r>
            <a:r>
              <a:rPr lang="it-IT"/>
              <a:t> </a:t>
            </a:r>
            <a:r>
              <a:rPr lang="it-IT" err="1"/>
              <a:t>only</a:t>
            </a:r>
            <a:r>
              <a:rPr lang="it-IT"/>
              <a:t> for </a:t>
            </a:r>
            <a:r>
              <a:rPr lang="it-IT" err="1"/>
              <a:t>explanation</a:t>
            </a:r>
            <a:r>
              <a:rPr lang="it-IT"/>
              <a:t>, </a:t>
            </a:r>
            <a:r>
              <a:rPr lang="it-IT" err="1"/>
              <a:t>dont´t</a:t>
            </a:r>
            <a:r>
              <a:rPr lang="it-IT"/>
              <a:t> use </a:t>
            </a:r>
            <a:r>
              <a:rPr lang="it-IT" err="1"/>
              <a:t>it!</a:t>
            </a:r>
            <a:endParaRPr lang="en-GB"/>
          </a:p>
        </p:txBody>
      </p:sp>
      <p:sp>
        <p:nvSpPr>
          <p:cNvPr id="12" name="Datumsplatzhalter 11">
            <a:extLst>
              <a:ext uri="{FF2B5EF4-FFF2-40B4-BE49-F238E27FC236}">
                <a16:creationId xmlns:a16="http://schemas.microsoft.com/office/drawing/2014/main" id="{749D4654-CB69-04EA-986A-2264B7AF439E}"/>
              </a:ext>
            </a:extLst>
          </p:cNvPr>
          <p:cNvSpPr>
            <a:spLocks noGrp="1"/>
          </p:cNvSpPr>
          <p:nvPr>
            <p:ph type="dt" sz="half" idx="10"/>
          </p:nvPr>
        </p:nvSpPr>
        <p:spPr/>
        <p:txBody>
          <a:bodyPr/>
          <a:lstStyle/>
          <a:p>
            <a:r>
              <a:rPr lang="en-US"/>
              <a:t>16/12/2025</a:t>
            </a:r>
          </a:p>
        </p:txBody>
      </p:sp>
      <p:sp>
        <p:nvSpPr>
          <p:cNvPr id="13" name="Fußzeilenplatzhalter 12">
            <a:extLst>
              <a:ext uri="{FF2B5EF4-FFF2-40B4-BE49-F238E27FC236}">
                <a16:creationId xmlns:a16="http://schemas.microsoft.com/office/drawing/2014/main" id="{FC28337D-790B-E06F-0074-04AA48B925B2}"/>
              </a:ext>
            </a:extLst>
          </p:cNvPr>
          <p:cNvSpPr>
            <a:spLocks noGrp="1"/>
          </p:cNvSpPr>
          <p:nvPr>
            <p:ph type="ftr" sz="quarter" idx="11"/>
          </p:nvPr>
        </p:nvSpPr>
        <p:spPr/>
        <p:txBody>
          <a:bodyPr/>
          <a:lstStyle/>
          <a:p>
            <a:r>
              <a:rPr lang="sv-SE"/>
              <a:t>Feedback &amp; Lidar Controller  / Optimus Syria</a:t>
            </a:r>
            <a:endParaRPr lang="en-US"/>
          </a:p>
        </p:txBody>
      </p:sp>
      <p:sp>
        <p:nvSpPr>
          <p:cNvPr id="14" name="Foliennummernplatzhalter 13">
            <a:extLst>
              <a:ext uri="{FF2B5EF4-FFF2-40B4-BE49-F238E27FC236}">
                <a16:creationId xmlns:a16="http://schemas.microsoft.com/office/drawing/2014/main" id="{A2A63292-0139-33E2-79E8-D1F485A4CC93}"/>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5" name="Textplatzhalter 16">
            <a:extLst>
              <a:ext uri="{FF2B5EF4-FFF2-40B4-BE49-F238E27FC236}">
                <a16:creationId xmlns:a16="http://schemas.microsoft.com/office/drawing/2014/main" id="{596BA109-7562-188F-19E6-BAFF28DC5C78}"/>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179461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raph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7C287-18A0-EB82-8A27-F94CA3880D06}"/>
              </a:ext>
            </a:extLst>
          </p:cNvPr>
          <p:cNvSpPr>
            <a:spLocks noGrp="1"/>
          </p:cNvSpPr>
          <p:nvPr>
            <p:ph type="title" hasCustomPrompt="1"/>
          </p:nvPr>
        </p:nvSpPr>
        <p:spPr/>
        <p:txBody>
          <a:bodyPr/>
          <a:lstStyle>
            <a:lvl1pPr>
              <a:defRPr/>
            </a:lvl1pPr>
          </a:lstStyle>
          <a:p>
            <a:r>
              <a:rPr lang="de-DE"/>
              <a:t>X. Graph</a:t>
            </a:r>
            <a:endParaRPr lang="en-GB"/>
          </a:p>
        </p:txBody>
      </p:sp>
      <p:pic>
        <p:nvPicPr>
          <p:cNvPr id="6" name="Picture 2" descr="How HOMER Calculates Wind Turbine Power Output">
            <a:extLst>
              <a:ext uri="{FF2B5EF4-FFF2-40B4-BE49-F238E27FC236}">
                <a16:creationId xmlns:a16="http://schemas.microsoft.com/office/drawing/2014/main" id="{002A61B1-6859-B9E0-5E8D-876C02B28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724" y="1939999"/>
            <a:ext cx="5429250" cy="30670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
            <a:extLst>
              <a:ext uri="{FF2B5EF4-FFF2-40B4-BE49-F238E27FC236}">
                <a16:creationId xmlns:a16="http://schemas.microsoft.com/office/drawing/2014/main" id="{70DEEB4B-BB48-7BA1-DC37-D3F70525E158}"/>
              </a:ext>
            </a:extLst>
          </p:cNvPr>
          <p:cNvSpPr txBox="1"/>
          <p:nvPr/>
        </p:nvSpPr>
        <p:spPr>
          <a:xfrm>
            <a:off x="764619" y="5102669"/>
            <a:ext cx="5187461" cy="600164"/>
          </a:xfrm>
          <a:prstGeom prst="rect">
            <a:avLst/>
          </a:prstGeom>
          <a:noFill/>
        </p:spPr>
        <p:txBody>
          <a:bodyPr wrap="square" rtlCol="0">
            <a:spAutoFit/>
          </a:bodyPr>
          <a:lstStyle/>
          <a:p>
            <a:r>
              <a:rPr lang="it-IT" sz="1100"/>
              <a:t>(</a:t>
            </a:r>
            <a:r>
              <a:rPr lang="it-IT" sz="1100" err="1"/>
              <a:t>Description</a:t>
            </a:r>
            <a:r>
              <a:rPr lang="it-IT" sz="1100"/>
              <a:t> of the </a:t>
            </a:r>
            <a:r>
              <a:rPr lang="it-IT" sz="1100" err="1"/>
              <a:t>graph</a:t>
            </a:r>
            <a:r>
              <a:rPr lang="it-IT" sz="1100"/>
              <a:t>, </a:t>
            </a:r>
            <a:r>
              <a:rPr lang="it-IT" sz="1100" err="1"/>
              <a:t>example</a:t>
            </a:r>
            <a:r>
              <a:rPr lang="it-IT" sz="1100"/>
              <a:t>: </a:t>
            </a:r>
            <a:r>
              <a:rPr lang="it-IT" sz="1100" i="1"/>
              <a:t>power curve power over wind speed</a:t>
            </a:r>
            <a:r>
              <a:rPr lang="it-IT" sz="1100"/>
              <a:t> )</a:t>
            </a:r>
          </a:p>
          <a:p>
            <a:r>
              <a:rPr lang="it-IT" sz="1100"/>
              <a:t>(</a:t>
            </a:r>
            <a:r>
              <a:rPr lang="it-IT" sz="1100" err="1"/>
              <a:t>Citation</a:t>
            </a:r>
            <a:r>
              <a:rPr lang="it-IT" sz="1100"/>
              <a:t> of the sources, </a:t>
            </a:r>
            <a:r>
              <a:rPr lang="it-IT" sz="1100" err="1"/>
              <a:t>example</a:t>
            </a:r>
            <a:r>
              <a:rPr lang="it-IT" sz="1100"/>
              <a:t>:</a:t>
            </a:r>
            <a:r>
              <a:rPr lang="it-IT" sz="1100" b="1"/>
              <a:t> </a:t>
            </a:r>
            <a:r>
              <a:rPr lang="it-IT" sz="1100" b="0"/>
              <a:t>[1] </a:t>
            </a:r>
            <a:r>
              <a:rPr lang="it-IT" sz="1100"/>
              <a:t>)  </a:t>
            </a:r>
          </a:p>
          <a:p>
            <a:r>
              <a:rPr lang="it-IT" sz="1100"/>
              <a:t>(Last date of access, </a:t>
            </a:r>
            <a:r>
              <a:rPr lang="it-IT" sz="1100" err="1"/>
              <a:t>example</a:t>
            </a:r>
            <a:r>
              <a:rPr lang="it-IT" sz="1100"/>
              <a:t>: 21/12/2015)</a:t>
            </a:r>
            <a:endParaRPr lang="en-GB" sz="1100"/>
          </a:p>
        </p:txBody>
      </p:sp>
      <p:cxnSp>
        <p:nvCxnSpPr>
          <p:cNvPr id="10" name="Straight Connector 5">
            <a:extLst>
              <a:ext uri="{FF2B5EF4-FFF2-40B4-BE49-F238E27FC236}">
                <a16:creationId xmlns:a16="http://schemas.microsoft.com/office/drawing/2014/main" id="{9CCD7462-E12C-CDA3-D609-4AB679728A2E}"/>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Datumsplatzhalter 7">
            <a:extLst>
              <a:ext uri="{FF2B5EF4-FFF2-40B4-BE49-F238E27FC236}">
                <a16:creationId xmlns:a16="http://schemas.microsoft.com/office/drawing/2014/main" id="{98D8651D-3525-44E9-EF74-5AE1C96E2B5E}"/>
              </a:ext>
            </a:extLst>
          </p:cNvPr>
          <p:cNvSpPr>
            <a:spLocks noGrp="1"/>
          </p:cNvSpPr>
          <p:nvPr>
            <p:ph type="dt" sz="half" idx="10"/>
          </p:nvPr>
        </p:nvSpPr>
        <p:spPr/>
        <p:txBody>
          <a:bodyPr/>
          <a:lstStyle/>
          <a:p>
            <a:r>
              <a:rPr lang="en-US"/>
              <a:t>16/12/2025</a:t>
            </a:r>
          </a:p>
        </p:txBody>
      </p:sp>
      <p:sp>
        <p:nvSpPr>
          <p:cNvPr id="9" name="Fußzeilenplatzhalter 8">
            <a:extLst>
              <a:ext uri="{FF2B5EF4-FFF2-40B4-BE49-F238E27FC236}">
                <a16:creationId xmlns:a16="http://schemas.microsoft.com/office/drawing/2014/main" id="{FC35C132-0CB8-F9A6-EC6C-F3AC1F1B3137}"/>
              </a:ext>
            </a:extLst>
          </p:cNvPr>
          <p:cNvSpPr>
            <a:spLocks noGrp="1"/>
          </p:cNvSpPr>
          <p:nvPr>
            <p:ph type="ftr" sz="quarter" idx="11"/>
          </p:nvPr>
        </p:nvSpPr>
        <p:spPr/>
        <p:txBody>
          <a:bodyPr/>
          <a:lstStyle/>
          <a:p>
            <a:r>
              <a:rPr lang="sv-SE"/>
              <a:t>Feedback &amp; Lidar Controller  / Optimus Syria</a:t>
            </a:r>
            <a:endParaRPr lang="en-US"/>
          </a:p>
        </p:txBody>
      </p:sp>
      <p:sp>
        <p:nvSpPr>
          <p:cNvPr id="11" name="Foliennummernplatzhalter 10">
            <a:extLst>
              <a:ext uri="{FF2B5EF4-FFF2-40B4-BE49-F238E27FC236}">
                <a16:creationId xmlns:a16="http://schemas.microsoft.com/office/drawing/2014/main" id="{722F58FF-5AD5-CF97-4FEE-FB1F38CD9A18}"/>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2" name="Textplatzhalter 16">
            <a:extLst>
              <a:ext uri="{FF2B5EF4-FFF2-40B4-BE49-F238E27FC236}">
                <a16:creationId xmlns:a16="http://schemas.microsoft.com/office/drawing/2014/main" id="{DC21B0DD-4D97-871C-E587-F10AD55D8BD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1724660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ibliography (Explan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3033-AA4A-D955-AE39-E7F2A40C8A47}"/>
              </a:ext>
            </a:extLst>
          </p:cNvPr>
          <p:cNvSpPr>
            <a:spLocks noGrp="1"/>
          </p:cNvSpPr>
          <p:nvPr>
            <p:ph type="title" hasCustomPrompt="1"/>
          </p:nvPr>
        </p:nvSpPr>
        <p:spPr/>
        <p:txBody>
          <a:bodyPr/>
          <a:lstStyle>
            <a:lvl1pPr>
              <a:defRPr/>
            </a:lvl1pPr>
          </a:lstStyle>
          <a:p>
            <a:r>
              <a:rPr lang="de-DE" err="1"/>
              <a:t>Bibliography</a:t>
            </a:r>
            <a:r>
              <a:rPr lang="de-DE"/>
              <a:t> – </a:t>
            </a:r>
            <a:r>
              <a:rPr lang="de-DE" err="1"/>
              <a:t>team</a:t>
            </a:r>
            <a:r>
              <a:rPr lang="de-DE"/>
              <a:t> </a:t>
            </a:r>
            <a:r>
              <a:rPr lang="de-DE" err="1"/>
              <a:t>name</a:t>
            </a:r>
            <a:endParaRPr lang="en-GB"/>
          </a:p>
        </p:txBody>
      </p:sp>
      <p:sp>
        <p:nvSpPr>
          <p:cNvPr id="3" name="Content Placeholder 2">
            <a:extLst>
              <a:ext uri="{FF2B5EF4-FFF2-40B4-BE49-F238E27FC236}">
                <a16:creationId xmlns:a16="http://schemas.microsoft.com/office/drawing/2014/main" id="{7638BDBB-4827-8B89-3EE0-5A3DD22172FC}"/>
              </a:ext>
            </a:extLst>
          </p:cNvPr>
          <p:cNvSpPr>
            <a:spLocks noGrp="1"/>
          </p:cNvSpPr>
          <p:nvPr>
            <p:ph idx="1" hasCustomPrompt="1"/>
          </p:nvPr>
        </p:nvSpPr>
        <p:spPr/>
        <p:txBody>
          <a:bodyPr>
            <a:normAutofit/>
          </a:bodyPr>
          <a:lstStyle>
            <a:lvl1pPr marL="0" indent="0">
              <a:buNone/>
              <a:defRPr sz="16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a:t>[1] </a:t>
            </a:r>
            <a:r>
              <a:rPr lang="en-GB"/>
              <a:t>“How HOMER Calculates Wind Turbine Power Output,” </a:t>
            </a:r>
            <a:r>
              <a:rPr lang="en-GB" i="1"/>
              <a:t>Homerenergy.com</a:t>
            </a:r>
            <a:r>
              <a:rPr lang="en-GB"/>
              <a:t>, 2017. https://www.homerenergy.com/products/pro/docs/3.15/how_homer_calculates_wind_turbine_power_output.html (accessed Aug. 25,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[2] …..</a:t>
            </a:r>
            <a:endParaRPr lang="it-IT"/>
          </a:p>
          <a:p>
            <a:pPr lvl="0"/>
            <a:endParaRPr lang="de-DE"/>
          </a:p>
        </p:txBody>
      </p:sp>
      <p:cxnSp>
        <p:nvCxnSpPr>
          <p:cNvPr id="6" name="Straight Arrow Connector 21">
            <a:extLst>
              <a:ext uri="{FF2B5EF4-FFF2-40B4-BE49-F238E27FC236}">
                <a16:creationId xmlns:a16="http://schemas.microsoft.com/office/drawing/2014/main" id="{9B5BA113-ABD0-9B33-1E2F-5863B083FE29}"/>
              </a:ext>
            </a:extLst>
          </p:cNvPr>
          <p:cNvCxnSpPr>
            <a:cxnSpLocks/>
          </p:cNvCxnSpPr>
          <p:nvPr/>
        </p:nvCxnSpPr>
        <p:spPr>
          <a:xfrm flipH="1" flipV="1">
            <a:off x="4994031" y="2734408"/>
            <a:ext cx="1245576" cy="1837592"/>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a16="http://schemas.microsoft.com/office/drawing/2014/main" id="{59531AAE-8AA3-6039-F69E-EDD1AF57C810}"/>
              </a:ext>
            </a:extLst>
          </p:cNvPr>
          <p:cNvSpPr/>
          <p:nvPr/>
        </p:nvSpPr>
        <p:spPr>
          <a:xfrm>
            <a:off x="4475285" y="4572000"/>
            <a:ext cx="5969977" cy="167786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a:t>The style </a:t>
            </a:r>
            <a:r>
              <a:rPr lang="it-IT" err="1"/>
              <a:t>chosen</a:t>
            </a:r>
            <a:r>
              <a:rPr lang="it-IT"/>
              <a:t> for </a:t>
            </a:r>
            <a:r>
              <a:rPr lang="it-IT" err="1"/>
              <a:t>citation</a:t>
            </a:r>
            <a:r>
              <a:rPr lang="it-IT"/>
              <a:t> </a:t>
            </a:r>
            <a:r>
              <a:rPr lang="it-IT" err="1"/>
              <a:t>is</a:t>
            </a:r>
            <a:r>
              <a:rPr lang="it-IT"/>
              <a:t> IEEE, so </a:t>
            </a:r>
            <a:r>
              <a:rPr lang="it-IT" err="1"/>
              <a:t>if</a:t>
            </a:r>
            <a:r>
              <a:rPr lang="it-IT"/>
              <a:t> </a:t>
            </a:r>
            <a:r>
              <a:rPr lang="it-IT" err="1"/>
              <a:t>you</a:t>
            </a:r>
            <a:r>
              <a:rPr lang="it-IT"/>
              <a:t> </a:t>
            </a:r>
            <a:r>
              <a:rPr lang="it-IT" err="1"/>
              <a:t>want</a:t>
            </a:r>
            <a:r>
              <a:rPr lang="it-IT"/>
              <a:t> to create </a:t>
            </a:r>
            <a:r>
              <a:rPr lang="it-IT" err="1"/>
              <a:t>your</a:t>
            </a:r>
            <a:r>
              <a:rPr lang="it-IT"/>
              <a:t> </a:t>
            </a:r>
            <a:r>
              <a:rPr lang="it-IT" err="1"/>
              <a:t>citation</a:t>
            </a:r>
            <a:r>
              <a:rPr lang="it-IT"/>
              <a:t> follow </a:t>
            </a:r>
            <a:r>
              <a:rPr lang="it-IT" err="1"/>
              <a:t>that</a:t>
            </a:r>
            <a:r>
              <a:rPr lang="it-IT"/>
              <a:t> style. </a:t>
            </a:r>
            <a:r>
              <a:rPr lang="it-IT" err="1"/>
              <a:t>If</a:t>
            </a:r>
            <a:r>
              <a:rPr lang="it-IT"/>
              <a:t> </a:t>
            </a:r>
            <a:r>
              <a:rPr lang="it-IT" err="1"/>
              <a:t>you</a:t>
            </a:r>
            <a:r>
              <a:rPr lang="it-IT"/>
              <a:t> </a:t>
            </a:r>
            <a:r>
              <a:rPr lang="it-IT" err="1"/>
              <a:t>want</a:t>
            </a:r>
            <a:r>
              <a:rPr lang="it-IT"/>
              <a:t> to create an IEEE </a:t>
            </a:r>
            <a:r>
              <a:rPr lang="it-IT" err="1"/>
              <a:t>citation</a:t>
            </a:r>
            <a:r>
              <a:rPr lang="it-IT"/>
              <a:t> from a website, </a:t>
            </a:r>
            <a:r>
              <a:rPr lang="it-IT" err="1"/>
              <a:t>you</a:t>
            </a:r>
            <a:r>
              <a:rPr lang="it-IT"/>
              <a:t> can use some free </a:t>
            </a:r>
            <a:r>
              <a:rPr lang="it-IT" err="1"/>
              <a:t>converters</a:t>
            </a:r>
            <a:r>
              <a:rPr lang="it-IT"/>
              <a:t> </a:t>
            </a:r>
            <a:r>
              <a:rPr lang="it-IT" err="1"/>
              <a:t>available</a:t>
            </a:r>
            <a:r>
              <a:rPr lang="it-IT"/>
              <a:t> on the internet, like:</a:t>
            </a:r>
          </a:p>
          <a:p>
            <a:pPr algn="ctr"/>
            <a:r>
              <a:rPr lang="en-GB" b="1">
                <a:hlinkClick r:id="rId2"/>
              </a:rPr>
              <a:t>https://www.mybib.com/tools/ieee-citation-generator</a:t>
            </a:r>
            <a:r>
              <a:rPr lang="en-GB" b="1"/>
              <a:t> </a:t>
            </a:r>
          </a:p>
        </p:txBody>
      </p:sp>
      <p:cxnSp>
        <p:nvCxnSpPr>
          <p:cNvPr id="4" name="Straight Connector 5">
            <a:extLst>
              <a:ext uri="{FF2B5EF4-FFF2-40B4-BE49-F238E27FC236}">
                <a16:creationId xmlns:a16="http://schemas.microsoft.com/office/drawing/2014/main" id="{7CC2DA80-2404-1A96-924E-A52A1DBAA341}"/>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0" name="Rectangle 7">
            <a:extLst>
              <a:ext uri="{FF2B5EF4-FFF2-40B4-BE49-F238E27FC236}">
                <a16:creationId xmlns:a16="http://schemas.microsoft.com/office/drawing/2014/main" id="{226F6F8F-D65D-4B43-5785-E89E617F8616}"/>
              </a:ext>
            </a:extLst>
          </p:cNvPr>
          <p:cNvSpPr/>
          <p:nvPr/>
        </p:nvSpPr>
        <p:spPr>
          <a:xfrm>
            <a:off x="908165" y="3299037"/>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err="1"/>
              <a:t>This</a:t>
            </a:r>
            <a:r>
              <a:rPr lang="it-IT"/>
              <a:t> slide </a:t>
            </a:r>
            <a:r>
              <a:rPr lang="it-IT" err="1"/>
              <a:t>is</a:t>
            </a:r>
            <a:r>
              <a:rPr lang="it-IT"/>
              <a:t> </a:t>
            </a:r>
            <a:r>
              <a:rPr lang="it-IT" err="1"/>
              <a:t>only</a:t>
            </a:r>
            <a:r>
              <a:rPr lang="it-IT"/>
              <a:t> for </a:t>
            </a:r>
            <a:r>
              <a:rPr lang="it-IT" err="1"/>
              <a:t>explanation</a:t>
            </a:r>
            <a:r>
              <a:rPr lang="it-IT"/>
              <a:t>, </a:t>
            </a:r>
            <a:r>
              <a:rPr lang="it-IT" err="1"/>
              <a:t>dont´t</a:t>
            </a:r>
            <a:r>
              <a:rPr lang="it-IT"/>
              <a:t> use </a:t>
            </a:r>
            <a:r>
              <a:rPr lang="it-IT" err="1"/>
              <a:t>it!</a:t>
            </a:r>
            <a:endParaRPr lang="en-GB"/>
          </a:p>
        </p:txBody>
      </p:sp>
      <p:sp>
        <p:nvSpPr>
          <p:cNvPr id="11" name="Datumsplatzhalter 10">
            <a:extLst>
              <a:ext uri="{FF2B5EF4-FFF2-40B4-BE49-F238E27FC236}">
                <a16:creationId xmlns:a16="http://schemas.microsoft.com/office/drawing/2014/main" id="{376AEEC7-3E6C-8FE6-7104-34FC937946F1}"/>
              </a:ext>
            </a:extLst>
          </p:cNvPr>
          <p:cNvSpPr>
            <a:spLocks noGrp="1"/>
          </p:cNvSpPr>
          <p:nvPr>
            <p:ph type="dt" sz="half" idx="10"/>
          </p:nvPr>
        </p:nvSpPr>
        <p:spPr/>
        <p:txBody>
          <a:bodyPr/>
          <a:lstStyle/>
          <a:p>
            <a:r>
              <a:rPr lang="en-US"/>
              <a:t>16/12/2025</a:t>
            </a:r>
          </a:p>
        </p:txBody>
      </p:sp>
      <p:sp>
        <p:nvSpPr>
          <p:cNvPr id="12" name="Fußzeilenplatzhalter 11">
            <a:extLst>
              <a:ext uri="{FF2B5EF4-FFF2-40B4-BE49-F238E27FC236}">
                <a16:creationId xmlns:a16="http://schemas.microsoft.com/office/drawing/2014/main" id="{527D13C7-4982-3CF9-E6C0-8109C888A5C4}"/>
              </a:ext>
            </a:extLst>
          </p:cNvPr>
          <p:cNvSpPr>
            <a:spLocks noGrp="1"/>
          </p:cNvSpPr>
          <p:nvPr>
            <p:ph type="ftr" sz="quarter" idx="11"/>
          </p:nvPr>
        </p:nvSpPr>
        <p:spPr/>
        <p:txBody>
          <a:bodyPr/>
          <a:lstStyle/>
          <a:p>
            <a:r>
              <a:rPr lang="sv-SE"/>
              <a:t>Feedback &amp; Lidar Controller  / Optimus Syria</a:t>
            </a:r>
            <a:endParaRPr lang="en-US"/>
          </a:p>
        </p:txBody>
      </p:sp>
      <p:sp>
        <p:nvSpPr>
          <p:cNvPr id="13" name="Foliennummernplatzhalter 12">
            <a:extLst>
              <a:ext uri="{FF2B5EF4-FFF2-40B4-BE49-F238E27FC236}">
                <a16:creationId xmlns:a16="http://schemas.microsoft.com/office/drawing/2014/main" id="{44A0136B-0337-50A8-941C-6DC048DC6892}"/>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4" name="Textplatzhalter 16">
            <a:extLst>
              <a:ext uri="{FF2B5EF4-FFF2-40B4-BE49-F238E27FC236}">
                <a16:creationId xmlns:a16="http://schemas.microsoft.com/office/drawing/2014/main" id="{A21B8924-2541-A57C-7990-899E2DC11FD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4943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Bibliograph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3033-AA4A-D955-AE39-E7F2A40C8A47}"/>
              </a:ext>
            </a:extLst>
          </p:cNvPr>
          <p:cNvSpPr>
            <a:spLocks noGrp="1"/>
          </p:cNvSpPr>
          <p:nvPr>
            <p:ph type="title" hasCustomPrompt="1"/>
          </p:nvPr>
        </p:nvSpPr>
        <p:spPr/>
        <p:txBody>
          <a:bodyPr/>
          <a:lstStyle>
            <a:lvl1pPr>
              <a:defRPr/>
            </a:lvl1pPr>
          </a:lstStyle>
          <a:p>
            <a:r>
              <a:rPr lang="de-DE" err="1"/>
              <a:t>Bibliography</a:t>
            </a:r>
            <a:r>
              <a:rPr lang="de-DE"/>
              <a:t> – </a:t>
            </a:r>
            <a:r>
              <a:rPr lang="de-DE" err="1"/>
              <a:t>team</a:t>
            </a:r>
            <a:r>
              <a:rPr lang="de-DE"/>
              <a:t> </a:t>
            </a:r>
            <a:r>
              <a:rPr lang="de-DE" err="1"/>
              <a:t>name</a:t>
            </a:r>
            <a:endParaRPr lang="en-GB"/>
          </a:p>
        </p:txBody>
      </p:sp>
      <p:sp>
        <p:nvSpPr>
          <p:cNvPr id="3" name="Content Placeholder 2">
            <a:extLst>
              <a:ext uri="{FF2B5EF4-FFF2-40B4-BE49-F238E27FC236}">
                <a16:creationId xmlns:a16="http://schemas.microsoft.com/office/drawing/2014/main" id="{7638BDBB-4827-8B89-3EE0-5A3DD22172FC}"/>
              </a:ext>
            </a:extLst>
          </p:cNvPr>
          <p:cNvSpPr>
            <a:spLocks noGrp="1"/>
          </p:cNvSpPr>
          <p:nvPr>
            <p:ph idx="1" hasCustomPrompt="1"/>
          </p:nvPr>
        </p:nvSpPr>
        <p:spPr/>
        <p:txBody>
          <a:bodyPr>
            <a:normAutofit/>
          </a:bodyPr>
          <a:lstStyle>
            <a:lvl1pPr marL="0" indent="0">
              <a:buNone/>
              <a:defRPr sz="16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a:t>[1] </a:t>
            </a:r>
            <a:r>
              <a:rPr lang="en-GB"/>
              <a:t>“How HOMER Calculates Wind Turbine Power Output,” </a:t>
            </a:r>
            <a:r>
              <a:rPr lang="en-GB" i="1"/>
              <a:t>Homerenergy.com</a:t>
            </a:r>
            <a:r>
              <a:rPr lang="en-GB"/>
              <a:t>, 2017. https://www.homerenergy.com/products/pro/docs/3.15/how_homer_calculates_wind_turbine_power_output.html (accessed Aug. 25,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[2] …..</a:t>
            </a:r>
            <a:endParaRPr lang="it-IT"/>
          </a:p>
          <a:p>
            <a:pPr lvl="0"/>
            <a:endParaRPr lang="de-DE"/>
          </a:p>
        </p:txBody>
      </p:sp>
      <p:cxnSp>
        <p:nvCxnSpPr>
          <p:cNvPr id="4" name="Straight Connector 5">
            <a:extLst>
              <a:ext uri="{FF2B5EF4-FFF2-40B4-BE49-F238E27FC236}">
                <a16:creationId xmlns:a16="http://schemas.microsoft.com/office/drawing/2014/main" id="{7CC2DA80-2404-1A96-924E-A52A1DBAA341}"/>
              </a:ext>
            </a:extLst>
          </p:cNvPr>
          <p:cNvCxnSpPr>
            <a:cxnSpLocks/>
          </p:cNvCxnSpPr>
          <p:nvPr/>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6" name="Datumsplatzhalter 5">
            <a:extLst>
              <a:ext uri="{FF2B5EF4-FFF2-40B4-BE49-F238E27FC236}">
                <a16:creationId xmlns:a16="http://schemas.microsoft.com/office/drawing/2014/main" id="{79BDC2AF-40F8-8529-16FE-AE51A8BD447C}"/>
              </a:ext>
            </a:extLst>
          </p:cNvPr>
          <p:cNvSpPr>
            <a:spLocks noGrp="1"/>
          </p:cNvSpPr>
          <p:nvPr>
            <p:ph type="dt" sz="half" idx="10"/>
          </p:nvPr>
        </p:nvSpPr>
        <p:spPr/>
        <p:txBody>
          <a:bodyPr/>
          <a:lstStyle/>
          <a:p>
            <a:r>
              <a:rPr lang="en-US"/>
              <a:t>16/12/2025</a:t>
            </a:r>
          </a:p>
        </p:txBody>
      </p:sp>
      <p:sp>
        <p:nvSpPr>
          <p:cNvPr id="9" name="Fußzeilenplatzhalter 8">
            <a:extLst>
              <a:ext uri="{FF2B5EF4-FFF2-40B4-BE49-F238E27FC236}">
                <a16:creationId xmlns:a16="http://schemas.microsoft.com/office/drawing/2014/main" id="{3A36B392-F5AC-41D8-5903-3EE036BA8CB9}"/>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7595A811-7A18-1583-7B9C-87A7CBB7F159}"/>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5E735FEA-D591-2E8E-B9B4-2A6BAFE00D4F}"/>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450291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3920-E451-6E8D-B0CB-C3FB9C0F70B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47CFBA5-B73E-6B89-322D-7C32A35A121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4BF8199-371A-141A-1CD7-D551EEEFDFB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Datumsplatzhalter 7">
            <a:extLst>
              <a:ext uri="{FF2B5EF4-FFF2-40B4-BE49-F238E27FC236}">
                <a16:creationId xmlns:a16="http://schemas.microsoft.com/office/drawing/2014/main" id="{16092FF3-E2C2-B5C5-579F-21F140EB3AA1}"/>
              </a:ext>
            </a:extLst>
          </p:cNvPr>
          <p:cNvSpPr>
            <a:spLocks noGrp="1"/>
          </p:cNvSpPr>
          <p:nvPr>
            <p:ph type="dt" sz="half" idx="10"/>
          </p:nvPr>
        </p:nvSpPr>
        <p:spPr/>
        <p:txBody>
          <a:bodyPr/>
          <a:lstStyle/>
          <a:p>
            <a:r>
              <a:rPr lang="en-US"/>
              <a:t>16/12/2025</a:t>
            </a:r>
          </a:p>
        </p:txBody>
      </p:sp>
      <p:sp>
        <p:nvSpPr>
          <p:cNvPr id="9" name="Fußzeilenplatzhalter 8">
            <a:extLst>
              <a:ext uri="{FF2B5EF4-FFF2-40B4-BE49-F238E27FC236}">
                <a16:creationId xmlns:a16="http://schemas.microsoft.com/office/drawing/2014/main" id="{85AD0AE9-D3B7-2239-8DBB-350367E7DC59}"/>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E1BD0BA0-666C-E532-C68B-11386947BA13}"/>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027E2607-9D4B-3DD5-A6A2-FC3CB80BCC1F}"/>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1232093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F7B7-87CF-1A3E-E33E-44DC6E0152F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84B21B8D-C5F5-5242-4069-B1546B4BC0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74D26CD-98BD-17E2-BE55-DBB74BBC64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63B8D60-279E-D76A-9222-12B704BAEB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A1AF34B-F683-41AD-C71C-8E8C66CC4CC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Datumsplatzhalter 9">
            <a:extLst>
              <a:ext uri="{FF2B5EF4-FFF2-40B4-BE49-F238E27FC236}">
                <a16:creationId xmlns:a16="http://schemas.microsoft.com/office/drawing/2014/main" id="{4EB4231A-B976-E0CE-75F3-D34A6911E251}"/>
              </a:ext>
            </a:extLst>
          </p:cNvPr>
          <p:cNvSpPr>
            <a:spLocks noGrp="1"/>
          </p:cNvSpPr>
          <p:nvPr>
            <p:ph type="dt" sz="half" idx="10"/>
          </p:nvPr>
        </p:nvSpPr>
        <p:spPr/>
        <p:txBody>
          <a:bodyPr/>
          <a:lstStyle/>
          <a:p>
            <a:r>
              <a:rPr lang="en-US"/>
              <a:t>16/12/2025</a:t>
            </a:r>
          </a:p>
        </p:txBody>
      </p:sp>
      <p:sp>
        <p:nvSpPr>
          <p:cNvPr id="11" name="Fußzeilenplatzhalter 10">
            <a:extLst>
              <a:ext uri="{FF2B5EF4-FFF2-40B4-BE49-F238E27FC236}">
                <a16:creationId xmlns:a16="http://schemas.microsoft.com/office/drawing/2014/main" id="{2E601F58-36C8-D2D9-A619-7EE495853C62}"/>
              </a:ext>
            </a:extLst>
          </p:cNvPr>
          <p:cNvSpPr>
            <a:spLocks noGrp="1"/>
          </p:cNvSpPr>
          <p:nvPr>
            <p:ph type="ftr" sz="quarter" idx="11"/>
          </p:nvPr>
        </p:nvSpPr>
        <p:spPr/>
        <p:txBody>
          <a:bodyPr/>
          <a:lstStyle/>
          <a:p>
            <a:r>
              <a:rPr lang="sv-SE"/>
              <a:t>Feedback &amp; Lidar Controller  / Optimus Syria</a:t>
            </a:r>
            <a:endParaRPr lang="en-US"/>
          </a:p>
        </p:txBody>
      </p:sp>
      <p:sp>
        <p:nvSpPr>
          <p:cNvPr id="12" name="Foliennummernplatzhalter 11">
            <a:extLst>
              <a:ext uri="{FF2B5EF4-FFF2-40B4-BE49-F238E27FC236}">
                <a16:creationId xmlns:a16="http://schemas.microsoft.com/office/drawing/2014/main" id="{EBFB4D11-F600-12A5-E5C2-DCA390332C8E}"/>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3" name="Textplatzhalter 16">
            <a:extLst>
              <a:ext uri="{FF2B5EF4-FFF2-40B4-BE49-F238E27FC236}">
                <a16:creationId xmlns:a16="http://schemas.microsoft.com/office/drawing/2014/main" id="{39AFE95F-2805-F887-3AF4-313C835B1731}"/>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3778992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er">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AA9CAB1E-C3D8-B43B-64D5-963D13F3D840}"/>
              </a:ext>
            </a:extLst>
          </p:cNvPr>
          <p:cNvSpPr>
            <a:spLocks noGrp="1"/>
          </p:cNvSpPr>
          <p:nvPr>
            <p:ph type="dt" sz="half" idx="10"/>
          </p:nvPr>
        </p:nvSpPr>
        <p:spPr/>
        <p:txBody>
          <a:bodyPr/>
          <a:lstStyle/>
          <a:p>
            <a:r>
              <a:rPr lang="en-US"/>
              <a:t>16/12/2025</a:t>
            </a:r>
          </a:p>
        </p:txBody>
      </p:sp>
      <p:sp>
        <p:nvSpPr>
          <p:cNvPr id="6" name="Fußzeilenplatzhalter 5">
            <a:extLst>
              <a:ext uri="{FF2B5EF4-FFF2-40B4-BE49-F238E27FC236}">
                <a16:creationId xmlns:a16="http://schemas.microsoft.com/office/drawing/2014/main" id="{3B3E84C0-2A5E-8136-84E3-1F57CD264AF4}"/>
              </a:ext>
            </a:extLst>
          </p:cNvPr>
          <p:cNvSpPr>
            <a:spLocks noGrp="1"/>
          </p:cNvSpPr>
          <p:nvPr>
            <p:ph type="ftr" sz="quarter" idx="11"/>
          </p:nvPr>
        </p:nvSpPr>
        <p:spPr/>
        <p:txBody>
          <a:bodyPr/>
          <a:lstStyle/>
          <a:p>
            <a:r>
              <a:rPr lang="sv-SE"/>
              <a:t>Feedback &amp; Lidar Controller  / Optimus Syria</a:t>
            </a:r>
            <a:endParaRPr lang="en-US"/>
          </a:p>
        </p:txBody>
      </p:sp>
      <p:sp>
        <p:nvSpPr>
          <p:cNvPr id="7" name="Foliennummernplatzhalter 6">
            <a:extLst>
              <a:ext uri="{FF2B5EF4-FFF2-40B4-BE49-F238E27FC236}">
                <a16:creationId xmlns:a16="http://schemas.microsoft.com/office/drawing/2014/main" id="{279EE80A-8782-7800-16FF-963D026BCCF5}"/>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8" name="Textplatzhalter 16">
            <a:extLst>
              <a:ext uri="{FF2B5EF4-FFF2-40B4-BE49-F238E27FC236}">
                <a16:creationId xmlns:a16="http://schemas.microsoft.com/office/drawing/2014/main" id="{CFBF4831-0820-F79B-E15A-914A0E578D4E}"/>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1888053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nhalt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4D20E-7D43-D4CD-1058-46300B8EE4F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EB6584A-B476-0EA1-C12B-07C273F70E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1694232-1597-B186-D108-397BCF214D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umsplatzhalter 7">
            <a:extLst>
              <a:ext uri="{FF2B5EF4-FFF2-40B4-BE49-F238E27FC236}">
                <a16:creationId xmlns:a16="http://schemas.microsoft.com/office/drawing/2014/main" id="{63342531-5FA3-5F71-CEB1-CFCD86F1701F}"/>
              </a:ext>
            </a:extLst>
          </p:cNvPr>
          <p:cNvSpPr>
            <a:spLocks noGrp="1"/>
          </p:cNvSpPr>
          <p:nvPr>
            <p:ph type="dt" sz="half" idx="10"/>
          </p:nvPr>
        </p:nvSpPr>
        <p:spPr/>
        <p:txBody>
          <a:bodyPr/>
          <a:lstStyle/>
          <a:p>
            <a:r>
              <a:rPr lang="en-US"/>
              <a:t>16/12/2025</a:t>
            </a:r>
          </a:p>
        </p:txBody>
      </p:sp>
      <p:sp>
        <p:nvSpPr>
          <p:cNvPr id="9" name="Fußzeilenplatzhalter 8">
            <a:extLst>
              <a:ext uri="{FF2B5EF4-FFF2-40B4-BE49-F238E27FC236}">
                <a16:creationId xmlns:a16="http://schemas.microsoft.com/office/drawing/2014/main" id="{0D108632-F456-C23D-6809-CF44E36A522C}"/>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14F6375C-67FA-9BF2-A821-A5611C211C9C}"/>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6E6CFA6E-C964-BB71-3D6D-D966EE46607E}"/>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611413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ild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2DC87-27CE-5A07-9629-719DC91DE4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F65E744-3606-1D16-E7B2-58DAFC3E8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EEA9C703-BF20-85AF-358A-01ADED33C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umsplatzhalter 7">
            <a:extLst>
              <a:ext uri="{FF2B5EF4-FFF2-40B4-BE49-F238E27FC236}">
                <a16:creationId xmlns:a16="http://schemas.microsoft.com/office/drawing/2014/main" id="{0DAC50BC-A24B-779F-0533-7A27D611B159}"/>
              </a:ext>
            </a:extLst>
          </p:cNvPr>
          <p:cNvSpPr>
            <a:spLocks noGrp="1"/>
          </p:cNvSpPr>
          <p:nvPr>
            <p:ph type="dt" sz="half" idx="10"/>
          </p:nvPr>
        </p:nvSpPr>
        <p:spPr/>
        <p:txBody>
          <a:bodyPr/>
          <a:lstStyle/>
          <a:p>
            <a:r>
              <a:rPr lang="en-US"/>
              <a:t>16/12/2025</a:t>
            </a:r>
          </a:p>
        </p:txBody>
      </p:sp>
      <p:sp>
        <p:nvSpPr>
          <p:cNvPr id="9" name="Fußzeilenplatzhalter 8">
            <a:extLst>
              <a:ext uri="{FF2B5EF4-FFF2-40B4-BE49-F238E27FC236}">
                <a16:creationId xmlns:a16="http://schemas.microsoft.com/office/drawing/2014/main" id="{2B06DBDC-0EA1-59AB-DB5D-AEE297E61849}"/>
              </a:ext>
            </a:extLst>
          </p:cNvPr>
          <p:cNvSpPr>
            <a:spLocks noGrp="1"/>
          </p:cNvSpPr>
          <p:nvPr>
            <p:ph type="ftr" sz="quarter" idx="11"/>
          </p:nvPr>
        </p:nvSpPr>
        <p:spPr/>
        <p:txBody>
          <a:bodyPr/>
          <a:lstStyle/>
          <a:p>
            <a:r>
              <a:rPr lang="sv-SE"/>
              <a:t>Feedback &amp; Lidar Controller  / Optimus Syria</a:t>
            </a:r>
            <a:endParaRPr lang="en-US"/>
          </a:p>
        </p:txBody>
      </p:sp>
      <p:sp>
        <p:nvSpPr>
          <p:cNvPr id="10" name="Foliennummernplatzhalter 9">
            <a:extLst>
              <a:ext uri="{FF2B5EF4-FFF2-40B4-BE49-F238E27FC236}">
                <a16:creationId xmlns:a16="http://schemas.microsoft.com/office/drawing/2014/main" id="{3EB43FC5-BB47-1A87-75C6-C0AFB5C7235F}"/>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1" name="Textplatzhalter 16">
            <a:extLst>
              <a:ext uri="{FF2B5EF4-FFF2-40B4-BE49-F238E27FC236}">
                <a16:creationId xmlns:a16="http://schemas.microsoft.com/office/drawing/2014/main" id="{680B36F8-3A7C-6F05-A0AB-F3F43BA0922B}"/>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209988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el und vertikaler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44B09-72C5-4D15-0E4C-46764EB8C8D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1B470E9-1D3C-D5B3-7A54-66BD900997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umsplatzhalter 6">
            <a:extLst>
              <a:ext uri="{FF2B5EF4-FFF2-40B4-BE49-F238E27FC236}">
                <a16:creationId xmlns:a16="http://schemas.microsoft.com/office/drawing/2014/main" id="{0C34C088-08EA-3896-8F05-16D82C511456}"/>
              </a:ext>
            </a:extLst>
          </p:cNvPr>
          <p:cNvSpPr>
            <a:spLocks noGrp="1"/>
          </p:cNvSpPr>
          <p:nvPr>
            <p:ph type="dt" sz="half" idx="10"/>
          </p:nvPr>
        </p:nvSpPr>
        <p:spPr/>
        <p:txBody>
          <a:bodyPr/>
          <a:lstStyle/>
          <a:p>
            <a:r>
              <a:rPr lang="en-US"/>
              <a:t>16/12/2025</a:t>
            </a:r>
          </a:p>
        </p:txBody>
      </p:sp>
      <p:sp>
        <p:nvSpPr>
          <p:cNvPr id="8" name="Fußzeilenplatzhalter 7">
            <a:extLst>
              <a:ext uri="{FF2B5EF4-FFF2-40B4-BE49-F238E27FC236}">
                <a16:creationId xmlns:a16="http://schemas.microsoft.com/office/drawing/2014/main" id="{08EA7E74-7B1F-8648-209E-BFE07FF1E458}"/>
              </a:ext>
            </a:extLst>
          </p:cNvPr>
          <p:cNvSpPr>
            <a:spLocks noGrp="1"/>
          </p:cNvSpPr>
          <p:nvPr>
            <p:ph type="ftr" sz="quarter" idx="11"/>
          </p:nvPr>
        </p:nvSpPr>
        <p:spPr/>
        <p:txBody>
          <a:bodyPr/>
          <a:lstStyle/>
          <a:p>
            <a:r>
              <a:rPr lang="sv-SE"/>
              <a:t>Feedback &amp; Lidar Controller  / Optimus Syria</a:t>
            </a:r>
            <a:endParaRPr lang="en-US"/>
          </a:p>
        </p:txBody>
      </p:sp>
      <p:sp>
        <p:nvSpPr>
          <p:cNvPr id="9" name="Foliennummernplatzhalter 8">
            <a:extLst>
              <a:ext uri="{FF2B5EF4-FFF2-40B4-BE49-F238E27FC236}">
                <a16:creationId xmlns:a16="http://schemas.microsoft.com/office/drawing/2014/main" id="{62B97D1D-1741-1791-CBA3-FA5CA67CA7DB}"/>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0" name="Textplatzhalter 16">
            <a:extLst>
              <a:ext uri="{FF2B5EF4-FFF2-40B4-BE49-F238E27FC236}">
                <a16:creationId xmlns:a16="http://schemas.microsoft.com/office/drawing/2014/main" id="{6A2FA29E-F5F4-39E0-E0C6-CACC20E04F15}"/>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15552020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Vertikaler Titel u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68A110-A33F-744D-89CB-FFCF49E08A8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DB6FACB-31E5-361F-D71D-18FCBA5503E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umsplatzhalter 6">
            <a:extLst>
              <a:ext uri="{FF2B5EF4-FFF2-40B4-BE49-F238E27FC236}">
                <a16:creationId xmlns:a16="http://schemas.microsoft.com/office/drawing/2014/main" id="{05945ED5-EBD1-3567-F959-B92E831E5149}"/>
              </a:ext>
            </a:extLst>
          </p:cNvPr>
          <p:cNvSpPr>
            <a:spLocks noGrp="1"/>
          </p:cNvSpPr>
          <p:nvPr>
            <p:ph type="dt" sz="half" idx="10"/>
          </p:nvPr>
        </p:nvSpPr>
        <p:spPr/>
        <p:txBody>
          <a:bodyPr/>
          <a:lstStyle/>
          <a:p>
            <a:r>
              <a:rPr lang="en-US"/>
              <a:t>16/12/2025</a:t>
            </a:r>
          </a:p>
        </p:txBody>
      </p:sp>
      <p:sp>
        <p:nvSpPr>
          <p:cNvPr id="8" name="Fußzeilenplatzhalter 7">
            <a:extLst>
              <a:ext uri="{FF2B5EF4-FFF2-40B4-BE49-F238E27FC236}">
                <a16:creationId xmlns:a16="http://schemas.microsoft.com/office/drawing/2014/main" id="{CBB6A4D0-1BA6-C02F-BE18-391B96E98DE3}"/>
              </a:ext>
            </a:extLst>
          </p:cNvPr>
          <p:cNvSpPr>
            <a:spLocks noGrp="1"/>
          </p:cNvSpPr>
          <p:nvPr>
            <p:ph type="ftr" sz="quarter" idx="11"/>
          </p:nvPr>
        </p:nvSpPr>
        <p:spPr/>
        <p:txBody>
          <a:bodyPr/>
          <a:lstStyle/>
          <a:p>
            <a:r>
              <a:rPr lang="sv-SE"/>
              <a:t>Feedback &amp; Lidar Controller  / Optimus Syria</a:t>
            </a:r>
            <a:endParaRPr lang="en-US"/>
          </a:p>
        </p:txBody>
      </p:sp>
      <p:sp>
        <p:nvSpPr>
          <p:cNvPr id="9" name="Foliennummernplatzhalter 8">
            <a:extLst>
              <a:ext uri="{FF2B5EF4-FFF2-40B4-BE49-F238E27FC236}">
                <a16:creationId xmlns:a16="http://schemas.microsoft.com/office/drawing/2014/main" id="{9412E4BF-484F-C87E-8228-534B62A6BCEA}"/>
              </a:ext>
            </a:extLst>
          </p:cNvPr>
          <p:cNvSpPr>
            <a:spLocks noGrp="1"/>
          </p:cNvSpPr>
          <p:nvPr>
            <p:ph type="sldNum" sz="quarter" idx="12"/>
          </p:nvPr>
        </p:nvSpPr>
        <p:spPr/>
        <p:txBody>
          <a:bodyPr/>
          <a:lstStyle/>
          <a:p>
            <a:fld id="{3A84E93A-72FE-4BB6-A500-FB6DD421822B}" type="slidenum">
              <a:rPr lang="en-US" smtClean="0"/>
              <a:t>‹#›</a:t>
            </a:fld>
            <a:endParaRPr lang="en-US"/>
          </a:p>
        </p:txBody>
      </p:sp>
      <p:sp>
        <p:nvSpPr>
          <p:cNvPr id="10" name="Textplatzhalter 16">
            <a:extLst>
              <a:ext uri="{FF2B5EF4-FFF2-40B4-BE49-F238E27FC236}">
                <a16:creationId xmlns:a16="http://schemas.microsoft.com/office/drawing/2014/main" id="{A24C13F3-9C79-1E9F-ED48-61D2AD9586E3}"/>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a:t>Group </a:t>
            </a:r>
            <a:r>
              <a:rPr lang="de-DE" err="1"/>
              <a:t>members</a:t>
            </a:r>
            <a:r>
              <a:rPr lang="de-DE"/>
              <a:t>…</a:t>
            </a:r>
          </a:p>
        </p:txBody>
      </p:sp>
    </p:spTree>
    <p:extLst>
      <p:ext uri="{BB962C8B-B14F-4D97-AF65-F5344CB8AC3E}">
        <p14:creationId xmlns:p14="http://schemas.microsoft.com/office/powerpoint/2010/main" val="2207005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8792-EDF0-A005-2CE2-24C261AC645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CB3DE22-B4B9-EA44-EF61-D733C53BE7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FD83C22-FDA0-3E63-68DD-4A6E7DD4C181}"/>
              </a:ext>
            </a:extLst>
          </p:cNvPr>
          <p:cNvSpPr>
            <a:spLocks noGrp="1"/>
          </p:cNvSpPr>
          <p:nvPr>
            <p:ph type="dt" sz="half" idx="10"/>
          </p:nvPr>
        </p:nvSpPr>
        <p:spPr/>
        <p:txBody>
          <a:bodyPr/>
          <a:lstStyle/>
          <a:p>
            <a:r>
              <a:rPr lang="en-US"/>
              <a:t>16/12/2025</a:t>
            </a:r>
          </a:p>
        </p:txBody>
      </p:sp>
      <p:sp>
        <p:nvSpPr>
          <p:cNvPr id="5" name="Footer Placeholder 4">
            <a:extLst>
              <a:ext uri="{FF2B5EF4-FFF2-40B4-BE49-F238E27FC236}">
                <a16:creationId xmlns:a16="http://schemas.microsoft.com/office/drawing/2014/main" id="{38D04B19-AF55-A977-1451-9DC5DC1FE3D7}"/>
              </a:ext>
            </a:extLst>
          </p:cNvPr>
          <p:cNvSpPr>
            <a:spLocks noGrp="1"/>
          </p:cNvSpPr>
          <p:nvPr>
            <p:ph type="ftr" sz="quarter" idx="11"/>
          </p:nvPr>
        </p:nvSpPr>
        <p:spPr/>
        <p:txBody>
          <a:bodyPr/>
          <a:lstStyle/>
          <a:p>
            <a:r>
              <a:rPr lang="sv-SE"/>
              <a:t>Feedback &amp; Lidar Controller  / Optimus Syria</a:t>
            </a:r>
            <a:endParaRPr lang="en-US"/>
          </a:p>
        </p:txBody>
      </p:sp>
      <p:sp>
        <p:nvSpPr>
          <p:cNvPr id="6" name="Slide Number Placeholder 5">
            <a:extLst>
              <a:ext uri="{FF2B5EF4-FFF2-40B4-BE49-F238E27FC236}">
                <a16:creationId xmlns:a16="http://schemas.microsoft.com/office/drawing/2014/main" id="{879D61A8-50FB-0E57-BC6B-11987F025692}"/>
              </a:ext>
            </a:extLst>
          </p:cNvPr>
          <p:cNvSpPr>
            <a:spLocks noGrp="1"/>
          </p:cNvSpPr>
          <p:nvPr>
            <p:ph type="sldNum" sz="quarter" idx="12"/>
          </p:nvPr>
        </p:nvSpPr>
        <p:spPr/>
        <p:txBody>
          <a:bodyPr/>
          <a:lstStyle/>
          <a:p>
            <a:fld id="{3A84E93A-72FE-4BB6-A500-FB6DD421822B}" type="slidenum">
              <a:rPr lang="en-US" smtClean="0"/>
              <a:t>‹#›</a:t>
            </a:fld>
            <a:endParaRPr lang="en-US"/>
          </a:p>
        </p:txBody>
      </p:sp>
    </p:spTree>
    <p:extLst>
      <p:ext uri="{BB962C8B-B14F-4D97-AF65-F5344CB8AC3E}">
        <p14:creationId xmlns:p14="http://schemas.microsoft.com/office/powerpoint/2010/main" val="13087888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el slide 1">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7E6E28C-7B17-1432-D698-5D8867EE337B}"/>
              </a:ext>
            </a:extLst>
          </p:cNvPr>
          <p:cNvSpPr txBox="1">
            <a:spLocks/>
          </p:cNvSpPr>
          <p:nvPr/>
        </p:nvSpPr>
        <p:spPr>
          <a:xfrm>
            <a:off x="1412841" y="2281143"/>
            <a:ext cx="9144000" cy="912598"/>
          </a:xfrm>
          <a:prstGeom prst="rect">
            <a:avLst/>
          </a:prstGeom>
        </p:spPr>
        <p:txBody>
          <a:bodyPr vert="horz" lIns="91440" tIns="45720" rIns="91440" bIns="45720" rtlCol="0" anchor="b">
            <a:noAutofit/>
            <a:scene3d>
              <a:camera prst="orthographicFront"/>
              <a:lightRig rig="harsh" dir="t"/>
            </a:scene3d>
            <a:sp3d extrusionH="57150" prstMaterial="matte">
              <a:bevelT w="63500" h="12700" prst="angle"/>
              <a:contourClr>
                <a:schemeClr val="bg1">
                  <a:lumMod val="65000"/>
                </a:schemeClr>
              </a:contourClr>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it-IT" sz="6600" b="1" i="0" u="none" strike="noStrike" kern="1200" cap="none" spc="0" normalizeH="0" baseline="0" noProof="0">
                <a:ln/>
                <a:solidFill>
                  <a:srgbClr val="156082"/>
                </a:solidFill>
                <a:effectLst/>
                <a:uLnTx/>
                <a:uFillTx/>
                <a:latin typeface="Times New Roman" panose="02020603050405020304" pitchFamily="18" charset="0"/>
                <a:ea typeface="+mj-ea"/>
                <a:cs typeface="Times New Roman" panose="02020603050405020304" pitchFamily="18" charset="0"/>
              </a:rPr>
              <a:t>Optimus Syria</a:t>
            </a:r>
            <a:endParaRPr kumimoji="0" lang="en-GB" sz="6600" b="1" i="0" u="none" strike="noStrike" kern="1200" cap="none" spc="0" normalizeH="0" baseline="0" noProof="0">
              <a:ln/>
              <a:solidFill>
                <a:srgbClr val="156082"/>
              </a:solidFill>
              <a:effectLst/>
              <a:uLnTx/>
              <a:uFillTx/>
              <a:latin typeface="Times New Roman" panose="02020603050405020304" pitchFamily="18" charset="0"/>
              <a:ea typeface="+mj-ea"/>
              <a:cs typeface="Times New Roman" panose="02020603050405020304" pitchFamily="18" charset="0"/>
            </a:endParaRPr>
          </a:p>
        </p:txBody>
      </p:sp>
      <p:pic>
        <p:nvPicPr>
          <p:cNvPr id="9" name="Picture 8" descr="Hochschule Flensburg (Fachhochschule) – Wikipedia">
            <a:extLst>
              <a:ext uri="{FF2B5EF4-FFF2-40B4-BE49-F238E27FC236}">
                <a16:creationId xmlns:a16="http://schemas.microsoft.com/office/drawing/2014/main" id="{A98E8D30-71DB-C779-1E77-2B8D1F32463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77870" y="80932"/>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10" name="Picture 14" descr="A black background with blue text&#10;&#10;AI-generated content may be incorrect.">
            <a:extLst>
              <a:ext uri="{FF2B5EF4-FFF2-40B4-BE49-F238E27FC236}">
                <a16:creationId xmlns:a16="http://schemas.microsoft.com/office/drawing/2014/main" id="{7FC9E882-BB5D-1CC3-9AD4-1ADE555B839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95999" y="33018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11" name="Grafik 10">
            <a:extLst>
              <a:ext uri="{FF2B5EF4-FFF2-40B4-BE49-F238E27FC236}">
                <a16:creationId xmlns:a16="http://schemas.microsoft.com/office/drawing/2014/main" id="{3EFF5A11-92DF-BC35-55CA-EECA202C55B3}"/>
              </a:ext>
            </a:extLst>
          </p:cNvPr>
          <p:cNvPicPr>
            <a:picLocks noChangeAspect="1"/>
          </p:cNvPicPr>
          <p:nvPr/>
        </p:nvPicPr>
        <p:blipFill>
          <a:blip r:embed="rId5"/>
          <a:srcRect l="4671"/>
          <a:stretch/>
        </p:blipFill>
        <p:spPr>
          <a:xfrm>
            <a:off x="135741" y="211147"/>
            <a:ext cx="3179298" cy="1541909"/>
          </a:xfrm>
          <a:prstGeom prst="rect">
            <a:avLst/>
          </a:prstGeom>
          <a:ln>
            <a:noFill/>
          </a:ln>
          <a:effectLst>
            <a:softEdge rad="112500"/>
          </a:effectLst>
        </p:spPr>
      </p:pic>
      <p:pic>
        <p:nvPicPr>
          <p:cNvPr id="12" name="Picture 6">
            <a:extLst>
              <a:ext uri="{FF2B5EF4-FFF2-40B4-BE49-F238E27FC236}">
                <a16:creationId xmlns:a16="http://schemas.microsoft.com/office/drawing/2014/main" id="{D0057AC6-E958-18E0-BF43-7A806C66C9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42029" y="191498"/>
            <a:ext cx="2355285" cy="2150053"/>
          </a:xfrm>
          <a:prstGeom prst="rect">
            <a:avLst/>
          </a:prstGeom>
          <a:ln>
            <a:noFill/>
          </a:ln>
          <a:effectLst>
            <a:softEdge rad="112500"/>
          </a:effectLst>
        </p:spPr>
      </p:pic>
      <p:sp>
        <p:nvSpPr>
          <p:cNvPr id="18" name="Free-form: Shape 13">
            <a:extLst>
              <a:ext uri="{FF2B5EF4-FFF2-40B4-BE49-F238E27FC236}">
                <a16:creationId xmlns:a16="http://schemas.microsoft.com/office/drawing/2014/main" id="{233C0D9D-B26B-1DCE-8493-626ABDD067F7}"/>
              </a:ext>
            </a:extLst>
          </p:cNvPr>
          <p:cNvSpPr/>
          <p:nvPr/>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3">
            <a:extLst>
              <a:ext uri="{FF2B5EF4-FFF2-40B4-BE49-F238E27FC236}">
                <a16:creationId xmlns:a16="http://schemas.microsoft.com/office/drawing/2014/main" id="{95CC7C89-8F0E-07BF-6D89-44A0358FDFC8}"/>
              </a:ext>
            </a:extLst>
          </p:cNvPr>
          <p:cNvSpPr/>
          <p:nvPr/>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3">
            <a:extLst>
              <a:ext uri="{FF2B5EF4-FFF2-40B4-BE49-F238E27FC236}">
                <a16:creationId xmlns:a16="http://schemas.microsoft.com/office/drawing/2014/main" id="{4FB94905-8FF2-701D-A980-9368DF7EB04F}"/>
              </a:ext>
            </a:extLst>
          </p:cNvPr>
          <p:cNvSpPr/>
          <p:nvPr/>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4" name="Textplatzhalter 13">
            <a:extLst>
              <a:ext uri="{FF2B5EF4-FFF2-40B4-BE49-F238E27FC236}">
                <a16:creationId xmlns:a16="http://schemas.microsoft.com/office/drawing/2014/main" id="{62B0D505-239D-592F-D28C-2537FD6A646E}"/>
              </a:ext>
            </a:extLst>
          </p:cNvPr>
          <p:cNvSpPr>
            <a:spLocks noGrp="1"/>
          </p:cNvSpPr>
          <p:nvPr>
            <p:ph type="body" sz="quarter" idx="13" hasCustomPrompt="1"/>
          </p:nvPr>
        </p:nvSpPr>
        <p:spPr>
          <a:xfrm>
            <a:off x="4192399" y="4130862"/>
            <a:ext cx="3822700" cy="1646695"/>
          </a:xfrm>
        </p:spPr>
        <p:txBody>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1800" b="0" i="0" u="none" strike="noStrike" kern="1200" cap="none" spc="0" normalizeH="0" baseline="0" noProof="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1st Week Kick Off Presentation</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1800" b="0" i="0" u="none" strike="noStrike" kern="1200" cap="none" spc="0" normalizeH="0" baseline="0" noProof="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Date: </a:t>
            </a:r>
            <a:r>
              <a:rPr kumimoji="0" lang="it-IT" sz="1800" b="0" i="0" u="none" strike="noStrike" kern="1200" cap="none" spc="0" normalizeH="0" baseline="0" noProof="0" err="1">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th</a:t>
            </a:r>
            <a:r>
              <a:rPr kumimoji="0" lang="it-IT" sz="1800" b="0" i="0" u="none" strike="noStrike" kern="1200" cap="none" spc="0" normalizeH="0" baseline="0" noProof="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  202X</a:t>
            </a:r>
          </a:p>
          <a:p>
            <a:pPr lvl="4"/>
            <a:endParaRPr lang="de-DE"/>
          </a:p>
        </p:txBody>
      </p:sp>
      <p:sp>
        <p:nvSpPr>
          <p:cNvPr id="15" name="Rechteck 14">
            <a:extLst>
              <a:ext uri="{FF2B5EF4-FFF2-40B4-BE49-F238E27FC236}">
                <a16:creationId xmlns:a16="http://schemas.microsoft.com/office/drawing/2014/main" id="{64AB9256-03E9-9046-0C0F-540CE5905E92}"/>
              </a:ext>
            </a:extLst>
          </p:cNvPr>
          <p:cNvSpPr/>
          <p:nvPr/>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Picture 18" descr="A white windmill with clouds in the background&#10;&#10;AI-generated content may be incorrect.">
            <a:extLst>
              <a:ext uri="{FF2B5EF4-FFF2-40B4-BE49-F238E27FC236}">
                <a16:creationId xmlns:a16="http://schemas.microsoft.com/office/drawing/2014/main" id="{9BDED722-8EE5-8B7F-02CA-CF3939A785C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79950" y="5430021"/>
            <a:ext cx="1753782" cy="1313633"/>
          </a:xfrm>
          <a:prstGeom prst="rect">
            <a:avLst/>
          </a:prstGeom>
        </p:spPr>
      </p:pic>
    </p:spTree>
    <p:extLst>
      <p:ext uri="{BB962C8B-B14F-4D97-AF65-F5344CB8AC3E}">
        <p14:creationId xmlns:p14="http://schemas.microsoft.com/office/powerpoint/2010/main" val="3802491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oup starting slide (Explanation)">
    <p:spTree>
      <p:nvGrpSpPr>
        <p:cNvPr id="1" name=""/>
        <p:cNvGrpSpPr/>
        <p:nvPr/>
      </p:nvGrpSpPr>
      <p:grpSpPr>
        <a:xfrm>
          <a:off x="0" y="0"/>
          <a:ext cx="0" cy="0"/>
          <a:chOff x="0" y="0"/>
          <a:chExt cx="0" cy="0"/>
        </a:xfrm>
      </p:grpSpPr>
      <p:sp>
        <p:nvSpPr>
          <p:cNvPr id="23" name="Free-form: Shape 13">
            <a:extLst>
              <a:ext uri="{FF2B5EF4-FFF2-40B4-BE49-F238E27FC236}">
                <a16:creationId xmlns:a16="http://schemas.microsoft.com/office/drawing/2014/main" id="{006CCD24-9C06-8926-5E3D-FFE059D5F3D2}"/>
              </a:ext>
            </a:extLst>
          </p:cNvPr>
          <p:cNvSpPr/>
          <p:nvPr/>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13">
            <a:extLst>
              <a:ext uri="{FF2B5EF4-FFF2-40B4-BE49-F238E27FC236}">
                <a16:creationId xmlns:a16="http://schemas.microsoft.com/office/drawing/2014/main" id="{1157507C-DF41-F2F7-53B7-B0DC0D568F3B}"/>
              </a:ext>
            </a:extLst>
          </p:cNvPr>
          <p:cNvSpPr/>
          <p:nvPr/>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13">
            <a:extLst>
              <a:ext uri="{FF2B5EF4-FFF2-40B4-BE49-F238E27FC236}">
                <a16:creationId xmlns:a16="http://schemas.microsoft.com/office/drawing/2014/main" id="{94DF4395-7D7A-F380-6320-D9BE1ED1DA6D}"/>
              </a:ext>
            </a:extLst>
          </p:cNvPr>
          <p:cNvSpPr/>
          <p:nvPr/>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7" name="Picture 8" descr="Hochschule Flensburg (Fachhochschule) – Wikipedia">
            <a:extLst>
              <a:ext uri="{FF2B5EF4-FFF2-40B4-BE49-F238E27FC236}">
                <a16:creationId xmlns:a16="http://schemas.microsoft.com/office/drawing/2014/main" id="{811EE0A2-7B7B-66E3-65D6-A7F1D9F140E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8" name="Picture 14" descr="A black background with blue text&#10;&#10;AI-generated content may be incorrect.">
            <a:extLst>
              <a:ext uri="{FF2B5EF4-FFF2-40B4-BE49-F238E27FC236}">
                <a16:creationId xmlns:a16="http://schemas.microsoft.com/office/drawing/2014/main" id="{88A3D22E-A6EF-A83A-86D5-C96D877CA4B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9" name="Grafik 28">
            <a:extLst>
              <a:ext uri="{FF2B5EF4-FFF2-40B4-BE49-F238E27FC236}">
                <a16:creationId xmlns:a16="http://schemas.microsoft.com/office/drawing/2014/main" id="{427A8DB5-3232-D63A-5CDF-0D3AD6450C3C}"/>
              </a:ext>
            </a:extLst>
          </p:cNvPr>
          <p:cNvPicPr>
            <a:picLocks noChangeAspect="1"/>
          </p:cNvPicPr>
          <p:nvPr/>
        </p:nvPicPr>
        <p:blipFill>
          <a:blip r:embed="rId4"/>
          <a:stretch>
            <a:fillRect/>
          </a:stretch>
        </p:blipFill>
        <p:spPr>
          <a:xfrm>
            <a:off x="3825103" y="243054"/>
            <a:ext cx="3684008" cy="1703223"/>
          </a:xfrm>
          <a:prstGeom prst="rect">
            <a:avLst/>
          </a:prstGeom>
        </p:spPr>
      </p:pic>
      <p:sp>
        <p:nvSpPr>
          <p:cNvPr id="30" name="Title 1">
            <a:extLst>
              <a:ext uri="{FF2B5EF4-FFF2-40B4-BE49-F238E27FC236}">
                <a16:creationId xmlns:a16="http://schemas.microsoft.com/office/drawing/2014/main" id="{00FE6863-2F47-99AC-390A-A1BB2D1DD014}"/>
              </a:ext>
            </a:extLst>
          </p:cNvPr>
          <p:cNvSpPr>
            <a:spLocks noGrp="1"/>
          </p:cNvSpPr>
          <p:nvPr>
            <p:ph type="ctrTitle" hasCustomPrompt="1"/>
          </p:nvPr>
        </p:nvSpPr>
        <p:spPr>
          <a:xfrm>
            <a:off x="1412841" y="2206093"/>
            <a:ext cx="9144000" cy="912598"/>
          </a:xfrm>
        </p:spPr>
        <p:txBody>
          <a:bodyPr>
            <a:noAutofit/>
          </a:bodyPr>
          <a:lstStyle>
            <a:lvl1pPr algn="ctr">
              <a:defRPr>
                <a:latin typeface="Aptos (Textkörper)"/>
              </a:defRPr>
            </a:lvl1pPr>
          </a:lstStyle>
          <a:p>
            <a:r>
              <a:rPr lang="it-IT" sz="4000"/>
              <a:t>Weekly report: Team X</a:t>
            </a:r>
            <a:endParaRPr lang="en-GB" sz="4000"/>
          </a:p>
        </p:txBody>
      </p:sp>
      <p:sp>
        <p:nvSpPr>
          <p:cNvPr id="31" name="Subtitle 2">
            <a:extLst>
              <a:ext uri="{FF2B5EF4-FFF2-40B4-BE49-F238E27FC236}">
                <a16:creationId xmlns:a16="http://schemas.microsoft.com/office/drawing/2014/main" id="{05E4BCC5-2CED-6F6C-22B8-AF74FB7ECFF3}"/>
              </a:ext>
            </a:extLst>
          </p:cNvPr>
          <p:cNvSpPr>
            <a:spLocks noGrp="1"/>
          </p:cNvSpPr>
          <p:nvPr>
            <p:ph type="subTitle" idx="1" hasCustomPrompt="1"/>
          </p:nvPr>
        </p:nvSpPr>
        <p:spPr>
          <a:xfrm>
            <a:off x="1412841" y="3429000"/>
            <a:ext cx="9144000" cy="1143000"/>
          </a:xfrm>
        </p:spPr>
        <p:txBody>
          <a:bodyPr vert="horz" lIns="91440" tIns="45720" rIns="91440" bIns="45720" rtlCol="0" anchor="t">
            <a:normAutofit/>
          </a:bodyPr>
          <a:lstStyle>
            <a:lvl1pPr marL="0" indent="0" algn="ctr">
              <a:buNone/>
              <a:defRPr sz="1400">
                <a:latin typeface="Aptos (Textkörper)"/>
              </a:defRPr>
            </a:lvl1pPr>
          </a:lstStyle>
          <a:p>
            <a:r>
              <a:rPr lang="it-IT" sz="2000"/>
              <a:t>Week </a:t>
            </a:r>
            <a:r>
              <a:rPr lang="it-IT" sz="2000" err="1"/>
              <a:t>number</a:t>
            </a:r>
            <a:r>
              <a:rPr lang="it-IT" sz="2000"/>
              <a:t>: X</a:t>
            </a:r>
          </a:p>
          <a:p>
            <a:r>
              <a:rPr lang="it-IT" sz="2000"/>
              <a:t>Date: DD/MM/20JJ</a:t>
            </a:r>
          </a:p>
          <a:p>
            <a:r>
              <a:rPr lang="it-IT" sz="2000"/>
              <a:t>Supervisor: X</a:t>
            </a:r>
          </a:p>
        </p:txBody>
      </p:sp>
      <p:sp>
        <p:nvSpPr>
          <p:cNvPr id="33" name="Isosceles Triangle 6">
            <a:extLst>
              <a:ext uri="{FF2B5EF4-FFF2-40B4-BE49-F238E27FC236}">
                <a16:creationId xmlns:a16="http://schemas.microsoft.com/office/drawing/2014/main" id="{8F14EFAA-BA4A-16CF-D530-1409613BCF5B}"/>
              </a:ext>
            </a:extLst>
          </p:cNvPr>
          <p:cNvSpPr/>
          <p:nvPr/>
        </p:nvSpPr>
        <p:spPr>
          <a:xfrm>
            <a:off x="1412841" y="3797919"/>
            <a:ext cx="1380683" cy="886192"/>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4" name="Rectangle 7">
            <a:extLst>
              <a:ext uri="{FF2B5EF4-FFF2-40B4-BE49-F238E27FC236}">
                <a16:creationId xmlns:a16="http://schemas.microsoft.com/office/drawing/2014/main" id="{8CE1E011-6342-172C-03D6-BB39C24A4CCA}"/>
              </a:ext>
            </a:extLst>
          </p:cNvPr>
          <p:cNvSpPr/>
          <p:nvPr/>
        </p:nvSpPr>
        <p:spPr>
          <a:xfrm>
            <a:off x="354584" y="4714776"/>
            <a:ext cx="3512337" cy="95079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a:t>First slide for groups</a:t>
            </a:r>
            <a:endParaRPr lang="en-GB"/>
          </a:p>
        </p:txBody>
      </p:sp>
      <p:sp>
        <p:nvSpPr>
          <p:cNvPr id="35" name="Rectangle 11">
            <a:extLst>
              <a:ext uri="{FF2B5EF4-FFF2-40B4-BE49-F238E27FC236}">
                <a16:creationId xmlns:a16="http://schemas.microsoft.com/office/drawing/2014/main" id="{6845F127-8728-66DF-03BE-17119A20BE05}"/>
              </a:ext>
            </a:extLst>
          </p:cNvPr>
          <p:cNvSpPr/>
          <p:nvPr/>
        </p:nvSpPr>
        <p:spPr>
          <a:xfrm>
            <a:off x="1860787" y="3750629"/>
            <a:ext cx="484789" cy="1200329"/>
          </a:xfrm>
          <a:prstGeom prst="rect">
            <a:avLst/>
          </a:prstGeom>
          <a:noFill/>
        </p:spPr>
        <p:txBody>
          <a:bodyPr wrap="square" lIns="91440" tIns="45720" rIns="91440" bIns="45720">
            <a:spAutoFit/>
          </a:bodyPr>
          <a:lstStyle/>
          <a:p>
            <a:pPr algn="ctr"/>
            <a:r>
              <a:rPr lang="en-GB" sz="7200" b="1" cap="none" spc="0">
                <a:ln w="0"/>
                <a:solidFill>
                  <a:schemeClr val="tx1"/>
                </a:solidFill>
              </a:rPr>
              <a:t>!</a:t>
            </a:r>
          </a:p>
        </p:txBody>
      </p:sp>
      <p:sp>
        <p:nvSpPr>
          <p:cNvPr id="36" name="Text Placeholder 2">
            <a:extLst>
              <a:ext uri="{FF2B5EF4-FFF2-40B4-BE49-F238E27FC236}">
                <a16:creationId xmlns:a16="http://schemas.microsoft.com/office/drawing/2014/main" id="{C16AED5E-219C-C34B-7790-17DE2532E623}"/>
              </a:ext>
            </a:extLst>
          </p:cNvPr>
          <p:cNvSpPr>
            <a:spLocks noGrp="1"/>
          </p:cNvSpPr>
          <p:nvPr>
            <p:ph type="body" idx="10" hasCustomPrompt="1"/>
          </p:nvPr>
        </p:nvSpPr>
        <p:spPr>
          <a:xfrm>
            <a:off x="3316826" y="4882309"/>
            <a:ext cx="5128821" cy="331717"/>
          </a:xfrm>
        </p:spPr>
        <p:txBody>
          <a:bodyPr anchor="b">
            <a:noAutofit/>
          </a:bodyPr>
          <a:lstStyle>
            <a:lvl1pPr marL="0" indent="0" algn="ctr">
              <a:buNone/>
              <a:defRPr sz="1400" b="0">
                <a:latin typeface="Aptos (Textkörpe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Group </a:t>
            </a:r>
            <a:r>
              <a:rPr lang="de-DE" err="1"/>
              <a:t>members</a:t>
            </a:r>
            <a:r>
              <a:rPr lang="de-DE"/>
              <a:t>: </a:t>
            </a:r>
          </a:p>
        </p:txBody>
      </p:sp>
      <p:sp>
        <p:nvSpPr>
          <p:cNvPr id="37" name="Rechteck 36">
            <a:extLst>
              <a:ext uri="{FF2B5EF4-FFF2-40B4-BE49-F238E27FC236}">
                <a16:creationId xmlns:a16="http://schemas.microsoft.com/office/drawing/2014/main" id="{64DF9F8D-C604-6899-2A9F-B743F135F77F}"/>
              </a:ext>
            </a:extLst>
          </p:cNvPr>
          <p:cNvSpPr/>
          <p:nvPr/>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6" name="Picture 18" descr="A white windmill with clouds in the background&#10;&#10;AI-generated content may be incorrect.">
            <a:extLst>
              <a:ext uri="{FF2B5EF4-FFF2-40B4-BE49-F238E27FC236}">
                <a16:creationId xmlns:a16="http://schemas.microsoft.com/office/drawing/2014/main" id="{B8218494-1E39-5AB1-96DD-936404956E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79950" y="5430021"/>
            <a:ext cx="1753782" cy="1313633"/>
          </a:xfrm>
          <a:prstGeom prst="rect">
            <a:avLst/>
          </a:prstGeom>
        </p:spPr>
      </p:pic>
      <p:sp>
        <p:nvSpPr>
          <p:cNvPr id="5" name="Rectangle 7">
            <a:extLst>
              <a:ext uri="{FF2B5EF4-FFF2-40B4-BE49-F238E27FC236}">
                <a16:creationId xmlns:a16="http://schemas.microsoft.com/office/drawing/2014/main" id="{CA471AD5-5F65-3AF9-9ABB-E6F7475B2672}"/>
              </a:ext>
            </a:extLst>
          </p:cNvPr>
          <p:cNvSpPr/>
          <p:nvPr/>
        </p:nvSpPr>
        <p:spPr>
          <a:xfrm>
            <a:off x="8606553" y="4043001"/>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err="1"/>
              <a:t>This</a:t>
            </a:r>
            <a:r>
              <a:rPr lang="it-IT"/>
              <a:t> slide </a:t>
            </a:r>
            <a:r>
              <a:rPr lang="it-IT" err="1"/>
              <a:t>is</a:t>
            </a:r>
            <a:r>
              <a:rPr lang="it-IT"/>
              <a:t> </a:t>
            </a:r>
            <a:r>
              <a:rPr lang="it-IT" err="1"/>
              <a:t>only</a:t>
            </a:r>
            <a:r>
              <a:rPr lang="it-IT"/>
              <a:t> for </a:t>
            </a:r>
            <a:r>
              <a:rPr lang="it-IT" err="1"/>
              <a:t>explanation</a:t>
            </a:r>
            <a:r>
              <a:rPr lang="it-IT"/>
              <a:t>, </a:t>
            </a:r>
            <a:r>
              <a:rPr lang="it-IT" err="1"/>
              <a:t>dont´t</a:t>
            </a:r>
            <a:r>
              <a:rPr lang="it-IT"/>
              <a:t> use </a:t>
            </a:r>
            <a:r>
              <a:rPr lang="it-IT" err="1"/>
              <a:t>it!</a:t>
            </a:r>
            <a:endParaRPr lang="en-GB"/>
          </a:p>
        </p:txBody>
      </p:sp>
      <p:sp>
        <p:nvSpPr>
          <p:cNvPr id="9" name="Datumsplatzhalter 8">
            <a:extLst>
              <a:ext uri="{FF2B5EF4-FFF2-40B4-BE49-F238E27FC236}">
                <a16:creationId xmlns:a16="http://schemas.microsoft.com/office/drawing/2014/main" id="{92481298-4C0F-EA65-5B6C-A8C699065050}"/>
              </a:ext>
            </a:extLst>
          </p:cNvPr>
          <p:cNvSpPr>
            <a:spLocks noGrp="1"/>
          </p:cNvSpPr>
          <p:nvPr>
            <p:ph type="dt" sz="half" idx="11"/>
          </p:nvPr>
        </p:nvSpPr>
        <p:spPr/>
        <p:txBody>
          <a:bodyPr/>
          <a:lstStyle/>
          <a:p>
            <a:r>
              <a:rPr lang="en-US"/>
              <a:t>16/12/2025</a:t>
            </a:r>
            <a:endParaRPr lang="en-GB"/>
          </a:p>
        </p:txBody>
      </p:sp>
      <p:sp>
        <p:nvSpPr>
          <p:cNvPr id="10" name="Fußzeilenplatzhalter 9">
            <a:extLst>
              <a:ext uri="{FF2B5EF4-FFF2-40B4-BE49-F238E27FC236}">
                <a16:creationId xmlns:a16="http://schemas.microsoft.com/office/drawing/2014/main" id="{FE2B40EC-630A-E9C4-E03F-6B4407322076}"/>
              </a:ext>
            </a:extLst>
          </p:cNvPr>
          <p:cNvSpPr>
            <a:spLocks noGrp="1"/>
          </p:cNvSpPr>
          <p:nvPr>
            <p:ph type="ftr" sz="quarter" idx="12"/>
          </p:nvPr>
        </p:nvSpPr>
        <p:spPr/>
        <p:txBody>
          <a:bodyPr/>
          <a:lstStyle/>
          <a:p>
            <a:r>
              <a:rPr lang="sv-SE"/>
              <a:t>Feedback &amp; Lidar Controller  / Optimus Syria</a:t>
            </a:r>
            <a:endParaRPr lang="en-GB"/>
          </a:p>
        </p:txBody>
      </p:sp>
      <p:sp>
        <p:nvSpPr>
          <p:cNvPr id="11" name="Foliennummernplatzhalter 10">
            <a:extLst>
              <a:ext uri="{FF2B5EF4-FFF2-40B4-BE49-F238E27FC236}">
                <a16:creationId xmlns:a16="http://schemas.microsoft.com/office/drawing/2014/main" id="{B363FCB4-D064-121D-B878-2F1607405806}"/>
              </a:ext>
            </a:extLst>
          </p:cNvPr>
          <p:cNvSpPr>
            <a:spLocks noGrp="1"/>
          </p:cNvSpPr>
          <p:nvPr>
            <p:ph type="sldNum" sz="quarter" idx="13"/>
          </p:nvPr>
        </p:nvSpPr>
        <p:spPr/>
        <p:txBody>
          <a:bodyPr/>
          <a:lstStyle/>
          <a:p>
            <a:fld id="{013F6232-4F06-48BA-8F69-BF531F607829}" type="slidenum">
              <a:rPr lang="en-GB" smtClean="0"/>
              <a:pPr/>
              <a:t>‹#›</a:t>
            </a:fld>
            <a:endParaRPr lang="en-GB"/>
          </a:p>
        </p:txBody>
      </p:sp>
    </p:spTree>
    <p:extLst>
      <p:ext uri="{BB962C8B-B14F-4D97-AF65-F5344CB8AC3E}">
        <p14:creationId xmlns:p14="http://schemas.microsoft.com/office/powerpoint/2010/main" val="13619560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oup starting slide">
    <p:spTree>
      <p:nvGrpSpPr>
        <p:cNvPr id="1" name=""/>
        <p:cNvGrpSpPr/>
        <p:nvPr/>
      </p:nvGrpSpPr>
      <p:grpSpPr>
        <a:xfrm>
          <a:off x="0" y="0"/>
          <a:ext cx="0" cy="0"/>
          <a:chOff x="0" y="0"/>
          <a:chExt cx="0" cy="0"/>
        </a:xfrm>
      </p:grpSpPr>
      <p:sp>
        <p:nvSpPr>
          <p:cNvPr id="23" name="Free-form: Shape 13">
            <a:extLst>
              <a:ext uri="{FF2B5EF4-FFF2-40B4-BE49-F238E27FC236}">
                <a16:creationId xmlns:a16="http://schemas.microsoft.com/office/drawing/2014/main" id="{006CCD24-9C06-8926-5E3D-FFE059D5F3D2}"/>
              </a:ext>
            </a:extLst>
          </p:cNvPr>
          <p:cNvSpPr/>
          <p:nvPr/>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13">
            <a:extLst>
              <a:ext uri="{FF2B5EF4-FFF2-40B4-BE49-F238E27FC236}">
                <a16:creationId xmlns:a16="http://schemas.microsoft.com/office/drawing/2014/main" id="{1157507C-DF41-F2F7-53B7-B0DC0D568F3B}"/>
              </a:ext>
            </a:extLst>
          </p:cNvPr>
          <p:cNvSpPr/>
          <p:nvPr/>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13">
            <a:extLst>
              <a:ext uri="{FF2B5EF4-FFF2-40B4-BE49-F238E27FC236}">
                <a16:creationId xmlns:a16="http://schemas.microsoft.com/office/drawing/2014/main" id="{94DF4395-7D7A-F380-6320-D9BE1ED1DA6D}"/>
              </a:ext>
            </a:extLst>
          </p:cNvPr>
          <p:cNvSpPr/>
          <p:nvPr/>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7" name="Picture 8" descr="Hochschule Flensburg (Fachhochschule) – Wikipedia">
            <a:extLst>
              <a:ext uri="{FF2B5EF4-FFF2-40B4-BE49-F238E27FC236}">
                <a16:creationId xmlns:a16="http://schemas.microsoft.com/office/drawing/2014/main" id="{811EE0A2-7B7B-66E3-65D6-A7F1D9F140E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8" name="Picture 14" descr="A black background with blue text&#10;&#10;AI-generated content may be incorrect.">
            <a:extLst>
              <a:ext uri="{FF2B5EF4-FFF2-40B4-BE49-F238E27FC236}">
                <a16:creationId xmlns:a16="http://schemas.microsoft.com/office/drawing/2014/main" id="{88A3D22E-A6EF-A83A-86D5-C96D877CA4B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29" name="Grafik 28">
            <a:extLst>
              <a:ext uri="{FF2B5EF4-FFF2-40B4-BE49-F238E27FC236}">
                <a16:creationId xmlns:a16="http://schemas.microsoft.com/office/drawing/2014/main" id="{427A8DB5-3232-D63A-5CDF-0D3AD6450C3C}"/>
              </a:ext>
            </a:extLst>
          </p:cNvPr>
          <p:cNvPicPr>
            <a:picLocks noChangeAspect="1"/>
          </p:cNvPicPr>
          <p:nvPr/>
        </p:nvPicPr>
        <p:blipFill>
          <a:blip r:embed="rId4"/>
          <a:stretch>
            <a:fillRect/>
          </a:stretch>
        </p:blipFill>
        <p:spPr>
          <a:xfrm>
            <a:off x="3825103" y="243054"/>
            <a:ext cx="3684008" cy="1703223"/>
          </a:xfrm>
          <a:prstGeom prst="rect">
            <a:avLst/>
          </a:prstGeom>
        </p:spPr>
      </p:pic>
      <p:sp>
        <p:nvSpPr>
          <p:cNvPr id="30" name="Title 1">
            <a:extLst>
              <a:ext uri="{FF2B5EF4-FFF2-40B4-BE49-F238E27FC236}">
                <a16:creationId xmlns:a16="http://schemas.microsoft.com/office/drawing/2014/main" id="{00FE6863-2F47-99AC-390A-A1BB2D1DD014}"/>
              </a:ext>
            </a:extLst>
          </p:cNvPr>
          <p:cNvSpPr>
            <a:spLocks noGrp="1"/>
          </p:cNvSpPr>
          <p:nvPr>
            <p:ph type="ctrTitle" hasCustomPrompt="1"/>
          </p:nvPr>
        </p:nvSpPr>
        <p:spPr>
          <a:xfrm>
            <a:off x="1412841" y="2206093"/>
            <a:ext cx="9144000" cy="912598"/>
          </a:xfrm>
        </p:spPr>
        <p:txBody>
          <a:bodyPr>
            <a:noAutofit/>
          </a:bodyPr>
          <a:lstStyle>
            <a:lvl1pPr algn="ctr">
              <a:defRPr>
                <a:latin typeface="Aptos (Textkörper)"/>
              </a:defRPr>
            </a:lvl1pPr>
          </a:lstStyle>
          <a:p>
            <a:r>
              <a:rPr lang="it-IT" sz="4000"/>
              <a:t>Weekly report: Team X</a:t>
            </a:r>
            <a:endParaRPr lang="en-GB" sz="4000"/>
          </a:p>
        </p:txBody>
      </p:sp>
      <p:sp>
        <p:nvSpPr>
          <p:cNvPr id="31" name="Subtitle 2">
            <a:extLst>
              <a:ext uri="{FF2B5EF4-FFF2-40B4-BE49-F238E27FC236}">
                <a16:creationId xmlns:a16="http://schemas.microsoft.com/office/drawing/2014/main" id="{05E4BCC5-2CED-6F6C-22B8-AF74FB7ECFF3}"/>
              </a:ext>
            </a:extLst>
          </p:cNvPr>
          <p:cNvSpPr>
            <a:spLocks noGrp="1" noRot="1" noMove="1" noResize="1" noEditPoints="1" noAdjustHandles="1" noChangeArrowheads="1" noChangeShapeType="1"/>
          </p:cNvSpPr>
          <p:nvPr>
            <p:ph type="subTitle" idx="1" hasCustomPrompt="1"/>
          </p:nvPr>
        </p:nvSpPr>
        <p:spPr>
          <a:xfrm>
            <a:off x="1412841" y="3429000"/>
            <a:ext cx="9144000" cy="1143000"/>
          </a:xfrm>
        </p:spPr>
        <p:txBody>
          <a:bodyPr vert="horz" lIns="91440" tIns="45720" rIns="91440" bIns="45720" rtlCol="0" anchor="t">
            <a:normAutofit/>
          </a:bodyPr>
          <a:lstStyle>
            <a:lvl1pPr marL="0" indent="0" algn="ctr">
              <a:buNone/>
              <a:defRPr sz="1400">
                <a:latin typeface="Aptos (Textkörper)"/>
              </a:defRPr>
            </a:lvl1pPr>
          </a:lstStyle>
          <a:p>
            <a:r>
              <a:rPr lang="it-IT" sz="2000"/>
              <a:t>Week </a:t>
            </a:r>
            <a:r>
              <a:rPr lang="it-IT" sz="2000" err="1"/>
              <a:t>number</a:t>
            </a:r>
            <a:r>
              <a:rPr lang="it-IT" sz="2000"/>
              <a:t>: X</a:t>
            </a:r>
          </a:p>
          <a:p>
            <a:r>
              <a:rPr lang="it-IT" sz="2000"/>
              <a:t>Date: DD/MM/20JJ</a:t>
            </a:r>
          </a:p>
          <a:p>
            <a:r>
              <a:rPr lang="it-IT" sz="2000"/>
              <a:t>Supervisor: X</a:t>
            </a:r>
          </a:p>
        </p:txBody>
      </p:sp>
      <p:sp>
        <p:nvSpPr>
          <p:cNvPr id="4" name="Text Placeholder 2">
            <a:extLst>
              <a:ext uri="{FF2B5EF4-FFF2-40B4-BE49-F238E27FC236}">
                <a16:creationId xmlns:a16="http://schemas.microsoft.com/office/drawing/2014/main" id="{05588F89-BF05-8BCF-9834-AE05DA2404B4}"/>
              </a:ext>
            </a:extLst>
          </p:cNvPr>
          <p:cNvSpPr>
            <a:spLocks noGrp="1" noRot="1" noMove="1" noResize="1" noEditPoints="1" noAdjustHandles="1" noChangeArrowheads="1" noChangeShapeType="1"/>
          </p:cNvSpPr>
          <p:nvPr>
            <p:ph type="body" idx="10" hasCustomPrompt="1"/>
          </p:nvPr>
        </p:nvSpPr>
        <p:spPr>
          <a:xfrm>
            <a:off x="3316826" y="4882309"/>
            <a:ext cx="5128821" cy="331717"/>
          </a:xfrm>
        </p:spPr>
        <p:txBody>
          <a:bodyPr anchor="b">
            <a:noAutofit/>
          </a:bodyPr>
          <a:lstStyle>
            <a:lvl1pPr marL="0" indent="0" algn="ctr">
              <a:buNone/>
              <a:defRPr sz="1400" b="0">
                <a:latin typeface="Aptos (Textkörpe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Group </a:t>
            </a:r>
            <a:r>
              <a:rPr lang="de-DE" err="1"/>
              <a:t>members</a:t>
            </a:r>
            <a:r>
              <a:rPr lang="de-DE"/>
              <a:t>: </a:t>
            </a:r>
          </a:p>
        </p:txBody>
      </p:sp>
      <p:sp>
        <p:nvSpPr>
          <p:cNvPr id="9" name="Rechteck 8">
            <a:extLst>
              <a:ext uri="{FF2B5EF4-FFF2-40B4-BE49-F238E27FC236}">
                <a16:creationId xmlns:a16="http://schemas.microsoft.com/office/drawing/2014/main" id="{83077A87-075C-C9F1-CF08-7A350F77E612}"/>
              </a:ext>
            </a:extLst>
          </p:cNvPr>
          <p:cNvSpPr/>
          <p:nvPr/>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6" name="Picture 18" descr="A white windmill with clouds in the background&#10;&#10;AI-generated content may be incorrect.">
            <a:extLst>
              <a:ext uri="{FF2B5EF4-FFF2-40B4-BE49-F238E27FC236}">
                <a16:creationId xmlns:a16="http://schemas.microsoft.com/office/drawing/2014/main" id="{B8218494-1E39-5AB1-96DD-936404956E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79950" y="5430021"/>
            <a:ext cx="1753782" cy="1313633"/>
          </a:xfrm>
          <a:prstGeom prst="rect">
            <a:avLst/>
          </a:prstGeom>
        </p:spPr>
      </p:pic>
      <p:sp>
        <p:nvSpPr>
          <p:cNvPr id="5" name="Datumsplatzhalter 4">
            <a:extLst>
              <a:ext uri="{FF2B5EF4-FFF2-40B4-BE49-F238E27FC236}">
                <a16:creationId xmlns:a16="http://schemas.microsoft.com/office/drawing/2014/main" id="{DB3C889B-2F55-2C2F-122E-E89ABE6A2D95}"/>
              </a:ext>
            </a:extLst>
          </p:cNvPr>
          <p:cNvSpPr>
            <a:spLocks noGrp="1"/>
          </p:cNvSpPr>
          <p:nvPr>
            <p:ph type="dt" sz="half" idx="11"/>
          </p:nvPr>
        </p:nvSpPr>
        <p:spPr/>
        <p:txBody>
          <a:bodyPr/>
          <a:lstStyle/>
          <a:p>
            <a:r>
              <a:rPr lang="en-US"/>
              <a:t>16/12/2025</a:t>
            </a:r>
            <a:endParaRPr lang="en-GB"/>
          </a:p>
        </p:txBody>
      </p:sp>
      <p:sp>
        <p:nvSpPr>
          <p:cNvPr id="6" name="Fußzeilenplatzhalter 5">
            <a:extLst>
              <a:ext uri="{FF2B5EF4-FFF2-40B4-BE49-F238E27FC236}">
                <a16:creationId xmlns:a16="http://schemas.microsoft.com/office/drawing/2014/main" id="{E2877DC7-CA1E-181B-77C7-99C60829ED57}"/>
              </a:ext>
            </a:extLst>
          </p:cNvPr>
          <p:cNvSpPr>
            <a:spLocks noGrp="1"/>
          </p:cNvSpPr>
          <p:nvPr>
            <p:ph type="ftr" sz="quarter" idx="12"/>
          </p:nvPr>
        </p:nvSpPr>
        <p:spPr/>
        <p:txBody>
          <a:bodyPr/>
          <a:lstStyle/>
          <a:p>
            <a:r>
              <a:rPr lang="sv-SE"/>
              <a:t>Feedback &amp; Lidar Controller  / Optimus Syria</a:t>
            </a:r>
            <a:endParaRPr lang="en-GB"/>
          </a:p>
        </p:txBody>
      </p:sp>
      <p:sp>
        <p:nvSpPr>
          <p:cNvPr id="7" name="Foliennummernplatzhalter 6">
            <a:extLst>
              <a:ext uri="{FF2B5EF4-FFF2-40B4-BE49-F238E27FC236}">
                <a16:creationId xmlns:a16="http://schemas.microsoft.com/office/drawing/2014/main" id="{043E1ABD-9DAE-E035-8B0B-D41EFED3FC86}"/>
              </a:ext>
            </a:extLst>
          </p:cNvPr>
          <p:cNvSpPr>
            <a:spLocks noGrp="1"/>
          </p:cNvSpPr>
          <p:nvPr>
            <p:ph type="sldNum" sz="quarter" idx="13"/>
          </p:nvPr>
        </p:nvSpPr>
        <p:spPr/>
        <p:txBody>
          <a:bodyPr/>
          <a:lstStyle/>
          <a:p>
            <a:fld id="{013F6232-4F06-48BA-8F69-BF531F607829}" type="slidenum">
              <a:rPr lang="en-GB" smtClean="0"/>
              <a:pPr/>
              <a:t>‹#›</a:t>
            </a:fld>
            <a:endParaRPr lang="en-GB"/>
          </a:p>
        </p:txBody>
      </p:sp>
    </p:spTree>
    <p:extLst>
      <p:ext uri="{BB962C8B-B14F-4D97-AF65-F5344CB8AC3E}">
        <p14:creationId xmlns:p14="http://schemas.microsoft.com/office/powerpoint/2010/main" val="3535209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CD36E4AE-BF2C-D504-0887-03D81D07CDC8}"/>
              </a:ext>
            </a:extLst>
          </p:cNvPr>
          <p:cNvSpPr/>
          <p:nvPr/>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Free-form: Shape 13">
            <a:extLst>
              <a:ext uri="{FF2B5EF4-FFF2-40B4-BE49-F238E27FC236}">
                <a16:creationId xmlns:a16="http://schemas.microsoft.com/office/drawing/2014/main" id="{7608A32D-44F3-01F2-D6ED-924DFF3CC333}"/>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476B4C36-B64B-F839-789E-0C40D5E60E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8" name="Free-form: Shape 13">
            <a:extLst>
              <a:ext uri="{FF2B5EF4-FFF2-40B4-BE49-F238E27FC236}">
                <a16:creationId xmlns:a16="http://schemas.microsoft.com/office/drawing/2014/main" id="{1DE142EE-E501-93E6-565D-AB4A5A647F0F}"/>
              </a:ext>
            </a:extLst>
          </p:cNvPr>
          <p:cNvSpPr/>
          <p:nvPr/>
        </p:nvSpPr>
        <p:spPr>
          <a:xfrm rot="10800000">
            <a:off x="-2090" y="-18190"/>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776A7918-93DA-D7CE-97A3-DDF18B379B65}"/>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a16="http://schemas.microsoft.com/office/drawing/2014/main" id="{F164827E-F028-4C94-EB63-600BCABCD15C}"/>
              </a:ext>
            </a:extLst>
          </p:cNvPr>
          <p:cNvSpPr>
            <a:spLocks noGrp="1"/>
          </p:cNvSpPr>
          <p:nvPr>
            <p:ph type="ftr" sz="quarter" idx="3"/>
          </p:nvPr>
        </p:nvSpPr>
        <p:spPr>
          <a:xfrm>
            <a:off x="8474613" y="6564113"/>
            <a:ext cx="2879187" cy="365125"/>
          </a:xfrm>
          <a:prstGeom prst="rect">
            <a:avLst/>
          </a:prstGeom>
        </p:spPr>
        <p:txBody>
          <a:bodyPr vert="horz" lIns="91440" tIns="45720" rIns="91440" bIns="45720" rtlCol="0" anchor="ctr"/>
          <a:lstStyle>
            <a:lvl1pPr algn="r">
              <a:defRPr sz="1200">
                <a:solidFill>
                  <a:schemeClr val="bg1"/>
                </a:solidFill>
              </a:defRPr>
            </a:lvl1pPr>
          </a:lstStyle>
          <a:p>
            <a:r>
              <a:rPr lang="sv-SE"/>
              <a:t>Feedback &amp; Lidar Controller  / Optimus Syria</a:t>
            </a:r>
            <a:endParaRPr lang="en-US"/>
          </a:p>
        </p:txBody>
      </p:sp>
      <p:sp>
        <p:nvSpPr>
          <p:cNvPr id="6" name="Slide Number Placeholder 5">
            <a:extLst>
              <a:ext uri="{FF2B5EF4-FFF2-40B4-BE49-F238E27FC236}">
                <a16:creationId xmlns:a16="http://schemas.microsoft.com/office/drawing/2014/main" id="{00B8DD39-3F07-862A-3C91-AC524529184A}"/>
              </a:ext>
            </a:extLst>
          </p:cNvPr>
          <p:cNvSpPr>
            <a:spLocks noGrp="1"/>
          </p:cNvSpPr>
          <p:nvPr>
            <p:ph type="sldNum" sz="quarter" idx="4"/>
          </p:nvPr>
        </p:nvSpPr>
        <p:spPr>
          <a:xfrm>
            <a:off x="1949570" y="6566803"/>
            <a:ext cx="928958" cy="365125"/>
          </a:xfrm>
          <a:prstGeom prst="rect">
            <a:avLst/>
          </a:prstGeom>
        </p:spPr>
        <p:txBody>
          <a:bodyPr vert="horz" lIns="91440" tIns="45720" rIns="91440" bIns="45720" rtlCol="0" anchor="ctr"/>
          <a:lstStyle>
            <a:lvl1pPr algn="ctr">
              <a:defRPr sz="1200">
                <a:solidFill>
                  <a:schemeClr val="bg1"/>
                </a:solidFill>
              </a:defRPr>
            </a:lvl1pPr>
          </a:lstStyle>
          <a:p>
            <a:fld id="{3A84E93A-72FE-4BB6-A500-FB6DD421822B}" type="slidenum">
              <a:rPr lang="en-US" smtClean="0"/>
              <a:t>‹#›</a:t>
            </a:fld>
            <a:endParaRPr lang="en-US"/>
          </a:p>
        </p:txBody>
      </p:sp>
      <p:sp>
        <p:nvSpPr>
          <p:cNvPr id="4" name="Date Placeholder 3">
            <a:extLst>
              <a:ext uri="{FF2B5EF4-FFF2-40B4-BE49-F238E27FC236}">
                <a16:creationId xmlns:a16="http://schemas.microsoft.com/office/drawing/2014/main" id="{A6D593D3-E60D-CF97-AC8A-2B02D933B02F}"/>
              </a:ext>
            </a:extLst>
          </p:cNvPr>
          <p:cNvSpPr>
            <a:spLocks noGrp="1"/>
          </p:cNvSpPr>
          <p:nvPr>
            <p:ph type="dt" sz="half" idx="2"/>
          </p:nvPr>
        </p:nvSpPr>
        <p:spPr>
          <a:xfrm>
            <a:off x="838200" y="6566803"/>
            <a:ext cx="1111370" cy="365125"/>
          </a:xfrm>
          <a:prstGeom prst="rect">
            <a:avLst/>
          </a:prstGeom>
        </p:spPr>
        <p:txBody>
          <a:bodyPr vert="horz" lIns="91440" tIns="45720" rIns="91440" bIns="45720" rtlCol="0" anchor="ctr"/>
          <a:lstStyle>
            <a:lvl1pPr algn="l">
              <a:defRPr sz="1200">
                <a:solidFill>
                  <a:schemeClr val="bg1"/>
                </a:solidFill>
              </a:defRPr>
            </a:lvl1pPr>
          </a:lstStyle>
          <a:p>
            <a:r>
              <a:rPr lang="en-US"/>
              <a:t>16/12/2025</a:t>
            </a:r>
          </a:p>
        </p:txBody>
      </p:sp>
      <p:sp>
        <p:nvSpPr>
          <p:cNvPr id="11" name="Free-form: Shape 13">
            <a:extLst>
              <a:ext uri="{FF2B5EF4-FFF2-40B4-BE49-F238E27FC236}">
                <a16:creationId xmlns:a16="http://schemas.microsoft.com/office/drawing/2014/main" id="{1ABD3F4B-4853-EC8E-00EB-5109F86CE0F1}"/>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3">
            <a:extLst>
              <a:ext uri="{FF2B5EF4-FFF2-40B4-BE49-F238E27FC236}">
                <a16:creationId xmlns:a16="http://schemas.microsoft.com/office/drawing/2014/main" id="{2BF40EC9-0D42-5E08-04BD-F330229C7518}"/>
              </a:ext>
            </a:extLst>
          </p:cNvPr>
          <p:cNvSpPr/>
          <p:nvPr/>
        </p:nvSpPr>
        <p:spPr>
          <a:xfrm rot="10800000">
            <a:off x="-2090" y="-18190"/>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Shape 13">
            <a:extLst>
              <a:ext uri="{FF2B5EF4-FFF2-40B4-BE49-F238E27FC236}">
                <a16:creationId xmlns:a16="http://schemas.microsoft.com/office/drawing/2014/main" id="{0BB1BAA4-B843-57F3-9FCE-C9585D332FAE}"/>
              </a:ext>
            </a:extLst>
          </p:cNvPr>
          <p:cNvSpPr/>
          <p:nvPr/>
        </p:nvSpPr>
        <p:spPr>
          <a:xfrm rot="10800000">
            <a:off x="-26376" y="-254312"/>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74A75E23-C68E-95B1-6539-4A187BBC42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GB"/>
          </a:p>
        </p:txBody>
      </p:sp>
    </p:spTree>
    <p:extLst>
      <p:ext uri="{BB962C8B-B14F-4D97-AF65-F5344CB8AC3E}">
        <p14:creationId xmlns:p14="http://schemas.microsoft.com/office/powerpoint/2010/main" val="24445989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5620995-1DFE-FB81-B1FD-1F43AD25E6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BF9FFA78-25BC-8AF7-71C4-CCA91A9325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ooter Placeholder 4">
            <a:extLst>
              <a:ext uri="{FF2B5EF4-FFF2-40B4-BE49-F238E27FC236}">
                <a16:creationId xmlns:a16="http://schemas.microsoft.com/office/drawing/2014/main" id="{8CB32A29-5E71-00A9-66DA-1FED8EA8FAF3}"/>
              </a:ext>
            </a:extLst>
          </p:cNvPr>
          <p:cNvSpPr>
            <a:spLocks noGrp="1"/>
          </p:cNvSpPr>
          <p:nvPr>
            <p:ph type="ftr" sz="quarter" idx="3"/>
          </p:nvPr>
        </p:nvSpPr>
        <p:spPr>
          <a:xfrm>
            <a:off x="8474613" y="6564113"/>
            <a:ext cx="2879187" cy="365125"/>
          </a:xfrm>
          <a:prstGeom prst="rect">
            <a:avLst/>
          </a:prstGeom>
        </p:spPr>
        <p:txBody>
          <a:bodyPr vert="horz" lIns="91440" tIns="45720" rIns="91440" bIns="45720" rtlCol="0" anchor="ctr"/>
          <a:lstStyle>
            <a:lvl1pPr algn="r">
              <a:defRPr sz="1200">
                <a:solidFill>
                  <a:schemeClr val="bg1"/>
                </a:solidFill>
              </a:defRPr>
            </a:lvl1pPr>
          </a:lstStyle>
          <a:p>
            <a:r>
              <a:rPr lang="sv-SE"/>
              <a:t>Feedback &amp; Lidar Controller  / Optimus Syria</a:t>
            </a:r>
            <a:endParaRPr lang="en-GB"/>
          </a:p>
        </p:txBody>
      </p:sp>
      <p:sp>
        <p:nvSpPr>
          <p:cNvPr id="8" name="Slide Number Placeholder 5">
            <a:extLst>
              <a:ext uri="{FF2B5EF4-FFF2-40B4-BE49-F238E27FC236}">
                <a16:creationId xmlns:a16="http://schemas.microsoft.com/office/drawing/2014/main" id="{75A1141D-8ADF-66F7-AB0C-CAA4E1B2CB82}"/>
              </a:ext>
            </a:extLst>
          </p:cNvPr>
          <p:cNvSpPr>
            <a:spLocks noGrp="1"/>
          </p:cNvSpPr>
          <p:nvPr>
            <p:ph type="sldNum" sz="quarter" idx="4"/>
          </p:nvPr>
        </p:nvSpPr>
        <p:spPr>
          <a:xfrm>
            <a:off x="1949570" y="6566803"/>
            <a:ext cx="928958" cy="365125"/>
          </a:xfrm>
          <a:prstGeom prst="rect">
            <a:avLst/>
          </a:prstGeom>
        </p:spPr>
        <p:txBody>
          <a:bodyPr vert="horz" lIns="91440" tIns="45720" rIns="91440" bIns="45720" rtlCol="0" anchor="ctr"/>
          <a:lstStyle>
            <a:lvl1pPr algn="ctr">
              <a:defRPr sz="1200">
                <a:solidFill>
                  <a:schemeClr val="bg1"/>
                </a:solidFill>
              </a:defRPr>
            </a:lvl1pPr>
          </a:lstStyle>
          <a:p>
            <a:fld id="{013F6232-4F06-48BA-8F69-BF531F607829}" type="slidenum">
              <a:rPr lang="en-GB" smtClean="0"/>
              <a:pPr/>
              <a:t>‹#›</a:t>
            </a:fld>
            <a:endParaRPr lang="en-GB"/>
          </a:p>
        </p:txBody>
      </p:sp>
      <p:sp>
        <p:nvSpPr>
          <p:cNvPr id="9" name="Date Placeholder 3">
            <a:extLst>
              <a:ext uri="{FF2B5EF4-FFF2-40B4-BE49-F238E27FC236}">
                <a16:creationId xmlns:a16="http://schemas.microsoft.com/office/drawing/2014/main" id="{07138566-A99B-8C60-010B-13E0F43C5657}"/>
              </a:ext>
            </a:extLst>
          </p:cNvPr>
          <p:cNvSpPr>
            <a:spLocks noGrp="1"/>
          </p:cNvSpPr>
          <p:nvPr>
            <p:ph type="dt" sz="half" idx="2"/>
          </p:nvPr>
        </p:nvSpPr>
        <p:spPr>
          <a:xfrm>
            <a:off x="838200" y="6566803"/>
            <a:ext cx="1111370" cy="365125"/>
          </a:xfrm>
          <a:prstGeom prst="rect">
            <a:avLst/>
          </a:prstGeom>
        </p:spPr>
        <p:txBody>
          <a:bodyPr vert="horz" lIns="91440" tIns="45720" rIns="91440" bIns="45720" rtlCol="0" anchor="ctr"/>
          <a:lstStyle>
            <a:lvl1pPr algn="l">
              <a:defRPr sz="1200">
                <a:solidFill>
                  <a:schemeClr val="bg1"/>
                </a:solidFill>
              </a:defRPr>
            </a:lvl1pPr>
          </a:lstStyle>
          <a:p>
            <a:r>
              <a:rPr lang="en-US"/>
              <a:t>16/12/2025</a:t>
            </a:r>
            <a:endParaRPr lang="en-GB"/>
          </a:p>
        </p:txBody>
      </p:sp>
    </p:spTree>
    <p:extLst>
      <p:ext uri="{BB962C8B-B14F-4D97-AF65-F5344CB8AC3E}">
        <p14:creationId xmlns:p14="http://schemas.microsoft.com/office/powerpoint/2010/main" val="1145194317"/>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13D3613-1229-23C4-BBAC-0C4D5D5524C8}"/>
              </a:ext>
            </a:extLst>
          </p:cNvPr>
          <p:cNvSpPr>
            <a:spLocks noGrp="1"/>
          </p:cNvSpPr>
          <p:nvPr>
            <p:ph type="ctrTitle"/>
          </p:nvPr>
        </p:nvSpPr>
        <p:spPr>
          <a:xfrm>
            <a:off x="0" y="2276908"/>
            <a:ext cx="12192000" cy="912598"/>
          </a:xfrm>
        </p:spPr>
        <p:txBody>
          <a:bodyPr/>
          <a:lstStyle/>
          <a:p>
            <a:r>
              <a:rPr lang="en-US" noProof="0" dirty="0"/>
              <a:t>Weekly report: Feedback &amp; Lidar – Assisted Controller</a:t>
            </a:r>
          </a:p>
        </p:txBody>
      </p:sp>
      <p:sp>
        <p:nvSpPr>
          <p:cNvPr id="9" name="Subtitle 8">
            <a:extLst>
              <a:ext uri="{FF2B5EF4-FFF2-40B4-BE49-F238E27FC236}">
                <a16:creationId xmlns:a16="http://schemas.microsoft.com/office/drawing/2014/main" id="{811943A6-016A-175F-ED49-9090C8C3091D}"/>
              </a:ext>
            </a:extLst>
          </p:cNvPr>
          <p:cNvSpPr>
            <a:spLocks noGrp="1"/>
          </p:cNvSpPr>
          <p:nvPr>
            <p:ph type="subTitle" idx="1"/>
          </p:nvPr>
        </p:nvSpPr>
        <p:spPr/>
        <p:txBody>
          <a:bodyPr>
            <a:noAutofit/>
          </a:bodyPr>
          <a:lstStyle/>
          <a:p>
            <a:r>
              <a:rPr lang="en-US" sz="2000" noProof="0" dirty="0"/>
              <a:t>Week number: 12</a:t>
            </a:r>
          </a:p>
          <a:p>
            <a:r>
              <a:rPr lang="en-US" sz="2000" noProof="0" dirty="0"/>
              <a:t>Date: 16/12/2025</a:t>
            </a:r>
          </a:p>
          <a:p>
            <a:r>
              <a:rPr lang="en-US" sz="2000" noProof="0" dirty="0"/>
              <a:t>Supervisor: Prof. Dr.-Ing. David Schlipf</a:t>
            </a:r>
          </a:p>
          <a:p>
            <a:endParaRPr lang="en-US" sz="2000" noProof="0" dirty="0"/>
          </a:p>
        </p:txBody>
      </p:sp>
      <p:sp>
        <p:nvSpPr>
          <p:cNvPr id="10" name="Text Placeholder 9">
            <a:extLst>
              <a:ext uri="{FF2B5EF4-FFF2-40B4-BE49-F238E27FC236}">
                <a16:creationId xmlns:a16="http://schemas.microsoft.com/office/drawing/2014/main" id="{31D66077-75E8-B72F-9B4E-64E062858EC5}"/>
              </a:ext>
            </a:extLst>
          </p:cNvPr>
          <p:cNvSpPr>
            <a:spLocks noGrp="1"/>
          </p:cNvSpPr>
          <p:nvPr>
            <p:ph type="body" idx="10"/>
          </p:nvPr>
        </p:nvSpPr>
        <p:spPr>
          <a:xfrm>
            <a:off x="2982755" y="4653709"/>
            <a:ext cx="6226490" cy="758312"/>
          </a:xfrm>
        </p:spPr>
        <p:txBody>
          <a:bodyPr/>
          <a:lstStyle/>
          <a:p>
            <a:r>
              <a:rPr lang="en-US" noProof="0" dirty="0"/>
              <a:t>Group members: Mirza Dincer, Saurabh Pankaj Jha, Midhun </a:t>
            </a:r>
            <a:r>
              <a:rPr lang="en-US" noProof="0" dirty="0" err="1"/>
              <a:t>Kanichattu</a:t>
            </a:r>
            <a:r>
              <a:rPr lang="en-US" noProof="0" dirty="0"/>
              <a:t> Venu</a:t>
            </a:r>
          </a:p>
          <a:p>
            <a:r>
              <a:rPr lang="en-US" noProof="0" dirty="0"/>
              <a:t>Presenter: Mirza Dincer</a:t>
            </a:r>
          </a:p>
        </p:txBody>
      </p:sp>
      <p:sp>
        <p:nvSpPr>
          <p:cNvPr id="5" name="Date Placeholder 4">
            <a:extLst>
              <a:ext uri="{FF2B5EF4-FFF2-40B4-BE49-F238E27FC236}">
                <a16:creationId xmlns:a16="http://schemas.microsoft.com/office/drawing/2014/main" id="{6CD51974-AA80-93E7-DE29-6B240912C06D}"/>
              </a:ext>
            </a:extLst>
          </p:cNvPr>
          <p:cNvSpPr>
            <a:spLocks noGrp="1"/>
          </p:cNvSpPr>
          <p:nvPr>
            <p:ph type="dt" sz="half" idx="11"/>
          </p:nvPr>
        </p:nvSpPr>
        <p:spPr/>
        <p:txBody>
          <a:bodyPr/>
          <a:lstStyle/>
          <a:p>
            <a:r>
              <a:rPr lang="en-US" noProof="0" dirty="0"/>
              <a:t>16/12/2025</a:t>
            </a:r>
          </a:p>
        </p:txBody>
      </p:sp>
      <p:sp>
        <p:nvSpPr>
          <p:cNvPr id="7" name="Slide Number Placeholder 6">
            <a:extLst>
              <a:ext uri="{FF2B5EF4-FFF2-40B4-BE49-F238E27FC236}">
                <a16:creationId xmlns:a16="http://schemas.microsoft.com/office/drawing/2014/main" id="{B451378A-4F01-6B30-CC0C-0D06C211A4C6}"/>
              </a:ext>
            </a:extLst>
          </p:cNvPr>
          <p:cNvSpPr>
            <a:spLocks noGrp="1"/>
          </p:cNvSpPr>
          <p:nvPr>
            <p:ph type="sldNum" sz="quarter" idx="13"/>
          </p:nvPr>
        </p:nvSpPr>
        <p:spPr/>
        <p:txBody>
          <a:bodyPr/>
          <a:lstStyle/>
          <a:p>
            <a:fld id="{013F6232-4F06-48BA-8F69-BF531F607829}" type="slidenum">
              <a:rPr lang="en-US" noProof="0" smtClean="0"/>
              <a:pPr/>
              <a:t>1</a:t>
            </a:fld>
            <a:endParaRPr lang="en-US" noProof="0" dirty="0"/>
          </a:p>
        </p:txBody>
      </p:sp>
      <p:sp>
        <p:nvSpPr>
          <p:cNvPr id="2" name="Footer Placeholder 1">
            <a:extLst>
              <a:ext uri="{FF2B5EF4-FFF2-40B4-BE49-F238E27FC236}">
                <a16:creationId xmlns:a16="http://schemas.microsoft.com/office/drawing/2014/main" id="{01D90F1C-B0AB-81E1-63B6-F10AE37370C6}"/>
              </a:ext>
            </a:extLst>
          </p:cNvPr>
          <p:cNvSpPr>
            <a:spLocks noGrp="1"/>
          </p:cNvSpPr>
          <p:nvPr>
            <p:ph type="ftr" sz="quarter" idx="12"/>
          </p:nvPr>
        </p:nvSpPr>
        <p:spPr>
          <a:xfrm>
            <a:off x="8474613" y="6566803"/>
            <a:ext cx="3055971" cy="365125"/>
          </a:xfrm>
        </p:spPr>
        <p:txBody>
          <a:bodyPr/>
          <a:lstStyle/>
          <a:p>
            <a:r>
              <a:rPr lang="en-US" noProof="0" dirty="0"/>
              <a:t>Feedback &amp; Lidar Controller  / Optimus Syria</a:t>
            </a:r>
          </a:p>
        </p:txBody>
      </p:sp>
    </p:spTree>
    <p:extLst>
      <p:ext uri="{BB962C8B-B14F-4D97-AF65-F5344CB8AC3E}">
        <p14:creationId xmlns:p14="http://schemas.microsoft.com/office/powerpoint/2010/main" val="1114542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C396C42-5C8A-4DF6-469E-AA02488B5D67}"/>
              </a:ext>
            </a:extLst>
          </p:cNvPr>
          <p:cNvSpPr>
            <a:spLocks noGrp="1"/>
          </p:cNvSpPr>
          <p:nvPr>
            <p:ph idx="1"/>
          </p:nvPr>
        </p:nvSpPr>
        <p:spPr/>
        <p:txBody>
          <a:bodyPr/>
          <a:lstStyle/>
          <a:p>
            <a:r>
              <a:rPr lang="en-US" noProof="0" dirty="0"/>
              <a:t>Tasks of the week</a:t>
            </a:r>
          </a:p>
          <a:p>
            <a:r>
              <a:rPr lang="en-US" noProof="0" dirty="0" err="1"/>
              <a:t>AeroDyn</a:t>
            </a:r>
            <a:r>
              <a:rPr lang="en-US" noProof="0" dirty="0"/>
              <a:t> Issues</a:t>
            </a:r>
          </a:p>
          <a:p>
            <a:r>
              <a:rPr lang="en-US" noProof="0" dirty="0"/>
              <a:t>Steady States of Optimus Syria</a:t>
            </a:r>
          </a:p>
          <a:p>
            <a:r>
              <a:rPr lang="en-US" noProof="0" dirty="0"/>
              <a:t>Step Response</a:t>
            </a:r>
          </a:p>
          <a:p>
            <a:r>
              <a:rPr lang="en-US" noProof="0" dirty="0"/>
              <a:t>Optimization Pitch Controller for Gain-schedule table</a:t>
            </a:r>
          </a:p>
          <a:p>
            <a:r>
              <a:rPr lang="en-US" noProof="0" dirty="0"/>
              <a:t>EOG simulation of Lidar-Assisted Controller</a:t>
            </a:r>
          </a:p>
          <a:p>
            <a:endParaRPr lang="en-US" noProof="0" dirty="0"/>
          </a:p>
        </p:txBody>
      </p:sp>
      <p:sp>
        <p:nvSpPr>
          <p:cNvPr id="5" name="Title 4">
            <a:extLst>
              <a:ext uri="{FF2B5EF4-FFF2-40B4-BE49-F238E27FC236}">
                <a16:creationId xmlns:a16="http://schemas.microsoft.com/office/drawing/2014/main" id="{FAE0BEDA-D340-0E86-7B6A-D958296C78E0}"/>
              </a:ext>
            </a:extLst>
          </p:cNvPr>
          <p:cNvSpPr>
            <a:spLocks noGrp="1"/>
          </p:cNvSpPr>
          <p:nvPr>
            <p:ph type="title"/>
          </p:nvPr>
        </p:nvSpPr>
        <p:spPr/>
        <p:txBody>
          <a:bodyPr/>
          <a:lstStyle/>
          <a:p>
            <a:r>
              <a:rPr lang="en-US" noProof="0" dirty="0"/>
              <a:t>List of Contents</a:t>
            </a:r>
          </a:p>
        </p:txBody>
      </p:sp>
      <p:sp>
        <p:nvSpPr>
          <p:cNvPr id="7" name="Text Placeholder 6">
            <a:extLst>
              <a:ext uri="{FF2B5EF4-FFF2-40B4-BE49-F238E27FC236}">
                <a16:creationId xmlns:a16="http://schemas.microsoft.com/office/drawing/2014/main" id="{CAF26A6A-DC19-EFAF-AC42-F8701A3F5C4F}"/>
              </a:ext>
            </a:extLst>
          </p:cNvPr>
          <p:cNvSpPr>
            <a:spLocks noGrp="1"/>
          </p:cNvSpPr>
          <p:nvPr>
            <p:ph type="body" sz="quarter" idx="18"/>
          </p:nvPr>
        </p:nvSpPr>
        <p:spPr/>
        <p:txBody>
          <a:bodyPr/>
          <a:lstStyle/>
          <a:p>
            <a:r>
              <a:rPr lang="en-US" noProof="0" dirty="0"/>
              <a:t>Mirza Dincer</a:t>
            </a:r>
          </a:p>
        </p:txBody>
      </p:sp>
      <p:sp>
        <p:nvSpPr>
          <p:cNvPr id="4" name="Date Placeholder 3">
            <a:extLst>
              <a:ext uri="{FF2B5EF4-FFF2-40B4-BE49-F238E27FC236}">
                <a16:creationId xmlns:a16="http://schemas.microsoft.com/office/drawing/2014/main" id="{6E1A55B5-D29A-D64C-52F3-986289E5F9A0}"/>
              </a:ext>
            </a:extLst>
          </p:cNvPr>
          <p:cNvSpPr>
            <a:spLocks noGrp="1"/>
          </p:cNvSpPr>
          <p:nvPr>
            <p:ph type="dt" sz="half" idx="10"/>
          </p:nvPr>
        </p:nvSpPr>
        <p:spPr/>
        <p:txBody>
          <a:bodyPr/>
          <a:lstStyle/>
          <a:p>
            <a:r>
              <a:rPr lang="en-US" noProof="0" dirty="0"/>
              <a:t>16/12/2025</a:t>
            </a:r>
          </a:p>
        </p:txBody>
      </p:sp>
      <p:sp>
        <p:nvSpPr>
          <p:cNvPr id="8" name="Slide Number Placeholder 7">
            <a:extLst>
              <a:ext uri="{FF2B5EF4-FFF2-40B4-BE49-F238E27FC236}">
                <a16:creationId xmlns:a16="http://schemas.microsoft.com/office/drawing/2014/main" id="{8B052D8F-1675-605E-CB1B-9CD5E63E869A}"/>
              </a:ext>
            </a:extLst>
          </p:cNvPr>
          <p:cNvSpPr>
            <a:spLocks noGrp="1"/>
          </p:cNvSpPr>
          <p:nvPr>
            <p:ph type="sldNum" sz="quarter" idx="12"/>
          </p:nvPr>
        </p:nvSpPr>
        <p:spPr/>
        <p:txBody>
          <a:bodyPr/>
          <a:lstStyle/>
          <a:p>
            <a:fld id="{3A84E93A-72FE-4BB6-A500-FB6DD421822B}" type="slidenum">
              <a:rPr lang="en-US" noProof="0" smtClean="0"/>
              <a:t>2</a:t>
            </a:fld>
            <a:endParaRPr lang="en-US" noProof="0" dirty="0"/>
          </a:p>
        </p:txBody>
      </p:sp>
      <p:sp>
        <p:nvSpPr>
          <p:cNvPr id="9" name="Footer Placeholder 8">
            <a:extLst>
              <a:ext uri="{FF2B5EF4-FFF2-40B4-BE49-F238E27FC236}">
                <a16:creationId xmlns:a16="http://schemas.microsoft.com/office/drawing/2014/main" id="{40B39CA5-143A-78A6-B398-AAF845BF2576}"/>
              </a:ext>
            </a:extLst>
          </p:cNvPr>
          <p:cNvSpPr>
            <a:spLocks noGrp="1"/>
          </p:cNvSpPr>
          <p:nvPr>
            <p:ph type="ftr" sz="quarter" idx="11"/>
          </p:nvPr>
        </p:nvSpPr>
        <p:spPr>
          <a:xfrm>
            <a:off x="8483757" y="6564113"/>
            <a:ext cx="3165698" cy="365125"/>
          </a:xfrm>
        </p:spPr>
        <p:txBody>
          <a:bodyPr/>
          <a:lstStyle/>
          <a:p>
            <a:r>
              <a:rPr lang="en-US" noProof="0" dirty="0"/>
              <a:t>Feedback &amp; Lidar Controller  / Optimus Syria</a:t>
            </a:r>
          </a:p>
        </p:txBody>
      </p:sp>
    </p:spTree>
    <p:extLst>
      <p:ext uri="{BB962C8B-B14F-4D97-AF65-F5344CB8AC3E}">
        <p14:creationId xmlns:p14="http://schemas.microsoft.com/office/powerpoint/2010/main" val="2657761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D1F737-C9E5-D61C-802C-D8AA46A86F36}"/>
              </a:ext>
            </a:extLst>
          </p:cNvPr>
          <p:cNvSpPr>
            <a:spLocks noGrp="1"/>
          </p:cNvSpPr>
          <p:nvPr>
            <p:ph type="title"/>
          </p:nvPr>
        </p:nvSpPr>
        <p:spPr/>
        <p:txBody>
          <a:bodyPr/>
          <a:lstStyle/>
          <a:p>
            <a:r>
              <a:rPr lang="en-US" noProof="0" dirty="0"/>
              <a:t>Tasks of the Week</a:t>
            </a:r>
          </a:p>
        </p:txBody>
      </p:sp>
      <p:sp>
        <p:nvSpPr>
          <p:cNvPr id="6" name="Content Placeholder 5">
            <a:extLst>
              <a:ext uri="{FF2B5EF4-FFF2-40B4-BE49-F238E27FC236}">
                <a16:creationId xmlns:a16="http://schemas.microsoft.com/office/drawing/2014/main" id="{18ECE80E-4A9A-B819-E481-DA6D7AC2FACD}"/>
              </a:ext>
            </a:extLst>
          </p:cNvPr>
          <p:cNvSpPr>
            <a:spLocks noGrp="1"/>
          </p:cNvSpPr>
          <p:nvPr>
            <p:ph idx="1"/>
          </p:nvPr>
        </p:nvSpPr>
        <p:spPr>
          <a:xfrm>
            <a:off x="838200" y="1690688"/>
            <a:ext cx="10802112" cy="4351338"/>
          </a:xfrm>
        </p:spPr>
        <p:txBody>
          <a:bodyPr>
            <a:normAutofit/>
          </a:bodyPr>
          <a:lstStyle/>
          <a:p>
            <a:pPr eaLnBrk="0" fontAlgn="base" hangingPunct="0">
              <a:lnSpc>
                <a:spcPct val="100000"/>
              </a:lnSpc>
              <a:spcBef>
                <a:spcPct val="0"/>
              </a:spcBef>
              <a:spcAft>
                <a:spcPct val="0"/>
              </a:spcAft>
            </a:pPr>
            <a:r>
              <a:rPr lang="en-US" noProof="0" dirty="0"/>
              <a:t>Adjusting controller</a:t>
            </a:r>
          </a:p>
          <a:p>
            <a:pPr eaLnBrk="0" fontAlgn="base" hangingPunct="0">
              <a:lnSpc>
                <a:spcPct val="100000"/>
              </a:lnSpc>
              <a:spcBef>
                <a:spcPct val="0"/>
              </a:spcBef>
              <a:spcAft>
                <a:spcPct val="0"/>
              </a:spcAft>
            </a:pPr>
            <a:endParaRPr lang="en-US" noProof="0" dirty="0"/>
          </a:p>
          <a:p>
            <a:pPr eaLnBrk="0" fontAlgn="base" hangingPunct="0">
              <a:lnSpc>
                <a:spcPct val="100000"/>
              </a:lnSpc>
              <a:spcBef>
                <a:spcPct val="0"/>
              </a:spcBef>
              <a:spcAft>
                <a:spcPct val="0"/>
              </a:spcAft>
            </a:pPr>
            <a:r>
              <a:rPr lang="en-US" noProof="0" dirty="0"/>
              <a:t>Calculating steady states for the Optimus Syria.</a:t>
            </a:r>
          </a:p>
          <a:p>
            <a:pPr eaLnBrk="0" fontAlgn="base" hangingPunct="0">
              <a:lnSpc>
                <a:spcPct val="100000"/>
              </a:lnSpc>
              <a:spcBef>
                <a:spcPct val="0"/>
              </a:spcBef>
              <a:spcAft>
                <a:spcPct val="0"/>
              </a:spcAft>
            </a:pPr>
            <a:endParaRPr lang="en-US" noProof="0" dirty="0"/>
          </a:p>
          <a:p>
            <a:pPr eaLnBrk="0" fontAlgn="base" hangingPunct="0">
              <a:lnSpc>
                <a:spcPct val="100000"/>
              </a:lnSpc>
              <a:spcBef>
                <a:spcPct val="0"/>
              </a:spcBef>
              <a:spcAft>
                <a:spcPct val="0"/>
              </a:spcAft>
            </a:pPr>
            <a:r>
              <a:rPr lang="en-US" noProof="0" dirty="0"/>
              <a:t>Check the step response behavior of the Optimus Syria for PI controller tuning.</a:t>
            </a:r>
          </a:p>
          <a:p>
            <a:pPr eaLnBrk="0" fontAlgn="base" hangingPunct="0">
              <a:lnSpc>
                <a:spcPct val="100000"/>
              </a:lnSpc>
              <a:spcBef>
                <a:spcPct val="0"/>
              </a:spcBef>
              <a:spcAft>
                <a:spcPct val="0"/>
              </a:spcAft>
            </a:pPr>
            <a:endParaRPr lang="en-US" noProof="0" dirty="0"/>
          </a:p>
          <a:p>
            <a:pPr eaLnBrk="0" fontAlgn="base" hangingPunct="0">
              <a:lnSpc>
                <a:spcPct val="100000"/>
              </a:lnSpc>
              <a:spcBef>
                <a:spcPct val="0"/>
              </a:spcBef>
              <a:spcAft>
                <a:spcPct val="0"/>
              </a:spcAft>
            </a:pPr>
            <a:r>
              <a:rPr lang="en-US" noProof="0" dirty="0"/>
              <a:t>Find an efficient  values for gain-schedule table of pitch controller of Optimus Syria.</a:t>
            </a:r>
          </a:p>
          <a:p>
            <a:pPr eaLnBrk="0" fontAlgn="base" hangingPunct="0">
              <a:lnSpc>
                <a:spcPct val="100000"/>
              </a:lnSpc>
              <a:spcBef>
                <a:spcPct val="0"/>
              </a:spcBef>
              <a:spcAft>
                <a:spcPct val="0"/>
              </a:spcAft>
            </a:pPr>
            <a:endParaRPr lang="en-US" noProof="0" dirty="0"/>
          </a:p>
          <a:p>
            <a:pPr eaLnBrk="0" fontAlgn="base" hangingPunct="0">
              <a:lnSpc>
                <a:spcPct val="100000"/>
              </a:lnSpc>
              <a:spcBef>
                <a:spcPct val="0"/>
              </a:spcBef>
              <a:spcAft>
                <a:spcPct val="0"/>
              </a:spcAft>
            </a:pPr>
            <a:r>
              <a:rPr lang="en-US" noProof="0" dirty="0"/>
              <a:t>Check Lidar-Assisted Controller (LAC) with EOG simulation</a:t>
            </a:r>
          </a:p>
        </p:txBody>
      </p:sp>
      <p:sp>
        <p:nvSpPr>
          <p:cNvPr id="7" name="Text Placeholder 6">
            <a:extLst>
              <a:ext uri="{FF2B5EF4-FFF2-40B4-BE49-F238E27FC236}">
                <a16:creationId xmlns:a16="http://schemas.microsoft.com/office/drawing/2014/main" id="{DC22DFD0-8551-3A05-D2F0-A2FEDE79CBF4}"/>
              </a:ext>
            </a:extLst>
          </p:cNvPr>
          <p:cNvSpPr>
            <a:spLocks noGrp="1"/>
          </p:cNvSpPr>
          <p:nvPr>
            <p:ph type="body" sz="quarter" idx="18"/>
          </p:nvPr>
        </p:nvSpPr>
        <p:spPr/>
        <p:txBody>
          <a:bodyPr>
            <a:normAutofit/>
          </a:bodyPr>
          <a:lstStyle/>
          <a:p>
            <a:r>
              <a:rPr lang="en-US" noProof="0" dirty="0"/>
              <a:t>Mirza Dincer</a:t>
            </a:r>
          </a:p>
        </p:txBody>
      </p:sp>
      <p:sp>
        <p:nvSpPr>
          <p:cNvPr id="10" name="Date Placeholder 9">
            <a:extLst>
              <a:ext uri="{FF2B5EF4-FFF2-40B4-BE49-F238E27FC236}">
                <a16:creationId xmlns:a16="http://schemas.microsoft.com/office/drawing/2014/main" id="{3189547C-E522-4813-C302-A8977F7E7964}"/>
              </a:ext>
            </a:extLst>
          </p:cNvPr>
          <p:cNvSpPr>
            <a:spLocks noGrp="1"/>
          </p:cNvSpPr>
          <p:nvPr>
            <p:ph type="dt" sz="half" idx="19"/>
          </p:nvPr>
        </p:nvSpPr>
        <p:spPr/>
        <p:txBody>
          <a:bodyPr/>
          <a:lstStyle/>
          <a:p>
            <a:r>
              <a:rPr lang="en-US" noProof="0" dirty="0"/>
              <a:t>16/12/2025</a:t>
            </a:r>
          </a:p>
        </p:txBody>
      </p:sp>
      <p:sp>
        <p:nvSpPr>
          <p:cNvPr id="11" name="Slide Number Placeholder 10">
            <a:extLst>
              <a:ext uri="{FF2B5EF4-FFF2-40B4-BE49-F238E27FC236}">
                <a16:creationId xmlns:a16="http://schemas.microsoft.com/office/drawing/2014/main" id="{F804BE1C-7C80-B8F9-3A23-EBD96702EECE}"/>
              </a:ext>
            </a:extLst>
          </p:cNvPr>
          <p:cNvSpPr>
            <a:spLocks noGrp="1"/>
          </p:cNvSpPr>
          <p:nvPr>
            <p:ph type="sldNum" sz="quarter" idx="21"/>
          </p:nvPr>
        </p:nvSpPr>
        <p:spPr/>
        <p:txBody>
          <a:bodyPr/>
          <a:lstStyle/>
          <a:p>
            <a:fld id="{3A84E93A-72FE-4BB6-A500-FB6DD421822B}" type="slidenum">
              <a:rPr lang="en-US" noProof="0" smtClean="0"/>
              <a:t>3</a:t>
            </a:fld>
            <a:endParaRPr lang="en-US" noProof="0" dirty="0"/>
          </a:p>
        </p:txBody>
      </p:sp>
      <p:sp>
        <p:nvSpPr>
          <p:cNvPr id="12" name="Footer Placeholder 11">
            <a:extLst>
              <a:ext uri="{FF2B5EF4-FFF2-40B4-BE49-F238E27FC236}">
                <a16:creationId xmlns:a16="http://schemas.microsoft.com/office/drawing/2014/main" id="{32FC9593-3854-FCA1-E2BE-010AAED06C6C}"/>
              </a:ext>
            </a:extLst>
          </p:cNvPr>
          <p:cNvSpPr>
            <a:spLocks noGrp="1"/>
          </p:cNvSpPr>
          <p:nvPr>
            <p:ph type="ftr" sz="quarter" idx="20"/>
          </p:nvPr>
        </p:nvSpPr>
        <p:spPr>
          <a:xfrm>
            <a:off x="8483757" y="6564113"/>
            <a:ext cx="3165699" cy="365125"/>
          </a:xfrm>
        </p:spPr>
        <p:txBody>
          <a:bodyPr/>
          <a:lstStyle/>
          <a:p>
            <a:r>
              <a:rPr lang="en-US" noProof="0" dirty="0"/>
              <a:t>Feedback &amp; Lidar Controller  / Optimus Syria</a:t>
            </a:r>
          </a:p>
        </p:txBody>
      </p:sp>
    </p:spTree>
    <p:extLst>
      <p:ext uri="{BB962C8B-B14F-4D97-AF65-F5344CB8AC3E}">
        <p14:creationId xmlns:p14="http://schemas.microsoft.com/office/powerpoint/2010/main" val="3245172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9DEF2-44DC-1F67-C7C5-D282EE857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A3430-4BE4-DBE3-1E0E-E328A2FC6E53}"/>
              </a:ext>
            </a:extLst>
          </p:cNvPr>
          <p:cNvSpPr>
            <a:spLocks noGrp="1"/>
          </p:cNvSpPr>
          <p:nvPr>
            <p:ph type="title"/>
          </p:nvPr>
        </p:nvSpPr>
        <p:spPr/>
        <p:txBody>
          <a:bodyPr/>
          <a:lstStyle/>
          <a:p>
            <a:r>
              <a:rPr lang="en-US" noProof="0" dirty="0" err="1"/>
              <a:t>AeroDyn</a:t>
            </a:r>
            <a:r>
              <a:rPr lang="en-US" noProof="0" dirty="0"/>
              <a:t> Issues</a:t>
            </a:r>
          </a:p>
        </p:txBody>
      </p:sp>
      <p:sp>
        <p:nvSpPr>
          <p:cNvPr id="4" name="Text Placeholder 3">
            <a:extLst>
              <a:ext uri="{FF2B5EF4-FFF2-40B4-BE49-F238E27FC236}">
                <a16:creationId xmlns:a16="http://schemas.microsoft.com/office/drawing/2014/main" id="{B8722ABF-C4AB-6C5A-F194-B4564E0A2DEB}"/>
              </a:ext>
            </a:extLst>
          </p:cNvPr>
          <p:cNvSpPr>
            <a:spLocks noGrp="1"/>
          </p:cNvSpPr>
          <p:nvPr>
            <p:ph type="body" sz="quarter" idx="18"/>
          </p:nvPr>
        </p:nvSpPr>
        <p:spPr/>
        <p:txBody>
          <a:bodyPr/>
          <a:lstStyle/>
          <a:p>
            <a:r>
              <a:rPr lang="en-US" noProof="0" dirty="0"/>
              <a:t>Mirza Dincer</a:t>
            </a:r>
          </a:p>
        </p:txBody>
      </p:sp>
      <p:sp>
        <p:nvSpPr>
          <p:cNvPr id="8" name="Date Placeholder 7">
            <a:extLst>
              <a:ext uri="{FF2B5EF4-FFF2-40B4-BE49-F238E27FC236}">
                <a16:creationId xmlns:a16="http://schemas.microsoft.com/office/drawing/2014/main" id="{BCE4D9E4-BEFE-84F0-5414-725E02F63CA1}"/>
              </a:ext>
            </a:extLst>
          </p:cNvPr>
          <p:cNvSpPr>
            <a:spLocks noGrp="1"/>
          </p:cNvSpPr>
          <p:nvPr>
            <p:ph type="dt" sz="half" idx="19"/>
          </p:nvPr>
        </p:nvSpPr>
        <p:spPr/>
        <p:txBody>
          <a:bodyPr/>
          <a:lstStyle/>
          <a:p>
            <a:r>
              <a:rPr lang="en-US" noProof="0" dirty="0"/>
              <a:t>16/12/2025</a:t>
            </a:r>
          </a:p>
        </p:txBody>
      </p:sp>
      <p:sp>
        <p:nvSpPr>
          <p:cNvPr id="10" name="Footer Placeholder 9">
            <a:extLst>
              <a:ext uri="{FF2B5EF4-FFF2-40B4-BE49-F238E27FC236}">
                <a16:creationId xmlns:a16="http://schemas.microsoft.com/office/drawing/2014/main" id="{39E7C201-39BD-8357-7D46-96AF4FB77033}"/>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9" name="Slide Number Placeholder 8">
            <a:extLst>
              <a:ext uri="{FF2B5EF4-FFF2-40B4-BE49-F238E27FC236}">
                <a16:creationId xmlns:a16="http://schemas.microsoft.com/office/drawing/2014/main" id="{565EAAF4-942E-78F7-9B8B-BB76F6782BE4}"/>
              </a:ext>
            </a:extLst>
          </p:cNvPr>
          <p:cNvSpPr>
            <a:spLocks noGrp="1"/>
          </p:cNvSpPr>
          <p:nvPr>
            <p:ph type="sldNum" sz="quarter" idx="21"/>
          </p:nvPr>
        </p:nvSpPr>
        <p:spPr/>
        <p:txBody>
          <a:bodyPr/>
          <a:lstStyle/>
          <a:p>
            <a:fld id="{3A84E93A-72FE-4BB6-A500-FB6DD421822B}" type="slidenum">
              <a:rPr lang="en-US" noProof="0" smtClean="0"/>
              <a:t>4</a:t>
            </a:fld>
            <a:endParaRPr lang="en-US" noProof="0" dirty="0"/>
          </a:p>
        </p:txBody>
      </p:sp>
      <p:sp>
        <p:nvSpPr>
          <p:cNvPr id="6" name="Inhaltsplatzhalter 5">
            <a:extLst>
              <a:ext uri="{FF2B5EF4-FFF2-40B4-BE49-F238E27FC236}">
                <a16:creationId xmlns:a16="http://schemas.microsoft.com/office/drawing/2014/main" id="{26A2CC9E-C47A-C94D-DEED-F2E888FA0655}"/>
              </a:ext>
            </a:extLst>
          </p:cNvPr>
          <p:cNvSpPr>
            <a:spLocks noGrp="1"/>
          </p:cNvSpPr>
          <p:nvPr>
            <p:ph idx="1"/>
          </p:nvPr>
        </p:nvSpPr>
        <p:spPr/>
        <p:txBody>
          <a:bodyPr/>
          <a:lstStyle/>
          <a:p>
            <a:r>
              <a:rPr lang="en-US" noProof="0" dirty="0"/>
              <a:t>Original </a:t>
            </a:r>
            <a:r>
              <a:rPr lang="en-US" noProof="0" dirty="0" err="1"/>
              <a:t>AeroDyn</a:t>
            </a:r>
            <a:r>
              <a:rPr lang="en-US" noProof="0" dirty="0"/>
              <a:t> File had </a:t>
            </a:r>
            <a:r>
              <a:rPr lang="en-US" noProof="0" dirty="0" err="1"/>
              <a:t>WakeMod</a:t>
            </a:r>
            <a:r>
              <a:rPr lang="en-US" noProof="0" dirty="0"/>
              <a:t> = 0</a:t>
            </a:r>
          </a:p>
          <a:p>
            <a:r>
              <a:rPr lang="en-US" noProof="0" dirty="0"/>
              <a:t>0=none, 1=BEMT, 2=DBEMT, 3=OLAF</a:t>
            </a:r>
          </a:p>
          <a:p>
            <a:r>
              <a:rPr lang="en-US" noProof="0" dirty="0"/>
              <a:t>This caused from aerodynamic forces!</a:t>
            </a:r>
          </a:p>
          <a:p>
            <a:r>
              <a:rPr lang="en-US" noProof="0" dirty="0"/>
              <a:t>Now corrected to 1.</a:t>
            </a:r>
          </a:p>
          <a:p>
            <a:endParaRPr lang="en-US" noProof="0" dirty="0"/>
          </a:p>
          <a:p>
            <a:endParaRPr lang="en-US" noProof="0" dirty="0"/>
          </a:p>
          <a:p>
            <a:pPr marL="0" indent="0">
              <a:buNone/>
            </a:pPr>
            <a:r>
              <a:rPr lang="en-US" noProof="0" dirty="0"/>
              <a:t>Please check files before you provide it </a:t>
            </a:r>
            <a:br>
              <a:rPr lang="en-US" noProof="0" dirty="0"/>
            </a:br>
            <a:r>
              <a:rPr lang="en-US" noProof="0" dirty="0"/>
              <a:t>to other teams! Please be sure you know</a:t>
            </a:r>
            <a:br>
              <a:rPr lang="en-US" noProof="0" dirty="0"/>
            </a:br>
            <a:r>
              <a:rPr lang="en-US" noProof="0" dirty="0"/>
              <a:t>your tools! </a:t>
            </a:r>
          </a:p>
          <a:p>
            <a:endParaRPr lang="en-US" noProof="0" dirty="0"/>
          </a:p>
        </p:txBody>
      </p:sp>
      <p:pic>
        <p:nvPicPr>
          <p:cNvPr id="1026" name="Picture 2">
            <a:extLst>
              <a:ext uri="{FF2B5EF4-FFF2-40B4-BE49-F238E27FC236}">
                <a16:creationId xmlns:a16="http://schemas.microsoft.com/office/drawing/2014/main" id="{FE1E2C04-E1F7-EF39-5139-F2169DFC817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76569" y="1606347"/>
            <a:ext cx="6352254" cy="4764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8536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432FA-8208-3F68-E6BC-71DFEF801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9427F-60D2-D0F5-B5B9-0C21E2B36F76}"/>
              </a:ext>
            </a:extLst>
          </p:cNvPr>
          <p:cNvSpPr>
            <a:spLocks noGrp="1"/>
          </p:cNvSpPr>
          <p:nvPr>
            <p:ph type="title"/>
          </p:nvPr>
        </p:nvSpPr>
        <p:spPr/>
        <p:txBody>
          <a:bodyPr/>
          <a:lstStyle/>
          <a:p>
            <a:r>
              <a:rPr lang="en-US" noProof="0" dirty="0" err="1"/>
              <a:t>AeroDyn</a:t>
            </a:r>
            <a:r>
              <a:rPr lang="en-US" noProof="0" dirty="0"/>
              <a:t> Issues</a:t>
            </a:r>
          </a:p>
        </p:txBody>
      </p:sp>
      <p:sp>
        <p:nvSpPr>
          <p:cNvPr id="4" name="Text Placeholder 3">
            <a:extLst>
              <a:ext uri="{FF2B5EF4-FFF2-40B4-BE49-F238E27FC236}">
                <a16:creationId xmlns:a16="http://schemas.microsoft.com/office/drawing/2014/main" id="{18C29E9B-9C19-EA8F-1991-5C6ACABDD07A}"/>
              </a:ext>
            </a:extLst>
          </p:cNvPr>
          <p:cNvSpPr>
            <a:spLocks noGrp="1"/>
          </p:cNvSpPr>
          <p:nvPr>
            <p:ph type="body" sz="quarter" idx="18"/>
          </p:nvPr>
        </p:nvSpPr>
        <p:spPr/>
        <p:txBody>
          <a:bodyPr/>
          <a:lstStyle/>
          <a:p>
            <a:r>
              <a:rPr lang="en-US" noProof="0" dirty="0"/>
              <a:t>Mirza Dincer</a:t>
            </a:r>
          </a:p>
        </p:txBody>
      </p:sp>
      <p:sp>
        <p:nvSpPr>
          <p:cNvPr id="8" name="Date Placeholder 7">
            <a:extLst>
              <a:ext uri="{FF2B5EF4-FFF2-40B4-BE49-F238E27FC236}">
                <a16:creationId xmlns:a16="http://schemas.microsoft.com/office/drawing/2014/main" id="{3750A29F-6DBC-527E-CC32-ADEF8734E0FF}"/>
              </a:ext>
            </a:extLst>
          </p:cNvPr>
          <p:cNvSpPr>
            <a:spLocks noGrp="1"/>
          </p:cNvSpPr>
          <p:nvPr>
            <p:ph type="dt" sz="half" idx="19"/>
          </p:nvPr>
        </p:nvSpPr>
        <p:spPr/>
        <p:txBody>
          <a:bodyPr/>
          <a:lstStyle/>
          <a:p>
            <a:r>
              <a:rPr lang="en-US" noProof="0" dirty="0"/>
              <a:t>16/12/2025</a:t>
            </a:r>
          </a:p>
        </p:txBody>
      </p:sp>
      <p:sp>
        <p:nvSpPr>
          <p:cNvPr id="10" name="Footer Placeholder 9">
            <a:extLst>
              <a:ext uri="{FF2B5EF4-FFF2-40B4-BE49-F238E27FC236}">
                <a16:creationId xmlns:a16="http://schemas.microsoft.com/office/drawing/2014/main" id="{773E1BF8-E316-A983-13FF-CE11A8AF1204}"/>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9" name="Slide Number Placeholder 8">
            <a:extLst>
              <a:ext uri="{FF2B5EF4-FFF2-40B4-BE49-F238E27FC236}">
                <a16:creationId xmlns:a16="http://schemas.microsoft.com/office/drawing/2014/main" id="{48E849B7-AC4D-F3DB-4127-3D93696D866B}"/>
              </a:ext>
            </a:extLst>
          </p:cNvPr>
          <p:cNvSpPr>
            <a:spLocks noGrp="1"/>
          </p:cNvSpPr>
          <p:nvPr>
            <p:ph type="sldNum" sz="quarter" idx="21"/>
          </p:nvPr>
        </p:nvSpPr>
        <p:spPr/>
        <p:txBody>
          <a:bodyPr/>
          <a:lstStyle/>
          <a:p>
            <a:fld id="{3A84E93A-72FE-4BB6-A500-FB6DD421822B}" type="slidenum">
              <a:rPr lang="en-US" noProof="0" smtClean="0"/>
              <a:t>5</a:t>
            </a:fld>
            <a:endParaRPr lang="en-US" noProof="0" dirty="0"/>
          </a:p>
        </p:txBody>
      </p:sp>
      <p:sp>
        <p:nvSpPr>
          <p:cNvPr id="6" name="Inhaltsplatzhalter 5">
            <a:extLst>
              <a:ext uri="{FF2B5EF4-FFF2-40B4-BE49-F238E27FC236}">
                <a16:creationId xmlns:a16="http://schemas.microsoft.com/office/drawing/2014/main" id="{F7458B27-B631-5CB7-E42B-03CA38E40C0A}"/>
              </a:ext>
            </a:extLst>
          </p:cNvPr>
          <p:cNvSpPr>
            <a:spLocks noGrp="1"/>
          </p:cNvSpPr>
          <p:nvPr>
            <p:ph idx="1"/>
          </p:nvPr>
        </p:nvSpPr>
        <p:spPr>
          <a:xfrm>
            <a:off x="914400" y="5807075"/>
            <a:ext cx="10515600" cy="592822"/>
          </a:xfrm>
        </p:spPr>
        <p:txBody>
          <a:bodyPr/>
          <a:lstStyle/>
          <a:p>
            <a:pPr marL="0" indent="0">
              <a:buNone/>
            </a:pPr>
            <a:r>
              <a:rPr lang="en-US" noProof="0" dirty="0"/>
              <a:t>Maximum power coefficient is now 0.43 at TSR = 9.7 and 0 deg.</a:t>
            </a:r>
          </a:p>
        </p:txBody>
      </p:sp>
      <p:pic>
        <p:nvPicPr>
          <p:cNvPr id="5" name="Grafik 4">
            <a:extLst>
              <a:ext uri="{FF2B5EF4-FFF2-40B4-BE49-F238E27FC236}">
                <a16:creationId xmlns:a16="http://schemas.microsoft.com/office/drawing/2014/main" id="{D8DB6A71-6E43-04CF-5B89-0964CD4F421E}"/>
              </a:ext>
            </a:extLst>
          </p:cNvPr>
          <p:cNvPicPr>
            <a:picLocks noChangeAspect="1"/>
          </p:cNvPicPr>
          <p:nvPr/>
        </p:nvPicPr>
        <p:blipFill>
          <a:blip r:embed="rId2"/>
          <a:stretch>
            <a:fillRect/>
          </a:stretch>
        </p:blipFill>
        <p:spPr>
          <a:xfrm>
            <a:off x="5876546" y="1687998"/>
            <a:ext cx="5334000" cy="4000500"/>
          </a:xfrm>
          <a:prstGeom prst="rect">
            <a:avLst/>
          </a:prstGeom>
        </p:spPr>
      </p:pic>
      <p:pic>
        <p:nvPicPr>
          <p:cNvPr id="11" name="Grafik 10">
            <a:extLst>
              <a:ext uri="{FF2B5EF4-FFF2-40B4-BE49-F238E27FC236}">
                <a16:creationId xmlns:a16="http://schemas.microsoft.com/office/drawing/2014/main" id="{117C0700-5050-AE2F-C606-810BBE320522}"/>
              </a:ext>
            </a:extLst>
          </p:cNvPr>
          <p:cNvPicPr>
            <a:picLocks noChangeAspect="1"/>
          </p:cNvPicPr>
          <p:nvPr/>
        </p:nvPicPr>
        <p:blipFill>
          <a:blip r:embed="rId3"/>
          <a:stretch>
            <a:fillRect/>
          </a:stretch>
        </p:blipFill>
        <p:spPr>
          <a:xfrm>
            <a:off x="542546" y="1690688"/>
            <a:ext cx="5334000" cy="4000500"/>
          </a:xfrm>
          <a:prstGeom prst="rect">
            <a:avLst/>
          </a:prstGeom>
        </p:spPr>
      </p:pic>
    </p:spTree>
    <p:extLst>
      <p:ext uri="{BB962C8B-B14F-4D97-AF65-F5344CB8AC3E}">
        <p14:creationId xmlns:p14="http://schemas.microsoft.com/office/powerpoint/2010/main" val="3420739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A4094-EA8D-C3AA-AE75-9DD3AC76D3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8BAA471-CB9E-3C17-99C3-C45956CDE857}"/>
              </a:ext>
            </a:extLst>
          </p:cNvPr>
          <p:cNvSpPr>
            <a:spLocks noGrp="1"/>
          </p:cNvSpPr>
          <p:nvPr>
            <p:ph type="title"/>
          </p:nvPr>
        </p:nvSpPr>
        <p:spPr/>
        <p:txBody>
          <a:bodyPr/>
          <a:lstStyle/>
          <a:p>
            <a:r>
              <a:rPr lang="en-US" noProof="0" dirty="0"/>
              <a:t>Simulation Settings for Steady States</a:t>
            </a:r>
          </a:p>
        </p:txBody>
      </p:sp>
      <p:sp>
        <p:nvSpPr>
          <p:cNvPr id="6" name="Content Placeholder 5">
            <a:extLst>
              <a:ext uri="{FF2B5EF4-FFF2-40B4-BE49-F238E27FC236}">
                <a16:creationId xmlns:a16="http://schemas.microsoft.com/office/drawing/2014/main" id="{FE299F05-0528-8690-8A9C-DAB208873BAE}"/>
              </a:ext>
            </a:extLst>
          </p:cNvPr>
          <p:cNvSpPr>
            <a:spLocks noGrp="1"/>
          </p:cNvSpPr>
          <p:nvPr>
            <p:ph idx="1"/>
          </p:nvPr>
        </p:nvSpPr>
        <p:spPr>
          <a:xfrm>
            <a:off x="838200" y="1690688"/>
            <a:ext cx="10802112" cy="4351338"/>
          </a:xfrm>
        </p:spPr>
        <p:txBody>
          <a:bodyPr>
            <a:normAutofit/>
          </a:bodyPr>
          <a:lstStyle/>
          <a:p>
            <a:r>
              <a:rPr lang="en-US" b="1" noProof="0" dirty="0"/>
              <a:t>600 seconds </a:t>
            </a:r>
            <a:r>
              <a:rPr lang="en-US" noProof="0" dirty="0"/>
              <a:t>of simulation. </a:t>
            </a:r>
          </a:p>
          <a:p>
            <a:endParaRPr lang="en-US" noProof="0" dirty="0"/>
          </a:p>
          <a:p>
            <a:r>
              <a:rPr lang="en-US" b="1" noProof="0" dirty="0"/>
              <a:t>Wind speeds </a:t>
            </a:r>
            <a:r>
              <a:rPr lang="en-US" noProof="0" dirty="0"/>
              <a:t>from </a:t>
            </a:r>
            <a:r>
              <a:rPr lang="en-US" b="1" noProof="0" dirty="0"/>
              <a:t>1 m/s to 30 m/s</a:t>
            </a:r>
            <a:r>
              <a:rPr lang="en-US" noProof="0" dirty="0"/>
              <a:t>, with increments of 1 m/s.</a:t>
            </a:r>
          </a:p>
          <a:p>
            <a:endParaRPr lang="en-US" b="1" noProof="0" dirty="0"/>
          </a:p>
          <a:p>
            <a:r>
              <a:rPr lang="en-US" noProof="0" dirty="0"/>
              <a:t>Only enabled </a:t>
            </a:r>
            <a:r>
              <a:rPr lang="en-US" b="1" noProof="0" dirty="0"/>
              <a:t>Rotor DOF </a:t>
            </a:r>
            <a:r>
              <a:rPr lang="en-US" noProof="0" dirty="0"/>
              <a:t>and </a:t>
            </a:r>
            <a:r>
              <a:rPr lang="en-US" b="1" noProof="0" dirty="0"/>
              <a:t>First fore-aft tower bending-mode DOF.</a:t>
            </a:r>
          </a:p>
          <a:p>
            <a:endParaRPr lang="en-US" b="1" noProof="0" dirty="0"/>
          </a:p>
          <a:p>
            <a:r>
              <a:rPr lang="en-US" noProof="0" dirty="0"/>
              <a:t>No initial conditions set.</a:t>
            </a:r>
          </a:p>
          <a:p>
            <a:endParaRPr lang="en-US" noProof="0" dirty="0"/>
          </a:p>
          <a:p>
            <a:r>
              <a:rPr lang="en-US" noProof="0" dirty="0"/>
              <a:t>Feedback controller adjusted for Optimus Syria.</a:t>
            </a:r>
          </a:p>
          <a:p>
            <a:pPr marL="0" indent="0" eaLnBrk="0" fontAlgn="base" hangingPunct="0">
              <a:lnSpc>
                <a:spcPct val="100000"/>
              </a:lnSpc>
              <a:spcBef>
                <a:spcPct val="0"/>
              </a:spcBef>
              <a:spcAft>
                <a:spcPct val="0"/>
              </a:spcAft>
              <a:buNone/>
            </a:pPr>
            <a:endParaRPr lang="en-US" noProof="0" dirty="0"/>
          </a:p>
        </p:txBody>
      </p:sp>
      <p:sp>
        <p:nvSpPr>
          <p:cNvPr id="7" name="Text Placeholder 6">
            <a:extLst>
              <a:ext uri="{FF2B5EF4-FFF2-40B4-BE49-F238E27FC236}">
                <a16:creationId xmlns:a16="http://schemas.microsoft.com/office/drawing/2014/main" id="{052E7C50-4550-B117-82AF-F87C3C8D9424}"/>
              </a:ext>
            </a:extLst>
          </p:cNvPr>
          <p:cNvSpPr>
            <a:spLocks noGrp="1"/>
          </p:cNvSpPr>
          <p:nvPr>
            <p:ph type="body" sz="quarter" idx="18"/>
          </p:nvPr>
        </p:nvSpPr>
        <p:spPr/>
        <p:txBody>
          <a:bodyPr>
            <a:normAutofit/>
          </a:bodyPr>
          <a:lstStyle/>
          <a:p>
            <a:r>
              <a:rPr lang="en-US" noProof="0" dirty="0"/>
              <a:t>Mirza Dincer</a:t>
            </a:r>
          </a:p>
        </p:txBody>
      </p:sp>
      <p:sp>
        <p:nvSpPr>
          <p:cNvPr id="10" name="Date Placeholder 9">
            <a:extLst>
              <a:ext uri="{FF2B5EF4-FFF2-40B4-BE49-F238E27FC236}">
                <a16:creationId xmlns:a16="http://schemas.microsoft.com/office/drawing/2014/main" id="{78A1229E-324E-6EA5-9094-6BC846CE1538}"/>
              </a:ext>
            </a:extLst>
          </p:cNvPr>
          <p:cNvSpPr>
            <a:spLocks noGrp="1"/>
          </p:cNvSpPr>
          <p:nvPr>
            <p:ph type="dt" sz="half" idx="19"/>
          </p:nvPr>
        </p:nvSpPr>
        <p:spPr/>
        <p:txBody>
          <a:bodyPr/>
          <a:lstStyle/>
          <a:p>
            <a:r>
              <a:rPr lang="en-US" noProof="0" dirty="0"/>
              <a:t>16/12/2025</a:t>
            </a:r>
          </a:p>
        </p:txBody>
      </p:sp>
      <p:sp>
        <p:nvSpPr>
          <p:cNvPr id="11" name="Slide Number Placeholder 10">
            <a:extLst>
              <a:ext uri="{FF2B5EF4-FFF2-40B4-BE49-F238E27FC236}">
                <a16:creationId xmlns:a16="http://schemas.microsoft.com/office/drawing/2014/main" id="{A1D36336-C750-117E-702F-B37FF05675B2}"/>
              </a:ext>
            </a:extLst>
          </p:cNvPr>
          <p:cNvSpPr>
            <a:spLocks noGrp="1"/>
          </p:cNvSpPr>
          <p:nvPr>
            <p:ph type="sldNum" sz="quarter" idx="21"/>
          </p:nvPr>
        </p:nvSpPr>
        <p:spPr/>
        <p:txBody>
          <a:bodyPr/>
          <a:lstStyle/>
          <a:p>
            <a:fld id="{3A84E93A-72FE-4BB6-A500-FB6DD421822B}" type="slidenum">
              <a:rPr lang="en-US" noProof="0" smtClean="0"/>
              <a:t>6</a:t>
            </a:fld>
            <a:endParaRPr lang="en-US" noProof="0" dirty="0"/>
          </a:p>
        </p:txBody>
      </p:sp>
      <p:sp>
        <p:nvSpPr>
          <p:cNvPr id="12" name="Footer Placeholder 11">
            <a:extLst>
              <a:ext uri="{FF2B5EF4-FFF2-40B4-BE49-F238E27FC236}">
                <a16:creationId xmlns:a16="http://schemas.microsoft.com/office/drawing/2014/main" id="{1897A22F-6FF2-8D28-7439-2DAE2EB04FFB}"/>
              </a:ext>
            </a:extLst>
          </p:cNvPr>
          <p:cNvSpPr>
            <a:spLocks noGrp="1"/>
          </p:cNvSpPr>
          <p:nvPr>
            <p:ph type="ftr" sz="quarter" idx="20"/>
          </p:nvPr>
        </p:nvSpPr>
        <p:spPr>
          <a:xfrm>
            <a:off x="8483757" y="6564113"/>
            <a:ext cx="3165699" cy="365125"/>
          </a:xfrm>
        </p:spPr>
        <p:txBody>
          <a:bodyPr/>
          <a:lstStyle/>
          <a:p>
            <a:r>
              <a:rPr lang="en-US" noProof="0" dirty="0"/>
              <a:t>Feedback &amp; Lidar Controller  / Optimus Syria</a:t>
            </a:r>
          </a:p>
        </p:txBody>
      </p:sp>
    </p:spTree>
    <p:extLst>
      <p:ext uri="{BB962C8B-B14F-4D97-AF65-F5344CB8AC3E}">
        <p14:creationId xmlns:p14="http://schemas.microsoft.com/office/powerpoint/2010/main" val="1244473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4F24-6FFB-34F4-8126-8DCF3E7EA2B0}"/>
              </a:ext>
            </a:extLst>
          </p:cNvPr>
          <p:cNvSpPr>
            <a:spLocks noGrp="1"/>
          </p:cNvSpPr>
          <p:nvPr>
            <p:ph type="title"/>
          </p:nvPr>
        </p:nvSpPr>
        <p:spPr/>
        <p:txBody>
          <a:bodyPr/>
          <a:lstStyle/>
          <a:p>
            <a:r>
              <a:rPr lang="en-US" noProof="0" dirty="0"/>
              <a:t>Rotor Speed</a:t>
            </a:r>
          </a:p>
        </p:txBody>
      </p:sp>
      <p:sp>
        <p:nvSpPr>
          <p:cNvPr id="4" name="Text Placeholder 3">
            <a:extLst>
              <a:ext uri="{FF2B5EF4-FFF2-40B4-BE49-F238E27FC236}">
                <a16:creationId xmlns:a16="http://schemas.microsoft.com/office/drawing/2014/main" id="{137AA85D-DE54-0798-1300-536EEFE763CD}"/>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7A4FCAE8-824A-965B-61F6-038B3ED85296}"/>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1F818D31-4241-DCE8-AEFC-1E5FEB594957}"/>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C80CE664-1824-3251-EEA8-F2D5F287F1DA}"/>
              </a:ext>
            </a:extLst>
          </p:cNvPr>
          <p:cNvSpPr>
            <a:spLocks noGrp="1"/>
          </p:cNvSpPr>
          <p:nvPr>
            <p:ph type="sldNum" sz="quarter" idx="21"/>
          </p:nvPr>
        </p:nvSpPr>
        <p:spPr/>
        <p:txBody>
          <a:bodyPr/>
          <a:lstStyle/>
          <a:p>
            <a:fld id="{3A84E93A-72FE-4BB6-A500-FB6DD421822B}" type="slidenum">
              <a:rPr lang="en-US" noProof="0" smtClean="0"/>
              <a:t>7</a:t>
            </a:fld>
            <a:endParaRPr lang="en-US" noProof="0" dirty="0"/>
          </a:p>
        </p:txBody>
      </p:sp>
      <p:pic>
        <p:nvPicPr>
          <p:cNvPr id="12" name="Picture 11">
            <a:extLst>
              <a:ext uri="{FF2B5EF4-FFF2-40B4-BE49-F238E27FC236}">
                <a16:creationId xmlns:a16="http://schemas.microsoft.com/office/drawing/2014/main" id="{EC4F7C6A-609B-9F1C-308C-B6BBEDA2203B}"/>
              </a:ext>
            </a:extLst>
          </p:cNvPr>
          <p:cNvPicPr>
            <a:picLocks noChangeAspect="1"/>
          </p:cNvPicPr>
          <p:nvPr/>
        </p:nvPicPr>
        <p:blipFill>
          <a:blip r:embed="rId2"/>
          <a:stretch>
            <a:fillRect/>
          </a:stretch>
        </p:blipFill>
        <p:spPr>
          <a:xfrm>
            <a:off x="339148" y="968721"/>
            <a:ext cx="11513704" cy="5726869"/>
          </a:xfrm>
          <a:prstGeom prst="rect">
            <a:avLst/>
          </a:prstGeom>
        </p:spPr>
      </p:pic>
    </p:spTree>
    <p:extLst>
      <p:ext uri="{BB962C8B-B14F-4D97-AF65-F5344CB8AC3E}">
        <p14:creationId xmlns:p14="http://schemas.microsoft.com/office/powerpoint/2010/main" val="436361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3D1CE-F36C-81F5-5901-BA89CD7CCFE1}"/>
              </a:ext>
            </a:extLst>
          </p:cNvPr>
          <p:cNvSpPr>
            <a:spLocks noGrp="1"/>
          </p:cNvSpPr>
          <p:nvPr>
            <p:ph type="title"/>
          </p:nvPr>
        </p:nvSpPr>
        <p:spPr/>
        <p:txBody>
          <a:bodyPr/>
          <a:lstStyle/>
          <a:p>
            <a:r>
              <a:rPr lang="en-US" noProof="0" dirty="0"/>
              <a:t>Theta</a:t>
            </a:r>
          </a:p>
        </p:txBody>
      </p:sp>
      <p:sp>
        <p:nvSpPr>
          <p:cNvPr id="4" name="Text Placeholder 3">
            <a:extLst>
              <a:ext uri="{FF2B5EF4-FFF2-40B4-BE49-F238E27FC236}">
                <a16:creationId xmlns:a16="http://schemas.microsoft.com/office/drawing/2014/main" id="{7834C0F2-DAB9-C5AD-876E-B229702E9B53}"/>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53895460-3F8C-FFFE-C5F4-939B6BB865FC}"/>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466C7F88-323D-5843-15C4-5861DBC258D3}"/>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2BEEBD73-FACD-2B05-0B70-373C68329102}"/>
              </a:ext>
            </a:extLst>
          </p:cNvPr>
          <p:cNvSpPr>
            <a:spLocks noGrp="1"/>
          </p:cNvSpPr>
          <p:nvPr>
            <p:ph type="sldNum" sz="quarter" idx="21"/>
          </p:nvPr>
        </p:nvSpPr>
        <p:spPr/>
        <p:txBody>
          <a:bodyPr/>
          <a:lstStyle/>
          <a:p>
            <a:fld id="{3A84E93A-72FE-4BB6-A500-FB6DD421822B}" type="slidenum">
              <a:rPr lang="en-US" noProof="0" smtClean="0"/>
              <a:t>8</a:t>
            </a:fld>
            <a:endParaRPr lang="en-US" noProof="0" dirty="0"/>
          </a:p>
        </p:txBody>
      </p:sp>
      <p:pic>
        <p:nvPicPr>
          <p:cNvPr id="14" name="Picture 13">
            <a:extLst>
              <a:ext uri="{FF2B5EF4-FFF2-40B4-BE49-F238E27FC236}">
                <a16:creationId xmlns:a16="http://schemas.microsoft.com/office/drawing/2014/main" id="{D2582B93-1944-2606-DEE1-F04AE1CA5C13}"/>
              </a:ext>
            </a:extLst>
          </p:cNvPr>
          <p:cNvPicPr>
            <a:picLocks noChangeAspect="1"/>
          </p:cNvPicPr>
          <p:nvPr/>
        </p:nvPicPr>
        <p:blipFill>
          <a:blip r:embed="rId2"/>
          <a:stretch>
            <a:fillRect/>
          </a:stretch>
        </p:blipFill>
        <p:spPr>
          <a:xfrm>
            <a:off x="339148" y="968721"/>
            <a:ext cx="11513704" cy="5726869"/>
          </a:xfrm>
          <a:prstGeom prst="rect">
            <a:avLst/>
          </a:prstGeom>
        </p:spPr>
      </p:pic>
    </p:spTree>
    <p:extLst>
      <p:ext uri="{BB962C8B-B14F-4D97-AF65-F5344CB8AC3E}">
        <p14:creationId xmlns:p14="http://schemas.microsoft.com/office/powerpoint/2010/main" val="597490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5882A-9F59-2960-1FB6-788D8FA614D5}"/>
              </a:ext>
            </a:extLst>
          </p:cNvPr>
          <p:cNvSpPr>
            <a:spLocks noGrp="1"/>
          </p:cNvSpPr>
          <p:nvPr>
            <p:ph type="title"/>
          </p:nvPr>
        </p:nvSpPr>
        <p:spPr/>
        <p:txBody>
          <a:bodyPr/>
          <a:lstStyle/>
          <a:p>
            <a:r>
              <a:rPr lang="en-US" noProof="0" dirty="0"/>
              <a:t>Generator Torque</a:t>
            </a:r>
          </a:p>
        </p:txBody>
      </p:sp>
      <p:sp>
        <p:nvSpPr>
          <p:cNvPr id="4" name="Text Placeholder 3">
            <a:extLst>
              <a:ext uri="{FF2B5EF4-FFF2-40B4-BE49-F238E27FC236}">
                <a16:creationId xmlns:a16="http://schemas.microsoft.com/office/drawing/2014/main" id="{6DE06B8D-3F25-4C49-86E6-F407379498F3}"/>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BA4FFB96-0B17-1730-9882-0C4B177C9428}"/>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E4C77423-614F-CD48-98A4-57D6092C7DCA}"/>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3AD8895A-F3F1-C5C9-BD88-0098B356115C}"/>
              </a:ext>
            </a:extLst>
          </p:cNvPr>
          <p:cNvSpPr>
            <a:spLocks noGrp="1"/>
          </p:cNvSpPr>
          <p:nvPr>
            <p:ph type="sldNum" sz="quarter" idx="21"/>
          </p:nvPr>
        </p:nvSpPr>
        <p:spPr/>
        <p:txBody>
          <a:bodyPr/>
          <a:lstStyle/>
          <a:p>
            <a:fld id="{3A84E93A-72FE-4BB6-A500-FB6DD421822B}" type="slidenum">
              <a:rPr lang="en-US" noProof="0" smtClean="0"/>
              <a:t>9</a:t>
            </a:fld>
            <a:endParaRPr lang="en-US" noProof="0" dirty="0"/>
          </a:p>
        </p:txBody>
      </p:sp>
      <p:pic>
        <p:nvPicPr>
          <p:cNvPr id="10" name="Picture 9">
            <a:extLst>
              <a:ext uri="{FF2B5EF4-FFF2-40B4-BE49-F238E27FC236}">
                <a16:creationId xmlns:a16="http://schemas.microsoft.com/office/drawing/2014/main" id="{6AC8DD9F-38DF-BD35-634F-CE26089E3631}"/>
              </a:ext>
            </a:extLst>
          </p:cNvPr>
          <p:cNvPicPr>
            <a:picLocks noChangeAspect="1"/>
          </p:cNvPicPr>
          <p:nvPr/>
        </p:nvPicPr>
        <p:blipFill>
          <a:blip r:embed="rId2"/>
          <a:stretch>
            <a:fillRect/>
          </a:stretch>
        </p:blipFill>
        <p:spPr>
          <a:xfrm>
            <a:off x="339148" y="968721"/>
            <a:ext cx="11513704" cy="5726869"/>
          </a:xfrm>
          <a:prstGeom prst="rect">
            <a:avLst/>
          </a:prstGeom>
        </p:spPr>
      </p:pic>
    </p:spTree>
    <p:extLst>
      <p:ext uri="{BB962C8B-B14F-4D97-AF65-F5344CB8AC3E}">
        <p14:creationId xmlns:p14="http://schemas.microsoft.com/office/powerpoint/2010/main" val="2640385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14FA7-ABDC-083E-9CA4-78225821959F}"/>
              </a:ext>
            </a:extLst>
          </p:cNvPr>
          <p:cNvSpPr>
            <a:spLocks noGrp="1"/>
          </p:cNvSpPr>
          <p:nvPr>
            <p:ph type="title"/>
          </p:nvPr>
        </p:nvSpPr>
        <p:spPr/>
        <p:txBody>
          <a:bodyPr/>
          <a:lstStyle/>
          <a:p>
            <a:r>
              <a:rPr lang="en-US" noProof="0" dirty="0"/>
              <a:t>Tower Top Displacement</a:t>
            </a:r>
          </a:p>
        </p:txBody>
      </p:sp>
      <p:sp>
        <p:nvSpPr>
          <p:cNvPr id="4" name="Text Placeholder 3">
            <a:extLst>
              <a:ext uri="{FF2B5EF4-FFF2-40B4-BE49-F238E27FC236}">
                <a16:creationId xmlns:a16="http://schemas.microsoft.com/office/drawing/2014/main" id="{9C101389-BEC0-BAC5-60A1-9B13B89E93E1}"/>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84437B53-C63F-1D85-5409-7DFF5D7382EE}"/>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13EA309D-94BC-445B-A7FD-7988E7037672}"/>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46D93FF3-8DE3-A050-914A-C126C6C3EC19}"/>
              </a:ext>
            </a:extLst>
          </p:cNvPr>
          <p:cNvSpPr>
            <a:spLocks noGrp="1"/>
          </p:cNvSpPr>
          <p:nvPr>
            <p:ph type="sldNum" sz="quarter" idx="21"/>
          </p:nvPr>
        </p:nvSpPr>
        <p:spPr/>
        <p:txBody>
          <a:bodyPr/>
          <a:lstStyle/>
          <a:p>
            <a:fld id="{3A84E93A-72FE-4BB6-A500-FB6DD421822B}" type="slidenum">
              <a:rPr lang="en-US" noProof="0" smtClean="0"/>
              <a:t>10</a:t>
            </a:fld>
            <a:endParaRPr lang="en-US" noProof="0" dirty="0"/>
          </a:p>
        </p:txBody>
      </p:sp>
      <p:pic>
        <p:nvPicPr>
          <p:cNvPr id="10" name="Picture 9">
            <a:extLst>
              <a:ext uri="{FF2B5EF4-FFF2-40B4-BE49-F238E27FC236}">
                <a16:creationId xmlns:a16="http://schemas.microsoft.com/office/drawing/2014/main" id="{ED75D12E-5795-803C-38A1-E51F1CB4F1B0}"/>
              </a:ext>
            </a:extLst>
          </p:cNvPr>
          <p:cNvPicPr>
            <a:picLocks noChangeAspect="1"/>
          </p:cNvPicPr>
          <p:nvPr/>
        </p:nvPicPr>
        <p:blipFill>
          <a:blip r:embed="rId2"/>
          <a:stretch>
            <a:fillRect/>
          </a:stretch>
        </p:blipFill>
        <p:spPr>
          <a:xfrm>
            <a:off x="339148" y="968721"/>
            <a:ext cx="11513704" cy="5726869"/>
          </a:xfrm>
          <a:prstGeom prst="rect">
            <a:avLst/>
          </a:prstGeom>
        </p:spPr>
      </p:pic>
    </p:spTree>
    <p:extLst>
      <p:ext uri="{BB962C8B-B14F-4D97-AF65-F5344CB8AC3E}">
        <p14:creationId xmlns:p14="http://schemas.microsoft.com/office/powerpoint/2010/main" val="2064182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DFBE7-A5B6-6DEA-A2E4-4C2F37CDC210}"/>
              </a:ext>
            </a:extLst>
          </p:cNvPr>
          <p:cNvSpPr>
            <a:spLocks noGrp="1"/>
          </p:cNvSpPr>
          <p:nvPr>
            <p:ph type="title"/>
          </p:nvPr>
        </p:nvSpPr>
        <p:spPr/>
        <p:txBody>
          <a:bodyPr/>
          <a:lstStyle/>
          <a:p>
            <a:r>
              <a:rPr lang="en-US" noProof="0" dirty="0"/>
              <a:t>Generator Power</a:t>
            </a:r>
          </a:p>
        </p:txBody>
      </p:sp>
      <p:sp>
        <p:nvSpPr>
          <p:cNvPr id="4" name="Text Placeholder 3">
            <a:extLst>
              <a:ext uri="{FF2B5EF4-FFF2-40B4-BE49-F238E27FC236}">
                <a16:creationId xmlns:a16="http://schemas.microsoft.com/office/drawing/2014/main" id="{45AE9BBA-A58F-9856-F291-81DF5E5F5E80}"/>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84EA794C-6615-B884-8081-90DACE37EB3D}"/>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078A20FF-1FB9-D860-7444-7296E936D926}"/>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50D36B84-65FB-5CAC-EFE7-37093122B6A2}"/>
              </a:ext>
            </a:extLst>
          </p:cNvPr>
          <p:cNvSpPr>
            <a:spLocks noGrp="1"/>
          </p:cNvSpPr>
          <p:nvPr>
            <p:ph type="sldNum" sz="quarter" idx="21"/>
          </p:nvPr>
        </p:nvSpPr>
        <p:spPr/>
        <p:txBody>
          <a:bodyPr/>
          <a:lstStyle/>
          <a:p>
            <a:fld id="{3A84E93A-72FE-4BB6-A500-FB6DD421822B}" type="slidenum">
              <a:rPr lang="en-US" noProof="0" smtClean="0"/>
              <a:t>11</a:t>
            </a:fld>
            <a:endParaRPr lang="en-US" noProof="0" dirty="0"/>
          </a:p>
        </p:txBody>
      </p:sp>
      <p:pic>
        <p:nvPicPr>
          <p:cNvPr id="10" name="Picture 9">
            <a:extLst>
              <a:ext uri="{FF2B5EF4-FFF2-40B4-BE49-F238E27FC236}">
                <a16:creationId xmlns:a16="http://schemas.microsoft.com/office/drawing/2014/main" id="{B5A1B0A0-CC08-F031-3BF6-728001ED0E13}"/>
              </a:ext>
            </a:extLst>
          </p:cNvPr>
          <p:cNvPicPr>
            <a:picLocks noChangeAspect="1"/>
          </p:cNvPicPr>
          <p:nvPr/>
        </p:nvPicPr>
        <p:blipFill>
          <a:blip r:embed="rId2"/>
          <a:stretch>
            <a:fillRect/>
          </a:stretch>
        </p:blipFill>
        <p:spPr>
          <a:xfrm>
            <a:off x="339148" y="968721"/>
            <a:ext cx="11513704" cy="5726869"/>
          </a:xfrm>
          <a:prstGeom prst="rect">
            <a:avLst/>
          </a:prstGeom>
        </p:spPr>
      </p:pic>
    </p:spTree>
    <p:extLst>
      <p:ext uri="{BB962C8B-B14F-4D97-AF65-F5344CB8AC3E}">
        <p14:creationId xmlns:p14="http://schemas.microsoft.com/office/powerpoint/2010/main" val="3844909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2DAFD-99E2-9493-6DCD-E51EC2B4B501}"/>
              </a:ext>
            </a:extLst>
          </p:cNvPr>
          <p:cNvSpPr>
            <a:spLocks noGrp="1"/>
          </p:cNvSpPr>
          <p:nvPr>
            <p:ph type="title"/>
          </p:nvPr>
        </p:nvSpPr>
        <p:spPr/>
        <p:txBody>
          <a:bodyPr/>
          <a:lstStyle/>
          <a:p>
            <a:r>
              <a:rPr lang="en-US" noProof="0" dirty="0"/>
              <a:t>Torque Controller</a:t>
            </a:r>
          </a:p>
        </p:txBody>
      </p:sp>
      <p:sp>
        <p:nvSpPr>
          <p:cNvPr id="4" name="Text Placeholder 3">
            <a:extLst>
              <a:ext uri="{FF2B5EF4-FFF2-40B4-BE49-F238E27FC236}">
                <a16:creationId xmlns:a16="http://schemas.microsoft.com/office/drawing/2014/main" id="{279210D5-2248-7409-FC3A-60782C2C0354}"/>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80A467DC-6F72-D061-8D81-60C626724535}"/>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AFD540D1-5ACF-DD1E-9C0F-68938D5699DD}"/>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F87382B2-51FA-E3D2-87F4-CDC98548C3E6}"/>
              </a:ext>
            </a:extLst>
          </p:cNvPr>
          <p:cNvSpPr>
            <a:spLocks noGrp="1"/>
          </p:cNvSpPr>
          <p:nvPr>
            <p:ph type="sldNum" sz="quarter" idx="21"/>
          </p:nvPr>
        </p:nvSpPr>
        <p:spPr/>
        <p:txBody>
          <a:bodyPr/>
          <a:lstStyle/>
          <a:p>
            <a:fld id="{3A84E93A-72FE-4BB6-A500-FB6DD421822B}" type="slidenum">
              <a:rPr lang="en-US" noProof="0" smtClean="0"/>
              <a:t>12</a:t>
            </a:fld>
            <a:endParaRPr lang="en-US" noProof="0" dirty="0"/>
          </a:p>
        </p:txBody>
      </p:sp>
      <p:pic>
        <p:nvPicPr>
          <p:cNvPr id="10" name="Picture 9">
            <a:extLst>
              <a:ext uri="{FF2B5EF4-FFF2-40B4-BE49-F238E27FC236}">
                <a16:creationId xmlns:a16="http://schemas.microsoft.com/office/drawing/2014/main" id="{2B9DC788-E2B6-CBD5-02E9-F55CA163862A}"/>
              </a:ext>
            </a:extLst>
          </p:cNvPr>
          <p:cNvPicPr>
            <a:picLocks noChangeAspect="1"/>
          </p:cNvPicPr>
          <p:nvPr/>
        </p:nvPicPr>
        <p:blipFill>
          <a:blip r:embed="rId2"/>
          <a:stretch>
            <a:fillRect/>
          </a:stretch>
        </p:blipFill>
        <p:spPr>
          <a:xfrm>
            <a:off x="339148" y="968721"/>
            <a:ext cx="11513704" cy="5726869"/>
          </a:xfrm>
          <a:prstGeom prst="rect">
            <a:avLst/>
          </a:prstGeom>
        </p:spPr>
      </p:pic>
    </p:spTree>
    <p:extLst>
      <p:ext uri="{BB962C8B-B14F-4D97-AF65-F5344CB8AC3E}">
        <p14:creationId xmlns:p14="http://schemas.microsoft.com/office/powerpoint/2010/main" val="637018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E628-DD75-7FF7-4DE7-7B5A90D7EBA0}"/>
              </a:ext>
            </a:extLst>
          </p:cNvPr>
          <p:cNvSpPr>
            <a:spLocks noGrp="1"/>
          </p:cNvSpPr>
          <p:nvPr>
            <p:ph type="title"/>
          </p:nvPr>
        </p:nvSpPr>
        <p:spPr/>
        <p:txBody>
          <a:bodyPr/>
          <a:lstStyle/>
          <a:p>
            <a:r>
              <a:rPr lang="en-US" noProof="0" dirty="0"/>
              <a:t>Step Response in Below Rated</a:t>
            </a:r>
          </a:p>
        </p:txBody>
      </p:sp>
      <p:sp>
        <p:nvSpPr>
          <p:cNvPr id="4" name="Text Placeholder 3">
            <a:extLst>
              <a:ext uri="{FF2B5EF4-FFF2-40B4-BE49-F238E27FC236}">
                <a16:creationId xmlns:a16="http://schemas.microsoft.com/office/drawing/2014/main" id="{C77530E1-DA9A-8FFC-1881-F615DFADED64}"/>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19EA080F-F5E2-2BB5-D471-6393539232C5}"/>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8FDBB47F-9A02-63D7-12F9-42B8E41B54AA}"/>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BCACC71F-1DC0-616B-1891-827A7B0660B4}"/>
              </a:ext>
            </a:extLst>
          </p:cNvPr>
          <p:cNvSpPr>
            <a:spLocks noGrp="1"/>
          </p:cNvSpPr>
          <p:nvPr>
            <p:ph type="sldNum" sz="quarter" idx="21"/>
          </p:nvPr>
        </p:nvSpPr>
        <p:spPr/>
        <p:txBody>
          <a:bodyPr/>
          <a:lstStyle/>
          <a:p>
            <a:fld id="{3A84E93A-72FE-4BB6-A500-FB6DD421822B}" type="slidenum">
              <a:rPr lang="en-US" noProof="0" smtClean="0"/>
              <a:t>13</a:t>
            </a:fld>
            <a:endParaRPr lang="en-US" noProof="0" dirty="0"/>
          </a:p>
        </p:txBody>
      </p:sp>
      <p:sp>
        <p:nvSpPr>
          <p:cNvPr id="12" name="TextBox 11">
            <a:extLst>
              <a:ext uri="{FF2B5EF4-FFF2-40B4-BE49-F238E27FC236}">
                <a16:creationId xmlns:a16="http://schemas.microsoft.com/office/drawing/2014/main" id="{9E72A1B9-CBA2-A95A-D883-98244DC08EC0}"/>
              </a:ext>
            </a:extLst>
          </p:cNvPr>
          <p:cNvSpPr txBox="1"/>
          <p:nvPr/>
        </p:nvSpPr>
        <p:spPr>
          <a:xfrm>
            <a:off x="8183959" y="2111793"/>
            <a:ext cx="3765294" cy="1815882"/>
          </a:xfrm>
          <a:prstGeom prst="rect">
            <a:avLst/>
          </a:prstGeom>
          <a:noFill/>
        </p:spPr>
        <p:txBody>
          <a:bodyPr wrap="square" rtlCol="0">
            <a:spAutoFit/>
          </a:bodyPr>
          <a:lstStyle/>
          <a:p>
            <a:pPr marL="285750" indent="-285750" algn="l">
              <a:buFont typeface="Arial" panose="020B0604020202020204" pitchFamily="34" charset="0"/>
              <a:buChar char="•"/>
            </a:pPr>
            <a:r>
              <a:rPr lang="en-US" sz="1400" noProof="0" dirty="0"/>
              <a:t>In step response for below rated,  we need a behavior  of slightly damped (D = 0.7), and natural frequency of 2 -3 times slower than rated rotational speed. </a:t>
            </a:r>
            <a:br>
              <a:rPr lang="en-US" sz="1400" noProof="0" dirty="0"/>
            </a:br>
            <a:endParaRPr lang="en-US" sz="1400" noProof="0" dirty="0"/>
          </a:p>
          <a:p>
            <a:pPr marL="285750" indent="-285750" algn="l">
              <a:buFont typeface="Arial" panose="020B0604020202020204" pitchFamily="34" charset="0"/>
              <a:buChar char="•"/>
            </a:pPr>
            <a:r>
              <a:rPr lang="en-US" sz="1400" noProof="0" dirty="0"/>
              <a:t>For Optimus Syria rated rotational speed is 10 rpm = 1.047 rad/s </a:t>
            </a:r>
            <a:br>
              <a:rPr lang="en-US" sz="1400" noProof="0" dirty="0"/>
            </a:br>
            <a:endParaRPr lang="en-US" sz="1400" noProof="0" dirty="0"/>
          </a:p>
        </p:txBody>
      </p:sp>
      <p:pic>
        <p:nvPicPr>
          <p:cNvPr id="8" name="Content Placeholder 10">
            <a:extLst>
              <a:ext uri="{FF2B5EF4-FFF2-40B4-BE49-F238E27FC236}">
                <a16:creationId xmlns:a16="http://schemas.microsoft.com/office/drawing/2014/main" id="{61BD6BFF-8110-77B8-73A9-CD94DF1B4A48}"/>
              </a:ext>
            </a:extLst>
          </p:cNvPr>
          <p:cNvPicPr>
            <a:picLocks noGrp="1" noChangeAspect="1"/>
          </p:cNvPicPr>
          <p:nvPr>
            <p:ph idx="1"/>
          </p:nvPr>
        </p:nvPicPr>
        <p:blipFill>
          <a:blip r:embed="rId2"/>
          <a:stretch>
            <a:fillRect/>
          </a:stretch>
        </p:blipFill>
        <p:spPr>
          <a:xfrm>
            <a:off x="46337" y="1533482"/>
            <a:ext cx="7923410" cy="4788386"/>
          </a:xfrm>
          <a:prstGeom prst="rect">
            <a:avLst/>
          </a:prstGeom>
        </p:spPr>
      </p:pic>
    </p:spTree>
    <p:extLst>
      <p:ext uri="{BB962C8B-B14F-4D97-AF65-F5344CB8AC3E}">
        <p14:creationId xmlns:p14="http://schemas.microsoft.com/office/powerpoint/2010/main" val="1688854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A5F82-9679-69AC-418E-81D04BA1CC86}"/>
              </a:ext>
            </a:extLst>
          </p:cNvPr>
          <p:cNvSpPr>
            <a:spLocks noGrp="1"/>
          </p:cNvSpPr>
          <p:nvPr>
            <p:ph type="title"/>
          </p:nvPr>
        </p:nvSpPr>
        <p:spPr/>
        <p:txBody>
          <a:bodyPr/>
          <a:lstStyle/>
          <a:p>
            <a:r>
              <a:rPr lang="en-US" noProof="0" dirty="0"/>
              <a:t>Simulation Settings for Step Response</a:t>
            </a:r>
          </a:p>
        </p:txBody>
      </p:sp>
      <p:sp>
        <p:nvSpPr>
          <p:cNvPr id="3" name="Content Placeholder 2">
            <a:extLst>
              <a:ext uri="{FF2B5EF4-FFF2-40B4-BE49-F238E27FC236}">
                <a16:creationId xmlns:a16="http://schemas.microsoft.com/office/drawing/2014/main" id="{925D8E60-323B-82E5-AD4E-3A09C1751F34}"/>
              </a:ext>
            </a:extLst>
          </p:cNvPr>
          <p:cNvSpPr>
            <a:spLocks noGrp="1"/>
          </p:cNvSpPr>
          <p:nvPr>
            <p:ph idx="1"/>
          </p:nvPr>
        </p:nvSpPr>
        <p:spPr/>
        <p:txBody>
          <a:bodyPr/>
          <a:lstStyle/>
          <a:p>
            <a:r>
              <a:rPr lang="en-US" b="1" noProof="0" dirty="0"/>
              <a:t>300 seconds </a:t>
            </a:r>
            <a:r>
              <a:rPr lang="en-US" noProof="0" dirty="0"/>
              <a:t>of simulation, to see settled values for both wind speeds.</a:t>
            </a:r>
          </a:p>
          <a:p>
            <a:endParaRPr lang="en-US" noProof="0" dirty="0"/>
          </a:p>
          <a:p>
            <a:r>
              <a:rPr lang="en-US" b="1" noProof="0" dirty="0"/>
              <a:t>Step wind speed</a:t>
            </a:r>
            <a:r>
              <a:rPr lang="en-US" noProof="0" dirty="0"/>
              <a:t>,</a:t>
            </a:r>
            <a:r>
              <a:rPr lang="en-US" b="1" noProof="0" dirty="0"/>
              <a:t> </a:t>
            </a:r>
            <a:r>
              <a:rPr lang="en-US" noProof="0" dirty="0"/>
              <a:t>from 6 m/s to 7 m/s.</a:t>
            </a:r>
          </a:p>
          <a:p>
            <a:endParaRPr lang="en-US" b="1" noProof="0" dirty="0"/>
          </a:p>
          <a:p>
            <a:r>
              <a:rPr lang="en-US" noProof="0" dirty="0"/>
              <a:t>Only enabled </a:t>
            </a:r>
            <a:r>
              <a:rPr lang="en-US" b="1" noProof="0" dirty="0"/>
              <a:t>Rotor DOF </a:t>
            </a:r>
            <a:r>
              <a:rPr lang="en-US" noProof="0" dirty="0"/>
              <a:t>and </a:t>
            </a:r>
            <a:r>
              <a:rPr lang="en-US" b="1" noProof="0" dirty="0"/>
              <a:t>First fore-aft tower bending-mode DOF</a:t>
            </a:r>
            <a:r>
              <a:rPr lang="en-US" noProof="0" dirty="0"/>
              <a:t>.</a:t>
            </a:r>
          </a:p>
          <a:p>
            <a:endParaRPr lang="en-US" b="1" noProof="0" dirty="0"/>
          </a:p>
          <a:p>
            <a:r>
              <a:rPr lang="en-US" noProof="0" dirty="0"/>
              <a:t>Initial conditions of </a:t>
            </a:r>
            <a:r>
              <a:rPr lang="en-US" b="1" noProof="0" dirty="0"/>
              <a:t>rotor speed </a:t>
            </a:r>
            <a:r>
              <a:rPr lang="en-US" noProof="0" dirty="0"/>
              <a:t>and </a:t>
            </a:r>
            <a:r>
              <a:rPr lang="en-US" b="1" noProof="0" dirty="0"/>
              <a:t>fore-aft tower top displacement</a:t>
            </a:r>
            <a:r>
              <a:rPr lang="en-US" noProof="0" dirty="0"/>
              <a:t>.</a:t>
            </a:r>
            <a:r>
              <a:rPr lang="en-US" b="1" noProof="0" dirty="0"/>
              <a:t> </a:t>
            </a:r>
          </a:p>
          <a:p>
            <a:endParaRPr lang="en-US" noProof="0" dirty="0"/>
          </a:p>
          <a:p>
            <a:r>
              <a:rPr lang="en-US" noProof="0" dirty="0"/>
              <a:t>Feedback controller adjusted for Optimus Syria.</a:t>
            </a:r>
          </a:p>
          <a:p>
            <a:pPr marL="0" indent="0" eaLnBrk="0" fontAlgn="base" hangingPunct="0">
              <a:lnSpc>
                <a:spcPct val="100000"/>
              </a:lnSpc>
              <a:spcBef>
                <a:spcPct val="0"/>
              </a:spcBef>
              <a:spcAft>
                <a:spcPct val="0"/>
              </a:spcAft>
              <a:buNone/>
            </a:pPr>
            <a:endParaRPr lang="en-US" noProof="0" dirty="0"/>
          </a:p>
          <a:p>
            <a:endParaRPr lang="en-US" noProof="0" dirty="0"/>
          </a:p>
        </p:txBody>
      </p:sp>
      <p:sp>
        <p:nvSpPr>
          <p:cNvPr id="4" name="Text Placeholder 3">
            <a:extLst>
              <a:ext uri="{FF2B5EF4-FFF2-40B4-BE49-F238E27FC236}">
                <a16:creationId xmlns:a16="http://schemas.microsoft.com/office/drawing/2014/main" id="{BEB0422F-0DEF-89FB-E366-CBEFA885095A}"/>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30679589-95DF-A95B-42AD-D444EF722B2E}"/>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75792FF0-B516-37F7-F83A-5D8FF644CFED}"/>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196B48D9-E66A-A2E9-E0A8-5CE0456A9802}"/>
              </a:ext>
            </a:extLst>
          </p:cNvPr>
          <p:cNvSpPr>
            <a:spLocks noGrp="1"/>
          </p:cNvSpPr>
          <p:nvPr>
            <p:ph type="sldNum" sz="quarter" idx="21"/>
          </p:nvPr>
        </p:nvSpPr>
        <p:spPr/>
        <p:txBody>
          <a:bodyPr/>
          <a:lstStyle/>
          <a:p>
            <a:fld id="{3A84E93A-72FE-4BB6-A500-FB6DD421822B}" type="slidenum">
              <a:rPr lang="en-US" noProof="0" smtClean="0"/>
              <a:t>14</a:t>
            </a:fld>
            <a:endParaRPr lang="en-US" noProof="0" dirty="0"/>
          </a:p>
        </p:txBody>
      </p:sp>
    </p:spTree>
    <p:extLst>
      <p:ext uri="{BB962C8B-B14F-4D97-AF65-F5344CB8AC3E}">
        <p14:creationId xmlns:p14="http://schemas.microsoft.com/office/powerpoint/2010/main" val="2938888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68F2B-6EDA-872E-498A-A81CDC49C2B2}"/>
              </a:ext>
            </a:extLst>
          </p:cNvPr>
          <p:cNvSpPr>
            <a:spLocks noGrp="1"/>
          </p:cNvSpPr>
          <p:nvPr>
            <p:ph type="title"/>
          </p:nvPr>
        </p:nvSpPr>
        <p:spPr/>
        <p:txBody>
          <a:bodyPr/>
          <a:lstStyle/>
          <a:p>
            <a:r>
              <a:rPr lang="en-US" noProof="0" dirty="0" err="1"/>
              <a:t>Kp</a:t>
            </a:r>
            <a:r>
              <a:rPr lang="en-US" noProof="0" dirty="0"/>
              <a:t> and Ki for Torque Controller</a:t>
            </a:r>
          </a:p>
        </p:txBody>
      </p:sp>
      <p:sp>
        <p:nvSpPr>
          <p:cNvPr id="4" name="Text Placeholder 3">
            <a:extLst>
              <a:ext uri="{FF2B5EF4-FFF2-40B4-BE49-F238E27FC236}">
                <a16:creationId xmlns:a16="http://schemas.microsoft.com/office/drawing/2014/main" id="{98ABDF3D-D447-6A82-080A-C74B6051B5F0}"/>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2F0BD542-6FD8-F0CE-54C2-1ABF5D0387E4}"/>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F86AD896-738C-27D3-4D82-EF9383804634}"/>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977D2419-FBDC-C5B1-DBAF-64865B759C2E}"/>
              </a:ext>
            </a:extLst>
          </p:cNvPr>
          <p:cNvSpPr>
            <a:spLocks noGrp="1"/>
          </p:cNvSpPr>
          <p:nvPr>
            <p:ph type="sldNum" sz="quarter" idx="21"/>
          </p:nvPr>
        </p:nvSpPr>
        <p:spPr/>
        <p:txBody>
          <a:bodyPr/>
          <a:lstStyle/>
          <a:p>
            <a:fld id="{3A84E93A-72FE-4BB6-A500-FB6DD421822B}" type="slidenum">
              <a:rPr lang="en-US" noProof="0" smtClean="0"/>
              <a:t>15</a:t>
            </a:fld>
            <a:endParaRPr lang="en-US" noProof="0" dirty="0"/>
          </a:p>
        </p:txBody>
      </p:sp>
      <p:pic>
        <p:nvPicPr>
          <p:cNvPr id="10" name="Picture 9">
            <a:extLst>
              <a:ext uri="{FF2B5EF4-FFF2-40B4-BE49-F238E27FC236}">
                <a16:creationId xmlns:a16="http://schemas.microsoft.com/office/drawing/2014/main" id="{27F2F319-D5DE-5BA2-6EB2-12E70D74D853}"/>
              </a:ext>
            </a:extLst>
          </p:cNvPr>
          <p:cNvPicPr>
            <a:picLocks noChangeAspect="1"/>
          </p:cNvPicPr>
          <p:nvPr/>
        </p:nvPicPr>
        <p:blipFill>
          <a:blip r:embed="rId2"/>
          <a:stretch>
            <a:fillRect/>
          </a:stretch>
        </p:blipFill>
        <p:spPr>
          <a:xfrm>
            <a:off x="-702867" y="1602949"/>
            <a:ext cx="9522243" cy="4889926"/>
          </a:xfrm>
          <a:prstGeom prst="rect">
            <a:avLst/>
          </a:prstGeom>
        </p:spPr>
      </p:pic>
      <p:sp>
        <p:nvSpPr>
          <p:cNvPr id="11" name="TextBox 10">
            <a:extLst>
              <a:ext uri="{FF2B5EF4-FFF2-40B4-BE49-F238E27FC236}">
                <a16:creationId xmlns:a16="http://schemas.microsoft.com/office/drawing/2014/main" id="{6184D29C-6F83-5EF5-1902-E67A4AC3FD00}"/>
              </a:ext>
            </a:extLst>
          </p:cNvPr>
          <p:cNvSpPr txBox="1"/>
          <p:nvPr/>
        </p:nvSpPr>
        <p:spPr>
          <a:xfrm>
            <a:off x="8167254" y="2014289"/>
            <a:ext cx="3838668" cy="3323987"/>
          </a:xfrm>
          <a:prstGeom prst="rect">
            <a:avLst/>
          </a:prstGeom>
          <a:noFill/>
        </p:spPr>
        <p:txBody>
          <a:bodyPr wrap="square" rtlCol="0">
            <a:spAutoFit/>
          </a:bodyPr>
          <a:lstStyle/>
          <a:p>
            <a:pPr algn="l"/>
            <a:r>
              <a:rPr lang="en-US" sz="1400" noProof="0" dirty="0"/>
              <a:t>Starting </a:t>
            </a:r>
            <a:r>
              <a:rPr lang="en-US" sz="1400" noProof="0" dirty="0" err="1"/>
              <a:t>Kp</a:t>
            </a:r>
            <a:r>
              <a:rPr lang="en-US" sz="1400" noProof="0" dirty="0"/>
              <a:t> chosen same as IEA 3.4 MW, </a:t>
            </a:r>
          </a:p>
          <a:p>
            <a:pPr algn="l"/>
            <a:r>
              <a:rPr lang="en-US" sz="1400" noProof="0" dirty="0" err="1"/>
              <a:t>Kp</a:t>
            </a:r>
            <a:r>
              <a:rPr lang="en-US" sz="1400" noProof="0" dirty="0"/>
              <a:t> = 961 [Nm/(rad/s)].</a:t>
            </a:r>
          </a:p>
          <a:p>
            <a:pPr algn="l"/>
            <a:endParaRPr lang="en-US" sz="1400" noProof="0" dirty="0"/>
          </a:p>
          <a:p>
            <a:pPr algn="l"/>
            <a:r>
              <a:rPr lang="en-US" sz="1400" noProof="0" dirty="0"/>
              <a:t>Ki = </a:t>
            </a:r>
            <a:r>
              <a:rPr lang="en-US" sz="1400" noProof="0" dirty="0" err="1"/>
              <a:t>Kp</a:t>
            </a:r>
            <a:r>
              <a:rPr lang="en-US" sz="1400" noProof="0" dirty="0"/>
              <a:t> / Ti, where Ti = 6 s.</a:t>
            </a:r>
          </a:p>
          <a:p>
            <a:pPr algn="l"/>
            <a:endParaRPr lang="en-US" sz="1400" noProof="0" dirty="0"/>
          </a:p>
          <a:p>
            <a:pPr algn="l"/>
            <a:r>
              <a:rPr lang="en-US" sz="1400" noProof="0" dirty="0"/>
              <a:t>Check different </a:t>
            </a:r>
            <a:r>
              <a:rPr lang="en-US" sz="1400" noProof="0" dirty="0" err="1"/>
              <a:t>Kp</a:t>
            </a:r>
            <a:r>
              <a:rPr lang="en-US" sz="1400" noProof="0" dirty="0"/>
              <a:t> values for a behavior of </a:t>
            </a:r>
          </a:p>
          <a:p>
            <a:pPr algn="l"/>
            <a:r>
              <a:rPr lang="en-US" sz="1400" noProof="0" dirty="0"/>
              <a:t>D = 0.7, and w = 0.4 - 0.5 [rad/s].</a:t>
            </a:r>
          </a:p>
          <a:p>
            <a:pPr algn="l"/>
            <a:endParaRPr lang="en-US" sz="1400" noProof="0" dirty="0"/>
          </a:p>
          <a:p>
            <a:r>
              <a:rPr lang="en-US" sz="1400" noProof="0" dirty="0"/>
              <a:t>In the figure, we compare the step response of different </a:t>
            </a:r>
            <a:r>
              <a:rPr lang="en-US" sz="1400" noProof="0" dirty="0" err="1"/>
              <a:t>Kp</a:t>
            </a:r>
            <a:r>
              <a:rPr lang="en-US" sz="1400" noProof="0" dirty="0"/>
              <a:t> values from 6 m/s to 7 m/s.</a:t>
            </a:r>
          </a:p>
          <a:p>
            <a:endParaRPr lang="en-US" sz="1400" noProof="0" dirty="0"/>
          </a:p>
          <a:p>
            <a:r>
              <a:rPr lang="en-US" sz="1400" noProof="0" dirty="0"/>
              <a:t>It is seen that as we increase the </a:t>
            </a:r>
            <a:r>
              <a:rPr lang="en-US" sz="1400" noProof="0" dirty="0" err="1"/>
              <a:t>Kp</a:t>
            </a:r>
            <a:r>
              <a:rPr lang="en-US" sz="1400" noProof="0" dirty="0"/>
              <a:t>, we get a better behavior.</a:t>
            </a:r>
          </a:p>
          <a:p>
            <a:pPr algn="l"/>
            <a:endParaRPr lang="en-US" sz="1400" noProof="0" dirty="0"/>
          </a:p>
          <a:p>
            <a:pPr algn="l"/>
            <a:endParaRPr lang="en-US" sz="1400" noProof="0" dirty="0"/>
          </a:p>
        </p:txBody>
      </p:sp>
    </p:spTree>
    <p:extLst>
      <p:ext uri="{BB962C8B-B14F-4D97-AF65-F5344CB8AC3E}">
        <p14:creationId xmlns:p14="http://schemas.microsoft.com/office/powerpoint/2010/main" val="341150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D50FF-BB46-6FA2-8686-637C6A02C07F}"/>
              </a:ext>
            </a:extLst>
          </p:cNvPr>
          <p:cNvSpPr>
            <a:spLocks noGrp="1"/>
          </p:cNvSpPr>
          <p:nvPr>
            <p:ph type="title"/>
          </p:nvPr>
        </p:nvSpPr>
        <p:spPr>
          <a:xfrm>
            <a:off x="838200" y="365125"/>
            <a:ext cx="11257230" cy="1325563"/>
          </a:xfrm>
        </p:spPr>
        <p:txBody>
          <a:bodyPr/>
          <a:lstStyle/>
          <a:p>
            <a:r>
              <a:rPr lang="en-US" noProof="0" dirty="0"/>
              <a:t>Step Response Result of  </a:t>
            </a:r>
            <a:r>
              <a:rPr lang="en-US" noProof="0" dirty="0" err="1"/>
              <a:t>Kp</a:t>
            </a:r>
            <a:r>
              <a:rPr lang="en-US" noProof="0" dirty="0"/>
              <a:t> = 1400 [Nm/(rad/s)]</a:t>
            </a:r>
          </a:p>
        </p:txBody>
      </p:sp>
      <p:sp>
        <p:nvSpPr>
          <p:cNvPr id="4" name="Text Placeholder 3">
            <a:extLst>
              <a:ext uri="{FF2B5EF4-FFF2-40B4-BE49-F238E27FC236}">
                <a16:creationId xmlns:a16="http://schemas.microsoft.com/office/drawing/2014/main" id="{4EB3AC30-4C8A-023C-5804-7D8FF6B6930F}"/>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DE6C397C-09DD-7FD4-CAE0-3819AA0D28EF}"/>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89857E5D-DEDE-302F-4DB1-C3CA7ABE1F0A}"/>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D4AC49DE-B916-883F-9F8E-D238F924A07D}"/>
              </a:ext>
            </a:extLst>
          </p:cNvPr>
          <p:cNvSpPr>
            <a:spLocks noGrp="1"/>
          </p:cNvSpPr>
          <p:nvPr>
            <p:ph type="sldNum" sz="quarter" idx="21"/>
          </p:nvPr>
        </p:nvSpPr>
        <p:spPr/>
        <p:txBody>
          <a:bodyPr/>
          <a:lstStyle/>
          <a:p>
            <a:fld id="{3A84E93A-72FE-4BB6-A500-FB6DD421822B}" type="slidenum">
              <a:rPr lang="en-US" noProof="0" smtClean="0"/>
              <a:t>16</a:t>
            </a:fld>
            <a:endParaRPr lang="en-US" noProof="0" dirty="0"/>
          </a:p>
        </p:txBody>
      </p:sp>
      <p:pic>
        <p:nvPicPr>
          <p:cNvPr id="3" name="Content Placeholder 14">
            <a:extLst>
              <a:ext uri="{FF2B5EF4-FFF2-40B4-BE49-F238E27FC236}">
                <a16:creationId xmlns:a16="http://schemas.microsoft.com/office/drawing/2014/main" id="{CA97F704-5BB5-7D7B-49CB-C3B2D3316E9B}"/>
              </a:ext>
            </a:extLst>
          </p:cNvPr>
          <p:cNvPicPr>
            <a:picLocks noGrp="1" noChangeAspect="1"/>
          </p:cNvPicPr>
          <p:nvPr/>
        </p:nvPicPr>
        <p:blipFill>
          <a:blip r:embed="rId2">
            <a:clrChange>
              <a:clrFrom>
                <a:srgbClr val="FFFFFF"/>
              </a:clrFrom>
              <a:clrTo>
                <a:srgbClr val="FFFFFF">
                  <a:alpha val="0"/>
                </a:srgbClr>
              </a:clrTo>
            </a:clrChange>
          </a:blip>
          <a:stretch>
            <a:fillRect/>
          </a:stretch>
        </p:blipFill>
        <p:spPr>
          <a:xfrm>
            <a:off x="2070603" y="1265130"/>
            <a:ext cx="8050794" cy="5297638"/>
          </a:xfrm>
          <a:prstGeom prst="rect">
            <a:avLst/>
          </a:prstGeom>
        </p:spPr>
      </p:pic>
    </p:spTree>
    <p:extLst>
      <p:ext uri="{BB962C8B-B14F-4D97-AF65-F5344CB8AC3E}">
        <p14:creationId xmlns:p14="http://schemas.microsoft.com/office/powerpoint/2010/main" val="197912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CC8EA-AFD7-2AD1-CFB3-8B85AF4C2499}"/>
              </a:ext>
            </a:extLst>
          </p:cNvPr>
          <p:cNvSpPr>
            <a:spLocks noGrp="1"/>
          </p:cNvSpPr>
          <p:nvPr>
            <p:ph type="title"/>
          </p:nvPr>
        </p:nvSpPr>
        <p:spPr/>
        <p:txBody>
          <a:bodyPr/>
          <a:lstStyle/>
          <a:p>
            <a:r>
              <a:rPr lang="en-US" noProof="0" dirty="0"/>
              <a:t>Optimization of Pitch Controller</a:t>
            </a:r>
          </a:p>
        </p:txBody>
      </p:sp>
      <p:sp>
        <p:nvSpPr>
          <p:cNvPr id="3" name="Content Placeholder 2">
            <a:extLst>
              <a:ext uri="{FF2B5EF4-FFF2-40B4-BE49-F238E27FC236}">
                <a16:creationId xmlns:a16="http://schemas.microsoft.com/office/drawing/2014/main" id="{257366AF-87EC-D60F-A8CD-7512D48C2263}"/>
              </a:ext>
            </a:extLst>
          </p:cNvPr>
          <p:cNvSpPr>
            <a:spLocks noGrp="1"/>
          </p:cNvSpPr>
          <p:nvPr>
            <p:ph idx="1"/>
          </p:nvPr>
        </p:nvSpPr>
        <p:spPr/>
        <p:txBody>
          <a:bodyPr>
            <a:normAutofit fontScale="92500" lnSpcReduction="10000"/>
          </a:bodyPr>
          <a:lstStyle/>
          <a:p>
            <a:r>
              <a:rPr lang="en-US" b="1" noProof="0" dirty="0" err="1"/>
              <a:t>Kp</a:t>
            </a:r>
            <a:r>
              <a:rPr lang="en-US" b="1" noProof="0" dirty="0"/>
              <a:t>, Ki and theta is a vector </a:t>
            </a:r>
            <a:r>
              <a:rPr lang="en-US" noProof="0" dirty="0"/>
              <a:t> with a 30 number of elements in ROSCO input file.</a:t>
            </a:r>
          </a:p>
          <a:p>
            <a:endParaRPr lang="en-US" noProof="0" dirty="0"/>
          </a:p>
          <a:p>
            <a:r>
              <a:rPr lang="en-US" noProof="0" dirty="0"/>
              <a:t>It is time consuming to calculate </a:t>
            </a:r>
            <a:r>
              <a:rPr lang="en-US" noProof="0" dirty="0" err="1"/>
              <a:t>Kp</a:t>
            </a:r>
            <a:r>
              <a:rPr lang="en-US" noProof="0" dirty="0"/>
              <a:t> and Ki for each theta angle. Instead, an optimization method is used.</a:t>
            </a:r>
          </a:p>
          <a:p>
            <a:endParaRPr lang="en-US" noProof="0" dirty="0"/>
          </a:p>
          <a:p>
            <a:r>
              <a:rPr lang="en-US" noProof="0" dirty="0"/>
              <a:t>Ti will be kept constant to 1P time.</a:t>
            </a:r>
          </a:p>
          <a:p>
            <a:pPr marL="0" indent="0">
              <a:buNone/>
            </a:pPr>
            <a:endParaRPr lang="en-US" noProof="0" dirty="0"/>
          </a:p>
          <a:p>
            <a:r>
              <a:rPr lang="en-US" noProof="0" dirty="0"/>
              <a:t>Start by choosing a starting point of </a:t>
            </a:r>
            <a:r>
              <a:rPr lang="en-US" noProof="0" dirty="0" err="1"/>
              <a:t>Kp</a:t>
            </a:r>
            <a:r>
              <a:rPr lang="en-US" noProof="0" dirty="0"/>
              <a:t> and theta, and neighbor points. Then convert this points to a vector for ROSCO input file and run DLC 1.2 simulation.</a:t>
            </a:r>
          </a:p>
          <a:p>
            <a:endParaRPr lang="en-US" noProof="0" dirty="0"/>
          </a:p>
          <a:p>
            <a:r>
              <a:rPr lang="en-US" noProof="0" dirty="0"/>
              <a:t>As a result, We will have a map with each point we selected with DEL and AEP, will search for the point where minimum DEL of tower base fore-aft bending moment and the AEP is maximum.</a:t>
            </a:r>
          </a:p>
          <a:p>
            <a:pPr marL="0" indent="0">
              <a:buNone/>
            </a:pPr>
            <a:endParaRPr lang="en-US" noProof="0" dirty="0"/>
          </a:p>
        </p:txBody>
      </p:sp>
      <p:sp>
        <p:nvSpPr>
          <p:cNvPr id="4" name="Text Placeholder 3">
            <a:extLst>
              <a:ext uri="{FF2B5EF4-FFF2-40B4-BE49-F238E27FC236}">
                <a16:creationId xmlns:a16="http://schemas.microsoft.com/office/drawing/2014/main" id="{30AEC447-70F5-B250-C85D-EC4DE914CE96}"/>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AAA37D9E-0DBD-DF9C-E692-19923011AF29}"/>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33FF5271-065B-E153-6522-7642A5210F3A}"/>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506E6810-CA83-F255-34F2-47E118C70E9C}"/>
              </a:ext>
            </a:extLst>
          </p:cNvPr>
          <p:cNvSpPr>
            <a:spLocks noGrp="1"/>
          </p:cNvSpPr>
          <p:nvPr>
            <p:ph type="sldNum" sz="quarter" idx="21"/>
          </p:nvPr>
        </p:nvSpPr>
        <p:spPr/>
        <p:txBody>
          <a:bodyPr/>
          <a:lstStyle/>
          <a:p>
            <a:fld id="{3A84E93A-72FE-4BB6-A500-FB6DD421822B}" type="slidenum">
              <a:rPr lang="en-US" noProof="0" smtClean="0"/>
              <a:t>17</a:t>
            </a:fld>
            <a:endParaRPr lang="en-US" noProof="0" dirty="0"/>
          </a:p>
        </p:txBody>
      </p:sp>
    </p:spTree>
    <p:extLst>
      <p:ext uri="{BB962C8B-B14F-4D97-AF65-F5344CB8AC3E}">
        <p14:creationId xmlns:p14="http://schemas.microsoft.com/office/powerpoint/2010/main" val="783996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AA2EA-EE24-628A-00D3-C47212834EBB}"/>
              </a:ext>
            </a:extLst>
          </p:cNvPr>
          <p:cNvSpPr>
            <a:spLocks noGrp="1"/>
          </p:cNvSpPr>
          <p:nvPr>
            <p:ph type="title"/>
          </p:nvPr>
        </p:nvSpPr>
        <p:spPr/>
        <p:txBody>
          <a:bodyPr/>
          <a:lstStyle/>
          <a:p>
            <a:r>
              <a:rPr lang="en-US" noProof="0" dirty="0"/>
              <a:t>Optimization of Pitch Controller</a:t>
            </a:r>
          </a:p>
        </p:txBody>
      </p:sp>
      <p:sp>
        <p:nvSpPr>
          <p:cNvPr id="4" name="Text Placeholder 3">
            <a:extLst>
              <a:ext uri="{FF2B5EF4-FFF2-40B4-BE49-F238E27FC236}">
                <a16:creationId xmlns:a16="http://schemas.microsoft.com/office/drawing/2014/main" id="{5672FB92-3813-4135-655D-8BA3046410E9}"/>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7069EE19-764C-8307-CAB5-98897995CE60}"/>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EF098CF3-B052-8F54-9B12-FF5C392D2AD2}"/>
              </a:ext>
            </a:extLst>
          </p:cNvPr>
          <p:cNvSpPr>
            <a:spLocks noGrp="1"/>
          </p:cNvSpPr>
          <p:nvPr>
            <p:ph type="ftr" sz="quarter" idx="20"/>
          </p:nvPr>
        </p:nvSpPr>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9D22F097-8B1B-1429-3C40-79089012EF40}"/>
              </a:ext>
            </a:extLst>
          </p:cNvPr>
          <p:cNvSpPr>
            <a:spLocks noGrp="1"/>
          </p:cNvSpPr>
          <p:nvPr>
            <p:ph type="sldNum" sz="quarter" idx="21"/>
          </p:nvPr>
        </p:nvSpPr>
        <p:spPr/>
        <p:txBody>
          <a:bodyPr/>
          <a:lstStyle/>
          <a:p>
            <a:fld id="{3A84E93A-72FE-4BB6-A500-FB6DD421822B}" type="slidenum">
              <a:rPr lang="en-US" noProof="0" smtClean="0"/>
              <a:t>18</a:t>
            </a:fld>
            <a:endParaRPr lang="en-US" noProof="0" dirty="0"/>
          </a:p>
        </p:txBody>
      </p:sp>
      <p:sp>
        <p:nvSpPr>
          <p:cNvPr id="9" name="Rectangle 8">
            <a:extLst>
              <a:ext uri="{FF2B5EF4-FFF2-40B4-BE49-F238E27FC236}">
                <a16:creationId xmlns:a16="http://schemas.microsoft.com/office/drawing/2014/main" id="{7EB7E119-A152-6C7A-76CF-10B3DBD15B00}"/>
              </a:ext>
            </a:extLst>
          </p:cNvPr>
          <p:cNvSpPr/>
          <p:nvPr/>
        </p:nvSpPr>
        <p:spPr>
          <a:xfrm>
            <a:off x="4124960" y="3106696"/>
            <a:ext cx="3251200" cy="13255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4" name="Straight Arrow Connector 13">
            <a:extLst>
              <a:ext uri="{FF2B5EF4-FFF2-40B4-BE49-F238E27FC236}">
                <a16:creationId xmlns:a16="http://schemas.microsoft.com/office/drawing/2014/main" id="{265541C2-A6F7-4D86-58BE-24E9D4A477D5}"/>
              </a:ext>
            </a:extLst>
          </p:cNvPr>
          <p:cNvCxnSpPr>
            <a:endCxn id="9" idx="1"/>
          </p:cNvCxnSpPr>
          <p:nvPr/>
        </p:nvCxnSpPr>
        <p:spPr>
          <a:xfrm>
            <a:off x="2661920" y="3769477"/>
            <a:ext cx="146304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943BCB9-F61B-0944-FD1E-BF6263B96A5A}"/>
              </a:ext>
            </a:extLst>
          </p:cNvPr>
          <p:cNvCxnSpPr>
            <a:cxnSpLocks/>
            <a:stCxn id="9" idx="3"/>
          </p:cNvCxnSpPr>
          <p:nvPr/>
        </p:nvCxnSpPr>
        <p:spPr>
          <a:xfrm flipV="1">
            <a:off x="7376160" y="3769476"/>
            <a:ext cx="1172222"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FD08041-3217-A56C-522B-1304EC206A89}"/>
              </a:ext>
            </a:extLst>
          </p:cNvPr>
          <p:cNvCxnSpPr>
            <a:cxnSpLocks/>
          </p:cNvCxnSpPr>
          <p:nvPr/>
        </p:nvCxnSpPr>
        <p:spPr>
          <a:xfrm>
            <a:off x="5740400" y="2443915"/>
            <a:ext cx="0" cy="6627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DAA10F4-ADBF-3F93-F8FE-94E3D393A4F2}"/>
              </a:ext>
            </a:extLst>
          </p:cNvPr>
          <p:cNvSpPr txBox="1"/>
          <p:nvPr/>
        </p:nvSpPr>
        <p:spPr>
          <a:xfrm>
            <a:off x="5115560" y="3607098"/>
            <a:ext cx="1239520" cy="430887"/>
          </a:xfrm>
          <a:prstGeom prst="rect">
            <a:avLst/>
          </a:prstGeom>
          <a:noFill/>
        </p:spPr>
        <p:txBody>
          <a:bodyPr wrap="square" rtlCol="0">
            <a:spAutoFit/>
          </a:bodyPr>
          <a:lstStyle/>
          <a:p>
            <a:pPr algn="l"/>
            <a:r>
              <a:rPr lang="en-US" sz="2200" noProof="0" dirty="0"/>
              <a:t>Mapping</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A1600B01-7FA8-EFF1-F72F-1D623283A431}"/>
                  </a:ext>
                </a:extLst>
              </p:cNvPr>
              <p:cNvSpPr txBox="1"/>
              <p:nvPr/>
            </p:nvSpPr>
            <p:spPr>
              <a:xfrm>
                <a:off x="5312212" y="1967804"/>
                <a:ext cx="1306702" cy="430887"/>
              </a:xfrm>
              <a:prstGeom prst="rect">
                <a:avLst/>
              </a:prstGeom>
              <a:noFill/>
            </p:spPr>
            <p:txBody>
              <a:bodyPr wrap="square" rtlCol="0">
                <a:spAutoFit/>
              </a:bodyPr>
              <a:lstStyle/>
              <a:p>
                <a14:m>
                  <m:oMath xmlns:m="http://schemas.openxmlformats.org/officeDocument/2006/math">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𝜃</m:t>
                        </m:r>
                      </m:e>
                      <m:sub>
                        <m:r>
                          <a:rPr lang="en-US" sz="2200" i="1" noProof="0" smtClean="0">
                            <a:latin typeface="Cambria Math" panose="02040503050406030204" pitchFamily="18" charset="0"/>
                          </a:rPr>
                          <m:t>𝑣</m:t>
                        </m:r>
                      </m:sub>
                    </m:sSub>
                  </m:oMath>
                </a14:m>
                <a:r>
                  <a:rPr lang="en-US" sz="2200" noProof="0" dirty="0"/>
                  <a:t>, </a:t>
                </a:r>
                <a14:m>
                  <m:oMath xmlns:m="http://schemas.openxmlformats.org/officeDocument/2006/math">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𝑇</m:t>
                        </m:r>
                      </m:e>
                      <m:sub>
                        <m:r>
                          <a:rPr lang="en-US" sz="2200" i="1" noProof="0" smtClean="0">
                            <a:latin typeface="Cambria Math" panose="02040503050406030204" pitchFamily="18" charset="0"/>
                          </a:rPr>
                          <m:t>𝑖</m:t>
                        </m:r>
                      </m:sub>
                    </m:sSub>
                  </m:oMath>
                </a14:m>
                <a:endParaRPr lang="en-US" sz="2200" noProof="0" dirty="0"/>
              </a:p>
            </p:txBody>
          </p:sp>
        </mc:Choice>
        <mc:Fallback>
          <p:sp>
            <p:nvSpPr>
              <p:cNvPr id="21" name="TextBox 20">
                <a:extLst>
                  <a:ext uri="{FF2B5EF4-FFF2-40B4-BE49-F238E27FC236}">
                    <a16:creationId xmlns:a16="http://schemas.microsoft.com/office/drawing/2014/main" id="{A1600B01-7FA8-EFF1-F72F-1D623283A431}"/>
                  </a:ext>
                </a:extLst>
              </p:cNvPr>
              <p:cNvSpPr txBox="1">
                <a:spLocks noRot="1" noChangeAspect="1" noMove="1" noResize="1" noEditPoints="1" noAdjustHandles="1" noChangeArrowheads="1" noChangeShapeType="1" noTextEdit="1"/>
              </p:cNvSpPr>
              <p:nvPr/>
            </p:nvSpPr>
            <p:spPr>
              <a:xfrm>
                <a:off x="5312212" y="1967804"/>
                <a:ext cx="1306702" cy="430887"/>
              </a:xfrm>
              <a:prstGeom prst="rect">
                <a:avLst/>
              </a:prstGeom>
              <a:blipFill>
                <a:blip r:embed="rId3"/>
                <a:stretch>
                  <a:fillRect l="-465" t="-8571" b="-3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E27BE4B2-D33B-17EB-8648-00101922E3F8}"/>
                  </a:ext>
                </a:extLst>
              </p:cNvPr>
              <p:cNvSpPr txBox="1"/>
              <p:nvPr/>
            </p:nvSpPr>
            <p:spPr>
              <a:xfrm>
                <a:off x="1449754" y="3540983"/>
                <a:ext cx="1701800" cy="456985"/>
              </a:xfrm>
              <a:prstGeom prst="rect">
                <a:avLst/>
              </a:prstGeom>
              <a:noFill/>
            </p:spPr>
            <p:txBody>
              <a:bodyPr wrap="square" rtlCol="0">
                <a:spAutoFit/>
              </a:bodyPr>
              <a:lstStyle/>
              <a:p>
                <a14:m>
                  <m:oMath xmlns:m="http://schemas.openxmlformats.org/officeDocument/2006/math">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𝐾</m:t>
                        </m:r>
                      </m:e>
                      <m:sub>
                        <m:r>
                          <a:rPr lang="en-US" sz="2200" i="1" noProof="0" smtClean="0">
                            <a:latin typeface="Cambria Math" panose="02040503050406030204" pitchFamily="18" charset="0"/>
                          </a:rPr>
                          <m:t>𝑝</m:t>
                        </m:r>
                      </m:sub>
                    </m:sSub>
                  </m:oMath>
                </a14:m>
                <a:r>
                  <a:rPr lang="en-US" sz="2200" noProof="0" dirty="0"/>
                  <a:t>, </a:t>
                </a:r>
                <a14:m>
                  <m:oMath xmlns:m="http://schemas.openxmlformats.org/officeDocument/2006/math">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𝜃</m:t>
                        </m:r>
                      </m:e>
                      <m:sub>
                        <m:r>
                          <a:rPr lang="en-US" sz="2200" i="1" noProof="0" smtClean="0">
                            <a:latin typeface="Cambria Math" panose="02040503050406030204" pitchFamily="18" charset="0"/>
                          </a:rPr>
                          <m:t>𝑘</m:t>
                        </m:r>
                      </m:sub>
                    </m:sSub>
                    <m:r>
                      <a:rPr lang="en-US" sz="2200" i="1" noProof="0" smtClean="0">
                        <a:latin typeface="Cambria Math" panose="02040503050406030204" pitchFamily="18" charset="0"/>
                      </a:rPr>
                      <m:t> </m:t>
                    </m:r>
                  </m:oMath>
                </a14:m>
                <a:endParaRPr lang="en-US" sz="2200" noProof="0" dirty="0"/>
              </a:p>
            </p:txBody>
          </p:sp>
        </mc:Choice>
        <mc:Fallback>
          <p:sp>
            <p:nvSpPr>
              <p:cNvPr id="22" name="TextBox 21">
                <a:extLst>
                  <a:ext uri="{FF2B5EF4-FFF2-40B4-BE49-F238E27FC236}">
                    <a16:creationId xmlns:a16="http://schemas.microsoft.com/office/drawing/2014/main" id="{E27BE4B2-D33B-17EB-8648-00101922E3F8}"/>
                  </a:ext>
                </a:extLst>
              </p:cNvPr>
              <p:cNvSpPr txBox="1">
                <a:spLocks noRot="1" noChangeAspect="1" noMove="1" noResize="1" noEditPoints="1" noAdjustHandles="1" noChangeArrowheads="1" noChangeShapeType="1" noTextEdit="1"/>
              </p:cNvSpPr>
              <p:nvPr/>
            </p:nvSpPr>
            <p:spPr>
              <a:xfrm>
                <a:off x="1449754" y="3540983"/>
                <a:ext cx="1701800" cy="456985"/>
              </a:xfrm>
              <a:prstGeom prst="rect">
                <a:avLst/>
              </a:prstGeom>
              <a:blipFill>
                <a:blip r:embed="rId4"/>
                <a:stretch>
                  <a:fillRect l="-358" t="-6667" b="-22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27AC5445-32A5-F154-8F47-A5506BFEFF78}"/>
                  </a:ext>
                </a:extLst>
              </p:cNvPr>
              <p:cNvSpPr txBox="1"/>
              <p:nvPr/>
            </p:nvSpPr>
            <p:spPr>
              <a:xfrm>
                <a:off x="8229599" y="2547398"/>
                <a:ext cx="3737015" cy="14285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𝐾</m:t>
                          </m:r>
                        </m:e>
                        <m:sub>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𝑝</m:t>
                              </m:r>
                            </m:e>
                            <m:sub>
                              <m:r>
                                <a:rPr lang="en-US" sz="2200" i="1" noProof="0" smtClean="0">
                                  <a:latin typeface="Cambria Math" panose="02040503050406030204" pitchFamily="18" charset="0"/>
                                </a:rPr>
                                <m:t>𝑣</m:t>
                              </m:r>
                            </m:sub>
                          </m:sSub>
                        </m:sub>
                      </m:sSub>
                      <m:r>
                        <a:rPr lang="en-US" sz="2200" i="1" noProof="0" smtClean="0">
                          <a:latin typeface="Cambria Math" panose="02040503050406030204" pitchFamily="18" charset="0"/>
                        </a:rPr>
                        <m:t>=</m:t>
                      </m:r>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𝐾</m:t>
                          </m:r>
                        </m:e>
                        <m:sub>
                          <m:r>
                            <a:rPr lang="en-US" sz="2200" i="1" noProof="0" smtClean="0">
                              <a:latin typeface="Cambria Math" panose="02040503050406030204" pitchFamily="18" charset="0"/>
                            </a:rPr>
                            <m:t>𝑝</m:t>
                          </m:r>
                        </m:sub>
                      </m:sSub>
                      <m:d>
                        <m:dPr>
                          <m:ctrlPr>
                            <a:rPr lang="en-US" sz="2200" i="1" noProof="0" smtClean="0">
                              <a:latin typeface="Cambria Math" panose="02040503050406030204" pitchFamily="18" charset="0"/>
                            </a:rPr>
                          </m:ctrlPr>
                        </m:dPr>
                        <m:e>
                          <m:f>
                            <m:fPr>
                              <m:ctrlPr>
                                <a:rPr lang="en-US" sz="2200" i="1" noProof="0" smtClean="0">
                                  <a:latin typeface="Cambria Math" panose="02040503050406030204" pitchFamily="18" charset="0"/>
                                </a:rPr>
                              </m:ctrlPr>
                            </m:fPr>
                            <m:num>
                              <m:r>
                                <a:rPr lang="en-US" sz="2200" i="1" noProof="0" smtClean="0">
                                  <a:latin typeface="Cambria Math" panose="02040503050406030204" pitchFamily="18" charset="0"/>
                                </a:rPr>
                                <m:t>1</m:t>
                              </m:r>
                            </m:num>
                            <m:den>
                              <m:r>
                                <a:rPr lang="en-US" sz="2200" i="1" noProof="0" smtClean="0">
                                  <a:latin typeface="Cambria Math" panose="02040503050406030204" pitchFamily="18" charset="0"/>
                                </a:rPr>
                                <m:t>1+</m:t>
                              </m:r>
                              <m:f>
                                <m:fPr>
                                  <m:ctrlPr>
                                    <a:rPr lang="en-US" sz="2200" i="1" noProof="0" smtClean="0">
                                      <a:latin typeface="Cambria Math" panose="02040503050406030204" pitchFamily="18" charset="0"/>
                                    </a:rPr>
                                  </m:ctrlPr>
                                </m:fPr>
                                <m:num>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𝜃</m:t>
                                      </m:r>
                                    </m:e>
                                    <m:sub>
                                      <m:r>
                                        <a:rPr lang="en-US" sz="2200" i="1" noProof="0" smtClean="0">
                                          <a:latin typeface="Cambria Math" panose="02040503050406030204" pitchFamily="18" charset="0"/>
                                        </a:rPr>
                                        <m:t>𝑣</m:t>
                                      </m:r>
                                    </m:sub>
                                  </m:sSub>
                                </m:num>
                                <m:den>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𝜃</m:t>
                                      </m:r>
                                    </m:e>
                                    <m:sub>
                                      <m:r>
                                        <a:rPr lang="en-US" sz="2200" i="1" noProof="0" smtClean="0">
                                          <a:latin typeface="Cambria Math" panose="02040503050406030204" pitchFamily="18" charset="0"/>
                                        </a:rPr>
                                        <m:t>𝑘</m:t>
                                      </m:r>
                                    </m:sub>
                                  </m:sSub>
                                </m:den>
                              </m:f>
                            </m:den>
                          </m:f>
                        </m:e>
                      </m:d>
                    </m:oMath>
                  </m:oMathPara>
                </a14:m>
                <a:endParaRPr lang="en-US" sz="2200" noProof="0" dirty="0"/>
              </a:p>
              <a:p>
                <a:endParaRPr lang="en-US" sz="2200" noProof="0" dirty="0"/>
              </a:p>
            </p:txBody>
          </p:sp>
        </mc:Choice>
        <mc:Fallback>
          <p:sp>
            <p:nvSpPr>
              <p:cNvPr id="25" name="TextBox 24">
                <a:extLst>
                  <a:ext uri="{FF2B5EF4-FFF2-40B4-BE49-F238E27FC236}">
                    <a16:creationId xmlns:a16="http://schemas.microsoft.com/office/drawing/2014/main" id="{27AC5445-32A5-F154-8F47-A5506BFEFF78}"/>
                  </a:ext>
                </a:extLst>
              </p:cNvPr>
              <p:cNvSpPr txBox="1">
                <a:spLocks noRot="1" noChangeAspect="1" noMove="1" noResize="1" noEditPoints="1" noAdjustHandles="1" noChangeArrowheads="1" noChangeShapeType="1" noTextEdit="1"/>
              </p:cNvSpPr>
              <p:nvPr/>
            </p:nvSpPr>
            <p:spPr>
              <a:xfrm>
                <a:off x="8229599" y="2547398"/>
                <a:ext cx="3737015" cy="14285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DD7907FC-9701-E05D-4300-5ACF08075189}"/>
                  </a:ext>
                </a:extLst>
              </p:cNvPr>
              <p:cNvSpPr txBox="1"/>
              <p:nvPr/>
            </p:nvSpPr>
            <p:spPr>
              <a:xfrm>
                <a:off x="8474612" y="3975931"/>
                <a:ext cx="1967265" cy="8844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𝐾</m:t>
                          </m:r>
                        </m:e>
                        <m:sub>
                          <m:sSub>
                            <m:sSubPr>
                              <m:ctrlPr>
                                <a:rPr lang="en-US" sz="2200" i="1" noProof="0" smtClean="0">
                                  <a:latin typeface="Cambria Math" panose="02040503050406030204" pitchFamily="18" charset="0"/>
                                </a:rPr>
                              </m:ctrlPr>
                            </m:sSubPr>
                            <m:e>
                              <m:r>
                                <m:rPr>
                                  <m:sty m:val="p"/>
                                </m:rPr>
                                <a:rPr lang="en-US" sz="2200" b="0" i="1" noProof="0" smtClean="0">
                                  <a:latin typeface="Cambria Math" panose="02040503050406030204" pitchFamily="18" charset="0"/>
                                </a:rPr>
                                <m:t>i</m:t>
                              </m:r>
                            </m:e>
                            <m:sub>
                              <m:r>
                                <a:rPr lang="en-US" sz="2200" i="1" noProof="0" smtClean="0">
                                  <a:latin typeface="Cambria Math" panose="02040503050406030204" pitchFamily="18" charset="0"/>
                                </a:rPr>
                                <m:t>𝑣</m:t>
                              </m:r>
                            </m:sub>
                          </m:sSub>
                        </m:sub>
                      </m:sSub>
                      <m:r>
                        <a:rPr lang="en-US" sz="2200" i="1" noProof="0" smtClean="0">
                          <a:latin typeface="Cambria Math" panose="02040503050406030204" pitchFamily="18" charset="0"/>
                        </a:rPr>
                        <m:t> </m:t>
                      </m:r>
                      <m:r>
                        <a:rPr lang="en-US" sz="2200" b="0" i="1" noProof="0" smtClean="0">
                          <a:latin typeface="Cambria Math" panose="02040503050406030204" pitchFamily="18" charset="0"/>
                        </a:rPr>
                        <m:t>=</m:t>
                      </m:r>
                      <m:f>
                        <m:fPr>
                          <m:ctrlPr>
                            <a:rPr lang="en-US" sz="2200" i="1" noProof="0" smtClean="0">
                              <a:latin typeface="Cambria Math" panose="02040503050406030204" pitchFamily="18" charset="0"/>
                            </a:rPr>
                          </m:ctrlPr>
                        </m:fPr>
                        <m:num>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𝐾</m:t>
                              </m:r>
                            </m:e>
                            <m:sub>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𝑝</m:t>
                                  </m:r>
                                </m:e>
                                <m:sub>
                                  <m:r>
                                    <a:rPr lang="en-US" sz="2200" i="1" noProof="0" smtClean="0">
                                      <a:latin typeface="Cambria Math" panose="02040503050406030204" pitchFamily="18" charset="0"/>
                                    </a:rPr>
                                    <m:t>𝑣</m:t>
                                  </m:r>
                                </m:sub>
                              </m:sSub>
                            </m:sub>
                          </m:sSub>
                        </m:num>
                        <m:den>
                          <m:sSub>
                            <m:sSubPr>
                              <m:ctrlPr>
                                <a:rPr lang="en-US" sz="2200" i="1" noProof="0" smtClean="0">
                                  <a:latin typeface="Cambria Math" panose="02040503050406030204" pitchFamily="18" charset="0"/>
                                </a:rPr>
                              </m:ctrlPr>
                            </m:sSubPr>
                            <m:e>
                              <m:r>
                                <a:rPr lang="en-US" sz="2200" i="1" noProof="0" smtClean="0">
                                  <a:latin typeface="Cambria Math" panose="02040503050406030204" pitchFamily="18" charset="0"/>
                                </a:rPr>
                                <m:t>𝑇</m:t>
                              </m:r>
                            </m:e>
                            <m:sub>
                              <m:r>
                                <a:rPr lang="en-US" sz="2200" i="1" noProof="0" smtClean="0">
                                  <a:latin typeface="Cambria Math" panose="02040503050406030204" pitchFamily="18" charset="0"/>
                                </a:rPr>
                                <m:t>𝑖</m:t>
                              </m:r>
                            </m:sub>
                          </m:sSub>
                        </m:den>
                      </m:f>
                    </m:oMath>
                  </m:oMathPara>
                </a14:m>
                <a:endParaRPr lang="en-US" sz="2200" noProof="0" dirty="0"/>
              </a:p>
              <a:p>
                <a:endParaRPr lang="en-US" sz="1200" noProof="0" dirty="0"/>
              </a:p>
            </p:txBody>
          </p:sp>
        </mc:Choice>
        <mc:Fallback>
          <p:sp>
            <p:nvSpPr>
              <p:cNvPr id="27" name="TextBox 26">
                <a:extLst>
                  <a:ext uri="{FF2B5EF4-FFF2-40B4-BE49-F238E27FC236}">
                    <a16:creationId xmlns:a16="http://schemas.microsoft.com/office/drawing/2014/main" id="{DD7907FC-9701-E05D-4300-5ACF08075189}"/>
                  </a:ext>
                </a:extLst>
              </p:cNvPr>
              <p:cNvSpPr txBox="1">
                <a:spLocks noRot="1" noChangeAspect="1" noMove="1" noResize="1" noEditPoints="1" noAdjustHandles="1" noChangeArrowheads="1" noChangeShapeType="1" noTextEdit="1"/>
              </p:cNvSpPr>
              <p:nvPr/>
            </p:nvSpPr>
            <p:spPr>
              <a:xfrm>
                <a:off x="8474612" y="3975931"/>
                <a:ext cx="1967265" cy="88440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53334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E712C-4440-4FA7-FFD5-8A3A733EE465}"/>
              </a:ext>
            </a:extLst>
          </p:cNvPr>
          <p:cNvSpPr>
            <a:spLocks noGrp="1"/>
          </p:cNvSpPr>
          <p:nvPr>
            <p:ph type="title"/>
          </p:nvPr>
        </p:nvSpPr>
        <p:spPr/>
        <p:txBody>
          <a:bodyPr/>
          <a:lstStyle/>
          <a:p>
            <a:r>
              <a:rPr lang="en-US" noProof="0" dirty="0"/>
              <a:t>Simulation Settings for Optimization </a:t>
            </a:r>
          </a:p>
        </p:txBody>
      </p:sp>
      <p:sp>
        <p:nvSpPr>
          <p:cNvPr id="3" name="Content Placeholder 2">
            <a:extLst>
              <a:ext uri="{FF2B5EF4-FFF2-40B4-BE49-F238E27FC236}">
                <a16:creationId xmlns:a16="http://schemas.microsoft.com/office/drawing/2014/main" id="{E8C205BA-D4ED-6C02-3A16-9B2BBB5C59F0}"/>
              </a:ext>
            </a:extLst>
          </p:cNvPr>
          <p:cNvSpPr>
            <a:spLocks noGrp="1"/>
          </p:cNvSpPr>
          <p:nvPr>
            <p:ph idx="1"/>
          </p:nvPr>
        </p:nvSpPr>
        <p:spPr/>
        <p:txBody>
          <a:bodyPr>
            <a:normAutofit lnSpcReduction="10000"/>
          </a:bodyPr>
          <a:lstStyle/>
          <a:p>
            <a:r>
              <a:rPr lang="en-US" b="1" noProof="0" dirty="0"/>
              <a:t>660 seconds </a:t>
            </a:r>
            <a:r>
              <a:rPr lang="en-US" noProof="0" dirty="0"/>
              <a:t>of simulation. Evaluation of values starts at t = 60 second to get settled values. Additionally, wind wraps around.</a:t>
            </a:r>
          </a:p>
          <a:p>
            <a:endParaRPr lang="en-US" noProof="0" dirty="0"/>
          </a:p>
          <a:p>
            <a:r>
              <a:rPr lang="en-US" b="1" noProof="0" dirty="0"/>
              <a:t>DLC 1.2 </a:t>
            </a:r>
            <a:r>
              <a:rPr lang="en-US" noProof="0" dirty="0"/>
              <a:t>wind fields with average of </a:t>
            </a:r>
            <a:r>
              <a:rPr lang="en-US" b="1" noProof="0" dirty="0"/>
              <a:t>8</a:t>
            </a:r>
            <a:r>
              <a:rPr lang="en-US" noProof="0" dirty="0"/>
              <a:t> </a:t>
            </a:r>
            <a:r>
              <a:rPr lang="en-US" b="1" noProof="0" dirty="0"/>
              <a:t>m/s to 24 m/s </a:t>
            </a:r>
            <a:r>
              <a:rPr lang="en-US" noProof="0" dirty="0"/>
              <a:t>with steps with 4m/s, </a:t>
            </a:r>
            <a:r>
              <a:rPr lang="en-US" b="1" noProof="0" dirty="0"/>
              <a:t>3 seeds</a:t>
            </a:r>
            <a:r>
              <a:rPr lang="en-US" noProof="0" dirty="0"/>
              <a:t>.</a:t>
            </a:r>
          </a:p>
          <a:p>
            <a:pPr marL="0" indent="0">
              <a:buNone/>
            </a:pPr>
            <a:endParaRPr lang="en-US" noProof="0" dirty="0"/>
          </a:p>
          <a:p>
            <a:r>
              <a:rPr lang="en-US" b="1" noProof="0" dirty="0"/>
              <a:t>Enabled all DOFs. </a:t>
            </a:r>
            <a:endParaRPr lang="en-US" b="1" noProof="0" dirty="0">
              <a:solidFill>
                <a:srgbClr val="FF0000"/>
              </a:solidFill>
            </a:endParaRPr>
          </a:p>
          <a:p>
            <a:endParaRPr lang="en-US" b="1" noProof="0" dirty="0"/>
          </a:p>
          <a:p>
            <a:r>
              <a:rPr lang="en-US" b="1" noProof="0" dirty="0"/>
              <a:t>Initial conditions of pitch angle, rotor speed</a:t>
            </a:r>
            <a:r>
              <a:rPr lang="en-US" noProof="0" dirty="0"/>
              <a:t> and </a:t>
            </a:r>
            <a:r>
              <a:rPr lang="en-US" b="1" noProof="0" dirty="0"/>
              <a:t>fore-aft tower position</a:t>
            </a:r>
            <a:r>
              <a:rPr lang="en-US" noProof="0" dirty="0"/>
              <a:t> for every corresponding wind speed.</a:t>
            </a:r>
          </a:p>
          <a:p>
            <a:endParaRPr lang="en-US" noProof="0" dirty="0"/>
          </a:p>
          <a:p>
            <a:r>
              <a:rPr lang="en-US" noProof="0" dirty="0"/>
              <a:t>Running only </a:t>
            </a:r>
            <a:r>
              <a:rPr lang="en-US" b="1" noProof="0" dirty="0"/>
              <a:t>feedback controller</a:t>
            </a:r>
            <a:r>
              <a:rPr lang="en-US" noProof="0" dirty="0"/>
              <a:t>, no Lidar-assisted controller.</a:t>
            </a:r>
          </a:p>
          <a:p>
            <a:endParaRPr lang="en-US" noProof="0" dirty="0"/>
          </a:p>
        </p:txBody>
      </p:sp>
      <p:sp>
        <p:nvSpPr>
          <p:cNvPr id="4" name="Text Placeholder 3">
            <a:extLst>
              <a:ext uri="{FF2B5EF4-FFF2-40B4-BE49-F238E27FC236}">
                <a16:creationId xmlns:a16="http://schemas.microsoft.com/office/drawing/2014/main" id="{F1054429-0D40-4280-D680-3A8104C356DF}"/>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CDA4E262-26B9-5163-B4A3-43879B2914DB}"/>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AB3D051B-4C5E-F42B-C715-59D31993132C}"/>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7A133C56-1335-881E-7B83-2506C15BFF6B}"/>
              </a:ext>
            </a:extLst>
          </p:cNvPr>
          <p:cNvSpPr>
            <a:spLocks noGrp="1"/>
          </p:cNvSpPr>
          <p:nvPr>
            <p:ph type="sldNum" sz="quarter" idx="21"/>
          </p:nvPr>
        </p:nvSpPr>
        <p:spPr/>
        <p:txBody>
          <a:bodyPr/>
          <a:lstStyle/>
          <a:p>
            <a:fld id="{3A84E93A-72FE-4BB6-A500-FB6DD421822B}" type="slidenum">
              <a:rPr lang="en-US" noProof="0" smtClean="0"/>
              <a:t>19</a:t>
            </a:fld>
            <a:endParaRPr lang="en-US" noProof="0" dirty="0"/>
          </a:p>
        </p:txBody>
      </p:sp>
    </p:spTree>
    <p:extLst>
      <p:ext uri="{BB962C8B-B14F-4D97-AF65-F5344CB8AC3E}">
        <p14:creationId xmlns:p14="http://schemas.microsoft.com/office/powerpoint/2010/main" val="1801093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1DB75-1738-9379-12CC-271D16A1E84E}"/>
              </a:ext>
            </a:extLst>
          </p:cNvPr>
          <p:cNvSpPr>
            <a:spLocks noGrp="1"/>
          </p:cNvSpPr>
          <p:nvPr>
            <p:ph type="title"/>
          </p:nvPr>
        </p:nvSpPr>
        <p:spPr/>
        <p:txBody>
          <a:bodyPr/>
          <a:lstStyle/>
          <a:p>
            <a:r>
              <a:rPr lang="en-US" noProof="0" dirty="0"/>
              <a:t>Optimization of Pitch Controller</a:t>
            </a:r>
          </a:p>
        </p:txBody>
      </p:sp>
      <p:sp>
        <p:nvSpPr>
          <p:cNvPr id="4" name="Text Placeholder 3">
            <a:extLst>
              <a:ext uri="{FF2B5EF4-FFF2-40B4-BE49-F238E27FC236}">
                <a16:creationId xmlns:a16="http://schemas.microsoft.com/office/drawing/2014/main" id="{CA31B7FA-AFFC-5466-F2AF-A4110D11A190}"/>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9280BBE2-13DC-A107-C791-6124ECA52705}"/>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BE2B3EE3-DACA-7C02-7A58-F36E879CC133}"/>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EB8CDE6E-AEE0-5BD7-ABDE-C865323D4288}"/>
              </a:ext>
            </a:extLst>
          </p:cNvPr>
          <p:cNvSpPr>
            <a:spLocks noGrp="1"/>
          </p:cNvSpPr>
          <p:nvPr>
            <p:ph type="sldNum" sz="quarter" idx="21"/>
          </p:nvPr>
        </p:nvSpPr>
        <p:spPr/>
        <p:txBody>
          <a:bodyPr/>
          <a:lstStyle/>
          <a:p>
            <a:fld id="{3A84E93A-72FE-4BB6-A500-FB6DD421822B}" type="slidenum">
              <a:rPr lang="en-US" noProof="0" smtClean="0"/>
              <a:t>20</a:t>
            </a:fld>
            <a:endParaRPr lang="en-US" noProof="0" dirty="0"/>
          </a:p>
        </p:txBody>
      </p:sp>
      <p:pic>
        <p:nvPicPr>
          <p:cNvPr id="10" name="Picture 9">
            <a:extLst>
              <a:ext uri="{FF2B5EF4-FFF2-40B4-BE49-F238E27FC236}">
                <a16:creationId xmlns:a16="http://schemas.microsoft.com/office/drawing/2014/main" id="{B1F09542-464F-1A64-F3EF-89586CF0B598}"/>
              </a:ext>
            </a:extLst>
          </p:cNvPr>
          <p:cNvPicPr>
            <a:picLocks noChangeAspect="1"/>
          </p:cNvPicPr>
          <p:nvPr/>
        </p:nvPicPr>
        <p:blipFill>
          <a:blip r:embed="rId2"/>
          <a:stretch>
            <a:fillRect/>
          </a:stretch>
        </p:blipFill>
        <p:spPr>
          <a:xfrm>
            <a:off x="661234" y="1154964"/>
            <a:ext cx="10869531" cy="5406459"/>
          </a:xfrm>
          <a:prstGeom prst="rect">
            <a:avLst/>
          </a:prstGeom>
        </p:spPr>
      </p:pic>
    </p:spTree>
    <p:extLst>
      <p:ext uri="{BB962C8B-B14F-4D97-AF65-F5344CB8AC3E}">
        <p14:creationId xmlns:p14="http://schemas.microsoft.com/office/powerpoint/2010/main" val="3887409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2256C-9377-0774-8085-A272057E7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2A8EE-54C2-E213-4F44-361F2577BBFF}"/>
              </a:ext>
            </a:extLst>
          </p:cNvPr>
          <p:cNvSpPr>
            <a:spLocks noGrp="1"/>
          </p:cNvSpPr>
          <p:nvPr>
            <p:ph type="title"/>
          </p:nvPr>
        </p:nvSpPr>
        <p:spPr/>
        <p:txBody>
          <a:bodyPr/>
          <a:lstStyle/>
          <a:p>
            <a:r>
              <a:rPr lang="en-US" noProof="0" dirty="0"/>
              <a:t>Optimization of Pitch Controller</a:t>
            </a:r>
          </a:p>
        </p:txBody>
      </p:sp>
      <p:sp>
        <p:nvSpPr>
          <p:cNvPr id="4" name="Text Placeholder 3">
            <a:extLst>
              <a:ext uri="{FF2B5EF4-FFF2-40B4-BE49-F238E27FC236}">
                <a16:creationId xmlns:a16="http://schemas.microsoft.com/office/drawing/2014/main" id="{5097782D-18FA-E4C9-1119-975F1D11B665}"/>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C008179D-2BE8-6C35-DEE1-D74A688928D3}"/>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A0B34708-4BAC-6052-F9DF-49D97EFA17B5}"/>
              </a:ext>
            </a:extLst>
          </p:cNvPr>
          <p:cNvSpPr>
            <a:spLocks noGrp="1"/>
          </p:cNvSpPr>
          <p:nvPr>
            <p:ph type="ftr" sz="quarter" idx="20"/>
          </p:nvPr>
        </p:nvSpPr>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28EC1E8E-C054-346C-2732-771DE7308E00}"/>
              </a:ext>
            </a:extLst>
          </p:cNvPr>
          <p:cNvSpPr>
            <a:spLocks noGrp="1"/>
          </p:cNvSpPr>
          <p:nvPr>
            <p:ph type="sldNum" sz="quarter" idx="21"/>
          </p:nvPr>
        </p:nvSpPr>
        <p:spPr/>
        <p:txBody>
          <a:bodyPr/>
          <a:lstStyle/>
          <a:p>
            <a:fld id="{3A84E93A-72FE-4BB6-A500-FB6DD421822B}" type="slidenum">
              <a:rPr lang="en-US" noProof="0" smtClean="0"/>
              <a:t>21</a:t>
            </a:fld>
            <a:endParaRPr lang="en-US" noProof="0" dirty="0"/>
          </a:p>
        </p:txBody>
      </p:sp>
      <p:pic>
        <p:nvPicPr>
          <p:cNvPr id="9" name="Picture 8">
            <a:extLst>
              <a:ext uri="{FF2B5EF4-FFF2-40B4-BE49-F238E27FC236}">
                <a16:creationId xmlns:a16="http://schemas.microsoft.com/office/drawing/2014/main" id="{835594D7-4578-D67B-44E7-9502BE51CD60}"/>
              </a:ext>
            </a:extLst>
          </p:cNvPr>
          <p:cNvPicPr>
            <a:picLocks noChangeAspect="1"/>
          </p:cNvPicPr>
          <p:nvPr/>
        </p:nvPicPr>
        <p:blipFill>
          <a:blip r:embed="rId2"/>
          <a:stretch>
            <a:fillRect/>
          </a:stretch>
        </p:blipFill>
        <p:spPr>
          <a:xfrm>
            <a:off x="661234" y="1154964"/>
            <a:ext cx="10869531" cy="5406459"/>
          </a:xfrm>
          <a:prstGeom prst="rect">
            <a:avLst/>
          </a:prstGeom>
        </p:spPr>
      </p:pic>
    </p:spTree>
    <p:extLst>
      <p:ext uri="{BB962C8B-B14F-4D97-AF65-F5344CB8AC3E}">
        <p14:creationId xmlns:p14="http://schemas.microsoft.com/office/powerpoint/2010/main" val="1811365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C2A6A-889B-4946-7764-3DE1E4F71B93}"/>
              </a:ext>
            </a:extLst>
          </p:cNvPr>
          <p:cNvSpPr>
            <a:spLocks noGrp="1"/>
          </p:cNvSpPr>
          <p:nvPr>
            <p:ph type="title"/>
          </p:nvPr>
        </p:nvSpPr>
        <p:spPr/>
        <p:txBody>
          <a:bodyPr/>
          <a:lstStyle/>
          <a:p>
            <a:r>
              <a:rPr lang="en-US" noProof="0" dirty="0"/>
              <a:t>Results of Pitch Controller Optimization </a:t>
            </a:r>
          </a:p>
        </p:txBody>
      </p:sp>
      <p:sp>
        <p:nvSpPr>
          <p:cNvPr id="3" name="Content Placeholder 2">
            <a:extLst>
              <a:ext uri="{FF2B5EF4-FFF2-40B4-BE49-F238E27FC236}">
                <a16:creationId xmlns:a16="http://schemas.microsoft.com/office/drawing/2014/main" id="{38FF37FA-C6E8-3486-D26B-9C309AB6547D}"/>
              </a:ext>
            </a:extLst>
          </p:cNvPr>
          <p:cNvSpPr>
            <a:spLocks noGrp="1"/>
          </p:cNvSpPr>
          <p:nvPr>
            <p:ph idx="1"/>
          </p:nvPr>
        </p:nvSpPr>
        <p:spPr>
          <a:xfrm>
            <a:off x="838199" y="1825625"/>
            <a:ext cx="10732129" cy="4351338"/>
          </a:xfrm>
        </p:spPr>
        <p:txBody>
          <a:bodyPr/>
          <a:lstStyle/>
          <a:p>
            <a:r>
              <a:rPr lang="en-US" noProof="0" dirty="0"/>
              <a:t>There is 2 points with lowest lifetime weighted DEL.</a:t>
            </a:r>
          </a:p>
          <a:p>
            <a:endParaRPr lang="en-US" noProof="0" dirty="0"/>
          </a:p>
          <a:p>
            <a:r>
              <a:rPr lang="en-US" noProof="0" dirty="0"/>
              <a:t>(</a:t>
            </a:r>
            <a:r>
              <a:rPr lang="en-US" noProof="0" dirty="0" err="1"/>
              <a:t>Kp</a:t>
            </a:r>
            <a:r>
              <a:rPr lang="en-US" noProof="0" dirty="0"/>
              <a:t> = -0.014 s, theta = 4°) where DEL = 49531.38 </a:t>
            </a:r>
            <a:r>
              <a:rPr lang="en-US" noProof="0" dirty="0" err="1"/>
              <a:t>MNm</a:t>
            </a:r>
            <a:r>
              <a:rPr lang="en-US" noProof="0" dirty="0"/>
              <a:t>, and AEP = 16.1058 GWh/year</a:t>
            </a:r>
          </a:p>
          <a:p>
            <a:pPr marL="0" indent="0">
              <a:buNone/>
            </a:pPr>
            <a:endParaRPr lang="en-US" noProof="0" dirty="0"/>
          </a:p>
          <a:p>
            <a:r>
              <a:rPr lang="en-US" noProof="0" dirty="0"/>
              <a:t>(</a:t>
            </a:r>
            <a:r>
              <a:rPr lang="en-US" noProof="0" dirty="0" err="1"/>
              <a:t>Kp</a:t>
            </a:r>
            <a:r>
              <a:rPr lang="en-US" noProof="0" dirty="0"/>
              <a:t> = -0.010 s, theta = 10°) where DEL = 49561.47 </a:t>
            </a:r>
            <a:r>
              <a:rPr lang="en-US" noProof="0" dirty="0" err="1"/>
              <a:t>MNm</a:t>
            </a:r>
            <a:r>
              <a:rPr lang="en-US" noProof="0" dirty="0"/>
              <a:t>, and AEP = 16.1325 GWh/year</a:t>
            </a:r>
          </a:p>
          <a:p>
            <a:endParaRPr lang="en-US" noProof="0" dirty="0"/>
          </a:p>
          <a:p>
            <a:r>
              <a:rPr lang="en-US" noProof="0" dirty="0"/>
              <a:t>Next step: Search for more efficient point with smaller differences of </a:t>
            </a:r>
            <a:r>
              <a:rPr lang="en-US" noProof="0" dirty="0" err="1"/>
              <a:t>Kp</a:t>
            </a:r>
            <a:r>
              <a:rPr lang="en-US" noProof="0" dirty="0"/>
              <a:t> and Theta near these points, to see if there is a better point.</a:t>
            </a:r>
          </a:p>
          <a:p>
            <a:endParaRPr lang="en-US" noProof="0" dirty="0"/>
          </a:p>
          <a:p>
            <a:endParaRPr lang="en-US" noProof="0" dirty="0"/>
          </a:p>
          <a:p>
            <a:endParaRPr lang="en-US" noProof="0" dirty="0"/>
          </a:p>
          <a:p>
            <a:endParaRPr lang="en-US" noProof="0" dirty="0"/>
          </a:p>
          <a:p>
            <a:endParaRPr lang="en-US" noProof="0" dirty="0"/>
          </a:p>
        </p:txBody>
      </p:sp>
      <p:sp>
        <p:nvSpPr>
          <p:cNvPr id="4" name="Text Placeholder 3">
            <a:extLst>
              <a:ext uri="{FF2B5EF4-FFF2-40B4-BE49-F238E27FC236}">
                <a16:creationId xmlns:a16="http://schemas.microsoft.com/office/drawing/2014/main" id="{5F239132-8468-609E-95EA-8CD08A52151C}"/>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26E44BB0-CF5A-675B-9F0E-DA293707E76B}"/>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53E314F1-C3D6-8FBE-C6B0-2B2D6401B8B0}"/>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A636848D-9BFE-65AF-3092-07468CC74A8D}"/>
              </a:ext>
            </a:extLst>
          </p:cNvPr>
          <p:cNvSpPr>
            <a:spLocks noGrp="1"/>
          </p:cNvSpPr>
          <p:nvPr>
            <p:ph type="sldNum" sz="quarter" idx="21"/>
          </p:nvPr>
        </p:nvSpPr>
        <p:spPr/>
        <p:txBody>
          <a:bodyPr/>
          <a:lstStyle/>
          <a:p>
            <a:fld id="{3A84E93A-72FE-4BB6-A500-FB6DD421822B}" type="slidenum">
              <a:rPr lang="en-US" noProof="0" smtClean="0"/>
              <a:t>22</a:t>
            </a:fld>
            <a:endParaRPr lang="en-US" noProof="0" dirty="0"/>
          </a:p>
        </p:txBody>
      </p:sp>
    </p:spTree>
    <p:extLst>
      <p:ext uri="{BB962C8B-B14F-4D97-AF65-F5344CB8AC3E}">
        <p14:creationId xmlns:p14="http://schemas.microsoft.com/office/powerpoint/2010/main" val="316786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54B9A-D97C-2660-CC2B-62BFA1F04DA2}"/>
              </a:ext>
            </a:extLst>
          </p:cNvPr>
          <p:cNvSpPr>
            <a:spLocks noGrp="1"/>
          </p:cNvSpPr>
          <p:nvPr>
            <p:ph type="title"/>
          </p:nvPr>
        </p:nvSpPr>
        <p:spPr/>
        <p:txBody>
          <a:bodyPr/>
          <a:lstStyle/>
          <a:p>
            <a:r>
              <a:rPr lang="en-US" noProof="0" dirty="0"/>
              <a:t>EOG simulation with LAC</a:t>
            </a:r>
          </a:p>
        </p:txBody>
      </p:sp>
      <p:sp>
        <p:nvSpPr>
          <p:cNvPr id="3" name="Content Placeholder 2">
            <a:extLst>
              <a:ext uri="{FF2B5EF4-FFF2-40B4-BE49-F238E27FC236}">
                <a16:creationId xmlns:a16="http://schemas.microsoft.com/office/drawing/2014/main" id="{C629CEBB-E1C6-814D-9BDD-122C52917409}"/>
              </a:ext>
            </a:extLst>
          </p:cNvPr>
          <p:cNvSpPr>
            <a:spLocks noGrp="1"/>
          </p:cNvSpPr>
          <p:nvPr>
            <p:ph idx="1"/>
          </p:nvPr>
        </p:nvSpPr>
        <p:spPr>
          <a:xfrm>
            <a:off x="838200" y="1454433"/>
            <a:ext cx="10515600" cy="4351338"/>
          </a:xfrm>
        </p:spPr>
        <p:txBody>
          <a:bodyPr>
            <a:normAutofit/>
          </a:bodyPr>
          <a:lstStyle/>
          <a:p>
            <a:r>
              <a:rPr lang="en-US" noProof="0" dirty="0" err="1"/>
              <a:t>T_buffer</a:t>
            </a:r>
            <a:r>
              <a:rPr lang="en-US" noProof="0" dirty="0"/>
              <a:t> is the timing delay that synchronizes lidar preview with the real gust arrival, ensuring the controller reacts neither too early nor too late.</a:t>
            </a:r>
          </a:p>
          <a:p>
            <a:endParaRPr lang="en-US" noProof="0" dirty="0"/>
          </a:p>
          <a:p>
            <a:r>
              <a:rPr lang="en-US" noProof="0" dirty="0"/>
              <a:t>Compare different buffer times with cost function, which shows how close we are to the rated values of rotor speed and tower base fore-aft moment.</a:t>
            </a:r>
          </a:p>
          <a:p>
            <a:endParaRPr lang="en-US" noProof="0" dirty="0"/>
          </a:p>
          <a:p>
            <a:r>
              <a:rPr lang="en-US" noProof="0" dirty="0"/>
              <a:t>Aim is to find a buffer time which gives minimum cost.</a:t>
            </a:r>
          </a:p>
        </p:txBody>
      </p:sp>
      <p:sp>
        <p:nvSpPr>
          <p:cNvPr id="4" name="Text Placeholder 3">
            <a:extLst>
              <a:ext uri="{FF2B5EF4-FFF2-40B4-BE49-F238E27FC236}">
                <a16:creationId xmlns:a16="http://schemas.microsoft.com/office/drawing/2014/main" id="{EDC2A49C-5CA7-C29A-FAA3-58FCA2651602}"/>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4EDCD602-8FD5-7B62-2751-C65E8D04C569}"/>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C6A22A3C-061C-1234-911F-7C0876780F2B}"/>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C1E7317F-016A-C58B-1722-AE1E34DEF90C}"/>
              </a:ext>
            </a:extLst>
          </p:cNvPr>
          <p:cNvSpPr>
            <a:spLocks noGrp="1"/>
          </p:cNvSpPr>
          <p:nvPr>
            <p:ph type="sldNum" sz="quarter" idx="21"/>
          </p:nvPr>
        </p:nvSpPr>
        <p:spPr/>
        <p:txBody>
          <a:bodyPr/>
          <a:lstStyle/>
          <a:p>
            <a:fld id="{3A84E93A-72FE-4BB6-A500-FB6DD421822B}" type="slidenum">
              <a:rPr lang="en-US" noProof="0" smtClean="0"/>
              <a:t>23</a:t>
            </a:fld>
            <a:endParaRPr lang="en-US" noProof="0" dirty="0"/>
          </a:p>
        </p:txBody>
      </p:sp>
    </p:spTree>
    <p:extLst>
      <p:ext uri="{BB962C8B-B14F-4D97-AF65-F5344CB8AC3E}">
        <p14:creationId xmlns:p14="http://schemas.microsoft.com/office/powerpoint/2010/main" val="3773381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A746-EAEC-5573-6359-F0D527955A82}"/>
              </a:ext>
            </a:extLst>
          </p:cNvPr>
          <p:cNvSpPr>
            <a:spLocks noGrp="1"/>
          </p:cNvSpPr>
          <p:nvPr>
            <p:ph type="title"/>
          </p:nvPr>
        </p:nvSpPr>
        <p:spPr/>
        <p:txBody>
          <a:bodyPr/>
          <a:lstStyle/>
          <a:p>
            <a:r>
              <a:rPr lang="en-US" noProof="0" dirty="0"/>
              <a:t>Simulation Settings for EOG with LAC</a:t>
            </a:r>
          </a:p>
        </p:txBody>
      </p:sp>
      <p:sp>
        <p:nvSpPr>
          <p:cNvPr id="3" name="Content Placeholder 2">
            <a:extLst>
              <a:ext uri="{FF2B5EF4-FFF2-40B4-BE49-F238E27FC236}">
                <a16:creationId xmlns:a16="http://schemas.microsoft.com/office/drawing/2014/main" id="{0884B639-69BE-0C52-6A70-4405A83374B5}"/>
              </a:ext>
            </a:extLst>
          </p:cNvPr>
          <p:cNvSpPr>
            <a:spLocks noGrp="1"/>
          </p:cNvSpPr>
          <p:nvPr>
            <p:ph idx="1"/>
          </p:nvPr>
        </p:nvSpPr>
        <p:spPr>
          <a:xfrm>
            <a:off x="838199" y="1825625"/>
            <a:ext cx="11175749" cy="4351338"/>
          </a:xfrm>
        </p:spPr>
        <p:txBody>
          <a:bodyPr>
            <a:normAutofit/>
          </a:bodyPr>
          <a:lstStyle/>
          <a:p>
            <a:r>
              <a:rPr lang="en-US" b="1" noProof="0" dirty="0"/>
              <a:t>30 seconds </a:t>
            </a:r>
            <a:r>
              <a:rPr lang="en-US" noProof="0" dirty="0"/>
              <a:t>of simulation. </a:t>
            </a:r>
          </a:p>
          <a:p>
            <a:endParaRPr lang="en-US" noProof="0" dirty="0"/>
          </a:p>
          <a:p>
            <a:r>
              <a:rPr lang="en-US" b="1" noProof="0" dirty="0"/>
              <a:t>12 m/s EOG</a:t>
            </a:r>
            <a:r>
              <a:rPr lang="en-US" noProof="0" dirty="0"/>
              <a:t> wind field.</a:t>
            </a:r>
          </a:p>
          <a:p>
            <a:endParaRPr lang="en-US" b="1" noProof="0" dirty="0"/>
          </a:p>
          <a:p>
            <a:r>
              <a:rPr lang="en-US" noProof="0" dirty="0"/>
              <a:t>Only enabled </a:t>
            </a:r>
            <a:r>
              <a:rPr lang="en-US" b="1" noProof="0" dirty="0"/>
              <a:t>Rotor DOF </a:t>
            </a:r>
            <a:r>
              <a:rPr lang="en-US" noProof="0" dirty="0"/>
              <a:t>and </a:t>
            </a:r>
            <a:r>
              <a:rPr lang="en-US" b="1" noProof="0" dirty="0"/>
              <a:t>First fore-aft tower bending-mode DOF</a:t>
            </a:r>
            <a:r>
              <a:rPr lang="en-US" noProof="0" dirty="0"/>
              <a:t>.</a:t>
            </a:r>
          </a:p>
          <a:p>
            <a:endParaRPr lang="en-US" b="1" noProof="0" dirty="0"/>
          </a:p>
          <a:p>
            <a:r>
              <a:rPr lang="en-US" noProof="0" dirty="0"/>
              <a:t>Initial conditions of </a:t>
            </a:r>
            <a:r>
              <a:rPr lang="en-US" b="1" noProof="0" dirty="0"/>
              <a:t>rotor speed </a:t>
            </a:r>
            <a:r>
              <a:rPr lang="en-US" noProof="0" dirty="0"/>
              <a:t>and </a:t>
            </a:r>
            <a:r>
              <a:rPr lang="en-US" b="1" noProof="0" dirty="0"/>
              <a:t>fore-aft tower top displacement</a:t>
            </a:r>
            <a:r>
              <a:rPr lang="en-US" noProof="0" dirty="0"/>
              <a:t>.</a:t>
            </a:r>
            <a:r>
              <a:rPr lang="en-US" b="1" noProof="0" dirty="0"/>
              <a:t> </a:t>
            </a:r>
          </a:p>
          <a:p>
            <a:endParaRPr lang="en-US" noProof="0" dirty="0"/>
          </a:p>
          <a:p>
            <a:r>
              <a:rPr lang="en-US" noProof="0" dirty="0"/>
              <a:t>Feedback controller adjusted for Optimus Syria.</a:t>
            </a:r>
          </a:p>
          <a:p>
            <a:r>
              <a:rPr lang="en-US" noProof="0" dirty="0"/>
              <a:t>Only static pitch curve of FFP is adjusted for Lidar-Assisted Controller, Single point Lidar.</a:t>
            </a:r>
          </a:p>
        </p:txBody>
      </p:sp>
      <p:sp>
        <p:nvSpPr>
          <p:cNvPr id="4" name="Text Placeholder 3">
            <a:extLst>
              <a:ext uri="{FF2B5EF4-FFF2-40B4-BE49-F238E27FC236}">
                <a16:creationId xmlns:a16="http://schemas.microsoft.com/office/drawing/2014/main" id="{066264D9-1599-F14B-91A8-2373C9D979F1}"/>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CC8C1DD5-3EBF-F1FD-D463-BFD6E0B1E1C9}"/>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6598F5EF-ED53-82BC-808C-82D227B184F7}"/>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9EA2E5A1-FD5A-383F-9AEC-8E3653456C72}"/>
              </a:ext>
            </a:extLst>
          </p:cNvPr>
          <p:cNvSpPr>
            <a:spLocks noGrp="1"/>
          </p:cNvSpPr>
          <p:nvPr>
            <p:ph type="sldNum" sz="quarter" idx="21"/>
          </p:nvPr>
        </p:nvSpPr>
        <p:spPr/>
        <p:txBody>
          <a:bodyPr/>
          <a:lstStyle/>
          <a:p>
            <a:fld id="{3A84E93A-72FE-4BB6-A500-FB6DD421822B}" type="slidenum">
              <a:rPr lang="en-US" noProof="0" smtClean="0"/>
              <a:t>24</a:t>
            </a:fld>
            <a:endParaRPr lang="en-US" noProof="0" dirty="0"/>
          </a:p>
        </p:txBody>
      </p:sp>
    </p:spTree>
    <p:extLst>
      <p:ext uri="{BB962C8B-B14F-4D97-AF65-F5344CB8AC3E}">
        <p14:creationId xmlns:p14="http://schemas.microsoft.com/office/powerpoint/2010/main" val="1586105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05AFD-5FCE-5D9B-9DCC-642B58B4C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C21FF-00A0-7583-4B81-3A5055683F82}"/>
              </a:ext>
            </a:extLst>
          </p:cNvPr>
          <p:cNvSpPr>
            <a:spLocks noGrp="1"/>
          </p:cNvSpPr>
          <p:nvPr>
            <p:ph type="title"/>
          </p:nvPr>
        </p:nvSpPr>
        <p:spPr/>
        <p:txBody>
          <a:bodyPr/>
          <a:lstStyle/>
          <a:p>
            <a:r>
              <a:rPr lang="en-US" noProof="0" dirty="0"/>
              <a:t>EOG simulation with LAC</a:t>
            </a:r>
          </a:p>
        </p:txBody>
      </p:sp>
      <p:sp>
        <p:nvSpPr>
          <p:cNvPr id="4" name="Text Placeholder 3">
            <a:extLst>
              <a:ext uri="{FF2B5EF4-FFF2-40B4-BE49-F238E27FC236}">
                <a16:creationId xmlns:a16="http://schemas.microsoft.com/office/drawing/2014/main" id="{EAEBD3E6-B9E0-DEA7-F856-36FC81DBC2E8}"/>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DCCCF39F-01A8-5137-F367-171F80E1586C}"/>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84655A0D-E31C-95D3-4C8A-F85442C9C4E7}"/>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7DBABDE8-AF4F-D07A-5F0C-C35D749BBF43}"/>
              </a:ext>
            </a:extLst>
          </p:cNvPr>
          <p:cNvSpPr>
            <a:spLocks noGrp="1"/>
          </p:cNvSpPr>
          <p:nvPr>
            <p:ph type="sldNum" sz="quarter" idx="21"/>
          </p:nvPr>
        </p:nvSpPr>
        <p:spPr/>
        <p:txBody>
          <a:bodyPr/>
          <a:lstStyle/>
          <a:p>
            <a:fld id="{3A84E93A-72FE-4BB6-A500-FB6DD421822B}" type="slidenum">
              <a:rPr lang="en-US" noProof="0" smtClean="0"/>
              <a:t>25</a:t>
            </a:fld>
            <a:endParaRPr lang="en-US" noProof="0" dirty="0"/>
          </a:p>
        </p:txBody>
      </p:sp>
      <p:pic>
        <p:nvPicPr>
          <p:cNvPr id="10" name="Picture 9">
            <a:extLst>
              <a:ext uri="{FF2B5EF4-FFF2-40B4-BE49-F238E27FC236}">
                <a16:creationId xmlns:a16="http://schemas.microsoft.com/office/drawing/2014/main" id="{7D31BF46-2694-B5C9-0E0D-4149EC2E52D7}"/>
              </a:ext>
            </a:extLst>
          </p:cNvPr>
          <p:cNvPicPr>
            <a:picLocks noChangeAspect="1"/>
          </p:cNvPicPr>
          <p:nvPr/>
        </p:nvPicPr>
        <p:blipFill>
          <a:blip r:embed="rId2"/>
          <a:stretch>
            <a:fillRect/>
          </a:stretch>
        </p:blipFill>
        <p:spPr>
          <a:xfrm>
            <a:off x="661234" y="1154964"/>
            <a:ext cx="10869531" cy="5406459"/>
          </a:xfrm>
          <a:prstGeom prst="rect">
            <a:avLst/>
          </a:prstGeom>
        </p:spPr>
      </p:pic>
    </p:spTree>
    <p:extLst>
      <p:ext uri="{BB962C8B-B14F-4D97-AF65-F5344CB8AC3E}">
        <p14:creationId xmlns:p14="http://schemas.microsoft.com/office/powerpoint/2010/main" val="2446396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D6D8C-F146-4EA8-8A5B-BE75732FEA76}"/>
              </a:ext>
            </a:extLst>
          </p:cNvPr>
          <p:cNvSpPr>
            <a:spLocks noGrp="1"/>
          </p:cNvSpPr>
          <p:nvPr>
            <p:ph type="title"/>
          </p:nvPr>
        </p:nvSpPr>
        <p:spPr/>
        <p:txBody>
          <a:bodyPr/>
          <a:lstStyle/>
          <a:p>
            <a:r>
              <a:rPr lang="en-US" noProof="0" dirty="0"/>
              <a:t>EOG simulation with </a:t>
            </a:r>
            <a:r>
              <a:rPr lang="en-US" noProof="0" dirty="0" err="1"/>
              <a:t>T_buffer</a:t>
            </a:r>
            <a:r>
              <a:rPr lang="en-US" noProof="0" dirty="0"/>
              <a:t> = 4.4 s</a:t>
            </a:r>
          </a:p>
        </p:txBody>
      </p:sp>
      <p:sp>
        <p:nvSpPr>
          <p:cNvPr id="4" name="Text Placeholder 3">
            <a:extLst>
              <a:ext uri="{FF2B5EF4-FFF2-40B4-BE49-F238E27FC236}">
                <a16:creationId xmlns:a16="http://schemas.microsoft.com/office/drawing/2014/main" id="{6C41C312-D2C5-6BC2-A15A-11DF9E933188}"/>
              </a:ext>
            </a:extLst>
          </p:cNvPr>
          <p:cNvSpPr>
            <a:spLocks noGrp="1"/>
          </p:cNvSpPr>
          <p:nvPr>
            <p:ph type="body" sz="quarter" idx="18"/>
          </p:nvPr>
        </p:nvSpPr>
        <p:spPr/>
        <p:txBody>
          <a:bodyPr/>
          <a:lstStyle/>
          <a:p>
            <a:r>
              <a:rPr lang="en-US" noProof="0" dirty="0"/>
              <a:t>Mirza Dincer</a:t>
            </a:r>
          </a:p>
        </p:txBody>
      </p:sp>
      <p:sp>
        <p:nvSpPr>
          <p:cNvPr id="5" name="Date Placeholder 4">
            <a:extLst>
              <a:ext uri="{FF2B5EF4-FFF2-40B4-BE49-F238E27FC236}">
                <a16:creationId xmlns:a16="http://schemas.microsoft.com/office/drawing/2014/main" id="{F036BA4B-C6BE-E36D-0E99-ED7B6492830D}"/>
              </a:ext>
            </a:extLst>
          </p:cNvPr>
          <p:cNvSpPr>
            <a:spLocks noGrp="1"/>
          </p:cNvSpPr>
          <p:nvPr>
            <p:ph type="dt" sz="half" idx="19"/>
          </p:nvPr>
        </p:nvSpPr>
        <p:spPr/>
        <p:txBody>
          <a:bodyPr/>
          <a:lstStyle/>
          <a:p>
            <a:r>
              <a:rPr lang="en-US" noProof="0" dirty="0"/>
              <a:t>16/12/2025</a:t>
            </a:r>
          </a:p>
        </p:txBody>
      </p:sp>
      <p:sp>
        <p:nvSpPr>
          <p:cNvPr id="6" name="Footer Placeholder 5">
            <a:extLst>
              <a:ext uri="{FF2B5EF4-FFF2-40B4-BE49-F238E27FC236}">
                <a16:creationId xmlns:a16="http://schemas.microsoft.com/office/drawing/2014/main" id="{16C4D138-FA49-99DC-3B0D-56B0FEE7EDE9}"/>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7" name="Slide Number Placeholder 6">
            <a:extLst>
              <a:ext uri="{FF2B5EF4-FFF2-40B4-BE49-F238E27FC236}">
                <a16:creationId xmlns:a16="http://schemas.microsoft.com/office/drawing/2014/main" id="{8C4A2B5B-95E1-5C88-F7B3-E83D420C8AE4}"/>
              </a:ext>
            </a:extLst>
          </p:cNvPr>
          <p:cNvSpPr>
            <a:spLocks noGrp="1"/>
          </p:cNvSpPr>
          <p:nvPr>
            <p:ph type="sldNum" sz="quarter" idx="21"/>
          </p:nvPr>
        </p:nvSpPr>
        <p:spPr/>
        <p:txBody>
          <a:bodyPr/>
          <a:lstStyle/>
          <a:p>
            <a:fld id="{3A84E93A-72FE-4BB6-A500-FB6DD421822B}" type="slidenum">
              <a:rPr lang="en-US" noProof="0" smtClean="0"/>
              <a:t>26</a:t>
            </a:fld>
            <a:endParaRPr lang="en-US" noProof="0" dirty="0"/>
          </a:p>
        </p:txBody>
      </p:sp>
      <p:sp>
        <p:nvSpPr>
          <p:cNvPr id="11" name="TextBox 10">
            <a:extLst>
              <a:ext uri="{FF2B5EF4-FFF2-40B4-BE49-F238E27FC236}">
                <a16:creationId xmlns:a16="http://schemas.microsoft.com/office/drawing/2014/main" id="{1F6D55F5-E8A0-1CFD-1180-F230F66BBDC4}"/>
              </a:ext>
            </a:extLst>
          </p:cNvPr>
          <p:cNvSpPr txBox="1"/>
          <p:nvPr/>
        </p:nvSpPr>
        <p:spPr>
          <a:xfrm>
            <a:off x="8018226" y="3630116"/>
            <a:ext cx="4136725" cy="923330"/>
          </a:xfrm>
          <a:prstGeom prst="rect">
            <a:avLst/>
          </a:prstGeom>
          <a:noFill/>
        </p:spPr>
        <p:txBody>
          <a:bodyPr wrap="square">
            <a:spAutoFit/>
          </a:bodyPr>
          <a:lstStyle/>
          <a:p>
            <a:pPr marL="285750" indent="-285750">
              <a:buFont typeface="Wingdings" panose="05000000000000000000" pitchFamily="2" charset="2"/>
              <a:buChar char="Ø"/>
            </a:pPr>
            <a:r>
              <a:rPr lang="en-US" noProof="0" dirty="0"/>
              <a:t>Cost for Feedback + LAC: 0.818148 </a:t>
            </a:r>
          </a:p>
          <a:p>
            <a:r>
              <a:rPr lang="en-US" noProof="0" dirty="0"/>
              <a:t> </a:t>
            </a:r>
          </a:p>
          <a:p>
            <a:pPr marL="285750" indent="-285750">
              <a:buFont typeface="Wingdings" panose="05000000000000000000" pitchFamily="2" charset="2"/>
              <a:buChar char="Ø"/>
            </a:pPr>
            <a:r>
              <a:rPr lang="en-US" noProof="0" dirty="0"/>
              <a:t>Cost for Feedback only:  1.406624 </a:t>
            </a:r>
          </a:p>
        </p:txBody>
      </p:sp>
      <p:pic>
        <p:nvPicPr>
          <p:cNvPr id="13" name="Picture 12">
            <a:extLst>
              <a:ext uri="{FF2B5EF4-FFF2-40B4-BE49-F238E27FC236}">
                <a16:creationId xmlns:a16="http://schemas.microsoft.com/office/drawing/2014/main" id="{2E9CFCF6-9568-180F-CB6C-15C39CD5A26B}"/>
              </a:ext>
            </a:extLst>
          </p:cNvPr>
          <p:cNvPicPr>
            <a:picLocks noChangeAspect="1"/>
          </p:cNvPicPr>
          <p:nvPr/>
        </p:nvPicPr>
        <p:blipFill>
          <a:blip r:embed="rId2"/>
          <a:stretch>
            <a:fillRect/>
          </a:stretch>
        </p:blipFill>
        <p:spPr>
          <a:xfrm>
            <a:off x="-702867" y="1602949"/>
            <a:ext cx="9522243" cy="4889926"/>
          </a:xfrm>
          <a:prstGeom prst="rect">
            <a:avLst/>
          </a:prstGeom>
        </p:spPr>
      </p:pic>
    </p:spTree>
    <p:extLst>
      <p:ext uri="{BB962C8B-B14F-4D97-AF65-F5344CB8AC3E}">
        <p14:creationId xmlns:p14="http://schemas.microsoft.com/office/powerpoint/2010/main" val="708084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4FF05-E4FA-0C0D-C7B9-03579DF81D4E}"/>
              </a:ext>
            </a:extLst>
          </p:cNvPr>
          <p:cNvSpPr>
            <a:spLocks noGrp="1"/>
          </p:cNvSpPr>
          <p:nvPr>
            <p:ph type="title"/>
          </p:nvPr>
        </p:nvSpPr>
        <p:spPr/>
        <p:txBody>
          <a:bodyPr/>
          <a:lstStyle/>
          <a:p>
            <a:r>
              <a:rPr lang="en-US" noProof="0" dirty="0"/>
              <a:t>Conclusion</a:t>
            </a:r>
          </a:p>
        </p:txBody>
      </p:sp>
      <p:sp>
        <p:nvSpPr>
          <p:cNvPr id="5" name="Content Placeholder 4">
            <a:extLst>
              <a:ext uri="{FF2B5EF4-FFF2-40B4-BE49-F238E27FC236}">
                <a16:creationId xmlns:a16="http://schemas.microsoft.com/office/drawing/2014/main" id="{73B4F11E-0379-23D5-BA8E-334FB43B28E0}"/>
              </a:ext>
            </a:extLst>
          </p:cNvPr>
          <p:cNvSpPr>
            <a:spLocks noGrp="1"/>
          </p:cNvSpPr>
          <p:nvPr>
            <p:ph idx="1"/>
          </p:nvPr>
        </p:nvSpPr>
        <p:spPr>
          <a:xfrm>
            <a:off x="838200" y="1504335"/>
            <a:ext cx="10515600" cy="4672628"/>
          </a:xfrm>
        </p:spPr>
        <p:txBody>
          <a:bodyPr>
            <a:normAutofit lnSpcReduction="10000"/>
          </a:bodyPr>
          <a:lstStyle/>
          <a:p>
            <a:pPr fontAlgn="base"/>
            <a:r>
              <a:rPr lang="en-US" b="1" noProof="0" dirty="0"/>
              <a:t>Until 20th December:</a:t>
            </a:r>
          </a:p>
          <a:p>
            <a:pPr marL="0" indent="0" fontAlgn="base">
              <a:buNone/>
            </a:pPr>
            <a:r>
              <a:rPr lang="en-US" b="1" noProof="0" dirty="0"/>
              <a:t>Feedback Controller:</a:t>
            </a:r>
          </a:p>
          <a:p>
            <a:pPr marL="0" indent="0" fontAlgn="base">
              <a:buNone/>
            </a:pPr>
            <a:r>
              <a:rPr lang="en-US" noProof="0" dirty="0"/>
              <a:t>Finalize </a:t>
            </a:r>
            <a:r>
              <a:rPr lang="en-US" noProof="0" dirty="0" err="1"/>
              <a:t>Kp</a:t>
            </a:r>
            <a:r>
              <a:rPr lang="en-US" noProof="0" dirty="0"/>
              <a:t> and Ki for PI torque controller.</a:t>
            </a:r>
          </a:p>
          <a:p>
            <a:pPr marL="0" indent="0" fontAlgn="base">
              <a:buNone/>
            </a:pPr>
            <a:r>
              <a:rPr lang="en-US" noProof="0" dirty="0"/>
              <a:t>Search if there is a more efficient point for gain-schedule table of pitch controller.</a:t>
            </a:r>
          </a:p>
          <a:p>
            <a:pPr marL="0" indent="0" fontAlgn="base">
              <a:buNone/>
            </a:pPr>
            <a:endParaRPr lang="en-US" noProof="0" dirty="0"/>
          </a:p>
          <a:p>
            <a:pPr marL="0" indent="0" fontAlgn="base">
              <a:buNone/>
            </a:pPr>
            <a:r>
              <a:rPr lang="en-US" b="1" noProof="0" dirty="0"/>
              <a:t>Lidar-Assisted Controller:</a:t>
            </a:r>
          </a:p>
          <a:p>
            <a:pPr marL="0" indent="0" fontAlgn="base">
              <a:buNone/>
            </a:pPr>
            <a:r>
              <a:rPr lang="en-US" noProof="0" dirty="0"/>
              <a:t>Convert to 4 beam pulsed Lidar.</a:t>
            </a:r>
          </a:p>
          <a:p>
            <a:pPr marL="0" indent="0" fontAlgn="base">
              <a:buNone/>
            </a:pPr>
            <a:r>
              <a:rPr lang="en-US" noProof="0" dirty="0"/>
              <a:t>Determine the optimal measurement distance for Optimus Syria wind turbine.</a:t>
            </a:r>
          </a:p>
          <a:p>
            <a:pPr marL="0" indent="0" fontAlgn="base">
              <a:buNone/>
            </a:pPr>
            <a:r>
              <a:rPr lang="en-US" noProof="0" dirty="0"/>
              <a:t>Adjust low pass filter for lidar rotor effective wind speed measurement.</a:t>
            </a:r>
          </a:p>
          <a:p>
            <a:pPr marL="0" indent="0" fontAlgn="base">
              <a:buNone/>
            </a:pPr>
            <a:r>
              <a:rPr lang="en-US" noProof="0" dirty="0"/>
              <a:t>Verify results by turbulent wind simulations with power spectral density of rotor speed and tower base bending. Also, with standard deviation of rotor speed and tower base bending across different wind speeds.</a:t>
            </a:r>
          </a:p>
          <a:p>
            <a:pPr marL="0" indent="0" fontAlgn="base">
              <a:buNone/>
            </a:pPr>
            <a:endParaRPr lang="en-US" noProof="0" dirty="0"/>
          </a:p>
          <a:p>
            <a:pPr marL="0" indent="0" fontAlgn="base">
              <a:buNone/>
            </a:pPr>
            <a:endParaRPr lang="en-US" noProof="0" dirty="0"/>
          </a:p>
          <a:p>
            <a:pPr marL="0" indent="0" fontAlgn="base">
              <a:buNone/>
            </a:pPr>
            <a:endParaRPr lang="en-US" noProof="0" dirty="0"/>
          </a:p>
          <a:p>
            <a:pPr marL="0" indent="0" fontAlgn="base">
              <a:buNone/>
            </a:pPr>
            <a:endParaRPr lang="en-US" noProof="0" dirty="0"/>
          </a:p>
          <a:p>
            <a:pPr marL="0" indent="0" fontAlgn="base">
              <a:buNone/>
            </a:pPr>
            <a:endParaRPr lang="en-US" noProof="0" dirty="0"/>
          </a:p>
        </p:txBody>
      </p:sp>
      <p:sp>
        <p:nvSpPr>
          <p:cNvPr id="4" name="Text Placeholder 3">
            <a:extLst>
              <a:ext uri="{FF2B5EF4-FFF2-40B4-BE49-F238E27FC236}">
                <a16:creationId xmlns:a16="http://schemas.microsoft.com/office/drawing/2014/main" id="{FA257715-04AD-1733-D6EE-3ED2075EF0C5}"/>
              </a:ext>
            </a:extLst>
          </p:cNvPr>
          <p:cNvSpPr>
            <a:spLocks noGrp="1"/>
          </p:cNvSpPr>
          <p:nvPr>
            <p:ph type="body" sz="quarter" idx="18"/>
          </p:nvPr>
        </p:nvSpPr>
        <p:spPr/>
        <p:txBody>
          <a:bodyPr/>
          <a:lstStyle/>
          <a:p>
            <a:r>
              <a:rPr lang="en-US" noProof="0" dirty="0"/>
              <a:t>Mirza Dincer</a:t>
            </a:r>
          </a:p>
        </p:txBody>
      </p:sp>
      <p:sp>
        <p:nvSpPr>
          <p:cNvPr id="8" name="Date Placeholder 7">
            <a:extLst>
              <a:ext uri="{FF2B5EF4-FFF2-40B4-BE49-F238E27FC236}">
                <a16:creationId xmlns:a16="http://schemas.microsoft.com/office/drawing/2014/main" id="{6E55E15D-A89A-0E88-0C10-DCC57A700420}"/>
              </a:ext>
            </a:extLst>
          </p:cNvPr>
          <p:cNvSpPr>
            <a:spLocks noGrp="1"/>
          </p:cNvSpPr>
          <p:nvPr>
            <p:ph type="dt" sz="half" idx="19"/>
          </p:nvPr>
        </p:nvSpPr>
        <p:spPr/>
        <p:txBody>
          <a:bodyPr/>
          <a:lstStyle/>
          <a:p>
            <a:r>
              <a:rPr lang="en-US" noProof="0" dirty="0"/>
              <a:t>16/12/2025</a:t>
            </a:r>
          </a:p>
        </p:txBody>
      </p:sp>
      <p:sp>
        <p:nvSpPr>
          <p:cNvPr id="10" name="Footer Placeholder 9">
            <a:extLst>
              <a:ext uri="{FF2B5EF4-FFF2-40B4-BE49-F238E27FC236}">
                <a16:creationId xmlns:a16="http://schemas.microsoft.com/office/drawing/2014/main" id="{D4600388-DD13-10AE-D6E8-C3B2B3F89809}"/>
              </a:ext>
            </a:extLst>
          </p:cNvPr>
          <p:cNvSpPr>
            <a:spLocks noGrp="1"/>
          </p:cNvSpPr>
          <p:nvPr>
            <p:ph type="ftr" sz="quarter" idx="20"/>
          </p:nvPr>
        </p:nvSpPr>
        <p:spPr>
          <a:xfrm>
            <a:off x="8483757" y="6564113"/>
            <a:ext cx="3165698" cy="365125"/>
          </a:xfrm>
        </p:spPr>
        <p:txBody>
          <a:bodyPr/>
          <a:lstStyle/>
          <a:p>
            <a:r>
              <a:rPr lang="en-US" noProof="0" dirty="0"/>
              <a:t>Feedback &amp; Lidar Controller  / Optimus Syria</a:t>
            </a:r>
          </a:p>
        </p:txBody>
      </p:sp>
      <p:sp>
        <p:nvSpPr>
          <p:cNvPr id="9" name="Slide Number Placeholder 8">
            <a:extLst>
              <a:ext uri="{FF2B5EF4-FFF2-40B4-BE49-F238E27FC236}">
                <a16:creationId xmlns:a16="http://schemas.microsoft.com/office/drawing/2014/main" id="{6820AAE9-4FCB-81C8-9E6C-E44698F413FA}"/>
              </a:ext>
            </a:extLst>
          </p:cNvPr>
          <p:cNvSpPr>
            <a:spLocks noGrp="1"/>
          </p:cNvSpPr>
          <p:nvPr>
            <p:ph type="sldNum" sz="quarter" idx="21"/>
          </p:nvPr>
        </p:nvSpPr>
        <p:spPr/>
        <p:txBody>
          <a:bodyPr/>
          <a:lstStyle/>
          <a:p>
            <a:fld id="{3A84E93A-72FE-4BB6-A500-FB6DD421822B}" type="slidenum">
              <a:rPr lang="en-US" noProof="0" smtClean="0"/>
              <a:t>27</a:t>
            </a:fld>
            <a:endParaRPr lang="en-US" noProof="0" dirty="0"/>
          </a:p>
        </p:txBody>
      </p:sp>
    </p:spTree>
    <p:extLst>
      <p:ext uri="{BB962C8B-B14F-4D97-AF65-F5344CB8AC3E}">
        <p14:creationId xmlns:p14="http://schemas.microsoft.com/office/powerpoint/2010/main" val="2223650144"/>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200" dirty="0" smtClean="0">
            <a:solidFill>
              <a:schemeClr val="bg1"/>
            </a:solidFill>
          </a:defRPr>
        </a:defPPr>
      </a:lstStyle>
    </a:txDef>
  </a:objectDefaults>
  <a:extraClrSchemeLst/>
  <a:extLst>
    <a:ext uri="{05A4C25C-085E-4340-85A3-A5531E510DB2}">
      <thm15:themeFamily xmlns:thm15="http://schemas.microsoft.com/office/thememl/2012/main" name="Theme1" id="{E7258755-3B8A-428F-9B71-020BDB6F6014}" vid="{2CB19E59-5F41-4D40-98BC-C6D4E668C96F}"/>
    </a:ext>
  </a:ext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3" id="{489382AE-0E20-4DDB-AC58-6881343BCB06}" vid="{BC3BCC29-301C-4D70-A384-97DBC337907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10</TotalTime>
  <Words>1377</Words>
  <Application>Microsoft Office PowerPoint</Application>
  <PresentationFormat>Widescreen</PresentationFormat>
  <Paragraphs>259</Paragraphs>
  <Slides>27</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27</vt:i4>
      </vt:variant>
    </vt:vector>
  </HeadingPairs>
  <TitlesOfParts>
    <vt:vector size="38" baseType="lpstr">
      <vt:lpstr>Aptos</vt:lpstr>
      <vt:lpstr>Aptos (Textkörper)</vt:lpstr>
      <vt:lpstr>Aptos Display</vt:lpstr>
      <vt:lpstr>Arial</vt:lpstr>
      <vt:lpstr>Calibri</vt:lpstr>
      <vt:lpstr>Calibri Light</vt:lpstr>
      <vt:lpstr>Cambria Math</vt:lpstr>
      <vt:lpstr>Times New Roman</vt:lpstr>
      <vt:lpstr>Wingdings</vt:lpstr>
      <vt:lpstr>Theme1</vt:lpstr>
      <vt:lpstr>Benutzerdefiniertes Design</vt:lpstr>
      <vt:lpstr>Weekly report: Feedback &amp; Lidar – Assisted Controller</vt:lpstr>
      <vt:lpstr>List of Contents</vt:lpstr>
      <vt:lpstr>Tasks of the Week</vt:lpstr>
      <vt:lpstr>AeroDyn Issues</vt:lpstr>
      <vt:lpstr>AeroDyn Issues</vt:lpstr>
      <vt:lpstr>Simulation Settings for Steady States</vt:lpstr>
      <vt:lpstr>Rotor Speed</vt:lpstr>
      <vt:lpstr>Theta</vt:lpstr>
      <vt:lpstr>Generator Torque</vt:lpstr>
      <vt:lpstr>Tower Top Displacement</vt:lpstr>
      <vt:lpstr>Generator Power</vt:lpstr>
      <vt:lpstr>Torque Controller</vt:lpstr>
      <vt:lpstr>Step Response in Below Rated</vt:lpstr>
      <vt:lpstr>Simulation Settings for Step Response</vt:lpstr>
      <vt:lpstr>Kp and Ki for Torque Controller</vt:lpstr>
      <vt:lpstr>Step Response Result of  Kp = 1400 [Nm/(rad/s)]</vt:lpstr>
      <vt:lpstr>Optimization of Pitch Controller</vt:lpstr>
      <vt:lpstr>Optimization of Pitch Controller</vt:lpstr>
      <vt:lpstr>Simulation Settings for Optimization </vt:lpstr>
      <vt:lpstr>Optimization of Pitch Controller</vt:lpstr>
      <vt:lpstr>Optimization of Pitch Controller</vt:lpstr>
      <vt:lpstr>Results of Pitch Controller Optimization </vt:lpstr>
      <vt:lpstr>EOG simulation with LAC</vt:lpstr>
      <vt:lpstr>Simulation Settings for EOG with LAC</vt:lpstr>
      <vt:lpstr>EOG simulation with LAC</vt:lpstr>
      <vt:lpstr>EOG simulation with T_buffer = 4.4 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Mirza Dincer</dc:creator>
  <cp:lastModifiedBy>Mirza Dincer</cp:lastModifiedBy>
  <cp:revision>3</cp:revision>
  <dcterms:created xsi:type="dcterms:W3CDTF">2025-10-04T12:59:06Z</dcterms:created>
  <dcterms:modified xsi:type="dcterms:W3CDTF">2025-12-15T14:29:23Z</dcterms:modified>
</cp:coreProperties>
</file>