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1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2"/>
  </p:notesMasterIdLst>
  <p:handoutMasterIdLst>
    <p:handoutMasterId r:id="rId13"/>
  </p:handoutMasterIdLst>
  <p:sldIdLst>
    <p:sldId id="324" r:id="rId3"/>
    <p:sldId id="325" r:id="rId4"/>
    <p:sldId id="315" r:id="rId5"/>
    <p:sldId id="308" r:id="rId6"/>
    <p:sldId id="317" r:id="rId7"/>
    <p:sldId id="323" r:id="rId8"/>
    <p:sldId id="318" r:id="rId9"/>
    <p:sldId id="321" r:id="rId10"/>
    <p:sldId id="32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/>
        </p14:section>
        <p14:section name="List of contents" id="{65043596-36B7-4360-BB5C-7A99EFAEC5C9}">
          <p14:sldIdLst>
            <p14:sldId id="324"/>
            <p14:sldId id="325"/>
            <p14:sldId id="315"/>
            <p14:sldId id="308"/>
            <p14:sldId id="317"/>
            <p14:sldId id="323"/>
            <p14:sldId id="318"/>
            <p14:sldId id="321"/>
            <p14:sldId id="326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BD5DC-5676-6DC8-CE94-81ACB83F5E47}" name="SATHISHKUMAR V" initials="SV" userId="c6e3b939f28734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D2F7"/>
    <a:srgbClr val="FFFFFF"/>
    <a:srgbClr val="8ECEFA"/>
    <a:srgbClr val="92C6E6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omments/modernComment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316282-DE07-406B-B9EF-E34323781A41}" authorId="{981BD5DC-5676-6DC8-CE94-81ACB83F5E47}" created="2025-12-01T05:19:39.666">
    <pc:sldMkLst xmlns:pc="http://schemas.microsoft.com/office/powerpoint/2013/main/command">
      <pc:docMk/>
      <pc:sldMk sldId="317"/>
    </pc:sldMkLst>
    <p188:txBody>
      <a:bodyPr/>
      <a:lstStyle/>
      <a:p>
        <a:r>
          <a:rPr lang="en-GB" altLang="en-US"/>
          <a:t>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00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/>
          <p:cNvCxnSpPr/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/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/>
          <p:cNvCxnSpPr/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/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834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sz="6600" b="1" i="0" u="none" strike="noStrike" kern="1200" cap="none" spc="0" normalizeH="0" baseline="0" noProof="0"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rcRect l="4671"/>
          <a:stretch>
            <a:fillRect/>
          </a:stretch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/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  <p:sp>
        <p:nvSpPr>
          <p:cNvPr id="11" name="Free-form: Shape 13"/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/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/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7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microsoft.com/office/2018/10/relationships/comments" Target="../comments/modernCommen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Report_Optimus92LE_Machinebed_Yawsystem.l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</a:t>
            </a:r>
            <a:r>
              <a:rPr lang="en-GB" dirty="0" err="1"/>
              <a:t>Sathishkumar</a:t>
            </a:r>
            <a:r>
              <a:rPr lang="en-GB" dirty="0"/>
              <a:t> </a:t>
            </a:r>
            <a:r>
              <a:rPr lang="en-GB" dirty="0" err="1"/>
              <a:t>Venkatachalam</a:t>
            </a:r>
            <a:r>
              <a:rPr lang="en-GB" dirty="0"/>
              <a:t>, </a:t>
            </a:r>
            <a:r>
              <a:rPr lang="en-GB" dirty="0" err="1"/>
              <a:t>Shrihari</a:t>
            </a:r>
            <a:r>
              <a:rPr lang="en-GB" dirty="0"/>
              <a:t> G </a:t>
            </a:r>
            <a:r>
              <a:rPr lang="en-GB" dirty="0" err="1"/>
              <a:t>Kadam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smtClean="0"/>
              <a:t>16/12/2025</a:t>
            </a:r>
            <a:endParaRPr lang="en-GB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Machine Bed &amp; Yaw System/ Optimus Syria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</a:t>
            </a:fld>
            <a:endParaRPr lang="en-GB"/>
          </a:p>
        </p:txBody>
      </p:sp>
      <p:sp>
        <p:nvSpPr>
          <p:cNvPr id="26" name="Title 1"/>
          <p:cNvSpPr txBox="1"/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27" name="Subtitle 2"/>
          <p:cNvSpPr txBox="1"/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</a:t>
            </a:r>
            <a:r>
              <a:rPr lang="it-IT" sz="2000" dirty="0" smtClean="0"/>
              <a:t>12</a:t>
            </a:r>
            <a:endParaRPr lang="it-IT" sz="2000" dirty="0"/>
          </a:p>
          <a:p>
            <a:r>
              <a:rPr lang="it-IT" sz="2000" dirty="0"/>
              <a:t>Date: </a:t>
            </a:r>
            <a:r>
              <a:rPr lang="it-IT" sz="2000" dirty="0" smtClean="0"/>
              <a:t>16.12.2025</a:t>
            </a:r>
            <a:endParaRPr lang="it-IT" sz="2000" dirty="0"/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/>
          <p:cNvSpPr txBox="1"/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</a:t>
            </a:r>
            <a:r>
              <a:rPr lang="en-GB" b="1" dirty="0" err="1" smtClean="0"/>
              <a:t>Luksh</a:t>
            </a:r>
            <a:r>
              <a:rPr lang="en-GB" b="1" dirty="0" smtClean="0"/>
              <a:t> Chawla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9387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 smtClean="0"/>
              <a:t>16/12/2025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 smtClean="0"/>
              <a:t>Luksh</a:t>
            </a:r>
            <a:r>
              <a:rPr lang="en-GB" dirty="0" smtClean="0"/>
              <a:t> Chawla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793875" y="1610706"/>
            <a:ext cx="6405573" cy="47212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Yaw Brake Design </a:t>
            </a:r>
            <a:r>
              <a:rPr lang="en-US" sz="2200" dirty="0" smtClean="0"/>
              <a:t>Modifications</a:t>
            </a:r>
          </a:p>
          <a:p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 smtClean="0"/>
              <a:t>Yaw System Finalization</a:t>
            </a:r>
            <a:r>
              <a:rPr lang="en-IN" altLang="en-GB" sz="2200" dirty="0"/>
              <a:t/>
            </a:r>
            <a:br>
              <a:rPr lang="en-IN" altLang="en-GB" sz="2200" dirty="0"/>
            </a:b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Machine Bed Design Changes</a:t>
            </a: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Rear Machine Bed </a:t>
            </a:r>
            <a:r>
              <a:rPr lang="en-US" sz="2200" dirty="0" smtClean="0"/>
              <a:t>Concept</a:t>
            </a:r>
            <a:r>
              <a:rPr lang="en-IN" altLang="en-GB" sz="2200" dirty="0"/>
              <a:t/>
            </a:r>
            <a:br>
              <a:rPr lang="en-IN" altLang="en-GB" sz="2200" dirty="0"/>
            </a:br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Assembly Update</a:t>
            </a:r>
            <a:endParaRPr lang="en-IN" altLang="en-GB" sz="2200" dirty="0" smtClean="0"/>
          </a:p>
          <a:p>
            <a:endParaRPr lang="en-IN" alt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7962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 err="1" smtClean="0"/>
              <a:t>Luksh</a:t>
            </a:r>
            <a:r>
              <a:rPr lang="en-IN" altLang="en-GB" dirty="0" smtClean="0"/>
              <a:t> </a:t>
            </a:r>
            <a:r>
              <a:rPr lang="en-IN" altLang="en-GB" dirty="0"/>
              <a:t>Chawla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110004020202020204"/>
                <a:cs typeface="Times New Roman" panose="02020603050405020304"/>
                <a:sym typeface="+mn-ea"/>
              </a:rPr>
              <a:t>Yaw Brake – Modification Diff.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7632" y="6059007"/>
            <a:ext cx="263413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 dirty="0"/>
              <a:t>Modified New Brake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8748" y="6130127"/>
            <a:ext cx="3225975" cy="3683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 dirty="0"/>
              <a:t>Old Model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1477645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baseline="0" dirty="0">
                <a:latin typeface="Aptos" panose="02110004020202020204"/>
              </a:rPr>
              <a:t>Yaw brake disk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Arrow: Right 10"/>
          <p:cNvSpPr/>
          <p:nvPr/>
        </p:nvSpPr>
        <p:spPr>
          <a:xfrm>
            <a:off x="5449570" y="3848100"/>
            <a:ext cx="898525" cy="546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/>
          <p:cNvSpPr/>
          <p:nvPr/>
        </p:nvSpPr>
        <p:spPr>
          <a:xfrm>
            <a:off x="2059305" y="2280920"/>
            <a:ext cx="454025" cy="43434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creenshot 2025-12-08 1147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" y="2062480"/>
            <a:ext cx="2976880" cy="2428875"/>
          </a:xfrm>
          <a:prstGeom prst="rect">
            <a:avLst/>
          </a:prstGeom>
        </p:spPr>
      </p:pic>
      <p:pic>
        <p:nvPicPr>
          <p:cNvPr id="10" name="Picture 9" descr="Screenshot 2025-12-08 114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23435"/>
            <a:ext cx="2936875" cy="1440815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 flipV="1">
            <a:off x="434479" y="5307811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shot 2025-12-14 2208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715" y="1893570"/>
            <a:ext cx="2844800" cy="2244090"/>
          </a:xfrm>
          <a:prstGeom prst="rect">
            <a:avLst/>
          </a:prstGeom>
        </p:spPr>
      </p:pic>
      <p:sp>
        <p:nvSpPr>
          <p:cNvPr id="23" name="Flowchart: Connector 22"/>
          <p:cNvSpPr/>
          <p:nvPr/>
        </p:nvSpPr>
        <p:spPr>
          <a:xfrm>
            <a:off x="8734425" y="1893570"/>
            <a:ext cx="485775" cy="4464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Screenshot 2025-12-14 2208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5020" y="4358005"/>
            <a:ext cx="3044190" cy="148018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7588389" y="513572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 err="1" smtClean="0">
                <a:sym typeface="+mn-ea"/>
              </a:rPr>
              <a:t>Luksh</a:t>
            </a:r>
            <a:r>
              <a:rPr lang="en-IN" altLang="en-GB" dirty="0" smtClean="0">
                <a:sym typeface="+mn-ea"/>
              </a:rPr>
              <a:t> </a:t>
            </a:r>
            <a:r>
              <a:rPr lang="en-IN" altLang="en-GB" dirty="0">
                <a:sym typeface="+mn-ea"/>
              </a:rPr>
              <a:t>Chawla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Yaw</a:t>
            </a:r>
            <a:r>
              <a:rPr lang="en-IN" altLang="en-GB" sz="4000" b="1" dirty="0"/>
              <a:t> system Finalization</a:t>
            </a:r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6743" y="1417250"/>
            <a:ext cx="11360502" cy="1279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000"/>
          </a:p>
          <a:p>
            <a:pPr>
              <a:lnSpc>
                <a:spcPct val="150000"/>
              </a:lnSpc>
            </a:pPr>
            <a:r>
              <a:rPr lang="en-IN" sz="2000" b="1"/>
              <a:t> </a:t>
            </a:r>
          </a:p>
          <a:p>
            <a:pPr>
              <a:lnSpc>
                <a:spcPct val="150000"/>
              </a:lnSpc>
            </a:pPr>
            <a:endParaRPr lang="en-IN" sz="2000" b="1"/>
          </a:p>
        </p:txBody>
      </p:sp>
      <p:sp>
        <p:nvSpPr>
          <p:cNvPr id="21" name="TextBox 20"/>
          <p:cNvSpPr txBox="1"/>
          <p:nvPr/>
        </p:nvSpPr>
        <p:spPr>
          <a:xfrm>
            <a:off x="1279293" y="142252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baseline="0" dirty="0">
                <a:latin typeface="Aptos" panose="02110004020202020204"/>
              </a:rPr>
              <a:t>Yaw brake disk</a:t>
            </a:r>
            <a:r>
              <a:rPr lang="en-IN" sz="2000" b="1" dirty="0">
                <a:latin typeface="Aptos" panose="02110004020202020204"/>
              </a:rPr>
              <a:t> 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Picture 6" descr="Screenshot 2025-12-08 1149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96210"/>
            <a:ext cx="5247005" cy="2373630"/>
          </a:xfrm>
          <a:prstGeom prst="rect">
            <a:avLst/>
          </a:prstGeom>
        </p:spPr>
      </p:pic>
      <p:sp>
        <p:nvSpPr>
          <p:cNvPr id="14" name="Flowchart: Connector 13"/>
          <p:cNvSpPr/>
          <p:nvPr/>
        </p:nvSpPr>
        <p:spPr>
          <a:xfrm>
            <a:off x="2351405" y="2407285"/>
            <a:ext cx="1617345" cy="157607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1048524" y="4092776"/>
            <a:ext cx="1234440" cy="1289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9044940" y="5824220"/>
            <a:ext cx="1790700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 smtClean="0">
                <a:solidFill>
                  <a:schemeClr val="tx1"/>
                </a:solidFill>
              </a:rPr>
              <a:t>Modified Design</a:t>
            </a:r>
          </a:p>
        </p:txBody>
      </p:sp>
      <p:pic>
        <p:nvPicPr>
          <p:cNvPr id="3" name="Picture 2" descr="Screenshot 2025-12-14 222221"/>
          <p:cNvPicPr>
            <a:picLocks noChangeAspect="1"/>
          </p:cNvPicPr>
          <p:nvPr/>
        </p:nvPicPr>
        <p:blipFill>
          <a:blip r:embed="rId3"/>
          <a:srcRect t="22315" b="17426"/>
          <a:stretch>
            <a:fillRect/>
          </a:stretch>
        </p:blipFill>
        <p:spPr>
          <a:xfrm>
            <a:off x="6400800" y="2696210"/>
            <a:ext cx="5637530" cy="2370455"/>
          </a:xfrm>
          <a:prstGeom prst="rect">
            <a:avLst/>
          </a:prstGeom>
        </p:spPr>
      </p:pic>
      <p:sp>
        <p:nvSpPr>
          <p:cNvPr id="8" name="Flowchart: Connector 7"/>
          <p:cNvSpPr/>
          <p:nvPr/>
        </p:nvSpPr>
        <p:spPr>
          <a:xfrm>
            <a:off x="8078470" y="2501900"/>
            <a:ext cx="1397635" cy="138684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/>
          <p:cNvSpPr/>
          <p:nvPr/>
        </p:nvSpPr>
        <p:spPr>
          <a:xfrm>
            <a:off x="9956165" y="2935605"/>
            <a:ext cx="1397635" cy="138684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8078609" y="4535371"/>
            <a:ext cx="1234440" cy="1289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>
          <a:xfrm>
            <a:off x="2878527" y="6650473"/>
            <a:ext cx="5596085" cy="365125"/>
          </a:xfrm>
        </p:spPr>
        <p:txBody>
          <a:bodyPr/>
          <a:lstStyle/>
          <a:p>
            <a:r>
              <a:rPr lang="en-IN" altLang="en-GB" dirty="0" err="1" smtClean="0">
                <a:sym typeface="+mn-ea"/>
              </a:rPr>
              <a:t>Luksh</a:t>
            </a:r>
            <a:r>
              <a:rPr lang="en-IN" altLang="en-GB" dirty="0" smtClean="0">
                <a:sym typeface="+mn-ea"/>
              </a:rPr>
              <a:t> </a:t>
            </a:r>
            <a:r>
              <a:rPr lang="en-IN" altLang="en-GB" dirty="0">
                <a:sym typeface="+mn-ea"/>
              </a:rPr>
              <a:t>Chawla</a:t>
            </a:r>
            <a:endParaRPr lang="en-IN" altLang="en-GB" dirty="0"/>
          </a:p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 Modification Diff.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76182" y="1681976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Machine Bed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ptos" panose="02110004020202020204"/>
                <a:ea typeface="Aptos" panose="02110004020202020204"/>
                <a:cs typeface="Aptos" panose="02110004020202020204"/>
              </a:rPr>
              <a:t>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object with yellow lines&#10;&#10;AI-generated content may be incorrect."/>
          <p:cNvPicPr>
            <a:picLocks noChangeAspect="1"/>
          </p:cNvPicPr>
          <p:nvPr/>
        </p:nvPicPr>
        <p:blipFill>
          <a:blip r:embed="rId2"/>
          <a:srcRect l="14409" t="96" r="5901" b="7379"/>
          <a:stretch>
            <a:fillRect/>
          </a:stretch>
        </p:blipFill>
        <p:spPr>
          <a:xfrm>
            <a:off x="1092200" y="2116455"/>
            <a:ext cx="4041140" cy="3533140"/>
          </a:xfrm>
          <a:prstGeom prst="rect">
            <a:avLst/>
          </a:prstGeom>
        </p:spPr>
      </p:pic>
      <p:sp>
        <p:nvSpPr>
          <p:cNvPr id="23" name="Arrow: Right 22"/>
          <p:cNvSpPr/>
          <p:nvPr/>
        </p:nvSpPr>
        <p:spPr>
          <a:xfrm>
            <a:off x="5467566" y="36699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creenshot 2025-12-14 222704"/>
          <p:cNvPicPr>
            <a:picLocks noChangeAspect="1"/>
          </p:cNvPicPr>
          <p:nvPr/>
        </p:nvPicPr>
        <p:blipFill>
          <a:blip r:embed="rId3"/>
          <a:srcRect l="7214" r="6667" b="12483"/>
          <a:stretch>
            <a:fillRect/>
          </a:stretch>
        </p:blipFill>
        <p:spPr>
          <a:xfrm>
            <a:off x="7074535" y="2116455"/>
            <a:ext cx="4593590" cy="3334385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V="1">
            <a:off x="7176925" y="3548628"/>
            <a:ext cx="577215" cy="850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10860" y="4359523"/>
            <a:ext cx="1966595" cy="212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0793885" y="4359523"/>
            <a:ext cx="358775" cy="1219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295035" y="1991608"/>
            <a:ext cx="1148080" cy="1148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7444895" y="4944993"/>
            <a:ext cx="517525" cy="1006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6814820" y="155638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altLang="en-GB" sz="1200" dirty="0" smtClean="0">
                <a:sym typeface="+mn-ea"/>
              </a:rPr>
              <a:t>Shaft Path Dim Changed</a:t>
            </a:r>
            <a:endParaRPr lang="en-IN" altLang="en-GB" sz="1200" dirty="0" smtClean="0">
              <a:solidFill>
                <a:schemeClr val="tx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5737225" y="4398645"/>
            <a:ext cx="19348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 smtClean="0">
                <a:sym typeface="+mn-ea"/>
              </a:rPr>
              <a:t>Connection Dim.</a:t>
            </a:r>
          </a:p>
          <a:p>
            <a:pPr algn="l"/>
            <a:r>
              <a:rPr lang="en-IN" altLang="en-GB" sz="1200" dirty="0" smtClean="0">
                <a:sym typeface="+mn-ea"/>
              </a:rPr>
              <a:t>Changed</a:t>
            </a:r>
            <a:endParaRPr lang="en-IN" altLang="en-GB" sz="12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5628005" y="579056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 smtClean="0">
                <a:sym typeface="+mn-ea"/>
              </a:rPr>
              <a:t>Drive Flange Ribs Added </a:t>
            </a:r>
            <a:endParaRPr lang="en-IN" altLang="en-GB" sz="12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0544175" y="554482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 smtClean="0">
                <a:sym typeface="+mn-ea"/>
              </a:rPr>
              <a:t>Connection Dim.</a:t>
            </a:r>
          </a:p>
          <a:p>
            <a:pPr algn="l"/>
            <a:r>
              <a:rPr lang="en-IN" altLang="en-GB" sz="1200" dirty="0" smtClean="0">
                <a:sym typeface="+mn-ea"/>
              </a:rPr>
              <a:t>Changed</a:t>
            </a:r>
            <a:endParaRPr lang="en-IN" altLang="en-GB" sz="12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10354945" y="245110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altLang="en-GB" sz="1200" dirty="0" smtClean="0">
                <a:solidFill>
                  <a:srgbClr val="FF0000"/>
                </a:solidFill>
              </a:rPr>
              <a:t>LxBxH Modified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10043160" y="4731385"/>
            <a:ext cx="501015" cy="47498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9729625" y="5151368"/>
            <a:ext cx="389255" cy="710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Box 38"/>
          <p:cNvSpPr txBox="1"/>
          <p:nvPr/>
        </p:nvSpPr>
        <p:spPr>
          <a:xfrm>
            <a:off x="8020050" y="586930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altLang="en-GB" sz="1200" dirty="0" smtClean="0">
                <a:solidFill>
                  <a:schemeClr val="tx1"/>
                </a:solidFill>
              </a:rPr>
              <a:t>Machined for Nacelle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 err="1" smtClean="0">
                <a:sym typeface="+mn-ea"/>
              </a:rPr>
              <a:t>Luksh</a:t>
            </a:r>
            <a:r>
              <a:rPr lang="en-IN" altLang="en-GB" dirty="0" smtClean="0">
                <a:sym typeface="+mn-ea"/>
              </a:rPr>
              <a:t> </a:t>
            </a:r>
            <a:r>
              <a:rPr lang="en-IN" altLang="en-GB" dirty="0">
                <a:sym typeface="+mn-ea"/>
              </a:rPr>
              <a:t>Chawla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 </a:t>
            </a:r>
            <a:r>
              <a:rPr lang="en-IN" altLang="en-US" sz="4000" b="1" dirty="0">
                <a:cs typeface="Times New Roman" panose="02020603050405020304"/>
              </a:rPr>
              <a:t>Section view</a:t>
            </a:r>
          </a:p>
        </p:txBody>
      </p:sp>
      <p:pic>
        <p:nvPicPr>
          <p:cNvPr id="7" name="Picture 6" descr="Screenshot 2025-12-14 224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0" y="1684655"/>
            <a:ext cx="5996940" cy="3558540"/>
          </a:xfrm>
          <a:prstGeom prst="rect">
            <a:avLst/>
          </a:prstGeom>
        </p:spPr>
      </p:pic>
      <p:sp>
        <p:nvSpPr>
          <p:cNvPr id="14" name="Flowchart: Connector 13"/>
          <p:cNvSpPr/>
          <p:nvPr/>
        </p:nvSpPr>
        <p:spPr>
          <a:xfrm>
            <a:off x="4907915" y="2147570"/>
            <a:ext cx="848360" cy="84582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6285230" y="2147570"/>
            <a:ext cx="870585" cy="84518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/>
          <p:cNvSpPr/>
          <p:nvPr/>
        </p:nvSpPr>
        <p:spPr>
          <a:xfrm>
            <a:off x="7155815" y="2534285"/>
            <a:ext cx="870585" cy="84518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/>
          <p:cNvSpPr/>
          <p:nvPr/>
        </p:nvSpPr>
        <p:spPr>
          <a:xfrm>
            <a:off x="4037330" y="2534285"/>
            <a:ext cx="870585" cy="84518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4652010" y="5313680"/>
            <a:ext cx="33743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IN" altLang="en-GB" sz="1200" dirty="0" smtClean="0">
                <a:solidFill>
                  <a:schemeClr val="tx1"/>
                </a:solidFill>
                <a:sym typeface="+mn-ea"/>
              </a:rPr>
              <a:t>Ribs Added for internal Body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 err="1" smtClean="0">
                <a:sym typeface="+mn-ea"/>
              </a:rPr>
              <a:t>Luksh</a:t>
            </a:r>
            <a:r>
              <a:rPr lang="en-IN" altLang="en-GB" dirty="0" smtClean="0">
                <a:sym typeface="+mn-ea"/>
              </a:rPr>
              <a:t> </a:t>
            </a:r>
            <a:r>
              <a:rPr lang="en-IN" altLang="en-GB" dirty="0">
                <a:sym typeface="+mn-ea"/>
              </a:rPr>
              <a:t>Chawla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 dirty="0">
                <a:cs typeface="Times New Roman" panose="02020603050405020304"/>
              </a:rPr>
              <a:t>Rear </a:t>
            </a:r>
            <a:r>
              <a:rPr lang="en-GB" sz="4000" b="1" dirty="0">
                <a:cs typeface="Times New Roman" panose="02020603050405020304"/>
              </a:rPr>
              <a:t>M</a:t>
            </a:r>
            <a:r>
              <a:rPr lang="en-US" sz="4000" b="1" dirty="0" err="1">
                <a:cs typeface="Times New Roman" panose="02020603050405020304"/>
              </a:rPr>
              <a:t>achine</a:t>
            </a:r>
            <a:r>
              <a:rPr lang="en-US" sz="4000" b="1" dirty="0">
                <a:cs typeface="Times New Roman" panose="02020603050405020304"/>
              </a:rPr>
              <a:t> Bed –</a:t>
            </a:r>
            <a:r>
              <a:rPr lang="en-IN" altLang="en-US" sz="4000" b="1" dirty="0">
                <a:cs typeface="Times New Roman" panose="02020603050405020304"/>
              </a:rPr>
              <a:t> Concept</a:t>
            </a:r>
          </a:p>
        </p:txBody>
      </p:sp>
      <p:sp>
        <p:nvSpPr>
          <p:cNvPr id="19" name="Flowchart: Connector 18"/>
          <p:cNvSpPr/>
          <p:nvPr/>
        </p:nvSpPr>
        <p:spPr>
          <a:xfrm>
            <a:off x="3724564" y="4358115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eenshot 2025-12-08 115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5" y="1959610"/>
            <a:ext cx="4966970" cy="322643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1949450" y="5650230"/>
            <a:ext cx="3473450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 smtClean="0">
                <a:solidFill>
                  <a:schemeClr val="tx1"/>
                </a:solidFill>
              </a:rPr>
              <a:t>* Optimus model- Concept Design</a:t>
            </a:r>
          </a:p>
        </p:txBody>
      </p:sp>
      <p:pic>
        <p:nvPicPr>
          <p:cNvPr id="2" name="Picture 1" descr="Screenshot 2025-12-14 2239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65" y="2123440"/>
            <a:ext cx="5418455" cy="30626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818120" y="5624830"/>
            <a:ext cx="3473450" cy="1661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GB" sz="1200" dirty="0" smtClean="0">
                <a:solidFill>
                  <a:schemeClr val="tx1"/>
                </a:solidFill>
              </a:rPr>
              <a:t>* Optimus Syria - Initial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altLang="en-GB" dirty="0"/>
              <a:t>16</a:t>
            </a:r>
            <a:r>
              <a:rPr lang="en-GB" dirty="0"/>
              <a:t>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altLang="en-GB" dirty="0" err="1" smtClean="0">
                <a:sym typeface="+mn-ea"/>
              </a:rPr>
              <a:t>Luksh</a:t>
            </a:r>
            <a:r>
              <a:rPr lang="en-IN" altLang="en-GB" dirty="0" smtClean="0">
                <a:sym typeface="+mn-ea"/>
              </a:rPr>
              <a:t> </a:t>
            </a:r>
            <a:r>
              <a:rPr lang="en-IN" altLang="en-GB" dirty="0">
                <a:sym typeface="+mn-ea"/>
              </a:rPr>
              <a:t>Chawla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 panose="02020603050405020304"/>
              </a:rPr>
              <a:t>Updated Machine Bed &amp; Yaw System Ass.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2" name="Picture 1" descr="Screenshot 2025-12-14 225105"/>
          <p:cNvPicPr>
            <a:picLocks noChangeAspect="1"/>
          </p:cNvPicPr>
          <p:nvPr/>
        </p:nvPicPr>
        <p:blipFill>
          <a:blip r:embed="rId2"/>
          <a:srcRect t="6072" r="18888" b="3880"/>
          <a:stretch>
            <a:fillRect/>
          </a:stretch>
        </p:blipFill>
        <p:spPr>
          <a:xfrm>
            <a:off x="3044190" y="1684655"/>
            <a:ext cx="6228080" cy="4167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 dirty="0"/>
              <a:t>References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 smtClean="0"/>
              <a:t>16</a:t>
            </a:r>
            <a:r>
              <a:rPr lang="en-GB" dirty="0" smtClean="0"/>
              <a:t>/12/2025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66923" y="6564113"/>
            <a:ext cx="3086878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 smtClean="0"/>
              <a:t>Luksh</a:t>
            </a:r>
            <a:r>
              <a:rPr lang="en-US" dirty="0" smtClean="0"/>
              <a:t> Chawla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/>
            <a:r>
              <a:rPr lang="fr-FR" sz="1800" dirty="0" err="1"/>
              <a:t>Optimus</a:t>
            </a:r>
            <a:r>
              <a:rPr lang="fr-FR" sz="1800" dirty="0"/>
              <a:t> 92 LE (</a:t>
            </a:r>
            <a:r>
              <a:rPr lang="fr-FR" sz="1800" dirty="0" err="1"/>
              <a:t>Previous</a:t>
            </a:r>
            <a:r>
              <a:rPr lang="fr-FR" sz="1800" dirty="0"/>
              <a:t> Concept</a:t>
            </a:r>
            <a:r>
              <a:rPr lang="fr-FR" sz="1800" dirty="0" smtClean="0"/>
              <a:t>) __ </a:t>
            </a:r>
            <a:r>
              <a:rPr lang="fr-FR" sz="1800" dirty="0" smtClean="0">
                <a:hlinkClick r:id="rId3" action="ppaction://hlinkfile"/>
              </a:rPr>
              <a:t>Report_Optimus92LE_Machinebed_Yawsystem.lnk</a:t>
            </a:r>
            <a:r>
              <a:rPr lang="fr-FR" sz="1800" dirty="0" smtClean="0"/>
              <a:t> </a:t>
            </a:r>
            <a:r>
              <a:rPr lang="fr-FR" sz="1800" dirty="0" err="1" smtClean="0"/>
              <a:t>Accesed</a:t>
            </a:r>
            <a:r>
              <a:rPr lang="fr-FR" sz="1800" dirty="0" smtClean="0"/>
              <a:t> ( 12/11/2025)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1290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22</TotalTime>
  <Words>268</Words>
  <Application>Microsoft Office PowerPoint</Application>
  <PresentationFormat>Widescreen</PresentationFormat>
  <Paragraphs>79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Yaw Brake – Modification Diff.</vt:lpstr>
      <vt:lpstr>Yaw system Finalization </vt:lpstr>
      <vt:lpstr>Machine Bed – Modification Diff.</vt:lpstr>
      <vt:lpstr>Machine Bed – Section view</vt:lpstr>
      <vt:lpstr>Rear Machine Bed – Concept</vt:lpstr>
      <vt:lpstr>Updated Machine Bed &amp; Yaw System Ass.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PC</cp:lastModifiedBy>
  <cp:revision>19</cp:revision>
  <dcterms:created xsi:type="dcterms:W3CDTF">2025-10-26T22:40:00Z</dcterms:created>
  <dcterms:modified xsi:type="dcterms:W3CDTF">2025-12-15T09:10:23Z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7AEA9298D95340698E1820C85AEDBF08_12</vt:lpwstr>
  </property>
  <property fmtid="{D5CDD505-2E9C-101B-9397-08002B2CF9AE}" pid="3" name="KSOProductBuildVer">
    <vt:lpwstr>2057-12.2.0.23149</vt:lpwstr>
  </property>
</Properties>
</file>