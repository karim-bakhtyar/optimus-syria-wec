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71" r:id="rId3"/>
    <p:sldId id="256" r:id="rId4"/>
    <p:sldId id="259" r:id="rId5"/>
    <p:sldId id="357" r:id="rId6"/>
    <p:sldId id="381" r:id="rId7"/>
    <p:sldId id="389" r:id="rId8"/>
    <p:sldId id="390" r:id="rId9"/>
    <p:sldId id="368" r:id="rId10"/>
    <p:sldId id="369" r:id="rId11"/>
    <p:sldId id="360" r:id="rId12"/>
    <p:sldId id="341" r:id="rId13"/>
    <p:sldId id="388" r:id="rId14"/>
    <p:sldId id="391" r:id="rId15"/>
    <p:sldId id="387" r:id="rId16"/>
    <p:sldId id="375" r:id="rId17"/>
    <p:sldId id="379" r:id="rId18"/>
    <p:sldId id="386" r:id="rId19"/>
    <p:sldId id="383" r:id="rId20"/>
    <p:sldId id="370" r:id="rId21"/>
    <p:sldId id="384" r:id="rId22"/>
    <p:sldId id="337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56"/>
          </p14:sldIdLst>
        </p14:section>
        <p14:section name="List of Content" id="{531AC0BB-816B-410D-BA56-36D5099BF673}">
          <p14:sldIdLst>
            <p14:sldId id="259"/>
          </p14:sldIdLst>
        </p14:section>
        <p14:section name="Main slides" id="{BD6EF26E-A09A-41FB-8480-E6BC53006862}">
          <p14:sldIdLst>
            <p14:sldId id="357"/>
            <p14:sldId id="381"/>
            <p14:sldId id="389"/>
            <p14:sldId id="390"/>
            <p14:sldId id="368"/>
            <p14:sldId id="369"/>
            <p14:sldId id="360"/>
            <p14:sldId id="341"/>
            <p14:sldId id="388"/>
            <p14:sldId id="391"/>
            <p14:sldId id="387"/>
            <p14:sldId id="375"/>
            <p14:sldId id="379"/>
            <p14:sldId id="386"/>
            <p14:sldId id="383"/>
            <p14:sldId id="370"/>
            <p14:sldId id="384"/>
            <p14:sldId id="337"/>
          </p14:sldIdLst>
        </p14:section>
        <p14:section name="Bibliography" id="{4B1BE071-296A-4A26-8CA8-772A89E6818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77"/>
    <a:srgbClr val="BDE5F9"/>
    <a:srgbClr val="A1DFFD"/>
    <a:srgbClr val="C0F5FF"/>
    <a:srgbClr val="7ED1F7"/>
    <a:srgbClr val="FFFFFF"/>
    <a:srgbClr val="8ECEFA"/>
    <a:srgbClr val="92C6E6"/>
    <a:srgbClr val="80D2F7"/>
    <a:srgbClr val="3C9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4E9BC-567B-ADA7-B995-8F152749ABAC}" v="2300" dt="2025-12-15T10:46:52.600"/>
    <p1510:client id="{8BE2A079-4EAC-4ED5-7D8A-3D878A3525F0}" v="1401" dt="2025-12-15T11:40:27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0036-D7DD-42C8-B5AA-1A1F3B29326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F872-E966-4E82-A983-56302FF6F23D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8C58-2FD7-4CE4-B4DC-DEF691109F84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AF5F-6746-45B9-A9FE-BBDE38F21A62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A9E8-7F5B-48DD-918E-3D5CE3382CA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5290-9E56-44C7-B8BB-35B380DF0EF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F0FC-57EE-4F63-A5B2-1419F641B3FB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4EF9-9D62-4E5B-A559-3AD64F589666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FDC8-E43A-43A1-931C-3C6B81D788B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233B-7A79-4043-88EA-ECED45D3F6EF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5656-A676-4972-ADDE-468CB1EDD68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BE2-6702-4930-A56D-B5476ACA0DF0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475-D91E-4E33-BF8F-90378BE577F9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1E26-A48B-4DE6-94E7-B322713FCCC0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A3D-964C-4047-935E-BF23384B028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5ED4-4AEA-4BEE-9543-97F42F3A9DF7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2E45-CF5C-48EE-9BF1-31EB6A888072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8120-3341-455E-87F6-3553B5B3458C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9507-0DDD-4F0A-9398-E897CDBED1CB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440-4EA5-4D0A-B191-1DC4B1D8ACAD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5C8B-BD3D-4C3C-97C3-5C69D979E78D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1AAB-076A-4A0E-8268-D589047ED16D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C39C-11C9-4478-AACD-4B99CE86271F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C1E37-113B-4587-99CC-1F6CD3314CBE}" type="datetime1">
              <a:rPr lang="en-GB" smtClean="0"/>
              <a:pPr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it-IT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/>
                <a:cs typeface="Times New Roman"/>
              </a:rPr>
              <a:t>Date: </a:t>
            </a:r>
            <a:r>
              <a:rPr lang="it-IT">
                <a:latin typeface="Times New Roman"/>
                <a:cs typeface="Times New Roman"/>
              </a:rPr>
              <a:t>16 </a:t>
            </a:r>
            <a:r>
              <a:rPr lang="it-IT" err="1">
                <a:latin typeface="Times New Roman"/>
                <a:ea typeface="+mn-lt"/>
                <a:cs typeface="+mn-lt"/>
              </a:rPr>
              <a:t>December</a:t>
            </a:r>
            <a:r>
              <a:rPr lang="it-IT">
                <a:latin typeface="Times New Roman"/>
                <a:cs typeface="Times New Roman"/>
              </a:rPr>
              <a:t> </a:t>
            </a:r>
            <a:r>
              <a:rPr kumimoji="0" lang="it-IT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/>
                <a:cs typeface="Times New Roman"/>
              </a:rPr>
              <a:t>2025</a:t>
            </a:r>
          </a:p>
          <a:p>
            <a:endParaRPr lang="en-GB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45" y="1748938"/>
            <a:ext cx="9144000" cy="912598"/>
          </a:xfrm>
        </p:spPr>
        <p:txBody>
          <a:bodyPr>
            <a:noAutofit/>
          </a:bodyPr>
          <a:lstStyle/>
          <a:p>
            <a:r>
              <a:rPr lang="it-IT" sz="3600">
                <a:latin typeface="Times New Roman"/>
                <a:cs typeface="Times New Roman"/>
              </a:rPr>
              <a:t>Weekly report: Team </a:t>
            </a:r>
            <a:r>
              <a:rPr lang="it-IT" sz="3600" err="1">
                <a:latin typeface="Times New Roman"/>
                <a:cs typeface="Times New Roman"/>
              </a:rPr>
              <a:t>Gearbox</a:t>
            </a:r>
            <a:r>
              <a:rPr lang="it-IT" sz="3600">
                <a:latin typeface="Times New Roman"/>
                <a:cs typeface="Times New Roman"/>
              </a:rPr>
              <a:t>, </a:t>
            </a:r>
            <a:r>
              <a:rPr lang="it-IT" sz="3600" err="1">
                <a:latin typeface="Times New Roman"/>
                <a:cs typeface="Times New Roman"/>
              </a:rPr>
              <a:t>Brake</a:t>
            </a:r>
            <a:r>
              <a:rPr lang="it-IT" sz="3600">
                <a:latin typeface="Times New Roman"/>
                <a:cs typeface="Times New Roman"/>
              </a:rPr>
              <a:t>, </a:t>
            </a:r>
            <a:r>
              <a:rPr lang="it-IT" sz="3600" err="1">
                <a:latin typeface="Times New Roman"/>
                <a:cs typeface="Times New Roman"/>
              </a:rPr>
              <a:t>Coupling</a:t>
            </a:r>
            <a:r>
              <a:rPr lang="it-IT" sz="3600">
                <a:latin typeface="Times New Roman"/>
                <a:cs typeface="Times New Roman"/>
              </a:rPr>
              <a:t> </a:t>
            </a:r>
            <a:endParaRPr lang="en-GB" sz="360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6656" y="2650278"/>
            <a:ext cx="589905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>
                <a:latin typeface="Times New Roman"/>
                <a:cs typeface="Times New Roman"/>
              </a:rPr>
              <a:t>Week </a:t>
            </a:r>
            <a:r>
              <a:rPr lang="it-IT" sz="2000" err="1">
                <a:latin typeface="Times New Roman"/>
                <a:cs typeface="Times New Roman"/>
              </a:rPr>
              <a:t>number</a:t>
            </a:r>
            <a:r>
              <a:rPr lang="it-IT" sz="2000">
                <a:latin typeface="Times New Roman"/>
                <a:cs typeface="Times New Roman"/>
              </a:rPr>
              <a:t> : 12</a:t>
            </a:r>
          </a:p>
          <a:p>
            <a:r>
              <a:rPr lang="it-IT" sz="2000">
                <a:latin typeface="Times New Roman"/>
                <a:cs typeface="Times New Roman"/>
              </a:rPr>
              <a:t>Date: 16/12/2025</a:t>
            </a:r>
          </a:p>
          <a:p>
            <a:r>
              <a:rPr lang="it-IT" sz="2000">
                <a:latin typeface="Times New Roman"/>
                <a:cs typeface="Times New Roman"/>
              </a:rPr>
              <a:t>Supervisor: Prof. Peter </a:t>
            </a:r>
            <a:r>
              <a:rPr lang="it-IT" sz="2000" err="1">
                <a:latin typeface="Times New Roman"/>
                <a:cs typeface="Times New Roman"/>
              </a:rPr>
              <a:t>Quell</a:t>
            </a:r>
            <a:endParaRPr lang="en-GB" sz="2000" err="1">
              <a:latin typeface="Times New Roman"/>
              <a:cs typeface="Times New Roman"/>
            </a:endParaRPr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-299280" y="5942449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sz="11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4845" y="6542724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59" y="3992437"/>
            <a:ext cx="84957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Group Members :</a:t>
            </a:r>
            <a:r>
              <a:rPr lang="en-US" err="1">
                <a:latin typeface="Times New Roman"/>
                <a:cs typeface="Times New Roman"/>
              </a:rPr>
              <a:t>Nehang</a:t>
            </a:r>
            <a:r>
              <a:rPr lang="en-US">
                <a:latin typeface="Times New Roman"/>
                <a:cs typeface="Times New Roman"/>
              </a:rPr>
              <a:t> Jitendra </a:t>
            </a:r>
            <a:r>
              <a:rPr lang="en-US" err="1">
                <a:latin typeface="Times New Roman"/>
                <a:cs typeface="Times New Roman"/>
              </a:rPr>
              <a:t>Joshi,Santo</a:t>
            </a:r>
            <a:r>
              <a:rPr lang="en-US">
                <a:latin typeface="Times New Roman"/>
                <a:cs typeface="Times New Roman"/>
              </a:rPr>
              <a:t> Mazumder,</a:t>
            </a:r>
            <a:r>
              <a:rPr lang="fi-FI">
                <a:latin typeface="Times New Roman"/>
                <a:cs typeface="Times New Roman"/>
              </a:rPr>
              <a:t>Md </a:t>
            </a:r>
            <a:r>
              <a:rPr lang="fi-FI" err="1">
                <a:latin typeface="Times New Roman"/>
                <a:cs typeface="Times New Roman"/>
              </a:rPr>
              <a:t>Razaul</a:t>
            </a:r>
            <a:r>
              <a:rPr lang="fi-FI">
                <a:latin typeface="Times New Roman"/>
                <a:cs typeface="Times New Roman"/>
              </a:rPr>
              <a:t> Karim Rahat </a:t>
            </a:r>
            <a:endParaRPr lang="en-US"/>
          </a:p>
          <a:p>
            <a:r>
              <a:rPr lang="fi-FI">
                <a:latin typeface="Times New Roman"/>
                <a:cs typeface="Times New Roman"/>
              </a:rPr>
              <a:t>                              </a:t>
            </a:r>
            <a:endParaRPr lang="fi-FI" err="1">
              <a:latin typeface="Aptos"/>
              <a:cs typeface="Times New Roman"/>
            </a:endParaRPr>
          </a:p>
          <a:p>
            <a:r>
              <a:rPr lang="fi-FI">
                <a:latin typeface="Times New Roman"/>
                <a:cs typeface="Times New Roman"/>
              </a:rPr>
              <a:t>                                        </a:t>
            </a:r>
            <a:r>
              <a:rPr lang="en-GB">
                <a:latin typeface="Times New Roman"/>
                <a:ea typeface="+mn-lt"/>
                <a:cs typeface="+mn-lt"/>
              </a:rPr>
              <a:t>Presented by</a:t>
            </a:r>
            <a:r>
              <a:rPr lang="fi-FI">
                <a:latin typeface="Times New Roman"/>
                <a:cs typeface="Times New Roman"/>
              </a:rPr>
              <a:t> -Md </a:t>
            </a:r>
            <a:r>
              <a:rPr lang="fi-FI" err="1">
                <a:latin typeface="Times New Roman"/>
                <a:cs typeface="Times New Roman"/>
              </a:rPr>
              <a:t>Razaul</a:t>
            </a:r>
            <a:r>
              <a:rPr lang="fi-FI">
                <a:latin typeface="Times New Roman"/>
                <a:cs typeface="Times New Roman"/>
              </a:rPr>
              <a:t> Karim Rahat </a:t>
            </a:r>
            <a:endParaRPr lang="en-US">
              <a:latin typeface="Times New Roman"/>
              <a:cs typeface="Times New Roman"/>
            </a:endParaRPr>
          </a:p>
          <a:p>
            <a:pPr marL="342900" indent="-342900">
              <a:buFont typeface="+mj-lt"/>
              <a:buAutoNum type="arabicPeriod"/>
            </a:pPr>
            <a:endParaRPr lang="fi-FI">
              <a:latin typeface="Times New Roman"/>
              <a:cs typeface="Times New Roman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30319656-CF5E-28CD-1CFD-A3C3C62A9F2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583" y="445344"/>
            <a:ext cx="4340796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2800">
                <a:latin typeface="Times New Roman"/>
                <a:cs typeface="Times New Roman"/>
              </a:rPr>
              <a:t>List of Content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49" y="1176770"/>
            <a:ext cx="4908022" cy="10566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Gearbox calculation and design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Brake calculation and design 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Coupling calculation and design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de-DE" err="1">
                <a:latin typeface="Times New Roman"/>
                <a:cs typeface="Times New Roman"/>
              </a:rPr>
              <a:t>Weight</a:t>
            </a:r>
            <a:r>
              <a:rPr lang="de-DE">
                <a:latin typeface="Times New Roman"/>
                <a:cs typeface="Times New Roman"/>
              </a:rPr>
              <a:t> and Cost calculations</a:t>
            </a:r>
            <a:r>
              <a:rPr lang="de-DE" dirty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endParaRPr lang="de-DE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63B77199-F2F5-F9F9-06EC-BD0AB57A03F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023AAA1-8831-C3DD-47D8-1F8FC9C754D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9744-61A9-A4A3-5EBB-CBE3FAEE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4ACB626-20A7-3DF4-E9FA-2829E9BB557B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527E3E1-5A6A-6271-913C-8B5815FD6B9C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621EDE3-DC0E-A244-0645-33901B4CEAC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39A38FB-9A97-A847-9219-3717251123E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F4E7-7C05-FCBD-4880-28DA9DE4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05371D-5CB8-DB9E-85AD-401A04CC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 err="1">
                <a:latin typeface="Times New Roman"/>
                <a:ea typeface="+mj-lt"/>
                <a:cs typeface="+mj-lt"/>
              </a:rPr>
              <a:t>Gearbox</a:t>
            </a:r>
            <a:r>
              <a:rPr lang="de-DE" sz="2400" b="1">
                <a:latin typeface="Times New Roman"/>
                <a:ea typeface="+mj-lt"/>
                <a:cs typeface="+mj-lt"/>
              </a:rPr>
              <a:t> </a:t>
            </a:r>
            <a:r>
              <a:rPr lang="de-DE" sz="2400" b="1" err="1">
                <a:latin typeface="Times New Roman"/>
                <a:ea typeface="+mj-lt"/>
                <a:cs typeface="+mj-lt"/>
              </a:rPr>
              <a:t>parameter</a:t>
            </a:r>
            <a:r>
              <a:rPr lang="de-DE" sz="2400" b="1">
                <a:latin typeface="Times New Roman"/>
                <a:ea typeface="+mj-lt"/>
                <a:cs typeface="+mj-lt"/>
              </a:rPr>
              <a:t> </a:t>
            </a:r>
            <a:r>
              <a:rPr lang="de-DE" sz="2400" b="1" err="1">
                <a:latin typeface="Times New Roman"/>
                <a:ea typeface="+mj-lt"/>
                <a:cs typeface="+mj-lt"/>
              </a:rPr>
              <a:t>calculation</a:t>
            </a:r>
            <a:endParaRPr lang="en-US" b="1" err="1">
              <a:latin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ACF1F-228F-AEEF-8A57-619DB66E08D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C8777C2-F4D8-B68D-166D-0E4CDFD8799D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D2D043F-1375-C0F7-FF59-B463FF69892B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FDE48-4394-8277-0386-9D2385AEE867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>
              <a:latin typeface="Times New Roman"/>
              <a:cs typeface="Times New Roman"/>
            </a:endParaRPr>
          </a:p>
          <a:p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893F3BD-AE8E-4FD8-F682-F0F0E7F90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04876"/>
              </p:ext>
            </p:extLst>
          </p:nvPr>
        </p:nvGraphicFramePr>
        <p:xfrm>
          <a:off x="289351" y="1390431"/>
          <a:ext cx="4791318" cy="4861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659">
                  <a:extLst>
                    <a:ext uri="{9D8B030D-6E8A-4147-A177-3AD203B41FA5}">
                      <a16:colId xmlns:a16="http://schemas.microsoft.com/office/drawing/2014/main" val="2823557517"/>
                    </a:ext>
                  </a:extLst>
                </a:gridCol>
                <a:gridCol w="2395659">
                  <a:extLst>
                    <a:ext uri="{9D8B030D-6E8A-4147-A177-3AD203B41FA5}">
                      <a16:colId xmlns:a16="http://schemas.microsoft.com/office/drawing/2014/main" val="3844825360"/>
                    </a:ext>
                  </a:extLst>
                </a:gridCol>
              </a:tblGrid>
              <a:tr h="972334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66381"/>
                  </a:ext>
                </a:extLst>
              </a:tr>
              <a:tr h="972334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Input </a:t>
                      </a:r>
                      <a:r>
                        <a:rPr lang="en-US" b="1" err="1">
                          <a:latin typeface="Times New Roman"/>
                        </a:rPr>
                        <a:t>torque,Mi</a:t>
                      </a:r>
                      <a:r>
                        <a:rPr lang="en-US" b="1">
                          <a:latin typeface="Times New Roman"/>
                        </a:rPr>
                        <a:t> KN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5,095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334528"/>
                  </a:ext>
                </a:extLst>
              </a:tr>
              <a:tr h="972334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Output </a:t>
                      </a:r>
                      <a:r>
                        <a:rPr lang="en-US" b="1" err="1">
                          <a:latin typeface="Times New Roman"/>
                        </a:rPr>
                        <a:t>torque,Mo</a:t>
                      </a:r>
                      <a:r>
                        <a:rPr lang="en-US" b="1">
                          <a:latin typeface="Times New Roman"/>
                        </a:rPr>
                        <a:t> KN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41,9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388515"/>
                  </a:ext>
                </a:extLst>
              </a:tr>
              <a:tr h="972334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Input speed,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258957"/>
                  </a:ext>
                </a:extLst>
              </a:tr>
              <a:tr h="972334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Output speed,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0300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137BC4-9273-35A0-9B9C-1FBFAC716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762938"/>
              </p:ext>
            </p:extLst>
          </p:nvPr>
        </p:nvGraphicFramePr>
        <p:xfrm>
          <a:off x="5375753" y="1388300"/>
          <a:ext cx="5819995" cy="48042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64670">
                  <a:extLst>
                    <a:ext uri="{9D8B030D-6E8A-4147-A177-3AD203B41FA5}">
                      <a16:colId xmlns:a16="http://schemas.microsoft.com/office/drawing/2014/main" val="2417972622"/>
                    </a:ext>
                  </a:extLst>
                </a:gridCol>
                <a:gridCol w="1321571">
                  <a:extLst>
                    <a:ext uri="{9D8B030D-6E8A-4147-A177-3AD203B41FA5}">
                      <a16:colId xmlns:a16="http://schemas.microsoft.com/office/drawing/2014/main" val="310021730"/>
                    </a:ext>
                  </a:extLst>
                </a:gridCol>
                <a:gridCol w="2833754">
                  <a:extLst>
                    <a:ext uri="{9D8B030D-6E8A-4147-A177-3AD203B41FA5}">
                      <a16:colId xmlns:a16="http://schemas.microsoft.com/office/drawing/2014/main" val="39346092"/>
                    </a:ext>
                  </a:extLst>
                </a:gridCol>
              </a:tblGrid>
              <a:tr h="81259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Parameter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Value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Unit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18812"/>
                  </a:ext>
                </a:extLst>
              </a:tr>
              <a:tr h="997921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 </a:t>
                      </a:r>
                      <a:r>
                        <a:rPr lang="en-US" sz="1200" b="0" i="0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gearbox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474851"/>
                  </a:ext>
                </a:extLst>
              </a:tr>
              <a:tr h="997921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l-GR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 </a:t>
                      </a:r>
                      <a:r>
                        <a:rPr lang="en-US" sz="1200" b="0" i="0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gearbox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0.97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063627"/>
                  </a:ext>
                </a:extLst>
              </a:tr>
              <a:tr h="997921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 </a:t>
                      </a:r>
                      <a:r>
                        <a:rPr lang="en-US" sz="1200" b="0" i="0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N, Generator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5.6169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KNm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429981"/>
                  </a:ext>
                </a:extLst>
              </a:tr>
              <a:tr h="997921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 </a:t>
                      </a:r>
                      <a:r>
                        <a:rPr lang="en-US" sz="1200" b="0" i="0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N, Rotor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411.55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KNm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524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22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1E93-929A-3027-25E6-0A3789BC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DCF8436-AEE3-840C-3D50-91F373BC4C4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4DA9754-5D95-A76E-46EF-012D7DD819C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5F009F85-33DC-B7D5-EA27-3C8A6653DBE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B8BF9BD-8E4B-2EE7-3B5F-11921D7E2747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629FDF-830E-E64D-43DD-98522FAC576D}"/>
              </a:ext>
            </a:extLst>
          </p:cNvPr>
          <p:cNvSpPr txBox="1"/>
          <p:nvPr/>
        </p:nvSpPr>
        <p:spPr>
          <a:xfrm>
            <a:off x="473320" y="1376739"/>
            <a:ext cx="11218984" cy="66171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Torque transfer</a:t>
            </a:r>
            <a:endParaRPr lang="en-US" dirty="0">
              <a:latin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These values considered the losses of the different electrical components like generator, converter, and transformer. From this torque and the efficiency (97%) and ratio (120) of the gearbox, the nominal torque at the low-speed shaft 𝑀𝑁,𝑙𝑠𝑠 can be calculated as following</a:t>
            </a:r>
            <a:endParaRPr lang="en-US" dirty="0">
              <a:latin typeface="Times New Roman"/>
            </a:endParaRPr>
          </a:p>
          <a:p>
            <a:endParaRPr lang="en-US" b="1">
              <a:latin typeface="Times New Roman"/>
              <a:cs typeface="Times New Roman"/>
            </a:endParaRPr>
          </a:p>
          <a:p>
            <a:endParaRPr lang="en-US" b="1" u="sng">
              <a:latin typeface="Times New Roman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r>
              <a:rPr lang="en-US" dirty="0">
                <a:latin typeface="Aptos"/>
                <a:cs typeface="Times New Roman"/>
              </a:rPr>
              <a:t>                                                                      </a:t>
            </a:r>
            <a:r>
              <a:rPr lang="en-US" dirty="0">
                <a:latin typeface="Times New Roman"/>
                <a:cs typeface="Times New Roman"/>
              </a:rPr>
              <a:t>41.9 *120 / 0.97 = </a:t>
            </a:r>
            <a:r>
              <a:rPr lang="en-US" sz="2000" b="1" u="sng" dirty="0">
                <a:latin typeface="Times New Roman"/>
                <a:cs typeface="Times New Roman"/>
              </a:rPr>
              <a:t> 5,183.50 </a:t>
            </a:r>
            <a:r>
              <a:rPr lang="en-US" sz="2000" b="1" u="sng" dirty="0" err="1">
                <a:latin typeface="Times New Roman"/>
                <a:cs typeface="Times New Roman"/>
              </a:rPr>
              <a:t>KNm</a:t>
            </a:r>
            <a:endParaRPr lang="en-US" sz="2000" b="1" u="sng" dirty="0">
              <a:latin typeface="Times New Roman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Torque overload protection</a:t>
            </a:r>
            <a:endParaRPr lang="en-US" dirty="0">
              <a:latin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For this, a breakdown torque of the coupling of </a:t>
            </a:r>
            <a:r>
              <a:rPr lang="en-US" sz="2000" b="1" u="sng" dirty="0">
                <a:latin typeface="Times New Roman"/>
                <a:ea typeface="+mn-lt"/>
                <a:cs typeface="+mn-lt"/>
              </a:rPr>
              <a:t>2.5 times</a:t>
            </a:r>
            <a:r>
              <a:rPr lang="en-US" dirty="0">
                <a:latin typeface="Times New Roman"/>
                <a:ea typeface="+mn-lt"/>
                <a:cs typeface="+mn-lt"/>
              </a:rPr>
              <a:t> the nominal torque is required by industry experience. The components behind the coupling are designed to withstand a higher torque than this breakdown torque, so that the coupling will fail first and the other components are protected in cases of overloads. </a:t>
            </a:r>
            <a:endParaRPr lang="en-US" dirty="0">
              <a:latin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r>
              <a:rPr lang="en-US" sz="2000" b="1" u="sng" dirty="0" err="1">
                <a:latin typeface="Times New Roman"/>
                <a:cs typeface="Times New Roman"/>
              </a:rPr>
              <a:t>Mn,lss</a:t>
            </a:r>
            <a:r>
              <a:rPr lang="en-US" sz="2000" b="1" u="sng" dirty="0">
                <a:latin typeface="Times New Roman"/>
                <a:cs typeface="Times New Roman"/>
              </a:rPr>
              <a:t> * 2.5 = 12,958.75 </a:t>
            </a:r>
            <a:r>
              <a:rPr lang="en-US" sz="2000" b="1" u="sng">
                <a:latin typeface="Times New Roman"/>
                <a:cs typeface="Times New Roman"/>
              </a:rPr>
              <a:t>KNm - Breakdown</a:t>
            </a: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22B598-ECF4-7443-35A0-66AC6958B39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2D09E5E-49FC-358F-578F-28A92D77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Gearbox Coupling Torque 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8052C51-E1F4-36C0-6A65-BC51F86A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EC0EC17-B9C3-2ACF-5996-5741634A97F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32B3678-627B-25E0-E031-D79C398C4AF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2" name="Picture 1" descr="A black and white image of a number of letters&#10;&#10;AI-generated content may be incorrect.">
            <a:extLst>
              <a:ext uri="{FF2B5EF4-FFF2-40B4-BE49-F238E27FC236}">
                <a16:creationId xmlns:a16="http://schemas.microsoft.com/office/drawing/2014/main" id="{B2EEB5F5-5131-165F-8C3B-59DFF817A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0" y="3058048"/>
            <a:ext cx="32099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1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3A16-B0C7-40E5-54BA-EC4EB1955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3C038FC-C0CC-37E9-66DF-E2FC136EACD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828B5A8-253B-5035-AE21-8A21C40B2FF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B9392DE-1AEC-BEDA-6C01-27665D79D18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F2D949A-FD5D-0F26-18FB-3ED5A42D12AA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3BB37D-B185-036E-BAA2-5AE294A0C47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7C79BD84-3003-3E73-F866-7205D9A8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Gearbox 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08515C-544D-0CB2-302D-3BD06BCC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114DF090-DC33-4B3A-78D0-A82694D8A8B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204AB47-E94C-479C-9B0B-A3FB142F0CB5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740B4E-9E65-10CC-46ED-F3F49ECF0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06421"/>
              </p:ext>
            </p:extLst>
          </p:nvPr>
        </p:nvGraphicFramePr>
        <p:xfrm>
          <a:off x="2178811" y="1220703"/>
          <a:ext cx="7184374" cy="50757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70373">
                  <a:extLst>
                    <a:ext uri="{9D8B030D-6E8A-4147-A177-3AD203B41FA5}">
                      <a16:colId xmlns:a16="http://schemas.microsoft.com/office/drawing/2014/main" val="2671896657"/>
                    </a:ext>
                  </a:extLst>
                </a:gridCol>
                <a:gridCol w="1414001">
                  <a:extLst>
                    <a:ext uri="{9D8B030D-6E8A-4147-A177-3AD203B41FA5}">
                      <a16:colId xmlns:a16="http://schemas.microsoft.com/office/drawing/2014/main" val="1171056749"/>
                    </a:ext>
                  </a:extLst>
                </a:gridCol>
              </a:tblGrid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Items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Values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61458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Power from main shaft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kW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550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314590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Rotational speed of main shaft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rpm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10.15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58482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Number of teeth on sun gear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37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234047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Number of teeth on ring gear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44835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Straight-line distance between torque arms (D), m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3.2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4359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Self-weight of the gearbox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kg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11700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02315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of planet carrier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TC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Nm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330062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28609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of sun gear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Nm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72382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96297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of ring gear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Nm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257680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401868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Gear ratio (</a:t>
                      </a:r>
                      <a:r>
                        <a:rPr lang="en-IN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0757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arm load from the ring gear torque 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151576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28653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arm load from the self-weight of the gearbox (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PO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26977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988267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Torque </a:t>
                      </a:r>
                      <a:r>
                        <a:rPr lang="pt-B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arm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design </a:t>
                      </a:r>
                      <a:r>
                        <a:rPr lang="pt-B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load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pt-BR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PT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N</a:t>
                      </a:r>
                      <a:endParaRPr lang="pt-BR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357107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69882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Shear stress, tensile &amp; bending strength of torque arm pin (</a:t>
                      </a: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τ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),(</a:t>
                      </a: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σ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 and (</a:t>
                      </a:r>
                      <a:r>
                        <a:rPr lang="el-G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σ</a:t>
                      </a: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 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Mpa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15.7, 31.5, 8.3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36702"/>
                  </a:ext>
                </a:extLst>
              </a:tr>
              <a:tr h="317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Length of elastomeric bushing (</a:t>
                      </a:r>
                      <a:r>
                        <a:rPr lang="en-IN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), mm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220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5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46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E508-5DD7-9692-6F20-0F219DA0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0BBD7FB8-B63E-CB9A-92F2-536133421E2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9DB35CE-5D2C-07EC-FC41-8C2BC32DAC1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E92D83E-32A7-98DE-2700-59B63C437552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A5EF1AA-B8E2-11D0-E2ED-44E41D32A96F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8B8C2E-619A-AE36-CC6B-E964F767294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F79BF2F8-A4A1-EA27-7104-44B984EB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Gearbox elastomeric bearing 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E7EC0D-72D2-0A2D-2668-200404F6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156A5CD8-B7E5-53F5-81C2-CE5AAC17064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11F46534-61DB-32B9-34EF-AD00F5563474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2" name="Picture 1" descr="A white rectangular grid with numbers and symbols&#10;&#10;AI-generated content may be incorrect.">
            <a:extLst>
              <a:ext uri="{FF2B5EF4-FFF2-40B4-BE49-F238E27FC236}">
                <a16:creationId xmlns:a16="http://schemas.microsoft.com/office/drawing/2014/main" id="{4F879CC0-C1B3-29A1-76A4-800C8842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25" y="1473830"/>
            <a:ext cx="10020300" cy="4056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6F24C7-6A9B-8FC8-05FE-0CEE042E42A8}"/>
              </a:ext>
            </a:extLst>
          </p:cNvPr>
          <p:cNvSpPr txBox="1"/>
          <p:nvPr/>
        </p:nvSpPr>
        <p:spPr>
          <a:xfrm>
            <a:off x="1242164" y="5715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aseline="0">
                <a:latin typeface="Times New Roman"/>
                <a:cs typeface="Times New Roman"/>
              </a:rPr>
              <a:t>Material using for Pin : EN-GJS-400-18-LT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12" name="TextBox 54">
            <a:extLst>
              <a:ext uri="{FF2B5EF4-FFF2-40B4-BE49-F238E27FC236}">
                <a16:creationId xmlns:a16="http://schemas.microsoft.com/office/drawing/2014/main" id="{25C7BC04-3DB9-49C9-8C0A-5B4A5FC542EC}"/>
              </a:ext>
            </a:extLst>
          </p:cNvPr>
          <p:cNvSpPr txBox="1"/>
          <p:nvPr/>
        </p:nvSpPr>
        <p:spPr>
          <a:xfrm>
            <a:off x="205771" y="6141065"/>
            <a:ext cx="314691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>
                <a:latin typeface="Times New Roman"/>
                <a:cs typeface="Times New Roman"/>
              </a:rPr>
              <a:t>Source: </a:t>
            </a:r>
            <a:r>
              <a:rPr lang="en-IN" b="1">
                <a:latin typeface="Times New Roman"/>
                <a:cs typeface="Times New Roman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FKM Guidelines</a:t>
            </a:r>
          </a:p>
        </p:txBody>
      </p:sp>
    </p:spTree>
    <p:extLst>
      <p:ext uri="{BB962C8B-B14F-4D97-AF65-F5344CB8AC3E}">
        <p14:creationId xmlns:p14="http://schemas.microsoft.com/office/powerpoint/2010/main" val="348531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65A2-C85B-329E-6751-4D5CB7BB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7C25709-CBC6-67F2-C55B-61030D79998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846CB9F-3498-C369-3F06-DD61DA5767F6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2E1E265-A7A7-8814-2F95-E87D9FE0F24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C3A0EAF-C5A6-542F-BA80-AF1E185E32A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30AD95-0962-8208-131C-262979BE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29A4A7-5BEC-420B-DADC-898550CD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ea typeface="+mj-lt"/>
                <a:cs typeface="+mj-lt"/>
              </a:rPr>
              <a:t>Gears geometry calculation</a:t>
            </a:r>
            <a:endParaRPr lang="en-US" b="1">
              <a:latin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1AF71A-1951-7BE4-518F-E90A24DF5BE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88D9FBC2-AD23-2B24-2345-70EF53D5670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62E037F-4251-3806-C787-BB91DAE7947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52DB-89F0-22D4-3ECB-31D79F387F7A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>
              <a:latin typeface="Times New Roman"/>
              <a:cs typeface="Times New Roman"/>
            </a:endParaRPr>
          </a:p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CC316C-996E-2476-5F72-D808A3F02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09137"/>
              </p:ext>
            </p:extLst>
          </p:nvPr>
        </p:nvGraphicFramePr>
        <p:xfrm>
          <a:off x="501041" y="1179534"/>
          <a:ext cx="11153755" cy="5180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754">
                  <a:extLst>
                    <a:ext uri="{9D8B030D-6E8A-4147-A177-3AD203B41FA5}">
                      <a16:colId xmlns:a16="http://schemas.microsoft.com/office/drawing/2014/main" val="3179689103"/>
                    </a:ext>
                  </a:extLst>
                </a:gridCol>
                <a:gridCol w="2787461">
                  <a:extLst>
                    <a:ext uri="{9D8B030D-6E8A-4147-A177-3AD203B41FA5}">
                      <a16:colId xmlns:a16="http://schemas.microsoft.com/office/drawing/2014/main" val="3165096790"/>
                    </a:ext>
                  </a:extLst>
                </a:gridCol>
                <a:gridCol w="2269189">
                  <a:extLst>
                    <a:ext uri="{9D8B030D-6E8A-4147-A177-3AD203B41FA5}">
                      <a16:colId xmlns:a16="http://schemas.microsoft.com/office/drawing/2014/main" val="136614538"/>
                    </a:ext>
                  </a:extLst>
                </a:gridCol>
                <a:gridCol w="2283198">
                  <a:extLst>
                    <a:ext uri="{9D8B030D-6E8A-4147-A177-3AD203B41FA5}">
                      <a16:colId xmlns:a16="http://schemas.microsoft.com/office/drawing/2014/main" val="589489851"/>
                    </a:ext>
                  </a:extLst>
                </a:gridCol>
                <a:gridCol w="1583153">
                  <a:extLst>
                    <a:ext uri="{9D8B030D-6E8A-4147-A177-3AD203B41FA5}">
                      <a16:colId xmlns:a16="http://schemas.microsoft.com/office/drawing/2014/main" val="1690002853"/>
                    </a:ext>
                  </a:extLst>
                </a:gridCol>
              </a:tblGrid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1st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2nd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3rd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679705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Input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5,095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137268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Output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41.9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914690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Pitch </a:t>
                      </a:r>
                      <a:r>
                        <a:rPr lang="en-US" b="1" err="1">
                          <a:latin typeface="Times New Roman"/>
                        </a:rPr>
                        <a:t>diameter,d</a:t>
                      </a:r>
                      <a:r>
                        <a:rPr lang="en-US" b="1">
                          <a:latin typeface="Times New Roman"/>
                        </a:rPr>
                        <a:t>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m*</a:t>
                      </a:r>
                      <a:r>
                        <a:rPr lang="en-US" b="1" err="1">
                          <a:latin typeface="Times New Roman"/>
                        </a:rPr>
                        <a:t>zp</a:t>
                      </a:r>
                      <a:r>
                        <a:rPr lang="en-US" b="1">
                          <a:latin typeface="Times New Roman"/>
                        </a:rPr>
                        <a:t> m*zs  m*</a:t>
                      </a:r>
                      <a:r>
                        <a:rPr lang="en-US" b="1" err="1">
                          <a:latin typeface="Times New Roman"/>
                        </a:rPr>
                        <a:t>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ds-592, dp-624 , dr-1840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ds-490 , dp-525 , dr-1540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1200 and 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62638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Outer </a:t>
                      </a:r>
                      <a:r>
                        <a:rPr lang="en-US" b="1" err="1">
                          <a:latin typeface="Times New Roman"/>
                        </a:rPr>
                        <a:t>dia</a:t>
                      </a:r>
                      <a:r>
                        <a:rPr lang="en-US" b="1">
                          <a:latin typeface="Times New Roman"/>
                        </a:rPr>
                        <a:t> ,Do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Times New Roman"/>
                        </a:rPr>
                        <a:t>D0=(z+2).m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Ds-642,dp-676,dr-1900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Ds-540,dp-560,dr-1600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237508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Addendum,a</a:t>
                      </a:r>
                      <a:r>
                        <a:rPr lang="en-US" b="1">
                          <a:latin typeface="Times New Roman"/>
                        </a:rPr>
                        <a:t>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a=m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4060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Dedendum,b</a:t>
                      </a:r>
                      <a:r>
                        <a:rPr lang="en-US" b="1">
                          <a:latin typeface="Times New Roman"/>
                        </a:rPr>
                        <a:t>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b=1.25*m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39568"/>
                  </a:ext>
                </a:extLst>
              </a:tr>
              <a:tr h="647548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Face width,(mm)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10 *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14254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45CCDC1-58B6-82D6-C779-7AAA3BA2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51" y="2534172"/>
            <a:ext cx="1495425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3F9B16-0086-12F3-FDCB-D37F1029A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52" y="1980417"/>
            <a:ext cx="2027650" cy="3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4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5EED-6957-5C3D-10DC-2EB6D60E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8B01351-E612-FB2C-8713-64820E04A0E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35921B4-6229-6FD9-4C1D-8FA701E4D69F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4B7296C-015F-EF56-B941-1FB991D27C3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29E9253-6A60-F637-A2BF-AA09DFC83522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22D0BD-F257-058C-3B04-7E7897C2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BBF3CF-4257-274B-6035-18CDFD5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B2606-EE6F-EDB2-A4FB-EC1EB69C49EA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6C98C253-DABA-4443-147E-3ACD797B5788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C2007D9-E1AC-ACE8-6C38-CEF18F1EA97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3229F3BA-635A-CB8B-0C9E-A944E739E040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>
                <a:latin typeface="Times New Roman"/>
                <a:ea typeface="+mj-lt"/>
                <a:cs typeface="+mj-lt"/>
              </a:rPr>
              <a:t>Cast iron,Mechanical Properties</a:t>
            </a:r>
            <a:endParaRPr lang="en-US">
              <a:latin typeface="Times New Roman"/>
            </a:endParaRPr>
          </a:p>
          <a:p>
            <a:pPr algn="ctr"/>
            <a:endParaRPr lang="en-US" sz="2800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3" name="Picture 2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17B5D11D-1EC2-C8CC-BE03-4C81C8B0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039" y="1410744"/>
            <a:ext cx="7253483" cy="4495800"/>
          </a:xfrm>
          <a:prstGeom prst="rect">
            <a:avLst/>
          </a:prstGeom>
        </p:spPr>
      </p:pic>
      <p:pic>
        <p:nvPicPr>
          <p:cNvPr id="12" name="Picture 11" descr="A close up of black text&#10;&#10;AI-generated content may be incorrect.">
            <a:extLst>
              <a:ext uri="{FF2B5EF4-FFF2-40B4-BE49-F238E27FC236}">
                <a16:creationId xmlns:a16="http://schemas.microsoft.com/office/drawing/2014/main" id="{2045435D-2910-3359-F916-E45E842A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371" y="5909023"/>
            <a:ext cx="4169863" cy="60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5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2DC0-45A6-7929-30FE-2609DEFD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9F2D0F4-DC55-661A-58DF-ECE5E580F0A5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A7584FF-C9FD-4431-A945-6BDB12038D7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AE71DF78-BD8F-F939-F9B0-32FCD111285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37DC8D3-130C-8CF3-2775-8D11D9F3AA17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1AD815-561E-1ED0-0B86-CA32206A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5BC05-94A0-4787-BA7A-2C6592A0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 </a:t>
            </a:r>
            <a:r>
              <a:rPr lang="de-DE" sz="2400" b="1">
                <a:latin typeface="Times New Roman"/>
                <a:ea typeface="+mj-lt"/>
                <a:cs typeface="+mj-lt"/>
              </a:rPr>
              <a:t>Force </a:t>
            </a:r>
            <a:r>
              <a:rPr lang="de-DE" sz="2400" b="1" err="1">
                <a:latin typeface="Times New Roman"/>
                <a:ea typeface="+mj-lt"/>
                <a:cs typeface="+mj-lt"/>
              </a:rPr>
              <a:t>analysis</a:t>
            </a:r>
            <a:r>
              <a:rPr lang="de-DE" sz="2400" b="1">
                <a:latin typeface="Times New Roman"/>
                <a:ea typeface="+mj-lt"/>
                <a:cs typeface="+mj-lt"/>
              </a:rPr>
              <a:t>, Stress, and </a:t>
            </a:r>
            <a:r>
              <a:rPr lang="de-DE" sz="2400" b="1" err="1">
                <a:latin typeface="Times New Roman"/>
                <a:ea typeface="+mj-lt"/>
                <a:cs typeface="+mj-lt"/>
              </a:rPr>
              <a:t>Safety</a:t>
            </a:r>
            <a:r>
              <a:rPr lang="de-DE" sz="2400" b="1">
                <a:latin typeface="Times New Roman"/>
                <a:ea typeface="+mj-lt"/>
                <a:cs typeface="+mj-lt"/>
              </a:rPr>
              <a:t> Factors (Zr-Ring gear)</a:t>
            </a:r>
            <a:endParaRPr lang="de-DE" sz="2400" b="1" err="1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13B9B1-326C-A140-28FC-38F0D527D10A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B4F839F8-7140-C8AB-16E4-E3FB2323E0A3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A852F223-F382-7C51-D3A9-EDC0B4E0B5C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D379-46DB-C493-2E7B-5C02BC046010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>
              <a:latin typeface="Times New Roman"/>
              <a:cs typeface="Times New Roman"/>
            </a:endParaRPr>
          </a:p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F39628-8560-2246-A466-0F0317DAA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84949"/>
              </p:ext>
            </p:extLst>
          </p:nvPr>
        </p:nvGraphicFramePr>
        <p:xfrm>
          <a:off x="532356" y="1221287"/>
          <a:ext cx="11097587" cy="518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4398">
                  <a:extLst>
                    <a:ext uri="{9D8B030D-6E8A-4147-A177-3AD203B41FA5}">
                      <a16:colId xmlns:a16="http://schemas.microsoft.com/office/drawing/2014/main" val="801015006"/>
                    </a:ext>
                  </a:extLst>
                </a:gridCol>
                <a:gridCol w="3403786">
                  <a:extLst>
                    <a:ext uri="{9D8B030D-6E8A-4147-A177-3AD203B41FA5}">
                      <a16:colId xmlns:a16="http://schemas.microsoft.com/office/drawing/2014/main" val="3033798402"/>
                    </a:ext>
                  </a:extLst>
                </a:gridCol>
                <a:gridCol w="2507314">
                  <a:extLst>
                    <a:ext uri="{9D8B030D-6E8A-4147-A177-3AD203B41FA5}">
                      <a16:colId xmlns:a16="http://schemas.microsoft.com/office/drawing/2014/main" val="2112262503"/>
                    </a:ext>
                  </a:extLst>
                </a:gridCol>
                <a:gridCol w="2412089">
                  <a:extLst>
                    <a:ext uri="{9D8B030D-6E8A-4147-A177-3AD203B41FA5}">
                      <a16:colId xmlns:a16="http://schemas.microsoft.com/office/drawing/2014/main" val="403105799"/>
                    </a:ext>
                  </a:extLst>
                </a:gridCol>
              </a:tblGrid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1st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2nd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800808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Input torque,M (MNm)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Mi-5,095  M2=M1/i1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5,095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37602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Tangencial force,Ft (MN)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3.481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0.788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20003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Radial force Fr (MN)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1.567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0.587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67600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Bending stress (m      (MPa)</a:t>
                      </a:r>
                      <a:endParaRPr lang="en-US" sz="1800" b="1" i="0" u="none" strike="noStrike" noProof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137.89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92.67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836732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Contact stress        C,(MPa)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216.57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170.34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035321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Factor of safety (Bending)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67144"/>
                  </a:ext>
                </a:extLst>
              </a:tr>
              <a:tr h="6476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Factor of safety (Contact)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811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20C79B9-763A-7725-58F6-B642A342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90" y="3844316"/>
            <a:ext cx="413749" cy="2132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7F4FDF-90EE-F639-5852-5D6BB15BB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17" y="4548449"/>
            <a:ext cx="287184" cy="2245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7B4DD1-95AD-F838-A4AF-D396D3586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527" y="2630140"/>
            <a:ext cx="2667000" cy="428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F9BC3A-B828-5D64-5F7A-2EFEA0E63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093" y="3262313"/>
            <a:ext cx="1828800" cy="333375"/>
          </a:xfrm>
          <a:prstGeom prst="rect">
            <a:avLst/>
          </a:prstGeom>
        </p:spPr>
      </p:pic>
      <p:pic>
        <p:nvPicPr>
          <p:cNvPr id="16" name="Picture 1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816A52E-8B34-6030-C597-009CB51DC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8346" y="3846468"/>
            <a:ext cx="3262378" cy="501172"/>
          </a:xfrm>
          <a:prstGeom prst="rect">
            <a:avLst/>
          </a:prstGeom>
        </p:spPr>
      </p:pic>
      <p:pic>
        <p:nvPicPr>
          <p:cNvPr id="19" name="Picture 18" descr="A close up of a text&#10;&#10;AI-generated content may be incorrect.">
            <a:extLst>
              <a:ext uri="{FF2B5EF4-FFF2-40B4-BE49-F238E27FC236}">
                <a16:creationId xmlns:a16="http://schemas.microsoft.com/office/drawing/2014/main" id="{08A84875-98D1-E58D-9168-ED841A0BFF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4797" y="4463376"/>
            <a:ext cx="1924051" cy="613907"/>
          </a:xfrm>
          <a:prstGeom prst="rect">
            <a:avLst/>
          </a:prstGeom>
        </p:spPr>
      </p:pic>
      <p:pic>
        <p:nvPicPr>
          <p:cNvPr id="20" name="Picture 19" descr="A close up of a number&#10;&#10;AI-generated content may be incorrect.">
            <a:extLst>
              <a:ext uri="{FF2B5EF4-FFF2-40B4-BE49-F238E27FC236}">
                <a16:creationId xmlns:a16="http://schemas.microsoft.com/office/drawing/2014/main" id="{3B184C72-32EC-9833-7A99-1D72035A40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4980" y="5223418"/>
            <a:ext cx="2019300" cy="523875"/>
          </a:xfrm>
          <a:prstGeom prst="rect">
            <a:avLst/>
          </a:prstGeom>
        </p:spPr>
      </p:pic>
      <p:pic>
        <p:nvPicPr>
          <p:cNvPr id="21" name="Picture 20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278EFBA-69CA-F640-E4C3-2CDF3145A7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8317" y="5900998"/>
            <a:ext cx="19526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8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EAC5-15B5-A664-9713-932DF28C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2F6F41D-8C44-7B7E-9465-30EA2E1FBBB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B4B3E07-1703-70E1-3244-AEAE64906F3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FD384B0-E106-6664-5AB5-B6B5E813EAB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D84F17-9394-94F0-6D11-5A9AD1E53B1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09CA82-B7A2-4AFF-0DFC-92566F40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7E01B9-4617-FF59-5504-8A23EFEF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C632B1-4580-8BBE-0C84-DCA638DD4AB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8A7C059-2E9D-BB97-01B6-634D614880C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CD3A3FE0-ED50-AA99-3B89-D9F8E0F114C2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22BC82DC-42F7-C719-E19B-D2964451F8D3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latin typeface="Times New Roman"/>
                <a:ea typeface="Calibri Light"/>
                <a:cs typeface="Calibri Light"/>
              </a:rPr>
              <a:t>3D model Gearbox </a:t>
            </a: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3480F-3034-7E7A-FF31-5F642D5921CF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Own design</a:t>
            </a:r>
          </a:p>
        </p:txBody>
      </p:sp>
      <p:pic>
        <p:nvPicPr>
          <p:cNvPr id="4" name="Picture 3" descr="A blue and black circular object&#10;&#10;AI-generated content may be incorrect.">
            <a:extLst>
              <a:ext uri="{FF2B5EF4-FFF2-40B4-BE49-F238E27FC236}">
                <a16:creationId xmlns:a16="http://schemas.microsoft.com/office/drawing/2014/main" id="{718EA2CA-0014-0032-9D54-DC3CB9A0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" y="1426076"/>
            <a:ext cx="6879660" cy="436075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327DC28-FB05-CC87-B3A7-39507DAE5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488337"/>
              </p:ext>
            </p:extLst>
          </p:nvPr>
        </p:nvGraphicFramePr>
        <p:xfrm>
          <a:off x="7014575" y="1482246"/>
          <a:ext cx="4875296" cy="4249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648">
                  <a:extLst>
                    <a:ext uri="{9D8B030D-6E8A-4147-A177-3AD203B41FA5}">
                      <a16:colId xmlns:a16="http://schemas.microsoft.com/office/drawing/2014/main" val="1415453280"/>
                    </a:ext>
                  </a:extLst>
                </a:gridCol>
                <a:gridCol w="2437648">
                  <a:extLst>
                    <a:ext uri="{9D8B030D-6E8A-4147-A177-3AD203B41FA5}">
                      <a16:colId xmlns:a16="http://schemas.microsoft.com/office/drawing/2014/main" val="2000819267"/>
                    </a:ext>
                  </a:extLst>
                </a:gridCol>
              </a:tblGrid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395362"/>
                  </a:ext>
                </a:extLst>
              </a:tr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564511"/>
                  </a:ext>
                </a:extLst>
              </a:tr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1368"/>
                  </a:ext>
                </a:extLst>
              </a:tr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Length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1522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805430"/>
                  </a:ext>
                </a:extLst>
              </a:tr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Width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3200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178038"/>
                  </a:ext>
                </a:extLst>
              </a:tr>
              <a:tr h="70824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Pin to pin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2700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008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CFD9A-DF61-4793-860B-8AF2BAB5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0BBE781-B84A-A8A9-7DFA-6EE37B7ED17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B2EC34A-7792-2E8A-5FB3-255BFE95706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57CC24CC-DD2C-F4C1-62C4-12DBF9BE9C2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358C2FF-D2A2-E0B3-91FC-D778E9A1DB98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5772DA0-50E1-0563-F109-2323E0A6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8EA9D0-2D52-E312-464B-4B2429CF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FFD097-EB14-DA4A-3C25-A4D256EC887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B89D3FD3-9CC6-7920-10A8-BC992ADEB09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9754C03-F20E-230A-11BE-593C8E9C603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40674DB5-5CB8-3318-4372-54F7EDA848B2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latin typeface="Times New Roman"/>
                <a:ea typeface="Calibri Light"/>
                <a:cs typeface="Calibri Light"/>
              </a:rPr>
              <a:t>3D model Gearbox </a:t>
            </a: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EF888-7102-D997-56CD-5CE25E4883C1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Own design</a:t>
            </a:r>
          </a:p>
        </p:txBody>
      </p:sp>
      <p:pic>
        <p:nvPicPr>
          <p:cNvPr id="3" name="Picture 2" descr="A blue circular object with a red and silver disc&#10;&#10;AI-generated content may be incorrect.">
            <a:extLst>
              <a:ext uri="{FF2B5EF4-FFF2-40B4-BE49-F238E27FC236}">
                <a16:creationId xmlns:a16="http://schemas.microsoft.com/office/drawing/2014/main" id="{2023A6C6-3F95-F7F9-6218-6DEB42E9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167" y="1221287"/>
            <a:ext cx="7309938" cy="50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8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3019-1207-3ECF-E618-42ECDA41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676A5CE-F96D-DA1E-32C7-72C639D9F93C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7D01D06-A736-42E7-515C-72BBD33F020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3C0A52A-B681-A584-3D84-3C167A61B8D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5A56069-7C6E-FC21-C79D-BA0AF4AF84AF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D62076-577E-B2E5-1B6D-C4AAC2CC313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376CD36A-9E0A-445D-4D49-BB61E1B7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 dirty="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Gearbox elastomeric bearing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CCB747F-B41B-B27F-6A6D-35AF88A0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FD76EF09-ACD8-F4A9-3CCC-0268E050135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3296F8C7-1E78-D1D8-4C73-07904B240634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2" name="TextBox 54">
            <a:extLst>
              <a:ext uri="{FF2B5EF4-FFF2-40B4-BE49-F238E27FC236}">
                <a16:creationId xmlns:a16="http://schemas.microsoft.com/office/drawing/2014/main" id="{78176A8C-1844-B3EE-083B-41038C8D13A2}"/>
              </a:ext>
            </a:extLst>
          </p:cNvPr>
          <p:cNvSpPr txBox="1"/>
          <p:nvPr/>
        </p:nvSpPr>
        <p:spPr>
          <a:xfrm>
            <a:off x="205771" y="6141065"/>
            <a:ext cx="314691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>
                <a:latin typeface="Times New Roman"/>
                <a:cs typeface="Times New Roman"/>
              </a:rPr>
              <a:t>Source: ESM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BFEF6-F4CA-8C1D-E682-8314A941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39" y="1467371"/>
            <a:ext cx="7829290" cy="447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96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4E98-0D10-E6C3-0BBF-B5360F11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F3BDB1E-7321-6794-F420-6B4C1C4CFDA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4668EEE-2BF7-8FD9-3FF2-520034EE86E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D5D9E2B-6700-9A1F-DC13-E41ADCF7D24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A054D89-4E41-653C-AA21-F93B1A65093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8E301D8-DAF5-5822-6BA4-B94D2CBD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CA5FEE-E646-97CA-BFD2-C0332A0C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EC1BEF-5BC7-57BC-4D05-E8C3EB1B6ECA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C5211E64-A727-8EC4-6E0C-6CC537AEA46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F7B1A12-53DE-D831-5FD1-F632B08697B2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29A91062-3BB0-A59B-6357-374F787F31A7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latin typeface="Times New Roman"/>
                <a:ea typeface="Calibri Light"/>
                <a:cs typeface="Calibri Light"/>
              </a:rPr>
              <a:t>3D model Brake </a:t>
            </a: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A9556-D7F4-3C0E-57A9-F7BDA87614A4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Own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17F83-AB4C-823C-6343-BD131139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36" y="1715609"/>
            <a:ext cx="4694129" cy="395913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A39578-01C8-D634-65EB-D6E1A1ECB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0197"/>
              </p:ext>
            </p:extLst>
          </p:nvPr>
        </p:nvGraphicFramePr>
        <p:xfrm>
          <a:off x="5709780" y="1513562"/>
          <a:ext cx="5884320" cy="3692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160">
                  <a:extLst>
                    <a:ext uri="{9D8B030D-6E8A-4147-A177-3AD203B41FA5}">
                      <a16:colId xmlns:a16="http://schemas.microsoft.com/office/drawing/2014/main" val="3644075297"/>
                    </a:ext>
                  </a:extLst>
                </a:gridCol>
                <a:gridCol w="2942160">
                  <a:extLst>
                    <a:ext uri="{9D8B030D-6E8A-4147-A177-3AD203B41FA5}">
                      <a16:colId xmlns:a16="http://schemas.microsoft.com/office/drawing/2014/main" val="1615118211"/>
                    </a:ext>
                  </a:extLst>
                </a:gridCol>
              </a:tblGrid>
              <a:tr h="73841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113447"/>
                  </a:ext>
                </a:extLst>
              </a:tr>
              <a:tr h="73841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Svendborg 300 dual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393412"/>
                  </a:ext>
                </a:extLst>
              </a:tr>
              <a:tr h="73841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220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56050"/>
                  </a:ext>
                </a:extLst>
              </a:tr>
              <a:tr h="73841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167 mm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482544"/>
                  </a:ext>
                </a:extLst>
              </a:tr>
              <a:tr h="73841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62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523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298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40AD-C35B-F7B5-8975-A0016F37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57B59FB4-F0BC-8135-774F-344CE037B409}"/>
              </a:ext>
            </a:extLst>
          </p:cNvPr>
          <p:cNvSpPr/>
          <p:nvPr/>
        </p:nvSpPr>
        <p:spPr>
          <a:xfrm rot="10800000">
            <a:off x="-149990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587636F-3AA1-9797-EAC1-AFAC82AFE13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58919F9-457B-A7FB-4034-469AFA77C29D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617FFB-84C2-759F-642F-20663B01114A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16ED230-309B-A18C-3E44-87E3835D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0199DA-0405-136C-D58C-A9B0D7CF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41A46E-0C74-8B11-5455-E10B129D013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0F2F357A-1458-B495-39BE-25F279E5D8F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8BDE8A4-A597-9D37-9698-36CBAE66B744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7E5ED8EB-A6FF-7014-C1EA-DEAD490E62E9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b="1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1A9F1-03FD-3958-CF88-1A79BF9A7268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Svendborg</a:t>
            </a:r>
          </a:p>
        </p:txBody>
      </p:sp>
      <p:pic>
        <p:nvPicPr>
          <p:cNvPr id="3" name="Picture 2" descr="A close-up of a mechanical device&#10;&#10;AI-generated content may be incorrect.">
            <a:extLst>
              <a:ext uri="{FF2B5EF4-FFF2-40B4-BE49-F238E27FC236}">
                <a16:creationId xmlns:a16="http://schemas.microsoft.com/office/drawing/2014/main" id="{53D73D46-D5CE-FB43-7E25-A7E6377C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637" y="1317973"/>
            <a:ext cx="3286125" cy="2343150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3AAC6998-5270-4B7C-8EDC-7001BDB59466}"/>
              </a:ext>
            </a:extLst>
          </p:cNvPr>
          <p:cNvSpPr txBox="1"/>
          <p:nvPr/>
        </p:nvSpPr>
        <p:spPr>
          <a:xfrm>
            <a:off x="7491369" y="4062292"/>
            <a:ext cx="4463185" cy="13542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latin typeface="Times New Roman"/>
                <a:cs typeface="Times New Roman"/>
              </a:rPr>
              <a:t>BSAK 300 Dual-Action</a:t>
            </a:r>
            <a:r>
              <a:rPr lang="en-US">
                <a:latin typeface="Times New Roman"/>
                <a:cs typeface="Times New Roman"/>
              </a:rPr>
              <a:t> </a:t>
            </a:r>
          </a:p>
          <a:p>
            <a:r>
              <a:rPr lang="en-US">
                <a:latin typeface="Times New Roman"/>
                <a:cs typeface="Times New Roman"/>
              </a:rPr>
              <a:t>Hydraulic pressure applied and spring return. </a:t>
            </a:r>
          </a:p>
          <a:p>
            <a:r>
              <a:rPr lang="en-US">
                <a:latin typeface="Times New Roman"/>
                <a:cs typeface="Times New Roman"/>
              </a:rPr>
              <a:t>Clamping force: 0 to 55.000 N </a:t>
            </a:r>
          </a:p>
          <a:p>
            <a:r>
              <a:rPr lang="en-US">
                <a:latin typeface="Times New Roman"/>
                <a:cs typeface="Times New Roman"/>
              </a:rPr>
              <a:t>Nominal braking force: 0 to 44.800 N</a:t>
            </a:r>
            <a:endParaRPr lang="en-IN">
              <a:latin typeface="Times New Roman"/>
              <a:cs typeface="Times New Roman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AC7568-05EF-4CBC-92EF-DC5A70C4FF7A}"/>
              </a:ext>
            </a:extLst>
          </p:cNvPr>
          <p:cNvSpPr>
            <a:spLocks noGrp="1"/>
          </p:cNvSpPr>
          <p:nvPr/>
        </p:nvSpPr>
        <p:spPr>
          <a:xfrm>
            <a:off x="483296" y="438336"/>
            <a:ext cx="6397487" cy="53481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aseline="-25000"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o bring a drivetrain that is operating at a reduced/idling speed to a complete stop and provides holding functionality.</a:t>
            </a:r>
          </a:p>
          <a:p>
            <a:pPr marL="0" indent="0">
              <a:buNone/>
            </a:pPr>
            <a:r>
              <a:rPr lang="en-US" sz="1800" u="sng">
                <a:solidFill>
                  <a:srgbClr val="000000"/>
                </a:solidFill>
                <a:latin typeface="Times New Roman"/>
                <a:cs typeface="Times New Roman"/>
              </a:rPr>
              <a:t>Why svendborg..?</a:t>
            </a:r>
          </a:p>
          <a:p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Developed a series of hydraulically-applied caliper brakes.</a:t>
            </a:r>
          </a:p>
          <a:p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rovide easy maintenance and friction pad replacement.</a:t>
            </a:r>
          </a:p>
          <a:p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lso feature corrosion protection, monitoring systems (on-off switch, pad wear monitor, etc.).</a:t>
            </a: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high thermal dissipation during dynamic braking </a:t>
            </a:r>
            <a:endParaRPr lang="en-US" sz="18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9880700-1978-402A-BAB2-45E15546B476}"/>
              </a:ext>
            </a:extLst>
          </p:cNvPr>
          <p:cNvSpPr>
            <a:spLocks noGrp="1"/>
          </p:cNvSpPr>
          <p:nvPr/>
        </p:nvSpPr>
        <p:spPr>
          <a:xfrm>
            <a:off x="838200" y="382384"/>
            <a:ext cx="10515600" cy="755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Times New Roman"/>
                <a:cs typeface="Times New Roman"/>
              </a:rPr>
              <a:t>Selection of the brake caliper</a:t>
            </a:r>
            <a:endParaRPr lang="en-IN" sz="28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8745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E1CD-EB48-3100-5169-B08E08F2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7BD973B-2EE2-A035-8547-AEFECCA6ACF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1FBCF23-D2C5-AAC2-4873-1A85D8CC208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6BA4E35-16B9-6092-4804-3111B7E1B07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3CC3756-91E8-6073-AA19-0B6D321F84B8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A38151-31C2-407F-502C-6B175C5FDBC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F2D5F65D-82F4-7E5F-8EF6-4B0F5EB1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           Brake 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A783A1-03C3-98F1-D701-CF2C2958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5F612164-1711-C627-98C9-F08C43383711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0ACFA98A-3DB9-6ACB-C0B7-2C2E60CB8E4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87A829-5203-8CEF-C9F1-043AF399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9" y="1475331"/>
            <a:ext cx="5264977" cy="3844707"/>
          </a:xfrm>
          <a:prstGeom prst="rect">
            <a:avLst/>
          </a:prstGeom>
        </p:spPr>
      </p:pic>
      <p:pic>
        <p:nvPicPr>
          <p:cNvPr id="14" name="Picture 13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086D6431-4E63-CF17-D644-187CC30B3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539" y="1178555"/>
            <a:ext cx="6565856" cy="528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43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5BBD-2C13-17CD-D072-490D1EB9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DA980BF-BE83-3BB4-EFE0-1E547013077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3B0027B-1F94-385F-9CFC-749072905C2F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36DA4F62-CB95-2E2D-5D48-C5D41F1024F0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E3665A1-C94A-0FE8-BC58-C23F20F4B672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238134-F532-8D05-0974-A8E025D8F35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66439219-EBDE-3483-4932-18465734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</a:t>
            </a:r>
            <a:r>
              <a:rPr lang="en-US" sz="2400" b="1">
                <a:latin typeface="Times New Roman"/>
                <a:cs typeface="Times New Roman"/>
              </a:rPr>
              <a:t>               Brake 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9523A0-30AE-2BEC-7EBD-9717BAFA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E3BC2C5C-B83A-7642-3810-9736CF675A6D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2DF85F07-2E66-F799-8674-1D193CA24110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5" name="Picture 4" descr="A person standing next to each other&#10;&#10;AI-generated content may be incorrect.">
            <a:extLst>
              <a:ext uri="{FF2B5EF4-FFF2-40B4-BE49-F238E27FC236}">
                <a16:creationId xmlns:a16="http://schemas.microsoft.com/office/drawing/2014/main" id="{9D021095-C548-B672-B5BB-C14991A6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" r="977" b="-357"/>
          <a:stretch>
            <a:fillRect/>
          </a:stretch>
        </p:blipFill>
        <p:spPr>
          <a:xfrm>
            <a:off x="591268" y="1736194"/>
            <a:ext cx="9754856" cy="338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78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53BC-6E9B-4B77-24C1-3B8F4457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E2137A4-E396-5025-0535-FED828CD068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F282EAC-69EA-49A8-5216-EAA40F314C9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340FD09-FF9D-F05C-E487-188C60FDF329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409E5C9-001F-A79D-E559-D94D58CD0894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6FF654B-5E41-1874-E3D6-7EA44929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1BE8CF-EEFF-1862-9BC5-C12E9E75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02D739-1168-BE4C-BA12-5B889E573E7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6443942-D400-9138-7A11-E004A9A80BAA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F857910-9947-539D-02C8-CD9C3B5CBDF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B91DF982-4385-7BF9-EE9F-C785B2387359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latin typeface="Times New Roman"/>
                <a:ea typeface="Calibri Light"/>
                <a:cs typeface="Calibri Light"/>
              </a:rPr>
              <a:t>3D model Coupling  </a:t>
            </a: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F7445-1320-362B-65BB-6B466BE7C32A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Own design</a:t>
            </a:r>
          </a:p>
        </p:txBody>
      </p:sp>
      <p:pic>
        <p:nvPicPr>
          <p:cNvPr id="3" name="Picture 2" descr="A close-up of a metal disc&#10;&#10;AI-generated content may be incorrect.">
            <a:extLst>
              <a:ext uri="{FF2B5EF4-FFF2-40B4-BE49-F238E27FC236}">
                <a16:creationId xmlns:a16="http://schemas.microsoft.com/office/drawing/2014/main" id="{2F8C025A-C33B-2AED-708C-F26D91A1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19" y="1469651"/>
            <a:ext cx="5794562" cy="441175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B89D3-ED67-8B07-7296-D0BC0755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77979"/>
              </p:ext>
            </p:extLst>
          </p:nvPr>
        </p:nvGraphicFramePr>
        <p:xfrm>
          <a:off x="6241676" y="1467970"/>
          <a:ext cx="5197680" cy="3954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840">
                  <a:extLst>
                    <a:ext uri="{9D8B030D-6E8A-4147-A177-3AD203B41FA5}">
                      <a16:colId xmlns:a16="http://schemas.microsoft.com/office/drawing/2014/main" val="145761936"/>
                    </a:ext>
                  </a:extLst>
                </a:gridCol>
                <a:gridCol w="2598840">
                  <a:extLst>
                    <a:ext uri="{9D8B030D-6E8A-4147-A177-3AD203B41FA5}">
                      <a16:colId xmlns:a16="http://schemas.microsoft.com/office/drawing/2014/main" val="3063463188"/>
                    </a:ext>
                  </a:extLst>
                </a:gridCol>
              </a:tblGrid>
              <a:tr h="767936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234374"/>
                  </a:ext>
                </a:extLst>
              </a:tr>
              <a:tr h="882463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KTR RADEX 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832448"/>
                  </a:ext>
                </a:extLst>
              </a:tr>
              <a:tr h="767936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945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372049"/>
                  </a:ext>
                </a:extLst>
              </a:tr>
              <a:tr h="767936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Disc Radius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450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84424"/>
                  </a:ext>
                </a:extLst>
              </a:tr>
              <a:tr h="767936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170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284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42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5DE8-9266-313E-3C48-75BA5603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F6FE874-C183-2105-37A8-B4A6930C91A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F931DF4-79F2-4A78-7DD0-F263723B138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8320AC0-B851-A5C8-2A85-B8A279C0B9D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B38B0E1-876B-16FF-05F6-A707E61F4147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3384EB-FF58-2D81-5AF3-7B8D6C99A6AC}"/>
              </a:ext>
            </a:extLst>
          </p:cNvPr>
          <p:cNvSpPr txBox="1"/>
          <p:nvPr/>
        </p:nvSpPr>
        <p:spPr>
          <a:xfrm>
            <a:off x="473320" y="1376739"/>
            <a:ext cx="11218984" cy="520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Coupling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Calculate the compensating torque applied to the coupling</a:t>
            </a:r>
            <a:endParaRPr lang="en-US">
              <a:latin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Md=Md rotor * K = 5,095* 1.5 =</a:t>
            </a:r>
            <a:r>
              <a:rPr lang="en-US" sz="2000" b="1" u="sng">
                <a:latin typeface="Times New Roman"/>
                <a:cs typeface="Times New Roman"/>
              </a:rPr>
              <a:t>7.6425 </a:t>
            </a:r>
            <a:r>
              <a:rPr lang="en-US" sz="2000" b="1" u="sng" err="1">
                <a:latin typeface="Times New Roman"/>
                <a:cs typeface="Times New Roman"/>
              </a:rPr>
              <a:t>MNm</a:t>
            </a:r>
            <a:endParaRPr lang="en-US" sz="2000" b="1" u="sng">
              <a:latin typeface="Times New Roman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endParaRPr lang="en-US">
              <a:latin typeface="Aptos"/>
              <a:cs typeface="Times New Roman"/>
            </a:endParaRPr>
          </a:p>
          <a:p>
            <a:r>
              <a:rPr lang="en-US" sz="2400" b="1" u="sng">
                <a:highlight>
                  <a:srgbClr val="F5F5F5"/>
                </a:highlight>
                <a:latin typeface="Times New Roman"/>
                <a:cs typeface="Times New Roman"/>
              </a:rPr>
              <a:t>Nominal Torque = 3,979.16 Nm</a:t>
            </a:r>
            <a:endParaRPr lang="en-US"/>
          </a:p>
          <a:p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4EBD03-7375-E7A7-8281-4E5DFF0B271D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CF56C026-1731-D641-C515-8D85B28A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  </a:t>
            </a:r>
            <a:r>
              <a:rPr lang="en-US" sz="2800" b="1">
                <a:latin typeface="Times New Roman"/>
                <a:cs typeface="Times New Roman"/>
              </a:rPr>
              <a:t>Coupling Torque calculation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BE5498-16D1-DBCB-2120-84AD85A5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3FC7AC64-D6DB-CC89-63FA-4E567ECEE3A6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76B4468E-4FFE-DEA8-8709-50051F3D8BC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C835D04-BE1F-8F5A-B453-A352E7B72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36" y="1395739"/>
            <a:ext cx="5310513" cy="1488248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2D050791-701C-D3C9-7DBA-93F4CF20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1" y="3019817"/>
            <a:ext cx="4512110" cy="181001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ABB996B-3EC0-2AD0-2988-C7604ADDC854}"/>
              </a:ext>
            </a:extLst>
          </p:cNvPr>
          <p:cNvSpPr/>
          <p:nvPr/>
        </p:nvSpPr>
        <p:spPr>
          <a:xfrm>
            <a:off x="6403861" y="3178099"/>
            <a:ext cx="4250635" cy="1586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err="1">
                <a:latin typeface="Times New Roman"/>
                <a:cs typeface="Times New Roman"/>
              </a:rPr>
              <a:t>T</a:t>
            </a:r>
            <a:r>
              <a:rPr lang="en-IN" sz="2400" b="1" baseline="-25000" err="1">
                <a:latin typeface="Times New Roman"/>
                <a:cs typeface="Times New Roman"/>
              </a:rPr>
              <a:t>kN</a:t>
            </a:r>
            <a:r>
              <a:rPr lang="en-IN" sz="2000" b="1">
                <a:latin typeface="Times New Roman"/>
                <a:cs typeface="Times New Roman"/>
              </a:rPr>
              <a:t> = </a:t>
            </a:r>
            <a:r>
              <a:rPr lang="en-IN" sz="2000" b="1" u="sng">
                <a:latin typeface="Times New Roman"/>
                <a:cs typeface="Times New Roman"/>
              </a:rPr>
              <a:t>5,769.791667 </a:t>
            </a:r>
            <a:r>
              <a:rPr lang="en-IN" sz="2000" b="1">
                <a:latin typeface="Times New Roman"/>
                <a:cs typeface="Times New Roman"/>
              </a:rPr>
              <a:t>Nm, </a:t>
            </a:r>
            <a:r>
              <a:rPr lang="en-IN" sz="2000">
                <a:latin typeface="Times New Roman"/>
                <a:cs typeface="Times New Roman"/>
              </a:rPr>
              <a:t>On Considering Size Factor as 1.45 </a:t>
            </a:r>
            <a:r>
              <a:rPr lang="en-IN" sz="2000"/>
              <a:t> </a:t>
            </a:r>
            <a:endParaRPr lang="en-IN" sz="2000" b="1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8B59D7FA-1DBB-B5DE-88D0-662C32482DAE}"/>
              </a:ext>
            </a:extLst>
          </p:cNvPr>
          <p:cNvSpPr txBox="1"/>
          <p:nvPr/>
        </p:nvSpPr>
        <p:spPr>
          <a:xfrm>
            <a:off x="6070128" y="5101467"/>
            <a:ext cx="530542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Times New Roman"/>
                <a:cs typeface="Times New Roman"/>
              </a:rPr>
              <a:t>According to the Calculated Torque , The size of the High-speed shaft side could be chosen as 115mm With 6 Holes </a:t>
            </a:r>
            <a:endParaRPr lang="en-IN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4524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D6A8-55FC-3BF0-4A09-57A23A7B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826BC78-2BFB-639A-56B9-678A6D22046B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4EAC4DE-971E-D254-A34D-6D35BA36175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52E56C8-CA87-F397-6A4D-102AAF5A445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D928D98-2872-BB7F-CE62-8DE1FD05AEE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45ABB0-5099-CC99-1D2C-6E2F81309BD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745A4075-1F55-6D6C-9754-5A9EECB1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                                          </a:t>
            </a:r>
            <a:r>
              <a:rPr lang="en-US" sz="2800" b="1">
                <a:latin typeface="Times New Roman"/>
                <a:cs typeface="Times New Roman"/>
              </a:rPr>
              <a:t>Coupling size overview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B178C-E219-C664-FFD3-9BE0C62B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B1D50F9-3E4A-C2FF-E0CE-2E407D974CC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696AED4-7744-F115-1B6F-74A8523F512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05F10E-9437-E775-C434-BD285414C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6" y="1353202"/>
            <a:ext cx="11534775" cy="4819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EAFC1-C9DA-112C-27BD-5F5D68B57833}"/>
              </a:ext>
            </a:extLst>
          </p:cNvPr>
          <p:cNvSpPr txBox="1"/>
          <p:nvPr/>
        </p:nvSpPr>
        <p:spPr>
          <a:xfrm>
            <a:off x="2476500" y="6163235"/>
            <a:ext cx="72165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Source-KTR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39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7C05-3F90-9266-79B2-852BA51A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4BB966-5785-6E99-F127-0DA36C406DB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EFC822C-98EB-D02D-9EA2-6757254FB07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DB29227-3CD1-ADF8-298F-79AAF63899F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2BE8B3D-546B-6FC9-0E6A-7EDA74F784F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B80E0E-B449-BF5E-72AB-D5D0898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E03ACC-C26D-6FB6-37E3-C7927EB2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ea typeface="+mj-lt"/>
                <a:cs typeface="+mj-lt"/>
              </a:rPr>
              <a:t>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2ABF6-A010-4F90-48F3-A9CA6844368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CE3C34A-AC2E-42C1-3248-B81645CD92E4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A4D3F9B-C8BF-A2A4-C73A-82C0FB1A71C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B5702499-23A8-B1C1-B21E-86EDBEE8667D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latin typeface="Times New Roman"/>
                <a:ea typeface="Calibri Light"/>
                <a:cs typeface="Calibri Light"/>
              </a:rPr>
              <a:t>Weight and Cost estimation </a:t>
            </a:r>
          </a:p>
          <a:p>
            <a:pPr algn="ctr"/>
            <a:br>
              <a:rPr lang="en-IN" sz="2800" u="sng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85EE3B-E437-4C0F-1CAC-8CAA4D531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76973"/>
              </p:ext>
            </p:extLst>
          </p:nvPr>
        </p:nvGraphicFramePr>
        <p:xfrm>
          <a:off x="427972" y="1388301"/>
          <a:ext cx="11175996" cy="2497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999">
                  <a:extLst>
                    <a:ext uri="{9D8B030D-6E8A-4147-A177-3AD203B41FA5}">
                      <a16:colId xmlns:a16="http://schemas.microsoft.com/office/drawing/2014/main" val="3136422432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964762032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475269150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710244737"/>
                    </a:ext>
                  </a:extLst>
                </a:gridCol>
              </a:tblGrid>
              <a:tr h="49953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Weight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Cost estimation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14451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Gearbox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11700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53000 €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376423"/>
                  </a:ext>
                </a:extLst>
              </a:tr>
              <a:tr h="4995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Times New Roman"/>
                        </a:rPr>
                        <a:t>Elastomeric bearing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>
                          <a:latin typeface="Times New Roman"/>
                        </a:rPr>
                        <a:t>58 Kg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Times New Roman"/>
                        </a:rPr>
                        <a:t>261 €</a:t>
                      </a:r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88940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Brake caliper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62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noProof="0">
                          <a:latin typeface="Times New Roman"/>
                        </a:rPr>
                        <a:t>279 €</a:t>
                      </a:r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69293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</a:rPr>
                        <a:t>170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noProof="0">
                          <a:latin typeface="Times New Roman"/>
                        </a:rPr>
                        <a:t>765 €</a:t>
                      </a:r>
                      <a:endParaRPr lang="en-US" b="1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52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93BF6-C42B-7F26-1A08-10D48C37A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35200"/>
              </p:ext>
            </p:extLst>
          </p:nvPr>
        </p:nvGraphicFramePr>
        <p:xfrm>
          <a:off x="1875981" y="5263061"/>
          <a:ext cx="8168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8037697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320698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Total Weight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11,990 Kg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09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Times New Roman"/>
                        </a:rPr>
                        <a:t>Total cost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55000-65000 €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8179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92B91F-D1A0-2A65-768B-13362606A11C}"/>
              </a:ext>
            </a:extLst>
          </p:cNvPr>
          <p:cNvSpPr txBox="1"/>
          <p:nvPr/>
        </p:nvSpPr>
        <p:spPr>
          <a:xfrm>
            <a:off x="2476500" y="6163235"/>
            <a:ext cx="72165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Source-https://www.indexbox.io/search/cast-iron-price-per-kg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3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Md </a:t>
            </a:r>
            <a:r>
              <a:rPr lang="fi-FI" err="1">
                <a:solidFill>
                  <a:srgbClr val="000000"/>
                </a:solidFill>
                <a:latin typeface="Times New Roman"/>
                <a:cs typeface="Times New Roman"/>
              </a:rPr>
              <a:t>Razaul</a:t>
            </a:r>
            <a:r>
              <a:rPr lang="fi-FI">
                <a:solidFill>
                  <a:srgbClr val="000000"/>
                </a:solidFill>
                <a:latin typeface="Times New Roman"/>
                <a:cs typeface="Times New Roman"/>
              </a:rPr>
              <a:t> Karim Rahat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73320" y="1376739"/>
            <a:ext cx="11218984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Gearbox</a:t>
            </a:r>
          </a:p>
          <a:p>
            <a:r>
              <a:rPr lang="en-US">
                <a:latin typeface="Times New Roman"/>
                <a:cs typeface="Times New Roman"/>
              </a:rPr>
              <a:t>Previous year Optimus projects(60E,92LE,Shakti 14-12-2025</a:t>
            </a:r>
          </a:p>
          <a:p>
            <a:r>
              <a:rPr lang="en-IN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Roloff Matek </a:t>
            </a:r>
            <a:r>
              <a:rPr lang="en-IN" err="1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Maschinenelemente</a:t>
            </a:r>
            <a:r>
              <a:rPr lang="en-IN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 14-12-2025</a:t>
            </a:r>
          </a:p>
          <a:p>
            <a:r>
              <a:rPr lang="en-US">
                <a:latin typeface="Times New Roman"/>
                <a:cs typeface="Times New Roman"/>
              </a:rPr>
              <a:t>Lecture notes – Mechanical drive train by </a:t>
            </a:r>
            <a:r>
              <a:rPr lang="en-US" err="1">
                <a:latin typeface="Times New Roman"/>
                <a:cs typeface="Times New Roman"/>
              </a:rPr>
              <a:t>Prof.Peter</a:t>
            </a:r>
            <a:r>
              <a:rPr lang="en-US">
                <a:latin typeface="Times New Roman"/>
                <a:cs typeface="Times New Roman"/>
              </a:rPr>
              <a:t> Quell.13-12-2025</a:t>
            </a:r>
          </a:p>
          <a:p>
            <a:r>
              <a:rPr lang="en-US">
                <a:latin typeface="Times New Roman"/>
                <a:cs typeface="Times New Roman"/>
              </a:rPr>
              <a:t>Shigley's</a:t>
            </a:r>
            <a:r>
              <a:rPr lang="en-US">
                <a:latin typeface="Times New Roman"/>
                <a:ea typeface="+mn-lt"/>
                <a:cs typeface="+mn-lt"/>
              </a:rPr>
              <a:t> mechanical engineering design and PSG data book 12-12-2025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DNV and IEC-61400-4 guidelines 13-12-2025</a:t>
            </a:r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IN" b="1">
                <a:latin typeface="Times New Roman"/>
                <a:cs typeface="Times New Roman"/>
              </a:rPr>
              <a:t>Brake</a:t>
            </a:r>
          </a:p>
          <a:p>
            <a:r>
              <a:rPr lang="en-IN">
                <a:latin typeface="Times New Roman"/>
                <a:cs typeface="Times New Roman"/>
              </a:rPr>
              <a:t>Svendborg handbook 14-12-2025</a:t>
            </a:r>
          </a:p>
          <a:p>
            <a:r>
              <a:rPr lang="en-US">
                <a:latin typeface="Times New Roman"/>
                <a:cs typeface="Times New Roman"/>
              </a:rPr>
              <a:t>Previous year Optimus projects(60E,92LE,Shakti 13-12-2025</a:t>
            </a:r>
            <a:endParaRPr lang="en-IN"/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Coupling</a:t>
            </a:r>
          </a:p>
          <a:p>
            <a:r>
              <a:rPr lang="en-US">
                <a:latin typeface="Times New Roman"/>
                <a:cs typeface="Times New Roman"/>
              </a:rPr>
              <a:t>KTR handbook 15-12-2025</a:t>
            </a:r>
          </a:p>
          <a:p>
            <a:r>
              <a:rPr lang="en-US">
                <a:latin typeface="Times New Roman"/>
                <a:cs typeface="Times New Roman"/>
              </a:rPr>
              <a:t>Previous year Optimus projects(60E,92LE,Shakti 14-12-2025</a:t>
            </a:r>
            <a:endParaRPr lang="en-US"/>
          </a:p>
          <a:p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Bibliography</a:t>
            </a:r>
            <a:r>
              <a:rPr lang="en-US" sz="240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0345E6-CF06-28DF-4FC1-25E3760C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123406F-280E-0AE2-1CA5-076787BBFD2B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10A1338-E7A7-5577-14B1-2D44C353F0B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16-12-2025</a:t>
            </a:r>
          </a:p>
        </p:txBody>
      </p:sp>
    </p:spTree>
    <p:extLst>
      <p:ext uri="{BB962C8B-B14F-4D97-AF65-F5344CB8AC3E}">
        <p14:creationId xmlns:p14="http://schemas.microsoft.com/office/powerpoint/2010/main" val="15339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Custom Design</vt:lpstr>
      <vt:lpstr>PowerPoint Presentation</vt:lpstr>
      <vt:lpstr>Weekly report: Team Gearbox, Brake, Coupling </vt:lpstr>
      <vt:lpstr>List of Content</vt:lpstr>
      <vt:lpstr>Gearbox parameter calculation</vt:lpstr>
      <vt:lpstr>                                            Gearbox Coupling Torque calculation</vt:lpstr>
      <vt:lpstr>                                            Gearbox calculation</vt:lpstr>
      <vt:lpstr>                                            Gearbox elastomeric bearing calculation</vt:lpstr>
      <vt:lpstr>Gears geometry calculation</vt:lpstr>
      <vt:lpstr> </vt:lpstr>
      <vt:lpstr> Force analysis, Stress, and Safety Factors (Zr-Ring gear)</vt:lpstr>
      <vt:lpstr> </vt:lpstr>
      <vt:lpstr> </vt:lpstr>
      <vt:lpstr>                                            Gearbox elastomeric bearing</vt:lpstr>
      <vt:lpstr> </vt:lpstr>
      <vt:lpstr> </vt:lpstr>
      <vt:lpstr>                                                       Brake calculation</vt:lpstr>
      <vt:lpstr>                                                       Brake calculation</vt:lpstr>
      <vt:lpstr> </vt:lpstr>
      <vt:lpstr>                                          Coupling Torque calculation</vt:lpstr>
      <vt:lpstr>                                          Coupling size overview</vt:lpstr>
      <vt:lpstr> 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revision>29</cp:revision>
  <dcterms:created xsi:type="dcterms:W3CDTF">2025-07-21T13:11:31Z</dcterms:created>
  <dcterms:modified xsi:type="dcterms:W3CDTF">2025-12-15T11:42:08Z</dcterms:modified>
</cp:coreProperties>
</file>