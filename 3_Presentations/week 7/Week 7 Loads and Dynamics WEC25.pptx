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2"/>
  </p:notesMasterIdLst>
  <p:sldIdLst>
    <p:sldId id="256" r:id="rId3"/>
    <p:sldId id="259" r:id="rId4"/>
    <p:sldId id="266" r:id="rId5"/>
    <p:sldId id="281" r:id="rId6"/>
    <p:sldId id="272" r:id="rId7"/>
    <p:sldId id="274" r:id="rId8"/>
    <p:sldId id="280" r:id="rId9"/>
    <p:sldId id="276" r:id="rId10"/>
    <p:sldId id="26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rst slide" id="{EBA04D78-D1FF-49F4-BDD6-03EE135E606E}">
          <p14:sldIdLst>
            <p14:sldId id="256"/>
          </p14:sldIdLst>
        </p14:section>
        <p14:section name="text slide" id="{65043596-36B7-4360-BB5C-7A99EFAEC5C9}">
          <p14:sldIdLst>
            <p14:sldId id="259"/>
          </p14:sldIdLst>
        </p14:section>
        <p14:section name="graph slide" id="{B26F6679-C236-4D3D-BC2F-CAE5ED400718}">
          <p14:sldIdLst>
            <p14:sldId id="266"/>
            <p14:sldId id="281"/>
            <p14:sldId id="272"/>
            <p14:sldId id="274"/>
            <p14:sldId id="280"/>
            <p14:sldId id="276"/>
          </p14:sldIdLst>
        </p14:section>
        <p14:section name="bibliography" id="{2ECB0A3B-7D16-4F98-AD6A-5308DF7BF078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AB6C1"/>
    <a:srgbClr val="FFFFFF"/>
    <a:srgbClr val="8ECEFA"/>
    <a:srgbClr val="92C6E6"/>
    <a:srgbClr val="80D2F7"/>
    <a:srgbClr val="7ED1F7"/>
    <a:srgbClr val="A1DFFD"/>
    <a:srgbClr val="C0F5FF"/>
    <a:srgbClr val="3C96FA"/>
    <a:srgbClr val="BDE5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754" autoAdjust="0"/>
    <p:restoredTop sz="94660"/>
  </p:normalViewPr>
  <p:slideViewPr>
    <p:cSldViewPr snapToGrid="0">
      <p:cViewPr varScale="1">
        <p:scale>
          <a:sx n="78" d="100"/>
          <a:sy n="78" d="100"/>
        </p:scale>
        <p:origin x="134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2B7C8-164C-4140-932B-122F288D33CD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3327E-A3FE-4279-B080-AD6DAF9EDC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5679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55244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53386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82100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D354B-6232-BAC7-2450-33A09DD3F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2302C7-7534-F1F1-4007-AEC201BC99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CF8A0D-2223-176F-CA1C-DBDD8EFC41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2F412C-D403-400F-ADE4-20939D0123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4802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7A657-38CD-C08A-9C1B-B9CD7AC4C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A27432-D777-E332-0F94-ABB4525D71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729F61-B842-CCB8-1ABF-372A5F3AF1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FAA884-AC4C-4119-B1F3-CB5E5B1F06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75487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4DF72-239B-2727-0741-72937FFF7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EB9894-365C-F1BB-C6D1-80520BA77B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81D379-0A6D-3B73-FF18-8C52247F6B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B8C640-6E38-186E-E4E5-20F5F6977C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40769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4C2A3-9F2F-09CD-03FF-F40DFF027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9B5876-FE32-2D10-D55D-A3D936FA8A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FF8598-94A5-8349-C872-8A53D8DDA6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17DE48-201E-94AF-71C6-8C8EECDFDB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62464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8841A-68C1-E977-EF10-2F1370226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C33C6E-A737-72C2-AA57-F437EC30BE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C0D82A-8C4C-1044-594E-580A10C113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BBD6B7-AC09-0DC6-468A-449328D325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23327E-A3FE-4279-B080-AD6DAF9EDC39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31392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4059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9CFF2-C4A0-C88B-1E9C-7E8851385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93A8F-E2E3-B4BD-3B84-D178AF0ED9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5BFD4-B46B-34FE-9A8B-9033E96DC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2582E-7652-4336-8F82-B8F78DEBE1E6}" type="datetime1">
              <a:rPr lang="en-GB" smtClean="0"/>
              <a:t>09/11/2025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F83137-53E8-FAAE-F427-32424D867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73579" y="6356350"/>
            <a:ext cx="403654" cy="365125"/>
          </a:xfrm>
        </p:spPr>
        <p:txBody>
          <a:bodyPr/>
          <a:lstStyle>
            <a:lvl1pPr>
              <a:defRPr sz="1600"/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20339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EA4901-6338-2E30-CCE8-77FD13F59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1100E-89DB-4D21-B66A-B5E24FA59FB2}" type="datetime1">
              <a:rPr lang="en-GB" smtClean="0"/>
              <a:t>09/11/2025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6B5D97-094A-D8D8-0C4D-1DC08462E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9428" y="6349546"/>
            <a:ext cx="653143" cy="365125"/>
          </a:xfrm>
        </p:spPr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7013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90F5D-2977-B8B5-3FC5-DF3AE8740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C247B5-0632-4013-2832-15D3D21A8C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A4BC1-6A36-94FE-17CE-DFAD0BF1A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7878B-5315-4496-8D10-2F17543DB034}" type="datetime1">
              <a:rPr lang="en-GB" smtClean="0"/>
              <a:t>09/11/2025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D5FD8C-55CD-AD30-1E91-60750BCCD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A2AD0-0D56-CC63-D932-D1C61C778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9486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3920-E451-6E8D-B0CB-C3FB9C0F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CFBA5-B73E-6B89-322D-7C32A35A1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F8199-371A-141A-1CD7-D551EEEFD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3C60A-FE48-2910-84A1-612B23A78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EA969-CEB0-4E87-8DDD-72161074DF01}" type="datetime1">
              <a:rPr lang="en-GB" smtClean="0"/>
              <a:t>09/11/2025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BC67CE-6F73-71D9-BF0B-18A7CD945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580765-E2ED-A6A2-9401-8425BFA02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5754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F7B7-87CF-1A3E-E33E-44DC6E015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21B8D-C5F5-5242-4069-B1546B4BC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D26CD-98BD-17E2-BE55-DBB74BBC6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B8D60-279E-D76A-9222-12B704BAE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1AF34B-F683-41AD-C71C-8E8C66CC4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696258-07C0-0BF2-CA2A-156B572B5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5A96A-71C8-435E-B03B-275B6E0D4AB2}" type="datetime1">
              <a:rPr lang="en-GB" smtClean="0"/>
              <a:t>09/11/2025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07D047-C31B-4C8F-E0B3-75014FF62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84742A-6F5B-071B-E0EA-980402529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8101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2CDD78-FBCD-76B9-2CA1-031942F21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2E411-883A-45F0-8C4F-B0FE2C65FB28}" type="datetime1">
              <a:rPr lang="en-GB" smtClean="0"/>
              <a:t>09/11/2025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8218E7-E787-22C8-B531-FFEC9002A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876BDA-2FCA-9763-2EA1-4033A5600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6705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0FDB8F-73D7-2EBC-A62D-4DC737946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F6F48-3B55-4945-B23D-B0C51AFE28E6}" type="datetime1">
              <a:rPr lang="en-GB" smtClean="0"/>
              <a:t>09/11/2025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D8D704-B4F5-F739-D1FA-65F2302BC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C7751D-0392-D26F-33B1-9B05704F8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4279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D20E-7D43-D4CD-1058-46300B8E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6584A-B476-0EA1-C12B-07C273F70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94232-1597-B186-D108-397BCF214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3685DB-F13A-97BE-F448-174160797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09ACC-63FA-4EE9-AE4D-ECCDA5B91432}" type="datetime1">
              <a:rPr lang="en-GB" smtClean="0"/>
              <a:t>09/11/2025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70ACE2-CF77-9AC4-52EF-82FBD40BB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60D674-CAD3-59F8-9DF5-CA4D8E7A0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7982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DC87-27CE-5A07-9629-719DC91D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5E744-3606-1D16-E7B2-58DAFC3E8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9C703-BF20-85AF-358A-01ADED33C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4AE937-083F-51CA-E382-30FE9BEB0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D1FE4-6F4F-4845-8022-15597911E7C2}" type="datetime1">
              <a:rPr lang="en-GB" smtClean="0"/>
              <a:t>09/11/2025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F255A-C1CC-7A32-A0B3-4283D8583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76C013-C03F-024A-D0F4-FF67E6709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6317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44B09-72C5-4D15-0E4C-46764EB8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470E9-1D3C-D5B3-7A54-66BD90099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16D05-728D-ACC9-D7EA-DC9D73300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4C014-E638-4D69-B7E7-9E0555AE7620}" type="datetime1">
              <a:rPr lang="en-GB" smtClean="0"/>
              <a:t>09/11/2025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4FC10-CEAF-B332-2960-AABF9CE25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ED6E7-B58D-A523-935C-4B108C943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8758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8A110-A33F-744D-89CB-FFCF49E08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6FACB-31E5-361F-D71D-18FCBA550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A399A6-3C5A-016E-2F7E-AE842F8D7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5F2F9-D101-4F42-A846-5D94E4802AD7}" type="datetime1">
              <a:rPr lang="en-GB" smtClean="0"/>
              <a:t>09/11/2025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242F9-DB70-E4F8-D075-6A9051875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EFAB33-4759-572E-2291-D19531D81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14601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EF21-84C8-586D-C38F-81DE3F931C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13036B-E08D-B4B8-69CB-C42176842B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93DB72-09E0-8BDF-14B4-4FA2820C1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F2740-59F3-8354-CF52-53337A807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C06A1-E2ED-D4C3-86B0-3C9724093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85083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8E779-A5CF-33E3-89F5-B43337C27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9D232-4F34-AEFC-AFD0-741DABBA5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5F2E77-D5DF-1D17-C854-897B9DD3B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3614D6-F2CE-1582-32E1-94A59C7A8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27D5C-0D68-9101-A36C-9187E79BB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63929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58CC5-208E-4B47-6CAD-E29FCCC39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79405-6B60-96C3-7F85-CE10C28770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ECBA10-7C40-29AA-A669-FC240702E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999825-A403-E91C-FFA8-F874E991D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CCBFE7-28C4-5DF1-911F-E0B622EAA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22198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B7720-A6A0-DF50-E2F8-F9527E23D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6D186-8E32-BEAD-C81B-DE65895FD5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E57542-2B68-1767-C023-57D111E4E8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85A417-9018-30E4-0A47-8170AD7D2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7AF8F7-6A80-4F6A-4E5F-660537A25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AD3418-4BA9-CD34-AE32-0EF416780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03660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908D8-A3B6-96B0-A29C-1B8262BE5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905487-0425-138F-F9A2-087227228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3BCB02-5AB4-A5E9-0917-4B9DD049B7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A50C77-85F2-0754-8AD9-7A5A4AEF65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3DDF01-B6D2-31ED-A641-114B1A0ADB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1FCA1D-B4D0-56C6-A678-3E0624361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0E1DB4-3501-792C-CAF9-4235B2E91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DD0757-7BFA-7895-D03C-767D64050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73179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62EA9-258F-B5EB-624D-2EFA68C41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148340-45BA-0901-1551-9D9DAFF07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42F2D2-B0BF-4202-0381-8243671BB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F6687B-3FE7-76CE-1134-2B3A5D187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76281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B9E6C1-24CC-682A-8886-999E9A21F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275448-9567-EFBD-FC78-2B80C2BDF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E95C70-5A8D-518E-49A4-1BE453853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80157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520AB-BD7C-3FEC-DC53-91B047807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FA408-CFF5-5EB0-4399-BB87E6CF02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736F81-445C-5EF6-6E32-68D1E9C1C9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A08E69-7027-0F17-B524-CD221B586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145A00-EFDD-31BA-C55F-26A6CC902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1ACCAF-2E21-16F5-1C68-06D177E1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24733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EA28B-29EC-E505-5884-CB4B1C6FD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425986-DCF9-FBB5-39AD-D04792C653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1AEB0E-C7EC-4F26-009D-409178E43F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4AB446-5A6F-5112-F417-65A55A0DC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42D12D-03AA-1A0A-4595-8E0638173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CB350E-16AC-3E65-1704-09F648AB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76441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C8C89-C725-395E-E708-BEF95E19C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1E4975-013E-CB40-86C9-4D346B73C9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A6C674-4D68-9DAC-8E93-7EB627FCC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CC36B8-CAAE-BDC6-8DF5-9451A698F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6750A4-9B92-8DB3-B407-A8A74CEA4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78052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9A6511-7D12-4461-0A24-9B3134C2C7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5222EB-F23C-083B-09C9-48B924AC7F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908F9-D1F7-F94A-CA98-198F714C5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D1FCF1-AD09-ED98-9C1F-DDCABBE25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3C831-E5D1-B4E6-5F4E-FB9FFB5D9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6425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75E23-C68E-95B1-6539-4A187BBC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B4C36-B64B-F839-789E-0C40D5E60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93D3-E60D-CF97-AC8A-2B02D933B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516A2C-1914-4EE9-9598-2A06F9BE67BF}" type="datetime1">
              <a:rPr lang="en-GB" smtClean="0"/>
              <a:t>09/11/2025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4827E-F028-4C94-EB63-600BCABCD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8DD39-3F07-862A-3C91-AC524529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5077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324F72-DEC3-C328-E288-A7FC5B1D5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7096B6-F39D-5D3A-895A-1CE61CD3F6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726E2-FBE9-5D75-A698-6FD0ED0970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D3EC99-01D5-4EE5-ACB1-C061987EA0AA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CAFA2-68FA-9BA2-4F27-A8680F5079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027B2-667B-4034-930B-AB076347AC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1481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47672-3CC8-A3D9-5404-84F2B78B62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/>
          <a:p>
            <a:r>
              <a:rPr lang="it-IT" sz="4400" dirty="0"/>
              <a:t>Weekly report: Load &amp; Dynamics</a:t>
            </a:r>
            <a:endParaRPr lang="en-GB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7A63BB-08BE-619B-2533-3CC69CC19E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1795324"/>
          </a:xfrm>
        </p:spPr>
        <p:txBody>
          <a:bodyPr>
            <a:normAutofit/>
          </a:bodyPr>
          <a:lstStyle/>
          <a:p>
            <a:r>
              <a:rPr lang="it-IT" sz="2000" dirty="0"/>
              <a:t>Week number: 07</a:t>
            </a:r>
          </a:p>
          <a:p>
            <a:r>
              <a:rPr lang="it-IT" sz="2000" dirty="0"/>
              <a:t>Date: 11/11/2025</a:t>
            </a:r>
          </a:p>
          <a:p>
            <a:r>
              <a:rPr lang="it-IT" sz="2000" dirty="0"/>
              <a:t>Supervisor: Mr. </a:t>
            </a:r>
            <a:r>
              <a:rPr lang="en-US" sz="2000" dirty="0" err="1"/>
              <a:t>Manjock</a:t>
            </a:r>
            <a:endParaRPr lang="en-GB" sz="2000" dirty="0"/>
          </a:p>
        </p:txBody>
      </p:sp>
      <p:pic>
        <p:nvPicPr>
          <p:cNvPr id="8" name="Picture 8" descr="Hochschule Flensburg (Fachhochschule) – Wikipedia">
            <a:extLst>
              <a:ext uri="{FF2B5EF4-FFF2-40B4-BE49-F238E27FC236}">
                <a16:creationId xmlns:a16="http://schemas.microsoft.com/office/drawing/2014/main" id="{E88D30C2-B846-594F-69A8-55F5538046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EE7EEC8C-633A-AEB3-3E8A-978E3C75A1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D13120F1-DE8B-A6AA-A1D5-19926A98F0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132D16E5-6BE7-8FC8-CFB3-81C918BB45F1}"/>
              </a:ext>
            </a:extLst>
          </p:cNvPr>
          <p:cNvSpPr txBox="1"/>
          <p:nvPr/>
        </p:nvSpPr>
        <p:spPr>
          <a:xfrm>
            <a:off x="2172911" y="4701104"/>
            <a:ext cx="737067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dirty="0"/>
              <a:t>Group members:  </a:t>
            </a:r>
            <a:r>
              <a:rPr lang="en-US" sz="1400" dirty="0"/>
              <a:t>Md Aman, Arham Memon, Paresh </a:t>
            </a:r>
            <a:r>
              <a:rPr lang="en-US" sz="1400" dirty="0" err="1"/>
              <a:t>Nakum</a:t>
            </a:r>
            <a:endParaRPr lang="en-US" sz="1400" dirty="0"/>
          </a:p>
          <a:p>
            <a:pPr algn="ctr"/>
            <a:endParaRPr lang="en-US" sz="1400" dirty="0"/>
          </a:p>
          <a:p>
            <a:pPr algn="ctr"/>
            <a:r>
              <a:rPr lang="en-US" sz="1400" dirty="0"/>
              <a:t>Presenter  – Arham Memon</a:t>
            </a:r>
          </a:p>
        </p:txBody>
      </p:sp>
      <p:sp>
        <p:nvSpPr>
          <p:cNvPr id="34" name="Free-form: Shape 13">
            <a:extLst>
              <a:ext uri="{FF2B5EF4-FFF2-40B4-BE49-F238E27FC236}">
                <a16:creationId xmlns:a16="http://schemas.microsoft.com/office/drawing/2014/main" id="{44C88E41-E5B3-0D11-A4D3-711DA18380C9}"/>
              </a:ext>
            </a:extLst>
          </p:cNvPr>
          <p:cNvSpPr/>
          <p:nvPr/>
        </p:nvSpPr>
        <p:spPr>
          <a:xfrm>
            <a:off x="0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solidFill>
              <a:schemeClr val="bg1"/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Free-form: Shape 13">
            <a:extLst>
              <a:ext uri="{FF2B5EF4-FFF2-40B4-BE49-F238E27FC236}">
                <a16:creationId xmlns:a16="http://schemas.microsoft.com/office/drawing/2014/main" id="{C26B78DF-71CA-5509-F4C5-6276C7251B89}"/>
              </a:ext>
            </a:extLst>
          </p:cNvPr>
          <p:cNvSpPr/>
          <p:nvPr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Free-form: Shape 13">
            <a:extLst>
              <a:ext uri="{FF2B5EF4-FFF2-40B4-BE49-F238E27FC236}">
                <a16:creationId xmlns:a16="http://schemas.microsoft.com/office/drawing/2014/main" id="{2AC7F7CE-A165-18C0-6918-B9EA07638042}"/>
              </a:ext>
            </a:extLst>
          </p:cNvPr>
          <p:cNvSpPr/>
          <p:nvPr/>
        </p:nvSpPr>
        <p:spPr>
          <a:xfrm>
            <a:off x="31399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hteck 17">
            <a:extLst>
              <a:ext uri="{FF2B5EF4-FFF2-40B4-BE49-F238E27FC236}">
                <a16:creationId xmlns:a16="http://schemas.microsoft.com/office/drawing/2014/main" id="{735E7E19-AD9A-2739-2D13-BC73EA4C7596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19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2FD2ECB6-38EA-E857-A881-0C8E141A489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377946"/>
            <a:ext cx="1753782" cy="131363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4389E-5559-8492-2D9E-AFA299DB9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33304" y="6538183"/>
            <a:ext cx="287215" cy="365125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t>1</a:t>
            </a:fld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85FE85-99F3-27E8-5CBF-44E0008EEEDF}"/>
              </a:ext>
            </a:extLst>
          </p:cNvPr>
          <p:cNvSpPr txBox="1"/>
          <p:nvPr/>
        </p:nvSpPr>
        <p:spPr>
          <a:xfrm>
            <a:off x="412716" y="6565449"/>
            <a:ext cx="10001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chemeClr val="bg1"/>
                </a:solidFill>
              </a:rPr>
              <a:t>11/11/2025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C3F47E-3A0A-ECB9-FD0E-ABA07059CAA3}"/>
              </a:ext>
            </a:extLst>
          </p:cNvPr>
          <p:cNvSpPr txBox="1"/>
          <p:nvPr/>
        </p:nvSpPr>
        <p:spPr>
          <a:xfrm>
            <a:off x="4788085" y="6565448"/>
            <a:ext cx="30779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Md Aman, Arham Memon, Paresh </a:t>
            </a:r>
            <a:r>
              <a:rPr lang="en-US" sz="1200" dirty="0" err="1">
                <a:solidFill>
                  <a:schemeClr val="bg1"/>
                </a:solidFill>
              </a:rPr>
              <a:t>Nakum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AC26A0-56D2-A25C-6223-88C5F72E508E}"/>
              </a:ext>
            </a:extLst>
          </p:cNvPr>
          <p:cNvSpPr txBox="1"/>
          <p:nvPr/>
        </p:nvSpPr>
        <p:spPr>
          <a:xfrm>
            <a:off x="10533589" y="6549897"/>
            <a:ext cx="12456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Optimus Syria</a:t>
            </a:r>
          </a:p>
        </p:txBody>
      </p:sp>
    </p:spTree>
    <p:extLst>
      <p:ext uri="{BB962C8B-B14F-4D97-AF65-F5344CB8AC3E}">
        <p14:creationId xmlns:p14="http://schemas.microsoft.com/office/powerpoint/2010/main" val="736408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727BC127-4545-D3CD-4862-C320531ABA9D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5F9413CA-8E0D-B250-B31E-4AA68BA7D014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87E5E9A3-5B8C-CBB5-88F6-FB4E956A66F7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837C855E-F70E-F97A-5061-29D00BA11349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6533BD2-7016-D99B-8D14-5716721F009D}"/>
              </a:ext>
            </a:extLst>
          </p:cNvPr>
          <p:cNvSpPr txBox="1"/>
          <p:nvPr/>
        </p:nvSpPr>
        <p:spPr>
          <a:xfrm>
            <a:off x="342900" y="1465091"/>
            <a:ext cx="1121898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it-IT" dirty="0"/>
          </a:p>
          <a:p>
            <a:endParaRPr lang="it-IT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cs typeface="Times New Roman" panose="02020603050405020304" pitchFamily="18" charset="0"/>
              </a:rPr>
              <a:t>DLC 1.2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cs typeface="Times New Roman" panose="02020603050405020304" pitchFamily="18" charset="0"/>
              </a:rPr>
              <a:t>DLC 4.X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cs typeface="Times New Roman" panose="02020603050405020304" pitchFamily="18" charset="0"/>
              </a:rPr>
              <a:t>Updated DLC 5.1</a:t>
            </a:r>
            <a:endParaRPr lang="en-US" sz="2400" strike="sngStrike" dirty="0"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cs typeface="Times New Roman" panose="02020603050405020304" pitchFamily="18" charset="0"/>
              </a:rPr>
              <a:t>Conclusion &amp; Future Plan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cs typeface="Times New Roman" panose="02020603050405020304" pitchFamily="18" charset="0"/>
              </a:rPr>
              <a:t>Bibliography</a:t>
            </a:r>
          </a:p>
          <a:p>
            <a:endParaRPr lang="en-US" dirty="0"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>
              <a:cs typeface="Times New Roman" panose="02020603050405020304" pitchFamily="18" charset="0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E0AA001-DA32-5B78-E7F7-573800334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76154" y="6492875"/>
            <a:ext cx="287215" cy="365125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t>2</a:t>
            </a:fld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EBE381E-3397-D2E2-45A9-C6F7EAF78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418" y="502853"/>
            <a:ext cx="7982574" cy="712728"/>
          </a:xfrm>
        </p:spPr>
        <p:txBody>
          <a:bodyPr>
            <a:normAutofit/>
          </a:bodyPr>
          <a:lstStyle/>
          <a:p>
            <a:r>
              <a:rPr lang="en-US" sz="4400" dirty="0"/>
              <a:t>Agenda For </a:t>
            </a:r>
            <a:r>
              <a:rPr lang="it-IT" dirty="0"/>
              <a:t>Loads &amp; Dynamics</a:t>
            </a:r>
            <a:endParaRPr lang="en-US" sz="44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873AD17-49A9-1372-BEA3-994BB76CBDE8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A568D94-AF6A-68C5-CAEA-EBE1FF802F45}"/>
              </a:ext>
            </a:extLst>
          </p:cNvPr>
          <p:cNvSpPr txBox="1"/>
          <p:nvPr/>
        </p:nvSpPr>
        <p:spPr>
          <a:xfrm>
            <a:off x="412716" y="6565449"/>
            <a:ext cx="10001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11/11/2025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CE810C-6C17-B4BE-B68E-E8F18C7174DF}"/>
              </a:ext>
            </a:extLst>
          </p:cNvPr>
          <p:cNvSpPr txBox="1"/>
          <p:nvPr/>
        </p:nvSpPr>
        <p:spPr>
          <a:xfrm>
            <a:off x="9172575" y="6542216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Load &amp; Dynamics Team/ Optimus Syria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63C894-0196-55D0-204B-02BDEBE5665F}"/>
              </a:ext>
            </a:extLst>
          </p:cNvPr>
          <p:cNvSpPr txBox="1"/>
          <p:nvPr/>
        </p:nvSpPr>
        <p:spPr>
          <a:xfrm>
            <a:off x="5430929" y="6559591"/>
            <a:ext cx="13460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Arham Memon</a:t>
            </a:r>
          </a:p>
        </p:txBody>
      </p:sp>
    </p:spTree>
    <p:extLst>
      <p:ext uri="{BB962C8B-B14F-4D97-AF65-F5344CB8AC3E}">
        <p14:creationId xmlns:p14="http://schemas.microsoft.com/office/powerpoint/2010/main" val="1106553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727BC127-4545-D3CD-4862-C320531ABA9D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5F9413CA-8E0D-B250-B31E-4AA68BA7D014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87E5E9A3-5B8C-CBB5-88F6-FB4E956A66F7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837C855E-F70E-F97A-5061-29D00BA11349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EBE381E-3397-D2E2-45A9-C6F7EAF78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417" y="502853"/>
            <a:ext cx="9234617" cy="712728"/>
          </a:xfrm>
        </p:spPr>
        <p:txBody>
          <a:bodyPr>
            <a:normAutofit/>
          </a:bodyPr>
          <a:lstStyle/>
          <a:p>
            <a:r>
              <a:rPr lang="de-DE" dirty="0"/>
              <a:t>DLC 1.2 </a:t>
            </a:r>
            <a:r>
              <a:rPr lang="de-DE" sz="2800" dirty="0"/>
              <a:t>Power Production(NTM)</a:t>
            </a:r>
            <a:endParaRPr lang="de-DE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873AD17-49A9-1372-BEA3-994BB76CBDE8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847EB12-DC77-5E60-9557-9A514B7BFFA7}"/>
              </a:ext>
            </a:extLst>
          </p:cNvPr>
          <p:cNvSpPr txBox="1"/>
          <p:nvPr/>
        </p:nvSpPr>
        <p:spPr>
          <a:xfrm>
            <a:off x="412716" y="6565449"/>
            <a:ext cx="10001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11/11/2025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D1333B3-246E-8FFB-CD26-3065E66C1A6E}"/>
              </a:ext>
            </a:extLst>
          </p:cNvPr>
          <p:cNvSpPr txBox="1">
            <a:spLocks/>
          </p:cNvSpPr>
          <p:nvPr/>
        </p:nvSpPr>
        <p:spPr>
          <a:xfrm>
            <a:off x="1833304" y="6538183"/>
            <a:ext cx="287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3</a:t>
            </a:fld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3D3E73-B3DF-D036-6AB5-EF7CB967784F}"/>
              </a:ext>
            </a:extLst>
          </p:cNvPr>
          <p:cNvSpPr txBox="1"/>
          <p:nvPr/>
        </p:nvSpPr>
        <p:spPr>
          <a:xfrm>
            <a:off x="9172575" y="6542216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Load &amp; Dynamics Team/ Optimus Syria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980693-17E3-07B0-3F4E-209D5155987E}"/>
              </a:ext>
            </a:extLst>
          </p:cNvPr>
          <p:cNvSpPr txBox="1"/>
          <p:nvPr/>
        </p:nvSpPr>
        <p:spPr>
          <a:xfrm>
            <a:off x="5430929" y="6559591"/>
            <a:ext cx="13460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Arham Memon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3D3CB0A-B2F3-8D44-A713-0627E5A1BE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740" y="1701287"/>
            <a:ext cx="2694038" cy="431237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>
                <a:cs typeface="Times New Roman" panose="02020603050405020304" pitchFamily="18" charset="0"/>
              </a:rPr>
              <a:t>Purpose:</a:t>
            </a:r>
            <a:r>
              <a:rPr lang="en-US" sz="1800" dirty="0">
                <a:cs typeface="Times New Roman" panose="02020603050405020304" pitchFamily="18" charset="0"/>
              </a:rPr>
              <a:t> To confirm the turbine can safely operate and its control system can effectively manage the rotor speed and power under </a:t>
            </a:r>
            <a:r>
              <a:rPr lang="en-US" sz="1800" b="1" dirty="0">
                <a:cs typeface="Times New Roman" panose="02020603050405020304" pitchFamily="18" charset="0"/>
              </a:rPr>
              <a:t>day-to-day high turbulent conditions</a:t>
            </a:r>
            <a:r>
              <a:rPr lang="en-US" sz="1800" dirty="0">
                <a:cs typeface="Times New Roman" panose="02020603050405020304" pitchFamily="18" charset="0"/>
              </a:rPr>
              <a:t> (Normal Turbulence Model, NTM).</a:t>
            </a:r>
          </a:p>
        </p:txBody>
      </p:sp>
      <p:pic>
        <p:nvPicPr>
          <p:cNvPr id="19" name="Picture 18" descr="A graph with different colored lines&#10;&#10;AI-generated content may be incorrect.">
            <a:extLst>
              <a:ext uri="{FF2B5EF4-FFF2-40B4-BE49-F238E27FC236}">
                <a16:creationId xmlns:a16="http://schemas.microsoft.com/office/drawing/2014/main" id="{0D80CE6F-5403-43A2-4DB2-397148EEBA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483" y="1222078"/>
            <a:ext cx="8764776" cy="2438220"/>
          </a:xfrm>
          <a:prstGeom prst="rect">
            <a:avLst/>
          </a:prstGeom>
        </p:spPr>
      </p:pic>
      <p:pic>
        <p:nvPicPr>
          <p:cNvPr id="23" name="Picture 22" descr="A graph of a graph&#10;&#10;AI-generated content may be incorrect.">
            <a:extLst>
              <a:ext uri="{FF2B5EF4-FFF2-40B4-BE49-F238E27FC236}">
                <a16:creationId xmlns:a16="http://schemas.microsoft.com/office/drawing/2014/main" id="{9E6C7872-FA82-D24E-60FD-28C0BD295D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484" y="3866699"/>
            <a:ext cx="8764776" cy="24382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53AFEB1-4FCC-1FFF-4367-649542ABCB3C}"/>
              </a:ext>
            </a:extLst>
          </p:cNvPr>
          <p:cNvSpPr txBox="1"/>
          <p:nvPr/>
        </p:nvSpPr>
        <p:spPr>
          <a:xfrm>
            <a:off x="10776395" y="3290966"/>
            <a:ext cx="7327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 m/s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466824-E44E-A918-81EE-45461A1DEC16}"/>
              </a:ext>
            </a:extLst>
          </p:cNvPr>
          <p:cNvSpPr txBox="1"/>
          <p:nvPr/>
        </p:nvSpPr>
        <p:spPr>
          <a:xfrm>
            <a:off x="10776395" y="5935587"/>
            <a:ext cx="1045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8.64 m/s</a:t>
            </a:r>
          </a:p>
        </p:txBody>
      </p:sp>
    </p:spTree>
    <p:extLst>
      <p:ext uri="{BB962C8B-B14F-4D97-AF65-F5344CB8AC3E}">
        <p14:creationId xmlns:p14="http://schemas.microsoft.com/office/powerpoint/2010/main" val="2478551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BFE37-32D7-7F93-7630-4CB1CC91C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35EF1DBB-5A6B-C6E9-19EB-F90777E380D4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29F7CBFC-8C83-ACDE-BE7B-A39D8BF47062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CE499409-643D-397E-F198-2CFF1F4F30D7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44D86EC3-40C1-14DB-8B1D-F3C409C1BF4B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D19310E-E6A0-93A8-7C27-4C981A5D6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417" y="502853"/>
            <a:ext cx="9234617" cy="712728"/>
          </a:xfrm>
        </p:spPr>
        <p:txBody>
          <a:bodyPr>
            <a:normAutofit/>
          </a:bodyPr>
          <a:lstStyle/>
          <a:p>
            <a:r>
              <a:rPr lang="de-DE" dirty="0"/>
              <a:t>DLC 1.2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4494294-6D7E-ED2C-C459-38319612DA26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1C86E23-B8CF-6654-91B0-E6FDE7979B35}"/>
              </a:ext>
            </a:extLst>
          </p:cNvPr>
          <p:cNvSpPr txBox="1"/>
          <p:nvPr/>
        </p:nvSpPr>
        <p:spPr>
          <a:xfrm>
            <a:off x="412716" y="6565449"/>
            <a:ext cx="10001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11/11/2025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604F71-CB4C-1B07-6F52-115242714810}"/>
              </a:ext>
            </a:extLst>
          </p:cNvPr>
          <p:cNvSpPr txBox="1">
            <a:spLocks/>
          </p:cNvSpPr>
          <p:nvPr/>
        </p:nvSpPr>
        <p:spPr>
          <a:xfrm>
            <a:off x="1833304" y="6538183"/>
            <a:ext cx="287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4</a:t>
            </a:fld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A49710-96B7-972C-EB6C-678ADDE3159E}"/>
              </a:ext>
            </a:extLst>
          </p:cNvPr>
          <p:cNvSpPr txBox="1"/>
          <p:nvPr/>
        </p:nvSpPr>
        <p:spPr>
          <a:xfrm>
            <a:off x="9172575" y="6542216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Load &amp; Dynamics Team/ Optimus Syria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95BC04-5C91-468E-CE1A-38B426C87F2E}"/>
              </a:ext>
            </a:extLst>
          </p:cNvPr>
          <p:cNvSpPr txBox="1"/>
          <p:nvPr/>
        </p:nvSpPr>
        <p:spPr>
          <a:xfrm>
            <a:off x="5430929" y="6559591"/>
            <a:ext cx="13460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Arham Memon</a:t>
            </a:r>
          </a:p>
        </p:txBody>
      </p:sp>
      <p:pic>
        <p:nvPicPr>
          <p:cNvPr id="13" name="Content Placeholder 12" descr="A graph of a graph&#10;&#10;AI-generated content may be incorrect.">
            <a:extLst>
              <a:ext uri="{FF2B5EF4-FFF2-40B4-BE49-F238E27FC236}">
                <a16:creationId xmlns:a16="http://schemas.microsoft.com/office/drawing/2014/main" id="{21135E42-AE52-B64E-CBDD-39E5A7BA01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02658"/>
            <a:ext cx="10515600" cy="4422080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9484814-9F35-3861-3D16-63F8CB59EE33}"/>
              </a:ext>
            </a:extLst>
          </p:cNvPr>
          <p:cNvSpPr txBox="1"/>
          <p:nvPr/>
        </p:nvSpPr>
        <p:spPr>
          <a:xfrm>
            <a:off x="10274951" y="5655406"/>
            <a:ext cx="856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28 m/s</a:t>
            </a:r>
          </a:p>
        </p:txBody>
      </p:sp>
    </p:spTree>
    <p:extLst>
      <p:ext uri="{BB962C8B-B14F-4D97-AF65-F5344CB8AC3E}">
        <p14:creationId xmlns:p14="http://schemas.microsoft.com/office/powerpoint/2010/main" val="1961589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E8FF8-26DF-DC06-1B1F-F4D35D45F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92FA550B-EB6E-3B35-199D-08961285DE1F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59242A21-7A46-18F7-EA7C-13BC6DD60667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F4AA6590-F0D8-22DD-ED57-A88257127BEA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0F413404-13D4-6412-411C-C04E3A756749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CB54AB6-8A88-1136-3EFD-86057EF72137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8B79BB5-F40F-1D1D-0CD5-F61223D41496}"/>
              </a:ext>
            </a:extLst>
          </p:cNvPr>
          <p:cNvSpPr txBox="1"/>
          <p:nvPr/>
        </p:nvSpPr>
        <p:spPr>
          <a:xfrm>
            <a:off x="412716" y="6565449"/>
            <a:ext cx="10001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11/11/2025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65BA4BB8-3F22-F9EA-D25E-727719E5DF0D}"/>
              </a:ext>
            </a:extLst>
          </p:cNvPr>
          <p:cNvSpPr txBox="1">
            <a:spLocks/>
          </p:cNvSpPr>
          <p:nvPr/>
        </p:nvSpPr>
        <p:spPr>
          <a:xfrm>
            <a:off x="1833304" y="6515527"/>
            <a:ext cx="287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5</a:t>
            </a:fld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188BC5F-AD6B-0BFD-8145-2C691A0D105E}"/>
              </a:ext>
            </a:extLst>
          </p:cNvPr>
          <p:cNvSpPr txBox="1"/>
          <p:nvPr/>
        </p:nvSpPr>
        <p:spPr>
          <a:xfrm>
            <a:off x="9172575" y="6542216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Load &amp; Dynamics Team/ Optimus Syria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870835F-6612-84A3-817B-2E98DAC9D1EF}"/>
              </a:ext>
            </a:extLst>
          </p:cNvPr>
          <p:cNvSpPr txBox="1"/>
          <p:nvPr/>
        </p:nvSpPr>
        <p:spPr>
          <a:xfrm>
            <a:off x="5430929" y="6559591"/>
            <a:ext cx="13460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Arham Memon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C20E2D1-B8F9-295C-5F3E-269F0C17C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626" y="363628"/>
            <a:ext cx="10515600" cy="937132"/>
          </a:xfrm>
        </p:spPr>
        <p:txBody>
          <a:bodyPr>
            <a:normAutofit/>
          </a:bodyPr>
          <a:lstStyle/>
          <a:p>
            <a:r>
              <a:rPr lang="en-US"/>
              <a:t>DLC 4 </a:t>
            </a:r>
            <a:r>
              <a:rPr lang="en-US" sz="2800"/>
              <a:t>Normal Shutdown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C3B30B-9950-90F6-233E-64FA395AFE19}"/>
              </a:ext>
            </a:extLst>
          </p:cNvPr>
          <p:cNvSpPr txBox="1"/>
          <p:nvPr/>
        </p:nvSpPr>
        <p:spPr>
          <a:xfrm>
            <a:off x="636695" y="1386444"/>
            <a:ext cx="108375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This design situation includes all the events resulting in loads on the wind turbine during normal transitions from power production to stand-by condition (standstill or idling).</a:t>
            </a:r>
          </a:p>
        </p:txBody>
      </p:sp>
      <p:pic>
        <p:nvPicPr>
          <p:cNvPr id="15" name="Picture 14" descr="A white sheet with black text&#10;&#10;AI-generated content may be incorrect.">
            <a:extLst>
              <a:ext uri="{FF2B5EF4-FFF2-40B4-BE49-F238E27FC236}">
                <a16:creationId xmlns:a16="http://schemas.microsoft.com/office/drawing/2014/main" id="{FB4DBDC5-3C97-0D47-86F1-B424BF62FE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695" y="2256431"/>
            <a:ext cx="3182687" cy="1172569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77CB4BF-65AE-150C-B306-B94BB40DC198}"/>
              </a:ext>
            </a:extLst>
          </p:cNvPr>
          <p:cNvCxnSpPr>
            <a:cxnSpLocks/>
          </p:cNvCxnSpPr>
          <p:nvPr/>
        </p:nvCxnSpPr>
        <p:spPr>
          <a:xfrm flipV="1">
            <a:off x="2939845" y="2250760"/>
            <a:ext cx="1278193" cy="348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A49F760-D71B-FC27-D606-EE1FE60F100C}"/>
              </a:ext>
            </a:extLst>
          </p:cNvPr>
          <p:cNvSpPr txBox="1"/>
          <p:nvPr/>
        </p:nvSpPr>
        <p:spPr>
          <a:xfrm>
            <a:off x="4218038" y="2108353"/>
            <a:ext cx="2241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Normal Wind Profile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D7A26EE-1F0D-A88C-D84C-C3284F761556}"/>
              </a:ext>
            </a:extLst>
          </p:cNvPr>
          <p:cNvCxnSpPr>
            <a:cxnSpLocks/>
          </p:cNvCxnSpPr>
          <p:nvPr/>
        </p:nvCxnSpPr>
        <p:spPr>
          <a:xfrm>
            <a:off x="2865653" y="2724685"/>
            <a:ext cx="127819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03953A3-529A-1753-5E09-4BFF04B8F328}"/>
              </a:ext>
            </a:extLst>
          </p:cNvPr>
          <p:cNvSpPr txBox="1"/>
          <p:nvPr/>
        </p:nvSpPr>
        <p:spPr>
          <a:xfrm>
            <a:off x="4142903" y="2564154"/>
            <a:ext cx="2576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Extreme Operating Gust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A3A325B-EB2F-FBAC-1E27-7A2304FFBC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8124745"/>
              </p:ext>
            </p:extLst>
          </p:nvPr>
        </p:nvGraphicFramePr>
        <p:xfrm>
          <a:off x="484419" y="3707580"/>
          <a:ext cx="10989826" cy="25422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848">
                  <a:extLst>
                    <a:ext uri="{9D8B030D-6E8A-4147-A177-3AD203B41FA5}">
                      <a16:colId xmlns:a16="http://schemas.microsoft.com/office/drawing/2014/main" val="3298330952"/>
                    </a:ext>
                  </a:extLst>
                </a:gridCol>
                <a:gridCol w="4036816">
                  <a:extLst>
                    <a:ext uri="{9D8B030D-6E8A-4147-A177-3AD203B41FA5}">
                      <a16:colId xmlns:a16="http://schemas.microsoft.com/office/drawing/2014/main" val="3044435108"/>
                    </a:ext>
                  </a:extLst>
                </a:gridCol>
                <a:gridCol w="5944162">
                  <a:extLst>
                    <a:ext uri="{9D8B030D-6E8A-4147-A177-3AD203B41FA5}">
                      <a16:colId xmlns:a16="http://schemas.microsoft.com/office/drawing/2014/main" val="3131030247"/>
                    </a:ext>
                  </a:extLst>
                </a:gridCol>
              </a:tblGrid>
              <a:tr h="551813">
                <a:tc>
                  <a:txBody>
                    <a:bodyPr/>
                    <a:lstStyle/>
                    <a:p>
                      <a:pPr algn="just" fontAlgn="t" latinLnBrk="0">
                        <a:buNone/>
                      </a:pPr>
                      <a:r>
                        <a:rPr lang="en-US" sz="1800" b="0" dirty="0">
                          <a:effectLst/>
                        </a:rPr>
                        <a:t>Term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 latinLnBrk="0">
                        <a:buNone/>
                      </a:pPr>
                      <a:r>
                        <a:rPr lang="en-US" sz="1800" b="0">
                          <a:effectLst/>
                        </a:rPr>
                        <a:t>What it Represents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 latinLnBrk="0">
                        <a:buNone/>
                      </a:pPr>
                      <a:r>
                        <a:rPr lang="en-US" sz="1800" b="0">
                          <a:effectLst/>
                        </a:rPr>
                        <a:t>Main Use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563041436"/>
                  </a:ext>
                </a:extLst>
              </a:tr>
              <a:tr h="653786">
                <a:tc>
                  <a:txBody>
                    <a:bodyPr/>
                    <a:lstStyle/>
                    <a:p>
                      <a:pPr algn="just" fontAlgn="base" latinLnBrk="0">
                        <a:buNone/>
                      </a:pPr>
                      <a:r>
                        <a:rPr lang="en-US" sz="1800" dirty="0">
                          <a:effectLst/>
                        </a:rPr>
                        <a:t>NTM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just" fontAlgn="base" latinLnBrk="0">
                        <a:buNone/>
                      </a:pPr>
                      <a:r>
                        <a:rPr lang="en-US" sz="1800">
                          <a:effectLst/>
                        </a:rPr>
                        <a:t>Fluctuations/turbulence stats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just" fontAlgn="base" latinLnBrk="0">
                        <a:buNone/>
                      </a:pPr>
                      <a:r>
                        <a:rPr lang="en-US" sz="1800">
                          <a:effectLst/>
                        </a:rPr>
                        <a:t>Simulating gusty, turbulent wind for load/fatigue analysis</a:t>
                      </a: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969504289"/>
                  </a:ext>
                </a:extLst>
              </a:tr>
              <a:tr h="561204">
                <a:tc>
                  <a:txBody>
                    <a:bodyPr/>
                    <a:lstStyle/>
                    <a:p>
                      <a:pPr algn="just" fontAlgn="base" latinLnBrk="0">
                        <a:buNone/>
                      </a:pPr>
                      <a:r>
                        <a:rPr lang="en-US" sz="1800" dirty="0">
                          <a:effectLst/>
                        </a:rPr>
                        <a:t>NWP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just" fontAlgn="base" latinLnBrk="0">
                        <a:buNone/>
                      </a:pPr>
                      <a:r>
                        <a:rPr lang="en-US" sz="1800">
                          <a:effectLst/>
                        </a:rPr>
                        <a:t>Mean wind speed vs. height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just" fontAlgn="base" latinLnBrk="0">
                        <a:buNone/>
                      </a:pPr>
                      <a:r>
                        <a:rPr lang="en-US" sz="1800" dirty="0">
                          <a:effectLst/>
                        </a:rPr>
                        <a:t>Defining standard background wind field for simulations</a:t>
                      </a: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3863288396"/>
                  </a:ext>
                </a:extLst>
              </a:tr>
              <a:tr h="775481">
                <a:tc>
                  <a:txBody>
                    <a:bodyPr/>
                    <a:lstStyle/>
                    <a:p>
                      <a:pPr algn="just" fontAlgn="base" latinLnBrk="0">
                        <a:buNone/>
                      </a:pPr>
                      <a:r>
                        <a:rPr lang="en-US" sz="1800" dirty="0">
                          <a:effectLst/>
                        </a:rPr>
                        <a:t>EOG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just" fontAlgn="base" latinLnBrk="0">
                        <a:buNone/>
                      </a:pPr>
                      <a:r>
                        <a:rPr lang="en-US" sz="1800" dirty="0"/>
                        <a:t>Gust event during which shut-down occur</a:t>
                      </a:r>
                      <a:endParaRPr lang="en-US" sz="1800" dirty="0">
                        <a:effectLst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just" fontAlgn="base" latinLnBrk="0">
                        <a:buNone/>
                      </a:pPr>
                      <a:r>
                        <a:rPr lang="en-US" sz="1800" dirty="0"/>
                        <a:t>stressing the need for combined event simulation to capture realistic turbine responses.</a:t>
                      </a:r>
                      <a:endParaRPr lang="en-US" sz="1800" dirty="0">
                        <a:effectLst/>
                      </a:endParaRP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37461750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8187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B0BD9-DCF0-C18F-CBB5-2240AFCB3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B159757D-E8D1-CE00-CF03-A7F07B520892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D42583EF-B99F-25C0-6636-4C358972E861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EA481050-6497-E015-F00B-773A67097377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9AE3724C-C897-174D-25D3-46EBDC40CF0B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7FC496C-7C4C-B904-0F4A-0008FCB82057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61EC4E4-F3C9-96A7-FF0E-5944B4943812}"/>
              </a:ext>
            </a:extLst>
          </p:cNvPr>
          <p:cNvSpPr txBox="1"/>
          <p:nvPr/>
        </p:nvSpPr>
        <p:spPr>
          <a:xfrm>
            <a:off x="412716" y="6565449"/>
            <a:ext cx="10001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11/11/2025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A1B0BF1-DB42-C121-AE22-C67847C8C00B}"/>
              </a:ext>
            </a:extLst>
          </p:cNvPr>
          <p:cNvSpPr txBox="1">
            <a:spLocks/>
          </p:cNvSpPr>
          <p:nvPr/>
        </p:nvSpPr>
        <p:spPr>
          <a:xfrm>
            <a:off x="1833304" y="6559591"/>
            <a:ext cx="287215" cy="2984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6</a:t>
            </a:fld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DD220A-BD95-30F8-877F-4F2054D7BA5E}"/>
              </a:ext>
            </a:extLst>
          </p:cNvPr>
          <p:cNvSpPr txBox="1"/>
          <p:nvPr/>
        </p:nvSpPr>
        <p:spPr>
          <a:xfrm>
            <a:off x="9172575" y="6542216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Load &amp; Dynamics Team/ Optimus Syria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ECB964-B397-875A-D59A-1193BB7CEC1F}"/>
              </a:ext>
            </a:extLst>
          </p:cNvPr>
          <p:cNvSpPr txBox="1"/>
          <p:nvPr/>
        </p:nvSpPr>
        <p:spPr>
          <a:xfrm>
            <a:off x="5430929" y="6559591"/>
            <a:ext cx="13460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Arham Memon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82C738F-19E5-3C8F-4131-98B1E52143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2923925"/>
              </p:ext>
            </p:extLst>
          </p:nvPr>
        </p:nvGraphicFramePr>
        <p:xfrm>
          <a:off x="1137141" y="1674758"/>
          <a:ext cx="9933585" cy="4293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2161">
                  <a:extLst>
                    <a:ext uri="{9D8B030D-6E8A-4147-A177-3AD203B41FA5}">
                      <a16:colId xmlns:a16="http://schemas.microsoft.com/office/drawing/2014/main" val="643763595"/>
                    </a:ext>
                  </a:extLst>
                </a:gridCol>
                <a:gridCol w="5287274">
                  <a:extLst>
                    <a:ext uri="{9D8B030D-6E8A-4147-A177-3AD203B41FA5}">
                      <a16:colId xmlns:a16="http://schemas.microsoft.com/office/drawing/2014/main" val="3207649125"/>
                    </a:ext>
                  </a:extLst>
                </a:gridCol>
                <a:gridCol w="2734150">
                  <a:extLst>
                    <a:ext uri="{9D8B030D-6E8A-4147-A177-3AD203B41FA5}">
                      <a16:colId xmlns:a16="http://schemas.microsoft.com/office/drawing/2014/main" val="2938193213"/>
                    </a:ext>
                  </a:extLst>
                </a:gridCol>
              </a:tblGrid>
              <a:tr h="5935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Turbine State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Typical Wind Model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6018676"/>
                  </a:ext>
                </a:extLst>
              </a:tr>
              <a:tr h="16890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DLC 4.1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DLC 4.1 requires annual fatigue analysis of wind turbines using at least 1000 shut-downs at cut-in, 50 at rated, and 50 at cut-out wind speeds, considering site-specific curtailment needs.​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NTM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8546504"/>
                  </a:ext>
                </a:extLst>
              </a:tr>
              <a:tr h="20108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DLC 4.2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DLC 4.2 analyzes turbine shut-downs coinciding with extreme operating gusts (EOG) at various timings and rotor azimuths, ensuring loads from combined events are realistically simulated for structural safety.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EOG/ETM(alternative)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7564286"/>
                  </a:ext>
                </a:extLst>
              </a:tr>
            </a:tbl>
          </a:graphicData>
        </a:graphic>
      </p:graphicFrame>
      <p:sp>
        <p:nvSpPr>
          <p:cNvPr id="19" name="Title 6">
            <a:extLst>
              <a:ext uri="{FF2B5EF4-FFF2-40B4-BE49-F238E27FC236}">
                <a16:creationId xmlns:a16="http://schemas.microsoft.com/office/drawing/2014/main" id="{441F367E-5E58-F8AE-5DB3-99B5E1361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626" y="363628"/>
            <a:ext cx="10515600" cy="937132"/>
          </a:xfrm>
        </p:spPr>
        <p:txBody>
          <a:bodyPr>
            <a:normAutofit/>
          </a:bodyPr>
          <a:lstStyle/>
          <a:p>
            <a:r>
              <a:rPr lang="en-US" dirty="0"/>
              <a:t>DLC 4.X</a:t>
            </a:r>
          </a:p>
        </p:txBody>
      </p:sp>
    </p:spTree>
    <p:extLst>
      <p:ext uri="{BB962C8B-B14F-4D97-AF65-F5344CB8AC3E}">
        <p14:creationId xmlns:p14="http://schemas.microsoft.com/office/powerpoint/2010/main" val="19553840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CF81A-89AE-6A7D-5979-48ED21FD4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EE03CF96-185B-2658-DA0E-BB323964A50C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2033A1E3-BA81-803A-8464-7739BEF74DE5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F836B583-9013-9F3B-7492-85F594D35CC2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FD4E28B6-9FE1-A316-96B5-DF2B92A5A2A6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340897B-2D2D-B14D-4532-C6060030D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76154" y="6492875"/>
            <a:ext cx="436367" cy="365125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t>7</a:t>
            </a:fld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D4E4E7B-DC09-CAB5-9681-66C2BE3C6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418" y="502853"/>
            <a:ext cx="7982574" cy="712728"/>
          </a:xfrm>
        </p:spPr>
        <p:txBody>
          <a:bodyPr>
            <a:normAutofit/>
          </a:bodyPr>
          <a:lstStyle/>
          <a:p>
            <a:r>
              <a:rPr lang="en-US" dirty="0"/>
              <a:t>DLC 5.1</a:t>
            </a:r>
            <a:r>
              <a:rPr lang="en-US" sz="2800" dirty="0"/>
              <a:t>Emergency Stop</a:t>
            </a:r>
            <a:endParaRPr lang="en-US" sz="44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A76CCC5-BE8F-3059-F240-FFDA685B8118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AEFF1AF-0F40-9658-C5D3-F01172ED3D34}"/>
              </a:ext>
            </a:extLst>
          </p:cNvPr>
          <p:cNvSpPr txBox="1"/>
          <p:nvPr/>
        </p:nvSpPr>
        <p:spPr>
          <a:xfrm>
            <a:off x="412716" y="6565449"/>
            <a:ext cx="10001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11/11/2025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BB11CD-D484-AA86-FAB7-480CDE1803BD}"/>
              </a:ext>
            </a:extLst>
          </p:cNvPr>
          <p:cNvSpPr txBox="1"/>
          <p:nvPr/>
        </p:nvSpPr>
        <p:spPr>
          <a:xfrm>
            <a:off x="9172575" y="6542216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Load &amp; Dynamics Team/ Optimus Syria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7A3EBF-509E-2FE2-45CB-40228F5AE1FF}"/>
              </a:ext>
            </a:extLst>
          </p:cNvPr>
          <p:cNvSpPr txBox="1"/>
          <p:nvPr/>
        </p:nvSpPr>
        <p:spPr>
          <a:xfrm>
            <a:off x="5430929" y="6559591"/>
            <a:ext cx="13460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Arham Memon</a:t>
            </a:r>
          </a:p>
        </p:txBody>
      </p:sp>
      <p:pic>
        <p:nvPicPr>
          <p:cNvPr id="16" name="Picture 15" descr="A graph of a graph&#10;&#10;AI-generated content may be incorrect.">
            <a:extLst>
              <a:ext uri="{FF2B5EF4-FFF2-40B4-BE49-F238E27FC236}">
                <a16:creationId xmlns:a16="http://schemas.microsoft.com/office/drawing/2014/main" id="{1AE0451E-7011-0F02-3788-D82ECC6B5C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18" y="2641852"/>
            <a:ext cx="11218984" cy="385752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09CDD5E-D65A-88A8-5367-077A1BD5F633}"/>
              </a:ext>
            </a:extLst>
          </p:cNvPr>
          <p:cNvSpPr txBox="1"/>
          <p:nvPr/>
        </p:nvSpPr>
        <p:spPr>
          <a:xfrm>
            <a:off x="484418" y="1264750"/>
            <a:ext cx="108228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load case covers manual actuation of the emergency stop pushbutton. For this load case, the rotor shall be brought to a standstill.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479C77-F4B4-5401-B9A6-B5C931E3BF50}"/>
              </a:ext>
            </a:extLst>
          </p:cNvPr>
          <p:cNvSpPr txBox="1"/>
          <p:nvPr/>
        </p:nvSpPr>
        <p:spPr>
          <a:xfrm>
            <a:off x="9172575" y="6088771"/>
            <a:ext cx="2460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Update from last week </a:t>
            </a:r>
          </a:p>
        </p:txBody>
      </p:sp>
    </p:spTree>
    <p:extLst>
      <p:ext uri="{BB962C8B-B14F-4D97-AF65-F5344CB8AC3E}">
        <p14:creationId xmlns:p14="http://schemas.microsoft.com/office/powerpoint/2010/main" val="34227321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20EFD-879B-333A-DADF-811203A9D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D1146A40-1723-98E5-0A30-1B424176E4E2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EA702EAB-710C-AE5B-0FAC-DE25147E387D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F63D863B-C1BD-E06D-7371-B341E5FB1974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AA9F3BE4-1887-9E96-1479-96A7764214B0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77EE61D-15D7-3F86-7CDD-CCB0A1FCC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417" y="502853"/>
            <a:ext cx="9234617" cy="712728"/>
          </a:xfrm>
        </p:spPr>
        <p:txBody>
          <a:bodyPr>
            <a:normAutofit/>
          </a:bodyPr>
          <a:lstStyle/>
          <a:p>
            <a:r>
              <a:rPr lang="en-GB" dirty="0"/>
              <a:t>Conclusion &amp; Future Plan</a:t>
            </a:r>
            <a:endParaRPr lang="de-DE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DE2EB72-B6B0-6F50-0553-8A7EBA47EF3F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3F80CF7-D661-ECEA-C323-8A635239A2B9}"/>
              </a:ext>
            </a:extLst>
          </p:cNvPr>
          <p:cNvSpPr txBox="1"/>
          <p:nvPr/>
        </p:nvSpPr>
        <p:spPr>
          <a:xfrm>
            <a:off x="563075" y="1455308"/>
            <a:ext cx="826629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the last week we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Configured Wind Simulations for NTM for DLC 1.2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Update Simulation with DLC 5.1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Analyzed DLC 4.X cases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Provided forces and moments at different section of turbine to other teams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27E92C-A5CB-BC0F-09F3-87A452931C35}"/>
              </a:ext>
            </a:extLst>
          </p:cNvPr>
          <p:cNvSpPr txBox="1"/>
          <p:nvPr/>
        </p:nvSpPr>
        <p:spPr>
          <a:xfrm>
            <a:off x="412716" y="6565449"/>
            <a:ext cx="10001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11/11/2025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A120C60-37B7-21C9-2762-545988EF49AC}"/>
              </a:ext>
            </a:extLst>
          </p:cNvPr>
          <p:cNvSpPr txBox="1">
            <a:spLocks/>
          </p:cNvSpPr>
          <p:nvPr/>
        </p:nvSpPr>
        <p:spPr>
          <a:xfrm>
            <a:off x="1833304" y="6538183"/>
            <a:ext cx="386021" cy="3198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8</a:t>
            </a:fld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01270B-C2B0-1B61-E8C4-35B5C0C53617}"/>
              </a:ext>
            </a:extLst>
          </p:cNvPr>
          <p:cNvSpPr txBox="1"/>
          <p:nvPr/>
        </p:nvSpPr>
        <p:spPr>
          <a:xfrm>
            <a:off x="9172575" y="6542216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Load &amp; Dynamics Team/ Optimus Syria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4FF063-5965-7429-D9BA-AB5A1465307A}"/>
              </a:ext>
            </a:extLst>
          </p:cNvPr>
          <p:cNvSpPr txBox="1"/>
          <p:nvPr/>
        </p:nvSpPr>
        <p:spPr>
          <a:xfrm>
            <a:off x="573779" y="3909159"/>
            <a:ext cx="743951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the next week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Start Simulations with DLC 4.X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Simulate </a:t>
            </a:r>
            <a:r>
              <a:rPr lang="en-US" dirty="0" err="1"/>
              <a:t>OpenFAST</a:t>
            </a:r>
            <a:r>
              <a:rPr lang="en-US" dirty="0"/>
              <a:t> for updated parameter of turbine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Configure Simulation with other DLC Cases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Work with different groups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Start Calculation of </a:t>
            </a:r>
            <a:r>
              <a:rPr lang="en-US" dirty="0" err="1"/>
              <a:t>MExtremes</a:t>
            </a: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67E8D6-39B2-276D-FB3B-5F55EE4C3853}"/>
              </a:ext>
            </a:extLst>
          </p:cNvPr>
          <p:cNvSpPr txBox="1"/>
          <p:nvPr/>
        </p:nvSpPr>
        <p:spPr>
          <a:xfrm>
            <a:off x="5420905" y="6559591"/>
            <a:ext cx="13460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Arham Memon</a:t>
            </a:r>
          </a:p>
        </p:txBody>
      </p:sp>
    </p:spTree>
    <p:extLst>
      <p:ext uri="{BB962C8B-B14F-4D97-AF65-F5344CB8AC3E}">
        <p14:creationId xmlns:p14="http://schemas.microsoft.com/office/powerpoint/2010/main" val="40780479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F9DB2-1C60-2A59-656D-A5B74C9C4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28A9E759-5D36-7577-1B72-EEFA19D202C6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0DF2E086-1F77-7ADA-A072-C1020548044D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16784C5A-545D-7FC3-0803-92836236CBEC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3F48FE32-30A8-91E8-073B-1CE94513A3C5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32C03B4-4368-B8A0-5078-A33BA60C0D0C}"/>
              </a:ext>
            </a:extLst>
          </p:cNvPr>
          <p:cNvSpPr txBox="1"/>
          <p:nvPr/>
        </p:nvSpPr>
        <p:spPr>
          <a:xfrm>
            <a:off x="463483" y="1401679"/>
            <a:ext cx="1054702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cs typeface="Times New Roman" panose="02020603050405020304" pitchFamily="18" charset="0"/>
              </a:rPr>
              <a:t>Load Reports of the OPTIMUS projects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GL Guideline for the Certification of Wind Turbines Edition 2010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Standard, DNVGL-ST-0376 – Edition December 2015</a:t>
            </a:r>
            <a:endParaRPr lang="en-GB" dirty="0"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IEC 61400-1 2019-02, Ed. 4.0/ DNVGL-ST-0437 Loads and site conditions for wind turbines 11-2016</a:t>
            </a:r>
            <a:endParaRPr lang="en-GB" dirty="0"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>
                <a:cs typeface="Times New Roman" panose="02020603050405020304" pitchFamily="18" charset="0"/>
              </a:rPr>
              <a:t>TurbSim</a:t>
            </a:r>
            <a:r>
              <a:rPr lang="en-GB" dirty="0">
                <a:cs typeface="Times New Roman" panose="02020603050405020304" pitchFamily="18" charset="0"/>
              </a:rPr>
              <a:t>, </a:t>
            </a:r>
            <a:r>
              <a:rPr lang="en-GB" dirty="0" err="1">
                <a:cs typeface="Times New Roman" panose="02020603050405020304" pitchFamily="18" charset="0"/>
              </a:rPr>
              <a:t>OpenFAST</a:t>
            </a:r>
            <a:r>
              <a:rPr lang="en-GB" dirty="0">
                <a:cs typeface="Times New Roman" panose="02020603050405020304" pitchFamily="18" charset="0"/>
              </a:rPr>
              <a:t> &amp; NREL 5 MW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5E1DA7A-832B-59A9-3560-8C4D55C27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418" y="502853"/>
            <a:ext cx="2724774" cy="712728"/>
          </a:xfrm>
        </p:spPr>
        <p:txBody>
          <a:bodyPr>
            <a:normAutofit fontScale="90000"/>
          </a:bodyPr>
          <a:lstStyle/>
          <a:p>
            <a:r>
              <a:rPr lang="en-US" dirty="0"/>
              <a:t>References</a:t>
            </a:r>
            <a:endParaRPr lang="de-DE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80213FB-EC9C-6767-58CC-49D609115B85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D0B4C1C-527A-83A2-90B3-666A056F7C49}"/>
              </a:ext>
            </a:extLst>
          </p:cNvPr>
          <p:cNvSpPr txBox="1"/>
          <p:nvPr/>
        </p:nvSpPr>
        <p:spPr>
          <a:xfrm>
            <a:off x="412716" y="6565449"/>
            <a:ext cx="10001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11/11/2025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1129FCA-49E1-C2AD-B541-FCEDEF0BB603}"/>
              </a:ext>
            </a:extLst>
          </p:cNvPr>
          <p:cNvSpPr txBox="1">
            <a:spLocks/>
          </p:cNvSpPr>
          <p:nvPr/>
        </p:nvSpPr>
        <p:spPr>
          <a:xfrm>
            <a:off x="1833304" y="6538183"/>
            <a:ext cx="376496" cy="3198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9</a:t>
            </a:fld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563EE5-B3E5-55A6-0898-3C96C1BE7B95}"/>
              </a:ext>
            </a:extLst>
          </p:cNvPr>
          <p:cNvSpPr txBox="1"/>
          <p:nvPr/>
        </p:nvSpPr>
        <p:spPr>
          <a:xfrm>
            <a:off x="9172575" y="6542216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Load &amp; Dynamics Team/ Optimus Syria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7E24DD-66BD-8AE2-F6E8-521E73DAAA04}"/>
              </a:ext>
            </a:extLst>
          </p:cNvPr>
          <p:cNvSpPr txBox="1"/>
          <p:nvPr/>
        </p:nvSpPr>
        <p:spPr>
          <a:xfrm>
            <a:off x="5430929" y="6559591"/>
            <a:ext cx="13460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Arham Memon</a:t>
            </a:r>
          </a:p>
        </p:txBody>
      </p:sp>
    </p:spTree>
    <p:extLst>
      <p:ext uri="{BB962C8B-B14F-4D97-AF65-F5344CB8AC3E}">
        <p14:creationId xmlns:p14="http://schemas.microsoft.com/office/powerpoint/2010/main" val="3877941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438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BCD039B6-C6AB-492A-94BF-C46AF895D2E7}">
  <we:reference id="WA200007130" version="1.0.0.1" store="en-US" storeType="omex"/>
  <we:alternateReferences>
    <we:reference id="WA200007130" version="1.0.0.1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73D784B2-E216-4A14-BE4B-F0CA301E2B20}">
  <we:reference id="WA200005566" version="3.0.0.3" store="en-US" storeType="omex"/>
  <we:alternateReferences>
    <we:reference id="WA200005566" version="3.0.0.3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495</TotalTime>
  <Words>548</Words>
  <Application>Microsoft Office PowerPoint</Application>
  <PresentationFormat>Widescreen</PresentationFormat>
  <Paragraphs>114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Times New Roman</vt:lpstr>
      <vt:lpstr>Office Theme</vt:lpstr>
      <vt:lpstr>Custom Design</vt:lpstr>
      <vt:lpstr>Weekly report: Load &amp; Dynamics</vt:lpstr>
      <vt:lpstr>Agenda For Loads &amp; Dynamics</vt:lpstr>
      <vt:lpstr>DLC 1.2 Power Production(NTM)</vt:lpstr>
      <vt:lpstr>DLC 1.2</vt:lpstr>
      <vt:lpstr>DLC 4 Normal Shutdown</vt:lpstr>
      <vt:lpstr>DLC 4.X</vt:lpstr>
      <vt:lpstr>DLC 5.1Emergency Stop</vt:lpstr>
      <vt:lpstr>Conclusion &amp; Future Plan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report lidar-assisted control group</dc:title>
  <dc:creator>Federico De Mita</dc:creator>
  <cp:lastModifiedBy>Md Aman</cp:lastModifiedBy>
  <cp:revision>75</cp:revision>
  <dcterms:created xsi:type="dcterms:W3CDTF">2025-07-21T13:11:31Z</dcterms:created>
  <dcterms:modified xsi:type="dcterms:W3CDTF">2025-11-09T21:56:32Z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umentInfoFinished">
    <vt:lpwstr>True</vt:lpwstr>
  </property>
  <property fmtid="{D5CDD505-2E9C-101B-9397-08002B2CF9AE}" pid="3" name="MSIP_Label_48141450-2387-4aca-b41f-19cd6be9dd3c_Enabled">
    <vt:lpwstr>true</vt:lpwstr>
  </property>
  <property fmtid="{D5CDD505-2E9C-101B-9397-08002B2CF9AE}" pid="4" name="MSIP_Label_48141450-2387-4aca-b41f-19cd6be9dd3c_SetDate">
    <vt:lpwstr>2025-09-28T13:19:16Z</vt:lpwstr>
  </property>
  <property fmtid="{D5CDD505-2E9C-101B-9397-08002B2CF9AE}" pid="5" name="MSIP_Label_48141450-2387-4aca-b41f-19cd6be9dd3c_Method">
    <vt:lpwstr>Standard</vt:lpwstr>
  </property>
  <property fmtid="{D5CDD505-2E9C-101B-9397-08002B2CF9AE}" pid="6" name="MSIP_Label_48141450-2387-4aca-b41f-19cd6be9dd3c_Name">
    <vt:lpwstr>Restricted_Unprotected</vt:lpwstr>
  </property>
  <property fmtid="{D5CDD505-2E9C-101B-9397-08002B2CF9AE}" pid="7" name="MSIP_Label_48141450-2387-4aca-b41f-19cd6be9dd3c_SiteId">
    <vt:lpwstr>adf10e2b-b6e9-41d6-be2f-c12bb566019c</vt:lpwstr>
  </property>
  <property fmtid="{D5CDD505-2E9C-101B-9397-08002B2CF9AE}" pid="8" name="MSIP_Label_48141450-2387-4aca-b41f-19cd6be9dd3c_ActionId">
    <vt:lpwstr>2ebed701-3566-4ac7-9aa9-92359fcb4805</vt:lpwstr>
  </property>
  <property fmtid="{D5CDD505-2E9C-101B-9397-08002B2CF9AE}" pid="9" name="MSIP_Label_48141450-2387-4aca-b41f-19cd6be9dd3c_ContentBits">
    <vt:lpwstr>0</vt:lpwstr>
  </property>
  <property fmtid="{D5CDD505-2E9C-101B-9397-08002B2CF9AE}" pid="10" name="MSIP_Label_48141450-2387-4aca-b41f-19cd6be9dd3c_Tag">
    <vt:lpwstr>10, 3, 0, 1</vt:lpwstr>
  </property>
</Properties>
</file>