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extended-properties" Target="docProps/app.xml" /><Relationship Id="rId4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handoutMasterIdLst>
    <p:handoutMasterId r:id="rId15"/>
  </p:handoutMasterIdLst>
  <p:sldIdLst>
    <p:sldId id="271" r:id="rId3"/>
    <p:sldId id="263" r:id="rId4"/>
    <p:sldId id="259" r:id="rId5"/>
    <p:sldId id="290" r:id="rId6"/>
    <p:sldId id="291" r:id="rId7"/>
    <p:sldId id="293" r:id="rId8"/>
    <p:sldId id="294" r:id="rId9"/>
    <p:sldId id="292" r:id="rId10"/>
    <p:sldId id="295" r:id="rId11"/>
    <p:sldId id="29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63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90"/>
            <p14:sldId id="291"/>
            <p14:sldId id="293"/>
            <p14:sldId id="294"/>
            <p14:sldId id="292"/>
            <p14:sldId id="295"/>
            <p14:sldId id="296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theme" Target="theme/theme1.xml" /><Relationship Id="rId3" Type="http://schemas.openxmlformats.org/officeDocument/2006/relationships/slide" Target="slides/slide1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viewProps" Target="viewProps.xml" /><Relationship Id="rId2" Type="http://schemas.openxmlformats.org/officeDocument/2006/relationships/slideMaster" Target="slideMasters/slideMaster2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5" Type="http://schemas.openxmlformats.org/officeDocument/2006/relationships/slide" Target="slides/slide3.xml" /><Relationship Id="rId15" Type="http://schemas.openxmlformats.org/officeDocument/2006/relationships/handoutMaster" Target="handoutMasters/handoutMaster1.xml" /><Relationship Id="rId10" Type="http://schemas.openxmlformats.org/officeDocument/2006/relationships/slide" Target="slides/slide8.xml" /><Relationship Id="rId19" Type="http://schemas.openxmlformats.org/officeDocument/2006/relationships/tableStyles" Target="tableStyles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notesMaster" Target="notesMasters/notes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9B92D8-576F-E2EC-294B-2558F9D8C6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647B16-EA31-6786-DA18-D9B47CB286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 /><Relationship Id="rId2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9.xml" /><Relationship Id="rId5" Type="http://schemas.openxmlformats.org/officeDocument/2006/relationships/theme" Target="../theme/theme2.xml" /><Relationship Id="rId4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5F882E33-D020-7E7B-7744-FA472C533769}"/>
              </a:ext>
            </a:extLst>
          </p:cNvPr>
          <p:cNvSpPr txBox="1">
            <a:spLocks/>
          </p:cNvSpPr>
          <p:nvPr userDrawn="1"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Divyesh Mistry</a:t>
            </a:r>
            <a:endParaRPr lang="en-US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83DE9D-3043-CD58-EF37-FD7A4639229C}"/>
              </a:ext>
            </a:extLst>
          </p:cNvPr>
          <p:cNvSpPr txBox="1"/>
          <p:nvPr userDrawn="1"/>
        </p:nvSpPr>
        <p:spPr>
          <a:xfrm>
            <a:off x="8505523" y="6616896"/>
            <a:ext cx="2817365" cy="25955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Rotor Bearing System/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11/11/2025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f.com/group/products/rolling-bearings/roller-bearings/spherical-roller-bearings/productid-240%2F1120" TargetMode="External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11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 panose="02020603050405020304" pitchFamily="18" charset="0"/>
              </a:rPr>
              <a:t> November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158240" y="2516402"/>
            <a:ext cx="1041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Presentation : Rotor Bearing System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number: 07</a:t>
            </a:r>
          </a:p>
          <a:p>
            <a:pPr algn="ctr"/>
            <a:r>
              <a:rPr lang="it-IT" sz="2000" dirty="0">
                <a:latin typeface="Aptos (Textkörper)"/>
              </a:rPr>
              <a:t>Date: 11 /11/2025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</a:t>
            </a:r>
            <a:r>
              <a:rPr lang="it-IT" sz="2000" dirty="0"/>
              <a:t>Prof.  Peter Quell </a:t>
            </a:r>
            <a:endParaRPr lang="it-IT" sz="2000" dirty="0">
              <a:latin typeface="Aptos (Textkörper)"/>
            </a:endParaRPr>
          </a:p>
          <a:p>
            <a:endParaRPr lang="en-GB" dirty="0"/>
          </a:p>
        </p:txBody>
      </p:sp>
      <p:sp>
        <p:nvSpPr>
          <p:cNvPr id="5" name="Textfeld 12">
            <a:extLst>
              <a:ext uri="{FF2B5EF4-FFF2-40B4-BE49-F238E27FC236}">
                <a16:creationId xmlns:a16="http://schemas.microsoft.com/office/drawing/2014/main" id="{D9A567B7-3E99-FE45-F4F9-8DF602E8F987}"/>
              </a:ext>
            </a:extLst>
          </p:cNvPr>
          <p:cNvSpPr txBox="1">
            <a:spLocks/>
          </p:cNvSpPr>
          <p:nvPr/>
        </p:nvSpPr>
        <p:spPr>
          <a:xfrm>
            <a:off x="1393885" y="4570995"/>
            <a:ext cx="10450286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Divyesh Mistry,  Venkata Sreekanth .K , Sreehari Padachery, Jill Sadariya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BEA2004-2B46-4FBB-0674-B520F411077A}"/>
              </a:ext>
            </a:extLst>
          </p:cNvPr>
          <p:cNvSpPr txBox="1">
            <a:spLocks/>
          </p:cNvSpPr>
          <p:nvPr/>
        </p:nvSpPr>
        <p:spPr>
          <a:xfrm>
            <a:off x="4801762" y="4942122"/>
            <a:ext cx="3399846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Divyesh Mistry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en-US" sz="2400" dirty="0"/>
              <a:t>Task of the week.</a:t>
            </a:r>
          </a:p>
          <a:p>
            <a:r>
              <a:rPr lang="en-US" sz="2400" dirty="0"/>
              <a:t>CAD Model of Spherical roller Bearing.</a:t>
            </a:r>
          </a:p>
          <a:p>
            <a:pPr lvl="0"/>
            <a:r>
              <a:rPr lang="en-US" sz="2400" dirty="0"/>
              <a:t>Bolted Flange Calculation.</a:t>
            </a:r>
          </a:p>
          <a:p>
            <a:pPr lvl="0"/>
            <a:r>
              <a:rPr lang="en-US" sz="2400" dirty="0"/>
              <a:t>Hydraulic </a:t>
            </a:r>
            <a:r>
              <a:rPr lang="en-US" sz="2400" dirty="0" err="1"/>
              <a:t>Torqure</a:t>
            </a:r>
            <a:r>
              <a:rPr lang="en-US" sz="2400" dirty="0"/>
              <a:t> wrench for M39 bolts.</a:t>
            </a:r>
          </a:p>
          <a:p>
            <a:pPr lvl="0"/>
            <a:r>
              <a:rPr lang="en-US" sz="2400" dirty="0"/>
              <a:t>Torque calculation</a:t>
            </a:r>
          </a:p>
          <a:p>
            <a:pPr lvl="0"/>
            <a:r>
              <a:rPr lang="en-US" sz="2400" dirty="0"/>
              <a:t>Bibliography.</a:t>
            </a:r>
          </a:p>
          <a:p>
            <a:pPr lvl="1"/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5D84-0DF0-4DDC-33A2-9DA6DAE5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278" y="584200"/>
            <a:ext cx="14807876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240/1600 CAF/W33   Spherical roller bearing CAD Scaled Model </a:t>
            </a:r>
            <a:br>
              <a:rPr lang="en-US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1624C-8A30-B27D-7DE2-71385735A5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68195-0B9C-59F4-2840-1243E9BD0F1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B8DF38-5B22-4D7B-85D3-D6EF5CE83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388592"/>
            <a:ext cx="6893519" cy="4974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DDECB6-60F1-CCD6-E2C9-259DE18BE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744" y="1388592"/>
            <a:ext cx="4812706" cy="488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63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36A1D-80A5-DC55-FBEE-14616ACE1D8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60136-B635-800B-A1C5-F2FC1B924C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FF4A1B-5C70-D8B9-835B-288ABF6069E4}"/>
              </a:ext>
            </a:extLst>
          </p:cNvPr>
          <p:cNvSpPr txBox="1"/>
          <p:nvPr/>
        </p:nvSpPr>
        <p:spPr>
          <a:xfrm>
            <a:off x="1034143" y="1448191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Bearing  Dimensions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A3259A-E7F5-7EF7-63C1-81217D9E6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008283"/>
              </p:ext>
            </p:extLst>
          </p:nvPr>
        </p:nvGraphicFramePr>
        <p:xfrm>
          <a:off x="1393885" y="1943670"/>
          <a:ext cx="8701836" cy="30480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00612">
                  <a:extLst>
                    <a:ext uri="{9D8B030D-6E8A-4147-A177-3AD203B41FA5}">
                      <a16:colId xmlns:a16="http://schemas.microsoft.com/office/drawing/2014/main" val="3748437465"/>
                    </a:ext>
                  </a:extLst>
                </a:gridCol>
                <a:gridCol w="2900612">
                  <a:extLst>
                    <a:ext uri="{9D8B030D-6E8A-4147-A177-3AD203B41FA5}">
                      <a16:colId xmlns:a16="http://schemas.microsoft.com/office/drawing/2014/main" val="3058241877"/>
                    </a:ext>
                  </a:extLst>
                </a:gridCol>
                <a:gridCol w="2900612">
                  <a:extLst>
                    <a:ext uri="{9D8B030D-6E8A-4147-A177-3AD203B41FA5}">
                      <a16:colId xmlns:a16="http://schemas.microsoft.com/office/drawing/2014/main" val="2358972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Parameter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Symbol 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Scaled × 1.4286 (1600 bore)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901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Bore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1600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43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Outer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2257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804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Total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660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727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Rollers per row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650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Roller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Dᵣ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142.86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621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Roller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Lᵣ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266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586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W33 groove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17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144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W33 groove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7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483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Bearing steel / brass (CA)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66251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4958B4-468F-2CE3-2918-DA7066FD6C4C}"/>
              </a:ext>
            </a:extLst>
          </p:cNvPr>
          <p:cNvSpPr txBox="1"/>
          <p:nvPr/>
        </p:nvSpPr>
        <p:spPr>
          <a:xfrm>
            <a:off x="838200" y="5467738"/>
            <a:ext cx="1043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The scaled bearing size closely  matches the specification mentioned in the SKF email communication regarding the outer diameter and width.</a:t>
            </a:r>
          </a:p>
        </p:txBody>
      </p:sp>
    </p:spTree>
    <p:extLst>
      <p:ext uri="{BB962C8B-B14F-4D97-AF65-F5344CB8AC3E}">
        <p14:creationId xmlns:p14="http://schemas.microsoft.com/office/powerpoint/2010/main" val="305960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8B48-AFBC-977A-0522-B41A6AB6AD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466CB-B0C5-2B6D-5368-CE32F9B5121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C3878AB6-C127-E823-0D24-805AE9B9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 </a:t>
            </a:r>
            <a:r>
              <a:rPr lang="en-US" dirty="0"/>
              <a:t>Bolted Flange Calculation </a:t>
            </a:r>
            <a:endParaRPr lang="en-GB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C207BB2-16C8-FCFF-61CD-1A01BE3A5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793614"/>
              </p:ext>
            </p:extLst>
          </p:nvPr>
        </p:nvGraphicFramePr>
        <p:xfrm>
          <a:off x="6423768" y="1604867"/>
          <a:ext cx="5585568" cy="364826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46249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396392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844731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698196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Outer 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1840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26593836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Inner 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dt2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1740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200" dirty="0">
                          <a:effectLst/>
                        </a:rPr>
                        <a:t>N</a:t>
                      </a:r>
                      <a:r>
                        <a:rPr lang="pt-BR" sz="1200" baseline="-25000" dirty="0">
                          <a:effectLst/>
                        </a:rPr>
                        <a:t>total</a:t>
                      </a:r>
                      <a:r>
                        <a:rPr lang="pt-BR" sz="1200" dirty="0">
                          <a:effectLst/>
                        </a:rPr>
                        <a:t> = N</a:t>
                      </a:r>
                      <a:r>
                        <a:rPr lang="pt-BR" sz="1200" baseline="-25000" dirty="0">
                          <a:effectLst/>
                        </a:rPr>
                        <a:t>ICB</a:t>
                      </a:r>
                      <a:r>
                        <a:rPr lang="pt-BR" sz="1200" dirty="0">
                          <a:effectLst/>
                        </a:rPr>
                        <a:t> + N</a:t>
                      </a:r>
                      <a:r>
                        <a:rPr lang="pt-BR" sz="1200" baseline="-25000" dirty="0">
                          <a:effectLst/>
                        </a:rPr>
                        <a:t>OCB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96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Total tensile force on 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F</a:t>
                      </a:r>
                      <a:r>
                        <a:rPr lang="en-US" sz="1200" baseline="-25000" dirty="0" err="1">
                          <a:effectLst/>
                        </a:rPr>
                        <a:t>a,F,ges</a:t>
                      </a:r>
                      <a:endParaRPr lang="en-US" sz="12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633.7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kN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4171539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Lateral force on 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effectLst/>
                        </a:rPr>
                        <a:t>F</a:t>
                      </a:r>
                      <a:r>
                        <a:rPr lang="en-US" sz="1200" baseline="-25000" dirty="0" err="1">
                          <a:effectLst/>
                        </a:rPr>
                        <a:t>q,F,ges</a:t>
                      </a:r>
                      <a:endParaRPr lang="en-US" sz="12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1810.5 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effectLst/>
                        </a:rPr>
                        <a:t>kN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624187393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Torsional moment on 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</a:t>
                      </a:r>
                      <a:r>
                        <a:rPr lang="en-US" sz="1200" baseline="-25000" dirty="0">
                          <a:effectLst/>
                        </a:rPr>
                        <a:t>t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2747.0 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effectLst/>
                        </a:rPr>
                        <a:t>kN.m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340428480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Bending moment on 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</a:t>
                      </a:r>
                      <a:r>
                        <a:rPr lang="en-US" sz="1200" baseline="-25000" dirty="0">
                          <a:effectLst/>
                        </a:rPr>
                        <a:t>B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21573.8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effectLst/>
                        </a:rPr>
                        <a:t>kN.m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37447632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D90D661-6172-B06B-6972-DC7C13F869AA}"/>
              </a:ext>
            </a:extLst>
          </p:cNvPr>
          <p:cNvSpPr txBox="1"/>
          <p:nvPr/>
        </p:nvSpPr>
        <p:spPr>
          <a:xfrm>
            <a:off x="9608975" y="5524102"/>
            <a:ext cx="2491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*</a:t>
            </a:r>
            <a:r>
              <a:rPr lang="en-US" sz="1200" dirty="0">
                <a:solidFill>
                  <a:srgbClr val="FF0000"/>
                </a:solidFill>
              </a:rPr>
              <a:t>F &amp;M are scaled up from Shakti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32447-0960-0F40-531E-1FEA99B26E5F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Optimus Shakti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501CA8-15C4-9B33-EC4E-1252E76E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4867"/>
            <a:ext cx="5385318" cy="37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68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734B4-E931-CC59-1C14-E3DAB902A52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52931-EB0D-7B83-0F83-3C89D7E1C15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F0A221-DACC-0FA5-66A5-ED8205AB2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49" r="55657" b="50732"/>
          <a:stretch>
            <a:fillRect/>
          </a:stretch>
        </p:blipFill>
        <p:spPr>
          <a:xfrm>
            <a:off x="552719" y="1547966"/>
            <a:ext cx="4308530" cy="5914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1845E8-B8B6-6B00-4A97-3EF460AB3A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080" r="46776" b="45077"/>
          <a:stretch>
            <a:fillRect/>
          </a:stretch>
        </p:blipFill>
        <p:spPr>
          <a:xfrm>
            <a:off x="460748" y="2366384"/>
            <a:ext cx="5053644" cy="5914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555415-BB97-384D-9ABD-61ECC4D4A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81" t="41481" r="681" b="30348"/>
          <a:stretch>
            <a:fillRect/>
          </a:stretch>
        </p:blipFill>
        <p:spPr>
          <a:xfrm>
            <a:off x="338980" y="2957805"/>
            <a:ext cx="9716342" cy="7248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90D323-5FC5-755B-E7DB-BA32FFEF4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71" y="3777169"/>
            <a:ext cx="3360711" cy="70872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1E65EA-E1C5-3442-2F03-F5B222300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852" y="4580426"/>
            <a:ext cx="1996613" cy="6706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B9D195-1210-D8B1-10A7-97BACCF9D0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971" y="5345580"/>
            <a:ext cx="3139712" cy="6248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3DDAD98-62D6-506B-E7D6-37D2935ACDCF}"/>
              </a:ext>
            </a:extLst>
          </p:cNvPr>
          <p:cNvSpPr txBox="1"/>
          <p:nvPr/>
        </p:nvSpPr>
        <p:spPr>
          <a:xfrm>
            <a:off x="1079912" y="5970474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Ferf</a:t>
            </a:r>
            <a:r>
              <a:rPr lang="en-US" dirty="0"/>
              <a:t> = </a:t>
            </a:r>
            <a:r>
              <a:rPr lang="en-US" dirty="0" err="1"/>
              <a:t>Fa,ges</a:t>
            </a:r>
            <a:r>
              <a:rPr lang="en-US" dirty="0"/>
              <a:t> + </a:t>
            </a:r>
            <a:r>
              <a:rPr lang="en-US" dirty="0" err="1"/>
              <a:t>Fkl</a:t>
            </a:r>
            <a:endParaRPr lang="en-US" dirty="0"/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11BEA76F-285C-581B-CF4E-7422DD791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266" y="4754152"/>
            <a:ext cx="40036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Axial Force from Thrust/Tensile Load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68C88D-4F85-F662-054A-9133399A5988}"/>
              </a:ext>
            </a:extLst>
          </p:cNvPr>
          <p:cNvSpPr txBox="1"/>
          <p:nvPr/>
        </p:nvSpPr>
        <p:spPr>
          <a:xfrm>
            <a:off x="4221155" y="3145925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Max Axial Force from Bending Moment (Multi-Circle)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474A75-C17C-AB0A-CD04-00A889B27C0F}"/>
              </a:ext>
            </a:extLst>
          </p:cNvPr>
          <p:cNvSpPr txBox="1"/>
          <p:nvPr/>
        </p:nvSpPr>
        <p:spPr>
          <a:xfrm>
            <a:off x="3287266" y="5970474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Requird</a:t>
            </a:r>
            <a:r>
              <a:rPr lang="en-US" dirty="0"/>
              <a:t> total axial force of the screw </a:t>
            </a:r>
            <a:r>
              <a:rPr lang="en-US" dirty="0" err="1"/>
              <a:t>Ferf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726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A98D4-F203-3C16-BCD6-3773345DD9B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2A8BB-50E9-E50B-7C54-FC69849318C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E22947-DF52-1F10-B41C-CBC7F67E9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011131"/>
              </p:ext>
            </p:extLst>
          </p:nvPr>
        </p:nvGraphicFramePr>
        <p:xfrm>
          <a:off x="604611" y="1398264"/>
          <a:ext cx="10414841" cy="478364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47104">
                  <a:extLst>
                    <a:ext uri="{9D8B030D-6E8A-4147-A177-3AD203B41FA5}">
                      <a16:colId xmlns:a16="http://schemas.microsoft.com/office/drawing/2014/main" val="4207477737"/>
                    </a:ext>
                  </a:extLst>
                </a:gridCol>
                <a:gridCol w="1507983">
                  <a:extLst>
                    <a:ext uri="{9D8B030D-6E8A-4147-A177-3AD203B41FA5}">
                      <a16:colId xmlns:a16="http://schemas.microsoft.com/office/drawing/2014/main" val="3410445721"/>
                    </a:ext>
                  </a:extLst>
                </a:gridCol>
                <a:gridCol w="1084879">
                  <a:extLst>
                    <a:ext uri="{9D8B030D-6E8A-4147-A177-3AD203B41FA5}">
                      <a16:colId xmlns:a16="http://schemas.microsoft.com/office/drawing/2014/main" val="3307771736"/>
                    </a:ext>
                  </a:extLst>
                </a:gridCol>
                <a:gridCol w="1659866">
                  <a:extLst>
                    <a:ext uri="{9D8B030D-6E8A-4147-A177-3AD203B41FA5}">
                      <a16:colId xmlns:a16="http://schemas.microsoft.com/office/drawing/2014/main" val="3307094573"/>
                    </a:ext>
                  </a:extLst>
                </a:gridCol>
                <a:gridCol w="1898539">
                  <a:extLst>
                    <a:ext uri="{9D8B030D-6E8A-4147-A177-3AD203B41FA5}">
                      <a16:colId xmlns:a16="http://schemas.microsoft.com/office/drawing/2014/main" val="2971203144"/>
                    </a:ext>
                  </a:extLst>
                </a:gridCol>
                <a:gridCol w="1616470">
                  <a:extLst>
                    <a:ext uri="{9D8B030D-6E8A-4147-A177-3AD203B41FA5}">
                      <a16:colId xmlns:a16="http://schemas.microsoft.com/office/drawing/2014/main" val="2867770390"/>
                    </a:ext>
                  </a:extLst>
                </a:gridCol>
              </a:tblGrid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Parameter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Symbol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Unit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Optimus Shakti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Case 2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Case 3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2633269551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Screw Circle Radius (Max)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 err="1">
                          <a:effectLst/>
                        </a:rPr>
                        <a:t>rtmax</a:t>
                      </a:r>
                      <a:r>
                        <a:rPr lang="en-US" sz="1400" dirty="0">
                          <a:effectLst/>
                        </a:rPr>
                        <a:t>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1.17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0.92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0.92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861030664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Total Number of Screws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Ns​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116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120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96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751665344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∑xi2​ (Bolt Moment of Inertia)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∑xi2​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m2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104.97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96.38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76.96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2282283914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Max Torsional Moment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Mt​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kN⋅m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3183.1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2747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2747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4154452061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Max Bending Moment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MB​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kN⋅m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25000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21573.8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21573.8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2976290642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Axial Force from Bending Moment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Fa,MB,max​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kN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64.093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205.94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257.904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6165288"/>
                  </a:ext>
                </a:extLst>
              </a:tr>
              <a:tr h="2213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Total Axial Force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Fa,ges​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kN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70.127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211.221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264.505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299451036"/>
                  </a:ext>
                </a:extLst>
              </a:tr>
              <a:tr h="2213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Total Shear Force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Fq,ges​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kN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30.013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41.31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51.698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3258552362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Required Total Axial Force (Ferf​)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Ferf​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kN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145.16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314.496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393.751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2691871505"/>
                  </a:ext>
                </a:extLst>
              </a:tr>
              <a:tr h="60744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Minimum Required Stress Area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As,min​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mm2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171.584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371.74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465.43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4067957325"/>
                  </a:ext>
                </a:extLst>
              </a:tr>
              <a:tr h="4121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Actual Bolt Area (M39/10.9)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As​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mm2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817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>
                          <a:effectLst/>
                        </a:rPr>
                        <a:t>817</a:t>
                      </a:r>
                    </a:p>
                  </a:txBody>
                  <a:tcPr marL="14902" marR="14902" marT="9935" marB="993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817</a:t>
                      </a:r>
                    </a:p>
                  </a:txBody>
                  <a:tcPr marL="14902" marR="14902" marT="9935" marB="9935" anchor="b"/>
                </a:tc>
                <a:extLst>
                  <a:ext uri="{0D108BD9-81ED-4DB2-BD59-A6C34878D82A}">
                    <a16:rowId xmlns:a16="http://schemas.microsoft.com/office/drawing/2014/main" val="26028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35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7CD7F-1436-D450-B5D1-6B4CE100600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E1E13-60A0-BAE3-FBD8-63B074C940F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39AD0B-DB85-ED3B-961C-C52733E7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Hydraulic </a:t>
            </a:r>
            <a:r>
              <a:rPr lang="en-US" sz="3600" dirty="0" err="1"/>
              <a:t>Torqure</a:t>
            </a:r>
            <a:r>
              <a:rPr lang="en-US" sz="3600" dirty="0"/>
              <a:t> wrench for M39 bolts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BD0F0-3B84-54A7-A657-C5674615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83" y="1539076"/>
            <a:ext cx="6515665" cy="3779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E0A52D-BE66-BB56-1C1A-F3F83662FABA}"/>
              </a:ext>
            </a:extLst>
          </p:cNvPr>
          <p:cNvSpPr txBox="1"/>
          <p:nvPr/>
        </p:nvSpPr>
        <p:spPr>
          <a:xfrm>
            <a:off x="7436338" y="1690688"/>
            <a:ext cx="18941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D-93</a:t>
            </a:r>
          </a:p>
          <a:p>
            <a:r>
              <a:rPr lang="en-US" dirty="0"/>
              <a:t>Diameter of the socket at hexagonal head side of the Bolt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83A8A9-6B54-CADE-12BE-3060FB067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055" y="1690688"/>
            <a:ext cx="2023349" cy="24995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7BBAD9-5290-6915-E2E7-E652005139F7}"/>
              </a:ext>
            </a:extLst>
          </p:cNvPr>
          <p:cNvSpPr txBox="1"/>
          <p:nvPr/>
        </p:nvSpPr>
        <p:spPr>
          <a:xfrm>
            <a:off x="758890" y="5650078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ITH Type- CX 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0A4C5-91A4-8D4A-79C9-91B872C68D3B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ITH</a:t>
            </a:r>
          </a:p>
        </p:txBody>
      </p:sp>
    </p:spTree>
    <p:extLst>
      <p:ext uri="{BB962C8B-B14F-4D97-AF65-F5344CB8AC3E}">
        <p14:creationId xmlns:p14="http://schemas.microsoft.com/office/powerpoint/2010/main" val="240175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D274-7917-C3F4-67B9-EDF53838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Torque calculation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5547B-8249-B1C7-2723-D21BDA47629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F876A-45A5-55AE-1AE4-00538A60B1C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C468F-23DD-5B98-158A-F0A598081E6F}"/>
              </a:ext>
            </a:extLst>
          </p:cNvPr>
          <p:cNvSpPr txBox="1"/>
          <p:nvPr/>
        </p:nvSpPr>
        <p:spPr>
          <a:xfrm>
            <a:off x="721031" y="1925390"/>
            <a:ext cx="5906278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2000" dirty="0"/>
              <a:t>T = k*</a:t>
            </a:r>
            <a:r>
              <a:rPr lang="en-US" altLang="en-US" sz="2000" dirty="0" err="1"/>
              <a:t>F</a:t>
            </a:r>
            <a:r>
              <a:rPr lang="en-US" altLang="en-US" sz="2000" baseline="-25000" dirty="0" err="1"/>
              <a:t>fref</a:t>
            </a:r>
            <a:r>
              <a:rPr lang="en-US" altLang="en-US" sz="2000" dirty="0"/>
              <a:t>*d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2000" dirty="0"/>
              <a:t>F</a:t>
            </a:r>
            <a:r>
              <a:rPr lang="en-US" altLang="en-US" sz="2000" baseline="-25000" dirty="0"/>
              <a:t>preload </a:t>
            </a:r>
            <a:r>
              <a:rPr lang="en-US" altLang="en-US" sz="2000" dirty="0"/>
              <a:t>=393.751KN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2000" dirty="0"/>
              <a:t>D=39mm=.039m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2000" dirty="0"/>
              <a:t>Well Lubricated (k=0.12)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2000" dirty="0"/>
              <a:t> Unlubricated/Dry (k=0.20</a:t>
            </a:r>
            <a:r>
              <a:rPr lang="en-US" altLang="en-US" dirty="0"/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u="sng" dirty="0"/>
              <a:t>Well Lubricated (k=0.12)</a:t>
            </a: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/>
              <a:t>T = k*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fref</a:t>
            </a:r>
            <a:r>
              <a:rPr lang="en-US" altLang="en-US" dirty="0"/>
              <a:t>*d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/>
              <a:t>T=.12*393751*.039=1844N.m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u="sng" dirty="0"/>
              <a:t>Unlubricated/Dry (k=0.20)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/>
              <a:t>T = k*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fref</a:t>
            </a:r>
            <a:r>
              <a:rPr lang="en-US" altLang="en-US" dirty="0"/>
              <a:t>*d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/>
              <a:t>T=.20*393751*.039=3071N.m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067D0B-3C63-3535-456B-BC5625489E53}"/>
              </a:ext>
            </a:extLst>
          </p:cNvPr>
          <p:cNvSpPr txBox="1"/>
          <p:nvPr/>
        </p:nvSpPr>
        <p:spPr>
          <a:xfrm>
            <a:off x="3184629" y="2275551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= </a:t>
            </a:r>
            <a:r>
              <a:rPr lang="en-US" dirty="0" err="1"/>
              <a:t>Requird</a:t>
            </a:r>
            <a:r>
              <a:rPr lang="en-US" dirty="0"/>
              <a:t> total axial force of the screw </a:t>
            </a:r>
            <a:r>
              <a:rPr lang="en-US" dirty="0" err="1"/>
              <a:t>Ferf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308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 – Rotor Bearing System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0688"/>
            <a:ext cx="10988040" cy="43513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SKF. (n.d.). </a:t>
            </a:r>
            <a:r>
              <a:rPr lang="en-US" i="1" dirty="0"/>
              <a:t>240/1120 CAF/W33 - Spherical roller bearings</a:t>
            </a:r>
            <a:r>
              <a:rPr lang="en-US" dirty="0"/>
              <a:t>. Retrieved October 29, 2025, from </a:t>
            </a:r>
            <a:r>
              <a:rPr lang="en-US" dirty="0">
                <a:hlinkClick r:id="rId2"/>
              </a:rPr>
              <a:t>https://www.skf.com/group/products/rolling-bearings/roller-bearings/spherical-roller-bearings/productid-240%2F1120</a:t>
            </a:r>
            <a:r>
              <a:rPr lang="en-US" dirty="0"/>
              <a:t> CAF%2FW33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Optimus Shakti, Optimus 60E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ITH. (n.d.). ITH Hydraulic Torque Wrenches Catalog. Retrieved November 08, 2025, from www.ITH.de/schraubwerkzeuge/hydraulische-drehmomentschrauber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lvl="0" indent="-342900">
              <a:buFont typeface="+mj-lt"/>
              <a:buAutoNum type="arabicPeriod"/>
              <a:defRPr/>
            </a:pPr>
            <a:endParaRPr lang="en-US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11/11/2025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2F211972-A5F6-4C5A-812C-358509A8F2F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EEC5F849-3D6F-4317-9095-D7FC4779F1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 /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1359</TotalTime>
  <Words>654</Words>
  <Application>Microsoft Office PowerPoint</Application>
  <PresentationFormat>Widescreen</PresentationFormat>
  <Paragraphs>212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</vt:lpstr>
      <vt:lpstr>Benutzerdefiniertes Design</vt:lpstr>
      <vt:lpstr>PowerPoint Presentation</vt:lpstr>
      <vt:lpstr>PowerPoint Presentation</vt:lpstr>
      <vt:lpstr>Agenda</vt:lpstr>
      <vt:lpstr>240/1600 CAF/W33   Spherical roller bearing CAD Scaled Model  </vt:lpstr>
      <vt:lpstr>PowerPoint Presentation</vt:lpstr>
      <vt:lpstr> Bolted Flange Calculation </vt:lpstr>
      <vt:lpstr>PowerPoint Presentation</vt:lpstr>
      <vt:lpstr>PowerPoint Presentation</vt:lpstr>
      <vt:lpstr>Hydraulic Torqure wrench for M39 bolts</vt:lpstr>
      <vt:lpstr>Torque calculation</vt:lpstr>
      <vt:lpstr>Bibliography – Rotor Bearing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Divyesh Satishkumar Mistry</cp:lastModifiedBy>
  <cp:revision>40</cp:revision>
  <dcterms:created xsi:type="dcterms:W3CDTF">2025-10-24T16:53:52Z</dcterms:created>
  <dcterms:modified xsi:type="dcterms:W3CDTF">2025-11-10T09:43:22Z</dcterms:modified>
</cp:coreProperties>
</file>