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26"/>
  </p:notesMasterIdLst>
  <p:handoutMasterIdLst>
    <p:handoutMasterId r:id="rId27"/>
  </p:handoutMasterIdLst>
  <p:sldIdLst>
    <p:sldId id="263" r:id="rId3"/>
    <p:sldId id="265" r:id="rId4"/>
    <p:sldId id="271" r:id="rId5"/>
    <p:sldId id="273" r:id="rId6"/>
    <p:sldId id="279" r:id="rId7"/>
    <p:sldId id="292" r:id="rId8"/>
    <p:sldId id="295" r:id="rId9"/>
    <p:sldId id="294" r:id="rId10"/>
    <p:sldId id="296" r:id="rId11"/>
    <p:sldId id="293" r:id="rId12"/>
    <p:sldId id="298" r:id="rId13"/>
    <p:sldId id="297" r:id="rId14"/>
    <p:sldId id="299" r:id="rId15"/>
    <p:sldId id="300" r:id="rId16"/>
    <p:sldId id="301" r:id="rId17"/>
    <p:sldId id="302" r:id="rId18"/>
    <p:sldId id="303" r:id="rId19"/>
    <p:sldId id="304" r:id="rId20"/>
    <p:sldId id="306" r:id="rId21"/>
    <p:sldId id="305" r:id="rId22"/>
    <p:sldId id="307" r:id="rId23"/>
    <p:sldId id="291" r:id="rId24"/>
    <p:sldId id="267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 slide" id="{EBA04D78-D1FF-49F4-BDD6-03EE135E606E}">
          <p14:sldIdLst>
            <p14:sldId id="263"/>
          </p14:sldIdLst>
        </p14:section>
        <p14:section name="List of contents" id="{65043596-36B7-4360-BB5C-7A99EFAEC5C9}">
          <p14:sldIdLst>
            <p14:sldId id="265"/>
            <p14:sldId id="271"/>
            <p14:sldId id="273"/>
            <p14:sldId id="279"/>
            <p14:sldId id="292"/>
            <p14:sldId id="295"/>
            <p14:sldId id="294"/>
            <p14:sldId id="296"/>
            <p14:sldId id="293"/>
            <p14:sldId id="298"/>
            <p14:sldId id="297"/>
            <p14:sldId id="299"/>
            <p14:sldId id="300"/>
            <p14:sldId id="301"/>
            <p14:sldId id="302"/>
            <p14:sldId id="303"/>
            <p14:sldId id="304"/>
            <p14:sldId id="306"/>
            <p14:sldId id="305"/>
            <p14:sldId id="307"/>
            <p14:sldId id="291"/>
          </p14:sldIdLst>
        </p14:section>
        <p14:section name="bibliography" id="{2ECB0A3B-7D16-4F98-AD6A-5308DF7BF078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E8BA"/>
    <a:srgbClr val="FFFF99"/>
    <a:srgbClr val="FFFFFF"/>
    <a:srgbClr val="8ECEFA"/>
    <a:srgbClr val="92C6E6"/>
    <a:srgbClr val="80D2F7"/>
    <a:srgbClr val="7ED1F7"/>
    <a:srgbClr val="A1DFFD"/>
    <a:srgbClr val="C0F5FF"/>
    <a:srgbClr val="3C96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99" d="100"/>
          <a:sy n="99" d="100"/>
        </p:scale>
        <p:origin x="82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2D8C433-C475-4CAE-857E-235FA63F02E5}" type="doc">
      <dgm:prSet loTypeId="urn:microsoft.com/office/officeart/2005/8/layout/cycle1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95EDC888-0AC6-4440-8BCB-CE203CA04D59}">
      <dgm:prSet phldrT="[Text]" phldr="0" custT="1"/>
      <dgm:spPr/>
      <dgm:t>
        <a:bodyPr/>
        <a:lstStyle/>
        <a:p>
          <a:r>
            <a:rPr lang="en-IN" sz="2200" dirty="0"/>
            <a:t>Material Selection</a:t>
          </a:r>
        </a:p>
      </dgm:t>
    </dgm:pt>
    <dgm:pt modelId="{05C3DC7F-E211-46A3-ABC8-DD0CC358F30A}" type="parTrans" cxnId="{F0F0E40F-DD78-4681-8592-4EBA75A618EC}">
      <dgm:prSet/>
      <dgm:spPr/>
      <dgm:t>
        <a:bodyPr/>
        <a:lstStyle/>
        <a:p>
          <a:endParaRPr lang="en-IN"/>
        </a:p>
      </dgm:t>
    </dgm:pt>
    <dgm:pt modelId="{9E7202D7-A6F8-4BB7-925A-F6A90BECD12E}" type="sibTrans" cxnId="{F0F0E40F-DD78-4681-8592-4EBA75A618EC}">
      <dgm:prSet/>
      <dgm:spPr/>
      <dgm:t>
        <a:bodyPr/>
        <a:lstStyle/>
        <a:p>
          <a:endParaRPr lang="en-IN"/>
        </a:p>
      </dgm:t>
    </dgm:pt>
    <dgm:pt modelId="{1EC7AFF7-044A-4B8E-B350-38C2955F513F}">
      <dgm:prSet phldrT="[Text]" phldr="0" custT="1"/>
      <dgm:spPr/>
      <dgm:t>
        <a:bodyPr/>
        <a:lstStyle/>
        <a:p>
          <a:pPr algn="ctr"/>
          <a:r>
            <a:rPr lang="en-IN" sz="2200" dirty="0"/>
            <a:t>Spar Cap &amp; Shear Web Thickness</a:t>
          </a:r>
        </a:p>
      </dgm:t>
    </dgm:pt>
    <dgm:pt modelId="{A617D354-1937-43B0-994E-6C318DB71808}" type="parTrans" cxnId="{884BD687-CF7E-401F-94FA-637F114C0EDC}">
      <dgm:prSet/>
      <dgm:spPr/>
      <dgm:t>
        <a:bodyPr/>
        <a:lstStyle/>
        <a:p>
          <a:endParaRPr lang="en-IN"/>
        </a:p>
      </dgm:t>
    </dgm:pt>
    <dgm:pt modelId="{C6E2288E-5E22-4E9F-BF1D-6DCB61A2E552}" type="sibTrans" cxnId="{884BD687-CF7E-401F-94FA-637F114C0EDC}">
      <dgm:prSet/>
      <dgm:spPr/>
      <dgm:t>
        <a:bodyPr/>
        <a:lstStyle/>
        <a:p>
          <a:endParaRPr lang="en-IN"/>
        </a:p>
      </dgm:t>
    </dgm:pt>
    <dgm:pt modelId="{16D901E8-5821-499B-983C-72D01CA26945}">
      <dgm:prSet phldrT="[Text]" phldr="0" custT="1"/>
      <dgm:spPr/>
      <dgm:t>
        <a:bodyPr/>
        <a:lstStyle/>
        <a:p>
          <a:r>
            <a:rPr lang="en-IN" sz="2200" dirty="0"/>
            <a:t>Develop Blade Model in NuMAD</a:t>
          </a:r>
        </a:p>
      </dgm:t>
    </dgm:pt>
    <dgm:pt modelId="{1454D822-2F5A-4873-A4BB-547B11BA68BC}" type="parTrans" cxnId="{82C81FE9-39D9-4090-A6AC-6A4BE941E2FA}">
      <dgm:prSet/>
      <dgm:spPr/>
      <dgm:t>
        <a:bodyPr/>
        <a:lstStyle/>
        <a:p>
          <a:endParaRPr lang="en-IN"/>
        </a:p>
      </dgm:t>
    </dgm:pt>
    <dgm:pt modelId="{DB965494-3459-43C6-8BCA-8CDFF9DFF345}" type="sibTrans" cxnId="{82C81FE9-39D9-4090-A6AC-6A4BE941E2FA}">
      <dgm:prSet/>
      <dgm:spPr/>
      <dgm:t>
        <a:bodyPr/>
        <a:lstStyle/>
        <a:p>
          <a:endParaRPr lang="en-IN"/>
        </a:p>
      </dgm:t>
    </dgm:pt>
    <dgm:pt modelId="{579A2979-9CDE-47A7-8B59-0F564B7A06B5}">
      <dgm:prSet phldrT="[Text]" phldr="0" custT="1"/>
      <dgm:spPr/>
      <dgm:t>
        <a:bodyPr/>
        <a:lstStyle/>
        <a:p>
          <a:r>
            <a:rPr lang="en-IN" sz="2200" dirty="0"/>
            <a:t>Analysis with </a:t>
          </a:r>
          <a:r>
            <a:rPr lang="en-IN" sz="2200" dirty="0" err="1"/>
            <a:t>Precomp</a:t>
          </a:r>
          <a:endParaRPr lang="en-IN" sz="2200" dirty="0"/>
        </a:p>
      </dgm:t>
    </dgm:pt>
    <dgm:pt modelId="{6877F7AE-3C9F-4F27-B645-AD016ED628E9}" type="parTrans" cxnId="{842A9F3B-3881-452E-874B-6E547AA0BEF0}">
      <dgm:prSet/>
      <dgm:spPr/>
      <dgm:t>
        <a:bodyPr/>
        <a:lstStyle/>
        <a:p>
          <a:endParaRPr lang="en-IN"/>
        </a:p>
      </dgm:t>
    </dgm:pt>
    <dgm:pt modelId="{52CA155E-3888-421A-A1D7-B45330EEA4CF}" type="sibTrans" cxnId="{842A9F3B-3881-452E-874B-6E547AA0BEF0}">
      <dgm:prSet/>
      <dgm:spPr/>
      <dgm:t>
        <a:bodyPr/>
        <a:lstStyle/>
        <a:p>
          <a:endParaRPr lang="en-IN"/>
        </a:p>
      </dgm:t>
    </dgm:pt>
    <dgm:pt modelId="{74AAE3EF-E540-4851-92E1-99128A786899}">
      <dgm:prSet phldrT="[Text]" phldr="0" custT="1"/>
      <dgm:spPr/>
      <dgm:t>
        <a:bodyPr/>
        <a:lstStyle/>
        <a:p>
          <a:pPr algn="ctr"/>
          <a:r>
            <a:rPr lang="en-IN" sz="2200" dirty="0"/>
            <a:t>Iterate and refine the design</a:t>
          </a:r>
        </a:p>
      </dgm:t>
    </dgm:pt>
    <dgm:pt modelId="{80A6C48A-5CA0-48EA-9902-D0C919ABE115}" type="parTrans" cxnId="{907F8907-258E-401A-8B40-CEA5FAC0F1D7}">
      <dgm:prSet/>
      <dgm:spPr/>
      <dgm:t>
        <a:bodyPr/>
        <a:lstStyle/>
        <a:p>
          <a:endParaRPr lang="en-IN"/>
        </a:p>
      </dgm:t>
    </dgm:pt>
    <dgm:pt modelId="{0B725438-B610-48DF-A6B0-0AB5357C58FC}" type="sibTrans" cxnId="{907F8907-258E-401A-8B40-CEA5FAC0F1D7}">
      <dgm:prSet/>
      <dgm:spPr/>
      <dgm:t>
        <a:bodyPr/>
        <a:lstStyle/>
        <a:p>
          <a:endParaRPr lang="en-IN"/>
        </a:p>
      </dgm:t>
    </dgm:pt>
    <dgm:pt modelId="{41FF7046-D613-4BC0-9473-F6143AE9776B}" type="pres">
      <dgm:prSet presAssocID="{12D8C433-C475-4CAE-857E-235FA63F02E5}" presName="cycle" presStyleCnt="0">
        <dgm:presLayoutVars>
          <dgm:dir/>
          <dgm:resizeHandles val="exact"/>
        </dgm:presLayoutVars>
      </dgm:prSet>
      <dgm:spPr/>
    </dgm:pt>
    <dgm:pt modelId="{00AAE12E-C923-4A3F-AEB2-37B45A1D520A}" type="pres">
      <dgm:prSet presAssocID="{95EDC888-0AC6-4440-8BCB-CE203CA04D59}" presName="dummy" presStyleCnt="0"/>
      <dgm:spPr/>
    </dgm:pt>
    <dgm:pt modelId="{83D6056C-7599-43BC-9C77-89AEB34730A1}" type="pres">
      <dgm:prSet presAssocID="{95EDC888-0AC6-4440-8BCB-CE203CA04D59}" presName="node" presStyleLbl="revTx" presStyleIdx="0" presStyleCnt="5">
        <dgm:presLayoutVars>
          <dgm:bulletEnabled val="1"/>
        </dgm:presLayoutVars>
      </dgm:prSet>
      <dgm:spPr/>
    </dgm:pt>
    <dgm:pt modelId="{2AD242C6-6964-4581-AE15-6A839E8239EB}" type="pres">
      <dgm:prSet presAssocID="{9E7202D7-A6F8-4BB7-925A-F6A90BECD12E}" presName="sibTrans" presStyleLbl="node1" presStyleIdx="0" presStyleCnt="5"/>
      <dgm:spPr/>
    </dgm:pt>
    <dgm:pt modelId="{7DB94917-508B-4FE4-84F4-CBC08FFF2D06}" type="pres">
      <dgm:prSet presAssocID="{1EC7AFF7-044A-4B8E-B350-38C2955F513F}" presName="dummy" presStyleCnt="0"/>
      <dgm:spPr/>
    </dgm:pt>
    <dgm:pt modelId="{E97C15F2-C18C-47C8-835E-A6FADC7FA2EA}" type="pres">
      <dgm:prSet presAssocID="{1EC7AFF7-044A-4B8E-B350-38C2955F513F}" presName="node" presStyleLbl="revTx" presStyleIdx="1" presStyleCnt="5">
        <dgm:presLayoutVars>
          <dgm:bulletEnabled val="1"/>
        </dgm:presLayoutVars>
      </dgm:prSet>
      <dgm:spPr/>
    </dgm:pt>
    <dgm:pt modelId="{1AFB9D6C-7D47-460E-BDFC-4418A541A1B5}" type="pres">
      <dgm:prSet presAssocID="{C6E2288E-5E22-4E9F-BF1D-6DCB61A2E552}" presName="sibTrans" presStyleLbl="node1" presStyleIdx="1" presStyleCnt="5"/>
      <dgm:spPr/>
    </dgm:pt>
    <dgm:pt modelId="{852ACD22-DF07-499B-9725-61A8628E3483}" type="pres">
      <dgm:prSet presAssocID="{16D901E8-5821-499B-983C-72D01CA26945}" presName="dummy" presStyleCnt="0"/>
      <dgm:spPr/>
    </dgm:pt>
    <dgm:pt modelId="{DC24DCBE-1143-4790-85BE-1B7E16E0D405}" type="pres">
      <dgm:prSet presAssocID="{16D901E8-5821-499B-983C-72D01CA26945}" presName="node" presStyleLbl="revTx" presStyleIdx="2" presStyleCnt="5">
        <dgm:presLayoutVars>
          <dgm:bulletEnabled val="1"/>
        </dgm:presLayoutVars>
      </dgm:prSet>
      <dgm:spPr/>
    </dgm:pt>
    <dgm:pt modelId="{9F97DBFB-599F-4A7E-8AA3-3C309AB8AAA4}" type="pres">
      <dgm:prSet presAssocID="{DB965494-3459-43C6-8BCA-8CDFF9DFF345}" presName="sibTrans" presStyleLbl="node1" presStyleIdx="2" presStyleCnt="5"/>
      <dgm:spPr/>
    </dgm:pt>
    <dgm:pt modelId="{4A40E4B9-6B00-41DD-92B1-5A14DA6CD39C}" type="pres">
      <dgm:prSet presAssocID="{579A2979-9CDE-47A7-8B59-0F564B7A06B5}" presName="dummy" presStyleCnt="0"/>
      <dgm:spPr/>
    </dgm:pt>
    <dgm:pt modelId="{1F60DC91-6B2B-449D-857C-E3A9ED3D8E27}" type="pres">
      <dgm:prSet presAssocID="{579A2979-9CDE-47A7-8B59-0F564B7A06B5}" presName="node" presStyleLbl="revTx" presStyleIdx="3" presStyleCnt="5">
        <dgm:presLayoutVars>
          <dgm:bulletEnabled val="1"/>
        </dgm:presLayoutVars>
      </dgm:prSet>
      <dgm:spPr/>
    </dgm:pt>
    <dgm:pt modelId="{516F6495-2FC6-4AAF-913C-103933B960CB}" type="pres">
      <dgm:prSet presAssocID="{52CA155E-3888-421A-A1D7-B45330EEA4CF}" presName="sibTrans" presStyleLbl="node1" presStyleIdx="3" presStyleCnt="5"/>
      <dgm:spPr/>
    </dgm:pt>
    <dgm:pt modelId="{E612AE7C-C525-4F8C-A696-13ACF16DBD1F}" type="pres">
      <dgm:prSet presAssocID="{74AAE3EF-E540-4851-92E1-99128A786899}" presName="dummy" presStyleCnt="0"/>
      <dgm:spPr/>
    </dgm:pt>
    <dgm:pt modelId="{3E92B128-F4C3-4CD7-A872-691C00A20922}" type="pres">
      <dgm:prSet presAssocID="{74AAE3EF-E540-4851-92E1-99128A786899}" presName="node" presStyleLbl="revTx" presStyleIdx="4" presStyleCnt="5">
        <dgm:presLayoutVars>
          <dgm:bulletEnabled val="1"/>
        </dgm:presLayoutVars>
      </dgm:prSet>
      <dgm:spPr/>
    </dgm:pt>
    <dgm:pt modelId="{85136A0B-269C-46F3-AA6A-8558614214FC}" type="pres">
      <dgm:prSet presAssocID="{0B725438-B610-48DF-A6B0-0AB5357C58FC}" presName="sibTrans" presStyleLbl="node1" presStyleIdx="4" presStyleCnt="5"/>
      <dgm:spPr/>
    </dgm:pt>
  </dgm:ptLst>
  <dgm:cxnLst>
    <dgm:cxn modelId="{907F8907-258E-401A-8B40-CEA5FAC0F1D7}" srcId="{12D8C433-C475-4CAE-857E-235FA63F02E5}" destId="{74AAE3EF-E540-4851-92E1-99128A786899}" srcOrd="4" destOrd="0" parTransId="{80A6C48A-5CA0-48EA-9902-D0C919ABE115}" sibTransId="{0B725438-B610-48DF-A6B0-0AB5357C58FC}"/>
    <dgm:cxn modelId="{F0F0E40F-DD78-4681-8592-4EBA75A618EC}" srcId="{12D8C433-C475-4CAE-857E-235FA63F02E5}" destId="{95EDC888-0AC6-4440-8BCB-CE203CA04D59}" srcOrd="0" destOrd="0" parTransId="{05C3DC7F-E211-46A3-ABC8-DD0CC358F30A}" sibTransId="{9E7202D7-A6F8-4BB7-925A-F6A90BECD12E}"/>
    <dgm:cxn modelId="{93471F14-B4C2-4139-AA0E-7F68DDDF8046}" type="presOf" srcId="{52CA155E-3888-421A-A1D7-B45330EEA4CF}" destId="{516F6495-2FC6-4AAF-913C-103933B960CB}" srcOrd="0" destOrd="0" presId="urn:microsoft.com/office/officeart/2005/8/layout/cycle1"/>
    <dgm:cxn modelId="{F0738B1F-C007-435C-AE3A-1E50E05EF206}" type="presOf" srcId="{9E7202D7-A6F8-4BB7-925A-F6A90BECD12E}" destId="{2AD242C6-6964-4581-AE15-6A839E8239EB}" srcOrd="0" destOrd="0" presId="urn:microsoft.com/office/officeart/2005/8/layout/cycle1"/>
    <dgm:cxn modelId="{9FEC7626-EBD0-4361-84B4-21F5327863FF}" type="presOf" srcId="{12D8C433-C475-4CAE-857E-235FA63F02E5}" destId="{41FF7046-D613-4BC0-9473-F6143AE9776B}" srcOrd="0" destOrd="0" presId="urn:microsoft.com/office/officeart/2005/8/layout/cycle1"/>
    <dgm:cxn modelId="{DCA83236-4FE0-44BD-8110-349637773A77}" type="presOf" srcId="{DB965494-3459-43C6-8BCA-8CDFF9DFF345}" destId="{9F97DBFB-599F-4A7E-8AA3-3C309AB8AAA4}" srcOrd="0" destOrd="0" presId="urn:microsoft.com/office/officeart/2005/8/layout/cycle1"/>
    <dgm:cxn modelId="{842A9F3B-3881-452E-874B-6E547AA0BEF0}" srcId="{12D8C433-C475-4CAE-857E-235FA63F02E5}" destId="{579A2979-9CDE-47A7-8B59-0F564B7A06B5}" srcOrd="3" destOrd="0" parTransId="{6877F7AE-3C9F-4F27-B645-AD016ED628E9}" sibTransId="{52CA155E-3888-421A-A1D7-B45330EEA4CF}"/>
    <dgm:cxn modelId="{CC9C7662-FFBB-4725-909A-75CD74C5BD31}" type="presOf" srcId="{74AAE3EF-E540-4851-92E1-99128A786899}" destId="{3E92B128-F4C3-4CD7-A872-691C00A20922}" srcOrd="0" destOrd="0" presId="urn:microsoft.com/office/officeart/2005/8/layout/cycle1"/>
    <dgm:cxn modelId="{D3D51A6A-6B32-44D2-9514-EBE3A4C06993}" type="presOf" srcId="{0B725438-B610-48DF-A6B0-0AB5357C58FC}" destId="{85136A0B-269C-46F3-AA6A-8558614214FC}" srcOrd="0" destOrd="0" presId="urn:microsoft.com/office/officeart/2005/8/layout/cycle1"/>
    <dgm:cxn modelId="{884BD687-CF7E-401F-94FA-637F114C0EDC}" srcId="{12D8C433-C475-4CAE-857E-235FA63F02E5}" destId="{1EC7AFF7-044A-4B8E-B350-38C2955F513F}" srcOrd="1" destOrd="0" parTransId="{A617D354-1937-43B0-994E-6C318DB71808}" sibTransId="{C6E2288E-5E22-4E9F-BF1D-6DCB61A2E552}"/>
    <dgm:cxn modelId="{C843099C-3FCB-4B5B-9CE5-A45266F2F9F4}" type="presOf" srcId="{C6E2288E-5E22-4E9F-BF1D-6DCB61A2E552}" destId="{1AFB9D6C-7D47-460E-BDFC-4418A541A1B5}" srcOrd="0" destOrd="0" presId="urn:microsoft.com/office/officeart/2005/8/layout/cycle1"/>
    <dgm:cxn modelId="{5B2AE29E-07AD-45F8-B094-583FE451B736}" type="presOf" srcId="{16D901E8-5821-499B-983C-72D01CA26945}" destId="{DC24DCBE-1143-4790-85BE-1B7E16E0D405}" srcOrd="0" destOrd="0" presId="urn:microsoft.com/office/officeart/2005/8/layout/cycle1"/>
    <dgm:cxn modelId="{E1ED94BD-4978-47D0-A65D-34A37A65F97E}" type="presOf" srcId="{1EC7AFF7-044A-4B8E-B350-38C2955F513F}" destId="{E97C15F2-C18C-47C8-835E-A6FADC7FA2EA}" srcOrd="0" destOrd="0" presId="urn:microsoft.com/office/officeart/2005/8/layout/cycle1"/>
    <dgm:cxn modelId="{0D0DD9DD-1255-4EBC-AA4C-A3392109C5CC}" type="presOf" srcId="{579A2979-9CDE-47A7-8B59-0F564B7A06B5}" destId="{1F60DC91-6B2B-449D-857C-E3A9ED3D8E27}" srcOrd="0" destOrd="0" presId="urn:microsoft.com/office/officeart/2005/8/layout/cycle1"/>
    <dgm:cxn modelId="{82C81FE9-39D9-4090-A6AC-6A4BE941E2FA}" srcId="{12D8C433-C475-4CAE-857E-235FA63F02E5}" destId="{16D901E8-5821-499B-983C-72D01CA26945}" srcOrd="2" destOrd="0" parTransId="{1454D822-2F5A-4873-A4BB-547B11BA68BC}" sibTransId="{DB965494-3459-43C6-8BCA-8CDFF9DFF345}"/>
    <dgm:cxn modelId="{C0B79AF9-B0D7-43B2-86A7-1B09B3B66D91}" type="presOf" srcId="{95EDC888-0AC6-4440-8BCB-CE203CA04D59}" destId="{83D6056C-7599-43BC-9C77-89AEB34730A1}" srcOrd="0" destOrd="0" presId="urn:microsoft.com/office/officeart/2005/8/layout/cycle1"/>
    <dgm:cxn modelId="{2050E62E-6A2C-4FCD-8902-861A27F767B7}" type="presParOf" srcId="{41FF7046-D613-4BC0-9473-F6143AE9776B}" destId="{00AAE12E-C923-4A3F-AEB2-37B45A1D520A}" srcOrd="0" destOrd="0" presId="urn:microsoft.com/office/officeart/2005/8/layout/cycle1"/>
    <dgm:cxn modelId="{B6B07990-4A08-4A55-8753-BC62B8886FB7}" type="presParOf" srcId="{41FF7046-D613-4BC0-9473-F6143AE9776B}" destId="{83D6056C-7599-43BC-9C77-89AEB34730A1}" srcOrd="1" destOrd="0" presId="urn:microsoft.com/office/officeart/2005/8/layout/cycle1"/>
    <dgm:cxn modelId="{EE6FEAF4-A07D-45D5-8341-CCD4914E0C13}" type="presParOf" srcId="{41FF7046-D613-4BC0-9473-F6143AE9776B}" destId="{2AD242C6-6964-4581-AE15-6A839E8239EB}" srcOrd="2" destOrd="0" presId="urn:microsoft.com/office/officeart/2005/8/layout/cycle1"/>
    <dgm:cxn modelId="{F53E59E1-5DA7-4AD9-8853-CBCDCBC79723}" type="presParOf" srcId="{41FF7046-D613-4BC0-9473-F6143AE9776B}" destId="{7DB94917-508B-4FE4-84F4-CBC08FFF2D06}" srcOrd="3" destOrd="0" presId="urn:microsoft.com/office/officeart/2005/8/layout/cycle1"/>
    <dgm:cxn modelId="{0FF60897-C3A5-41A5-9C86-5F868B1A9EED}" type="presParOf" srcId="{41FF7046-D613-4BC0-9473-F6143AE9776B}" destId="{E97C15F2-C18C-47C8-835E-A6FADC7FA2EA}" srcOrd="4" destOrd="0" presId="urn:microsoft.com/office/officeart/2005/8/layout/cycle1"/>
    <dgm:cxn modelId="{B70AF61B-D47D-4BE3-82FA-46B09E68E110}" type="presParOf" srcId="{41FF7046-D613-4BC0-9473-F6143AE9776B}" destId="{1AFB9D6C-7D47-460E-BDFC-4418A541A1B5}" srcOrd="5" destOrd="0" presId="urn:microsoft.com/office/officeart/2005/8/layout/cycle1"/>
    <dgm:cxn modelId="{BE009FDA-0727-49D6-AC0A-0C484CA1B452}" type="presParOf" srcId="{41FF7046-D613-4BC0-9473-F6143AE9776B}" destId="{852ACD22-DF07-499B-9725-61A8628E3483}" srcOrd="6" destOrd="0" presId="urn:microsoft.com/office/officeart/2005/8/layout/cycle1"/>
    <dgm:cxn modelId="{FB6A092D-EFE1-44C3-833A-A6F7B5C019FC}" type="presParOf" srcId="{41FF7046-D613-4BC0-9473-F6143AE9776B}" destId="{DC24DCBE-1143-4790-85BE-1B7E16E0D405}" srcOrd="7" destOrd="0" presId="urn:microsoft.com/office/officeart/2005/8/layout/cycle1"/>
    <dgm:cxn modelId="{918CA22B-8CAA-4E98-ACB2-A98268F28324}" type="presParOf" srcId="{41FF7046-D613-4BC0-9473-F6143AE9776B}" destId="{9F97DBFB-599F-4A7E-8AA3-3C309AB8AAA4}" srcOrd="8" destOrd="0" presId="urn:microsoft.com/office/officeart/2005/8/layout/cycle1"/>
    <dgm:cxn modelId="{26AA8C3C-FDC1-45DF-8D9D-C9139264D409}" type="presParOf" srcId="{41FF7046-D613-4BC0-9473-F6143AE9776B}" destId="{4A40E4B9-6B00-41DD-92B1-5A14DA6CD39C}" srcOrd="9" destOrd="0" presId="urn:microsoft.com/office/officeart/2005/8/layout/cycle1"/>
    <dgm:cxn modelId="{E0A6A5E8-865C-423C-AF5B-705C0F262AA5}" type="presParOf" srcId="{41FF7046-D613-4BC0-9473-F6143AE9776B}" destId="{1F60DC91-6B2B-449D-857C-E3A9ED3D8E27}" srcOrd="10" destOrd="0" presId="urn:microsoft.com/office/officeart/2005/8/layout/cycle1"/>
    <dgm:cxn modelId="{067A8251-3DFB-48D5-A2DD-94662E8483A8}" type="presParOf" srcId="{41FF7046-D613-4BC0-9473-F6143AE9776B}" destId="{516F6495-2FC6-4AAF-913C-103933B960CB}" srcOrd="11" destOrd="0" presId="urn:microsoft.com/office/officeart/2005/8/layout/cycle1"/>
    <dgm:cxn modelId="{0F41FB51-A1A4-4922-8EBC-5C283DB68F8E}" type="presParOf" srcId="{41FF7046-D613-4BC0-9473-F6143AE9776B}" destId="{E612AE7C-C525-4F8C-A696-13ACF16DBD1F}" srcOrd="12" destOrd="0" presId="urn:microsoft.com/office/officeart/2005/8/layout/cycle1"/>
    <dgm:cxn modelId="{3EE67BD1-A9EE-42AB-9F2B-F6EC30DB863D}" type="presParOf" srcId="{41FF7046-D613-4BC0-9473-F6143AE9776B}" destId="{3E92B128-F4C3-4CD7-A872-691C00A20922}" srcOrd="13" destOrd="0" presId="urn:microsoft.com/office/officeart/2005/8/layout/cycle1"/>
    <dgm:cxn modelId="{5B0516B6-8994-40E2-A798-B791EAD0BA67}" type="presParOf" srcId="{41FF7046-D613-4BC0-9473-F6143AE9776B}" destId="{85136A0B-269C-46F3-AA6A-8558614214FC}" srcOrd="14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D6056C-7599-43BC-9C77-89AEB34730A1}">
      <dsp:nvSpPr>
        <dsp:cNvPr id="0" name=""/>
        <dsp:cNvSpPr/>
      </dsp:nvSpPr>
      <dsp:spPr>
        <a:xfrm>
          <a:off x="4897728" y="37763"/>
          <a:ext cx="1282271" cy="1282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Material Selection</a:t>
          </a:r>
        </a:p>
      </dsp:txBody>
      <dsp:txXfrm>
        <a:off x="4897728" y="37763"/>
        <a:ext cx="1282271" cy="1282271"/>
      </dsp:txXfrm>
    </dsp:sp>
    <dsp:sp modelId="{2AD242C6-6964-4581-AE15-6A839E8239EB}">
      <dsp:nvSpPr>
        <dsp:cNvPr id="0" name=""/>
        <dsp:cNvSpPr/>
      </dsp:nvSpPr>
      <dsp:spPr>
        <a:xfrm>
          <a:off x="1878218" y="289"/>
          <a:ext cx="4811563" cy="4811563"/>
        </a:xfrm>
        <a:prstGeom prst="circularArrow">
          <a:avLst>
            <a:gd name="adj1" fmla="val 5197"/>
            <a:gd name="adj2" fmla="val 335662"/>
            <a:gd name="adj3" fmla="val 21294266"/>
            <a:gd name="adj4" fmla="val 19765342"/>
            <a:gd name="adj5" fmla="val 6063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7C15F2-C18C-47C8-835E-A6FADC7FA2EA}">
      <dsp:nvSpPr>
        <dsp:cNvPr id="0" name=""/>
        <dsp:cNvSpPr/>
      </dsp:nvSpPr>
      <dsp:spPr>
        <a:xfrm>
          <a:off x="5673276" y="2424655"/>
          <a:ext cx="1282271" cy="1282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Spar Cap &amp; Shear Web Thickness</a:t>
          </a:r>
        </a:p>
      </dsp:txBody>
      <dsp:txXfrm>
        <a:off x="5673276" y="2424655"/>
        <a:ext cx="1282271" cy="1282271"/>
      </dsp:txXfrm>
    </dsp:sp>
    <dsp:sp modelId="{1AFB9D6C-7D47-460E-BDFC-4418A541A1B5}">
      <dsp:nvSpPr>
        <dsp:cNvPr id="0" name=""/>
        <dsp:cNvSpPr/>
      </dsp:nvSpPr>
      <dsp:spPr>
        <a:xfrm>
          <a:off x="1878218" y="289"/>
          <a:ext cx="4811563" cy="4811563"/>
        </a:xfrm>
        <a:prstGeom prst="circularArrow">
          <a:avLst>
            <a:gd name="adj1" fmla="val 5197"/>
            <a:gd name="adj2" fmla="val 335662"/>
            <a:gd name="adj3" fmla="val 4015759"/>
            <a:gd name="adj4" fmla="val 2252458"/>
            <a:gd name="adj5" fmla="val 6063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24DCBE-1143-4790-85BE-1B7E16E0D405}">
      <dsp:nvSpPr>
        <dsp:cNvPr id="0" name=""/>
        <dsp:cNvSpPr/>
      </dsp:nvSpPr>
      <dsp:spPr>
        <a:xfrm>
          <a:off x="3642864" y="3899836"/>
          <a:ext cx="1282271" cy="1282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Develop Blade Model in NuMAD</a:t>
          </a:r>
        </a:p>
      </dsp:txBody>
      <dsp:txXfrm>
        <a:off x="3642864" y="3899836"/>
        <a:ext cx="1282271" cy="1282271"/>
      </dsp:txXfrm>
    </dsp:sp>
    <dsp:sp modelId="{9F97DBFB-599F-4A7E-8AA3-3C309AB8AAA4}">
      <dsp:nvSpPr>
        <dsp:cNvPr id="0" name=""/>
        <dsp:cNvSpPr/>
      </dsp:nvSpPr>
      <dsp:spPr>
        <a:xfrm>
          <a:off x="1878218" y="289"/>
          <a:ext cx="4811563" cy="4811563"/>
        </a:xfrm>
        <a:prstGeom prst="circularArrow">
          <a:avLst>
            <a:gd name="adj1" fmla="val 5197"/>
            <a:gd name="adj2" fmla="val 335662"/>
            <a:gd name="adj3" fmla="val 8211880"/>
            <a:gd name="adj4" fmla="val 6448579"/>
            <a:gd name="adj5" fmla="val 6063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60DC91-6B2B-449D-857C-E3A9ED3D8E27}">
      <dsp:nvSpPr>
        <dsp:cNvPr id="0" name=""/>
        <dsp:cNvSpPr/>
      </dsp:nvSpPr>
      <dsp:spPr>
        <a:xfrm>
          <a:off x="1612452" y="2424655"/>
          <a:ext cx="1282271" cy="1282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Analysis with </a:t>
          </a:r>
          <a:r>
            <a:rPr lang="en-IN" sz="2200" kern="1200" dirty="0" err="1"/>
            <a:t>Precomp</a:t>
          </a:r>
          <a:endParaRPr lang="en-IN" sz="2200" kern="1200" dirty="0"/>
        </a:p>
      </dsp:txBody>
      <dsp:txXfrm>
        <a:off x="1612452" y="2424655"/>
        <a:ext cx="1282271" cy="1282271"/>
      </dsp:txXfrm>
    </dsp:sp>
    <dsp:sp modelId="{516F6495-2FC6-4AAF-913C-103933B960CB}">
      <dsp:nvSpPr>
        <dsp:cNvPr id="0" name=""/>
        <dsp:cNvSpPr/>
      </dsp:nvSpPr>
      <dsp:spPr>
        <a:xfrm>
          <a:off x="1878218" y="289"/>
          <a:ext cx="4811563" cy="4811563"/>
        </a:xfrm>
        <a:prstGeom prst="circularArrow">
          <a:avLst>
            <a:gd name="adj1" fmla="val 5197"/>
            <a:gd name="adj2" fmla="val 335662"/>
            <a:gd name="adj3" fmla="val 12298996"/>
            <a:gd name="adj4" fmla="val 10770073"/>
            <a:gd name="adj5" fmla="val 6063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92B128-F4C3-4CD7-A872-691C00A20922}">
      <dsp:nvSpPr>
        <dsp:cNvPr id="0" name=""/>
        <dsp:cNvSpPr/>
      </dsp:nvSpPr>
      <dsp:spPr>
        <a:xfrm>
          <a:off x="2388000" y="37763"/>
          <a:ext cx="1282271" cy="1282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Iterate and refine the design</a:t>
          </a:r>
        </a:p>
      </dsp:txBody>
      <dsp:txXfrm>
        <a:off x="2388000" y="37763"/>
        <a:ext cx="1282271" cy="1282271"/>
      </dsp:txXfrm>
    </dsp:sp>
    <dsp:sp modelId="{85136A0B-269C-46F3-AA6A-8558614214FC}">
      <dsp:nvSpPr>
        <dsp:cNvPr id="0" name=""/>
        <dsp:cNvSpPr/>
      </dsp:nvSpPr>
      <dsp:spPr>
        <a:xfrm>
          <a:off x="1878218" y="289"/>
          <a:ext cx="4811563" cy="4811563"/>
        </a:xfrm>
        <a:prstGeom prst="circularArrow">
          <a:avLst>
            <a:gd name="adj1" fmla="val 5197"/>
            <a:gd name="adj2" fmla="val 335662"/>
            <a:gd name="adj3" fmla="val 16866744"/>
            <a:gd name="adj4" fmla="val 15197594"/>
            <a:gd name="adj5" fmla="val 6063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984966E-98CC-6A78-1424-04B6E1F267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153D721-EFB9-BC0E-1DC1-4F7A40F312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753E7D-EEC7-43DF-AF05-49FE1E0C7B25}" type="datetimeFigureOut">
              <a:rPr lang="de-DE" smtClean="0"/>
              <a:t>10.11.2025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7BF23EC-0BC1-545E-D00A-3466D80002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716600C-B63A-8960-82FD-8DC4BB46C8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B05C7-DCB9-437C-9E32-70E8134153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50978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679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58857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12. </a:t>
            </a:r>
            <a:r>
              <a:rPr lang="de-DE" dirty="0" err="1"/>
              <a:t>Machine</a:t>
            </a:r>
            <a:r>
              <a:rPr lang="de-DE" dirty="0"/>
              <a:t> </a:t>
            </a:r>
            <a:r>
              <a:rPr lang="de-DE" dirty="0" err="1"/>
              <a:t>Bed</a:t>
            </a:r>
            <a:r>
              <a:rPr lang="de-DE" dirty="0"/>
              <a:t> &amp; Yaw System  </a:t>
            </a:r>
          </a:p>
          <a:p>
            <a:pPr lvl="1"/>
            <a:r>
              <a:rPr lang="de-DE" dirty="0"/>
              <a:t>13. Tower  </a:t>
            </a:r>
          </a:p>
          <a:p>
            <a:pPr lvl="1"/>
            <a:r>
              <a:rPr lang="de-DE" dirty="0"/>
              <a:t>14. </a:t>
            </a:r>
            <a:r>
              <a:rPr lang="de-DE" dirty="0" err="1"/>
              <a:t>Foundation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15. Storage System 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Teams</a:t>
            </a:r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466CB9-E665-36BA-2132-8519CA303C9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38200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 algn="l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1.  </a:t>
            </a:r>
            <a:r>
              <a:rPr lang="de-DE" dirty="0" err="1"/>
              <a:t>Windfarm</a:t>
            </a:r>
            <a:r>
              <a:rPr lang="de-DE" dirty="0"/>
              <a:t> Project Development  </a:t>
            </a:r>
          </a:p>
          <a:p>
            <a:pPr lvl="1"/>
            <a:r>
              <a:rPr lang="de-DE" dirty="0"/>
              <a:t>2.  Loads and Dynamics  </a:t>
            </a:r>
          </a:p>
          <a:p>
            <a:pPr lvl="1"/>
            <a:r>
              <a:rPr lang="de-DE" dirty="0"/>
              <a:t>3.  Feedback Controller  </a:t>
            </a:r>
          </a:p>
          <a:p>
            <a:pPr lvl="1"/>
            <a:r>
              <a:rPr lang="de-DE" dirty="0"/>
              <a:t>4.  Lidar-</a:t>
            </a:r>
            <a:r>
              <a:rPr lang="de-DE" dirty="0" err="1"/>
              <a:t>Assisted</a:t>
            </a:r>
            <a:r>
              <a:rPr lang="de-DE" dirty="0"/>
              <a:t> Controller  </a:t>
            </a:r>
          </a:p>
          <a:p>
            <a:pPr lvl="1"/>
            <a:r>
              <a:rPr lang="de-DE" dirty="0"/>
              <a:t>5.  Rotor Blade </a:t>
            </a:r>
            <a:r>
              <a:rPr lang="de-DE" dirty="0" err="1"/>
              <a:t>Aerodynamics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6.  Rotor Blade </a:t>
            </a:r>
            <a:r>
              <a:rPr lang="de-DE" dirty="0" err="1"/>
              <a:t>Structures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7.  </a:t>
            </a:r>
            <a:r>
              <a:rPr lang="de-DE" dirty="0" err="1"/>
              <a:t>Electrical</a:t>
            </a:r>
            <a:r>
              <a:rPr lang="de-DE" dirty="0"/>
              <a:t> </a:t>
            </a:r>
            <a:r>
              <a:rPr lang="de-DE" dirty="0" err="1"/>
              <a:t>Drivetrain</a:t>
            </a:r>
            <a:r>
              <a:rPr lang="de-DE" dirty="0"/>
              <a:t> (EDT)  </a:t>
            </a:r>
          </a:p>
          <a:p>
            <a:pPr lvl="1"/>
            <a:r>
              <a:rPr lang="de-DE" dirty="0"/>
              <a:t>8.  </a:t>
            </a:r>
            <a:r>
              <a:rPr lang="de-DE" dirty="0" err="1"/>
              <a:t>Grid</a:t>
            </a:r>
            <a:r>
              <a:rPr lang="de-DE" dirty="0"/>
              <a:t> Code Development (GCD)  </a:t>
            </a:r>
          </a:p>
          <a:p>
            <a:pPr lvl="1"/>
            <a:r>
              <a:rPr lang="de-DE" dirty="0"/>
              <a:t>9.  Rotor Hub &amp; Pitch System  </a:t>
            </a:r>
          </a:p>
          <a:p>
            <a:pPr lvl="1"/>
            <a:r>
              <a:rPr lang="de-DE" dirty="0"/>
              <a:t>10. Rotor </a:t>
            </a:r>
            <a:r>
              <a:rPr lang="de-DE" dirty="0" err="1"/>
              <a:t>Bearing</a:t>
            </a:r>
            <a:r>
              <a:rPr lang="de-DE" dirty="0"/>
              <a:t> System  </a:t>
            </a:r>
          </a:p>
          <a:p>
            <a:pPr lvl="1"/>
            <a:r>
              <a:rPr lang="de-DE" dirty="0"/>
              <a:t>11. </a:t>
            </a:r>
            <a:r>
              <a:rPr lang="de-DE" dirty="0" err="1"/>
              <a:t>Gearbox</a:t>
            </a:r>
            <a:r>
              <a:rPr lang="de-DE" dirty="0"/>
              <a:t>, Brake, Coupling  </a:t>
            </a:r>
          </a:p>
          <a:p>
            <a:pPr lvl="1"/>
            <a:r>
              <a:rPr lang="de-DE" dirty="0"/>
              <a:t>						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FD841E35-8D66-8DA2-B806-8C18E5D2806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10/11/2025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6C28938A-3748-78F8-3D01-B82DF87C9B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Optimus Syria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3A903679-8273-AC0E-AD57-A9C78EE236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3313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contents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64195E91-DEC0-2198-8D7F-F5D7511FB31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10/11/2025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0EC107A6-E0D9-69FD-44BC-CFD5F05D7C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8CC2EBC5-DD43-6B7E-A5D7-5CD5B0E30A5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E7DFBCC3-CC46-17B2-DF15-92940A3865D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84858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F6D1F16-A947-CEE2-C58A-50217E90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10/11/2025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873EF994-6CA7-B763-F215-A7D1723E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7F2F56B-9E4F-A460-92A9-87055C42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3A8B7922-CD64-E421-B5E5-B7BA56CBCB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54527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1"/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5BA9FE0F-4438-A90E-178E-370DFB88F067}"/>
              </a:ext>
            </a:extLst>
          </p:cNvPr>
          <p:cNvSpPr txBox="1"/>
          <p:nvPr userDrawn="1"/>
        </p:nvSpPr>
        <p:spPr>
          <a:xfrm>
            <a:off x="812800" y="6219031"/>
            <a:ext cx="2120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[1], [2]….</a:t>
            </a: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F5B6D5E1-3173-F7DB-AFEA-577613F3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10/11/2025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4201E827-9609-58AA-70BC-996E2AD05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E013F6E-0CEE-85C3-4AD1-ADEED88F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8" name="Textplatzhalter 16">
            <a:extLst>
              <a:ext uri="{FF2B5EF4-FFF2-40B4-BE49-F238E27FC236}">
                <a16:creationId xmlns:a16="http://schemas.microsoft.com/office/drawing/2014/main" id="{4C7AB516-D061-772D-6849-99EBB44689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930394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479D6A9B-7716-D398-EE18-2F2D6AC11B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5BE17EA-55E6-D579-4D1F-7901F944C6A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10/11/2025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810CEF70-3482-4FC0-A3A4-7FB408C94A4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879E7A9-C563-396E-C6B6-B45497D433B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AB8CDF8-03C0-DF20-0ABC-80A78BDABF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8435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item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22)</a:t>
            </a:r>
          </a:p>
          <a:p>
            <a:pPr lvl="1"/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20)</a:t>
            </a:r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19E5AF50-94A3-4308-3B68-BAD76E7A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10/11/2025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9798D87B-B794-AD8A-40F1-DEA4D547F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5E6253E5-E305-7986-3017-8FAC6F34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7E202380-1BD6-7A10-C51A-497A42391B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73267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5228F91E-E7AD-B275-5A60-89428222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10/11/2025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F4F81C7-2C44-8CF8-2928-655E74DC8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60D8F3F-3088-D685-66AD-D2110FD4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29BD9540-0DAC-F607-0D84-145CAF084D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9943038B-A8F9-48D6-0A29-94D4AA659F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9733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749D4654-CB69-04EA-986A-2264B7AF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10/11/2025</a:t>
            </a:fld>
            <a:endParaRPr lang="en-GB" dirty="0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FC28337D-790B-E06F-0074-04AA48B92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A2A63292-0139-33E2-79E8-D1F485A4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596BA109-7562-188F-19E6-BAFF28DC5C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86484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8D8651D-3525-44E9-EF74-5AE1C96E2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10/11/2025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FC35C132-0CB8-F9A6-EC6C-F3AC1F1B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22F58FF-5AD5-CF97-4FEE-FB1F38CD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platzhalter 16">
            <a:extLst>
              <a:ext uri="{FF2B5EF4-FFF2-40B4-BE49-F238E27FC236}">
                <a16:creationId xmlns:a16="http://schemas.microsoft.com/office/drawing/2014/main" id="{DC21B0DD-4D97-871C-E587-F10AD55D8B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1072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76AEEC7-3E6C-8FE6-7104-34FC9379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10/11/2025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527D13C7-4982-3CF9-E6C0-8109C888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4A0136B-0337-50A8-941C-6DC048DC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A21B8924-2541-A57C-7990-899E2DC11F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096439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9BDC2AF-40F8-8529-16FE-AE51A8BD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10/11/2025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A36B392-F5AC-41D8-5903-3EE036BA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95A811-7A18-1583-7B9C-87A7CBB7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5E735FEA-D591-2E8E-B9B4-2A6BAFE00D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223280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16092FF3-E2C2-B5C5-579F-21F140EB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10/11/2025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5AD0AE9-D3B7-2239-8DBB-350367E7D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1BD0BA0-666C-E532-C68B-11386947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027E2607-9D4B-3DD5-A6A2-FC3CB80BCC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423501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4EB4231A-B976-E0CE-75F3-D34A6911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10/11/2025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2E601F58-36C8-D2D9-A619-7EE495853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EBFB4D11-F600-12A5-E5C2-DCA39033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Textplatzhalter 16">
            <a:extLst>
              <a:ext uri="{FF2B5EF4-FFF2-40B4-BE49-F238E27FC236}">
                <a16:creationId xmlns:a16="http://schemas.microsoft.com/office/drawing/2014/main" id="{39AFE95F-2805-F887-3AF4-313C835B17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37897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9CAB1E-C3D8-B43B-64D5-963D13F3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10/11/2025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B3E84C0-2A5E-8136-84E3-1F57CD264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9EE80A-8782-7800-16FF-963D026B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CFBF4831-0820-F79B-E15A-914A0E578D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5370099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63342531-5FA3-5F71-CEB1-CFCD86F17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10/11/2025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0D108632-F456-C23D-6809-CF44E36A5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4F6375C-67FA-9BF2-A821-A5611C21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E6CFA6E-C964-BB71-3D6D-D966EE46607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8465591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DAC50BC-A24B-779F-0533-7A27D611B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10/11/2025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2B06DBDC-0EA1-59AB-DB5D-AEE297E61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3EB43FC5-BB47-1A87-75C6-C0AFB5C7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80B36F8-3A7C-6F05-A0AB-F3F43BA0922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126135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C34C088-08EA-3896-8F05-16D82C511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10/11/2025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8EA7E74-7B1F-8648-209E-BFE07FF1E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2B97D1D-1741-1791-CBA3-FA5CA67C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6A2FA29E-F5F4-39E0-E0C6-CACC20E04F1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2687113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5945ED5-EBD1-3567-F959-B92E831E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10/11/2025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BB6A4D0-1BA6-C02F-BE18-391B96E98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12E4BF-484F-C87E-8228-534B62A6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A24C13F3-9C79-1E9F-ED48-61D2AD9586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0701898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 userDrawn="1"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 Syria</a:t>
            </a:r>
            <a:endParaRPr kumimoji="0" lang="en-GB" sz="6600" b="1" i="0" u="none" strike="noStrike" kern="1200" cap="none" spc="0" normalizeH="0" baseline="0" noProof="0" dirty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62B0D505-239D-592F-D28C-2537FD6A64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2399" y="4130862"/>
            <a:ext cx="3822700" cy="164669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1st Week Kick Off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Date: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202X</a:t>
            </a:r>
          </a:p>
          <a:p>
            <a:pPr lvl="4"/>
            <a:endParaRPr lang="de-DE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3580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C16AED5E-219C-C34B-7790-17DE2532E62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10/11/2025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8442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D36E4AE-BF2C-D504-0887-03D81D07CDC8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Free-form: Shape 13">
            <a:extLst>
              <a:ext uri="{FF2B5EF4-FFF2-40B4-BE49-F238E27FC236}">
                <a16:creationId xmlns:a16="http://schemas.microsoft.com/office/drawing/2014/main" id="{7608A32D-44F3-01F2-D6ED-924DFF3CC333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8" name="Free-form: Shape 13">
            <a:extLst>
              <a:ext uri="{FF2B5EF4-FFF2-40B4-BE49-F238E27FC236}">
                <a16:creationId xmlns:a16="http://schemas.microsoft.com/office/drawing/2014/main" id="{1DE142EE-E501-93E6-565D-AB4A5A647F0F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76A7918-93DA-D7CE-97A3-DDF18B379B6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Team Name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AEE8E4-D792-40D2-B8D4-0007E21A0CF8}" type="datetime1">
              <a:rPr lang="en-GB" smtClean="0"/>
              <a:t>10/11/2025</a:t>
            </a:fld>
            <a:endParaRPr lang="en-GB" dirty="0"/>
          </a:p>
        </p:txBody>
      </p:sp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BD3F4B-4853-EC8E-00EB-5109F86CE0F1}"/>
              </a:ext>
            </a:extLst>
          </p:cNvPr>
          <p:cNvSpPr/>
          <p:nvPr userDrawn="1"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Free-form: Shape 13">
            <a:extLst>
              <a:ext uri="{FF2B5EF4-FFF2-40B4-BE49-F238E27FC236}">
                <a16:creationId xmlns:a16="http://schemas.microsoft.com/office/drawing/2014/main" id="{2BF40EC9-0D42-5E08-04BD-F330229C7518}"/>
              </a:ext>
            </a:extLst>
          </p:cNvPr>
          <p:cNvSpPr/>
          <p:nvPr userDrawn="1"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>
            <a:extLst>
              <a:ext uri="{FF2B5EF4-FFF2-40B4-BE49-F238E27FC236}">
                <a16:creationId xmlns:a16="http://schemas.microsoft.com/office/drawing/2014/main" id="{0BB1BAA4-B843-57F3-9FCE-C9585D332FAE}"/>
              </a:ext>
            </a:extLst>
          </p:cNvPr>
          <p:cNvSpPr/>
          <p:nvPr userDrawn="1"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3178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63" r:id="rId2"/>
    <p:sldLayoutId id="2147483686" r:id="rId3"/>
    <p:sldLayoutId id="2147483674" r:id="rId4"/>
    <p:sldLayoutId id="2147483685" r:id="rId5"/>
    <p:sldLayoutId id="2147483684" r:id="rId6"/>
    <p:sldLayoutId id="2147483688" r:id="rId7"/>
    <p:sldLayoutId id="2147483666" r:id="rId8"/>
    <p:sldLayoutId id="2147483689" r:id="rId9"/>
    <p:sldLayoutId id="2147483662" r:id="rId10"/>
    <p:sldLayoutId id="2147483690" r:id="rId11"/>
    <p:sldLayoutId id="2147483664" r:id="rId12"/>
    <p:sldLayoutId id="2147483665" r:id="rId13"/>
    <p:sldLayoutId id="2147483667" r:id="rId14"/>
    <p:sldLayoutId id="2147483668" r:id="rId15"/>
    <p:sldLayoutId id="2147483669" r:id="rId16"/>
    <p:sldLayoutId id="2147483670" r:id="rId17"/>
    <p:sldLayoutId id="2147483671" r:id="rId1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5620995-1DFE-FB81-B1FD-1F43AD25E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9FFA78-25BC-8AF7-71C4-CCA91A932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CB32A29-5E71-00A9-66DA-1FED8EA8F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Optimus Syria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5A1141D-8ADF-66F7-AB0C-CAA4E1B2C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7138566-A99B-8C60-010B-13E0F43C56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AEE8E4-D792-40D2-B8D4-0007E21A0CF8}" type="datetime1">
              <a:rPr lang="en-GB" smtClean="0"/>
              <a:t>10/11/2025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1557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5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7FF1E788-369D-9A8F-8F84-AD852E9D2E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Team 5 – Rotor Blade Structures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FE6C0A47-C45A-EB0C-4C45-15C9C28E75EE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2878528" y="4648808"/>
            <a:ext cx="7678313" cy="793842"/>
          </a:xfrm>
        </p:spPr>
        <p:txBody>
          <a:bodyPr/>
          <a:lstStyle/>
          <a:p>
            <a:r>
              <a:rPr lang="en-GB" sz="1800" b="1" dirty="0"/>
              <a:t>Presented by – </a:t>
            </a:r>
            <a:r>
              <a:rPr lang="en-GB" sz="1800" b="1" dirty="0">
                <a:solidFill>
                  <a:srgbClr val="FF0000"/>
                </a:solidFill>
              </a:rPr>
              <a:t>Anudeep Allanki </a:t>
            </a:r>
            <a:r>
              <a:rPr lang="en-GB" sz="1800" b="1" dirty="0"/>
              <a:t>(</a:t>
            </a:r>
            <a:r>
              <a:rPr lang="en-GB" sz="1800" b="1" dirty="0">
                <a:solidFill>
                  <a:srgbClr val="FF0000"/>
                </a:solidFill>
              </a:rPr>
              <a:t>770625</a:t>
            </a:r>
            <a:r>
              <a:rPr lang="en-GB" sz="1800" b="1" dirty="0"/>
              <a:t>)</a:t>
            </a:r>
          </a:p>
          <a:p>
            <a:r>
              <a:rPr lang="en-GB" sz="1600" b="1" dirty="0"/>
              <a:t>Team Members - </a:t>
            </a:r>
            <a:r>
              <a:rPr lang="en-GB" sz="1600" dirty="0"/>
              <a:t>Bhima B Masare, Anudeep Allanki, Dongsuk Kim, Mithun Shetty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6BE6549-3E86-5AE5-9E5E-148C592FC8CE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prstGeom prst="rect">
            <a:avLst/>
          </a:prstGeom>
        </p:spPr>
        <p:txBody>
          <a:bodyPr/>
          <a:lstStyle/>
          <a:p>
            <a:fld id="{E9760055-B4F0-4D03-A54C-8326910BC371}" type="datetime1">
              <a:rPr lang="en-GB" smtClean="0"/>
              <a:t>10/11/2025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1D6649A-1E87-C9DD-E3C2-12FE7407BD3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/>
              <a:t>Rotor Blades Structure/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00F9B30-73C2-F457-56BA-0324B85690F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9ACFA37C-C6C3-881E-9DEF-5A96ED2C1D15}"/>
              </a:ext>
            </a:extLst>
          </p:cNvPr>
          <p:cNvSpPr txBox="1">
            <a:spLocks/>
          </p:cNvSpPr>
          <p:nvPr/>
        </p:nvSpPr>
        <p:spPr>
          <a:xfrm>
            <a:off x="1565241" y="235849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ptos (Textkörper)"/>
                <a:ea typeface="+mj-ea"/>
                <a:cs typeface="+mj-cs"/>
              </a:defRPr>
            </a:lvl1pPr>
          </a:lstStyle>
          <a:p>
            <a:endParaRPr lang="en-GB" sz="4000" dirty="0"/>
          </a:p>
        </p:txBody>
      </p:sp>
      <p:sp>
        <p:nvSpPr>
          <p:cNvPr id="27" name="Subtitle 2">
            <a:extLst>
              <a:ext uri="{FF2B5EF4-FFF2-40B4-BE49-F238E27FC236}">
                <a16:creationId xmlns:a16="http://schemas.microsoft.com/office/drawing/2014/main" id="{1E0415E7-E053-E995-249A-5B86E4F96002}"/>
              </a:ext>
            </a:extLst>
          </p:cNvPr>
          <p:cNvSpPr txBox="1">
            <a:spLocks/>
          </p:cNvSpPr>
          <p:nvPr/>
        </p:nvSpPr>
        <p:spPr>
          <a:xfrm>
            <a:off x="1412841" y="358691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ptos (Textkörper)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000" b="1" dirty="0"/>
              <a:t>Week No - 7</a:t>
            </a:r>
            <a:endParaRPr lang="it-IT" sz="2000" dirty="0"/>
          </a:p>
          <a:p>
            <a:r>
              <a:rPr lang="it-IT" sz="2000" b="1" dirty="0"/>
              <a:t>Date -</a:t>
            </a:r>
            <a:r>
              <a:rPr lang="it-IT" sz="2000" dirty="0"/>
              <a:t> 11.11.2025</a:t>
            </a:r>
          </a:p>
          <a:p>
            <a:r>
              <a:rPr lang="it-IT" sz="2000" b="1" dirty="0"/>
              <a:t>Supervisor -</a:t>
            </a:r>
            <a:r>
              <a:rPr lang="it-IT" sz="2000" dirty="0"/>
              <a:t> Dr. Laurence Alhrshy</a:t>
            </a:r>
          </a:p>
        </p:txBody>
      </p:sp>
    </p:spTree>
    <p:extLst>
      <p:ext uri="{BB962C8B-B14F-4D97-AF65-F5344CB8AC3E}">
        <p14:creationId xmlns:p14="http://schemas.microsoft.com/office/powerpoint/2010/main" val="1493159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4806E567-AC3D-0689-0EEB-854383B43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3168"/>
            <a:ext cx="9287577" cy="4151663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de-DE" dirty="0"/>
              <a:t>1. Rotor Blade Structures Team Time line</a:t>
            </a:r>
          </a:p>
          <a:p>
            <a:pPr marL="0" lvl="0" indent="0">
              <a:buNone/>
            </a:pPr>
            <a:r>
              <a:rPr lang="en-US" dirty="0"/>
              <a:t>2. Tasks planned for Project</a:t>
            </a:r>
          </a:p>
          <a:p>
            <a:pPr marL="0" lvl="0" indent="0">
              <a:buNone/>
            </a:pPr>
            <a:r>
              <a:rPr lang="en-US" dirty="0"/>
              <a:t>3. Spar Cap -</a:t>
            </a:r>
            <a:endParaRPr lang="en-US" sz="2200" dirty="0"/>
          </a:p>
          <a:p>
            <a:pPr marL="457200" lvl="1" indent="0">
              <a:buNone/>
            </a:pPr>
            <a:r>
              <a:rPr lang="de-DE" sz="2200" dirty="0"/>
              <a:t>3.1 About Spar Caps</a:t>
            </a:r>
          </a:p>
          <a:p>
            <a:pPr marL="1085850" lvl="3" indent="0">
              <a:buNone/>
            </a:pPr>
            <a:r>
              <a:rPr lang="en-US" sz="2000" dirty="0"/>
              <a:t>3.1.1 Types of Spar Caps</a:t>
            </a:r>
          </a:p>
          <a:p>
            <a:pPr marL="1085850" lvl="3" indent="0">
              <a:buNone/>
            </a:pPr>
            <a:r>
              <a:rPr lang="en-US" sz="2000" dirty="0"/>
              <a:t>3.1.2 Types of Bending Moments on Spar Caps</a:t>
            </a:r>
          </a:p>
          <a:p>
            <a:pPr marL="1085850" lvl="3" indent="0">
              <a:buNone/>
            </a:pPr>
            <a:r>
              <a:rPr lang="en-US" sz="2000" dirty="0"/>
              <a:t>3.1.3 Bending Stiffness of Spar Caps</a:t>
            </a:r>
          </a:p>
          <a:p>
            <a:pPr marL="1085850" lvl="3" indent="0">
              <a:buNone/>
            </a:pPr>
            <a:r>
              <a:rPr lang="en-US" sz="2000" dirty="0"/>
              <a:t>3.1.4 Bending Stress Analysis on Spar Caps</a:t>
            </a:r>
          </a:p>
          <a:p>
            <a:pPr marL="1085850" lvl="3" indent="0">
              <a:buNone/>
            </a:pPr>
            <a:r>
              <a:rPr lang="en-US" sz="2000" dirty="0"/>
              <a:t>3.1.5 Data required to fix the Spar Caps &amp; Webs Geometry</a:t>
            </a:r>
          </a:p>
          <a:p>
            <a:pPr marL="0" lvl="0" indent="0">
              <a:buNone/>
            </a:pPr>
            <a:r>
              <a:rPr lang="de-DE" dirty="0"/>
              <a:t>Bibliography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4BD01935-82E5-D79D-C490-ED5502D37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Contents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7BF55D9-EF5B-9E26-40AE-1F3D5F503D4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10/11/2025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6CE93207-F383-AC91-863A-7D6EA647733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E8728EB-C9D6-BA17-3C43-0FC592952D3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F3296396-1FEB-B93E-574C-0DB4C24D23F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Anudeep Allanki</a:t>
            </a:r>
          </a:p>
        </p:txBody>
      </p:sp>
    </p:spTree>
    <p:extLst>
      <p:ext uri="{BB962C8B-B14F-4D97-AF65-F5344CB8AC3E}">
        <p14:creationId xmlns:p14="http://schemas.microsoft.com/office/powerpoint/2010/main" val="3678816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E473E-38C4-BEFD-6925-717C4000C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8258190-4173-9845-4929-910A187D3EE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10/11/2025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9E9C03F-67D2-06AE-8AE4-7C60E10673C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864A788-CAF6-E48E-0AEF-D66FD742D71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8440240-F425-0B72-2058-EC45CD20C2C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Anudeep Allanki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F420E8-A760-809C-426B-6B1BB6D9C2D6}"/>
              </a:ext>
            </a:extLst>
          </p:cNvPr>
          <p:cNvSpPr txBox="1"/>
          <p:nvPr/>
        </p:nvSpPr>
        <p:spPr>
          <a:xfrm>
            <a:off x="685800" y="667929"/>
            <a:ext cx="997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1. </a:t>
            </a:r>
            <a:r>
              <a:rPr lang="en-US" sz="2800" b="1" dirty="0"/>
              <a:t>Rotor Blade Structures Team Time line -</a:t>
            </a:r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F3DCE7-771E-9080-D19C-2878E7CB4E88}"/>
              </a:ext>
            </a:extLst>
          </p:cNvPr>
          <p:cNvSpPr txBox="1"/>
          <p:nvPr/>
        </p:nvSpPr>
        <p:spPr>
          <a:xfrm>
            <a:off x="838200" y="1259975"/>
            <a:ext cx="77888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400" b="1" dirty="0"/>
              <a:t>1.1 Team Time line for Month November -</a:t>
            </a:r>
            <a:endParaRPr lang="en-IN" sz="2400" b="1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52A144F-605C-049C-04DF-6D6B030F06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7816" y="1854583"/>
            <a:ext cx="11556367" cy="33840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E785449-F0A0-2912-E7C0-7BC5CA509A02}"/>
              </a:ext>
            </a:extLst>
          </p:cNvPr>
          <p:cNvSpPr txBox="1"/>
          <p:nvPr/>
        </p:nvSpPr>
        <p:spPr>
          <a:xfrm>
            <a:off x="3443328" y="3850106"/>
            <a:ext cx="8430855" cy="396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9156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A2ACF-55D4-9220-4183-95D31C457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8FE6E9B-DB19-FBD8-EA4D-085FBF4CABB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10/11/2025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6F1268C7-E1C6-0696-9B82-FA431754B7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477C971-72ED-E6B7-6755-C7EC302A70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CC769CEB-1B8A-2B5B-66E0-50495DEF08A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Anudeep Allanki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EE579F-5EFE-B8C7-95F0-26F04ABA21DC}"/>
              </a:ext>
            </a:extLst>
          </p:cNvPr>
          <p:cNvSpPr txBox="1"/>
          <p:nvPr/>
        </p:nvSpPr>
        <p:spPr>
          <a:xfrm>
            <a:off x="685800" y="721989"/>
            <a:ext cx="6937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2. Tasks planned for Project –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36E2C168-E54F-EC95-359D-BAB7A92286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6201374"/>
              </p:ext>
            </p:extLst>
          </p:nvPr>
        </p:nvGraphicFramePr>
        <p:xfrm>
          <a:off x="1812000" y="1311316"/>
          <a:ext cx="8568000" cy="518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6F92940-7473-0ABB-FFF7-A9ED28058716}"/>
              </a:ext>
            </a:extLst>
          </p:cNvPr>
          <p:cNvSpPr txBox="1"/>
          <p:nvPr/>
        </p:nvSpPr>
        <p:spPr>
          <a:xfrm>
            <a:off x="7324826" y="3631130"/>
            <a:ext cx="1684421" cy="143175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4087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910F5-EB4A-204F-B734-9177E62CA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27A40FF-C924-2563-1E7F-B8BCA4EC67E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10/11/2025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A8E0F548-7C01-E29C-7951-CE4046AB2B7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F9F0B11-AF04-8C91-58BA-5B1C04CC065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A98B3A0D-F0D6-BA11-60B5-6D6E6706858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Anudeep Allanki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4AFD8F-E1AD-BD92-33B5-F86C5C35C823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C9E4D62-9E7A-B0F5-F11D-8412FBF449B3}"/>
              </a:ext>
            </a:extLst>
          </p:cNvPr>
          <p:cNvSpPr txBox="1">
            <a:spLocks/>
          </p:cNvSpPr>
          <p:nvPr/>
        </p:nvSpPr>
        <p:spPr>
          <a:xfrm>
            <a:off x="838200" y="1282568"/>
            <a:ext cx="10515600" cy="25675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 About </a:t>
            </a:r>
            <a:r>
              <a:rPr lang="en-US" sz="2400" b="1" dirty="0">
                <a:solidFill>
                  <a:sysClr val="windowText" lastClr="000000"/>
                </a:solidFill>
              </a:rPr>
              <a:t>Spar Caps -</a:t>
            </a:r>
            <a:endParaRPr lang="en-IN" sz="2400" b="1" dirty="0">
              <a:solidFill>
                <a:sysClr val="windowText" lastClr="000000"/>
              </a:solidFill>
            </a:endParaRPr>
          </a:p>
          <a:p>
            <a:r>
              <a:rPr lang="en-US" sz="2200" dirty="0">
                <a:solidFill>
                  <a:sysClr val="windowText" lastClr="000000"/>
                </a:solidFill>
              </a:rPr>
              <a:t>The main structural component (backbone) of a wind turbine blade.</a:t>
            </a:r>
          </a:p>
          <a:p>
            <a:r>
              <a:rPr lang="en-US" sz="2200" dirty="0">
                <a:solidFill>
                  <a:sysClr val="windowText" lastClr="000000"/>
                </a:solidFill>
              </a:rPr>
              <a:t>They are long, thick beams that run along the length of the blade.</a:t>
            </a:r>
          </a:p>
          <a:p>
            <a:r>
              <a:rPr lang="en-US" sz="2200" dirty="0">
                <a:solidFill>
                  <a:sysClr val="windowText" lastClr="000000"/>
                </a:solidFill>
              </a:rPr>
              <a:t>Located on the top (suction side) and bottom (pressure side) of the blade's main spar, or internal "box beam.</a:t>
            </a:r>
          </a:p>
          <a:p>
            <a:r>
              <a:rPr lang="en-US" sz="2200" dirty="0">
                <a:solidFill>
                  <a:sysClr val="windowText" lastClr="000000"/>
                </a:solidFill>
              </a:rPr>
              <a:t>Their primary job is to give the blade its stiffness and strength.</a:t>
            </a:r>
          </a:p>
        </p:txBody>
      </p:sp>
      <p:pic>
        <p:nvPicPr>
          <p:cNvPr id="7" name="Picture 6" descr="Diagram of a shear web and shear web">
            <a:extLst>
              <a:ext uri="{FF2B5EF4-FFF2-40B4-BE49-F238E27FC236}">
                <a16:creationId xmlns:a16="http://schemas.microsoft.com/office/drawing/2014/main" id="{FEDE3D7D-9C7D-08B9-3436-0A54447353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0098" y="3850106"/>
            <a:ext cx="6352941" cy="21600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0701DA1-C5FB-B805-0570-318690908411}"/>
              </a:ext>
            </a:extLst>
          </p:cNvPr>
          <p:cNvSpPr txBox="1"/>
          <p:nvPr/>
        </p:nvSpPr>
        <p:spPr>
          <a:xfrm>
            <a:off x="0" y="6253646"/>
            <a:ext cx="11531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/>
              <a:t>Source - </a:t>
            </a:r>
            <a:r>
              <a:rPr lang="en-US" sz="1400" i="1" dirty="0"/>
              <a:t>Impact of Process Technology on Properties of Large-Scale Wind Turbine Blade Composite Spar Cap by </a:t>
            </a:r>
            <a:r>
              <a:rPr lang="en-US" sz="1400" i="1" dirty="0" err="1"/>
              <a:t>Yuanrong</a:t>
            </a:r>
            <a:r>
              <a:rPr lang="en-US" sz="1400" i="1" dirty="0"/>
              <a:t> Sun, </a:t>
            </a:r>
            <a:r>
              <a:rPr lang="en-US" sz="1400" i="1" dirty="0" err="1"/>
              <a:t>Congli</a:t>
            </a:r>
            <a:r>
              <a:rPr lang="en-US" sz="1400" i="1" dirty="0"/>
              <a:t> Hu, </a:t>
            </a:r>
            <a:r>
              <a:rPr lang="en-US" sz="1400" i="1" dirty="0" err="1"/>
              <a:t>Jianbo</a:t>
            </a:r>
            <a:r>
              <a:rPr lang="en-US" sz="1400" i="1" dirty="0"/>
              <a:t> Li</a:t>
            </a:r>
            <a:endParaRPr lang="en-IN" sz="1400" i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FA1035-FBC0-D8CA-9F54-6A77ADD40D65}"/>
              </a:ext>
            </a:extLst>
          </p:cNvPr>
          <p:cNvSpPr txBox="1"/>
          <p:nvPr/>
        </p:nvSpPr>
        <p:spPr>
          <a:xfrm>
            <a:off x="8969419" y="4776217"/>
            <a:ext cx="2268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/>
              <a:t>Figure 1 – </a:t>
            </a:r>
            <a:r>
              <a:rPr lang="en-US" sz="1400" i="1" dirty="0"/>
              <a:t>Blade Structures</a:t>
            </a:r>
            <a:endParaRPr lang="en-IN" sz="1400" i="1" dirty="0"/>
          </a:p>
        </p:txBody>
      </p:sp>
    </p:spTree>
    <p:extLst>
      <p:ext uri="{BB962C8B-B14F-4D97-AF65-F5344CB8AC3E}">
        <p14:creationId xmlns:p14="http://schemas.microsoft.com/office/powerpoint/2010/main" val="2072533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8D0F1-302C-CDD5-0439-E5303397D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537A81D-1B05-EBDF-CA72-1288BA6D68C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10/11/2025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744A34ED-CE6D-783F-7125-FB8C5657118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C43F7CF-FAF6-37AF-C5BE-08A7ACB3DDB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789D29D0-70F0-6A95-457F-F5F620E6313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Anudeep Allanki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B7CD04-6992-8A9B-46DD-A0C192DF2AF0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A408383-E5C8-1AA5-0D73-05AFDFCCCD95}"/>
              </a:ext>
            </a:extLst>
          </p:cNvPr>
          <p:cNvSpPr txBox="1">
            <a:spLocks/>
          </p:cNvSpPr>
          <p:nvPr/>
        </p:nvSpPr>
        <p:spPr>
          <a:xfrm>
            <a:off x="838200" y="1282567"/>
            <a:ext cx="10515600" cy="5137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3.1.1 Types of Spar Caps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0" indent="0">
              <a:buNone/>
            </a:pPr>
            <a:r>
              <a:rPr lang="en-IN" sz="2200" b="1" dirty="0">
                <a:solidFill>
                  <a:sysClr val="windowText" lastClr="000000"/>
                </a:solidFill>
              </a:rPr>
              <a:t>a. Box Spar Design –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ysClr val="windowText" lastClr="000000"/>
                </a:solidFill>
              </a:rPr>
              <a:t>It is the most common and conventional design.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ysClr val="windowText" lastClr="000000"/>
                </a:solidFill>
              </a:rPr>
              <a:t>These two caps are connected by one or more vertical shear webs, forming a strong, hollow "box beam" that runs down the length of the blade.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ysClr val="windowText" lastClr="000000"/>
                </a:solidFill>
              </a:rPr>
              <a:t>Key Features –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ysClr val="windowText" lastClr="000000"/>
                </a:solidFill>
              </a:rPr>
              <a:t>Excellent at handling </a:t>
            </a:r>
            <a:r>
              <a:rPr lang="en-US" sz="2200" dirty="0" err="1">
                <a:solidFill>
                  <a:sysClr val="windowText" lastClr="000000"/>
                </a:solidFill>
              </a:rPr>
              <a:t>flapwise</a:t>
            </a:r>
            <a:r>
              <a:rPr lang="en-US" sz="2200" dirty="0">
                <a:solidFill>
                  <a:sysClr val="windowText" lastClr="000000"/>
                </a:solidFill>
              </a:rPr>
              <a:t> bending loads.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ysClr val="windowText" lastClr="000000"/>
                </a:solidFill>
              </a:rPr>
              <a:t>The shear webs prevent the caps from moving relative to each other &amp; maintain the blade's shape.</a:t>
            </a:r>
            <a:endParaRPr lang="en-IN" sz="22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9622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F7A99-AFA5-97EB-440D-97C031FD8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E174BC1-F3EA-82D3-9105-3A38DEB1A33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10/11/2025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CE0D35A-76F1-CDCA-7A44-286BFC6539F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CFD5B40-6669-9FBC-6CD1-0C1334BB255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D52B9D0-8DD2-E97B-0EDF-F0B7E0A8FE6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Anudeep Allanki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4AE961-2397-49AF-62B8-35B5C54BEFDD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031BE92-0090-5517-AC2D-A092AAA462E8}"/>
              </a:ext>
            </a:extLst>
          </p:cNvPr>
          <p:cNvSpPr txBox="1">
            <a:spLocks/>
          </p:cNvSpPr>
          <p:nvPr/>
        </p:nvSpPr>
        <p:spPr>
          <a:xfrm>
            <a:off x="838200" y="1282568"/>
            <a:ext cx="10515600" cy="873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3.1.1 Types of Spar Caps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0" indent="0">
              <a:buNone/>
            </a:pPr>
            <a:r>
              <a:rPr lang="en-IN" sz="2200" b="1" dirty="0">
                <a:solidFill>
                  <a:sysClr val="windowText" lastClr="000000"/>
                </a:solidFill>
              </a:rPr>
              <a:t>a. Box Spar Design –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9E2C1F-976A-F0DC-F69B-EA17C7771C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38501" y="2230635"/>
            <a:ext cx="6613095" cy="380360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F56AC87-3651-8A32-600D-AA6A68BB8FD4}"/>
              </a:ext>
            </a:extLst>
          </p:cNvPr>
          <p:cNvSpPr txBox="1"/>
          <p:nvPr/>
        </p:nvSpPr>
        <p:spPr>
          <a:xfrm>
            <a:off x="0" y="6253646"/>
            <a:ext cx="11531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/>
              <a:t>Source - </a:t>
            </a:r>
            <a:r>
              <a:rPr lang="en-US" sz="1400" i="1" dirty="0"/>
              <a:t>Multi-disciplinary constraint optimization of wind turbines by </a:t>
            </a:r>
            <a:r>
              <a:rPr lang="it-IT" sz="1400" i="1" dirty="0"/>
              <a:t>Carlo Luigi Bottasso, Filippo Campagnolo, Alessandro Croce</a:t>
            </a:r>
            <a:endParaRPr lang="en-IN" sz="1400" i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2516D9-3E37-03E8-A0F1-66B3DDFC5B02}"/>
              </a:ext>
            </a:extLst>
          </p:cNvPr>
          <p:cNvSpPr txBox="1"/>
          <p:nvPr/>
        </p:nvSpPr>
        <p:spPr>
          <a:xfrm>
            <a:off x="8549978" y="3224498"/>
            <a:ext cx="298108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/>
              <a:t>Figure 2 – </a:t>
            </a:r>
            <a:r>
              <a:rPr lang="en-US" sz="1400" i="1" dirty="0"/>
              <a:t>Box Spar Caps,</a:t>
            </a:r>
          </a:p>
          <a:p>
            <a:pPr algn="l"/>
            <a:r>
              <a:rPr lang="en-US" sz="1400" b="1" i="1" dirty="0"/>
              <a:t>A: </a:t>
            </a:r>
            <a:r>
              <a:rPr lang="en-US" sz="1400" i="1" dirty="0"/>
              <a:t>three cell with shear webs &amp; spar caps,</a:t>
            </a:r>
          </a:p>
          <a:p>
            <a:pPr algn="l"/>
            <a:r>
              <a:rPr lang="en-US" sz="1400" b="1" i="1" dirty="0"/>
              <a:t>B: </a:t>
            </a:r>
            <a:r>
              <a:rPr lang="en-US" sz="1400" i="1" dirty="0"/>
              <a:t>three cell box type, with single inter-web capping,</a:t>
            </a:r>
          </a:p>
          <a:p>
            <a:pPr algn="l"/>
            <a:r>
              <a:rPr lang="en-US" sz="1400" b="1" i="1" dirty="0"/>
              <a:t>C: </a:t>
            </a:r>
            <a:r>
              <a:rPr lang="en-US" sz="1400" i="1" dirty="0"/>
              <a:t>three cell, with single capping extending fore and aft of the shear webs.</a:t>
            </a:r>
            <a:endParaRPr lang="en-IN" sz="1400" i="1" dirty="0"/>
          </a:p>
        </p:txBody>
      </p:sp>
    </p:spTree>
    <p:extLst>
      <p:ext uri="{BB962C8B-B14F-4D97-AF65-F5344CB8AC3E}">
        <p14:creationId xmlns:p14="http://schemas.microsoft.com/office/powerpoint/2010/main" val="1625711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239FB-6416-4F8D-68EB-C963B0D9D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934E0AB-1C4E-F54C-D3F7-3F9EC6163DA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10/11/2025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227F13B1-A2E2-9039-3C18-676007354ED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DB06141-CCD3-6F05-DD7A-925674AC0E8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3B989ABE-25DA-38D2-D4F2-122E1E91173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Anudeep Allanki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60ED55-552A-B722-A38A-DEB1A8CD773B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9F18F25-DF69-278D-C5E2-17E830BD06D9}"/>
              </a:ext>
            </a:extLst>
          </p:cNvPr>
          <p:cNvSpPr txBox="1">
            <a:spLocks/>
          </p:cNvSpPr>
          <p:nvPr/>
        </p:nvSpPr>
        <p:spPr>
          <a:xfrm>
            <a:off x="838200" y="1282567"/>
            <a:ext cx="10515600" cy="5137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3.1.1 Types of Spar Caps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0" indent="0">
              <a:buNone/>
            </a:pPr>
            <a:r>
              <a:rPr lang="en-IN" sz="2200" b="1" dirty="0">
                <a:solidFill>
                  <a:sysClr val="windowText" lastClr="000000"/>
                </a:solidFill>
              </a:rPr>
              <a:t>b. Split Spar Cap Design –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ysClr val="windowText" lastClr="000000"/>
                </a:solidFill>
              </a:rPr>
              <a:t>In this type, the main cap is divided into two or more separate sections.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ysClr val="windowText" lastClr="000000"/>
                </a:solidFill>
              </a:rPr>
              <a:t>These "split" caps are still connected by shear webs, but this design offers specific structural advantages.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ysClr val="windowText" lastClr="000000"/>
                </a:solidFill>
              </a:rPr>
              <a:t>Key Features –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ysClr val="windowText" lastClr="000000"/>
                </a:solidFill>
              </a:rPr>
              <a:t>Increases Stability - </a:t>
            </a:r>
            <a:r>
              <a:rPr lang="en-US" sz="2200" dirty="0">
                <a:solidFill>
                  <a:sysClr val="windowText" lastClr="000000"/>
                </a:solidFill>
              </a:rPr>
              <a:t>improved the Blade's resistance to buckling.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ysClr val="windowText" lastClr="000000"/>
                </a:solidFill>
              </a:rPr>
              <a:t>Better Stiffness - </a:t>
            </a:r>
            <a:r>
              <a:rPr lang="en-US" sz="2200" dirty="0">
                <a:solidFill>
                  <a:sysClr val="windowText" lastClr="000000"/>
                </a:solidFill>
              </a:rPr>
              <a:t>increased the Blade's stiffness in the "edgewise" direction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ysClr val="windowText" lastClr="000000"/>
                </a:solidFill>
              </a:rPr>
              <a:t>Weight optimization - </a:t>
            </a:r>
            <a:r>
              <a:rPr lang="en-US" sz="2200" dirty="0">
                <a:solidFill>
                  <a:sysClr val="windowText" lastClr="000000"/>
                </a:solidFill>
              </a:rPr>
              <a:t>less weight of Blade without sacrificing strength.</a:t>
            </a:r>
            <a:endParaRPr lang="en-IN" sz="22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265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67142-D0BC-4EBA-66AD-1D6676AB4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78FA4F0-51D1-99AA-23A5-C3ED309778E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10/11/2025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8ECEEC3A-A715-840B-99F7-86374AB0C36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B42F411-9EE9-3C87-10F9-DC76A4F41A8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55364865-C663-7E7A-1582-59278BB0C75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Anudeep Allanki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9D36E8-FFF9-4504-2321-92708659C677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77DACDB-D38E-40EE-04E5-7F980962878F}"/>
              </a:ext>
            </a:extLst>
          </p:cNvPr>
          <p:cNvSpPr txBox="1">
            <a:spLocks/>
          </p:cNvSpPr>
          <p:nvPr/>
        </p:nvSpPr>
        <p:spPr>
          <a:xfrm>
            <a:off x="838200" y="1282568"/>
            <a:ext cx="10515600" cy="10082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3.1.1 Types of Spar Caps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0" indent="0">
              <a:buNone/>
            </a:pPr>
            <a:r>
              <a:rPr lang="en-IN" sz="2200" b="1" dirty="0">
                <a:solidFill>
                  <a:sysClr val="windowText" lastClr="000000"/>
                </a:solidFill>
              </a:rPr>
              <a:t>b. Split Spar Cap Design –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FDEF08-2F54-2DE3-0C12-54F90A9B5CA9}"/>
              </a:ext>
            </a:extLst>
          </p:cNvPr>
          <p:cNvSpPr txBox="1"/>
          <p:nvPr/>
        </p:nvSpPr>
        <p:spPr>
          <a:xfrm>
            <a:off x="0" y="6253646"/>
            <a:ext cx="11531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/>
              <a:t>Source - </a:t>
            </a:r>
            <a:r>
              <a:rPr lang="en-US" sz="1400" i="1" dirty="0"/>
              <a:t>A concept study of a carbon spar cap design for a 80m wind turbine blade by Malo Rosemeier, M </a:t>
            </a:r>
            <a:r>
              <a:rPr lang="en-US" sz="1400" i="1" dirty="0" err="1"/>
              <a:t>Bätge</a:t>
            </a:r>
            <a:endParaRPr lang="en-IN" sz="1400" i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8DCE5E9-56BC-7F56-6F05-092F479B88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91799" y="2230635"/>
            <a:ext cx="6306499" cy="380360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14C9FC0-D3C7-D902-D8A0-55F2D3E3D0DA}"/>
              </a:ext>
            </a:extLst>
          </p:cNvPr>
          <p:cNvSpPr txBox="1"/>
          <p:nvPr/>
        </p:nvSpPr>
        <p:spPr>
          <a:xfrm>
            <a:off x="8549978" y="3224498"/>
            <a:ext cx="32409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/>
              <a:t>Figure 3 – </a:t>
            </a:r>
            <a:r>
              <a:rPr lang="en-US" sz="1400" i="1" dirty="0"/>
              <a:t>Topologies of</a:t>
            </a:r>
          </a:p>
          <a:p>
            <a:pPr algn="l"/>
            <a:r>
              <a:rPr lang="en-US" sz="1400" b="1" i="1" dirty="0"/>
              <a:t>a:</a:t>
            </a:r>
            <a:r>
              <a:rPr lang="en-US" sz="1400" i="1" dirty="0"/>
              <a:t> split spar cap (SSC) concept,</a:t>
            </a:r>
          </a:p>
          <a:p>
            <a:pPr algn="l"/>
            <a:r>
              <a:rPr lang="en-US" sz="1400" b="1" i="1" dirty="0"/>
              <a:t>b:.</a:t>
            </a:r>
            <a:r>
              <a:rPr lang="en-US" sz="1400" i="1" dirty="0"/>
              <a:t> continuous spar cap (CSC) concept,</a:t>
            </a:r>
          </a:p>
          <a:p>
            <a:pPr algn="l"/>
            <a:r>
              <a:rPr lang="en-US" sz="1400" b="1" i="1" dirty="0"/>
              <a:t>c:</a:t>
            </a:r>
            <a:r>
              <a:rPr lang="en-US" sz="1400" i="1" dirty="0"/>
              <a:t> baseline. ox Spar Caps.</a:t>
            </a:r>
            <a:endParaRPr lang="en-IN" sz="1400" i="1" dirty="0"/>
          </a:p>
        </p:txBody>
      </p:sp>
    </p:spTree>
    <p:extLst>
      <p:ext uri="{BB962C8B-B14F-4D97-AF65-F5344CB8AC3E}">
        <p14:creationId xmlns:p14="http://schemas.microsoft.com/office/powerpoint/2010/main" val="849688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6CB2E-6538-E024-A88C-8767372C7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A612ECD-BC25-80E0-6850-A6113CBCFE3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10/11/2025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EA892027-F50D-CF95-20BD-EB94212CD4D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9F97AAC-A255-044D-B1F6-455E80ACFAA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10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F04AAEC7-351E-6489-E166-A7BC4ECC79B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Anudeep Allanki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434DAF-4D38-FB4C-A7F4-E1F2BAF2AEBD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4142F8D-C30C-F18A-8593-5D53241BAA9F}"/>
              </a:ext>
            </a:extLst>
          </p:cNvPr>
          <p:cNvSpPr txBox="1">
            <a:spLocks/>
          </p:cNvSpPr>
          <p:nvPr/>
        </p:nvSpPr>
        <p:spPr>
          <a:xfrm>
            <a:off x="838200" y="1282568"/>
            <a:ext cx="10515600" cy="25675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3.1.2 Types of Bending Moments on Spar Caps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0" indent="0">
              <a:buNone/>
            </a:pPr>
            <a:r>
              <a:rPr lang="en-IN" sz="2200" b="1" dirty="0">
                <a:solidFill>
                  <a:sysClr val="windowText" lastClr="000000"/>
                </a:solidFill>
              </a:rPr>
              <a:t>a. Primary Bending - </a:t>
            </a:r>
            <a:r>
              <a:rPr lang="en-IN" sz="2200" b="1" i="1" dirty="0" err="1">
                <a:solidFill>
                  <a:srgbClr val="FF0000"/>
                </a:solidFill>
              </a:rPr>
              <a:t>Flapwise</a:t>
            </a:r>
            <a:r>
              <a:rPr lang="en-IN" sz="2200" b="1" i="1" dirty="0">
                <a:solidFill>
                  <a:srgbClr val="FF0000"/>
                </a:solidFill>
              </a:rPr>
              <a:t> Bending</a:t>
            </a:r>
            <a:endParaRPr lang="en-IN" sz="2400" b="1" i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sz="2200" b="1" dirty="0">
                <a:solidFill>
                  <a:sysClr val="windowText" lastClr="000000"/>
                </a:solidFill>
              </a:rPr>
              <a:t>b. Secondary Bending: </a:t>
            </a:r>
            <a:r>
              <a:rPr lang="en-IN" sz="2200" b="1" i="1" dirty="0">
                <a:solidFill>
                  <a:srgbClr val="FF0000"/>
                </a:solidFill>
              </a:rPr>
              <a:t>Edgewise Bending</a:t>
            </a:r>
            <a:endParaRPr lang="en-IN" sz="2200" b="1" dirty="0">
              <a:solidFill>
                <a:sysClr val="windowText" lastClr="0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D9A62D-0ABD-DA41-3194-C8DDE6CDEF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3116605"/>
            <a:ext cx="6923272" cy="21240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3E9D42D-E436-603E-4BDA-E18602DA83F2}"/>
              </a:ext>
            </a:extLst>
          </p:cNvPr>
          <p:cNvSpPr txBox="1"/>
          <p:nvPr/>
        </p:nvSpPr>
        <p:spPr>
          <a:xfrm>
            <a:off x="0" y="6253646"/>
            <a:ext cx="11531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/>
              <a:t>Source – </a:t>
            </a:r>
            <a:r>
              <a:rPr lang="en-US" sz="1400" i="1" dirty="0"/>
              <a:t>Lecture Scripts from Prof. Dr. Francesco </a:t>
            </a:r>
            <a:r>
              <a:rPr lang="en-US" sz="1400" i="1" dirty="0" err="1"/>
              <a:t>Previtali</a:t>
            </a:r>
            <a:endParaRPr lang="en-IN" sz="1400" i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A5E4D3-3F0D-FA82-7702-4808877E0482}"/>
              </a:ext>
            </a:extLst>
          </p:cNvPr>
          <p:cNvSpPr txBox="1"/>
          <p:nvPr/>
        </p:nvSpPr>
        <p:spPr>
          <a:xfrm>
            <a:off x="7949201" y="4024716"/>
            <a:ext cx="3504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/>
              <a:t>Figure 4 – </a:t>
            </a:r>
            <a:r>
              <a:rPr lang="en-US" sz="1400" i="1" dirty="0"/>
              <a:t>Bending Moments on Spar Caps</a:t>
            </a:r>
            <a:endParaRPr lang="en-IN" sz="1400" i="1" dirty="0"/>
          </a:p>
        </p:txBody>
      </p:sp>
    </p:spTree>
    <p:extLst>
      <p:ext uri="{BB962C8B-B14F-4D97-AF65-F5344CB8AC3E}">
        <p14:creationId xmlns:p14="http://schemas.microsoft.com/office/powerpoint/2010/main" val="3515464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ED782-53FF-E255-6670-33002E271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ACE7DCB-F03A-CAD8-9109-58C95D6ED49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10/11/2025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C5D9073-90F7-B249-FCA3-43F93DAC0D4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6BDA40D-0D35-B199-C347-872920AE9AC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11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E79544F8-27E6-56B0-7A00-B52AECCFB6F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Anudeep Allanki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DFD0E6-E4A8-AFFD-6283-13993C2D0F34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67850BD-BDD7-1B62-E009-55993D0D2B94}"/>
              </a:ext>
            </a:extLst>
          </p:cNvPr>
          <p:cNvSpPr txBox="1">
            <a:spLocks/>
          </p:cNvSpPr>
          <p:nvPr/>
        </p:nvSpPr>
        <p:spPr>
          <a:xfrm>
            <a:off x="838200" y="1282568"/>
            <a:ext cx="6833135" cy="4712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3.1.2 Types of Bending Moments on Spar Caps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0" indent="0">
              <a:buNone/>
            </a:pPr>
            <a:r>
              <a:rPr lang="en-IN" sz="2200" b="1" dirty="0">
                <a:solidFill>
                  <a:sysClr val="windowText" lastClr="000000"/>
                </a:solidFill>
              </a:rPr>
              <a:t>a. Primary Bending - </a:t>
            </a:r>
            <a:r>
              <a:rPr lang="en-IN" sz="2200" b="1" i="1" dirty="0" err="1">
                <a:solidFill>
                  <a:srgbClr val="FF0000"/>
                </a:solidFill>
              </a:rPr>
              <a:t>Flapwise</a:t>
            </a:r>
            <a:r>
              <a:rPr lang="en-IN" sz="2200" b="1" i="1" dirty="0">
                <a:solidFill>
                  <a:srgbClr val="FF0000"/>
                </a:solidFill>
              </a:rPr>
              <a:t> Bending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/>
              <a:t>This is the most significant load a spar cap is designed to handle.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/>
              <a:t>It's caused by the aerodynamic thrust of the wind pushing on the wide face of the blade.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/>
              <a:t>This force causes the blade to bend backwards and forwards.</a:t>
            </a:r>
            <a:endParaRPr lang="en-I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949D00-7857-2CA1-BB61-7103A9BD4D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43936" y="3287114"/>
            <a:ext cx="4524932" cy="25200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F727401-3836-9AE9-E5F7-51F367794829}"/>
              </a:ext>
            </a:extLst>
          </p:cNvPr>
          <p:cNvSpPr txBox="1"/>
          <p:nvPr/>
        </p:nvSpPr>
        <p:spPr>
          <a:xfrm>
            <a:off x="0" y="6253646"/>
            <a:ext cx="121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/>
              <a:t>Source – </a:t>
            </a:r>
            <a:r>
              <a:rPr lang="en-US" sz="1400" i="1" dirty="0"/>
              <a:t>Design &amp; Analysis of Equipment for Load Introduction during Full Scale Blade Test by J. Andersen, M. Escudero, L. Larsen, J. Thuesen, A. </a:t>
            </a:r>
            <a:r>
              <a:rPr lang="en-US" sz="1400" i="1" dirty="0" err="1"/>
              <a:t>Vissamsetty</a:t>
            </a:r>
            <a:endParaRPr lang="en-IN" sz="1400" i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7BE9C7-B91A-EE23-A3D2-AC8D7BEFE539}"/>
              </a:ext>
            </a:extLst>
          </p:cNvPr>
          <p:cNvSpPr txBox="1"/>
          <p:nvPr/>
        </p:nvSpPr>
        <p:spPr>
          <a:xfrm>
            <a:off x="7848277" y="5816459"/>
            <a:ext cx="43437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/>
              <a:t>Figure 5 – </a:t>
            </a:r>
            <a:r>
              <a:rPr lang="en-US" sz="1400" i="1" dirty="0" err="1"/>
              <a:t>Flapwise</a:t>
            </a:r>
            <a:r>
              <a:rPr lang="en-US" sz="1400" i="1" dirty="0"/>
              <a:t> Bending Moments on Blades</a:t>
            </a:r>
            <a:endParaRPr lang="en-IN" sz="1400" i="1" dirty="0"/>
          </a:p>
        </p:txBody>
      </p:sp>
    </p:spTree>
    <p:extLst>
      <p:ext uri="{BB962C8B-B14F-4D97-AF65-F5344CB8AC3E}">
        <p14:creationId xmlns:p14="http://schemas.microsoft.com/office/powerpoint/2010/main" val="10106763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0A58B-3E67-C2E4-E26C-DDD48DECD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C083323-6748-9F48-0660-D7D4AABCBEA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10/11/2025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C0458171-ED3B-4499-CF21-37091C8C6D7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B56800B-817F-DE55-F160-A27E2C2D471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12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29A7FDE3-9AA5-636D-2737-1B7774E1F87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Anudeep Allanki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B7AD6B-AB55-7912-2943-F53C026A9E11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AF61005-059F-7390-7EA7-335D3C21957B}"/>
              </a:ext>
            </a:extLst>
          </p:cNvPr>
          <p:cNvSpPr txBox="1">
            <a:spLocks/>
          </p:cNvSpPr>
          <p:nvPr/>
        </p:nvSpPr>
        <p:spPr>
          <a:xfrm>
            <a:off x="838200" y="1282568"/>
            <a:ext cx="6833135" cy="35558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3.1.2 Types of Bending Moments on Spar Caps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0" indent="0">
              <a:buNone/>
            </a:pPr>
            <a:r>
              <a:rPr lang="en-IN" sz="2200" b="1" dirty="0">
                <a:solidFill>
                  <a:sysClr val="windowText" lastClr="000000"/>
                </a:solidFill>
              </a:rPr>
              <a:t>b. Secondary Bending: </a:t>
            </a:r>
            <a:r>
              <a:rPr lang="en-IN" sz="2200" b="1" i="1" dirty="0">
                <a:solidFill>
                  <a:srgbClr val="FF0000"/>
                </a:solidFill>
              </a:rPr>
              <a:t>Edgewise Bending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ysClr val="windowText" lastClr="000000"/>
                </a:solidFill>
              </a:rPr>
              <a:t>This is the secondary bending load, acting parallel to the blade's direction of rotation. The main cause is gravity.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ysClr val="windowText" lastClr="000000"/>
                </a:solidFill>
              </a:rPr>
              <a:t>It's called "edgewise" because the blade is bending along its thin leading and trailing edges.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ysClr val="windowText" lastClr="000000"/>
                </a:solidFill>
              </a:rPr>
              <a:t>This load is a major driver of fatigue in the blade structure.</a:t>
            </a:r>
            <a:endParaRPr lang="en-IN" sz="2200" dirty="0">
              <a:solidFill>
                <a:sysClr val="windowText" lastClr="000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F3795C2-E278-B4A9-CE05-E3E6D44932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43936" y="3287114"/>
            <a:ext cx="4524932" cy="25200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A3C0FEF-6E86-F973-B96B-20BA589D1EE5}"/>
              </a:ext>
            </a:extLst>
          </p:cNvPr>
          <p:cNvSpPr txBox="1"/>
          <p:nvPr/>
        </p:nvSpPr>
        <p:spPr>
          <a:xfrm>
            <a:off x="0" y="6253646"/>
            <a:ext cx="121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/>
              <a:t>Source – </a:t>
            </a:r>
            <a:r>
              <a:rPr lang="en-US" sz="1400" i="1" dirty="0"/>
              <a:t>Design &amp; Analysis of Equipment for Load Introduction during Full Scale Blade Test by J. Andersen, M. Escudero, L. Larsen, J. Thuesen, A. </a:t>
            </a:r>
            <a:r>
              <a:rPr lang="en-US" sz="1400" i="1" dirty="0" err="1"/>
              <a:t>Vissamsetty</a:t>
            </a:r>
            <a:endParaRPr lang="en-IN" sz="1400" i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0F7AF1-9338-E1C1-1792-B1D926753349}"/>
              </a:ext>
            </a:extLst>
          </p:cNvPr>
          <p:cNvSpPr txBox="1"/>
          <p:nvPr/>
        </p:nvSpPr>
        <p:spPr>
          <a:xfrm>
            <a:off x="7848277" y="5816459"/>
            <a:ext cx="43437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/>
              <a:t>Figure 6 – </a:t>
            </a:r>
            <a:r>
              <a:rPr lang="en-US" sz="1400" i="1" dirty="0"/>
              <a:t>Edgewise Bending Moments on Blades</a:t>
            </a:r>
            <a:endParaRPr lang="en-IN" sz="1400" i="1" dirty="0"/>
          </a:p>
        </p:txBody>
      </p:sp>
    </p:spTree>
    <p:extLst>
      <p:ext uri="{BB962C8B-B14F-4D97-AF65-F5344CB8AC3E}">
        <p14:creationId xmlns:p14="http://schemas.microsoft.com/office/powerpoint/2010/main" val="30475437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71560-22F7-28D5-52D2-947ACFEC2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F1DD7A2-2533-0714-7728-AA5EAE4B363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10/11/2025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60BB8D5-1892-31B7-9D3A-B8D4DEF5EC3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7C32190-EC5D-ADBC-9A87-18C306A3437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13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AB9B89E2-0773-5D19-1CB2-78A0396E6C9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Anudeep Allanki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0899EE-9883-2568-31A4-86DAF9B8B144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96AABB4-95A2-6520-2E68-26D17ECDBC83}"/>
              </a:ext>
            </a:extLst>
          </p:cNvPr>
          <p:cNvSpPr txBox="1">
            <a:spLocks/>
          </p:cNvSpPr>
          <p:nvPr/>
        </p:nvSpPr>
        <p:spPr>
          <a:xfrm>
            <a:off x="838200" y="1282568"/>
            <a:ext cx="10740992" cy="28466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3.1.3 Bending Stiffness of Spar Caps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0" indent="0">
              <a:buNone/>
            </a:pPr>
            <a:r>
              <a:rPr lang="en-IN" sz="2200" b="1" dirty="0">
                <a:solidFill>
                  <a:sysClr val="windowText" lastClr="000000"/>
                </a:solidFill>
              </a:rPr>
              <a:t>a. Bending Stiffness (</a:t>
            </a:r>
            <a:r>
              <a:rPr lang="en-IN" sz="2200" dirty="0">
                <a:solidFill>
                  <a:sysClr val="windowText" lastClr="000000"/>
                </a:solidFill>
              </a:rPr>
              <a:t>also called </a:t>
            </a:r>
            <a:r>
              <a:rPr lang="en-IN" sz="2200" b="1" dirty="0">
                <a:solidFill>
                  <a:srgbClr val="FF0000"/>
                </a:solidFill>
              </a:rPr>
              <a:t>Flexural Rigidity</a:t>
            </a:r>
            <a:r>
              <a:rPr lang="en-IN" sz="2200" b="1" dirty="0">
                <a:solidFill>
                  <a:sysClr val="windowText" lastClr="000000"/>
                </a:solidFill>
              </a:rPr>
              <a:t>)  - </a:t>
            </a:r>
            <a:endParaRPr lang="en-IN" sz="2200" b="1" i="1" dirty="0">
              <a:solidFill>
                <a:srgbClr val="FF0000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ysClr val="windowText" lastClr="000000"/>
                </a:solidFill>
              </a:rPr>
              <a:t>It is the spar cap's fundamental resistance to bending.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ysClr val="windowText" lastClr="000000"/>
                </a:solidFill>
              </a:rPr>
              <a:t>It's the most important property for preventing the blade from deflecting too much and striking the tower.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ysClr val="windowText" lastClr="000000"/>
                </a:solidFill>
              </a:rPr>
              <a:t>It is NOT the same as strength (which is resistance to breaking).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ysClr val="windowText" lastClr="000000"/>
                </a:solidFill>
              </a:rPr>
              <a:t>Stiffness is resistance to bending.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ABB1F0E-DD22-21FD-136B-8403E9B63370}"/>
                  </a:ext>
                </a:extLst>
              </p:cNvPr>
              <p:cNvSpPr txBox="1"/>
              <p:nvPr/>
            </p:nvSpPr>
            <p:spPr>
              <a:xfrm>
                <a:off x="994197" y="4683611"/>
                <a:ext cx="3768660" cy="33855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𝑩𝒆𝒏𝒅𝒊𝒏𝒈</m:t>
                      </m:r>
                      <m:r>
                        <a:rPr lang="en-US" sz="2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𝑺𝒕𝒊𝒇𝒇𝒏𝒆𝒔𝒔</m:t>
                      </m:r>
                      <m:r>
                        <a:rPr lang="en-US" sz="2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sz="2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</m:oMath>
                  </m:oMathPara>
                </a14:m>
                <a:endParaRPr lang="en-IN" sz="2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ABB1F0E-DD22-21FD-136B-8403E9B633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197" y="4683611"/>
                <a:ext cx="3768660" cy="338554"/>
              </a:xfrm>
              <a:prstGeom prst="rect">
                <a:avLst/>
              </a:prstGeom>
              <a:blipFill>
                <a:blip r:embed="rId2"/>
                <a:stretch>
                  <a:fillRect l="-2265" t="-1786" r="-1294" b="-33929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773080EC-959C-B26D-42FB-6A0A09F12F25}"/>
              </a:ext>
            </a:extLst>
          </p:cNvPr>
          <p:cNvSpPr txBox="1"/>
          <p:nvPr/>
        </p:nvSpPr>
        <p:spPr>
          <a:xfrm>
            <a:off x="5230898" y="4298890"/>
            <a:ext cx="679543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200" dirty="0"/>
              <a:t>here,</a:t>
            </a:r>
          </a:p>
          <a:p>
            <a:pPr lvl="1"/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200" i="1" dirty="0"/>
              <a:t> = Young's Modulus (Material Stiffness),</a:t>
            </a:r>
          </a:p>
          <a:p>
            <a:pPr lvl="1"/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200" i="1" dirty="0"/>
              <a:t> = Second Moment of Area (Shape Stiffness)</a:t>
            </a:r>
            <a:endParaRPr lang="en-IN" sz="2200" i="1" dirty="0"/>
          </a:p>
        </p:txBody>
      </p:sp>
    </p:spTree>
    <p:extLst>
      <p:ext uri="{BB962C8B-B14F-4D97-AF65-F5344CB8AC3E}">
        <p14:creationId xmlns:p14="http://schemas.microsoft.com/office/powerpoint/2010/main" val="26840660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6B628-43F4-CEBC-00E0-A1A645008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A1C6E95-9243-A3E1-D4F0-C119C60A02A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10/11/2025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F1DA5244-5F7F-4B5A-1978-3A777DC4716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8E29E1B-1603-F39B-A611-9180AF04CA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14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F540E9D6-6EDF-8BA5-1C8E-D56F97C8DD5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Anudeep Allanki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54E2A2-BA2A-5448-149E-9A6562A9A2F8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08C54E1-E1BF-0E87-A200-7B0357078306}"/>
              </a:ext>
            </a:extLst>
          </p:cNvPr>
          <p:cNvSpPr txBox="1">
            <a:spLocks/>
          </p:cNvSpPr>
          <p:nvPr/>
        </p:nvSpPr>
        <p:spPr>
          <a:xfrm>
            <a:off x="838200" y="1282567"/>
            <a:ext cx="10740992" cy="2788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3.1.3 Bending Stresses on Spar Caps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0" indent="0">
              <a:buNone/>
            </a:pPr>
            <a:r>
              <a:rPr lang="en-IN" sz="2200" b="1" dirty="0">
                <a:solidFill>
                  <a:sysClr val="windowText" lastClr="000000"/>
                </a:solidFill>
              </a:rPr>
              <a:t>a. Bending Stress -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ysClr val="windowText" lastClr="000000"/>
                </a:solidFill>
              </a:rPr>
              <a:t>Because a blade is always moving and bending, the stress on the spar caps is cyclical.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ysClr val="windowText" lastClr="000000"/>
                </a:solidFill>
              </a:rPr>
              <a:t>This cycle is defined by a </a:t>
            </a:r>
            <a:r>
              <a:rPr lang="en-US" sz="2200" b="1" dirty="0">
                <a:solidFill>
                  <a:sysClr val="windowText" lastClr="000000"/>
                </a:solidFill>
              </a:rPr>
              <a:t>Maximum Stress (</a:t>
            </a:r>
            <a:r>
              <a:rPr lang="el-GR" sz="22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IN" sz="2200" b="1" baseline="-250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US" sz="2200" b="1" dirty="0">
                <a:solidFill>
                  <a:sysClr val="windowText" lastClr="000000"/>
                </a:solidFill>
              </a:rPr>
              <a:t>)</a:t>
            </a:r>
            <a:r>
              <a:rPr lang="en-US" sz="2200" dirty="0">
                <a:solidFill>
                  <a:sysClr val="windowText" lastClr="000000"/>
                </a:solidFill>
              </a:rPr>
              <a:t> &amp; </a:t>
            </a:r>
            <a:r>
              <a:rPr lang="en-US" sz="2200" b="1" dirty="0">
                <a:solidFill>
                  <a:sysClr val="windowText" lastClr="000000"/>
                </a:solidFill>
              </a:rPr>
              <a:t>Minimum Stress (</a:t>
            </a:r>
            <a:r>
              <a:rPr lang="el-GR" sz="22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IN" sz="2200" b="1" baseline="-250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US" sz="2200" b="1" dirty="0">
                <a:solidFill>
                  <a:sysClr val="windowText" lastClr="000000"/>
                </a:solidFill>
              </a:rPr>
              <a:t>)</a:t>
            </a:r>
            <a:r>
              <a:rPr lang="en-US" sz="2200" dirty="0">
                <a:solidFill>
                  <a:sysClr val="windowText" lastClr="000000"/>
                </a:solidFill>
              </a:rPr>
              <a:t>, which is the key driver of material fatigue and a critical part of the design.</a:t>
            </a:r>
          </a:p>
        </p:txBody>
      </p:sp>
    </p:spTree>
    <p:extLst>
      <p:ext uri="{BB962C8B-B14F-4D97-AF65-F5344CB8AC3E}">
        <p14:creationId xmlns:p14="http://schemas.microsoft.com/office/powerpoint/2010/main" val="17992761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4B13A-737A-2655-EAFC-4170212BF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B05F20D-BDA8-B709-843B-5BA84CDBE21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10/11/2025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CBF0E11D-5CE8-E695-B7A1-7E1FF09AEC7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47A2398-742B-B00A-3700-9E8BB89A1DB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15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4045182-78D1-281B-FB53-10D7662565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Anudeep Allanki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77DCC1-5393-4B4A-5743-D6C11BF833A6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9980C6D-8941-70C1-FC14-9CFE163BE6CB}"/>
              </a:ext>
            </a:extLst>
          </p:cNvPr>
          <p:cNvSpPr txBox="1">
            <a:spLocks/>
          </p:cNvSpPr>
          <p:nvPr/>
        </p:nvSpPr>
        <p:spPr>
          <a:xfrm>
            <a:off x="838200" y="1282566"/>
            <a:ext cx="10740992" cy="43000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3.1.3 Bending Stresses on Spar Caps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0" indent="0">
              <a:buNone/>
            </a:pPr>
            <a:r>
              <a:rPr lang="en-IN" sz="2200" b="1" dirty="0">
                <a:solidFill>
                  <a:sysClr val="windowText" lastClr="000000"/>
                </a:solidFill>
              </a:rPr>
              <a:t>a. Bending Stress - </a:t>
            </a:r>
          </a:p>
          <a:p>
            <a:pPr marL="457200" lvl="1" indent="0">
              <a:buNone/>
            </a:pPr>
            <a:r>
              <a:rPr lang="en-US" sz="2200" b="1" dirty="0">
                <a:solidFill>
                  <a:sysClr val="windowText" lastClr="000000"/>
                </a:solidFill>
              </a:rPr>
              <a:t>1. Maximum Stress (</a:t>
            </a:r>
            <a:r>
              <a:rPr lang="el-GR" sz="22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IN" sz="2200" b="1" baseline="-250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US" sz="2200" b="1" dirty="0">
                <a:solidFill>
                  <a:sysClr val="windowText" lastClr="000000"/>
                </a:solidFill>
              </a:rPr>
              <a:t>) –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ysClr val="windowText" lastClr="000000"/>
                </a:solidFill>
              </a:rPr>
              <a:t>The highest tensile (pulling) stress experienced by the spar cap during its rotation.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ysClr val="windowText" lastClr="000000"/>
                </a:solidFill>
              </a:rPr>
              <a:t>This occurs on the suction side (top) spar cap when the blade is hit by a strong gust of wind, causing it to bend backward (</a:t>
            </a:r>
            <a:r>
              <a:rPr lang="en-US" sz="2200" dirty="0" err="1">
                <a:solidFill>
                  <a:sysClr val="windowText" lastClr="000000"/>
                </a:solidFill>
              </a:rPr>
              <a:t>flapwise</a:t>
            </a:r>
            <a:r>
              <a:rPr lang="en-US" sz="2200" dirty="0">
                <a:solidFill>
                  <a:sysClr val="windowText" lastClr="000000"/>
                </a:solidFill>
              </a:rPr>
              <a:t> bending).</a:t>
            </a:r>
          </a:p>
          <a:p>
            <a:pPr marL="457200" lvl="1" indent="0">
              <a:buNone/>
            </a:pPr>
            <a:r>
              <a:rPr lang="en-US" sz="2200" b="1" dirty="0">
                <a:solidFill>
                  <a:sysClr val="windowText" lastClr="000000"/>
                </a:solidFill>
              </a:rPr>
              <a:t>2. Minimum Stress (</a:t>
            </a:r>
            <a:r>
              <a:rPr lang="el-GR" sz="22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IN" sz="2200" b="1" baseline="-250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US" sz="2200" b="1" dirty="0">
                <a:solidFill>
                  <a:sysClr val="windowText" lastClr="000000"/>
                </a:solidFill>
              </a:rPr>
              <a:t>) –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ysClr val="windowText" lastClr="000000"/>
                </a:solidFill>
              </a:rPr>
              <a:t>The highest compressive (pushing) stress experienced by the spar cap.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ysClr val="windowText" lastClr="000000"/>
                </a:solidFill>
              </a:rPr>
              <a:t>This occurs on the pressure side (bottom) spar cap during that same strong gust of wind.</a:t>
            </a:r>
          </a:p>
        </p:txBody>
      </p:sp>
    </p:spTree>
    <p:extLst>
      <p:ext uri="{BB962C8B-B14F-4D97-AF65-F5344CB8AC3E}">
        <p14:creationId xmlns:p14="http://schemas.microsoft.com/office/powerpoint/2010/main" val="24430039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C3661-CFCD-E321-E248-E5BFC2AF5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E337691-F6A9-9F61-303E-322856D6755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10/11/2025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88BB23F-1AC8-358F-E401-6B7358DBB71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1287632-3C1B-20B7-4D74-291E57E8B5E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16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2991FB4B-A0D9-FD44-0AD8-C0BFB9D95D3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Anudeep Allanki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BB6A25-87F8-152A-9AA1-7E91FD17809F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BC43C4D-3203-31B9-08C5-B0FC1EAEE6CB}"/>
              </a:ext>
            </a:extLst>
          </p:cNvPr>
          <p:cNvSpPr txBox="1">
            <a:spLocks/>
          </p:cNvSpPr>
          <p:nvPr/>
        </p:nvSpPr>
        <p:spPr>
          <a:xfrm>
            <a:off x="838200" y="1282566"/>
            <a:ext cx="10740992" cy="43000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3.1.4 Bending Stress Analysis on Spar Caps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457200" lvl="1" indent="0">
              <a:buNone/>
            </a:pPr>
            <a:r>
              <a:rPr lang="en-IN" sz="2200" b="1" dirty="0">
                <a:solidFill>
                  <a:sysClr val="windowText" lastClr="000000"/>
                </a:solidFill>
              </a:rPr>
              <a:t>a. Input Tables – (</a:t>
            </a:r>
            <a:r>
              <a:rPr lang="en-IN" sz="2200" i="1" dirty="0">
                <a:solidFill>
                  <a:srgbClr val="FF0000"/>
                </a:solidFill>
              </a:rPr>
              <a:t>from WEC Shakthi 2024</a:t>
            </a:r>
            <a:r>
              <a:rPr lang="en-IN" sz="2200" b="1" dirty="0">
                <a:solidFill>
                  <a:sysClr val="windowText" lastClr="000000"/>
                </a:solidFill>
              </a:rPr>
              <a:t>)</a:t>
            </a:r>
          </a:p>
          <a:p>
            <a:pPr lvl="2" indent="-342900">
              <a:buFont typeface="Arial" panose="020B0604020202020204" pitchFamily="34" charset="0"/>
              <a:buChar char="•"/>
            </a:pPr>
            <a:r>
              <a:rPr lang="en-IN" sz="2200" b="1" dirty="0">
                <a:solidFill>
                  <a:sysClr val="windowText" lastClr="000000"/>
                </a:solidFill>
              </a:rPr>
              <a:t>loads.csv:</a:t>
            </a:r>
            <a:r>
              <a:rPr lang="en-IN" sz="2200" dirty="0">
                <a:solidFill>
                  <a:sysClr val="windowText" lastClr="000000"/>
                </a:solidFill>
              </a:rPr>
              <a:t> spanwise position &amp; </a:t>
            </a:r>
            <a:r>
              <a:rPr lang="en-IN" sz="2200" dirty="0" err="1">
                <a:solidFill>
                  <a:sysClr val="windowText" lastClr="000000"/>
                </a:solidFill>
              </a:rPr>
              <a:t>flapwise</a:t>
            </a:r>
            <a:r>
              <a:rPr lang="en-IN" sz="2200" dirty="0">
                <a:solidFill>
                  <a:sysClr val="windowText" lastClr="000000"/>
                </a:solidFill>
              </a:rPr>
              <a:t> bending moments</a:t>
            </a:r>
          </a:p>
          <a:p>
            <a:pPr lvl="2" indent="-342900">
              <a:buFont typeface="Arial" panose="020B0604020202020204" pitchFamily="34" charset="0"/>
              <a:buChar char="•"/>
            </a:pPr>
            <a:r>
              <a:rPr lang="en-IN" sz="2200" b="1" dirty="0">
                <a:solidFill>
                  <a:sysClr val="windowText" lastClr="000000"/>
                </a:solidFill>
              </a:rPr>
              <a:t>thickness.csv: </a:t>
            </a:r>
            <a:r>
              <a:rPr lang="en-IN" sz="2200" dirty="0">
                <a:solidFill>
                  <a:sysClr val="windowText" lastClr="000000"/>
                </a:solidFill>
              </a:rPr>
              <a:t>blade thickness (distance between spar caps)</a:t>
            </a:r>
          </a:p>
          <a:p>
            <a:pPr marL="457200" lvl="1" indent="0">
              <a:buNone/>
            </a:pPr>
            <a:r>
              <a:rPr lang="en-IN" sz="2200" b="1" dirty="0">
                <a:solidFill>
                  <a:sysClr val="windowText" lastClr="000000"/>
                </a:solidFill>
              </a:rPr>
              <a:t>b. Material Properties –</a:t>
            </a:r>
          </a:p>
          <a:p>
            <a:pPr lvl="2" indent="-342900">
              <a:buFont typeface="Arial" panose="020B0604020202020204" pitchFamily="34" charset="0"/>
              <a:buChar char="•"/>
            </a:pPr>
            <a:r>
              <a:rPr lang="en-IN" sz="2200" b="1" dirty="0">
                <a:solidFill>
                  <a:sysClr val="windowText" lastClr="000000"/>
                </a:solidFill>
              </a:rPr>
              <a:t>Glass Fiber:  </a:t>
            </a:r>
            <a:r>
              <a:rPr lang="en-IN" sz="2200" dirty="0">
                <a:solidFill>
                  <a:sysClr val="windowText" lastClr="000000"/>
                </a:solidFill>
              </a:rPr>
              <a:t>E = 43 </a:t>
            </a:r>
            <a:r>
              <a:rPr lang="en-IN" sz="2200" dirty="0" err="1">
                <a:solidFill>
                  <a:sysClr val="windowText" lastClr="000000"/>
                </a:solidFill>
              </a:rPr>
              <a:t>GPa</a:t>
            </a:r>
            <a:r>
              <a:rPr lang="en-IN" sz="2200" dirty="0">
                <a:solidFill>
                  <a:sysClr val="windowText" lastClr="000000"/>
                </a:solidFill>
              </a:rPr>
              <a:t>, </a:t>
            </a:r>
            <a:r>
              <a:rPr lang="el-GR" sz="2200" dirty="0">
                <a:solidFill>
                  <a:sysClr val="windowText" lastClr="000000"/>
                </a:solidFill>
              </a:rPr>
              <a:t>σ_</a:t>
            </a:r>
            <a:r>
              <a:rPr lang="en-IN" sz="2200" dirty="0">
                <a:solidFill>
                  <a:sysClr val="windowText" lastClr="000000"/>
                </a:solidFill>
              </a:rPr>
              <a:t>max = 750 MPa, </a:t>
            </a:r>
            <a:r>
              <a:rPr lang="el-GR" sz="2200" dirty="0">
                <a:solidFill>
                  <a:sysClr val="windowText" lastClr="000000"/>
                </a:solidFill>
              </a:rPr>
              <a:t>ρ = 1930 </a:t>
            </a:r>
            <a:r>
              <a:rPr lang="en-IN" sz="2200" dirty="0">
                <a:solidFill>
                  <a:sysClr val="windowText" lastClr="000000"/>
                </a:solidFill>
              </a:rPr>
              <a:t>kg/m³, SF = 1.6</a:t>
            </a:r>
            <a:endParaRPr lang="en-IN" sz="2200" b="1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13769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32CCD-2298-1800-5246-D03BE647D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8C6D628-7061-5413-8CF7-1E765424410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10/11/2025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45DF780-011E-848E-9785-7633B05A890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C1D5976-8C26-5B81-B471-8537DF01950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17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3769B088-0AEB-5FE1-42CF-61FCBF38F3D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Anudeep Allanki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4ECFA1-7E32-87AF-0AFC-60FAA3B070C1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9A7A24D-9077-CC0E-31EB-254185F270C5}"/>
              </a:ext>
            </a:extLst>
          </p:cNvPr>
          <p:cNvSpPr txBox="1">
            <a:spLocks/>
          </p:cNvSpPr>
          <p:nvPr/>
        </p:nvSpPr>
        <p:spPr>
          <a:xfrm>
            <a:off x="838200" y="1282566"/>
            <a:ext cx="10740992" cy="1289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3.1.4 Bending Stress Analysis on Spar Caps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457200" lvl="1" indent="0">
              <a:buNone/>
            </a:pPr>
            <a:r>
              <a:rPr lang="en-IN" sz="2200" b="1" dirty="0">
                <a:solidFill>
                  <a:sysClr val="windowText" lastClr="000000"/>
                </a:solidFill>
              </a:rPr>
              <a:t>c. </a:t>
            </a:r>
            <a:r>
              <a:rPr lang="en-IN" sz="2200" b="1" dirty="0" err="1">
                <a:solidFill>
                  <a:sysClr val="windowText" lastClr="000000"/>
                </a:solidFill>
              </a:rPr>
              <a:t>MatLab</a:t>
            </a:r>
            <a:r>
              <a:rPr lang="en-IN" sz="2200" b="1" dirty="0">
                <a:solidFill>
                  <a:sysClr val="windowText" lastClr="000000"/>
                </a:solidFill>
              </a:rPr>
              <a:t> Code for </a:t>
            </a:r>
            <a:r>
              <a:rPr lang="en-IN" sz="2200" b="1" dirty="0">
                <a:solidFill>
                  <a:srgbClr val="FF0000"/>
                </a:solidFill>
              </a:rPr>
              <a:t>Maximum Stress</a:t>
            </a:r>
            <a:r>
              <a:rPr lang="en-IN" sz="2200" b="1" i="1" dirty="0">
                <a:solidFill>
                  <a:sysClr val="windowText" lastClr="000000"/>
                </a:solidFill>
              </a:rPr>
              <a:t> (</a:t>
            </a:r>
            <a:r>
              <a:rPr lang="el-GR" sz="2200" i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IN" sz="2200" i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IN" sz="2200" b="1" i="1" dirty="0">
                <a:solidFill>
                  <a:sysClr val="windowText" lastClr="000000"/>
                </a:solidFill>
              </a:rPr>
              <a:t>) </a:t>
            </a:r>
            <a:r>
              <a:rPr lang="en-IN" sz="2200" b="1" dirty="0">
                <a:solidFill>
                  <a:sysClr val="windowText" lastClr="000000"/>
                </a:solidFill>
              </a:rPr>
              <a:t>&amp;</a:t>
            </a:r>
            <a:r>
              <a:rPr lang="en-IN" sz="2200" b="1" i="1" dirty="0">
                <a:solidFill>
                  <a:sysClr val="windowText" lastClr="000000"/>
                </a:solidFill>
              </a:rPr>
              <a:t> </a:t>
            </a:r>
            <a:r>
              <a:rPr lang="en-IN" sz="2200" b="1" dirty="0">
                <a:solidFill>
                  <a:srgbClr val="FF0000"/>
                </a:solidFill>
              </a:rPr>
              <a:t>Minimum Stress</a:t>
            </a:r>
            <a:r>
              <a:rPr lang="en-IN" sz="2200" b="1" i="1" dirty="0">
                <a:solidFill>
                  <a:sysClr val="windowText" lastClr="000000"/>
                </a:solidFill>
              </a:rPr>
              <a:t> (</a:t>
            </a:r>
            <a:r>
              <a:rPr lang="el-GR" sz="2200" i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IN" sz="2200" i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IN" sz="2200" b="1" i="1" dirty="0">
                <a:solidFill>
                  <a:sysClr val="windowText" lastClr="000000"/>
                </a:solidFill>
              </a:rPr>
              <a:t>)</a:t>
            </a:r>
          </a:p>
          <a:p>
            <a:pPr marL="457200" lvl="1" indent="0">
              <a:buNone/>
            </a:pPr>
            <a:r>
              <a:rPr lang="en-IN" sz="2200" b="1" dirty="0">
                <a:solidFill>
                  <a:sysClr val="windowText" lastClr="000000"/>
                </a:solidFill>
              </a:rPr>
              <a:t>d. </a:t>
            </a:r>
            <a:r>
              <a:rPr lang="en-IN" sz="2200" b="1" dirty="0" err="1">
                <a:solidFill>
                  <a:sysClr val="windowText" lastClr="000000"/>
                </a:solidFill>
              </a:rPr>
              <a:t>MatLab</a:t>
            </a:r>
            <a:r>
              <a:rPr lang="en-IN" sz="2200" b="1" dirty="0">
                <a:solidFill>
                  <a:sysClr val="windowText" lastClr="000000"/>
                </a:solidFill>
              </a:rPr>
              <a:t> Code for  Bending Stiffness</a:t>
            </a:r>
            <a:r>
              <a:rPr lang="en-IN" sz="2200" b="1" i="1" dirty="0">
                <a:solidFill>
                  <a:sysClr val="windowText" lastClr="000000"/>
                </a:solidFill>
              </a:rPr>
              <a:t> (</a:t>
            </a:r>
            <a:r>
              <a:rPr lang="en-IN" sz="2200" i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EI</a:t>
            </a:r>
            <a:r>
              <a:rPr lang="en-IN" sz="2200" b="1" i="1" dirty="0">
                <a:solidFill>
                  <a:sysClr val="windowText" lastClr="000000"/>
                </a:solidFill>
              </a:rPr>
              <a:t>) </a:t>
            </a:r>
            <a:r>
              <a:rPr lang="en-IN" sz="2200" b="1" dirty="0">
                <a:solidFill>
                  <a:sysClr val="windowText" lastClr="000000"/>
                </a:solidFill>
              </a:rPr>
              <a:t>for</a:t>
            </a:r>
            <a:r>
              <a:rPr lang="en-IN" sz="2200" b="1" i="1" dirty="0">
                <a:solidFill>
                  <a:sysClr val="windowText" lastClr="000000"/>
                </a:solidFill>
              </a:rPr>
              <a:t> </a:t>
            </a:r>
            <a:r>
              <a:rPr lang="en-IN" sz="2200" b="1" i="1" dirty="0" err="1">
                <a:solidFill>
                  <a:srgbClr val="FF0000"/>
                </a:solidFill>
              </a:rPr>
              <a:t>Flapwise</a:t>
            </a:r>
            <a:r>
              <a:rPr lang="en-IN" sz="2200" b="1" i="1" dirty="0">
                <a:solidFill>
                  <a:srgbClr val="FF0000"/>
                </a:solidFill>
              </a:rPr>
              <a:t> </a:t>
            </a:r>
            <a:r>
              <a:rPr lang="en-IN" sz="2200" b="1" dirty="0"/>
              <a:t>&amp;</a:t>
            </a:r>
            <a:r>
              <a:rPr lang="en-IN" sz="2200" b="1" dirty="0">
                <a:solidFill>
                  <a:srgbClr val="FF0000"/>
                </a:solidFill>
              </a:rPr>
              <a:t> </a:t>
            </a:r>
            <a:r>
              <a:rPr lang="en-IN" sz="2200" b="1" i="1" dirty="0">
                <a:solidFill>
                  <a:srgbClr val="FF0000"/>
                </a:solidFill>
              </a:rPr>
              <a:t>Edgewise Bending</a:t>
            </a:r>
            <a:endParaRPr lang="en-IN" sz="2200" b="1" i="1" dirty="0">
              <a:solidFill>
                <a:sysClr val="windowText" lastClr="0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5021B4-48DB-1EFC-E4A7-89DCDD27DF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7156" y="2689861"/>
            <a:ext cx="11697687" cy="36720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068108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C54FD-9E0A-384B-E67E-A2C5857C3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87F0012-D49C-6CC9-A64F-FA42915DCB0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10/11/2025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C008573-2FA0-6C81-E29E-6145F67C3D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99A3B82-F79C-E116-5DD1-0EC881FC6C2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18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E541233F-70D1-4CD9-9AEB-8A2EE70D4C9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Anudeep Allanki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131143-3532-3511-3A60-81F8333808A1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843E786-B44A-5A89-465B-A075F3B4440D}"/>
              </a:ext>
            </a:extLst>
          </p:cNvPr>
          <p:cNvSpPr txBox="1">
            <a:spLocks/>
          </p:cNvSpPr>
          <p:nvPr/>
        </p:nvSpPr>
        <p:spPr>
          <a:xfrm>
            <a:off x="838200" y="1282566"/>
            <a:ext cx="10515600" cy="1289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3.1.4 Bending Stress Analysis on Spar Caps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457200" lvl="1" indent="0">
              <a:buNone/>
            </a:pPr>
            <a:r>
              <a:rPr lang="en-IN" sz="2200" b="1" dirty="0">
                <a:solidFill>
                  <a:sysClr val="windowText" lastClr="000000"/>
                </a:solidFill>
              </a:rPr>
              <a:t>e. Plots from </a:t>
            </a:r>
            <a:r>
              <a:rPr lang="en-IN" sz="2200" b="1" dirty="0" err="1">
                <a:solidFill>
                  <a:sysClr val="windowText" lastClr="000000"/>
                </a:solidFill>
              </a:rPr>
              <a:t>MatLab</a:t>
            </a:r>
            <a:r>
              <a:rPr lang="en-IN" sz="2200" b="1" dirty="0">
                <a:solidFill>
                  <a:sysClr val="windowText" lastClr="000000"/>
                </a:solidFill>
              </a:rPr>
              <a:t> for </a:t>
            </a:r>
            <a:r>
              <a:rPr lang="en-IN" sz="2200" b="1" i="1" dirty="0">
                <a:solidFill>
                  <a:srgbClr val="FF0000"/>
                </a:solidFill>
              </a:rPr>
              <a:t>Maximum Stress</a:t>
            </a:r>
            <a:r>
              <a:rPr lang="en-IN" sz="2200" b="1" dirty="0">
                <a:solidFill>
                  <a:sysClr val="windowText" lastClr="000000"/>
                </a:solidFill>
              </a:rPr>
              <a:t> (</a:t>
            </a:r>
            <a:r>
              <a:rPr lang="el-GR" sz="2200" i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IN" sz="2200" i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IN" sz="2200" b="1" dirty="0">
                <a:solidFill>
                  <a:sysClr val="windowText" lastClr="000000"/>
                </a:solidFill>
              </a:rPr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CB6201-E863-A242-FD0F-3031862434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11355" y="2233563"/>
            <a:ext cx="6569289" cy="42480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074933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111CA-B28D-7393-4407-93AAE8B85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BD7433E-9A3C-BCAB-5903-966AAD90D35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10/11/2025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A42AE6FD-AC15-2B8A-E41E-DE360AE97CF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B5427B4-1ABC-E8AE-868F-C5B2CF19216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19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1B2BD68E-31B5-842B-B31D-AC395D64D99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Anudeep Allanki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5C6008-7DEA-BFAE-FC83-2458118F1433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275BD5D-A08B-1546-98CB-C079115BFB9B}"/>
              </a:ext>
            </a:extLst>
          </p:cNvPr>
          <p:cNvSpPr txBox="1">
            <a:spLocks/>
          </p:cNvSpPr>
          <p:nvPr/>
        </p:nvSpPr>
        <p:spPr>
          <a:xfrm>
            <a:off x="838200" y="1282566"/>
            <a:ext cx="10515600" cy="1289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3.1.4 Bending Stress Analysis on Spar Caps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457200" lvl="1" indent="0">
              <a:buNone/>
            </a:pPr>
            <a:r>
              <a:rPr lang="en-IN" sz="2200" b="1" dirty="0">
                <a:solidFill>
                  <a:sysClr val="windowText" lastClr="000000"/>
                </a:solidFill>
              </a:rPr>
              <a:t>f. Plots from </a:t>
            </a:r>
            <a:r>
              <a:rPr lang="en-IN" sz="2200" b="1" dirty="0" err="1">
                <a:solidFill>
                  <a:sysClr val="windowText" lastClr="000000"/>
                </a:solidFill>
              </a:rPr>
              <a:t>MatLab</a:t>
            </a:r>
            <a:r>
              <a:rPr lang="en-IN" sz="2200" b="1" dirty="0">
                <a:solidFill>
                  <a:sysClr val="windowText" lastClr="000000"/>
                </a:solidFill>
              </a:rPr>
              <a:t> for </a:t>
            </a:r>
            <a:r>
              <a:rPr lang="en-IN" sz="2200" b="1" i="1" dirty="0">
                <a:solidFill>
                  <a:srgbClr val="FF0000"/>
                </a:solidFill>
              </a:rPr>
              <a:t>Minimum Stress</a:t>
            </a:r>
            <a:r>
              <a:rPr lang="en-IN" sz="2200" b="1" dirty="0">
                <a:solidFill>
                  <a:srgbClr val="FF0000"/>
                </a:solidFill>
              </a:rPr>
              <a:t> </a:t>
            </a:r>
            <a:r>
              <a:rPr lang="en-IN" sz="2200" b="1" dirty="0">
                <a:solidFill>
                  <a:sysClr val="windowText" lastClr="000000"/>
                </a:solidFill>
              </a:rPr>
              <a:t>(</a:t>
            </a:r>
            <a:r>
              <a:rPr lang="el-GR" sz="2200" i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IN" sz="2200" i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IN" sz="2200" b="1" dirty="0">
                <a:solidFill>
                  <a:sysClr val="windowText" lastClr="000000"/>
                </a:solidFill>
              </a:rPr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374905-2E6B-9217-58E7-5D4C9C2384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72221" y="2233563"/>
            <a:ext cx="6447557" cy="42480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121839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F75A7-E1E8-85E4-4E04-D942389FA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AD9FDEC-DA64-13F5-2729-0D9C687A779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10/11/2025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C337850D-1669-D590-AEFB-4E614EABC67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1A356D0-BA0E-7E01-FC00-9CBD2BFFC8A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20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7F5B5364-6EA2-7485-0A5B-22E6782ED01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Anudeep Allanki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164B3C-D03A-5313-7664-120C9B4A7382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DD511D7-69B3-FCF1-3E98-BB9711255E95}"/>
              </a:ext>
            </a:extLst>
          </p:cNvPr>
          <p:cNvSpPr txBox="1">
            <a:spLocks/>
          </p:cNvSpPr>
          <p:nvPr/>
        </p:nvSpPr>
        <p:spPr>
          <a:xfrm>
            <a:off x="838200" y="1282566"/>
            <a:ext cx="10740992" cy="1289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3.1.4 Bending Stress Analysis on Spar Caps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457200" lvl="1" indent="0">
              <a:buNone/>
            </a:pPr>
            <a:r>
              <a:rPr lang="en-IN" sz="2200" b="1" dirty="0">
                <a:solidFill>
                  <a:sysClr val="windowText" lastClr="000000"/>
                </a:solidFill>
              </a:rPr>
              <a:t>g. Plots from </a:t>
            </a:r>
            <a:r>
              <a:rPr lang="en-IN" sz="2200" b="1" dirty="0" err="1">
                <a:solidFill>
                  <a:sysClr val="windowText" lastClr="000000"/>
                </a:solidFill>
              </a:rPr>
              <a:t>MatLab</a:t>
            </a:r>
            <a:r>
              <a:rPr lang="en-IN" sz="2200" b="1" dirty="0">
                <a:solidFill>
                  <a:sysClr val="windowText" lastClr="000000"/>
                </a:solidFill>
              </a:rPr>
              <a:t> for </a:t>
            </a:r>
            <a:r>
              <a:rPr lang="en-IN" sz="2200" b="1" i="1" dirty="0">
                <a:solidFill>
                  <a:sysClr val="windowText" lastClr="000000"/>
                </a:solidFill>
              </a:rPr>
              <a:t>Bending Stiffness</a:t>
            </a:r>
            <a:r>
              <a:rPr lang="en-IN" sz="2200" b="1" dirty="0">
                <a:solidFill>
                  <a:sysClr val="windowText" lastClr="000000"/>
                </a:solidFill>
              </a:rPr>
              <a:t> (</a:t>
            </a:r>
            <a:r>
              <a:rPr lang="en-IN" sz="2200" i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EI</a:t>
            </a:r>
            <a:r>
              <a:rPr lang="en-IN" sz="2200" b="1" dirty="0">
                <a:solidFill>
                  <a:sysClr val="windowText" lastClr="000000"/>
                </a:solidFill>
              </a:rPr>
              <a:t>) for </a:t>
            </a:r>
            <a:r>
              <a:rPr lang="en-IN" sz="2200" b="1" i="1" dirty="0" err="1">
                <a:solidFill>
                  <a:srgbClr val="FF0000"/>
                </a:solidFill>
              </a:rPr>
              <a:t>Flapwise</a:t>
            </a:r>
            <a:r>
              <a:rPr lang="en-IN" sz="2200" b="1" i="1" dirty="0">
                <a:solidFill>
                  <a:srgbClr val="FF0000"/>
                </a:solidFill>
              </a:rPr>
              <a:t> Bending</a:t>
            </a:r>
            <a:endParaRPr lang="en-IN" sz="2200" b="1" dirty="0">
              <a:solidFill>
                <a:sysClr val="windowText" lastClr="00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1A83E5-5482-9CDE-06B5-0B83499C74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72221" y="2239860"/>
            <a:ext cx="6447557" cy="423540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235500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1DEF4-A57D-317C-C606-9BBD4BAA1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3CC1073-B260-E651-6FF1-A793B20FAB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10/11/2025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7CD3D864-99AC-FC78-725C-33C5445096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5F713C8-7940-6F5C-C824-DD3D01F898E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21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1861F49E-0122-D146-4139-EFD81733009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Anudeep Allanki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A7BEC0-CFFB-2901-1C7C-76D8B5ACFAC1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25D4B76-764E-FFC1-0A3E-27850E79442E}"/>
              </a:ext>
            </a:extLst>
          </p:cNvPr>
          <p:cNvSpPr txBox="1">
            <a:spLocks/>
          </p:cNvSpPr>
          <p:nvPr/>
        </p:nvSpPr>
        <p:spPr>
          <a:xfrm>
            <a:off x="838200" y="1282566"/>
            <a:ext cx="10740992" cy="1289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3.1.4 Bending Stress Analysis on Spar Caps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457200" lvl="1" indent="0">
              <a:buNone/>
            </a:pPr>
            <a:r>
              <a:rPr lang="en-IN" sz="2200" b="1" dirty="0">
                <a:solidFill>
                  <a:sysClr val="windowText" lastClr="000000"/>
                </a:solidFill>
              </a:rPr>
              <a:t>h. Plots from </a:t>
            </a:r>
            <a:r>
              <a:rPr lang="en-IN" sz="2200" b="1" dirty="0" err="1">
                <a:solidFill>
                  <a:sysClr val="windowText" lastClr="000000"/>
                </a:solidFill>
              </a:rPr>
              <a:t>MatLab</a:t>
            </a:r>
            <a:r>
              <a:rPr lang="en-IN" sz="2200" b="1" dirty="0">
                <a:solidFill>
                  <a:sysClr val="windowText" lastClr="000000"/>
                </a:solidFill>
              </a:rPr>
              <a:t> for </a:t>
            </a:r>
            <a:r>
              <a:rPr lang="en-IN" sz="2200" b="1" i="1" dirty="0">
                <a:solidFill>
                  <a:sysClr val="windowText" lastClr="000000"/>
                </a:solidFill>
              </a:rPr>
              <a:t>Bending Stiffness</a:t>
            </a:r>
            <a:r>
              <a:rPr lang="en-IN" sz="2200" b="1" dirty="0">
                <a:solidFill>
                  <a:sysClr val="windowText" lastClr="000000"/>
                </a:solidFill>
              </a:rPr>
              <a:t> (</a:t>
            </a:r>
            <a:r>
              <a:rPr lang="en-IN" sz="2200" i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EI</a:t>
            </a:r>
            <a:r>
              <a:rPr lang="en-IN" sz="2200" b="1" dirty="0">
                <a:solidFill>
                  <a:sysClr val="windowText" lastClr="000000"/>
                </a:solidFill>
              </a:rPr>
              <a:t>) for </a:t>
            </a:r>
            <a:r>
              <a:rPr lang="en-IN" sz="2200" b="1" i="1" dirty="0">
                <a:solidFill>
                  <a:srgbClr val="FF0000"/>
                </a:solidFill>
              </a:rPr>
              <a:t>Edgewise Bending</a:t>
            </a:r>
            <a:endParaRPr lang="en-IN" sz="2200" b="1" dirty="0">
              <a:solidFill>
                <a:sysClr val="windowText" lastClr="00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504B56-34CA-8F78-BF4F-B544E75252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72221" y="2239860"/>
            <a:ext cx="6447557" cy="423540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869107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3E2BC-879D-FD01-00A6-4A1E94C49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0BC30AD-8ABE-2C28-4A44-730FEF4F78F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10/11/2025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1B17E5D6-143F-1F84-C48A-A18C56E4F4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5EC9E4D-D5D7-388E-C0BB-5E78BF6D7DA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22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2E62FAD8-8B25-185B-43C1-84D45C3563E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Anudeep Allanki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7C99BB-4438-815F-F9E1-E04B1A50A3D2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CC13A5-9695-0DCD-F855-C4AC2812FD38}"/>
              </a:ext>
            </a:extLst>
          </p:cNvPr>
          <p:cNvSpPr txBox="1">
            <a:spLocks/>
          </p:cNvSpPr>
          <p:nvPr/>
        </p:nvSpPr>
        <p:spPr>
          <a:xfrm>
            <a:off x="838200" y="1282567"/>
            <a:ext cx="10515600" cy="34005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3.1.5 Data required to fix the Spar Caps &amp; Webs Geometry –</a:t>
            </a:r>
          </a:p>
          <a:p>
            <a:pPr marL="400050" lvl="1" indent="0">
              <a:buNone/>
            </a:pPr>
            <a:r>
              <a:rPr kumimoji="0" lang="en-IN" sz="2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a. Blade Geometry -</a:t>
            </a:r>
          </a:p>
          <a:p>
            <a:pPr marL="400050" lvl="1" indent="0">
              <a:buNone/>
            </a:pPr>
            <a:endParaRPr kumimoji="0" lang="en-IN" sz="22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400050" lvl="1" indent="0">
              <a:buNone/>
            </a:pPr>
            <a:endParaRPr kumimoji="0" lang="en-IN" sz="22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400050" lvl="1" indent="0">
              <a:buNone/>
            </a:pPr>
            <a:endParaRPr lang="en-IN" sz="2200" dirty="0">
              <a:solidFill>
                <a:sysClr val="windowText" lastClr="000000"/>
              </a:solidFill>
            </a:endParaRPr>
          </a:p>
          <a:p>
            <a:pPr marL="400050" lvl="1" indent="0">
              <a:buNone/>
            </a:pPr>
            <a:endParaRPr kumimoji="0" lang="en-IN" sz="22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400050" lvl="1" indent="0">
              <a:buNone/>
            </a:pPr>
            <a:endParaRPr lang="en-IN" sz="2200" dirty="0">
              <a:solidFill>
                <a:sysClr val="windowText" lastClr="000000"/>
              </a:solidFill>
            </a:endParaRPr>
          </a:p>
          <a:p>
            <a:pPr marL="400050" lvl="1" indent="0">
              <a:buNone/>
            </a:pPr>
            <a:r>
              <a:rPr kumimoji="0" lang="en-IN" sz="2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b. Load and Thickness Table</a:t>
            </a:r>
            <a:r>
              <a:rPr kumimoji="0" lang="en-IN" sz="22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IN" sz="2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ea"/>
                <a:cs typeface="+mn-cs"/>
              </a:rPr>
              <a:t>(</a:t>
            </a:r>
            <a:r>
              <a:rPr lang="en-IN" sz="2200" i="1" dirty="0">
                <a:solidFill>
                  <a:sysClr val="windowText" lastClr="000000"/>
                </a:solidFill>
              </a:rPr>
              <a:t>loads.csv &amp; thickness.csv</a:t>
            </a:r>
            <a:r>
              <a:rPr lang="en-IN" sz="2200" b="1" dirty="0">
                <a:solidFill>
                  <a:sysClr val="windowText" lastClr="000000"/>
                </a:solidFill>
              </a:rPr>
              <a:t>)</a:t>
            </a:r>
            <a:endParaRPr kumimoji="0" lang="en-IN" sz="22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0CA2941-E17D-7455-5DDD-3E9BC73B56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21272" y="2187573"/>
            <a:ext cx="3089554" cy="180000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27C7353-6270-E85A-7F95-4F49060EEA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6328911"/>
              </p:ext>
            </p:extLst>
          </p:nvPr>
        </p:nvGraphicFramePr>
        <p:xfrm>
          <a:off x="5766331" y="4670427"/>
          <a:ext cx="2952000" cy="1752600"/>
        </p:xfrm>
        <a:graphic>
          <a:graphicData uri="http://schemas.openxmlformats.org/drawingml/2006/table">
            <a:tbl>
              <a:tblPr firstRow="1" bandRow="1"/>
              <a:tblGrid>
                <a:gridCol w="1476000">
                  <a:extLst>
                    <a:ext uri="{9D8B030D-6E8A-4147-A177-3AD203B41FA5}">
                      <a16:colId xmlns:a16="http://schemas.microsoft.com/office/drawing/2014/main" val="1362566801"/>
                    </a:ext>
                  </a:extLst>
                </a:gridCol>
                <a:gridCol w="1476000">
                  <a:extLst>
                    <a:ext uri="{9D8B030D-6E8A-4147-A177-3AD203B41FA5}">
                      <a16:colId xmlns:a16="http://schemas.microsoft.com/office/drawing/2014/main" val="1288305188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Thickness Table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1378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Span</a:t>
                      </a:r>
                    </a:p>
                    <a:p>
                      <a:pPr algn="ctr"/>
                      <a:r>
                        <a:rPr lang="en-IN" b="1" dirty="0"/>
                        <a:t>(m)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Thickness</a:t>
                      </a:r>
                    </a:p>
                    <a:p>
                      <a:pPr algn="ctr"/>
                      <a:r>
                        <a:rPr lang="en-IN" b="1" dirty="0"/>
                        <a:t>(m)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521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6055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1676215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77E07F8F-DDD0-7084-85CB-77890BB004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4152165"/>
              </p:ext>
            </p:extLst>
          </p:nvPr>
        </p:nvGraphicFramePr>
        <p:xfrm>
          <a:off x="2414049" y="4683126"/>
          <a:ext cx="2952000" cy="1752600"/>
        </p:xfrm>
        <a:graphic>
          <a:graphicData uri="http://schemas.openxmlformats.org/drawingml/2006/table">
            <a:tbl>
              <a:tblPr firstRow="1" bandRow="1"/>
              <a:tblGrid>
                <a:gridCol w="984000">
                  <a:extLst>
                    <a:ext uri="{9D8B030D-6E8A-4147-A177-3AD203B41FA5}">
                      <a16:colId xmlns:a16="http://schemas.microsoft.com/office/drawing/2014/main" val="1362566801"/>
                    </a:ext>
                  </a:extLst>
                </a:gridCol>
                <a:gridCol w="984000">
                  <a:extLst>
                    <a:ext uri="{9D8B030D-6E8A-4147-A177-3AD203B41FA5}">
                      <a16:colId xmlns:a16="http://schemas.microsoft.com/office/drawing/2014/main" val="1288305188"/>
                    </a:ext>
                  </a:extLst>
                </a:gridCol>
                <a:gridCol w="984000">
                  <a:extLst>
                    <a:ext uri="{9D8B030D-6E8A-4147-A177-3AD203B41FA5}">
                      <a16:colId xmlns:a16="http://schemas.microsoft.com/office/drawing/2014/main" val="3066911257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Loads Table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1378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Span</a:t>
                      </a:r>
                    </a:p>
                    <a:p>
                      <a:pPr algn="ctr"/>
                      <a:r>
                        <a:rPr lang="en-IN" b="1" dirty="0"/>
                        <a:t>(m)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err="1"/>
                        <a:t>M_max</a:t>
                      </a:r>
                      <a:endParaRPr lang="en-IN" b="1" dirty="0"/>
                    </a:p>
                    <a:p>
                      <a:pPr algn="ctr"/>
                      <a:r>
                        <a:rPr lang="en-IN" b="1" dirty="0"/>
                        <a:t>(</a:t>
                      </a:r>
                      <a:r>
                        <a:rPr lang="en-IN" b="1" dirty="0" err="1"/>
                        <a:t>kN</a:t>
                      </a:r>
                      <a:r>
                        <a:rPr lang="en-IN" b="1" dirty="0"/>
                        <a:t>-m)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err="1"/>
                        <a:t>M_min</a:t>
                      </a:r>
                      <a:endParaRPr lang="en-IN" b="1" dirty="0"/>
                    </a:p>
                    <a:p>
                      <a:pPr algn="ctr"/>
                      <a:r>
                        <a:rPr lang="en-IN" b="1" dirty="0"/>
                        <a:t>(</a:t>
                      </a:r>
                      <a:r>
                        <a:rPr lang="en-IN" b="1" dirty="0" err="1"/>
                        <a:t>kN</a:t>
                      </a:r>
                      <a:r>
                        <a:rPr lang="en-IN" b="1" dirty="0"/>
                        <a:t>-m)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521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6055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16762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27787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CB6ED1-18E3-9640-3D93-84F8B0B15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Bibliography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0D8ED35-2E13-75BD-2A2E-AC637478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83DB4-11DF-4DC9-9AFB-FDB45DBDB9C4}" type="datetime1">
              <a:rPr lang="en-GB" smtClean="0"/>
              <a:t>10/11/2025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0055318-CDFF-2436-5D76-D30CE5CB6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07705" y="6564113"/>
            <a:ext cx="3846095" cy="365125"/>
          </a:xfrm>
        </p:spPr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62673D2-F682-F630-F59F-C4FFF6A90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23</a:t>
            </a:fld>
            <a:endParaRPr lang="en-GB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4F89852-0382-5806-3356-FA1C77F6D28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Anudeep Allanki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08B34B-CE26-1470-1701-E04971C52B8A}"/>
              </a:ext>
            </a:extLst>
          </p:cNvPr>
          <p:cNvSpPr txBox="1"/>
          <p:nvPr/>
        </p:nvSpPr>
        <p:spPr>
          <a:xfrm>
            <a:off x="484418" y="1465091"/>
            <a:ext cx="10671262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of a 5 MW/61.5m Wind Turbine Blade Reference Model by Brian R. Resor, Sandia National Laboratories, California, USA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of a 5 MW Reference Wind Turbine for Offshore System Development, J. Jonkman, S. Butterfield, W. Musial, and G. Scott, National Renewable Energy Laboratory, USA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Reports from Optimus Shakthi 2024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Scripts from Prof. Dr. Francesco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Previtali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Scripts from Prof. Dr. Laurence Alhrshy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of Process Technology on Properties of Large-Scale Wind Turbine Blade Composite Spar Cap by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Yuanrong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Sun,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Congli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Hu,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Jianbo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Multi-disciplinary constraint optimization of wind turbines by Carlo Luigi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Bottasso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Filippo Campagnolo, Alessandro Croce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concept study of a carbon spar cap design for a 80m wind turbine blade by Malo Rosemeier, M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Bätge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Analysis of Equipment for Load Introduction during Full Scale Blade Test by J. Andersen, M. Escudero, L. Larsen, J. Thuesen, A.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Vissamsetty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1244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3" id="{489382AE-0E20-4DDB-AC58-6881343BCB06}" vid="{12EB4CDA-A9DA-4F07-A373-8B888615A84A}"/>
    </a:ext>
  </a:extLst>
</a:theme>
</file>

<file path=ppt/theme/theme2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3" id="{489382AE-0E20-4DDB-AC58-6881343BCB06}" vid="{BC3BCC29-301C-4D70-A384-97DBC337907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CD039B6-C6AB-492A-94BF-C46AF895D2E7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3D784B2-E216-4A14-BE4B-F0CA301E2B20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Presentation template_final</Template>
  <TotalTime>1110</TotalTime>
  <Words>1838</Words>
  <Application>Microsoft Office PowerPoint</Application>
  <PresentationFormat>Widescreen</PresentationFormat>
  <Paragraphs>258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Aptos</vt:lpstr>
      <vt:lpstr>Aptos (Textkörper)</vt:lpstr>
      <vt:lpstr>Aptos Display</vt:lpstr>
      <vt:lpstr>Arial</vt:lpstr>
      <vt:lpstr>Calibri</vt:lpstr>
      <vt:lpstr>Calibri Light</vt:lpstr>
      <vt:lpstr>Cambria Math</vt:lpstr>
      <vt:lpstr>Times New Roman</vt:lpstr>
      <vt:lpstr>Office</vt:lpstr>
      <vt:lpstr>Benutzerdefiniertes Design</vt:lpstr>
      <vt:lpstr>Team 5 – Rotor Blade Structures</vt:lpstr>
      <vt:lpstr>Contents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Bibliography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Bhima Masare</dc:creator>
  <cp:lastModifiedBy>Bhima Masare</cp:lastModifiedBy>
  <cp:revision>159</cp:revision>
  <dcterms:created xsi:type="dcterms:W3CDTF">2025-10-05T16:20:08Z</dcterms:created>
  <dcterms:modified xsi:type="dcterms:W3CDTF">2025-11-10T16:21:00Z</dcterms:modified>
</cp:coreProperties>
</file>