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4"/>
  </p:notesMasterIdLst>
  <p:handoutMasterIdLst>
    <p:handoutMasterId r:id="rId15"/>
  </p:handoutMasterIdLst>
  <p:sldIdLst>
    <p:sldId id="259" r:id="rId3"/>
    <p:sldId id="264" r:id="rId4"/>
    <p:sldId id="275" r:id="rId5"/>
    <p:sldId id="270" r:id="rId6"/>
    <p:sldId id="281" r:id="rId7"/>
    <p:sldId id="282" r:id="rId8"/>
    <p:sldId id="283" r:id="rId9"/>
    <p:sldId id="284" r:id="rId10"/>
    <p:sldId id="278" r:id="rId11"/>
    <p:sldId id="285"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irst slide" id="{EBA04D78-D1FF-49F4-BDD6-03EE135E606E}">
          <p14:sldIdLst/>
        </p14:section>
        <p14:section name="List of contents" id="{65043596-36B7-4360-BB5C-7A99EFAEC5C9}">
          <p14:sldIdLst>
            <p14:sldId id="259"/>
          </p14:sldIdLst>
        </p14:section>
        <p14:section name="Title, main slides" id="{B26F6679-C236-4D3D-BC2F-CAE5ED400718}">
          <p14:sldIdLst>
            <p14:sldId id="264"/>
            <p14:sldId id="275"/>
            <p14:sldId id="270"/>
            <p14:sldId id="281"/>
            <p14:sldId id="282"/>
            <p14:sldId id="283"/>
            <p14:sldId id="284"/>
            <p14:sldId id="278"/>
            <p14:sldId id="285"/>
          </p14:sldIdLst>
        </p14:section>
        <p14:section name="bibliography" id="{2ECB0A3B-7D16-4F98-AD6A-5308DF7BF078}">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8ECEFA"/>
    <a:srgbClr val="92C6E6"/>
    <a:srgbClr val="80D2F7"/>
    <a:srgbClr val="7ED1F7"/>
    <a:srgbClr val="A1DFFD"/>
    <a:srgbClr val="C0F5FF"/>
    <a:srgbClr val="3C96FA"/>
    <a:srgbClr val="BDE5F9"/>
    <a:srgbClr val="C1E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varScale="1">
        <p:scale>
          <a:sx n="82" d="100"/>
          <a:sy n="82" d="100"/>
        </p:scale>
        <p:origin x="87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F984966E-98CC-6A78-1424-04B6E1F2673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9153D721-EFB9-BC0E-1DC1-4F7A40F3125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D753E7D-EEC7-43DF-AF05-49FE1E0C7B25}" type="datetimeFigureOut">
              <a:rPr lang="de-DE" smtClean="0"/>
              <a:t>10.11.2025</a:t>
            </a:fld>
            <a:endParaRPr lang="de-DE"/>
          </a:p>
        </p:txBody>
      </p:sp>
      <p:sp>
        <p:nvSpPr>
          <p:cNvPr id="4" name="Fußzeilenplatzhalter 3">
            <a:extLst>
              <a:ext uri="{FF2B5EF4-FFF2-40B4-BE49-F238E27FC236}">
                <a16:creationId xmlns:a16="http://schemas.microsoft.com/office/drawing/2014/main" id="{A7BF23EC-0BC1-545E-D00A-3466D800025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8716600C-B63A-8960-82FD-8DC4BB46C8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A1B05C7-DCB9-437C-9E32-70E813415345}" type="slidenum">
              <a:rPr lang="de-DE" smtClean="0"/>
              <a:t>‹#›</a:t>
            </a:fld>
            <a:endParaRPr lang="de-DE"/>
          </a:p>
        </p:txBody>
      </p:sp>
    </p:spTree>
    <p:extLst>
      <p:ext uri="{BB962C8B-B14F-4D97-AF65-F5344CB8AC3E}">
        <p14:creationId xmlns:p14="http://schemas.microsoft.com/office/powerpoint/2010/main" val="21950978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52B7C8-164C-4140-932B-122F288D33CD}" type="datetimeFigureOut">
              <a:rPr lang="en-GB" smtClean="0"/>
              <a:t>10/11/2025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23327E-A3FE-4279-B080-AD6DAF9EDC39}" type="slidenum">
              <a:rPr lang="en-GB" smtClean="0"/>
              <a:t>‹#›</a:t>
            </a:fld>
            <a:endParaRPr lang="en-GB"/>
          </a:p>
        </p:txBody>
      </p:sp>
    </p:spTree>
    <p:extLst>
      <p:ext uri="{BB962C8B-B14F-4D97-AF65-F5344CB8AC3E}">
        <p14:creationId xmlns:p14="http://schemas.microsoft.com/office/powerpoint/2010/main" val="3775679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www.mybib.com/tools/ieee-citation-generator"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st of teams">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8B5CAFF-79AF-87AE-7EAE-604CC93E7647}"/>
              </a:ext>
            </a:extLst>
          </p:cNvPr>
          <p:cNvSpPr>
            <a:spLocks noGrp="1"/>
          </p:cNvSpPr>
          <p:nvPr>
            <p:ph idx="1" hasCustomPrompt="1"/>
          </p:nvPr>
        </p:nvSpPr>
        <p:spPr>
          <a:xfrm>
            <a:off x="6458857" y="1978025"/>
            <a:ext cx="4894943" cy="4351338"/>
          </a:xfrm>
        </p:spPr>
        <p:txBody>
          <a:bodyPr>
            <a:normAutofit/>
          </a:bodyPr>
          <a:lstStyle>
            <a:lvl1pPr marL="514350" indent="-514350">
              <a:buFont typeface="+mj-lt"/>
              <a:buAutoNum type="arabicPeriod"/>
              <a:defRPr sz="2200"/>
            </a:lvl1pPr>
            <a:lvl2pPr marL="457200" indent="0">
              <a:buFont typeface="Arial" panose="020B0604020202020204" pitchFamily="34" charset="0"/>
              <a:buNone/>
              <a:defRPr sz="2200"/>
            </a:lvl2pPr>
          </a:lstStyle>
          <a:p>
            <a:pPr lvl="1"/>
            <a:r>
              <a:rPr lang="de-DE" dirty="0"/>
              <a:t>12. </a:t>
            </a:r>
            <a:r>
              <a:rPr lang="de-DE" dirty="0" err="1"/>
              <a:t>Machine</a:t>
            </a:r>
            <a:r>
              <a:rPr lang="de-DE" dirty="0"/>
              <a:t> </a:t>
            </a:r>
            <a:r>
              <a:rPr lang="de-DE" dirty="0" err="1"/>
              <a:t>Bed</a:t>
            </a:r>
            <a:r>
              <a:rPr lang="de-DE" dirty="0"/>
              <a:t> &amp; Yaw System  </a:t>
            </a:r>
          </a:p>
          <a:p>
            <a:pPr lvl="1"/>
            <a:r>
              <a:rPr lang="de-DE" dirty="0"/>
              <a:t>13. Tower  </a:t>
            </a:r>
          </a:p>
          <a:p>
            <a:pPr lvl="1"/>
            <a:r>
              <a:rPr lang="de-DE" dirty="0"/>
              <a:t>14. </a:t>
            </a:r>
            <a:r>
              <a:rPr lang="de-DE" dirty="0" err="1"/>
              <a:t>Foundation</a:t>
            </a:r>
            <a:r>
              <a:rPr lang="de-DE" dirty="0"/>
              <a:t>  </a:t>
            </a:r>
          </a:p>
          <a:p>
            <a:pPr lvl="1"/>
            <a:r>
              <a:rPr lang="de-DE" dirty="0"/>
              <a:t>15. Storage System </a:t>
            </a:r>
          </a:p>
          <a:p>
            <a:pPr lvl="1"/>
            <a:endParaRPr lang="de-DE" dirty="0"/>
          </a:p>
        </p:txBody>
      </p:sp>
      <p:sp>
        <p:nvSpPr>
          <p:cNvPr id="8" name="Title 1">
            <a:extLst>
              <a:ext uri="{FF2B5EF4-FFF2-40B4-BE49-F238E27FC236}">
                <a16:creationId xmlns:a16="http://schemas.microsoft.com/office/drawing/2014/main" id="{562E2414-A9F3-5C69-E3A8-481E09152502}"/>
              </a:ext>
            </a:extLst>
          </p:cNvPr>
          <p:cNvSpPr>
            <a:spLocks noGrp="1"/>
          </p:cNvSpPr>
          <p:nvPr>
            <p:ph type="title" hasCustomPrompt="1"/>
          </p:nvPr>
        </p:nvSpPr>
        <p:spPr>
          <a:xfrm>
            <a:off x="838200" y="365125"/>
            <a:ext cx="10515600" cy="1325563"/>
          </a:xfrm>
        </p:spPr>
        <p:txBody>
          <a:bodyPr/>
          <a:lstStyle>
            <a:lvl1pPr>
              <a:defRPr/>
            </a:lvl1pPr>
          </a:lstStyle>
          <a:p>
            <a:r>
              <a:rPr lang="en-GB" dirty="0"/>
              <a:t>Teams</a:t>
            </a:r>
          </a:p>
        </p:txBody>
      </p:sp>
      <p:cxnSp>
        <p:nvCxnSpPr>
          <p:cNvPr id="9" name="Straight Connector 5">
            <a:extLst>
              <a:ext uri="{FF2B5EF4-FFF2-40B4-BE49-F238E27FC236}">
                <a16:creationId xmlns:a16="http://schemas.microsoft.com/office/drawing/2014/main" id="{66EB7C6A-45A8-A327-54B4-9E3A0BCAC0B4}"/>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1" name="Content Placeholder 2">
            <a:extLst>
              <a:ext uri="{FF2B5EF4-FFF2-40B4-BE49-F238E27FC236}">
                <a16:creationId xmlns:a16="http://schemas.microsoft.com/office/drawing/2014/main" id="{D2466CB9-E665-36BA-2132-8519CA303C97}"/>
              </a:ext>
            </a:extLst>
          </p:cNvPr>
          <p:cNvSpPr>
            <a:spLocks noGrp="1"/>
          </p:cNvSpPr>
          <p:nvPr>
            <p:ph idx="13" hasCustomPrompt="1"/>
          </p:nvPr>
        </p:nvSpPr>
        <p:spPr>
          <a:xfrm>
            <a:off x="838200" y="1978025"/>
            <a:ext cx="4894943" cy="4351338"/>
          </a:xfrm>
        </p:spPr>
        <p:txBody>
          <a:bodyPr>
            <a:normAutofit/>
          </a:bodyPr>
          <a:lstStyle>
            <a:lvl1pPr marL="514350" indent="-514350">
              <a:buFont typeface="+mj-lt"/>
              <a:buAutoNum type="arabicPeriod"/>
              <a:defRPr sz="2200"/>
            </a:lvl1pPr>
            <a:lvl2pPr marL="457200" indent="0" algn="l">
              <a:buFont typeface="Arial" panose="020B0604020202020204" pitchFamily="34" charset="0"/>
              <a:buNone/>
              <a:defRPr sz="2200"/>
            </a:lvl2pPr>
          </a:lstStyle>
          <a:p>
            <a:pPr lvl="1"/>
            <a:r>
              <a:rPr lang="de-DE" dirty="0"/>
              <a:t>1.  </a:t>
            </a:r>
            <a:r>
              <a:rPr lang="de-DE" dirty="0" err="1"/>
              <a:t>Windfarm</a:t>
            </a:r>
            <a:r>
              <a:rPr lang="de-DE" dirty="0"/>
              <a:t> Project Development  </a:t>
            </a:r>
          </a:p>
          <a:p>
            <a:pPr lvl="1"/>
            <a:r>
              <a:rPr lang="de-DE" dirty="0"/>
              <a:t>2.  Loads and Dynamics  </a:t>
            </a:r>
          </a:p>
          <a:p>
            <a:pPr lvl="1"/>
            <a:r>
              <a:rPr lang="de-DE" dirty="0"/>
              <a:t>3.  Feedback Controller  </a:t>
            </a:r>
          </a:p>
          <a:p>
            <a:pPr lvl="1"/>
            <a:r>
              <a:rPr lang="de-DE" dirty="0"/>
              <a:t>4.  Lidar-</a:t>
            </a:r>
            <a:r>
              <a:rPr lang="de-DE" dirty="0" err="1"/>
              <a:t>Assisted</a:t>
            </a:r>
            <a:r>
              <a:rPr lang="de-DE" dirty="0"/>
              <a:t> Controller  </a:t>
            </a:r>
          </a:p>
          <a:p>
            <a:pPr lvl="1"/>
            <a:r>
              <a:rPr lang="de-DE" dirty="0"/>
              <a:t>5.  Rotor Blade </a:t>
            </a:r>
            <a:r>
              <a:rPr lang="de-DE" dirty="0" err="1"/>
              <a:t>Aerodynamics</a:t>
            </a:r>
            <a:r>
              <a:rPr lang="de-DE" dirty="0"/>
              <a:t>  </a:t>
            </a:r>
          </a:p>
          <a:p>
            <a:pPr lvl="1"/>
            <a:r>
              <a:rPr lang="de-DE" dirty="0"/>
              <a:t>6.  Rotor Blade </a:t>
            </a:r>
            <a:r>
              <a:rPr lang="de-DE" dirty="0" err="1"/>
              <a:t>Structures</a:t>
            </a:r>
            <a:r>
              <a:rPr lang="de-DE" dirty="0"/>
              <a:t>  </a:t>
            </a:r>
          </a:p>
          <a:p>
            <a:pPr lvl="1"/>
            <a:r>
              <a:rPr lang="de-DE" dirty="0"/>
              <a:t>7.  </a:t>
            </a:r>
            <a:r>
              <a:rPr lang="de-DE" dirty="0" err="1"/>
              <a:t>Electrical</a:t>
            </a:r>
            <a:r>
              <a:rPr lang="de-DE" dirty="0"/>
              <a:t> </a:t>
            </a:r>
            <a:r>
              <a:rPr lang="de-DE" dirty="0" err="1"/>
              <a:t>Drivetrain</a:t>
            </a:r>
            <a:r>
              <a:rPr lang="de-DE" dirty="0"/>
              <a:t> (EDT)  </a:t>
            </a:r>
          </a:p>
          <a:p>
            <a:pPr lvl="1"/>
            <a:r>
              <a:rPr lang="de-DE" dirty="0"/>
              <a:t>8.  </a:t>
            </a:r>
            <a:r>
              <a:rPr lang="de-DE" dirty="0" err="1"/>
              <a:t>Grid</a:t>
            </a:r>
            <a:r>
              <a:rPr lang="de-DE" dirty="0"/>
              <a:t> Code Development (GCD)  </a:t>
            </a:r>
          </a:p>
          <a:p>
            <a:pPr lvl="1"/>
            <a:r>
              <a:rPr lang="de-DE" dirty="0"/>
              <a:t>9.  Rotor Hub &amp; Pitch System  </a:t>
            </a:r>
          </a:p>
          <a:p>
            <a:pPr lvl="1"/>
            <a:r>
              <a:rPr lang="de-DE" dirty="0"/>
              <a:t>10. Rotor </a:t>
            </a:r>
            <a:r>
              <a:rPr lang="de-DE" dirty="0" err="1"/>
              <a:t>Bearing</a:t>
            </a:r>
            <a:r>
              <a:rPr lang="de-DE" dirty="0"/>
              <a:t> System  </a:t>
            </a:r>
          </a:p>
          <a:p>
            <a:pPr lvl="1"/>
            <a:r>
              <a:rPr lang="de-DE" dirty="0"/>
              <a:t>11. </a:t>
            </a:r>
            <a:r>
              <a:rPr lang="de-DE" dirty="0" err="1"/>
              <a:t>Gearbox</a:t>
            </a:r>
            <a:r>
              <a:rPr lang="de-DE" dirty="0"/>
              <a:t>, Brake, Coupling  </a:t>
            </a:r>
          </a:p>
          <a:p>
            <a:pPr lvl="1"/>
            <a:r>
              <a:rPr lang="de-DE" dirty="0"/>
              <a:t>						</a:t>
            </a:r>
          </a:p>
        </p:txBody>
      </p:sp>
      <p:sp>
        <p:nvSpPr>
          <p:cNvPr id="12" name="Datumsplatzhalter 11">
            <a:extLst>
              <a:ext uri="{FF2B5EF4-FFF2-40B4-BE49-F238E27FC236}">
                <a16:creationId xmlns:a16="http://schemas.microsoft.com/office/drawing/2014/main" id="{FD841E35-8D66-8DA2-B806-8C18E5D28063}"/>
              </a:ext>
            </a:extLst>
          </p:cNvPr>
          <p:cNvSpPr>
            <a:spLocks noGrp="1"/>
          </p:cNvSpPr>
          <p:nvPr>
            <p:ph type="dt" sz="half" idx="14"/>
          </p:nvPr>
        </p:nvSpPr>
        <p:spPr/>
        <p:txBody>
          <a:bodyPr/>
          <a:lstStyle/>
          <a:p>
            <a:fld id="{02AEE8E4-D792-40D2-B8D4-0007E21A0CF8}" type="datetime1">
              <a:rPr lang="en-GB" smtClean="0"/>
              <a:t>10/11/2025</a:t>
            </a:fld>
            <a:endParaRPr lang="en-GB" dirty="0"/>
          </a:p>
        </p:txBody>
      </p:sp>
      <p:sp>
        <p:nvSpPr>
          <p:cNvPr id="16" name="Fußzeilenplatzhalter 15">
            <a:extLst>
              <a:ext uri="{FF2B5EF4-FFF2-40B4-BE49-F238E27FC236}">
                <a16:creationId xmlns:a16="http://schemas.microsoft.com/office/drawing/2014/main" id="{6C28938A-3748-78F8-3D01-B82DF87C9BE6}"/>
              </a:ext>
            </a:extLst>
          </p:cNvPr>
          <p:cNvSpPr>
            <a:spLocks noGrp="1"/>
          </p:cNvSpPr>
          <p:nvPr>
            <p:ph type="ftr" sz="quarter" idx="15"/>
          </p:nvPr>
        </p:nvSpPr>
        <p:spPr/>
        <p:txBody>
          <a:bodyPr/>
          <a:lstStyle/>
          <a:p>
            <a:r>
              <a:rPr lang="en-GB" dirty="0"/>
              <a:t>Optimus Syria</a:t>
            </a:r>
          </a:p>
        </p:txBody>
      </p:sp>
      <p:sp>
        <p:nvSpPr>
          <p:cNvPr id="17" name="Foliennummernplatzhalter 16">
            <a:extLst>
              <a:ext uri="{FF2B5EF4-FFF2-40B4-BE49-F238E27FC236}">
                <a16:creationId xmlns:a16="http://schemas.microsoft.com/office/drawing/2014/main" id="{3A903679-8273-AC0E-AD57-A9C78EE236F1}"/>
              </a:ext>
            </a:extLst>
          </p:cNvPr>
          <p:cNvSpPr>
            <a:spLocks noGrp="1"/>
          </p:cNvSpPr>
          <p:nvPr>
            <p:ph type="sldNum" sz="quarter" idx="16"/>
          </p:nvPr>
        </p:nvSpPr>
        <p:spPr/>
        <p:txBody>
          <a:bodyPr/>
          <a:lstStyle/>
          <a:p>
            <a:fld id="{013F6232-4F06-48BA-8F69-BF531F607829}" type="slidenum">
              <a:rPr lang="en-GB" smtClean="0"/>
              <a:pPr/>
              <a:t>‹#›</a:t>
            </a:fld>
            <a:endParaRPr lang="en-GB" dirty="0"/>
          </a:p>
        </p:txBody>
      </p:sp>
    </p:spTree>
    <p:extLst>
      <p:ext uri="{BB962C8B-B14F-4D97-AF65-F5344CB8AC3E}">
        <p14:creationId xmlns:p14="http://schemas.microsoft.com/office/powerpoint/2010/main" val="4293313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ist of contents (Explanation)">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8B5CAFF-79AF-87AE-7EAE-604CC93E7647}"/>
              </a:ext>
            </a:extLst>
          </p:cNvPr>
          <p:cNvSpPr>
            <a:spLocks noGrp="1"/>
          </p:cNvSpPr>
          <p:nvPr>
            <p:ph idx="1" hasCustomPrompt="1"/>
          </p:nvPr>
        </p:nvSpPr>
        <p:spPr>
          <a:xfrm>
            <a:off x="838200" y="1825625"/>
            <a:ext cx="10515600" cy="4351338"/>
          </a:xfrm>
        </p:spPr>
        <p:txBody>
          <a:bodyPr/>
          <a:lstStyle>
            <a:lvl1pPr marL="514350" indent="-514350">
              <a:buFont typeface="+mj-lt"/>
              <a:buAutoNum type="arabicPeriod"/>
              <a:defRPr sz="2200"/>
            </a:lvl1pPr>
            <a:lvl2pPr marL="971550" indent="-514350">
              <a:buFont typeface="+mj-lt"/>
              <a:buAutoNum type="romanLcPeriod"/>
              <a:defRPr sz="2000"/>
            </a:lvl2pPr>
          </a:lstStyle>
          <a:p>
            <a:pPr lvl="0"/>
            <a:r>
              <a:rPr lang="de-DE" dirty="0"/>
              <a:t>Title, </a:t>
            </a:r>
            <a:r>
              <a:rPr lang="de-DE" dirty="0" err="1"/>
              <a:t>example</a:t>
            </a:r>
            <a:r>
              <a:rPr lang="de-DE" dirty="0"/>
              <a:t>: Tasks </a:t>
            </a:r>
            <a:r>
              <a:rPr lang="de-DE" dirty="0" err="1"/>
              <a:t>of</a:t>
            </a:r>
            <a:r>
              <a:rPr lang="de-DE" dirty="0"/>
              <a:t> </a:t>
            </a:r>
            <a:r>
              <a:rPr lang="de-DE" dirty="0" err="1"/>
              <a:t>the</a:t>
            </a:r>
            <a:r>
              <a:rPr lang="de-DE" dirty="0"/>
              <a:t> </a:t>
            </a:r>
            <a:r>
              <a:rPr lang="de-DE" dirty="0" err="1"/>
              <a:t>week</a:t>
            </a:r>
            <a:r>
              <a:rPr lang="de-DE" dirty="0"/>
              <a:t>   (</a:t>
            </a:r>
            <a:r>
              <a:rPr lang="de-DE" dirty="0" err="1"/>
              <a:t>Aptos</a:t>
            </a:r>
            <a:r>
              <a:rPr lang="de-DE" dirty="0"/>
              <a:t>, 22)</a:t>
            </a:r>
          </a:p>
          <a:p>
            <a:pPr lvl="1"/>
            <a:r>
              <a:rPr lang="de-DE" dirty="0" err="1"/>
              <a:t>Example</a:t>
            </a:r>
            <a:r>
              <a:rPr lang="de-DE" dirty="0"/>
              <a:t>: </a:t>
            </a:r>
            <a:r>
              <a:rPr lang="de-DE" dirty="0" err="1"/>
              <a:t>drawings</a:t>
            </a:r>
            <a:r>
              <a:rPr lang="de-DE" dirty="0"/>
              <a:t> </a:t>
            </a:r>
            <a:r>
              <a:rPr lang="de-DE" dirty="0" err="1"/>
              <a:t>from</a:t>
            </a:r>
            <a:r>
              <a:rPr lang="de-DE" dirty="0"/>
              <a:t> </a:t>
            </a:r>
            <a:r>
              <a:rPr lang="de-DE" dirty="0" err="1"/>
              <a:t>the</a:t>
            </a:r>
            <a:r>
              <a:rPr lang="de-DE" dirty="0"/>
              <a:t> </a:t>
            </a:r>
            <a:r>
              <a:rPr lang="de-DE" dirty="0" err="1"/>
              <a:t>week</a:t>
            </a:r>
            <a:r>
              <a:rPr lang="de-DE" dirty="0"/>
              <a:t>  (</a:t>
            </a:r>
            <a:r>
              <a:rPr lang="de-DE" dirty="0" err="1"/>
              <a:t>Aptos</a:t>
            </a:r>
            <a:r>
              <a:rPr lang="de-DE" dirty="0"/>
              <a:t>, 20)</a:t>
            </a:r>
          </a:p>
          <a:p>
            <a:pPr lvl="0"/>
            <a:r>
              <a:rPr lang="de-DE" dirty="0"/>
              <a:t>X</a:t>
            </a:r>
          </a:p>
          <a:p>
            <a:pPr lvl="1"/>
            <a:endParaRPr lang="de-DE" dirty="0"/>
          </a:p>
        </p:txBody>
      </p:sp>
      <p:sp>
        <p:nvSpPr>
          <p:cNvPr id="8" name="Title 1">
            <a:extLst>
              <a:ext uri="{FF2B5EF4-FFF2-40B4-BE49-F238E27FC236}">
                <a16:creationId xmlns:a16="http://schemas.microsoft.com/office/drawing/2014/main" id="{562E2414-A9F3-5C69-E3A8-481E09152502}"/>
              </a:ext>
            </a:extLst>
          </p:cNvPr>
          <p:cNvSpPr>
            <a:spLocks noGrp="1"/>
          </p:cNvSpPr>
          <p:nvPr>
            <p:ph type="title" hasCustomPrompt="1"/>
          </p:nvPr>
        </p:nvSpPr>
        <p:spPr>
          <a:xfrm>
            <a:off x="838200" y="365125"/>
            <a:ext cx="10515600" cy="1325563"/>
          </a:xfrm>
        </p:spPr>
        <p:txBody>
          <a:bodyPr/>
          <a:lstStyle>
            <a:lvl1pPr>
              <a:defRPr/>
            </a:lvl1pPr>
          </a:lstStyle>
          <a:p>
            <a:r>
              <a:rPr lang="de-DE" dirty="0"/>
              <a:t>List </a:t>
            </a:r>
            <a:r>
              <a:rPr lang="de-DE" dirty="0" err="1"/>
              <a:t>of</a:t>
            </a:r>
            <a:r>
              <a:rPr lang="de-DE" dirty="0"/>
              <a:t> </a:t>
            </a:r>
            <a:r>
              <a:rPr lang="de-DE" dirty="0" err="1"/>
              <a:t>contents</a:t>
            </a:r>
            <a:endParaRPr lang="en-GB" dirty="0"/>
          </a:p>
        </p:txBody>
      </p:sp>
      <p:cxnSp>
        <p:nvCxnSpPr>
          <p:cNvPr id="9" name="Straight Connector 5">
            <a:extLst>
              <a:ext uri="{FF2B5EF4-FFF2-40B4-BE49-F238E27FC236}">
                <a16:creationId xmlns:a16="http://schemas.microsoft.com/office/drawing/2014/main" id="{66EB7C6A-45A8-A327-54B4-9E3A0BCAC0B4}"/>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2" name="Isosceles Triangle 6">
            <a:extLst>
              <a:ext uri="{FF2B5EF4-FFF2-40B4-BE49-F238E27FC236}">
                <a16:creationId xmlns:a16="http://schemas.microsoft.com/office/drawing/2014/main" id="{170C5CF7-7129-6BD6-B815-EAF32508EFB5}"/>
              </a:ext>
            </a:extLst>
          </p:cNvPr>
          <p:cNvSpPr/>
          <p:nvPr userDrawn="1"/>
        </p:nvSpPr>
        <p:spPr>
          <a:xfrm>
            <a:off x="5218873" y="2853022"/>
            <a:ext cx="1546144" cy="1209996"/>
          </a:xfrm>
          <a:prstGeom prst="triangle">
            <a:avLst>
              <a:gd name="adj" fmla="val 50565"/>
            </a:avLst>
          </a:prstGeom>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p>
        </p:txBody>
      </p:sp>
      <p:sp>
        <p:nvSpPr>
          <p:cNvPr id="13" name="Rectangle 7">
            <a:extLst>
              <a:ext uri="{FF2B5EF4-FFF2-40B4-BE49-F238E27FC236}">
                <a16:creationId xmlns:a16="http://schemas.microsoft.com/office/drawing/2014/main" id="{C7BE5E88-0734-5426-D3DF-C7901A7359D4}"/>
              </a:ext>
            </a:extLst>
          </p:cNvPr>
          <p:cNvSpPr/>
          <p:nvPr userDrawn="1"/>
        </p:nvSpPr>
        <p:spPr>
          <a:xfrm>
            <a:off x="4025317" y="4094711"/>
            <a:ext cx="3933255" cy="2327860"/>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a:t>
            </a:r>
            <a:r>
              <a:rPr lang="it-IT" dirty="0" err="1"/>
              <a:t>is</a:t>
            </a:r>
            <a:r>
              <a:rPr lang="it-IT" dirty="0"/>
              <a:t> an </a:t>
            </a:r>
            <a:r>
              <a:rPr lang="it-IT" dirty="0" err="1"/>
              <a:t>example</a:t>
            </a:r>
            <a:r>
              <a:rPr lang="it-IT" dirty="0"/>
              <a:t> </a:t>
            </a:r>
            <a:r>
              <a:rPr lang="it-IT" b="1" dirty="0"/>
              <a:t>BUT</a:t>
            </a:r>
            <a:br>
              <a:rPr lang="it-IT" dirty="0"/>
            </a:br>
            <a:r>
              <a:rPr lang="it-IT" dirty="0"/>
              <a:t>use the </a:t>
            </a:r>
            <a:r>
              <a:rPr lang="it-IT" dirty="0" err="1"/>
              <a:t>same</a:t>
            </a:r>
            <a:r>
              <a:rPr lang="it-IT" dirty="0"/>
              <a:t> style and short, concise bullet points) </a:t>
            </a:r>
            <a:br>
              <a:rPr lang="it-IT" dirty="0"/>
            </a:br>
            <a:r>
              <a:rPr lang="it-IT" dirty="0" err="1"/>
              <a:t>Only</a:t>
            </a:r>
            <a:r>
              <a:rPr lang="it-IT" dirty="0"/>
              <a:t> </a:t>
            </a:r>
            <a:r>
              <a:rPr lang="it-IT" dirty="0" err="1"/>
              <a:t>topics</a:t>
            </a:r>
            <a:r>
              <a:rPr lang="it-IT" dirty="0"/>
              <a:t> for the 4 min </a:t>
            </a:r>
            <a:r>
              <a:rPr lang="it-IT" dirty="0" err="1"/>
              <a:t>timeslot</a:t>
            </a:r>
            <a:r>
              <a:rPr lang="it-IT" dirty="0"/>
              <a:t>!</a:t>
            </a:r>
            <a:endParaRPr lang="en-GB" dirty="0"/>
          </a:p>
        </p:txBody>
      </p:sp>
      <p:sp>
        <p:nvSpPr>
          <p:cNvPr id="14" name="Rectangle 11">
            <a:extLst>
              <a:ext uri="{FF2B5EF4-FFF2-40B4-BE49-F238E27FC236}">
                <a16:creationId xmlns:a16="http://schemas.microsoft.com/office/drawing/2014/main" id="{11100C08-BD4D-E3E4-CE88-2FD7DF2770C3}"/>
              </a:ext>
            </a:extLst>
          </p:cNvPr>
          <p:cNvSpPr/>
          <p:nvPr userDrawn="1"/>
        </p:nvSpPr>
        <p:spPr>
          <a:xfrm>
            <a:off x="5727842" y="3001184"/>
            <a:ext cx="542886" cy="1200329"/>
          </a:xfrm>
          <a:prstGeom prst="rect">
            <a:avLst/>
          </a:prstGeom>
          <a:noFill/>
        </p:spPr>
        <p:txBody>
          <a:bodyPr wrap="square" lIns="91440" tIns="45720" rIns="91440" bIns="45720">
            <a:spAutoFit/>
          </a:bodyPr>
          <a:lstStyle/>
          <a:p>
            <a:pPr algn="ctr"/>
            <a:r>
              <a:rPr lang="en-GB" sz="7200" b="1" cap="none" spc="0" dirty="0">
                <a:ln w="0"/>
                <a:solidFill>
                  <a:schemeClr val="tx1"/>
                </a:solidFill>
              </a:rPr>
              <a:t>!</a:t>
            </a:r>
          </a:p>
        </p:txBody>
      </p:sp>
      <p:sp>
        <p:nvSpPr>
          <p:cNvPr id="2" name="Rectangle 7">
            <a:extLst>
              <a:ext uri="{FF2B5EF4-FFF2-40B4-BE49-F238E27FC236}">
                <a16:creationId xmlns:a16="http://schemas.microsoft.com/office/drawing/2014/main" id="{65B86036-57A0-C8C5-C8BB-699A37ABA2A8}"/>
              </a:ext>
            </a:extLst>
          </p:cNvPr>
          <p:cNvSpPr/>
          <p:nvPr userDrawn="1"/>
        </p:nvSpPr>
        <p:spPr>
          <a:xfrm>
            <a:off x="908165" y="3299037"/>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slide </a:t>
            </a:r>
            <a:r>
              <a:rPr lang="it-IT" dirty="0" err="1"/>
              <a:t>is</a:t>
            </a:r>
            <a:r>
              <a:rPr lang="it-IT" dirty="0"/>
              <a:t> </a:t>
            </a:r>
            <a:r>
              <a:rPr lang="it-IT" dirty="0" err="1"/>
              <a:t>only</a:t>
            </a:r>
            <a:r>
              <a:rPr lang="it-IT" dirty="0"/>
              <a:t> for </a:t>
            </a:r>
            <a:r>
              <a:rPr lang="it-IT" dirty="0" err="1"/>
              <a:t>explanation</a:t>
            </a:r>
            <a:r>
              <a:rPr lang="it-IT" dirty="0"/>
              <a:t>, </a:t>
            </a:r>
            <a:r>
              <a:rPr lang="it-IT" dirty="0" err="1"/>
              <a:t>dont´t</a:t>
            </a:r>
            <a:r>
              <a:rPr lang="it-IT" dirty="0"/>
              <a:t> use </a:t>
            </a:r>
            <a:r>
              <a:rPr lang="it-IT" dirty="0" err="1"/>
              <a:t>it!</a:t>
            </a:r>
            <a:endParaRPr lang="en-GB" dirty="0"/>
          </a:p>
        </p:txBody>
      </p:sp>
      <p:sp>
        <p:nvSpPr>
          <p:cNvPr id="10" name="Datumsplatzhalter 9">
            <a:extLst>
              <a:ext uri="{FF2B5EF4-FFF2-40B4-BE49-F238E27FC236}">
                <a16:creationId xmlns:a16="http://schemas.microsoft.com/office/drawing/2014/main" id="{64195E91-DEC0-2198-8D7F-F5D7511FB319}"/>
              </a:ext>
            </a:extLst>
          </p:cNvPr>
          <p:cNvSpPr>
            <a:spLocks noGrp="1"/>
          </p:cNvSpPr>
          <p:nvPr>
            <p:ph type="dt" sz="half" idx="15"/>
          </p:nvPr>
        </p:nvSpPr>
        <p:spPr/>
        <p:txBody>
          <a:bodyPr/>
          <a:lstStyle/>
          <a:p>
            <a:fld id="{02AEE8E4-D792-40D2-B8D4-0007E21A0CF8}" type="datetime1">
              <a:rPr lang="en-GB" smtClean="0"/>
              <a:t>10/11/2025</a:t>
            </a:fld>
            <a:endParaRPr lang="en-GB" dirty="0"/>
          </a:p>
        </p:txBody>
      </p:sp>
      <p:sp>
        <p:nvSpPr>
          <p:cNvPr id="11" name="Fußzeilenplatzhalter 10">
            <a:extLst>
              <a:ext uri="{FF2B5EF4-FFF2-40B4-BE49-F238E27FC236}">
                <a16:creationId xmlns:a16="http://schemas.microsoft.com/office/drawing/2014/main" id="{0EC107A6-E0D9-69FD-44BC-CFD5F05D7C83}"/>
              </a:ext>
            </a:extLst>
          </p:cNvPr>
          <p:cNvSpPr>
            <a:spLocks noGrp="1"/>
          </p:cNvSpPr>
          <p:nvPr>
            <p:ph type="ftr" sz="quarter" idx="16"/>
          </p:nvPr>
        </p:nvSpPr>
        <p:spPr/>
        <p:txBody>
          <a:bodyPr/>
          <a:lstStyle/>
          <a:p>
            <a:r>
              <a:rPr lang="en-GB"/>
              <a:t>Team Name / Optimus Syria</a:t>
            </a:r>
            <a:endParaRPr lang="en-GB" dirty="0"/>
          </a:p>
        </p:txBody>
      </p:sp>
      <p:sp>
        <p:nvSpPr>
          <p:cNvPr id="15" name="Foliennummernplatzhalter 14">
            <a:extLst>
              <a:ext uri="{FF2B5EF4-FFF2-40B4-BE49-F238E27FC236}">
                <a16:creationId xmlns:a16="http://schemas.microsoft.com/office/drawing/2014/main" id="{8CC2EBC5-DD43-6B7E-A5D7-5CD5B0E30A5C}"/>
              </a:ext>
            </a:extLst>
          </p:cNvPr>
          <p:cNvSpPr>
            <a:spLocks noGrp="1"/>
          </p:cNvSpPr>
          <p:nvPr>
            <p:ph type="sldNum" sz="quarter" idx="17"/>
          </p:nvPr>
        </p:nvSpPr>
        <p:spPr/>
        <p:txBody>
          <a:bodyPr/>
          <a:lstStyle/>
          <a:p>
            <a:fld id="{013F6232-4F06-48BA-8F69-BF531F607829}" type="slidenum">
              <a:rPr lang="en-GB" smtClean="0"/>
              <a:pPr/>
              <a:t>‹#›</a:t>
            </a:fld>
            <a:endParaRPr lang="en-GB" dirty="0"/>
          </a:p>
        </p:txBody>
      </p:sp>
      <p:sp>
        <p:nvSpPr>
          <p:cNvPr id="17" name="Textplatzhalter 16">
            <a:extLst>
              <a:ext uri="{FF2B5EF4-FFF2-40B4-BE49-F238E27FC236}">
                <a16:creationId xmlns:a16="http://schemas.microsoft.com/office/drawing/2014/main" id="{E7DFBCC3-CC46-17B2-DF15-92940A3865D7}"/>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984858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List of contents">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8B5CAFF-79AF-87AE-7EAE-604CC93E7647}"/>
              </a:ext>
            </a:extLst>
          </p:cNvPr>
          <p:cNvSpPr>
            <a:spLocks noGrp="1"/>
          </p:cNvSpPr>
          <p:nvPr>
            <p:ph idx="1" hasCustomPrompt="1"/>
          </p:nvPr>
        </p:nvSpPr>
        <p:spPr>
          <a:xfrm>
            <a:off x="838200" y="1825625"/>
            <a:ext cx="10515600" cy="4351338"/>
          </a:xfrm>
        </p:spPr>
        <p:txBody>
          <a:bodyPr/>
          <a:lstStyle>
            <a:lvl1pPr marL="514350" indent="-514350">
              <a:buFont typeface="+mj-lt"/>
              <a:buAutoNum type="arabicPeriod"/>
              <a:defRPr sz="2200"/>
            </a:lvl1pPr>
            <a:lvl2pPr marL="971550" indent="-514350">
              <a:buFont typeface="+mj-lt"/>
              <a:buAutoNum type="romanLcPeriod"/>
              <a:defRPr sz="2000"/>
            </a:lvl2pPr>
          </a:lstStyle>
          <a:p>
            <a:pPr lvl="0"/>
            <a:r>
              <a:rPr lang="de-DE" dirty="0"/>
              <a:t>Title, </a:t>
            </a:r>
            <a:r>
              <a:rPr lang="de-DE" dirty="0" err="1"/>
              <a:t>example</a:t>
            </a:r>
            <a:r>
              <a:rPr lang="de-DE" dirty="0"/>
              <a:t>: Tasks </a:t>
            </a:r>
            <a:r>
              <a:rPr lang="de-DE" dirty="0" err="1"/>
              <a:t>of</a:t>
            </a:r>
            <a:r>
              <a:rPr lang="de-DE" dirty="0"/>
              <a:t> </a:t>
            </a:r>
            <a:r>
              <a:rPr lang="de-DE" dirty="0" err="1"/>
              <a:t>the</a:t>
            </a:r>
            <a:r>
              <a:rPr lang="de-DE" dirty="0"/>
              <a:t> </a:t>
            </a:r>
            <a:r>
              <a:rPr lang="de-DE" dirty="0" err="1"/>
              <a:t>week</a:t>
            </a:r>
            <a:endParaRPr lang="de-DE" dirty="0"/>
          </a:p>
          <a:p>
            <a:pPr lvl="1"/>
            <a:r>
              <a:rPr lang="de-DE" dirty="0" err="1"/>
              <a:t>Example</a:t>
            </a:r>
            <a:r>
              <a:rPr lang="de-DE" dirty="0"/>
              <a:t>: </a:t>
            </a:r>
            <a:r>
              <a:rPr lang="de-DE" dirty="0" err="1"/>
              <a:t>drawings</a:t>
            </a:r>
            <a:r>
              <a:rPr lang="de-DE" dirty="0"/>
              <a:t> </a:t>
            </a:r>
            <a:r>
              <a:rPr lang="de-DE" dirty="0" err="1"/>
              <a:t>from</a:t>
            </a:r>
            <a:r>
              <a:rPr lang="de-DE" dirty="0"/>
              <a:t> </a:t>
            </a:r>
            <a:r>
              <a:rPr lang="de-DE" dirty="0" err="1"/>
              <a:t>the</a:t>
            </a:r>
            <a:r>
              <a:rPr lang="de-DE" dirty="0"/>
              <a:t> </a:t>
            </a:r>
            <a:r>
              <a:rPr lang="de-DE" dirty="0" err="1"/>
              <a:t>week</a:t>
            </a:r>
            <a:endParaRPr lang="de-DE" dirty="0"/>
          </a:p>
          <a:p>
            <a:pPr lvl="0"/>
            <a:r>
              <a:rPr lang="de-DE" dirty="0"/>
              <a:t>X</a:t>
            </a:r>
          </a:p>
          <a:p>
            <a:pPr lvl="1"/>
            <a:endParaRPr lang="de-DE" dirty="0"/>
          </a:p>
        </p:txBody>
      </p:sp>
      <p:sp>
        <p:nvSpPr>
          <p:cNvPr id="8" name="Title 1">
            <a:extLst>
              <a:ext uri="{FF2B5EF4-FFF2-40B4-BE49-F238E27FC236}">
                <a16:creationId xmlns:a16="http://schemas.microsoft.com/office/drawing/2014/main" id="{562E2414-A9F3-5C69-E3A8-481E09152502}"/>
              </a:ext>
            </a:extLst>
          </p:cNvPr>
          <p:cNvSpPr>
            <a:spLocks noGrp="1"/>
          </p:cNvSpPr>
          <p:nvPr>
            <p:ph type="title" hasCustomPrompt="1"/>
          </p:nvPr>
        </p:nvSpPr>
        <p:spPr>
          <a:xfrm>
            <a:off x="838200" y="365125"/>
            <a:ext cx="10515600" cy="1325563"/>
          </a:xfrm>
        </p:spPr>
        <p:txBody>
          <a:bodyPr/>
          <a:lstStyle>
            <a:lvl1pPr>
              <a:defRPr/>
            </a:lvl1pPr>
          </a:lstStyle>
          <a:p>
            <a:r>
              <a:rPr lang="de-DE" dirty="0"/>
              <a:t>List </a:t>
            </a:r>
            <a:r>
              <a:rPr lang="de-DE" dirty="0" err="1"/>
              <a:t>of</a:t>
            </a:r>
            <a:r>
              <a:rPr lang="de-DE" dirty="0"/>
              <a:t> </a:t>
            </a:r>
            <a:r>
              <a:rPr lang="de-DE" dirty="0" err="1"/>
              <a:t>contents</a:t>
            </a:r>
            <a:endParaRPr lang="en-GB" dirty="0"/>
          </a:p>
        </p:txBody>
      </p:sp>
      <p:cxnSp>
        <p:nvCxnSpPr>
          <p:cNvPr id="9" name="Straight Connector 5">
            <a:extLst>
              <a:ext uri="{FF2B5EF4-FFF2-40B4-BE49-F238E27FC236}">
                <a16:creationId xmlns:a16="http://schemas.microsoft.com/office/drawing/2014/main" id="{66EB7C6A-45A8-A327-54B4-9E3A0BCAC0B4}"/>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1" name="Datumsplatzhalter 10">
            <a:extLst>
              <a:ext uri="{FF2B5EF4-FFF2-40B4-BE49-F238E27FC236}">
                <a16:creationId xmlns:a16="http://schemas.microsoft.com/office/drawing/2014/main" id="{8F6D1F16-A947-CEE2-C58A-50217E9017C7}"/>
              </a:ext>
            </a:extLst>
          </p:cNvPr>
          <p:cNvSpPr>
            <a:spLocks noGrp="1"/>
          </p:cNvSpPr>
          <p:nvPr>
            <p:ph type="dt" sz="half" idx="10"/>
          </p:nvPr>
        </p:nvSpPr>
        <p:spPr/>
        <p:txBody>
          <a:bodyPr/>
          <a:lstStyle/>
          <a:p>
            <a:fld id="{02AEE8E4-D792-40D2-B8D4-0007E21A0CF8}" type="datetime1">
              <a:rPr lang="en-GB" smtClean="0"/>
              <a:t>10/11/2025</a:t>
            </a:fld>
            <a:endParaRPr lang="en-GB" dirty="0"/>
          </a:p>
        </p:txBody>
      </p:sp>
      <p:sp>
        <p:nvSpPr>
          <p:cNvPr id="12" name="Fußzeilenplatzhalter 11">
            <a:extLst>
              <a:ext uri="{FF2B5EF4-FFF2-40B4-BE49-F238E27FC236}">
                <a16:creationId xmlns:a16="http://schemas.microsoft.com/office/drawing/2014/main" id="{873EF994-6CA7-B763-F215-A7D1723E216C}"/>
              </a:ext>
            </a:extLst>
          </p:cNvPr>
          <p:cNvSpPr>
            <a:spLocks noGrp="1"/>
          </p:cNvSpPr>
          <p:nvPr>
            <p:ph type="ftr" sz="quarter" idx="11"/>
          </p:nvPr>
        </p:nvSpPr>
        <p:spPr/>
        <p:txBody>
          <a:bodyPr/>
          <a:lstStyle/>
          <a:p>
            <a:r>
              <a:rPr lang="en-GB"/>
              <a:t>Team Name / Optimus Syria</a:t>
            </a:r>
            <a:endParaRPr lang="en-GB" dirty="0"/>
          </a:p>
        </p:txBody>
      </p:sp>
      <p:sp>
        <p:nvSpPr>
          <p:cNvPr id="13" name="Foliennummernplatzhalter 12">
            <a:extLst>
              <a:ext uri="{FF2B5EF4-FFF2-40B4-BE49-F238E27FC236}">
                <a16:creationId xmlns:a16="http://schemas.microsoft.com/office/drawing/2014/main" id="{67F2F56B-9E4F-A460-92A9-87055C42B86E}"/>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4" name="Textplatzhalter 16">
            <a:extLst>
              <a:ext uri="{FF2B5EF4-FFF2-40B4-BE49-F238E27FC236}">
                <a16:creationId xmlns:a16="http://schemas.microsoft.com/office/drawing/2014/main" id="{3A8B7922-CD64-E421-B5E5-B7BA56CBCB09}"/>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1754527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slide (Explana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48CB4A-E85F-FC1F-2439-52B071A98EBA}"/>
              </a:ext>
            </a:extLst>
          </p:cNvPr>
          <p:cNvSpPr>
            <a:spLocks noGrp="1" noRot="1" noMove="1" noResize="1" noEditPoints="1" noAdjustHandles="1" noChangeArrowheads="1" noChangeShapeType="1"/>
          </p:cNvSpPr>
          <p:nvPr>
            <p:ph type="title" hasCustomPrompt="1"/>
          </p:nvPr>
        </p:nvSpPr>
        <p:spPr/>
        <p:txBody>
          <a:bodyPr/>
          <a:lstStyle>
            <a:lvl1pPr>
              <a:defRPr sz="4400"/>
            </a:lvl1pPr>
          </a:lstStyle>
          <a:p>
            <a:r>
              <a:rPr lang="de-DE" dirty="0"/>
              <a:t>1. Title, </a:t>
            </a:r>
            <a:r>
              <a:rPr lang="de-DE" dirty="0" err="1"/>
              <a:t>example</a:t>
            </a:r>
            <a:r>
              <a:rPr lang="de-DE" dirty="0"/>
              <a:t>: Tasks </a:t>
            </a:r>
            <a:r>
              <a:rPr lang="de-DE" dirty="0" err="1"/>
              <a:t>of</a:t>
            </a:r>
            <a:r>
              <a:rPr lang="de-DE" dirty="0"/>
              <a:t> </a:t>
            </a:r>
            <a:r>
              <a:rPr lang="de-DE" dirty="0" err="1"/>
              <a:t>the</a:t>
            </a:r>
            <a:r>
              <a:rPr lang="de-DE" dirty="0"/>
              <a:t> </a:t>
            </a:r>
            <a:r>
              <a:rPr lang="de-DE" dirty="0" err="1"/>
              <a:t>week</a:t>
            </a:r>
            <a:r>
              <a:rPr lang="de-DE" dirty="0"/>
              <a:t>   </a:t>
            </a:r>
          </a:p>
        </p:txBody>
      </p:sp>
      <p:sp>
        <p:nvSpPr>
          <p:cNvPr id="3" name="Inhaltsplatzhalter 2">
            <a:extLst>
              <a:ext uri="{FF2B5EF4-FFF2-40B4-BE49-F238E27FC236}">
                <a16:creationId xmlns:a16="http://schemas.microsoft.com/office/drawing/2014/main" id="{E4216958-F611-9E4F-AA4F-56999F637A75}"/>
              </a:ext>
            </a:extLst>
          </p:cNvPr>
          <p:cNvSpPr>
            <a:spLocks noGrp="1"/>
          </p:cNvSpPr>
          <p:nvPr>
            <p:ph idx="1" hasCustomPrompt="1"/>
          </p:nvPr>
        </p:nvSpPr>
        <p:spPr/>
        <p:txBody>
          <a:bodyPr/>
          <a:lstStyle>
            <a:lvl1pPr>
              <a:defRPr sz="2200"/>
            </a:lvl1pPr>
            <a:lvl2pPr marL="971550" indent="-514350">
              <a:buFont typeface="+mj-lt"/>
              <a:buAutoNum type="romanLcPeriod"/>
              <a:defRPr sz="2000"/>
            </a:lvl2pPr>
          </a:lstStyle>
          <a:p>
            <a:pPr lvl="0"/>
            <a:r>
              <a:rPr lang="de-DE" dirty="0" err="1"/>
              <a:t>Abcd</a:t>
            </a:r>
            <a:r>
              <a:rPr lang="de-DE" dirty="0"/>
              <a:t> (</a:t>
            </a:r>
            <a:r>
              <a:rPr lang="de-DE" dirty="0" err="1"/>
              <a:t>Aptos</a:t>
            </a:r>
            <a:r>
              <a:rPr lang="de-DE" dirty="0"/>
              <a:t>, 22)</a:t>
            </a:r>
          </a:p>
          <a:p>
            <a:pPr marL="971550" marR="0" lvl="1" indent="-514350" algn="l" defTabSz="914400" rtl="0" eaLnBrk="1" fontAlgn="auto" latinLnBrk="0" hangingPunct="1">
              <a:lnSpc>
                <a:spcPct val="90000"/>
              </a:lnSpc>
              <a:spcBef>
                <a:spcPts val="500"/>
              </a:spcBef>
              <a:spcAft>
                <a:spcPts val="0"/>
              </a:spcAft>
              <a:buClrTx/>
              <a:buSzTx/>
              <a:buFont typeface="+mj-lt"/>
              <a:buAutoNum type="romanLcPeriod"/>
              <a:tabLst/>
              <a:defRPr/>
            </a:pPr>
            <a:r>
              <a:rPr lang="de-DE" dirty="0" err="1"/>
              <a:t>efgh</a:t>
            </a:r>
            <a:r>
              <a:rPr lang="de-DE" dirty="0"/>
              <a:t> (</a:t>
            </a:r>
            <a:r>
              <a:rPr lang="de-DE" dirty="0" err="1"/>
              <a:t>Aptos</a:t>
            </a:r>
            <a:r>
              <a:rPr lang="de-DE" dirty="0"/>
              <a:t>, 20)</a:t>
            </a:r>
          </a:p>
          <a:p>
            <a:pPr lvl="1"/>
            <a:endParaRPr lang="de-DE" dirty="0"/>
          </a:p>
        </p:txBody>
      </p:sp>
      <p:cxnSp>
        <p:nvCxnSpPr>
          <p:cNvPr id="7" name="Straight Connector 5">
            <a:extLst>
              <a:ext uri="{FF2B5EF4-FFF2-40B4-BE49-F238E27FC236}">
                <a16:creationId xmlns:a16="http://schemas.microsoft.com/office/drawing/2014/main" id="{C5BF7EBE-3919-817C-149B-CF38705C6BC9}"/>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8" name="Isosceles Triangle 6">
            <a:extLst>
              <a:ext uri="{FF2B5EF4-FFF2-40B4-BE49-F238E27FC236}">
                <a16:creationId xmlns:a16="http://schemas.microsoft.com/office/drawing/2014/main" id="{3272B118-64EE-99BB-8728-CE26B185DCFC}"/>
              </a:ext>
            </a:extLst>
          </p:cNvPr>
          <p:cNvSpPr/>
          <p:nvPr userDrawn="1"/>
        </p:nvSpPr>
        <p:spPr>
          <a:xfrm>
            <a:off x="8353959" y="1690688"/>
            <a:ext cx="1546144" cy="1209996"/>
          </a:xfrm>
          <a:prstGeom prst="triangle">
            <a:avLst>
              <a:gd name="adj" fmla="val 50565"/>
            </a:avLst>
          </a:prstGeom>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p>
        </p:txBody>
      </p:sp>
      <p:sp>
        <p:nvSpPr>
          <p:cNvPr id="9" name="Rectangle 7">
            <a:extLst>
              <a:ext uri="{FF2B5EF4-FFF2-40B4-BE49-F238E27FC236}">
                <a16:creationId xmlns:a16="http://schemas.microsoft.com/office/drawing/2014/main" id="{CCA8528F-A469-ED70-E9CA-F25798C1A305}"/>
              </a:ext>
            </a:extLst>
          </p:cNvPr>
          <p:cNvSpPr/>
          <p:nvPr userDrawn="1"/>
        </p:nvSpPr>
        <p:spPr>
          <a:xfrm>
            <a:off x="2209800" y="3095720"/>
            <a:ext cx="3933255" cy="2327860"/>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t>Use [1], [2], [3] for </a:t>
            </a:r>
            <a:r>
              <a:rPr lang="it-IT" dirty="0" err="1"/>
              <a:t>everything</a:t>
            </a:r>
            <a:r>
              <a:rPr lang="it-IT" dirty="0"/>
              <a:t> </a:t>
            </a:r>
            <a:r>
              <a:rPr lang="it-IT" dirty="0" err="1"/>
              <a:t>you</a:t>
            </a:r>
            <a:r>
              <a:rPr lang="it-IT" dirty="0"/>
              <a:t> </a:t>
            </a:r>
            <a:r>
              <a:rPr lang="it-IT" dirty="0" err="1"/>
              <a:t>have</a:t>
            </a:r>
            <a:r>
              <a:rPr lang="it-IT" dirty="0"/>
              <a:t> from a source (</a:t>
            </a:r>
            <a:r>
              <a:rPr lang="it-IT" dirty="0" err="1"/>
              <a:t>numbers</a:t>
            </a:r>
            <a:r>
              <a:rPr lang="it-IT" dirty="0"/>
              <a:t> </a:t>
            </a:r>
            <a:r>
              <a:rPr lang="it-IT" dirty="0" err="1"/>
              <a:t>should</a:t>
            </a:r>
            <a:r>
              <a:rPr lang="it-IT" dirty="0"/>
              <a:t> be the </a:t>
            </a:r>
            <a:r>
              <a:rPr lang="it-IT" dirty="0" err="1"/>
              <a:t>same</a:t>
            </a:r>
            <a:r>
              <a:rPr lang="it-IT" dirty="0"/>
              <a:t> like in the </a:t>
            </a:r>
            <a:r>
              <a:rPr lang="it-IT" dirty="0" err="1"/>
              <a:t>bibliography</a:t>
            </a:r>
            <a:r>
              <a:rPr lang="it-IT" dirty="0"/>
              <a:t>) (</a:t>
            </a:r>
            <a:r>
              <a:rPr lang="it-IT" dirty="0" err="1"/>
              <a:t>incl</a:t>
            </a:r>
            <a:r>
              <a:rPr lang="it-IT" dirty="0"/>
              <a:t>. pictures / </a:t>
            </a:r>
            <a:r>
              <a:rPr lang="it-IT" dirty="0" err="1"/>
              <a:t>if</a:t>
            </a:r>
            <a:r>
              <a:rPr lang="it-IT" dirty="0"/>
              <a:t> </a:t>
            </a:r>
            <a:r>
              <a:rPr lang="it-IT" dirty="0" err="1"/>
              <a:t>you</a:t>
            </a:r>
            <a:r>
              <a:rPr lang="it-IT" dirty="0"/>
              <a:t> </a:t>
            </a:r>
            <a:r>
              <a:rPr lang="it-IT" dirty="0" err="1"/>
              <a:t>created</a:t>
            </a:r>
            <a:r>
              <a:rPr lang="it-IT" dirty="0"/>
              <a:t> </a:t>
            </a:r>
            <a:r>
              <a:rPr lang="it-IT" dirty="0" err="1"/>
              <a:t>them</a:t>
            </a:r>
            <a:r>
              <a:rPr lang="it-IT" dirty="0"/>
              <a:t> by </a:t>
            </a:r>
            <a:r>
              <a:rPr lang="it-IT" dirty="0" err="1"/>
              <a:t>your</a:t>
            </a:r>
            <a:r>
              <a:rPr lang="it-IT" dirty="0"/>
              <a:t> </a:t>
            </a:r>
            <a:r>
              <a:rPr lang="it-IT" dirty="0" err="1"/>
              <a:t>own</a:t>
            </a:r>
            <a:r>
              <a:rPr lang="it-IT" dirty="0"/>
              <a:t>, </a:t>
            </a:r>
            <a:r>
              <a:rPr lang="it-IT" dirty="0" err="1"/>
              <a:t>declare</a:t>
            </a:r>
            <a:r>
              <a:rPr lang="it-IT" dirty="0"/>
              <a:t> </a:t>
            </a:r>
            <a:r>
              <a:rPr lang="it-IT" dirty="0" err="1"/>
              <a:t>them</a:t>
            </a:r>
            <a:r>
              <a:rPr lang="it-IT" dirty="0"/>
              <a:t> </a:t>
            </a:r>
            <a:r>
              <a:rPr lang="it-IT" dirty="0" err="1"/>
              <a:t>as</a:t>
            </a:r>
            <a:r>
              <a:rPr lang="it-IT" dirty="0"/>
              <a:t> a </a:t>
            </a:r>
            <a:r>
              <a:rPr lang="it-IT" dirty="0" err="1"/>
              <a:t>thing</a:t>
            </a:r>
            <a:r>
              <a:rPr lang="it-IT" dirty="0"/>
              <a:t> </a:t>
            </a:r>
            <a:r>
              <a:rPr lang="it-IT" dirty="0" err="1"/>
              <a:t>you’ve</a:t>
            </a:r>
            <a:r>
              <a:rPr lang="it-IT" dirty="0"/>
              <a:t> </a:t>
            </a:r>
            <a:r>
              <a:rPr lang="it-IT" dirty="0" err="1"/>
              <a:t>done</a:t>
            </a:r>
            <a:r>
              <a:rPr lang="it-IT" dirty="0"/>
              <a:t> ) [Style </a:t>
            </a:r>
            <a:r>
              <a:rPr lang="it-IT" dirty="0" err="1"/>
              <a:t>Aptos</a:t>
            </a:r>
            <a:r>
              <a:rPr lang="it-IT" dirty="0"/>
              <a:t>/14]</a:t>
            </a:r>
            <a:endParaRPr lang="en-GB" dirty="0"/>
          </a:p>
        </p:txBody>
      </p:sp>
      <p:sp>
        <p:nvSpPr>
          <p:cNvPr id="10" name="Rectangle 11">
            <a:extLst>
              <a:ext uri="{FF2B5EF4-FFF2-40B4-BE49-F238E27FC236}">
                <a16:creationId xmlns:a16="http://schemas.microsoft.com/office/drawing/2014/main" id="{E1F8C099-06EF-7661-9A3C-60FE5CD4C5D5}"/>
              </a:ext>
            </a:extLst>
          </p:cNvPr>
          <p:cNvSpPr/>
          <p:nvPr userDrawn="1"/>
        </p:nvSpPr>
        <p:spPr>
          <a:xfrm>
            <a:off x="8862928" y="1838850"/>
            <a:ext cx="542886" cy="1200329"/>
          </a:xfrm>
          <a:prstGeom prst="rect">
            <a:avLst/>
          </a:prstGeom>
          <a:noFill/>
        </p:spPr>
        <p:txBody>
          <a:bodyPr wrap="square" lIns="91440" tIns="45720" rIns="91440" bIns="45720">
            <a:spAutoFit/>
          </a:bodyPr>
          <a:lstStyle/>
          <a:p>
            <a:pPr algn="ctr"/>
            <a:r>
              <a:rPr lang="en-GB" sz="7200" b="1" cap="none" spc="0" dirty="0">
                <a:ln w="0"/>
                <a:solidFill>
                  <a:schemeClr val="tx1"/>
                </a:solidFill>
              </a:rPr>
              <a:t>!</a:t>
            </a:r>
          </a:p>
        </p:txBody>
      </p:sp>
      <p:sp>
        <p:nvSpPr>
          <p:cNvPr id="11" name="Rectangle 7">
            <a:extLst>
              <a:ext uri="{FF2B5EF4-FFF2-40B4-BE49-F238E27FC236}">
                <a16:creationId xmlns:a16="http://schemas.microsoft.com/office/drawing/2014/main" id="{6E31FDF0-C963-BED4-C97E-FF9F67C07D21}"/>
              </a:ext>
            </a:extLst>
          </p:cNvPr>
          <p:cNvSpPr/>
          <p:nvPr userDrawn="1"/>
        </p:nvSpPr>
        <p:spPr>
          <a:xfrm>
            <a:off x="7312803" y="3084777"/>
            <a:ext cx="3933255" cy="2327860"/>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a:t>
            </a:r>
            <a:r>
              <a:rPr lang="it-IT" dirty="0" err="1"/>
              <a:t>is</a:t>
            </a:r>
            <a:r>
              <a:rPr lang="it-IT" dirty="0"/>
              <a:t> an </a:t>
            </a:r>
            <a:r>
              <a:rPr lang="it-IT" dirty="0" err="1"/>
              <a:t>example</a:t>
            </a:r>
            <a:r>
              <a:rPr lang="it-IT" dirty="0"/>
              <a:t> </a:t>
            </a:r>
            <a:r>
              <a:rPr lang="it-IT" b="1" dirty="0"/>
              <a:t>BUT</a:t>
            </a:r>
          </a:p>
          <a:p>
            <a:pPr algn="ctr"/>
            <a:r>
              <a:rPr lang="it-IT" dirty="0"/>
              <a:t>an </a:t>
            </a:r>
            <a:r>
              <a:rPr lang="it-IT" dirty="0" err="1"/>
              <a:t>intial</a:t>
            </a:r>
            <a:r>
              <a:rPr lang="it-IT" dirty="0"/>
              <a:t> slide with </a:t>
            </a:r>
            <a:r>
              <a:rPr lang="it-IT" dirty="0" err="1"/>
              <a:t>all</a:t>
            </a:r>
            <a:r>
              <a:rPr lang="it-IT" dirty="0"/>
              <a:t> the tasks </a:t>
            </a:r>
            <a:r>
              <a:rPr lang="it-IT" dirty="0" err="1"/>
              <a:t>completed</a:t>
            </a:r>
            <a:r>
              <a:rPr lang="it-IT" dirty="0"/>
              <a:t> for the week </a:t>
            </a:r>
            <a:r>
              <a:rPr lang="it-IT" dirty="0" err="1"/>
              <a:t>should</a:t>
            </a:r>
            <a:r>
              <a:rPr lang="it-IT" dirty="0"/>
              <a:t> </a:t>
            </a:r>
            <a:r>
              <a:rPr lang="it-IT" dirty="0" err="1"/>
              <a:t>always</a:t>
            </a:r>
            <a:r>
              <a:rPr lang="it-IT" dirty="0"/>
              <a:t> be </a:t>
            </a:r>
            <a:r>
              <a:rPr lang="it-IT" dirty="0" err="1"/>
              <a:t>included</a:t>
            </a:r>
            <a:br>
              <a:rPr lang="it-IT" dirty="0"/>
            </a:br>
            <a:r>
              <a:rPr lang="it-IT" dirty="0"/>
              <a:t>Use the </a:t>
            </a:r>
            <a:r>
              <a:rPr lang="it-IT" dirty="0" err="1"/>
              <a:t>same</a:t>
            </a:r>
            <a:r>
              <a:rPr lang="it-IT" dirty="0"/>
              <a:t> style, do </a:t>
            </a:r>
            <a:r>
              <a:rPr lang="it-IT" dirty="0" err="1"/>
              <a:t>not</a:t>
            </a:r>
            <a:r>
              <a:rPr lang="it-IT" dirty="0"/>
              <a:t> </a:t>
            </a:r>
            <a:r>
              <a:rPr lang="it-IT" dirty="0" err="1"/>
              <a:t>write</a:t>
            </a:r>
            <a:r>
              <a:rPr lang="it-IT" dirty="0"/>
              <a:t> more text </a:t>
            </a:r>
            <a:r>
              <a:rPr lang="it-IT" dirty="0" err="1"/>
              <a:t>than</a:t>
            </a:r>
            <a:r>
              <a:rPr lang="it-IT" dirty="0"/>
              <a:t> </a:t>
            </a:r>
            <a:r>
              <a:rPr lang="it-IT" dirty="0" err="1"/>
              <a:t>necessary</a:t>
            </a:r>
            <a:r>
              <a:rPr lang="it-IT" dirty="0"/>
              <a:t> (short, concise bullet points are </a:t>
            </a:r>
            <a:r>
              <a:rPr lang="it-IT" dirty="0" err="1"/>
              <a:t>often</a:t>
            </a:r>
            <a:r>
              <a:rPr lang="it-IT" dirty="0"/>
              <a:t> </a:t>
            </a:r>
            <a:r>
              <a:rPr lang="it-IT" dirty="0" err="1"/>
              <a:t>enough</a:t>
            </a:r>
            <a:r>
              <a:rPr lang="it-IT" dirty="0"/>
              <a:t>)</a:t>
            </a:r>
            <a:endParaRPr lang="en-GB" dirty="0"/>
          </a:p>
        </p:txBody>
      </p:sp>
      <p:sp>
        <p:nvSpPr>
          <p:cNvPr id="12" name="Textfeld 11">
            <a:extLst>
              <a:ext uri="{FF2B5EF4-FFF2-40B4-BE49-F238E27FC236}">
                <a16:creationId xmlns:a16="http://schemas.microsoft.com/office/drawing/2014/main" id="{5BA9FE0F-4438-A90E-178E-370DFB88F067}"/>
              </a:ext>
            </a:extLst>
          </p:cNvPr>
          <p:cNvSpPr txBox="1"/>
          <p:nvPr userDrawn="1"/>
        </p:nvSpPr>
        <p:spPr>
          <a:xfrm>
            <a:off x="812800" y="6219031"/>
            <a:ext cx="2120901" cy="307777"/>
          </a:xfrm>
          <a:prstGeom prst="rect">
            <a:avLst/>
          </a:prstGeom>
          <a:noFill/>
        </p:spPr>
        <p:txBody>
          <a:bodyPr wrap="square" rtlCol="0">
            <a:spAutoFit/>
          </a:bodyPr>
          <a:lstStyle/>
          <a:p>
            <a:r>
              <a:rPr lang="de-DE" sz="1400" dirty="0"/>
              <a:t>[1], [2]….</a:t>
            </a:r>
          </a:p>
        </p:txBody>
      </p:sp>
      <p:cxnSp>
        <p:nvCxnSpPr>
          <p:cNvPr id="13" name="Straight Arrow Connector 21">
            <a:extLst>
              <a:ext uri="{FF2B5EF4-FFF2-40B4-BE49-F238E27FC236}">
                <a16:creationId xmlns:a16="http://schemas.microsoft.com/office/drawing/2014/main" id="{C9F1C9AE-6377-666B-8F06-CF0B8B317160}"/>
              </a:ext>
            </a:extLst>
          </p:cNvPr>
          <p:cNvCxnSpPr>
            <a:cxnSpLocks/>
          </p:cNvCxnSpPr>
          <p:nvPr userDrawn="1"/>
        </p:nvCxnSpPr>
        <p:spPr>
          <a:xfrm flipH="1">
            <a:off x="1502229" y="4898571"/>
            <a:ext cx="1487714" cy="1318387"/>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7">
            <a:extLst>
              <a:ext uri="{FF2B5EF4-FFF2-40B4-BE49-F238E27FC236}">
                <a16:creationId xmlns:a16="http://schemas.microsoft.com/office/drawing/2014/main" id="{8C56F642-24B4-9889-6DFF-DDDACEFB7E68}"/>
              </a:ext>
            </a:extLst>
          </p:cNvPr>
          <p:cNvSpPr/>
          <p:nvPr userDrawn="1"/>
        </p:nvSpPr>
        <p:spPr>
          <a:xfrm>
            <a:off x="5256400" y="1634301"/>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slide </a:t>
            </a:r>
            <a:r>
              <a:rPr lang="it-IT" dirty="0" err="1"/>
              <a:t>is</a:t>
            </a:r>
            <a:r>
              <a:rPr lang="it-IT" dirty="0"/>
              <a:t> </a:t>
            </a:r>
            <a:r>
              <a:rPr lang="it-IT" dirty="0" err="1"/>
              <a:t>only</a:t>
            </a:r>
            <a:r>
              <a:rPr lang="it-IT" dirty="0"/>
              <a:t> for </a:t>
            </a:r>
            <a:r>
              <a:rPr lang="it-IT" dirty="0" err="1"/>
              <a:t>explanation</a:t>
            </a:r>
            <a:r>
              <a:rPr lang="it-IT" dirty="0"/>
              <a:t>, </a:t>
            </a:r>
            <a:r>
              <a:rPr lang="it-IT" dirty="0" err="1"/>
              <a:t>dont´t</a:t>
            </a:r>
            <a:r>
              <a:rPr lang="it-IT" dirty="0"/>
              <a:t> use </a:t>
            </a:r>
            <a:r>
              <a:rPr lang="it-IT" dirty="0" err="1"/>
              <a:t>it!</a:t>
            </a:r>
            <a:endParaRPr lang="en-GB" dirty="0"/>
          </a:p>
        </p:txBody>
      </p:sp>
      <p:sp>
        <p:nvSpPr>
          <p:cNvPr id="15" name="Datumsplatzhalter 14">
            <a:extLst>
              <a:ext uri="{FF2B5EF4-FFF2-40B4-BE49-F238E27FC236}">
                <a16:creationId xmlns:a16="http://schemas.microsoft.com/office/drawing/2014/main" id="{F5B6D5E1-3173-F7DB-AFEA-577613F3A0E2}"/>
              </a:ext>
            </a:extLst>
          </p:cNvPr>
          <p:cNvSpPr>
            <a:spLocks noGrp="1"/>
          </p:cNvSpPr>
          <p:nvPr>
            <p:ph type="dt" sz="half" idx="10"/>
          </p:nvPr>
        </p:nvSpPr>
        <p:spPr/>
        <p:txBody>
          <a:bodyPr/>
          <a:lstStyle/>
          <a:p>
            <a:fld id="{02AEE8E4-D792-40D2-B8D4-0007E21A0CF8}" type="datetime1">
              <a:rPr lang="en-GB" smtClean="0"/>
              <a:t>10/11/2025</a:t>
            </a:fld>
            <a:endParaRPr lang="en-GB" dirty="0"/>
          </a:p>
        </p:txBody>
      </p:sp>
      <p:sp>
        <p:nvSpPr>
          <p:cNvPr id="16" name="Fußzeilenplatzhalter 15">
            <a:extLst>
              <a:ext uri="{FF2B5EF4-FFF2-40B4-BE49-F238E27FC236}">
                <a16:creationId xmlns:a16="http://schemas.microsoft.com/office/drawing/2014/main" id="{4201E827-9609-58AA-70BC-996E2AD05F8D}"/>
              </a:ext>
            </a:extLst>
          </p:cNvPr>
          <p:cNvSpPr>
            <a:spLocks noGrp="1"/>
          </p:cNvSpPr>
          <p:nvPr>
            <p:ph type="ftr" sz="quarter" idx="11"/>
          </p:nvPr>
        </p:nvSpPr>
        <p:spPr/>
        <p:txBody>
          <a:bodyPr/>
          <a:lstStyle/>
          <a:p>
            <a:r>
              <a:rPr lang="en-GB"/>
              <a:t>Team Name / Optimus Syria</a:t>
            </a:r>
            <a:endParaRPr lang="en-GB" dirty="0"/>
          </a:p>
        </p:txBody>
      </p:sp>
      <p:sp>
        <p:nvSpPr>
          <p:cNvPr id="17" name="Foliennummernplatzhalter 16">
            <a:extLst>
              <a:ext uri="{FF2B5EF4-FFF2-40B4-BE49-F238E27FC236}">
                <a16:creationId xmlns:a16="http://schemas.microsoft.com/office/drawing/2014/main" id="{DE013F6E-0CEE-85C3-4AD1-ADEED88F5D1E}"/>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8" name="Textplatzhalter 16">
            <a:extLst>
              <a:ext uri="{FF2B5EF4-FFF2-40B4-BE49-F238E27FC236}">
                <a16:creationId xmlns:a16="http://schemas.microsoft.com/office/drawing/2014/main" id="{4C7AB516-D061-772D-6849-99EBB4468916}"/>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1930394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ext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48CB4A-E85F-FC1F-2439-52B071A98EBA}"/>
              </a:ext>
            </a:extLst>
          </p:cNvPr>
          <p:cNvSpPr>
            <a:spLocks noGrp="1" noRot="1" noMove="1" noResize="1" noEditPoints="1" noAdjustHandles="1" noChangeArrowheads="1" noChangeShapeType="1"/>
          </p:cNvSpPr>
          <p:nvPr>
            <p:ph type="title" hasCustomPrompt="1"/>
          </p:nvPr>
        </p:nvSpPr>
        <p:spPr/>
        <p:txBody>
          <a:bodyPr/>
          <a:lstStyle>
            <a:lvl1pPr>
              <a:defRPr sz="4400"/>
            </a:lvl1pPr>
          </a:lstStyle>
          <a:p>
            <a:r>
              <a:rPr lang="de-DE" dirty="0"/>
              <a:t>1. Title, </a:t>
            </a:r>
            <a:r>
              <a:rPr lang="de-DE" dirty="0" err="1"/>
              <a:t>example</a:t>
            </a:r>
            <a:r>
              <a:rPr lang="de-DE" dirty="0"/>
              <a:t>: Tasks </a:t>
            </a:r>
            <a:r>
              <a:rPr lang="de-DE" dirty="0" err="1"/>
              <a:t>of</a:t>
            </a:r>
            <a:r>
              <a:rPr lang="de-DE" dirty="0"/>
              <a:t> </a:t>
            </a:r>
            <a:r>
              <a:rPr lang="de-DE" dirty="0" err="1"/>
              <a:t>the</a:t>
            </a:r>
            <a:r>
              <a:rPr lang="de-DE" dirty="0"/>
              <a:t> </a:t>
            </a:r>
            <a:r>
              <a:rPr lang="de-DE" dirty="0" err="1"/>
              <a:t>week</a:t>
            </a:r>
            <a:r>
              <a:rPr lang="de-DE" dirty="0"/>
              <a:t>   </a:t>
            </a:r>
          </a:p>
        </p:txBody>
      </p:sp>
      <p:sp>
        <p:nvSpPr>
          <p:cNvPr id="3" name="Inhaltsplatzhalter 2">
            <a:extLst>
              <a:ext uri="{FF2B5EF4-FFF2-40B4-BE49-F238E27FC236}">
                <a16:creationId xmlns:a16="http://schemas.microsoft.com/office/drawing/2014/main" id="{E4216958-F611-9E4F-AA4F-56999F637A75}"/>
              </a:ext>
            </a:extLst>
          </p:cNvPr>
          <p:cNvSpPr>
            <a:spLocks noGrp="1"/>
          </p:cNvSpPr>
          <p:nvPr>
            <p:ph idx="1" hasCustomPrompt="1"/>
          </p:nvPr>
        </p:nvSpPr>
        <p:spPr/>
        <p:txBody>
          <a:bodyPr/>
          <a:lstStyle>
            <a:lvl1pPr>
              <a:defRPr sz="2200"/>
            </a:lvl1pPr>
            <a:lvl2pPr marL="971550" indent="-514350">
              <a:buFont typeface="+mj-lt"/>
              <a:buAutoNum type="romanLcPeriod"/>
              <a:defRPr sz="2000"/>
            </a:lvl2pPr>
          </a:lstStyle>
          <a:p>
            <a:pPr lvl="0"/>
            <a:r>
              <a:rPr lang="de-DE" dirty="0" err="1"/>
              <a:t>Abcd</a:t>
            </a:r>
            <a:endParaRPr lang="de-DE" dirty="0"/>
          </a:p>
          <a:p>
            <a:pPr lvl="1"/>
            <a:r>
              <a:rPr lang="de-DE" dirty="0" err="1"/>
              <a:t>efgh</a:t>
            </a:r>
            <a:endParaRPr lang="de-DE" dirty="0"/>
          </a:p>
        </p:txBody>
      </p:sp>
      <p:cxnSp>
        <p:nvCxnSpPr>
          <p:cNvPr id="7" name="Straight Connector 5">
            <a:extLst>
              <a:ext uri="{FF2B5EF4-FFF2-40B4-BE49-F238E27FC236}">
                <a16:creationId xmlns:a16="http://schemas.microsoft.com/office/drawing/2014/main" id="{C5BF7EBE-3919-817C-149B-CF38705C6BC9}"/>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8" name="Textplatzhalter 16">
            <a:extLst>
              <a:ext uri="{FF2B5EF4-FFF2-40B4-BE49-F238E27FC236}">
                <a16:creationId xmlns:a16="http://schemas.microsoft.com/office/drawing/2014/main" id="{479D6A9B-7716-D398-EE18-2F2D6AC11B70}"/>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
        <p:nvSpPr>
          <p:cNvPr id="9" name="Datumsplatzhalter 8">
            <a:extLst>
              <a:ext uri="{FF2B5EF4-FFF2-40B4-BE49-F238E27FC236}">
                <a16:creationId xmlns:a16="http://schemas.microsoft.com/office/drawing/2014/main" id="{45BE17EA-55E6-D579-4D1F-7901F944C6AA}"/>
              </a:ext>
            </a:extLst>
          </p:cNvPr>
          <p:cNvSpPr>
            <a:spLocks noGrp="1"/>
          </p:cNvSpPr>
          <p:nvPr>
            <p:ph type="dt" sz="half" idx="19"/>
          </p:nvPr>
        </p:nvSpPr>
        <p:spPr/>
        <p:txBody>
          <a:bodyPr/>
          <a:lstStyle/>
          <a:p>
            <a:fld id="{02AEE8E4-D792-40D2-B8D4-0007E21A0CF8}" type="datetime1">
              <a:rPr lang="en-GB" smtClean="0"/>
              <a:t>10/11/2025</a:t>
            </a:fld>
            <a:endParaRPr lang="en-GB" dirty="0"/>
          </a:p>
        </p:txBody>
      </p:sp>
      <p:sp>
        <p:nvSpPr>
          <p:cNvPr id="10" name="Fußzeilenplatzhalter 9">
            <a:extLst>
              <a:ext uri="{FF2B5EF4-FFF2-40B4-BE49-F238E27FC236}">
                <a16:creationId xmlns:a16="http://schemas.microsoft.com/office/drawing/2014/main" id="{810CEF70-3482-4FC0-A3A4-7FB408C94A42}"/>
              </a:ext>
            </a:extLst>
          </p:cNvPr>
          <p:cNvSpPr>
            <a:spLocks noGrp="1"/>
          </p:cNvSpPr>
          <p:nvPr>
            <p:ph type="ftr" sz="quarter" idx="20"/>
          </p:nvPr>
        </p:nvSpPr>
        <p:spPr/>
        <p:txBody>
          <a:bodyPr/>
          <a:lstStyle/>
          <a:p>
            <a:r>
              <a:rPr lang="en-GB"/>
              <a:t>Team Name / Optimus Syria</a:t>
            </a:r>
            <a:endParaRPr lang="en-GB" dirty="0"/>
          </a:p>
        </p:txBody>
      </p:sp>
      <p:sp>
        <p:nvSpPr>
          <p:cNvPr id="11" name="Foliennummernplatzhalter 10">
            <a:extLst>
              <a:ext uri="{FF2B5EF4-FFF2-40B4-BE49-F238E27FC236}">
                <a16:creationId xmlns:a16="http://schemas.microsoft.com/office/drawing/2014/main" id="{4879E7A9-C563-396E-C6B6-B45497D433BD}"/>
              </a:ext>
            </a:extLst>
          </p:cNvPr>
          <p:cNvSpPr>
            <a:spLocks noGrp="1"/>
          </p:cNvSpPr>
          <p:nvPr>
            <p:ph type="sldNum" sz="quarter" idx="21"/>
          </p:nvPr>
        </p:nvSpPr>
        <p:spPr/>
        <p:txBody>
          <a:bodyPr/>
          <a:lstStyle/>
          <a:p>
            <a:fld id="{013F6232-4F06-48BA-8F69-BF531F607829}" type="slidenum">
              <a:rPr lang="en-GB" smtClean="0"/>
              <a:pPr/>
              <a:t>‹#›</a:t>
            </a:fld>
            <a:endParaRPr lang="en-GB" dirty="0"/>
          </a:p>
        </p:txBody>
      </p:sp>
      <p:sp>
        <p:nvSpPr>
          <p:cNvPr id="5" name="Textplatzhalter 4">
            <a:extLst>
              <a:ext uri="{FF2B5EF4-FFF2-40B4-BE49-F238E27FC236}">
                <a16:creationId xmlns:a16="http://schemas.microsoft.com/office/drawing/2014/main" id="{9AB8CDF8-03C0-DF20-0ABC-80A78BDABFB2}"/>
              </a:ext>
            </a:extLst>
          </p:cNvPr>
          <p:cNvSpPr>
            <a:spLocks noGrp="1"/>
          </p:cNvSpPr>
          <p:nvPr>
            <p:ph type="body" sz="quarter" idx="22" hasCustomPrompt="1"/>
          </p:nvPr>
        </p:nvSpPr>
        <p:spPr>
          <a:xfrm>
            <a:off x="749023" y="6216958"/>
            <a:ext cx="2248453" cy="309850"/>
          </a:xfrm>
        </p:spPr>
        <p:txBody>
          <a:bodyPr/>
          <a:lstStyle>
            <a:lvl2pPr marL="457200" indent="0">
              <a:buNone/>
              <a:defRPr/>
            </a:lvl2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dirty="0">
                <a:ln>
                  <a:noFill/>
                </a:ln>
                <a:solidFill>
                  <a:prstClr val="black"/>
                </a:solidFill>
                <a:effectLst/>
                <a:uLnTx/>
                <a:uFillTx/>
                <a:latin typeface="Aptos" panose="02110004020202020204"/>
                <a:ea typeface="+mn-ea"/>
                <a:cs typeface="+mn-cs"/>
              </a:rPr>
              <a:t>[1], [2]….</a:t>
            </a:r>
          </a:p>
          <a:p>
            <a:pPr lvl="1"/>
            <a:endParaRPr lang="en-GB" dirty="0"/>
          </a:p>
        </p:txBody>
      </p:sp>
    </p:spTree>
    <p:extLst>
      <p:ext uri="{BB962C8B-B14F-4D97-AF65-F5344CB8AC3E}">
        <p14:creationId xmlns:p14="http://schemas.microsoft.com/office/powerpoint/2010/main" val="2198435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item (Explana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48CB4A-E85F-FC1F-2439-52B071A98EBA}"/>
              </a:ext>
            </a:extLst>
          </p:cNvPr>
          <p:cNvSpPr>
            <a:spLocks noGrp="1" noRot="1" noMove="1" noResize="1" noEditPoints="1" noAdjustHandles="1" noChangeArrowheads="1" noChangeShapeType="1"/>
          </p:cNvSpPr>
          <p:nvPr>
            <p:ph type="title" hasCustomPrompt="1"/>
          </p:nvPr>
        </p:nvSpPr>
        <p:spPr/>
        <p:txBody>
          <a:bodyPr/>
          <a:lstStyle>
            <a:lvl1pPr>
              <a:defRPr sz="4400"/>
            </a:lvl1pPr>
          </a:lstStyle>
          <a:p>
            <a:r>
              <a:rPr lang="de-DE" dirty="0"/>
              <a:t>1-i. </a:t>
            </a:r>
            <a:r>
              <a:rPr lang="de-DE" dirty="0" err="1"/>
              <a:t>Example</a:t>
            </a:r>
            <a:r>
              <a:rPr lang="de-DE" dirty="0"/>
              <a:t>: </a:t>
            </a:r>
            <a:r>
              <a:rPr lang="de-DE" dirty="0" err="1"/>
              <a:t>Drawings</a:t>
            </a:r>
            <a:r>
              <a:rPr lang="de-DE" dirty="0"/>
              <a:t> </a:t>
            </a:r>
            <a:r>
              <a:rPr lang="de-DE" dirty="0" err="1"/>
              <a:t>from</a:t>
            </a:r>
            <a:r>
              <a:rPr lang="de-DE" dirty="0"/>
              <a:t> </a:t>
            </a:r>
            <a:r>
              <a:rPr lang="de-DE" dirty="0" err="1"/>
              <a:t>the</a:t>
            </a:r>
            <a:r>
              <a:rPr lang="de-DE" dirty="0"/>
              <a:t> </a:t>
            </a:r>
            <a:r>
              <a:rPr lang="de-DE" dirty="0" err="1"/>
              <a:t>week</a:t>
            </a:r>
            <a:endParaRPr lang="de-DE" dirty="0"/>
          </a:p>
        </p:txBody>
      </p:sp>
      <p:sp>
        <p:nvSpPr>
          <p:cNvPr id="3" name="Inhaltsplatzhalter 2">
            <a:extLst>
              <a:ext uri="{FF2B5EF4-FFF2-40B4-BE49-F238E27FC236}">
                <a16:creationId xmlns:a16="http://schemas.microsoft.com/office/drawing/2014/main" id="{E4216958-F611-9E4F-AA4F-56999F637A75}"/>
              </a:ext>
            </a:extLst>
          </p:cNvPr>
          <p:cNvSpPr>
            <a:spLocks noGrp="1"/>
          </p:cNvSpPr>
          <p:nvPr>
            <p:ph idx="1" hasCustomPrompt="1"/>
          </p:nvPr>
        </p:nvSpPr>
        <p:spPr/>
        <p:txBody>
          <a:bodyPr/>
          <a:lstStyle>
            <a:lvl1pPr>
              <a:defRPr sz="2200"/>
            </a:lvl1pPr>
            <a:lvl2pPr marL="971550" indent="-514350">
              <a:buFont typeface="+mj-lt"/>
              <a:buAutoNum type="romanLcPeriod"/>
              <a:defRPr sz="2000"/>
            </a:lvl2pPr>
          </a:lstStyle>
          <a:p>
            <a:pPr lvl="0"/>
            <a:r>
              <a:rPr lang="de-DE" dirty="0" err="1"/>
              <a:t>Abcd</a:t>
            </a:r>
            <a:r>
              <a:rPr lang="de-DE" dirty="0"/>
              <a:t> (</a:t>
            </a:r>
            <a:r>
              <a:rPr lang="de-DE" dirty="0" err="1"/>
              <a:t>Aptos</a:t>
            </a:r>
            <a:r>
              <a:rPr lang="de-DE" dirty="0"/>
              <a:t> 22)</a:t>
            </a:r>
          </a:p>
          <a:p>
            <a:pPr lvl="1"/>
            <a:r>
              <a:rPr lang="de-DE" dirty="0" err="1"/>
              <a:t>efgh</a:t>
            </a:r>
            <a:r>
              <a:rPr lang="de-DE" dirty="0"/>
              <a:t> (</a:t>
            </a:r>
            <a:r>
              <a:rPr lang="de-DE" dirty="0" err="1"/>
              <a:t>Aptos</a:t>
            </a:r>
            <a:r>
              <a:rPr lang="de-DE" dirty="0"/>
              <a:t> 20)</a:t>
            </a:r>
          </a:p>
        </p:txBody>
      </p:sp>
      <p:cxnSp>
        <p:nvCxnSpPr>
          <p:cNvPr id="7" name="Straight Connector 5">
            <a:extLst>
              <a:ext uri="{FF2B5EF4-FFF2-40B4-BE49-F238E27FC236}">
                <a16:creationId xmlns:a16="http://schemas.microsoft.com/office/drawing/2014/main" id="{C5BF7EBE-3919-817C-149B-CF38705C6BC9}"/>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1" name="Isosceles Triangle 6">
            <a:extLst>
              <a:ext uri="{FF2B5EF4-FFF2-40B4-BE49-F238E27FC236}">
                <a16:creationId xmlns:a16="http://schemas.microsoft.com/office/drawing/2014/main" id="{703A19AF-E449-D353-12E1-A3DAF32E3EAB}"/>
              </a:ext>
            </a:extLst>
          </p:cNvPr>
          <p:cNvSpPr/>
          <p:nvPr userDrawn="1"/>
        </p:nvSpPr>
        <p:spPr>
          <a:xfrm>
            <a:off x="5218873" y="2853022"/>
            <a:ext cx="1546144" cy="1209996"/>
          </a:xfrm>
          <a:prstGeom prst="triangle">
            <a:avLst>
              <a:gd name="adj" fmla="val 50565"/>
            </a:avLst>
          </a:prstGeom>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p>
        </p:txBody>
      </p:sp>
      <p:sp>
        <p:nvSpPr>
          <p:cNvPr id="12" name="Rectangle 7">
            <a:extLst>
              <a:ext uri="{FF2B5EF4-FFF2-40B4-BE49-F238E27FC236}">
                <a16:creationId xmlns:a16="http://schemas.microsoft.com/office/drawing/2014/main" id="{650D751B-3D4C-8864-D7F4-6EC8348A31EE}"/>
              </a:ext>
            </a:extLst>
          </p:cNvPr>
          <p:cNvSpPr/>
          <p:nvPr userDrawn="1"/>
        </p:nvSpPr>
        <p:spPr>
          <a:xfrm>
            <a:off x="4025317" y="4094711"/>
            <a:ext cx="3933255" cy="1298198"/>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a:t>
            </a:r>
            <a:r>
              <a:rPr lang="it-IT" dirty="0" err="1"/>
              <a:t>is</a:t>
            </a:r>
            <a:r>
              <a:rPr lang="it-IT" dirty="0"/>
              <a:t> an </a:t>
            </a:r>
            <a:r>
              <a:rPr lang="it-IT" dirty="0" err="1"/>
              <a:t>example</a:t>
            </a:r>
            <a:r>
              <a:rPr lang="it-IT" dirty="0"/>
              <a:t> BUT </a:t>
            </a:r>
            <a:r>
              <a:rPr lang="it-IT" dirty="0" err="1"/>
              <a:t>if</a:t>
            </a:r>
            <a:r>
              <a:rPr lang="it-IT" dirty="0"/>
              <a:t> </a:t>
            </a:r>
            <a:r>
              <a:rPr lang="it-IT" dirty="0" err="1"/>
              <a:t>you</a:t>
            </a:r>
            <a:r>
              <a:rPr lang="it-IT" dirty="0"/>
              <a:t> use </a:t>
            </a:r>
            <a:r>
              <a:rPr lang="it-IT" dirty="0" err="1"/>
              <a:t>underpoints</a:t>
            </a:r>
            <a:r>
              <a:rPr lang="it-IT" dirty="0"/>
              <a:t> </a:t>
            </a:r>
            <a:r>
              <a:rPr lang="it-IT" dirty="0" err="1"/>
              <a:t>please</a:t>
            </a:r>
            <a:r>
              <a:rPr lang="it-IT" dirty="0"/>
              <a:t> with the i, ii, iii….</a:t>
            </a:r>
            <a:endParaRPr lang="en-GB" dirty="0"/>
          </a:p>
        </p:txBody>
      </p:sp>
      <p:sp>
        <p:nvSpPr>
          <p:cNvPr id="13" name="Rectangle 11">
            <a:extLst>
              <a:ext uri="{FF2B5EF4-FFF2-40B4-BE49-F238E27FC236}">
                <a16:creationId xmlns:a16="http://schemas.microsoft.com/office/drawing/2014/main" id="{9BDEC9EB-F30A-F42A-26C3-F9AE08765705}"/>
              </a:ext>
            </a:extLst>
          </p:cNvPr>
          <p:cNvSpPr/>
          <p:nvPr userDrawn="1"/>
        </p:nvSpPr>
        <p:spPr>
          <a:xfrm>
            <a:off x="5727842" y="3001184"/>
            <a:ext cx="542886" cy="1200329"/>
          </a:xfrm>
          <a:prstGeom prst="rect">
            <a:avLst/>
          </a:prstGeom>
          <a:noFill/>
        </p:spPr>
        <p:txBody>
          <a:bodyPr wrap="square" lIns="91440" tIns="45720" rIns="91440" bIns="45720">
            <a:spAutoFit/>
          </a:bodyPr>
          <a:lstStyle/>
          <a:p>
            <a:pPr algn="ctr"/>
            <a:r>
              <a:rPr lang="en-GB" sz="7200" b="1" cap="none" spc="0" dirty="0">
                <a:ln w="0"/>
                <a:solidFill>
                  <a:schemeClr val="tx1"/>
                </a:solidFill>
              </a:rPr>
              <a:t>!</a:t>
            </a:r>
          </a:p>
        </p:txBody>
      </p:sp>
      <p:sp>
        <p:nvSpPr>
          <p:cNvPr id="8" name="Rectangle 7">
            <a:extLst>
              <a:ext uri="{FF2B5EF4-FFF2-40B4-BE49-F238E27FC236}">
                <a16:creationId xmlns:a16="http://schemas.microsoft.com/office/drawing/2014/main" id="{454BA2A1-6BBA-CA7A-578A-6529C5AD3CFE}"/>
              </a:ext>
            </a:extLst>
          </p:cNvPr>
          <p:cNvSpPr/>
          <p:nvPr userDrawn="1"/>
        </p:nvSpPr>
        <p:spPr>
          <a:xfrm>
            <a:off x="927758" y="2796999"/>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slide </a:t>
            </a:r>
            <a:r>
              <a:rPr lang="it-IT" dirty="0" err="1"/>
              <a:t>is</a:t>
            </a:r>
            <a:r>
              <a:rPr lang="it-IT" dirty="0"/>
              <a:t> </a:t>
            </a:r>
            <a:r>
              <a:rPr lang="it-IT" dirty="0" err="1"/>
              <a:t>only</a:t>
            </a:r>
            <a:r>
              <a:rPr lang="it-IT" dirty="0"/>
              <a:t> for </a:t>
            </a:r>
            <a:r>
              <a:rPr lang="it-IT" dirty="0" err="1"/>
              <a:t>explanation</a:t>
            </a:r>
            <a:r>
              <a:rPr lang="it-IT" dirty="0"/>
              <a:t>, </a:t>
            </a:r>
            <a:r>
              <a:rPr lang="it-IT" dirty="0" err="1"/>
              <a:t>dont´t</a:t>
            </a:r>
            <a:r>
              <a:rPr lang="it-IT" dirty="0"/>
              <a:t> use </a:t>
            </a:r>
            <a:r>
              <a:rPr lang="it-IT" dirty="0" err="1"/>
              <a:t>it!</a:t>
            </a:r>
            <a:endParaRPr lang="en-GB" dirty="0"/>
          </a:p>
        </p:txBody>
      </p:sp>
      <p:sp>
        <p:nvSpPr>
          <p:cNvPr id="9" name="Datumsplatzhalter 8">
            <a:extLst>
              <a:ext uri="{FF2B5EF4-FFF2-40B4-BE49-F238E27FC236}">
                <a16:creationId xmlns:a16="http://schemas.microsoft.com/office/drawing/2014/main" id="{19E5AF50-94A3-4308-3B68-BAD76E7A7B09}"/>
              </a:ext>
            </a:extLst>
          </p:cNvPr>
          <p:cNvSpPr>
            <a:spLocks noGrp="1"/>
          </p:cNvSpPr>
          <p:nvPr>
            <p:ph type="dt" sz="half" idx="10"/>
          </p:nvPr>
        </p:nvSpPr>
        <p:spPr/>
        <p:txBody>
          <a:bodyPr/>
          <a:lstStyle/>
          <a:p>
            <a:fld id="{02AEE8E4-D792-40D2-B8D4-0007E21A0CF8}" type="datetime1">
              <a:rPr lang="en-GB" smtClean="0"/>
              <a:t>10/11/2025</a:t>
            </a:fld>
            <a:endParaRPr lang="en-GB" dirty="0"/>
          </a:p>
        </p:txBody>
      </p:sp>
      <p:sp>
        <p:nvSpPr>
          <p:cNvPr id="10" name="Fußzeilenplatzhalter 9">
            <a:extLst>
              <a:ext uri="{FF2B5EF4-FFF2-40B4-BE49-F238E27FC236}">
                <a16:creationId xmlns:a16="http://schemas.microsoft.com/office/drawing/2014/main" id="{9798D87B-B794-AD8A-40F1-DEA4D547F712}"/>
              </a:ext>
            </a:extLst>
          </p:cNvPr>
          <p:cNvSpPr>
            <a:spLocks noGrp="1"/>
          </p:cNvSpPr>
          <p:nvPr>
            <p:ph type="ftr" sz="quarter" idx="11"/>
          </p:nvPr>
        </p:nvSpPr>
        <p:spPr/>
        <p:txBody>
          <a:bodyPr/>
          <a:lstStyle/>
          <a:p>
            <a:r>
              <a:rPr lang="en-GB"/>
              <a:t>Team Name / Optimus Syria</a:t>
            </a:r>
            <a:endParaRPr lang="en-GB" dirty="0"/>
          </a:p>
        </p:txBody>
      </p:sp>
      <p:sp>
        <p:nvSpPr>
          <p:cNvPr id="14" name="Foliennummernplatzhalter 13">
            <a:extLst>
              <a:ext uri="{FF2B5EF4-FFF2-40B4-BE49-F238E27FC236}">
                <a16:creationId xmlns:a16="http://schemas.microsoft.com/office/drawing/2014/main" id="{5E6253E5-E305-7986-3017-8FAC6F34DD9C}"/>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5" name="Textplatzhalter 16">
            <a:extLst>
              <a:ext uri="{FF2B5EF4-FFF2-40B4-BE49-F238E27FC236}">
                <a16:creationId xmlns:a16="http://schemas.microsoft.com/office/drawing/2014/main" id="{7E202380-1BD6-7A10-C51A-497A42391B9C}"/>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1773267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ubite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48CB4A-E85F-FC1F-2439-52B071A98EBA}"/>
              </a:ext>
            </a:extLst>
          </p:cNvPr>
          <p:cNvSpPr>
            <a:spLocks noGrp="1" noRot="1" noMove="1" noResize="1" noEditPoints="1" noAdjustHandles="1" noChangeArrowheads="1" noChangeShapeType="1"/>
          </p:cNvSpPr>
          <p:nvPr>
            <p:ph type="title" hasCustomPrompt="1"/>
          </p:nvPr>
        </p:nvSpPr>
        <p:spPr/>
        <p:txBody>
          <a:bodyPr/>
          <a:lstStyle>
            <a:lvl1pPr>
              <a:defRPr sz="4400"/>
            </a:lvl1pPr>
          </a:lstStyle>
          <a:p>
            <a:r>
              <a:rPr lang="de-DE" dirty="0"/>
              <a:t>1-i. </a:t>
            </a:r>
            <a:r>
              <a:rPr lang="de-DE" dirty="0" err="1"/>
              <a:t>Example</a:t>
            </a:r>
            <a:r>
              <a:rPr lang="de-DE" dirty="0"/>
              <a:t>: </a:t>
            </a:r>
            <a:r>
              <a:rPr lang="de-DE" dirty="0" err="1"/>
              <a:t>Drawings</a:t>
            </a:r>
            <a:r>
              <a:rPr lang="de-DE" dirty="0"/>
              <a:t> </a:t>
            </a:r>
            <a:r>
              <a:rPr lang="de-DE" dirty="0" err="1"/>
              <a:t>from</a:t>
            </a:r>
            <a:r>
              <a:rPr lang="de-DE" dirty="0"/>
              <a:t> </a:t>
            </a:r>
            <a:r>
              <a:rPr lang="de-DE" dirty="0" err="1"/>
              <a:t>the</a:t>
            </a:r>
            <a:r>
              <a:rPr lang="de-DE" dirty="0"/>
              <a:t> </a:t>
            </a:r>
            <a:r>
              <a:rPr lang="de-DE" dirty="0" err="1"/>
              <a:t>week</a:t>
            </a:r>
            <a:endParaRPr lang="de-DE" dirty="0"/>
          </a:p>
        </p:txBody>
      </p:sp>
      <p:sp>
        <p:nvSpPr>
          <p:cNvPr id="3" name="Inhaltsplatzhalter 2">
            <a:extLst>
              <a:ext uri="{FF2B5EF4-FFF2-40B4-BE49-F238E27FC236}">
                <a16:creationId xmlns:a16="http://schemas.microsoft.com/office/drawing/2014/main" id="{E4216958-F611-9E4F-AA4F-56999F637A75}"/>
              </a:ext>
            </a:extLst>
          </p:cNvPr>
          <p:cNvSpPr>
            <a:spLocks noGrp="1"/>
          </p:cNvSpPr>
          <p:nvPr>
            <p:ph idx="1" hasCustomPrompt="1"/>
          </p:nvPr>
        </p:nvSpPr>
        <p:spPr/>
        <p:txBody>
          <a:bodyPr/>
          <a:lstStyle>
            <a:lvl1pPr>
              <a:defRPr sz="2200"/>
            </a:lvl1pPr>
            <a:lvl2pPr marL="971550" indent="-514350">
              <a:buFont typeface="+mj-lt"/>
              <a:buAutoNum type="romanLcPeriod"/>
              <a:defRPr sz="2000"/>
            </a:lvl2pPr>
          </a:lstStyle>
          <a:p>
            <a:pPr lvl="0"/>
            <a:r>
              <a:rPr lang="de-DE" dirty="0" err="1"/>
              <a:t>Abcd</a:t>
            </a:r>
            <a:endParaRPr lang="de-DE" dirty="0"/>
          </a:p>
          <a:p>
            <a:pPr lvl="1"/>
            <a:r>
              <a:rPr lang="de-DE" dirty="0" err="1"/>
              <a:t>efgh</a:t>
            </a:r>
            <a:endParaRPr lang="de-DE" dirty="0"/>
          </a:p>
        </p:txBody>
      </p:sp>
      <p:cxnSp>
        <p:nvCxnSpPr>
          <p:cNvPr id="7" name="Straight Connector 5">
            <a:extLst>
              <a:ext uri="{FF2B5EF4-FFF2-40B4-BE49-F238E27FC236}">
                <a16:creationId xmlns:a16="http://schemas.microsoft.com/office/drawing/2014/main" id="{C5BF7EBE-3919-817C-149B-CF38705C6BC9}"/>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8" name="Datumsplatzhalter 7">
            <a:extLst>
              <a:ext uri="{FF2B5EF4-FFF2-40B4-BE49-F238E27FC236}">
                <a16:creationId xmlns:a16="http://schemas.microsoft.com/office/drawing/2014/main" id="{5228F91E-E7AD-B275-5A60-89428222DD8C}"/>
              </a:ext>
            </a:extLst>
          </p:cNvPr>
          <p:cNvSpPr>
            <a:spLocks noGrp="1"/>
          </p:cNvSpPr>
          <p:nvPr>
            <p:ph type="dt" sz="half" idx="10"/>
          </p:nvPr>
        </p:nvSpPr>
        <p:spPr/>
        <p:txBody>
          <a:bodyPr/>
          <a:lstStyle/>
          <a:p>
            <a:fld id="{02AEE8E4-D792-40D2-B8D4-0007E21A0CF8}" type="datetime1">
              <a:rPr lang="en-GB" smtClean="0"/>
              <a:t>10/11/2025</a:t>
            </a:fld>
            <a:endParaRPr lang="en-GB" dirty="0"/>
          </a:p>
        </p:txBody>
      </p:sp>
      <p:sp>
        <p:nvSpPr>
          <p:cNvPr id="9" name="Fußzeilenplatzhalter 8">
            <a:extLst>
              <a:ext uri="{FF2B5EF4-FFF2-40B4-BE49-F238E27FC236}">
                <a16:creationId xmlns:a16="http://schemas.microsoft.com/office/drawing/2014/main" id="{8F4F81C7-2C44-8CF8-2928-655E74DC8F30}"/>
              </a:ext>
            </a:extLst>
          </p:cNvPr>
          <p:cNvSpPr>
            <a:spLocks noGrp="1"/>
          </p:cNvSpPr>
          <p:nvPr>
            <p:ph type="ftr" sz="quarter" idx="11"/>
          </p:nvPr>
        </p:nvSpPr>
        <p:spPr/>
        <p:txBody>
          <a:bodyPr/>
          <a:lstStyle/>
          <a:p>
            <a:r>
              <a:rPr lang="en-GB"/>
              <a:t>Team Name / Optimus Syria</a:t>
            </a:r>
            <a:endParaRPr lang="en-GB" dirty="0"/>
          </a:p>
        </p:txBody>
      </p:sp>
      <p:sp>
        <p:nvSpPr>
          <p:cNvPr id="10" name="Foliennummernplatzhalter 9">
            <a:extLst>
              <a:ext uri="{FF2B5EF4-FFF2-40B4-BE49-F238E27FC236}">
                <a16:creationId xmlns:a16="http://schemas.microsoft.com/office/drawing/2014/main" id="{260D8F3F-3088-D685-66AD-D2110FD402DA}"/>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1" name="Textplatzhalter 16">
            <a:extLst>
              <a:ext uri="{FF2B5EF4-FFF2-40B4-BE49-F238E27FC236}">
                <a16:creationId xmlns:a16="http://schemas.microsoft.com/office/drawing/2014/main" id="{29BD9540-0DAC-F607-0D84-145CAF084DCB}"/>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
        <p:nvSpPr>
          <p:cNvPr id="4" name="Textplatzhalter 4">
            <a:extLst>
              <a:ext uri="{FF2B5EF4-FFF2-40B4-BE49-F238E27FC236}">
                <a16:creationId xmlns:a16="http://schemas.microsoft.com/office/drawing/2014/main" id="{9943038B-A8F9-48D6-0A29-94D4AA659F65}"/>
              </a:ext>
            </a:extLst>
          </p:cNvPr>
          <p:cNvSpPr>
            <a:spLocks noGrp="1"/>
          </p:cNvSpPr>
          <p:nvPr>
            <p:ph type="body" sz="quarter" idx="22" hasCustomPrompt="1"/>
          </p:nvPr>
        </p:nvSpPr>
        <p:spPr>
          <a:xfrm>
            <a:off x="749023" y="6216958"/>
            <a:ext cx="2248453" cy="309850"/>
          </a:xfrm>
        </p:spPr>
        <p:txBody>
          <a:bodyPr/>
          <a:lstStyle>
            <a:lvl2pPr marL="457200" indent="0">
              <a:buNone/>
              <a:defRPr/>
            </a:lvl2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dirty="0">
                <a:ln>
                  <a:noFill/>
                </a:ln>
                <a:solidFill>
                  <a:prstClr val="black"/>
                </a:solidFill>
                <a:effectLst/>
                <a:uLnTx/>
                <a:uFillTx/>
                <a:latin typeface="Aptos" panose="02110004020202020204"/>
                <a:ea typeface="+mn-ea"/>
                <a:cs typeface="+mn-cs"/>
              </a:rPr>
              <a:t>[1], [2]….</a:t>
            </a:r>
          </a:p>
          <a:p>
            <a:pPr lvl="1"/>
            <a:endParaRPr lang="en-GB" dirty="0"/>
          </a:p>
        </p:txBody>
      </p:sp>
    </p:spTree>
    <p:extLst>
      <p:ext uri="{BB962C8B-B14F-4D97-AF65-F5344CB8AC3E}">
        <p14:creationId xmlns:p14="http://schemas.microsoft.com/office/powerpoint/2010/main" val="1959733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raph Slide (Explan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7C287-18A0-EB82-8A27-F94CA3880D06}"/>
              </a:ext>
            </a:extLst>
          </p:cNvPr>
          <p:cNvSpPr>
            <a:spLocks noGrp="1"/>
          </p:cNvSpPr>
          <p:nvPr>
            <p:ph type="title" hasCustomPrompt="1"/>
          </p:nvPr>
        </p:nvSpPr>
        <p:spPr/>
        <p:txBody>
          <a:bodyPr/>
          <a:lstStyle>
            <a:lvl1pPr>
              <a:defRPr/>
            </a:lvl1pPr>
          </a:lstStyle>
          <a:p>
            <a:r>
              <a:rPr lang="de-DE" dirty="0"/>
              <a:t>X. Graph</a:t>
            </a:r>
            <a:endParaRPr lang="en-GB" dirty="0"/>
          </a:p>
        </p:txBody>
      </p:sp>
      <p:pic>
        <p:nvPicPr>
          <p:cNvPr id="6" name="Picture 2" descr="How HOMER Calculates Wind Turbine Power Output">
            <a:extLst>
              <a:ext uri="{FF2B5EF4-FFF2-40B4-BE49-F238E27FC236}">
                <a16:creationId xmlns:a16="http://schemas.microsoft.com/office/drawing/2014/main" id="{002A61B1-6859-B9E0-5E8D-876C02B28C1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43724" y="1939999"/>
            <a:ext cx="5429250" cy="30670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2">
            <a:extLst>
              <a:ext uri="{FF2B5EF4-FFF2-40B4-BE49-F238E27FC236}">
                <a16:creationId xmlns:a16="http://schemas.microsoft.com/office/drawing/2014/main" id="{70DEEB4B-BB48-7BA1-DC37-D3F70525E158}"/>
              </a:ext>
            </a:extLst>
          </p:cNvPr>
          <p:cNvSpPr txBox="1"/>
          <p:nvPr userDrawn="1"/>
        </p:nvSpPr>
        <p:spPr>
          <a:xfrm>
            <a:off x="764619" y="5102669"/>
            <a:ext cx="5187461" cy="600164"/>
          </a:xfrm>
          <a:prstGeom prst="rect">
            <a:avLst/>
          </a:prstGeom>
          <a:noFill/>
        </p:spPr>
        <p:txBody>
          <a:bodyPr wrap="square" rtlCol="0">
            <a:spAutoFit/>
          </a:bodyPr>
          <a:lstStyle/>
          <a:p>
            <a:r>
              <a:rPr lang="it-IT" sz="1100" dirty="0"/>
              <a:t>(</a:t>
            </a:r>
            <a:r>
              <a:rPr lang="it-IT" sz="1100" dirty="0" err="1"/>
              <a:t>Description</a:t>
            </a:r>
            <a:r>
              <a:rPr lang="it-IT" sz="1100" dirty="0"/>
              <a:t> of the </a:t>
            </a:r>
            <a:r>
              <a:rPr lang="it-IT" sz="1100" dirty="0" err="1"/>
              <a:t>graph</a:t>
            </a:r>
            <a:r>
              <a:rPr lang="it-IT" sz="1100" dirty="0"/>
              <a:t>, </a:t>
            </a:r>
            <a:r>
              <a:rPr lang="it-IT" sz="1100" dirty="0" err="1"/>
              <a:t>example</a:t>
            </a:r>
            <a:r>
              <a:rPr lang="it-IT" sz="1100" dirty="0"/>
              <a:t>: </a:t>
            </a:r>
            <a:r>
              <a:rPr lang="it-IT" sz="1100" i="1" dirty="0"/>
              <a:t>power curve power over wind speed</a:t>
            </a:r>
            <a:r>
              <a:rPr lang="it-IT" sz="1100" dirty="0"/>
              <a:t> )</a:t>
            </a:r>
          </a:p>
          <a:p>
            <a:r>
              <a:rPr lang="it-IT" sz="1100" dirty="0"/>
              <a:t>(</a:t>
            </a:r>
            <a:r>
              <a:rPr lang="it-IT" sz="1100" dirty="0" err="1"/>
              <a:t>Citation</a:t>
            </a:r>
            <a:r>
              <a:rPr lang="it-IT" sz="1100" dirty="0"/>
              <a:t> of the sources, </a:t>
            </a:r>
            <a:r>
              <a:rPr lang="it-IT" sz="1100" dirty="0" err="1"/>
              <a:t>example</a:t>
            </a:r>
            <a:r>
              <a:rPr lang="it-IT" sz="1100" dirty="0"/>
              <a:t>:</a:t>
            </a:r>
            <a:r>
              <a:rPr lang="it-IT" sz="1100" b="1" dirty="0"/>
              <a:t> </a:t>
            </a:r>
            <a:r>
              <a:rPr lang="it-IT" sz="1100" b="0" dirty="0"/>
              <a:t>[1] </a:t>
            </a:r>
            <a:r>
              <a:rPr lang="it-IT" sz="1100" dirty="0"/>
              <a:t>)  </a:t>
            </a:r>
          </a:p>
          <a:p>
            <a:r>
              <a:rPr lang="it-IT" sz="1100" dirty="0"/>
              <a:t>(Last date of access, </a:t>
            </a:r>
            <a:r>
              <a:rPr lang="it-IT" sz="1100" dirty="0" err="1"/>
              <a:t>example</a:t>
            </a:r>
            <a:r>
              <a:rPr lang="it-IT" sz="1100" dirty="0"/>
              <a:t>: 21/12/2015)</a:t>
            </a:r>
            <a:endParaRPr lang="en-GB" sz="1100" dirty="0"/>
          </a:p>
        </p:txBody>
      </p:sp>
      <p:cxnSp>
        <p:nvCxnSpPr>
          <p:cNvPr id="8" name="Connector: Elbow 6">
            <a:extLst>
              <a:ext uri="{FF2B5EF4-FFF2-40B4-BE49-F238E27FC236}">
                <a16:creationId xmlns:a16="http://schemas.microsoft.com/office/drawing/2014/main" id="{7A01EE56-12C5-DD96-C172-C145A0ED64CB}"/>
              </a:ext>
            </a:extLst>
          </p:cNvPr>
          <p:cNvCxnSpPr>
            <a:cxnSpLocks/>
          </p:cNvCxnSpPr>
          <p:nvPr userDrawn="1"/>
        </p:nvCxnSpPr>
        <p:spPr>
          <a:xfrm rot="10800000" flipV="1">
            <a:off x="3791371" y="4238699"/>
            <a:ext cx="4563205" cy="1222134"/>
          </a:xfrm>
          <a:prstGeom prst="bentConnector3">
            <a:avLst>
              <a:gd name="adj1" fmla="val 50000"/>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Oval 15">
            <a:extLst>
              <a:ext uri="{FF2B5EF4-FFF2-40B4-BE49-F238E27FC236}">
                <a16:creationId xmlns:a16="http://schemas.microsoft.com/office/drawing/2014/main" id="{EE3D1715-661B-80A0-F167-264ACC369A68}"/>
              </a:ext>
            </a:extLst>
          </p:cNvPr>
          <p:cNvSpPr/>
          <p:nvPr userDrawn="1"/>
        </p:nvSpPr>
        <p:spPr>
          <a:xfrm>
            <a:off x="7796637" y="3405202"/>
            <a:ext cx="3922209" cy="2011693"/>
          </a:xfrm>
          <a:prstGeom prst="ellipse">
            <a:avLst/>
          </a:prstGeom>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it-IT" sz="1400" dirty="0" err="1"/>
              <a:t>Add</a:t>
            </a:r>
            <a:r>
              <a:rPr lang="it-IT" sz="1400" dirty="0"/>
              <a:t> a link to the </a:t>
            </a:r>
            <a:r>
              <a:rPr lang="it-IT" sz="1400" dirty="0" err="1"/>
              <a:t>reference</a:t>
            </a:r>
            <a:r>
              <a:rPr lang="it-IT" sz="1400" dirty="0"/>
              <a:t> </a:t>
            </a:r>
            <a:r>
              <a:rPr lang="it-IT" sz="1400" dirty="0" err="1"/>
              <a:t>number</a:t>
            </a:r>
            <a:r>
              <a:rPr lang="it-IT" sz="1400" dirty="0"/>
              <a:t> </a:t>
            </a:r>
            <a:r>
              <a:rPr lang="it-IT" sz="1400" dirty="0" err="1"/>
              <a:t>that</a:t>
            </a:r>
            <a:r>
              <a:rPr lang="it-IT" sz="1400" dirty="0"/>
              <a:t> </a:t>
            </a:r>
            <a:r>
              <a:rPr lang="it-IT" sz="1400" dirty="0" err="1"/>
              <a:t>goes</a:t>
            </a:r>
            <a:r>
              <a:rPr lang="it-IT" sz="1400" dirty="0"/>
              <a:t> to the last slide: highlight the </a:t>
            </a:r>
            <a:r>
              <a:rPr lang="it-IT" sz="1400" dirty="0" err="1"/>
              <a:t>number</a:t>
            </a:r>
            <a:r>
              <a:rPr lang="it-IT" sz="1400" dirty="0"/>
              <a:t>-&gt;</a:t>
            </a:r>
            <a:r>
              <a:rPr lang="it-IT" sz="1400" dirty="0" err="1"/>
              <a:t>right</a:t>
            </a:r>
            <a:r>
              <a:rPr lang="it-IT" sz="1400" dirty="0"/>
              <a:t> click-&gt;</a:t>
            </a:r>
            <a:r>
              <a:rPr lang="it-IT" sz="1400" dirty="0" err="1"/>
              <a:t>select</a:t>
            </a:r>
            <a:r>
              <a:rPr lang="it-IT" sz="1400" dirty="0"/>
              <a:t> link-&gt;place in </a:t>
            </a:r>
            <a:r>
              <a:rPr lang="it-IT" sz="1400" dirty="0" err="1"/>
              <a:t>this</a:t>
            </a:r>
            <a:r>
              <a:rPr lang="it-IT" sz="1400" dirty="0"/>
              <a:t> </a:t>
            </a:r>
            <a:r>
              <a:rPr lang="it-IT" sz="1400" dirty="0" err="1"/>
              <a:t>document</a:t>
            </a:r>
            <a:r>
              <a:rPr lang="it-IT" sz="1400" dirty="0"/>
              <a:t>-&gt;</a:t>
            </a:r>
            <a:r>
              <a:rPr lang="it-IT" sz="1400" dirty="0" err="1"/>
              <a:t>select</a:t>
            </a:r>
            <a:r>
              <a:rPr lang="it-IT" sz="1400" dirty="0"/>
              <a:t> last slide</a:t>
            </a:r>
            <a:endParaRPr lang="en-GB" sz="1400" dirty="0"/>
          </a:p>
        </p:txBody>
      </p:sp>
      <p:cxnSp>
        <p:nvCxnSpPr>
          <p:cNvPr id="10" name="Straight Connector 5">
            <a:extLst>
              <a:ext uri="{FF2B5EF4-FFF2-40B4-BE49-F238E27FC236}">
                <a16:creationId xmlns:a16="http://schemas.microsoft.com/office/drawing/2014/main" id="{9CCD7462-E12C-CDA3-D609-4AB679728A2E}"/>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1" name="Rectangle 7">
            <a:extLst>
              <a:ext uri="{FF2B5EF4-FFF2-40B4-BE49-F238E27FC236}">
                <a16:creationId xmlns:a16="http://schemas.microsoft.com/office/drawing/2014/main" id="{A1188C36-D6CB-FA53-013E-FC56AD427952}"/>
              </a:ext>
            </a:extLst>
          </p:cNvPr>
          <p:cNvSpPr/>
          <p:nvPr userDrawn="1"/>
        </p:nvSpPr>
        <p:spPr>
          <a:xfrm>
            <a:off x="6495002" y="1875014"/>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slide </a:t>
            </a:r>
            <a:r>
              <a:rPr lang="it-IT" dirty="0" err="1"/>
              <a:t>is</a:t>
            </a:r>
            <a:r>
              <a:rPr lang="it-IT" dirty="0"/>
              <a:t> </a:t>
            </a:r>
            <a:r>
              <a:rPr lang="it-IT" dirty="0" err="1"/>
              <a:t>only</a:t>
            </a:r>
            <a:r>
              <a:rPr lang="it-IT" dirty="0"/>
              <a:t> for </a:t>
            </a:r>
            <a:r>
              <a:rPr lang="it-IT" dirty="0" err="1"/>
              <a:t>explanation</a:t>
            </a:r>
            <a:r>
              <a:rPr lang="it-IT" dirty="0"/>
              <a:t>, </a:t>
            </a:r>
            <a:r>
              <a:rPr lang="it-IT" dirty="0" err="1"/>
              <a:t>dont´t</a:t>
            </a:r>
            <a:r>
              <a:rPr lang="it-IT" dirty="0"/>
              <a:t> use </a:t>
            </a:r>
            <a:r>
              <a:rPr lang="it-IT" dirty="0" err="1"/>
              <a:t>it!</a:t>
            </a:r>
            <a:endParaRPr lang="en-GB" dirty="0"/>
          </a:p>
        </p:txBody>
      </p:sp>
      <p:sp>
        <p:nvSpPr>
          <p:cNvPr id="12" name="Datumsplatzhalter 11">
            <a:extLst>
              <a:ext uri="{FF2B5EF4-FFF2-40B4-BE49-F238E27FC236}">
                <a16:creationId xmlns:a16="http://schemas.microsoft.com/office/drawing/2014/main" id="{749D4654-CB69-04EA-986A-2264B7AF439E}"/>
              </a:ext>
            </a:extLst>
          </p:cNvPr>
          <p:cNvSpPr>
            <a:spLocks noGrp="1"/>
          </p:cNvSpPr>
          <p:nvPr>
            <p:ph type="dt" sz="half" idx="10"/>
          </p:nvPr>
        </p:nvSpPr>
        <p:spPr/>
        <p:txBody>
          <a:bodyPr/>
          <a:lstStyle/>
          <a:p>
            <a:fld id="{02AEE8E4-D792-40D2-B8D4-0007E21A0CF8}" type="datetime1">
              <a:rPr lang="en-GB" smtClean="0"/>
              <a:t>10/11/2025</a:t>
            </a:fld>
            <a:endParaRPr lang="en-GB" dirty="0"/>
          </a:p>
        </p:txBody>
      </p:sp>
      <p:sp>
        <p:nvSpPr>
          <p:cNvPr id="13" name="Fußzeilenplatzhalter 12">
            <a:extLst>
              <a:ext uri="{FF2B5EF4-FFF2-40B4-BE49-F238E27FC236}">
                <a16:creationId xmlns:a16="http://schemas.microsoft.com/office/drawing/2014/main" id="{FC28337D-790B-E06F-0074-04AA48B925B2}"/>
              </a:ext>
            </a:extLst>
          </p:cNvPr>
          <p:cNvSpPr>
            <a:spLocks noGrp="1"/>
          </p:cNvSpPr>
          <p:nvPr>
            <p:ph type="ftr" sz="quarter" idx="11"/>
          </p:nvPr>
        </p:nvSpPr>
        <p:spPr/>
        <p:txBody>
          <a:bodyPr/>
          <a:lstStyle/>
          <a:p>
            <a:r>
              <a:rPr lang="en-GB"/>
              <a:t>Team Name / Optimus Syria</a:t>
            </a:r>
            <a:endParaRPr lang="en-GB" dirty="0"/>
          </a:p>
        </p:txBody>
      </p:sp>
      <p:sp>
        <p:nvSpPr>
          <p:cNvPr id="14" name="Foliennummernplatzhalter 13">
            <a:extLst>
              <a:ext uri="{FF2B5EF4-FFF2-40B4-BE49-F238E27FC236}">
                <a16:creationId xmlns:a16="http://schemas.microsoft.com/office/drawing/2014/main" id="{A2A63292-0139-33E2-79E8-D1F485A4CC93}"/>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5" name="Textplatzhalter 16">
            <a:extLst>
              <a:ext uri="{FF2B5EF4-FFF2-40B4-BE49-F238E27FC236}">
                <a16:creationId xmlns:a16="http://schemas.microsoft.com/office/drawing/2014/main" id="{596BA109-7562-188F-19E6-BAFF28DC5C78}"/>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286484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raph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7C287-18A0-EB82-8A27-F94CA3880D06}"/>
              </a:ext>
            </a:extLst>
          </p:cNvPr>
          <p:cNvSpPr>
            <a:spLocks noGrp="1"/>
          </p:cNvSpPr>
          <p:nvPr>
            <p:ph type="title" hasCustomPrompt="1"/>
          </p:nvPr>
        </p:nvSpPr>
        <p:spPr/>
        <p:txBody>
          <a:bodyPr/>
          <a:lstStyle>
            <a:lvl1pPr>
              <a:defRPr/>
            </a:lvl1pPr>
          </a:lstStyle>
          <a:p>
            <a:r>
              <a:rPr lang="de-DE" dirty="0"/>
              <a:t>X. Graph</a:t>
            </a:r>
            <a:endParaRPr lang="en-GB" dirty="0"/>
          </a:p>
        </p:txBody>
      </p:sp>
      <p:pic>
        <p:nvPicPr>
          <p:cNvPr id="6" name="Picture 2" descr="How HOMER Calculates Wind Turbine Power Output">
            <a:extLst>
              <a:ext uri="{FF2B5EF4-FFF2-40B4-BE49-F238E27FC236}">
                <a16:creationId xmlns:a16="http://schemas.microsoft.com/office/drawing/2014/main" id="{002A61B1-6859-B9E0-5E8D-876C02B28C1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43724" y="1939999"/>
            <a:ext cx="5429250" cy="30670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2">
            <a:extLst>
              <a:ext uri="{FF2B5EF4-FFF2-40B4-BE49-F238E27FC236}">
                <a16:creationId xmlns:a16="http://schemas.microsoft.com/office/drawing/2014/main" id="{70DEEB4B-BB48-7BA1-DC37-D3F70525E158}"/>
              </a:ext>
            </a:extLst>
          </p:cNvPr>
          <p:cNvSpPr txBox="1"/>
          <p:nvPr userDrawn="1"/>
        </p:nvSpPr>
        <p:spPr>
          <a:xfrm>
            <a:off x="764619" y="5102669"/>
            <a:ext cx="5187461" cy="600164"/>
          </a:xfrm>
          <a:prstGeom prst="rect">
            <a:avLst/>
          </a:prstGeom>
          <a:noFill/>
        </p:spPr>
        <p:txBody>
          <a:bodyPr wrap="square" rtlCol="0">
            <a:spAutoFit/>
          </a:bodyPr>
          <a:lstStyle/>
          <a:p>
            <a:r>
              <a:rPr lang="it-IT" sz="1100" dirty="0"/>
              <a:t>(</a:t>
            </a:r>
            <a:r>
              <a:rPr lang="it-IT" sz="1100" dirty="0" err="1"/>
              <a:t>Description</a:t>
            </a:r>
            <a:r>
              <a:rPr lang="it-IT" sz="1100" dirty="0"/>
              <a:t> of the </a:t>
            </a:r>
            <a:r>
              <a:rPr lang="it-IT" sz="1100" dirty="0" err="1"/>
              <a:t>graph</a:t>
            </a:r>
            <a:r>
              <a:rPr lang="it-IT" sz="1100" dirty="0"/>
              <a:t>, </a:t>
            </a:r>
            <a:r>
              <a:rPr lang="it-IT" sz="1100" dirty="0" err="1"/>
              <a:t>example</a:t>
            </a:r>
            <a:r>
              <a:rPr lang="it-IT" sz="1100" dirty="0"/>
              <a:t>: </a:t>
            </a:r>
            <a:r>
              <a:rPr lang="it-IT" sz="1100" i="1" dirty="0"/>
              <a:t>power curve power over wind speed</a:t>
            </a:r>
            <a:r>
              <a:rPr lang="it-IT" sz="1100" dirty="0"/>
              <a:t> )</a:t>
            </a:r>
          </a:p>
          <a:p>
            <a:r>
              <a:rPr lang="it-IT" sz="1100" dirty="0"/>
              <a:t>(</a:t>
            </a:r>
            <a:r>
              <a:rPr lang="it-IT" sz="1100" dirty="0" err="1"/>
              <a:t>Citation</a:t>
            </a:r>
            <a:r>
              <a:rPr lang="it-IT" sz="1100" dirty="0"/>
              <a:t> of the sources, </a:t>
            </a:r>
            <a:r>
              <a:rPr lang="it-IT" sz="1100" dirty="0" err="1"/>
              <a:t>example</a:t>
            </a:r>
            <a:r>
              <a:rPr lang="it-IT" sz="1100" dirty="0"/>
              <a:t>:</a:t>
            </a:r>
            <a:r>
              <a:rPr lang="it-IT" sz="1100" b="1" dirty="0"/>
              <a:t> </a:t>
            </a:r>
            <a:r>
              <a:rPr lang="it-IT" sz="1100" b="0" dirty="0"/>
              <a:t>[1] </a:t>
            </a:r>
            <a:r>
              <a:rPr lang="it-IT" sz="1100" dirty="0"/>
              <a:t>)  </a:t>
            </a:r>
          </a:p>
          <a:p>
            <a:r>
              <a:rPr lang="it-IT" sz="1100" dirty="0"/>
              <a:t>(Last date of access, </a:t>
            </a:r>
            <a:r>
              <a:rPr lang="it-IT" sz="1100" dirty="0" err="1"/>
              <a:t>example</a:t>
            </a:r>
            <a:r>
              <a:rPr lang="it-IT" sz="1100" dirty="0"/>
              <a:t>: 21/12/2015)</a:t>
            </a:r>
            <a:endParaRPr lang="en-GB" sz="1100" dirty="0"/>
          </a:p>
        </p:txBody>
      </p:sp>
      <p:cxnSp>
        <p:nvCxnSpPr>
          <p:cNvPr id="10" name="Straight Connector 5">
            <a:extLst>
              <a:ext uri="{FF2B5EF4-FFF2-40B4-BE49-F238E27FC236}">
                <a16:creationId xmlns:a16="http://schemas.microsoft.com/office/drawing/2014/main" id="{9CCD7462-E12C-CDA3-D609-4AB679728A2E}"/>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8" name="Datumsplatzhalter 7">
            <a:extLst>
              <a:ext uri="{FF2B5EF4-FFF2-40B4-BE49-F238E27FC236}">
                <a16:creationId xmlns:a16="http://schemas.microsoft.com/office/drawing/2014/main" id="{98D8651D-3525-44E9-EF74-5AE1C96E2B5E}"/>
              </a:ext>
            </a:extLst>
          </p:cNvPr>
          <p:cNvSpPr>
            <a:spLocks noGrp="1"/>
          </p:cNvSpPr>
          <p:nvPr>
            <p:ph type="dt" sz="half" idx="10"/>
          </p:nvPr>
        </p:nvSpPr>
        <p:spPr/>
        <p:txBody>
          <a:bodyPr/>
          <a:lstStyle/>
          <a:p>
            <a:fld id="{02AEE8E4-D792-40D2-B8D4-0007E21A0CF8}" type="datetime1">
              <a:rPr lang="en-GB" smtClean="0"/>
              <a:t>10/11/2025</a:t>
            </a:fld>
            <a:endParaRPr lang="en-GB" dirty="0"/>
          </a:p>
        </p:txBody>
      </p:sp>
      <p:sp>
        <p:nvSpPr>
          <p:cNvPr id="9" name="Fußzeilenplatzhalter 8">
            <a:extLst>
              <a:ext uri="{FF2B5EF4-FFF2-40B4-BE49-F238E27FC236}">
                <a16:creationId xmlns:a16="http://schemas.microsoft.com/office/drawing/2014/main" id="{FC35C132-0CB8-F9A6-EC6C-F3AC1F1B3137}"/>
              </a:ext>
            </a:extLst>
          </p:cNvPr>
          <p:cNvSpPr>
            <a:spLocks noGrp="1"/>
          </p:cNvSpPr>
          <p:nvPr>
            <p:ph type="ftr" sz="quarter" idx="11"/>
          </p:nvPr>
        </p:nvSpPr>
        <p:spPr/>
        <p:txBody>
          <a:bodyPr/>
          <a:lstStyle/>
          <a:p>
            <a:r>
              <a:rPr lang="en-GB"/>
              <a:t>Team Name / Optimus Syria</a:t>
            </a:r>
            <a:endParaRPr lang="en-GB" dirty="0"/>
          </a:p>
        </p:txBody>
      </p:sp>
      <p:sp>
        <p:nvSpPr>
          <p:cNvPr id="11" name="Foliennummernplatzhalter 10">
            <a:extLst>
              <a:ext uri="{FF2B5EF4-FFF2-40B4-BE49-F238E27FC236}">
                <a16:creationId xmlns:a16="http://schemas.microsoft.com/office/drawing/2014/main" id="{722F58FF-5AD5-CF97-4FEE-FB1F38CD9A18}"/>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2" name="Textplatzhalter 16">
            <a:extLst>
              <a:ext uri="{FF2B5EF4-FFF2-40B4-BE49-F238E27FC236}">
                <a16:creationId xmlns:a16="http://schemas.microsoft.com/office/drawing/2014/main" id="{DC21B0DD-4D97-871C-E587-F10AD55D8BD9}"/>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241072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bliography (Explan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93033-AA4A-D955-AE39-E7F2A40C8A47}"/>
              </a:ext>
            </a:extLst>
          </p:cNvPr>
          <p:cNvSpPr>
            <a:spLocks noGrp="1"/>
          </p:cNvSpPr>
          <p:nvPr>
            <p:ph type="title" hasCustomPrompt="1"/>
          </p:nvPr>
        </p:nvSpPr>
        <p:spPr/>
        <p:txBody>
          <a:bodyPr/>
          <a:lstStyle>
            <a:lvl1pPr>
              <a:defRPr/>
            </a:lvl1pPr>
          </a:lstStyle>
          <a:p>
            <a:r>
              <a:rPr lang="de-DE" dirty="0" err="1"/>
              <a:t>Bibliography</a:t>
            </a:r>
            <a:r>
              <a:rPr lang="de-DE" dirty="0"/>
              <a:t> – </a:t>
            </a:r>
            <a:r>
              <a:rPr lang="de-DE" dirty="0" err="1"/>
              <a:t>team</a:t>
            </a:r>
            <a:r>
              <a:rPr lang="de-DE" dirty="0"/>
              <a:t> </a:t>
            </a:r>
            <a:r>
              <a:rPr lang="de-DE" dirty="0" err="1"/>
              <a:t>name</a:t>
            </a:r>
            <a:endParaRPr lang="en-GB" dirty="0"/>
          </a:p>
        </p:txBody>
      </p:sp>
      <p:sp>
        <p:nvSpPr>
          <p:cNvPr id="3" name="Content Placeholder 2">
            <a:extLst>
              <a:ext uri="{FF2B5EF4-FFF2-40B4-BE49-F238E27FC236}">
                <a16:creationId xmlns:a16="http://schemas.microsoft.com/office/drawing/2014/main" id="{7638BDBB-4827-8B89-3EE0-5A3DD22172FC}"/>
              </a:ext>
            </a:extLst>
          </p:cNvPr>
          <p:cNvSpPr>
            <a:spLocks noGrp="1"/>
          </p:cNvSpPr>
          <p:nvPr>
            <p:ph idx="1" hasCustomPrompt="1"/>
          </p:nvPr>
        </p:nvSpPr>
        <p:spPr/>
        <p:txBody>
          <a:bodyPr>
            <a:normAutofit/>
          </a:bodyPr>
          <a:lstStyle>
            <a:lvl1pPr marL="0" indent="0">
              <a:buNone/>
              <a:defRPr sz="16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dirty="0"/>
              <a:t>[1] </a:t>
            </a:r>
            <a:r>
              <a:rPr lang="en-GB" dirty="0"/>
              <a:t>“How HOMER Calculates Wind Turbine Power Output,” </a:t>
            </a:r>
            <a:r>
              <a:rPr lang="en-GB" i="1" dirty="0"/>
              <a:t>Homerenergy.com</a:t>
            </a:r>
            <a:r>
              <a:rPr lang="en-GB" dirty="0"/>
              <a:t>, 2017. https://www.homerenergy.com/products/pro/docs/3.15/how_homer_calculates_wind_turbine_power_output.html (accessed Aug. 25, 2025).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[2] …..</a:t>
            </a:r>
            <a:endParaRPr lang="it-IT" dirty="0"/>
          </a:p>
          <a:p>
            <a:pPr lvl="0"/>
            <a:endParaRPr lang="de-DE" dirty="0"/>
          </a:p>
        </p:txBody>
      </p:sp>
      <p:cxnSp>
        <p:nvCxnSpPr>
          <p:cNvPr id="6" name="Straight Arrow Connector 21">
            <a:extLst>
              <a:ext uri="{FF2B5EF4-FFF2-40B4-BE49-F238E27FC236}">
                <a16:creationId xmlns:a16="http://schemas.microsoft.com/office/drawing/2014/main" id="{9B5BA113-ABD0-9B33-1E2F-5863B083FE29}"/>
              </a:ext>
            </a:extLst>
          </p:cNvPr>
          <p:cNvCxnSpPr>
            <a:cxnSpLocks/>
          </p:cNvCxnSpPr>
          <p:nvPr userDrawn="1"/>
        </p:nvCxnSpPr>
        <p:spPr>
          <a:xfrm flipH="1" flipV="1">
            <a:off x="4994031" y="2734408"/>
            <a:ext cx="1245576" cy="1837592"/>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22">
            <a:extLst>
              <a:ext uri="{FF2B5EF4-FFF2-40B4-BE49-F238E27FC236}">
                <a16:creationId xmlns:a16="http://schemas.microsoft.com/office/drawing/2014/main" id="{59531AAE-8AA3-6039-F69E-EDD1AF57C810}"/>
              </a:ext>
            </a:extLst>
          </p:cNvPr>
          <p:cNvSpPr/>
          <p:nvPr userDrawn="1"/>
        </p:nvSpPr>
        <p:spPr>
          <a:xfrm>
            <a:off x="4475285" y="4572000"/>
            <a:ext cx="5969977" cy="167786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t>The style </a:t>
            </a:r>
            <a:r>
              <a:rPr lang="it-IT" dirty="0" err="1"/>
              <a:t>chosen</a:t>
            </a:r>
            <a:r>
              <a:rPr lang="it-IT" dirty="0"/>
              <a:t> for </a:t>
            </a:r>
            <a:r>
              <a:rPr lang="it-IT" dirty="0" err="1"/>
              <a:t>citation</a:t>
            </a:r>
            <a:r>
              <a:rPr lang="it-IT" dirty="0"/>
              <a:t> </a:t>
            </a:r>
            <a:r>
              <a:rPr lang="it-IT" dirty="0" err="1"/>
              <a:t>is</a:t>
            </a:r>
            <a:r>
              <a:rPr lang="it-IT" dirty="0"/>
              <a:t> IEEE, so </a:t>
            </a:r>
            <a:r>
              <a:rPr lang="it-IT" dirty="0" err="1"/>
              <a:t>if</a:t>
            </a:r>
            <a:r>
              <a:rPr lang="it-IT" dirty="0"/>
              <a:t> </a:t>
            </a:r>
            <a:r>
              <a:rPr lang="it-IT" dirty="0" err="1"/>
              <a:t>you</a:t>
            </a:r>
            <a:r>
              <a:rPr lang="it-IT" dirty="0"/>
              <a:t> </a:t>
            </a:r>
            <a:r>
              <a:rPr lang="it-IT" dirty="0" err="1"/>
              <a:t>want</a:t>
            </a:r>
            <a:r>
              <a:rPr lang="it-IT" dirty="0"/>
              <a:t> to create </a:t>
            </a:r>
            <a:r>
              <a:rPr lang="it-IT" dirty="0" err="1"/>
              <a:t>your</a:t>
            </a:r>
            <a:r>
              <a:rPr lang="it-IT" dirty="0"/>
              <a:t> </a:t>
            </a:r>
            <a:r>
              <a:rPr lang="it-IT" dirty="0" err="1"/>
              <a:t>citation</a:t>
            </a:r>
            <a:r>
              <a:rPr lang="it-IT" dirty="0"/>
              <a:t> follow </a:t>
            </a:r>
            <a:r>
              <a:rPr lang="it-IT" dirty="0" err="1"/>
              <a:t>that</a:t>
            </a:r>
            <a:r>
              <a:rPr lang="it-IT" dirty="0"/>
              <a:t> style. </a:t>
            </a:r>
            <a:r>
              <a:rPr lang="it-IT" dirty="0" err="1"/>
              <a:t>If</a:t>
            </a:r>
            <a:r>
              <a:rPr lang="it-IT" dirty="0"/>
              <a:t> </a:t>
            </a:r>
            <a:r>
              <a:rPr lang="it-IT" dirty="0" err="1"/>
              <a:t>you</a:t>
            </a:r>
            <a:r>
              <a:rPr lang="it-IT" dirty="0"/>
              <a:t> </a:t>
            </a:r>
            <a:r>
              <a:rPr lang="it-IT" dirty="0" err="1"/>
              <a:t>want</a:t>
            </a:r>
            <a:r>
              <a:rPr lang="it-IT" dirty="0"/>
              <a:t> to create an IEEE </a:t>
            </a:r>
            <a:r>
              <a:rPr lang="it-IT" dirty="0" err="1"/>
              <a:t>citation</a:t>
            </a:r>
            <a:r>
              <a:rPr lang="it-IT" dirty="0"/>
              <a:t> from a website, </a:t>
            </a:r>
            <a:r>
              <a:rPr lang="it-IT" dirty="0" err="1"/>
              <a:t>you</a:t>
            </a:r>
            <a:r>
              <a:rPr lang="it-IT" dirty="0"/>
              <a:t> can use some free </a:t>
            </a:r>
            <a:r>
              <a:rPr lang="it-IT" dirty="0" err="1"/>
              <a:t>converters</a:t>
            </a:r>
            <a:r>
              <a:rPr lang="it-IT" dirty="0"/>
              <a:t> </a:t>
            </a:r>
            <a:r>
              <a:rPr lang="it-IT" dirty="0" err="1"/>
              <a:t>available</a:t>
            </a:r>
            <a:r>
              <a:rPr lang="it-IT" dirty="0"/>
              <a:t> on the internet, like:</a:t>
            </a:r>
          </a:p>
          <a:p>
            <a:pPr algn="ctr"/>
            <a:r>
              <a:rPr lang="en-GB" b="1" dirty="0">
                <a:hlinkClick r:id="rId2"/>
              </a:rPr>
              <a:t>https://www.mybib.com/tools/ieee-citation-generator</a:t>
            </a:r>
            <a:r>
              <a:rPr lang="en-GB" b="1" dirty="0"/>
              <a:t> </a:t>
            </a:r>
          </a:p>
        </p:txBody>
      </p:sp>
      <p:cxnSp>
        <p:nvCxnSpPr>
          <p:cNvPr id="4" name="Straight Connector 5">
            <a:extLst>
              <a:ext uri="{FF2B5EF4-FFF2-40B4-BE49-F238E27FC236}">
                <a16:creationId xmlns:a16="http://schemas.microsoft.com/office/drawing/2014/main" id="{7CC2DA80-2404-1A96-924E-A52A1DBAA341}"/>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0" name="Rectangle 7">
            <a:extLst>
              <a:ext uri="{FF2B5EF4-FFF2-40B4-BE49-F238E27FC236}">
                <a16:creationId xmlns:a16="http://schemas.microsoft.com/office/drawing/2014/main" id="{226F6F8F-D65D-4B43-5785-E89E617F8616}"/>
              </a:ext>
            </a:extLst>
          </p:cNvPr>
          <p:cNvSpPr/>
          <p:nvPr userDrawn="1"/>
        </p:nvSpPr>
        <p:spPr>
          <a:xfrm>
            <a:off x="908165" y="3299037"/>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slide </a:t>
            </a:r>
            <a:r>
              <a:rPr lang="it-IT" dirty="0" err="1"/>
              <a:t>is</a:t>
            </a:r>
            <a:r>
              <a:rPr lang="it-IT" dirty="0"/>
              <a:t> </a:t>
            </a:r>
            <a:r>
              <a:rPr lang="it-IT" dirty="0" err="1"/>
              <a:t>only</a:t>
            </a:r>
            <a:r>
              <a:rPr lang="it-IT" dirty="0"/>
              <a:t> for </a:t>
            </a:r>
            <a:r>
              <a:rPr lang="it-IT" dirty="0" err="1"/>
              <a:t>explanation</a:t>
            </a:r>
            <a:r>
              <a:rPr lang="it-IT" dirty="0"/>
              <a:t>, </a:t>
            </a:r>
            <a:r>
              <a:rPr lang="it-IT" dirty="0" err="1"/>
              <a:t>dont´t</a:t>
            </a:r>
            <a:r>
              <a:rPr lang="it-IT" dirty="0"/>
              <a:t> use </a:t>
            </a:r>
            <a:r>
              <a:rPr lang="it-IT" dirty="0" err="1"/>
              <a:t>it!</a:t>
            </a:r>
            <a:endParaRPr lang="en-GB" dirty="0"/>
          </a:p>
        </p:txBody>
      </p:sp>
      <p:sp>
        <p:nvSpPr>
          <p:cNvPr id="11" name="Datumsplatzhalter 10">
            <a:extLst>
              <a:ext uri="{FF2B5EF4-FFF2-40B4-BE49-F238E27FC236}">
                <a16:creationId xmlns:a16="http://schemas.microsoft.com/office/drawing/2014/main" id="{376AEEC7-3E6C-8FE6-7104-34FC937946F1}"/>
              </a:ext>
            </a:extLst>
          </p:cNvPr>
          <p:cNvSpPr>
            <a:spLocks noGrp="1"/>
          </p:cNvSpPr>
          <p:nvPr>
            <p:ph type="dt" sz="half" idx="10"/>
          </p:nvPr>
        </p:nvSpPr>
        <p:spPr/>
        <p:txBody>
          <a:bodyPr/>
          <a:lstStyle/>
          <a:p>
            <a:fld id="{02AEE8E4-D792-40D2-B8D4-0007E21A0CF8}" type="datetime1">
              <a:rPr lang="en-GB" smtClean="0"/>
              <a:t>10/11/2025</a:t>
            </a:fld>
            <a:endParaRPr lang="en-GB" dirty="0"/>
          </a:p>
        </p:txBody>
      </p:sp>
      <p:sp>
        <p:nvSpPr>
          <p:cNvPr id="12" name="Fußzeilenplatzhalter 11">
            <a:extLst>
              <a:ext uri="{FF2B5EF4-FFF2-40B4-BE49-F238E27FC236}">
                <a16:creationId xmlns:a16="http://schemas.microsoft.com/office/drawing/2014/main" id="{527D13C7-4982-3CF9-E6C0-8109C888A5C4}"/>
              </a:ext>
            </a:extLst>
          </p:cNvPr>
          <p:cNvSpPr>
            <a:spLocks noGrp="1"/>
          </p:cNvSpPr>
          <p:nvPr>
            <p:ph type="ftr" sz="quarter" idx="11"/>
          </p:nvPr>
        </p:nvSpPr>
        <p:spPr/>
        <p:txBody>
          <a:bodyPr/>
          <a:lstStyle/>
          <a:p>
            <a:r>
              <a:rPr lang="en-GB"/>
              <a:t>Team Name / Optimus Syria</a:t>
            </a:r>
            <a:endParaRPr lang="en-GB" dirty="0"/>
          </a:p>
        </p:txBody>
      </p:sp>
      <p:sp>
        <p:nvSpPr>
          <p:cNvPr id="13" name="Foliennummernplatzhalter 12">
            <a:extLst>
              <a:ext uri="{FF2B5EF4-FFF2-40B4-BE49-F238E27FC236}">
                <a16:creationId xmlns:a16="http://schemas.microsoft.com/office/drawing/2014/main" id="{44A0136B-0337-50A8-941C-6DC048DC6892}"/>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4" name="Textplatzhalter 16">
            <a:extLst>
              <a:ext uri="{FF2B5EF4-FFF2-40B4-BE49-F238E27FC236}">
                <a16:creationId xmlns:a16="http://schemas.microsoft.com/office/drawing/2014/main" id="{A21B8924-2541-A57C-7990-899E2DC11FD9}"/>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2096439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ibliograph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93033-AA4A-D955-AE39-E7F2A40C8A47}"/>
              </a:ext>
            </a:extLst>
          </p:cNvPr>
          <p:cNvSpPr>
            <a:spLocks noGrp="1"/>
          </p:cNvSpPr>
          <p:nvPr>
            <p:ph type="title" hasCustomPrompt="1"/>
          </p:nvPr>
        </p:nvSpPr>
        <p:spPr/>
        <p:txBody>
          <a:bodyPr/>
          <a:lstStyle>
            <a:lvl1pPr>
              <a:defRPr/>
            </a:lvl1pPr>
          </a:lstStyle>
          <a:p>
            <a:r>
              <a:rPr lang="de-DE" dirty="0" err="1"/>
              <a:t>Bibliography</a:t>
            </a:r>
            <a:r>
              <a:rPr lang="de-DE" dirty="0"/>
              <a:t> – </a:t>
            </a:r>
            <a:r>
              <a:rPr lang="de-DE" dirty="0" err="1"/>
              <a:t>team</a:t>
            </a:r>
            <a:r>
              <a:rPr lang="de-DE" dirty="0"/>
              <a:t> </a:t>
            </a:r>
            <a:r>
              <a:rPr lang="de-DE" dirty="0" err="1"/>
              <a:t>name</a:t>
            </a:r>
            <a:endParaRPr lang="en-GB" dirty="0"/>
          </a:p>
        </p:txBody>
      </p:sp>
      <p:sp>
        <p:nvSpPr>
          <p:cNvPr id="3" name="Content Placeholder 2">
            <a:extLst>
              <a:ext uri="{FF2B5EF4-FFF2-40B4-BE49-F238E27FC236}">
                <a16:creationId xmlns:a16="http://schemas.microsoft.com/office/drawing/2014/main" id="{7638BDBB-4827-8B89-3EE0-5A3DD22172FC}"/>
              </a:ext>
            </a:extLst>
          </p:cNvPr>
          <p:cNvSpPr>
            <a:spLocks noGrp="1"/>
          </p:cNvSpPr>
          <p:nvPr>
            <p:ph idx="1" hasCustomPrompt="1"/>
          </p:nvPr>
        </p:nvSpPr>
        <p:spPr/>
        <p:txBody>
          <a:bodyPr>
            <a:normAutofit/>
          </a:bodyPr>
          <a:lstStyle>
            <a:lvl1pPr marL="0" indent="0">
              <a:buNone/>
              <a:defRPr sz="16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dirty="0"/>
              <a:t>[1] </a:t>
            </a:r>
            <a:r>
              <a:rPr lang="en-GB" dirty="0"/>
              <a:t>“How HOMER Calculates Wind Turbine Power Output,” </a:t>
            </a:r>
            <a:r>
              <a:rPr lang="en-GB" i="1" dirty="0"/>
              <a:t>Homerenergy.com</a:t>
            </a:r>
            <a:r>
              <a:rPr lang="en-GB" dirty="0"/>
              <a:t>, 2017. https://www.homerenergy.com/products/pro/docs/3.15/how_homer_calculates_wind_turbine_power_output.html (accessed Aug. 25, 2025).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[2] …..</a:t>
            </a:r>
            <a:endParaRPr lang="it-IT" dirty="0"/>
          </a:p>
          <a:p>
            <a:pPr lvl="0"/>
            <a:endParaRPr lang="de-DE" dirty="0"/>
          </a:p>
        </p:txBody>
      </p:sp>
      <p:cxnSp>
        <p:nvCxnSpPr>
          <p:cNvPr id="4" name="Straight Connector 5">
            <a:extLst>
              <a:ext uri="{FF2B5EF4-FFF2-40B4-BE49-F238E27FC236}">
                <a16:creationId xmlns:a16="http://schemas.microsoft.com/office/drawing/2014/main" id="{7CC2DA80-2404-1A96-924E-A52A1DBAA341}"/>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6" name="Datumsplatzhalter 5">
            <a:extLst>
              <a:ext uri="{FF2B5EF4-FFF2-40B4-BE49-F238E27FC236}">
                <a16:creationId xmlns:a16="http://schemas.microsoft.com/office/drawing/2014/main" id="{79BDC2AF-40F8-8529-16FE-AE51A8BD447C}"/>
              </a:ext>
            </a:extLst>
          </p:cNvPr>
          <p:cNvSpPr>
            <a:spLocks noGrp="1"/>
          </p:cNvSpPr>
          <p:nvPr>
            <p:ph type="dt" sz="half" idx="10"/>
          </p:nvPr>
        </p:nvSpPr>
        <p:spPr/>
        <p:txBody>
          <a:bodyPr/>
          <a:lstStyle/>
          <a:p>
            <a:fld id="{02AEE8E4-D792-40D2-B8D4-0007E21A0CF8}" type="datetime1">
              <a:rPr lang="en-GB" smtClean="0"/>
              <a:t>10/11/2025</a:t>
            </a:fld>
            <a:endParaRPr lang="en-GB" dirty="0"/>
          </a:p>
        </p:txBody>
      </p:sp>
      <p:sp>
        <p:nvSpPr>
          <p:cNvPr id="9" name="Fußzeilenplatzhalter 8">
            <a:extLst>
              <a:ext uri="{FF2B5EF4-FFF2-40B4-BE49-F238E27FC236}">
                <a16:creationId xmlns:a16="http://schemas.microsoft.com/office/drawing/2014/main" id="{3A36B392-F5AC-41D8-5903-3EE036BA8CB9}"/>
              </a:ext>
            </a:extLst>
          </p:cNvPr>
          <p:cNvSpPr>
            <a:spLocks noGrp="1"/>
          </p:cNvSpPr>
          <p:nvPr>
            <p:ph type="ftr" sz="quarter" idx="11"/>
          </p:nvPr>
        </p:nvSpPr>
        <p:spPr/>
        <p:txBody>
          <a:bodyPr/>
          <a:lstStyle/>
          <a:p>
            <a:r>
              <a:rPr lang="en-GB"/>
              <a:t>Team Name / Optimus Syria</a:t>
            </a:r>
            <a:endParaRPr lang="en-GB" dirty="0"/>
          </a:p>
        </p:txBody>
      </p:sp>
      <p:sp>
        <p:nvSpPr>
          <p:cNvPr id="10" name="Foliennummernplatzhalter 9">
            <a:extLst>
              <a:ext uri="{FF2B5EF4-FFF2-40B4-BE49-F238E27FC236}">
                <a16:creationId xmlns:a16="http://schemas.microsoft.com/office/drawing/2014/main" id="{7595A811-7A18-1583-7B9C-87A7CBB7F159}"/>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1" name="Textplatzhalter 16">
            <a:extLst>
              <a:ext uri="{FF2B5EF4-FFF2-40B4-BE49-F238E27FC236}">
                <a16:creationId xmlns:a16="http://schemas.microsoft.com/office/drawing/2014/main" id="{5E735FEA-D591-2E8E-B9B4-2A6BAFE00D4F}"/>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12232809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13920-E451-6E8D-B0CB-C3FB9C0F70B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47CFBA5-B73E-6B89-322D-7C32A35A12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4BF8199-371A-141A-1CD7-D551EEEFDF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Datumsplatzhalter 7">
            <a:extLst>
              <a:ext uri="{FF2B5EF4-FFF2-40B4-BE49-F238E27FC236}">
                <a16:creationId xmlns:a16="http://schemas.microsoft.com/office/drawing/2014/main" id="{16092FF3-E2C2-B5C5-579F-21F140EB3AA1}"/>
              </a:ext>
            </a:extLst>
          </p:cNvPr>
          <p:cNvSpPr>
            <a:spLocks noGrp="1"/>
          </p:cNvSpPr>
          <p:nvPr>
            <p:ph type="dt" sz="half" idx="10"/>
          </p:nvPr>
        </p:nvSpPr>
        <p:spPr/>
        <p:txBody>
          <a:bodyPr/>
          <a:lstStyle/>
          <a:p>
            <a:fld id="{02AEE8E4-D792-40D2-B8D4-0007E21A0CF8}" type="datetime1">
              <a:rPr lang="en-GB" smtClean="0"/>
              <a:t>10/11/2025</a:t>
            </a:fld>
            <a:endParaRPr lang="en-GB" dirty="0"/>
          </a:p>
        </p:txBody>
      </p:sp>
      <p:sp>
        <p:nvSpPr>
          <p:cNvPr id="9" name="Fußzeilenplatzhalter 8">
            <a:extLst>
              <a:ext uri="{FF2B5EF4-FFF2-40B4-BE49-F238E27FC236}">
                <a16:creationId xmlns:a16="http://schemas.microsoft.com/office/drawing/2014/main" id="{85AD0AE9-D3B7-2239-8DBB-350367E7DC59}"/>
              </a:ext>
            </a:extLst>
          </p:cNvPr>
          <p:cNvSpPr>
            <a:spLocks noGrp="1"/>
          </p:cNvSpPr>
          <p:nvPr>
            <p:ph type="ftr" sz="quarter" idx="11"/>
          </p:nvPr>
        </p:nvSpPr>
        <p:spPr/>
        <p:txBody>
          <a:bodyPr/>
          <a:lstStyle/>
          <a:p>
            <a:r>
              <a:rPr lang="en-GB"/>
              <a:t>Team Name / Optimus Syria</a:t>
            </a:r>
            <a:endParaRPr lang="en-GB" dirty="0"/>
          </a:p>
        </p:txBody>
      </p:sp>
      <p:sp>
        <p:nvSpPr>
          <p:cNvPr id="10" name="Foliennummernplatzhalter 9">
            <a:extLst>
              <a:ext uri="{FF2B5EF4-FFF2-40B4-BE49-F238E27FC236}">
                <a16:creationId xmlns:a16="http://schemas.microsoft.com/office/drawing/2014/main" id="{E1BD0BA0-666C-E532-C68B-11386947BA13}"/>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1" name="Textplatzhalter 16">
            <a:extLst>
              <a:ext uri="{FF2B5EF4-FFF2-40B4-BE49-F238E27FC236}">
                <a16:creationId xmlns:a16="http://schemas.microsoft.com/office/drawing/2014/main" id="{027E2607-9D4B-3DD5-A6A2-FC3CB80BCC1F}"/>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4423501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BF7B7-87CF-1A3E-E33E-44DC6E0152F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4B21B8D-C5F5-5242-4069-B1546B4BC0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4D26CD-98BD-17E2-BE55-DBB74BBC64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63B8D60-279E-D76A-9222-12B704BAEB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1AF34B-F683-41AD-C71C-8E8C66CC4C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Datumsplatzhalter 9">
            <a:extLst>
              <a:ext uri="{FF2B5EF4-FFF2-40B4-BE49-F238E27FC236}">
                <a16:creationId xmlns:a16="http://schemas.microsoft.com/office/drawing/2014/main" id="{4EB4231A-B976-E0CE-75F3-D34A6911E251}"/>
              </a:ext>
            </a:extLst>
          </p:cNvPr>
          <p:cNvSpPr>
            <a:spLocks noGrp="1"/>
          </p:cNvSpPr>
          <p:nvPr>
            <p:ph type="dt" sz="half" idx="10"/>
          </p:nvPr>
        </p:nvSpPr>
        <p:spPr/>
        <p:txBody>
          <a:bodyPr/>
          <a:lstStyle/>
          <a:p>
            <a:fld id="{02AEE8E4-D792-40D2-B8D4-0007E21A0CF8}" type="datetime1">
              <a:rPr lang="en-GB" smtClean="0"/>
              <a:t>10/11/2025</a:t>
            </a:fld>
            <a:endParaRPr lang="en-GB" dirty="0"/>
          </a:p>
        </p:txBody>
      </p:sp>
      <p:sp>
        <p:nvSpPr>
          <p:cNvPr id="11" name="Fußzeilenplatzhalter 10">
            <a:extLst>
              <a:ext uri="{FF2B5EF4-FFF2-40B4-BE49-F238E27FC236}">
                <a16:creationId xmlns:a16="http://schemas.microsoft.com/office/drawing/2014/main" id="{2E601F58-36C8-D2D9-A619-7EE495853C62}"/>
              </a:ext>
            </a:extLst>
          </p:cNvPr>
          <p:cNvSpPr>
            <a:spLocks noGrp="1"/>
          </p:cNvSpPr>
          <p:nvPr>
            <p:ph type="ftr" sz="quarter" idx="11"/>
          </p:nvPr>
        </p:nvSpPr>
        <p:spPr/>
        <p:txBody>
          <a:bodyPr/>
          <a:lstStyle/>
          <a:p>
            <a:r>
              <a:rPr lang="en-GB"/>
              <a:t>Team Name / Optimus Syria</a:t>
            </a:r>
            <a:endParaRPr lang="en-GB" dirty="0"/>
          </a:p>
        </p:txBody>
      </p:sp>
      <p:sp>
        <p:nvSpPr>
          <p:cNvPr id="12" name="Foliennummernplatzhalter 11">
            <a:extLst>
              <a:ext uri="{FF2B5EF4-FFF2-40B4-BE49-F238E27FC236}">
                <a16:creationId xmlns:a16="http://schemas.microsoft.com/office/drawing/2014/main" id="{EBFB4D11-F600-12A5-E5C2-DCA390332C8E}"/>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3" name="Textplatzhalter 16">
            <a:extLst>
              <a:ext uri="{FF2B5EF4-FFF2-40B4-BE49-F238E27FC236}">
                <a16:creationId xmlns:a16="http://schemas.microsoft.com/office/drawing/2014/main" id="{39AFE95F-2805-F887-3AF4-313C835B1731}"/>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2437897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AA9CAB1E-C3D8-B43B-64D5-963D13F3D840}"/>
              </a:ext>
            </a:extLst>
          </p:cNvPr>
          <p:cNvSpPr>
            <a:spLocks noGrp="1"/>
          </p:cNvSpPr>
          <p:nvPr>
            <p:ph type="dt" sz="half" idx="10"/>
          </p:nvPr>
        </p:nvSpPr>
        <p:spPr/>
        <p:txBody>
          <a:bodyPr/>
          <a:lstStyle/>
          <a:p>
            <a:fld id="{02AEE8E4-D792-40D2-B8D4-0007E21A0CF8}" type="datetime1">
              <a:rPr lang="en-GB" smtClean="0"/>
              <a:t>10/11/2025</a:t>
            </a:fld>
            <a:endParaRPr lang="en-GB" dirty="0"/>
          </a:p>
        </p:txBody>
      </p:sp>
      <p:sp>
        <p:nvSpPr>
          <p:cNvPr id="6" name="Fußzeilenplatzhalter 5">
            <a:extLst>
              <a:ext uri="{FF2B5EF4-FFF2-40B4-BE49-F238E27FC236}">
                <a16:creationId xmlns:a16="http://schemas.microsoft.com/office/drawing/2014/main" id="{3B3E84C0-2A5E-8136-84E3-1F57CD264AF4}"/>
              </a:ext>
            </a:extLst>
          </p:cNvPr>
          <p:cNvSpPr>
            <a:spLocks noGrp="1"/>
          </p:cNvSpPr>
          <p:nvPr>
            <p:ph type="ftr" sz="quarter" idx="11"/>
          </p:nvPr>
        </p:nvSpPr>
        <p:spPr/>
        <p:txBody>
          <a:bodyPr/>
          <a:lstStyle/>
          <a:p>
            <a:r>
              <a:rPr lang="en-GB"/>
              <a:t>Team Name / Optimus Syria</a:t>
            </a:r>
            <a:endParaRPr lang="en-GB" dirty="0"/>
          </a:p>
        </p:txBody>
      </p:sp>
      <p:sp>
        <p:nvSpPr>
          <p:cNvPr id="7" name="Foliennummernplatzhalter 6">
            <a:extLst>
              <a:ext uri="{FF2B5EF4-FFF2-40B4-BE49-F238E27FC236}">
                <a16:creationId xmlns:a16="http://schemas.microsoft.com/office/drawing/2014/main" id="{279EE80A-8782-7800-16FF-963D026BCCF5}"/>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8" name="Textplatzhalter 16">
            <a:extLst>
              <a:ext uri="{FF2B5EF4-FFF2-40B4-BE49-F238E27FC236}">
                <a16:creationId xmlns:a16="http://schemas.microsoft.com/office/drawing/2014/main" id="{CFBF4831-0820-F79B-E15A-914A0E578D4E}"/>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25370099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 mit Überschr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4D20E-7D43-D4CD-1058-46300B8EE4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EB6584A-B476-0EA1-C12B-07C273F70E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1694232-1597-B186-D108-397BCF214D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umsplatzhalter 7">
            <a:extLst>
              <a:ext uri="{FF2B5EF4-FFF2-40B4-BE49-F238E27FC236}">
                <a16:creationId xmlns:a16="http://schemas.microsoft.com/office/drawing/2014/main" id="{63342531-5FA3-5F71-CEB1-CFCD86F1701F}"/>
              </a:ext>
            </a:extLst>
          </p:cNvPr>
          <p:cNvSpPr>
            <a:spLocks noGrp="1"/>
          </p:cNvSpPr>
          <p:nvPr>
            <p:ph type="dt" sz="half" idx="10"/>
          </p:nvPr>
        </p:nvSpPr>
        <p:spPr/>
        <p:txBody>
          <a:bodyPr/>
          <a:lstStyle/>
          <a:p>
            <a:fld id="{02AEE8E4-D792-40D2-B8D4-0007E21A0CF8}" type="datetime1">
              <a:rPr lang="en-GB" smtClean="0"/>
              <a:t>10/11/2025</a:t>
            </a:fld>
            <a:endParaRPr lang="en-GB" dirty="0"/>
          </a:p>
        </p:txBody>
      </p:sp>
      <p:sp>
        <p:nvSpPr>
          <p:cNvPr id="9" name="Fußzeilenplatzhalter 8">
            <a:extLst>
              <a:ext uri="{FF2B5EF4-FFF2-40B4-BE49-F238E27FC236}">
                <a16:creationId xmlns:a16="http://schemas.microsoft.com/office/drawing/2014/main" id="{0D108632-F456-C23D-6809-CF44E36A522C}"/>
              </a:ext>
            </a:extLst>
          </p:cNvPr>
          <p:cNvSpPr>
            <a:spLocks noGrp="1"/>
          </p:cNvSpPr>
          <p:nvPr>
            <p:ph type="ftr" sz="quarter" idx="11"/>
          </p:nvPr>
        </p:nvSpPr>
        <p:spPr/>
        <p:txBody>
          <a:bodyPr/>
          <a:lstStyle/>
          <a:p>
            <a:r>
              <a:rPr lang="en-GB"/>
              <a:t>Team Name / Optimus Syria</a:t>
            </a:r>
            <a:endParaRPr lang="en-GB" dirty="0"/>
          </a:p>
        </p:txBody>
      </p:sp>
      <p:sp>
        <p:nvSpPr>
          <p:cNvPr id="10" name="Foliennummernplatzhalter 9">
            <a:extLst>
              <a:ext uri="{FF2B5EF4-FFF2-40B4-BE49-F238E27FC236}">
                <a16:creationId xmlns:a16="http://schemas.microsoft.com/office/drawing/2014/main" id="{14F6375C-67FA-9BF2-A821-A5611C211C9C}"/>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1" name="Textplatzhalter 16">
            <a:extLst>
              <a:ext uri="{FF2B5EF4-FFF2-40B4-BE49-F238E27FC236}">
                <a16:creationId xmlns:a16="http://schemas.microsoft.com/office/drawing/2014/main" id="{6E6CFA6E-C964-BB71-3D6D-D966EE46607E}"/>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18465591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ild mit Überschr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2DC87-27CE-5A07-9629-719DC91DE4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F65E744-3606-1D16-E7B2-58DAFC3E88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EEA9C703-BF20-85AF-358A-01ADED33CF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umsplatzhalter 7">
            <a:extLst>
              <a:ext uri="{FF2B5EF4-FFF2-40B4-BE49-F238E27FC236}">
                <a16:creationId xmlns:a16="http://schemas.microsoft.com/office/drawing/2014/main" id="{0DAC50BC-A24B-779F-0533-7A27D611B159}"/>
              </a:ext>
            </a:extLst>
          </p:cNvPr>
          <p:cNvSpPr>
            <a:spLocks noGrp="1"/>
          </p:cNvSpPr>
          <p:nvPr>
            <p:ph type="dt" sz="half" idx="10"/>
          </p:nvPr>
        </p:nvSpPr>
        <p:spPr/>
        <p:txBody>
          <a:bodyPr/>
          <a:lstStyle/>
          <a:p>
            <a:fld id="{02AEE8E4-D792-40D2-B8D4-0007E21A0CF8}" type="datetime1">
              <a:rPr lang="en-GB" smtClean="0"/>
              <a:t>10/11/2025</a:t>
            </a:fld>
            <a:endParaRPr lang="en-GB" dirty="0"/>
          </a:p>
        </p:txBody>
      </p:sp>
      <p:sp>
        <p:nvSpPr>
          <p:cNvPr id="9" name="Fußzeilenplatzhalter 8">
            <a:extLst>
              <a:ext uri="{FF2B5EF4-FFF2-40B4-BE49-F238E27FC236}">
                <a16:creationId xmlns:a16="http://schemas.microsoft.com/office/drawing/2014/main" id="{2B06DBDC-0EA1-59AB-DB5D-AEE297E61849}"/>
              </a:ext>
            </a:extLst>
          </p:cNvPr>
          <p:cNvSpPr>
            <a:spLocks noGrp="1"/>
          </p:cNvSpPr>
          <p:nvPr>
            <p:ph type="ftr" sz="quarter" idx="11"/>
          </p:nvPr>
        </p:nvSpPr>
        <p:spPr/>
        <p:txBody>
          <a:bodyPr/>
          <a:lstStyle/>
          <a:p>
            <a:r>
              <a:rPr lang="en-GB"/>
              <a:t>Team Name / Optimus Syria</a:t>
            </a:r>
            <a:endParaRPr lang="en-GB" dirty="0"/>
          </a:p>
        </p:txBody>
      </p:sp>
      <p:sp>
        <p:nvSpPr>
          <p:cNvPr id="10" name="Foliennummernplatzhalter 9">
            <a:extLst>
              <a:ext uri="{FF2B5EF4-FFF2-40B4-BE49-F238E27FC236}">
                <a16:creationId xmlns:a16="http://schemas.microsoft.com/office/drawing/2014/main" id="{3EB43FC5-BB47-1A87-75C6-C0AFB5C7235F}"/>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1" name="Textplatzhalter 16">
            <a:extLst>
              <a:ext uri="{FF2B5EF4-FFF2-40B4-BE49-F238E27FC236}">
                <a16:creationId xmlns:a16="http://schemas.microsoft.com/office/drawing/2014/main" id="{680B36F8-3A7C-6F05-A0AB-F3F43BA0922B}"/>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17126135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el und vertikaler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44B09-72C5-4D15-0E4C-46764EB8C8D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1B470E9-1D3C-D5B3-7A54-66BD900997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umsplatzhalter 6">
            <a:extLst>
              <a:ext uri="{FF2B5EF4-FFF2-40B4-BE49-F238E27FC236}">
                <a16:creationId xmlns:a16="http://schemas.microsoft.com/office/drawing/2014/main" id="{0C34C088-08EA-3896-8F05-16D82C511456}"/>
              </a:ext>
            </a:extLst>
          </p:cNvPr>
          <p:cNvSpPr>
            <a:spLocks noGrp="1"/>
          </p:cNvSpPr>
          <p:nvPr>
            <p:ph type="dt" sz="half" idx="10"/>
          </p:nvPr>
        </p:nvSpPr>
        <p:spPr/>
        <p:txBody>
          <a:bodyPr/>
          <a:lstStyle/>
          <a:p>
            <a:fld id="{02AEE8E4-D792-40D2-B8D4-0007E21A0CF8}" type="datetime1">
              <a:rPr lang="en-GB" smtClean="0"/>
              <a:t>10/11/2025</a:t>
            </a:fld>
            <a:endParaRPr lang="en-GB" dirty="0"/>
          </a:p>
        </p:txBody>
      </p:sp>
      <p:sp>
        <p:nvSpPr>
          <p:cNvPr id="8" name="Fußzeilenplatzhalter 7">
            <a:extLst>
              <a:ext uri="{FF2B5EF4-FFF2-40B4-BE49-F238E27FC236}">
                <a16:creationId xmlns:a16="http://schemas.microsoft.com/office/drawing/2014/main" id="{08EA7E74-7B1F-8648-209E-BFE07FF1E458}"/>
              </a:ext>
            </a:extLst>
          </p:cNvPr>
          <p:cNvSpPr>
            <a:spLocks noGrp="1"/>
          </p:cNvSpPr>
          <p:nvPr>
            <p:ph type="ftr" sz="quarter" idx="11"/>
          </p:nvPr>
        </p:nvSpPr>
        <p:spPr/>
        <p:txBody>
          <a:bodyPr/>
          <a:lstStyle/>
          <a:p>
            <a:r>
              <a:rPr lang="en-GB"/>
              <a:t>Team Name / Optimus Syria</a:t>
            </a:r>
            <a:endParaRPr lang="en-GB" dirty="0"/>
          </a:p>
        </p:txBody>
      </p:sp>
      <p:sp>
        <p:nvSpPr>
          <p:cNvPr id="9" name="Foliennummernplatzhalter 8">
            <a:extLst>
              <a:ext uri="{FF2B5EF4-FFF2-40B4-BE49-F238E27FC236}">
                <a16:creationId xmlns:a16="http://schemas.microsoft.com/office/drawing/2014/main" id="{62B97D1D-1741-1791-CBA3-FA5CA67CA7DB}"/>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0" name="Textplatzhalter 16">
            <a:extLst>
              <a:ext uri="{FF2B5EF4-FFF2-40B4-BE49-F238E27FC236}">
                <a16:creationId xmlns:a16="http://schemas.microsoft.com/office/drawing/2014/main" id="{6A2FA29E-F5F4-39E0-E0C6-CACC20E04F15}"/>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22687113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ertikaler Titel u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68A110-A33F-744D-89CB-FFCF49E08A8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DB6FACB-31E5-361F-D71D-18FCBA5503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umsplatzhalter 6">
            <a:extLst>
              <a:ext uri="{FF2B5EF4-FFF2-40B4-BE49-F238E27FC236}">
                <a16:creationId xmlns:a16="http://schemas.microsoft.com/office/drawing/2014/main" id="{05945ED5-EBD1-3567-F959-B92E831E5149}"/>
              </a:ext>
            </a:extLst>
          </p:cNvPr>
          <p:cNvSpPr>
            <a:spLocks noGrp="1"/>
          </p:cNvSpPr>
          <p:nvPr>
            <p:ph type="dt" sz="half" idx="10"/>
          </p:nvPr>
        </p:nvSpPr>
        <p:spPr/>
        <p:txBody>
          <a:bodyPr/>
          <a:lstStyle/>
          <a:p>
            <a:fld id="{02AEE8E4-D792-40D2-B8D4-0007E21A0CF8}" type="datetime1">
              <a:rPr lang="en-GB" smtClean="0"/>
              <a:t>10/11/2025</a:t>
            </a:fld>
            <a:endParaRPr lang="en-GB" dirty="0"/>
          </a:p>
        </p:txBody>
      </p:sp>
      <p:sp>
        <p:nvSpPr>
          <p:cNvPr id="8" name="Fußzeilenplatzhalter 7">
            <a:extLst>
              <a:ext uri="{FF2B5EF4-FFF2-40B4-BE49-F238E27FC236}">
                <a16:creationId xmlns:a16="http://schemas.microsoft.com/office/drawing/2014/main" id="{CBB6A4D0-1BA6-C02F-BE18-391B96E98DE3}"/>
              </a:ext>
            </a:extLst>
          </p:cNvPr>
          <p:cNvSpPr>
            <a:spLocks noGrp="1"/>
          </p:cNvSpPr>
          <p:nvPr>
            <p:ph type="ftr" sz="quarter" idx="11"/>
          </p:nvPr>
        </p:nvSpPr>
        <p:spPr/>
        <p:txBody>
          <a:bodyPr/>
          <a:lstStyle/>
          <a:p>
            <a:r>
              <a:rPr lang="en-GB"/>
              <a:t>Team Name / Optimus Syria</a:t>
            </a:r>
            <a:endParaRPr lang="en-GB" dirty="0"/>
          </a:p>
        </p:txBody>
      </p:sp>
      <p:sp>
        <p:nvSpPr>
          <p:cNvPr id="9" name="Foliennummernplatzhalter 8">
            <a:extLst>
              <a:ext uri="{FF2B5EF4-FFF2-40B4-BE49-F238E27FC236}">
                <a16:creationId xmlns:a16="http://schemas.microsoft.com/office/drawing/2014/main" id="{9412E4BF-484F-C87E-8228-534B62A6BCEA}"/>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0" name="Textplatzhalter 16">
            <a:extLst>
              <a:ext uri="{FF2B5EF4-FFF2-40B4-BE49-F238E27FC236}">
                <a16:creationId xmlns:a16="http://schemas.microsoft.com/office/drawing/2014/main" id="{A24C13F3-9C79-1E9F-ED48-61D2AD9586E3}"/>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p14="http://schemas.microsoft.com/office/powerpoint/2010/main" val="10701898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el slide 1">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7E6E28C-7B17-1432-D698-5D8867EE337B}"/>
              </a:ext>
            </a:extLst>
          </p:cNvPr>
          <p:cNvSpPr txBox="1">
            <a:spLocks/>
          </p:cNvSpPr>
          <p:nvPr userDrawn="1"/>
        </p:nvSpPr>
        <p:spPr>
          <a:xfrm>
            <a:off x="1412841" y="2281143"/>
            <a:ext cx="9144000" cy="912598"/>
          </a:xfrm>
          <a:prstGeom prst="rect">
            <a:avLst/>
          </a:prstGeom>
        </p:spPr>
        <p:txBody>
          <a:bodyPr vert="horz" lIns="91440" tIns="45720" rIns="91440" bIns="45720" rtlCol="0" anchor="b">
            <a:noAutofit/>
            <a:scene3d>
              <a:camera prst="orthographicFront"/>
              <a:lightRig rig="harsh" dir="t"/>
            </a:scene3d>
            <a:sp3d extrusionH="57150" prstMaterial="matte">
              <a:bevelT w="63500" h="12700" prst="angle"/>
              <a:contourClr>
                <a:schemeClr val="bg1">
                  <a:lumMod val="65000"/>
                </a:schemeClr>
              </a:contourClr>
            </a:sp3d>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it-IT" sz="6600" b="1" i="0" u="none" strike="noStrike" kern="1200" cap="none" spc="0" normalizeH="0" baseline="0" noProof="0">
                <a:ln/>
                <a:solidFill>
                  <a:srgbClr val="156082"/>
                </a:solidFill>
                <a:effectLst/>
                <a:uLnTx/>
                <a:uFillTx/>
                <a:latin typeface="Times New Roman" panose="02020603050405020304" pitchFamily="18" charset="0"/>
                <a:ea typeface="+mj-ea"/>
                <a:cs typeface="Times New Roman" panose="02020603050405020304" pitchFamily="18" charset="0"/>
              </a:rPr>
              <a:t>Optimus Syria</a:t>
            </a:r>
            <a:endParaRPr kumimoji="0" lang="en-GB" sz="6600" b="1" i="0" u="none" strike="noStrike" kern="1200" cap="none" spc="0" normalizeH="0" baseline="0" noProof="0" dirty="0">
              <a:ln/>
              <a:solidFill>
                <a:srgbClr val="156082"/>
              </a:solidFill>
              <a:effectLst/>
              <a:uLnTx/>
              <a:uFillTx/>
              <a:latin typeface="Times New Roman" panose="02020603050405020304" pitchFamily="18" charset="0"/>
              <a:ea typeface="+mj-ea"/>
              <a:cs typeface="Times New Roman" panose="02020603050405020304" pitchFamily="18" charset="0"/>
            </a:endParaRPr>
          </a:p>
        </p:txBody>
      </p:sp>
      <p:pic>
        <p:nvPicPr>
          <p:cNvPr id="9" name="Picture 8" descr="Hochschule Flensburg (Fachhochschule) – Wikipedia">
            <a:extLst>
              <a:ext uri="{FF2B5EF4-FFF2-40B4-BE49-F238E27FC236}">
                <a16:creationId xmlns:a16="http://schemas.microsoft.com/office/drawing/2014/main" id="{A98E8D30-71DB-C779-1E77-2B8D1F32463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auto">
          <a:xfrm>
            <a:off x="3577870" y="80932"/>
            <a:ext cx="2518129" cy="1672124"/>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10" name="Picture 14" descr="A black background with blue text&#10;&#10;AI-generated content may be incorrect.">
            <a:extLst>
              <a:ext uri="{FF2B5EF4-FFF2-40B4-BE49-F238E27FC236}">
                <a16:creationId xmlns:a16="http://schemas.microsoft.com/office/drawing/2014/main" id="{7FC9E882-BB5D-1CC3-9AD4-1ADE555B8393}"/>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tretch>
            <a:fillRect/>
          </a:stretch>
        </p:blipFill>
        <p:spPr bwMode="auto">
          <a:xfrm>
            <a:off x="6095999" y="330186"/>
            <a:ext cx="3586922" cy="1040207"/>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11" name="Grafik 10">
            <a:extLst>
              <a:ext uri="{FF2B5EF4-FFF2-40B4-BE49-F238E27FC236}">
                <a16:creationId xmlns:a16="http://schemas.microsoft.com/office/drawing/2014/main" id="{3EFF5A11-92DF-BC35-55CA-EECA202C55B3}"/>
              </a:ext>
            </a:extLst>
          </p:cNvPr>
          <p:cNvPicPr>
            <a:picLocks noChangeAspect="1"/>
          </p:cNvPicPr>
          <p:nvPr userDrawn="1"/>
        </p:nvPicPr>
        <p:blipFill>
          <a:blip r:embed="rId5"/>
          <a:srcRect l="4671"/>
          <a:stretch/>
        </p:blipFill>
        <p:spPr>
          <a:xfrm>
            <a:off x="135741" y="211147"/>
            <a:ext cx="3179298" cy="1541909"/>
          </a:xfrm>
          <a:prstGeom prst="rect">
            <a:avLst/>
          </a:prstGeom>
          <a:ln>
            <a:noFill/>
          </a:ln>
          <a:effectLst>
            <a:softEdge rad="112500"/>
          </a:effectLst>
        </p:spPr>
      </p:pic>
      <p:pic>
        <p:nvPicPr>
          <p:cNvPr id="12" name="Picture 6">
            <a:extLst>
              <a:ext uri="{FF2B5EF4-FFF2-40B4-BE49-F238E27FC236}">
                <a16:creationId xmlns:a16="http://schemas.microsoft.com/office/drawing/2014/main" id="{D0057AC6-E958-18E0-BF43-7A806C66C90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9642029" y="191498"/>
            <a:ext cx="2355285" cy="2150053"/>
          </a:xfrm>
          <a:prstGeom prst="rect">
            <a:avLst/>
          </a:prstGeom>
          <a:ln>
            <a:noFill/>
          </a:ln>
          <a:effectLst>
            <a:softEdge rad="112500"/>
          </a:effectLst>
        </p:spPr>
      </p:pic>
      <p:sp>
        <p:nvSpPr>
          <p:cNvPr id="18" name="Free-form: Shape 13">
            <a:extLst>
              <a:ext uri="{FF2B5EF4-FFF2-40B4-BE49-F238E27FC236}">
                <a16:creationId xmlns:a16="http://schemas.microsoft.com/office/drawing/2014/main" id="{233C0D9D-B26B-1DCE-8493-626ABDD067F7}"/>
              </a:ext>
            </a:extLst>
          </p:cNvPr>
          <p:cNvSpPr/>
          <p:nvPr userDrawn="1"/>
        </p:nvSpPr>
        <p:spPr>
          <a:xfrm>
            <a:off x="-7749" y="5526425"/>
            <a:ext cx="12218376" cy="72825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rgbClr val="0F9ED5">
                  <a:lumMod val="40000"/>
                  <a:lumOff val="60000"/>
                </a:srgbClr>
              </a:gs>
              <a:gs pos="100000">
                <a:sysClr val="window" lastClr="FFFFFF"/>
              </a:gs>
            </a:gsLst>
            <a:lin ang="5400000" scaled="1"/>
          </a:gradFill>
          <a:ln w="19050" cap="flat" cmpd="sng" algn="ctr">
            <a:solidFill>
              <a:sysClr val="window" lastClr="FFFFFF"/>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9" name="Free-form: Shape 13">
            <a:extLst>
              <a:ext uri="{FF2B5EF4-FFF2-40B4-BE49-F238E27FC236}">
                <a16:creationId xmlns:a16="http://schemas.microsoft.com/office/drawing/2014/main" id="{95CC7C89-8F0E-07BF-6D89-44A0358FDFC8}"/>
              </a:ext>
            </a:extLst>
          </p:cNvPr>
          <p:cNvSpPr/>
          <p:nvPr userDrawn="1"/>
        </p:nvSpPr>
        <p:spPr>
          <a:xfrm>
            <a:off x="0" y="5838824"/>
            <a:ext cx="12192000" cy="675673"/>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rgbClr val="156082">
                  <a:lumMod val="5000"/>
                  <a:lumOff val="95000"/>
                </a:srgbClr>
              </a:gs>
              <a:gs pos="74000">
                <a:srgbClr val="156082">
                  <a:lumMod val="45000"/>
                  <a:lumOff val="55000"/>
                </a:srgbClr>
              </a:gs>
              <a:gs pos="83000">
                <a:srgbClr val="156082">
                  <a:lumMod val="45000"/>
                  <a:lumOff val="55000"/>
                </a:srgbClr>
              </a:gs>
              <a:gs pos="100000">
                <a:srgbClr val="156082">
                  <a:lumMod val="30000"/>
                  <a:lumOff val="70000"/>
                </a:srgbClr>
              </a:gs>
            </a:gsLst>
            <a:lin ang="5400000" scaled="1"/>
          </a:gradFill>
          <a:ln w="19050" cap="flat" cmpd="sng" algn="ctr">
            <a:no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0" name="Free-form: Shape 13">
            <a:extLst>
              <a:ext uri="{FF2B5EF4-FFF2-40B4-BE49-F238E27FC236}">
                <a16:creationId xmlns:a16="http://schemas.microsoft.com/office/drawing/2014/main" id="{4FB94905-8FF2-701D-A980-9368DF7EB04F}"/>
              </a:ext>
            </a:extLst>
          </p:cNvPr>
          <p:cNvSpPr/>
          <p:nvPr userDrawn="1"/>
        </p:nvSpPr>
        <p:spPr>
          <a:xfrm>
            <a:off x="-7346" y="5928072"/>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rgbClr val="0F9ED5">
                  <a:lumMod val="20000"/>
                  <a:lumOff val="80000"/>
                </a:srgbClr>
              </a:gs>
              <a:gs pos="50000">
                <a:sysClr val="window" lastClr="FFFFFF"/>
              </a:gs>
              <a:gs pos="100000">
                <a:srgbClr val="0F9ED5">
                  <a:lumMod val="20000"/>
                  <a:lumOff val="80000"/>
                </a:srgbClr>
              </a:gs>
            </a:gsLst>
            <a:lin ang="0" scaled="1"/>
            <a:tileRect/>
          </a:gradFill>
          <a:ln w="15875" cap="flat" cmpd="sng" algn="ctr">
            <a:solidFill>
              <a:srgbClr val="156082">
                <a:alpha val="0"/>
              </a:srgbClr>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4" name="Textplatzhalter 13">
            <a:extLst>
              <a:ext uri="{FF2B5EF4-FFF2-40B4-BE49-F238E27FC236}">
                <a16:creationId xmlns:a16="http://schemas.microsoft.com/office/drawing/2014/main" id="{62B0D505-239D-592F-D28C-2537FD6A646E}"/>
              </a:ext>
            </a:extLst>
          </p:cNvPr>
          <p:cNvSpPr>
            <a:spLocks noGrp="1"/>
          </p:cNvSpPr>
          <p:nvPr>
            <p:ph type="body" sz="quarter" idx="13" hasCustomPrompt="1"/>
          </p:nvPr>
        </p:nvSpPr>
        <p:spPr>
          <a:xfrm>
            <a:off x="4192399" y="4130862"/>
            <a:ext cx="3822700" cy="1646695"/>
          </a:xfrm>
        </p:spPr>
        <p:txBody>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t-IT" sz="1800" b="0" i="0" u="none" strike="noStrike" kern="1200" cap="none" spc="0" normalizeH="0" baseline="0" noProof="0" dirty="0">
                <a:ln>
                  <a:noFill/>
                </a:ln>
                <a:solidFill>
                  <a:srgbClr val="0E2841">
                    <a:lumMod val="90000"/>
                    <a:lumOff val="10000"/>
                  </a:srgbClr>
                </a:solidFill>
                <a:effectLst/>
                <a:uLnTx/>
                <a:uFillTx/>
                <a:latin typeface="Times New Roman" panose="02020603050405020304" pitchFamily="18" charset="0"/>
                <a:ea typeface="+mn-ea"/>
                <a:cs typeface="Times New Roman" panose="02020603050405020304" pitchFamily="18" charset="0"/>
              </a:rPr>
              <a:t>1st Week Kick Off Presentation</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t-IT" sz="1800" b="0" i="0" u="none" strike="noStrike" kern="1200" cap="none" spc="0" normalizeH="0" baseline="0" noProof="0" dirty="0">
                <a:ln>
                  <a:noFill/>
                </a:ln>
                <a:solidFill>
                  <a:srgbClr val="0E2841">
                    <a:lumMod val="90000"/>
                    <a:lumOff val="10000"/>
                  </a:srgbClr>
                </a:solidFill>
                <a:effectLst/>
                <a:uLnTx/>
                <a:uFillTx/>
                <a:latin typeface="Times New Roman" panose="02020603050405020304" pitchFamily="18" charset="0"/>
                <a:ea typeface="+mn-ea"/>
                <a:cs typeface="Times New Roman" panose="02020603050405020304" pitchFamily="18" charset="0"/>
              </a:rPr>
              <a:t>Date: </a:t>
            </a:r>
            <a:r>
              <a:rPr kumimoji="0" lang="it-IT" sz="1800" b="0" i="0" u="none" strike="noStrike" kern="1200" cap="none" spc="0" normalizeH="0" baseline="0" noProof="0" dirty="0" err="1">
                <a:ln>
                  <a:noFill/>
                </a:ln>
                <a:solidFill>
                  <a:srgbClr val="0E2841">
                    <a:lumMod val="90000"/>
                    <a:lumOff val="10000"/>
                  </a:srgbClr>
                </a:solidFill>
                <a:effectLst/>
                <a:uLnTx/>
                <a:uFillTx/>
                <a:latin typeface="Times New Roman" panose="02020603050405020304" pitchFamily="18" charset="0"/>
                <a:ea typeface="+mn-ea"/>
                <a:cs typeface="Times New Roman" panose="02020603050405020304" pitchFamily="18" charset="0"/>
              </a:rPr>
              <a:t>th</a:t>
            </a:r>
            <a:r>
              <a:rPr kumimoji="0" lang="it-IT" sz="1800" b="0" i="0" u="none" strike="noStrike" kern="1200" cap="none" spc="0" normalizeH="0" baseline="0" noProof="0" dirty="0">
                <a:ln>
                  <a:noFill/>
                </a:ln>
                <a:solidFill>
                  <a:srgbClr val="0E2841">
                    <a:lumMod val="90000"/>
                    <a:lumOff val="10000"/>
                  </a:srgbClr>
                </a:solidFill>
                <a:effectLst/>
                <a:uLnTx/>
                <a:uFillTx/>
                <a:latin typeface="Times New Roman" panose="02020603050405020304" pitchFamily="18" charset="0"/>
                <a:ea typeface="+mn-ea"/>
                <a:cs typeface="Times New Roman" panose="02020603050405020304" pitchFamily="18" charset="0"/>
              </a:rPr>
              <a:t>  202X</a:t>
            </a:r>
          </a:p>
          <a:p>
            <a:pPr lvl="4"/>
            <a:endParaRPr lang="de-DE" dirty="0"/>
          </a:p>
        </p:txBody>
      </p:sp>
      <p:sp>
        <p:nvSpPr>
          <p:cNvPr id="15" name="Rechteck 14">
            <a:extLst>
              <a:ext uri="{FF2B5EF4-FFF2-40B4-BE49-F238E27FC236}">
                <a16:creationId xmlns:a16="http://schemas.microsoft.com/office/drawing/2014/main" id="{64AB9256-03E9-9046-0C0F-540CE5905E92}"/>
              </a:ext>
            </a:extLst>
          </p:cNvPr>
          <p:cNvSpPr/>
          <p:nvPr userDrawn="1"/>
        </p:nvSpPr>
        <p:spPr>
          <a:xfrm>
            <a:off x="-4172" y="6542492"/>
            <a:ext cx="12207494" cy="365126"/>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 name="Picture 18" descr="A white windmill with clouds in the background&#10;&#10;AI-generated content may be incorrect.">
            <a:extLst>
              <a:ext uri="{FF2B5EF4-FFF2-40B4-BE49-F238E27FC236}">
                <a16:creationId xmlns:a16="http://schemas.microsoft.com/office/drawing/2014/main" id="{9BDED722-8EE5-8B7F-02CA-CF3939A785C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9679950" y="5430021"/>
            <a:ext cx="1753782" cy="1313633"/>
          </a:xfrm>
          <a:prstGeom prst="rect">
            <a:avLst/>
          </a:prstGeom>
        </p:spPr>
      </p:pic>
    </p:spTree>
    <p:extLst>
      <p:ext uri="{BB962C8B-B14F-4D97-AF65-F5344CB8AC3E}">
        <p14:creationId xmlns:p14="http://schemas.microsoft.com/office/powerpoint/2010/main" val="15543580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oup starting slide (Explanation)">
    <p:spTree>
      <p:nvGrpSpPr>
        <p:cNvPr id="1" name=""/>
        <p:cNvGrpSpPr/>
        <p:nvPr/>
      </p:nvGrpSpPr>
      <p:grpSpPr>
        <a:xfrm>
          <a:off x="0" y="0"/>
          <a:ext cx="0" cy="0"/>
          <a:chOff x="0" y="0"/>
          <a:chExt cx="0" cy="0"/>
        </a:xfrm>
      </p:grpSpPr>
      <p:sp>
        <p:nvSpPr>
          <p:cNvPr id="23" name="Free-form: Shape 13">
            <a:extLst>
              <a:ext uri="{FF2B5EF4-FFF2-40B4-BE49-F238E27FC236}">
                <a16:creationId xmlns:a16="http://schemas.microsoft.com/office/drawing/2014/main" id="{006CCD24-9C06-8926-5E3D-FFE059D5F3D2}"/>
              </a:ext>
            </a:extLst>
          </p:cNvPr>
          <p:cNvSpPr/>
          <p:nvPr userDrawn="1"/>
        </p:nvSpPr>
        <p:spPr>
          <a:xfrm>
            <a:off x="-7749" y="5526425"/>
            <a:ext cx="12218376" cy="72825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rgbClr val="0F9ED5">
                  <a:lumMod val="40000"/>
                  <a:lumOff val="60000"/>
                </a:srgbClr>
              </a:gs>
              <a:gs pos="100000">
                <a:sysClr val="window" lastClr="FFFFFF"/>
              </a:gs>
            </a:gsLst>
            <a:lin ang="5400000" scaled="1"/>
          </a:gradFill>
          <a:ln w="19050" cap="flat" cmpd="sng" algn="ctr">
            <a:solidFill>
              <a:sysClr val="window" lastClr="FFFFFF"/>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13">
            <a:extLst>
              <a:ext uri="{FF2B5EF4-FFF2-40B4-BE49-F238E27FC236}">
                <a16:creationId xmlns:a16="http://schemas.microsoft.com/office/drawing/2014/main" id="{1157507C-DF41-F2F7-53B7-B0DC0D568F3B}"/>
              </a:ext>
            </a:extLst>
          </p:cNvPr>
          <p:cNvSpPr/>
          <p:nvPr userDrawn="1"/>
        </p:nvSpPr>
        <p:spPr>
          <a:xfrm>
            <a:off x="0" y="5838824"/>
            <a:ext cx="12192000" cy="675673"/>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rgbClr val="156082">
                  <a:lumMod val="5000"/>
                  <a:lumOff val="95000"/>
                </a:srgbClr>
              </a:gs>
              <a:gs pos="74000">
                <a:srgbClr val="156082">
                  <a:lumMod val="45000"/>
                  <a:lumOff val="55000"/>
                </a:srgbClr>
              </a:gs>
              <a:gs pos="83000">
                <a:srgbClr val="156082">
                  <a:lumMod val="45000"/>
                  <a:lumOff val="55000"/>
                </a:srgbClr>
              </a:gs>
              <a:gs pos="100000">
                <a:srgbClr val="156082">
                  <a:lumMod val="30000"/>
                  <a:lumOff val="70000"/>
                </a:srgbClr>
              </a:gs>
            </a:gsLst>
            <a:lin ang="5400000" scaled="1"/>
          </a:gradFill>
          <a:ln w="19050" cap="flat" cmpd="sng" algn="ctr">
            <a:no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13">
            <a:extLst>
              <a:ext uri="{FF2B5EF4-FFF2-40B4-BE49-F238E27FC236}">
                <a16:creationId xmlns:a16="http://schemas.microsoft.com/office/drawing/2014/main" id="{94DF4395-7D7A-F380-6320-D9BE1ED1DA6D}"/>
              </a:ext>
            </a:extLst>
          </p:cNvPr>
          <p:cNvSpPr/>
          <p:nvPr userDrawn="1"/>
        </p:nvSpPr>
        <p:spPr>
          <a:xfrm>
            <a:off x="-7346" y="5928072"/>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rgbClr val="0F9ED5">
                  <a:lumMod val="20000"/>
                  <a:lumOff val="80000"/>
                </a:srgbClr>
              </a:gs>
              <a:gs pos="50000">
                <a:sysClr val="window" lastClr="FFFFFF"/>
              </a:gs>
              <a:gs pos="100000">
                <a:srgbClr val="0F9ED5">
                  <a:lumMod val="20000"/>
                  <a:lumOff val="80000"/>
                </a:srgbClr>
              </a:gs>
            </a:gsLst>
            <a:lin ang="0" scaled="1"/>
            <a:tileRect/>
          </a:gradFill>
          <a:ln w="15875" cap="flat" cmpd="sng" algn="ctr">
            <a:solidFill>
              <a:srgbClr val="156082">
                <a:alpha val="0"/>
              </a:srgbClr>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27" name="Picture 8" descr="Hochschule Flensburg (Fachhochschule) – Wikipedia">
            <a:extLst>
              <a:ext uri="{FF2B5EF4-FFF2-40B4-BE49-F238E27FC236}">
                <a16:creationId xmlns:a16="http://schemas.microsoft.com/office/drawing/2014/main" id="{811EE0A2-7B7B-66E3-65D6-A7F1D9F140E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70439" y="264131"/>
            <a:ext cx="2518129" cy="1672124"/>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28" name="Picture 14" descr="A black background with blue text&#10;&#10;AI-generated content may be incorrect.">
            <a:extLst>
              <a:ext uri="{FF2B5EF4-FFF2-40B4-BE49-F238E27FC236}">
                <a16:creationId xmlns:a16="http://schemas.microsoft.com/office/drawing/2014/main" id="{88A3D22E-A6EF-A83A-86D5-C96D877CA4B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auto">
          <a:xfrm>
            <a:off x="8445647" y="719916"/>
            <a:ext cx="3586922" cy="1040207"/>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29" name="Grafik 28">
            <a:extLst>
              <a:ext uri="{FF2B5EF4-FFF2-40B4-BE49-F238E27FC236}">
                <a16:creationId xmlns:a16="http://schemas.microsoft.com/office/drawing/2014/main" id="{427A8DB5-3232-D63A-5CDF-0D3AD6450C3C}"/>
              </a:ext>
            </a:extLst>
          </p:cNvPr>
          <p:cNvPicPr>
            <a:picLocks noChangeAspect="1"/>
          </p:cNvPicPr>
          <p:nvPr userDrawn="1"/>
        </p:nvPicPr>
        <p:blipFill>
          <a:blip r:embed="rId4"/>
          <a:stretch>
            <a:fillRect/>
          </a:stretch>
        </p:blipFill>
        <p:spPr>
          <a:xfrm>
            <a:off x="3825103" y="243054"/>
            <a:ext cx="3684008" cy="1703223"/>
          </a:xfrm>
          <a:prstGeom prst="rect">
            <a:avLst/>
          </a:prstGeom>
        </p:spPr>
      </p:pic>
      <p:sp>
        <p:nvSpPr>
          <p:cNvPr id="30" name="Title 1">
            <a:extLst>
              <a:ext uri="{FF2B5EF4-FFF2-40B4-BE49-F238E27FC236}">
                <a16:creationId xmlns:a16="http://schemas.microsoft.com/office/drawing/2014/main" id="{00FE6863-2F47-99AC-390A-A1BB2D1DD014}"/>
              </a:ext>
            </a:extLst>
          </p:cNvPr>
          <p:cNvSpPr>
            <a:spLocks noGrp="1"/>
          </p:cNvSpPr>
          <p:nvPr>
            <p:ph type="ctrTitle" hasCustomPrompt="1"/>
          </p:nvPr>
        </p:nvSpPr>
        <p:spPr>
          <a:xfrm>
            <a:off x="1412841" y="2206093"/>
            <a:ext cx="9144000" cy="912598"/>
          </a:xfrm>
        </p:spPr>
        <p:txBody>
          <a:bodyPr>
            <a:noAutofit/>
          </a:bodyPr>
          <a:lstStyle>
            <a:lvl1pPr algn="ctr">
              <a:defRPr>
                <a:latin typeface="Aptos (Textkörper)"/>
              </a:defRPr>
            </a:lvl1pPr>
          </a:lstStyle>
          <a:p>
            <a:r>
              <a:rPr lang="it-IT" sz="4000" dirty="0"/>
              <a:t>Weekly report: Team X</a:t>
            </a:r>
            <a:endParaRPr lang="en-GB" sz="4000" dirty="0"/>
          </a:p>
        </p:txBody>
      </p:sp>
      <p:sp>
        <p:nvSpPr>
          <p:cNvPr id="31" name="Subtitle 2">
            <a:extLst>
              <a:ext uri="{FF2B5EF4-FFF2-40B4-BE49-F238E27FC236}">
                <a16:creationId xmlns:a16="http://schemas.microsoft.com/office/drawing/2014/main" id="{05E4BCC5-2CED-6F6C-22B8-AF74FB7ECFF3}"/>
              </a:ext>
            </a:extLst>
          </p:cNvPr>
          <p:cNvSpPr>
            <a:spLocks noGrp="1"/>
          </p:cNvSpPr>
          <p:nvPr>
            <p:ph type="subTitle" idx="1" hasCustomPrompt="1"/>
          </p:nvPr>
        </p:nvSpPr>
        <p:spPr>
          <a:xfrm>
            <a:off x="1412841" y="3429000"/>
            <a:ext cx="9144000" cy="1143000"/>
          </a:xfrm>
        </p:spPr>
        <p:txBody>
          <a:bodyPr vert="horz" lIns="91440" tIns="45720" rIns="91440" bIns="45720" rtlCol="0" anchor="t">
            <a:normAutofit/>
          </a:bodyPr>
          <a:lstStyle>
            <a:lvl1pPr marL="0" indent="0" algn="ctr">
              <a:buNone/>
              <a:defRPr sz="1400">
                <a:latin typeface="Aptos (Textkörper)"/>
              </a:defRPr>
            </a:lvl1pPr>
          </a:lstStyle>
          <a:p>
            <a:r>
              <a:rPr lang="it-IT" sz="2000" dirty="0"/>
              <a:t>Week </a:t>
            </a:r>
            <a:r>
              <a:rPr lang="it-IT" sz="2000" dirty="0" err="1"/>
              <a:t>number</a:t>
            </a:r>
            <a:r>
              <a:rPr lang="it-IT" sz="2000" dirty="0"/>
              <a:t>: X</a:t>
            </a:r>
          </a:p>
          <a:p>
            <a:r>
              <a:rPr lang="it-IT" sz="2000" dirty="0"/>
              <a:t>Date: DD/MM/20JJ</a:t>
            </a:r>
          </a:p>
          <a:p>
            <a:r>
              <a:rPr lang="it-IT" sz="2000" dirty="0"/>
              <a:t>Supervisor: X</a:t>
            </a:r>
          </a:p>
        </p:txBody>
      </p:sp>
      <p:sp>
        <p:nvSpPr>
          <p:cNvPr id="33" name="Isosceles Triangle 6">
            <a:extLst>
              <a:ext uri="{FF2B5EF4-FFF2-40B4-BE49-F238E27FC236}">
                <a16:creationId xmlns:a16="http://schemas.microsoft.com/office/drawing/2014/main" id="{8F14EFAA-BA4A-16CF-D530-1409613BCF5B}"/>
              </a:ext>
            </a:extLst>
          </p:cNvPr>
          <p:cNvSpPr/>
          <p:nvPr userDrawn="1"/>
        </p:nvSpPr>
        <p:spPr>
          <a:xfrm>
            <a:off x="1412841" y="3797919"/>
            <a:ext cx="1380683" cy="886192"/>
          </a:xfrm>
          <a:prstGeom prst="triangle">
            <a:avLst>
              <a:gd name="adj" fmla="val 50565"/>
            </a:avLst>
          </a:prstGeom>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p>
        </p:txBody>
      </p:sp>
      <p:sp>
        <p:nvSpPr>
          <p:cNvPr id="34" name="Rectangle 7">
            <a:extLst>
              <a:ext uri="{FF2B5EF4-FFF2-40B4-BE49-F238E27FC236}">
                <a16:creationId xmlns:a16="http://schemas.microsoft.com/office/drawing/2014/main" id="{8CE1E011-6342-172C-03D6-BB39C24A4CCA}"/>
              </a:ext>
            </a:extLst>
          </p:cNvPr>
          <p:cNvSpPr/>
          <p:nvPr userDrawn="1"/>
        </p:nvSpPr>
        <p:spPr>
          <a:xfrm>
            <a:off x="354584" y="4714776"/>
            <a:ext cx="3512337" cy="950790"/>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t>First slide for groups</a:t>
            </a:r>
            <a:endParaRPr lang="en-GB" dirty="0"/>
          </a:p>
        </p:txBody>
      </p:sp>
      <p:sp>
        <p:nvSpPr>
          <p:cNvPr id="35" name="Rectangle 11">
            <a:extLst>
              <a:ext uri="{FF2B5EF4-FFF2-40B4-BE49-F238E27FC236}">
                <a16:creationId xmlns:a16="http://schemas.microsoft.com/office/drawing/2014/main" id="{6845F127-8728-66DF-03BE-17119A20BE05}"/>
              </a:ext>
            </a:extLst>
          </p:cNvPr>
          <p:cNvSpPr/>
          <p:nvPr userDrawn="1"/>
        </p:nvSpPr>
        <p:spPr>
          <a:xfrm>
            <a:off x="1860787" y="3750629"/>
            <a:ext cx="484789" cy="1200329"/>
          </a:xfrm>
          <a:prstGeom prst="rect">
            <a:avLst/>
          </a:prstGeom>
          <a:noFill/>
        </p:spPr>
        <p:txBody>
          <a:bodyPr wrap="square" lIns="91440" tIns="45720" rIns="91440" bIns="45720">
            <a:spAutoFit/>
          </a:bodyPr>
          <a:lstStyle/>
          <a:p>
            <a:pPr algn="ctr"/>
            <a:r>
              <a:rPr lang="en-GB" sz="7200" b="1" cap="none" spc="0" dirty="0">
                <a:ln w="0"/>
                <a:solidFill>
                  <a:schemeClr val="tx1"/>
                </a:solidFill>
              </a:rPr>
              <a:t>!</a:t>
            </a:r>
          </a:p>
        </p:txBody>
      </p:sp>
      <p:sp>
        <p:nvSpPr>
          <p:cNvPr id="36" name="Text Placeholder 2">
            <a:extLst>
              <a:ext uri="{FF2B5EF4-FFF2-40B4-BE49-F238E27FC236}">
                <a16:creationId xmlns:a16="http://schemas.microsoft.com/office/drawing/2014/main" id="{C16AED5E-219C-C34B-7790-17DE2532E623}"/>
              </a:ext>
            </a:extLst>
          </p:cNvPr>
          <p:cNvSpPr>
            <a:spLocks noGrp="1"/>
          </p:cNvSpPr>
          <p:nvPr>
            <p:ph type="body" idx="10" hasCustomPrompt="1"/>
          </p:nvPr>
        </p:nvSpPr>
        <p:spPr>
          <a:xfrm>
            <a:off x="3316826" y="4882309"/>
            <a:ext cx="5128821" cy="331717"/>
          </a:xfrm>
        </p:spPr>
        <p:txBody>
          <a:bodyPr anchor="b">
            <a:noAutofit/>
          </a:bodyPr>
          <a:lstStyle>
            <a:lvl1pPr marL="0" indent="0" algn="ctr">
              <a:buNone/>
              <a:defRPr sz="1400" b="0">
                <a:latin typeface="Aptos (Textkörpe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Group </a:t>
            </a:r>
            <a:r>
              <a:rPr lang="de-DE" dirty="0" err="1"/>
              <a:t>members</a:t>
            </a:r>
            <a:r>
              <a:rPr lang="de-DE" dirty="0"/>
              <a:t>: </a:t>
            </a:r>
          </a:p>
        </p:txBody>
      </p:sp>
      <p:sp>
        <p:nvSpPr>
          <p:cNvPr id="37" name="Rechteck 36">
            <a:extLst>
              <a:ext uri="{FF2B5EF4-FFF2-40B4-BE49-F238E27FC236}">
                <a16:creationId xmlns:a16="http://schemas.microsoft.com/office/drawing/2014/main" id="{64DF9F8D-C604-6899-2A9F-B743F135F77F}"/>
              </a:ext>
            </a:extLst>
          </p:cNvPr>
          <p:cNvSpPr/>
          <p:nvPr userDrawn="1"/>
        </p:nvSpPr>
        <p:spPr>
          <a:xfrm>
            <a:off x="-4172" y="6542492"/>
            <a:ext cx="12207494" cy="365126"/>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6" name="Picture 18" descr="A white windmill with clouds in the background&#10;&#10;AI-generated content may be incorrect.">
            <a:extLst>
              <a:ext uri="{FF2B5EF4-FFF2-40B4-BE49-F238E27FC236}">
                <a16:creationId xmlns:a16="http://schemas.microsoft.com/office/drawing/2014/main" id="{B8218494-1E39-5AB1-96DD-936404956E5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679950" y="5430021"/>
            <a:ext cx="1753782" cy="1313633"/>
          </a:xfrm>
          <a:prstGeom prst="rect">
            <a:avLst/>
          </a:prstGeom>
        </p:spPr>
      </p:pic>
      <p:sp>
        <p:nvSpPr>
          <p:cNvPr id="5" name="Rectangle 7">
            <a:extLst>
              <a:ext uri="{FF2B5EF4-FFF2-40B4-BE49-F238E27FC236}">
                <a16:creationId xmlns:a16="http://schemas.microsoft.com/office/drawing/2014/main" id="{CA471AD5-5F65-3AF9-9ABB-E6F7475B2672}"/>
              </a:ext>
            </a:extLst>
          </p:cNvPr>
          <p:cNvSpPr/>
          <p:nvPr userDrawn="1"/>
        </p:nvSpPr>
        <p:spPr>
          <a:xfrm>
            <a:off x="8606553" y="4043001"/>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slide </a:t>
            </a:r>
            <a:r>
              <a:rPr lang="it-IT" dirty="0" err="1"/>
              <a:t>is</a:t>
            </a:r>
            <a:r>
              <a:rPr lang="it-IT" dirty="0"/>
              <a:t> </a:t>
            </a:r>
            <a:r>
              <a:rPr lang="it-IT" dirty="0" err="1"/>
              <a:t>only</a:t>
            </a:r>
            <a:r>
              <a:rPr lang="it-IT" dirty="0"/>
              <a:t> for </a:t>
            </a:r>
            <a:r>
              <a:rPr lang="it-IT" dirty="0" err="1"/>
              <a:t>explanation</a:t>
            </a:r>
            <a:r>
              <a:rPr lang="it-IT" dirty="0"/>
              <a:t>, </a:t>
            </a:r>
            <a:r>
              <a:rPr lang="it-IT" dirty="0" err="1"/>
              <a:t>dont´t</a:t>
            </a:r>
            <a:r>
              <a:rPr lang="it-IT" dirty="0"/>
              <a:t> use </a:t>
            </a:r>
            <a:r>
              <a:rPr lang="it-IT" dirty="0" err="1"/>
              <a:t>it!</a:t>
            </a:r>
            <a:endParaRPr lang="en-GB" dirty="0"/>
          </a:p>
        </p:txBody>
      </p:sp>
      <p:sp>
        <p:nvSpPr>
          <p:cNvPr id="9" name="Datumsplatzhalter 8">
            <a:extLst>
              <a:ext uri="{FF2B5EF4-FFF2-40B4-BE49-F238E27FC236}">
                <a16:creationId xmlns:a16="http://schemas.microsoft.com/office/drawing/2014/main" id="{92481298-4C0F-EA65-5B6C-A8C699065050}"/>
              </a:ext>
            </a:extLst>
          </p:cNvPr>
          <p:cNvSpPr>
            <a:spLocks noGrp="1"/>
          </p:cNvSpPr>
          <p:nvPr>
            <p:ph type="dt" sz="half" idx="11"/>
          </p:nvPr>
        </p:nvSpPr>
        <p:spPr/>
        <p:txBody>
          <a:bodyPr/>
          <a:lstStyle/>
          <a:p>
            <a:fld id="{02AEE8E4-D792-40D2-B8D4-0007E21A0CF8}" type="datetime1">
              <a:rPr lang="en-GB" smtClean="0"/>
              <a:t>10/11/2025</a:t>
            </a:fld>
            <a:endParaRPr lang="en-GB" dirty="0"/>
          </a:p>
        </p:txBody>
      </p:sp>
      <p:sp>
        <p:nvSpPr>
          <p:cNvPr id="10" name="Fußzeilenplatzhalter 9">
            <a:extLst>
              <a:ext uri="{FF2B5EF4-FFF2-40B4-BE49-F238E27FC236}">
                <a16:creationId xmlns:a16="http://schemas.microsoft.com/office/drawing/2014/main" id="{FE2B40EC-630A-E9C4-E03F-6B4407322076}"/>
              </a:ext>
            </a:extLst>
          </p:cNvPr>
          <p:cNvSpPr>
            <a:spLocks noGrp="1"/>
          </p:cNvSpPr>
          <p:nvPr>
            <p:ph type="ftr" sz="quarter" idx="12"/>
          </p:nvPr>
        </p:nvSpPr>
        <p:spPr/>
        <p:txBody>
          <a:bodyPr/>
          <a:lstStyle/>
          <a:p>
            <a:r>
              <a:rPr lang="en-GB"/>
              <a:t>Optimus Syria</a:t>
            </a:r>
            <a:endParaRPr lang="en-GB" dirty="0"/>
          </a:p>
        </p:txBody>
      </p:sp>
      <p:sp>
        <p:nvSpPr>
          <p:cNvPr id="11" name="Foliennummernplatzhalter 10">
            <a:extLst>
              <a:ext uri="{FF2B5EF4-FFF2-40B4-BE49-F238E27FC236}">
                <a16:creationId xmlns:a16="http://schemas.microsoft.com/office/drawing/2014/main" id="{B363FCB4-D064-121D-B878-2F1607405806}"/>
              </a:ext>
            </a:extLst>
          </p:cNvPr>
          <p:cNvSpPr>
            <a:spLocks noGrp="1"/>
          </p:cNvSpPr>
          <p:nvPr>
            <p:ph type="sldNum" sz="quarter" idx="13"/>
          </p:nvPr>
        </p:nvSpPr>
        <p:spPr/>
        <p:txBody>
          <a:bodyPr/>
          <a:lstStyle/>
          <a:p>
            <a:fld id="{013F6232-4F06-48BA-8F69-BF531F607829}" type="slidenum">
              <a:rPr lang="en-GB" smtClean="0"/>
              <a:pPr/>
              <a:t>‹#›</a:t>
            </a:fld>
            <a:endParaRPr lang="en-GB" dirty="0"/>
          </a:p>
        </p:txBody>
      </p:sp>
    </p:spTree>
    <p:extLst>
      <p:ext uri="{BB962C8B-B14F-4D97-AF65-F5344CB8AC3E}">
        <p14:creationId xmlns:p14="http://schemas.microsoft.com/office/powerpoint/2010/main" val="23984428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oup starting slide">
    <p:spTree>
      <p:nvGrpSpPr>
        <p:cNvPr id="1" name=""/>
        <p:cNvGrpSpPr/>
        <p:nvPr/>
      </p:nvGrpSpPr>
      <p:grpSpPr>
        <a:xfrm>
          <a:off x="0" y="0"/>
          <a:ext cx="0" cy="0"/>
          <a:chOff x="0" y="0"/>
          <a:chExt cx="0" cy="0"/>
        </a:xfrm>
      </p:grpSpPr>
      <p:sp>
        <p:nvSpPr>
          <p:cNvPr id="23" name="Free-form: Shape 13">
            <a:extLst>
              <a:ext uri="{FF2B5EF4-FFF2-40B4-BE49-F238E27FC236}">
                <a16:creationId xmlns:a16="http://schemas.microsoft.com/office/drawing/2014/main" id="{006CCD24-9C06-8926-5E3D-FFE059D5F3D2}"/>
              </a:ext>
            </a:extLst>
          </p:cNvPr>
          <p:cNvSpPr/>
          <p:nvPr userDrawn="1"/>
        </p:nvSpPr>
        <p:spPr>
          <a:xfrm>
            <a:off x="-7749" y="5526425"/>
            <a:ext cx="12218376" cy="72825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rgbClr val="0F9ED5">
                  <a:lumMod val="40000"/>
                  <a:lumOff val="60000"/>
                </a:srgbClr>
              </a:gs>
              <a:gs pos="100000">
                <a:sysClr val="window" lastClr="FFFFFF"/>
              </a:gs>
            </a:gsLst>
            <a:lin ang="5400000" scaled="1"/>
          </a:gradFill>
          <a:ln w="19050" cap="flat" cmpd="sng" algn="ctr">
            <a:solidFill>
              <a:sysClr val="window" lastClr="FFFFFF"/>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13">
            <a:extLst>
              <a:ext uri="{FF2B5EF4-FFF2-40B4-BE49-F238E27FC236}">
                <a16:creationId xmlns:a16="http://schemas.microsoft.com/office/drawing/2014/main" id="{1157507C-DF41-F2F7-53B7-B0DC0D568F3B}"/>
              </a:ext>
            </a:extLst>
          </p:cNvPr>
          <p:cNvSpPr/>
          <p:nvPr userDrawn="1"/>
        </p:nvSpPr>
        <p:spPr>
          <a:xfrm>
            <a:off x="0" y="5838824"/>
            <a:ext cx="12192000" cy="675673"/>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rgbClr val="156082">
                  <a:lumMod val="5000"/>
                  <a:lumOff val="95000"/>
                </a:srgbClr>
              </a:gs>
              <a:gs pos="74000">
                <a:srgbClr val="156082">
                  <a:lumMod val="45000"/>
                  <a:lumOff val="55000"/>
                </a:srgbClr>
              </a:gs>
              <a:gs pos="83000">
                <a:srgbClr val="156082">
                  <a:lumMod val="45000"/>
                  <a:lumOff val="55000"/>
                </a:srgbClr>
              </a:gs>
              <a:gs pos="100000">
                <a:srgbClr val="156082">
                  <a:lumMod val="30000"/>
                  <a:lumOff val="70000"/>
                </a:srgbClr>
              </a:gs>
            </a:gsLst>
            <a:lin ang="5400000" scaled="1"/>
          </a:gradFill>
          <a:ln w="19050" cap="flat" cmpd="sng" algn="ctr">
            <a:no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13">
            <a:extLst>
              <a:ext uri="{FF2B5EF4-FFF2-40B4-BE49-F238E27FC236}">
                <a16:creationId xmlns:a16="http://schemas.microsoft.com/office/drawing/2014/main" id="{94DF4395-7D7A-F380-6320-D9BE1ED1DA6D}"/>
              </a:ext>
            </a:extLst>
          </p:cNvPr>
          <p:cNvSpPr/>
          <p:nvPr userDrawn="1"/>
        </p:nvSpPr>
        <p:spPr>
          <a:xfrm>
            <a:off x="-7346" y="5928072"/>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rgbClr val="0F9ED5">
                  <a:lumMod val="20000"/>
                  <a:lumOff val="80000"/>
                </a:srgbClr>
              </a:gs>
              <a:gs pos="50000">
                <a:sysClr val="window" lastClr="FFFFFF"/>
              </a:gs>
              <a:gs pos="100000">
                <a:srgbClr val="0F9ED5">
                  <a:lumMod val="20000"/>
                  <a:lumOff val="80000"/>
                </a:srgbClr>
              </a:gs>
            </a:gsLst>
            <a:lin ang="0" scaled="1"/>
            <a:tileRect/>
          </a:gradFill>
          <a:ln w="15875" cap="flat" cmpd="sng" algn="ctr">
            <a:solidFill>
              <a:srgbClr val="156082">
                <a:alpha val="0"/>
              </a:srgbClr>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27" name="Picture 8" descr="Hochschule Flensburg (Fachhochschule) – Wikipedia">
            <a:extLst>
              <a:ext uri="{FF2B5EF4-FFF2-40B4-BE49-F238E27FC236}">
                <a16:creationId xmlns:a16="http://schemas.microsoft.com/office/drawing/2014/main" id="{811EE0A2-7B7B-66E3-65D6-A7F1D9F140E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70439" y="264131"/>
            <a:ext cx="2518129" cy="1672124"/>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28" name="Picture 14" descr="A black background with blue text&#10;&#10;AI-generated content may be incorrect.">
            <a:extLst>
              <a:ext uri="{FF2B5EF4-FFF2-40B4-BE49-F238E27FC236}">
                <a16:creationId xmlns:a16="http://schemas.microsoft.com/office/drawing/2014/main" id="{88A3D22E-A6EF-A83A-86D5-C96D877CA4B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auto">
          <a:xfrm>
            <a:off x="8445647" y="719916"/>
            <a:ext cx="3586922" cy="1040207"/>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29" name="Grafik 28">
            <a:extLst>
              <a:ext uri="{FF2B5EF4-FFF2-40B4-BE49-F238E27FC236}">
                <a16:creationId xmlns:a16="http://schemas.microsoft.com/office/drawing/2014/main" id="{427A8DB5-3232-D63A-5CDF-0D3AD6450C3C}"/>
              </a:ext>
            </a:extLst>
          </p:cNvPr>
          <p:cNvPicPr>
            <a:picLocks noChangeAspect="1"/>
          </p:cNvPicPr>
          <p:nvPr userDrawn="1"/>
        </p:nvPicPr>
        <p:blipFill>
          <a:blip r:embed="rId4"/>
          <a:stretch>
            <a:fillRect/>
          </a:stretch>
        </p:blipFill>
        <p:spPr>
          <a:xfrm>
            <a:off x="3825103" y="243054"/>
            <a:ext cx="3684008" cy="1703223"/>
          </a:xfrm>
          <a:prstGeom prst="rect">
            <a:avLst/>
          </a:prstGeom>
        </p:spPr>
      </p:pic>
      <p:sp>
        <p:nvSpPr>
          <p:cNvPr id="30" name="Title 1">
            <a:extLst>
              <a:ext uri="{FF2B5EF4-FFF2-40B4-BE49-F238E27FC236}">
                <a16:creationId xmlns:a16="http://schemas.microsoft.com/office/drawing/2014/main" id="{00FE6863-2F47-99AC-390A-A1BB2D1DD014}"/>
              </a:ext>
            </a:extLst>
          </p:cNvPr>
          <p:cNvSpPr>
            <a:spLocks noGrp="1"/>
          </p:cNvSpPr>
          <p:nvPr>
            <p:ph type="ctrTitle" hasCustomPrompt="1"/>
          </p:nvPr>
        </p:nvSpPr>
        <p:spPr>
          <a:xfrm>
            <a:off x="1412841" y="2206093"/>
            <a:ext cx="9144000" cy="912598"/>
          </a:xfrm>
        </p:spPr>
        <p:txBody>
          <a:bodyPr>
            <a:noAutofit/>
          </a:bodyPr>
          <a:lstStyle>
            <a:lvl1pPr algn="ctr">
              <a:defRPr>
                <a:latin typeface="Aptos (Textkörper)"/>
              </a:defRPr>
            </a:lvl1pPr>
          </a:lstStyle>
          <a:p>
            <a:r>
              <a:rPr lang="it-IT" sz="4000" dirty="0"/>
              <a:t>Weekly report: Team X</a:t>
            </a:r>
            <a:endParaRPr lang="en-GB" sz="4000" dirty="0"/>
          </a:p>
        </p:txBody>
      </p:sp>
      <p:sp>
        <p:nvSpPr>
          <p:cNvPr id="31" name="Subtitle 2">
            <a:extLst>
              <a:ext uri="{FF2B5EF4-FFF2-40B4-BE49-F238E27FC236}">
                <a16:creationId xmlns:a16="http://schemas.microsoft.com/office/drawing/2014/main" id="{05E4BCC5-2CED-6F6C-22B8-AF74FB7ECFF3}"/>
              </a:ext>
            </a:extLst>
          </p:cNvPr>
          <p:cNvSpPr>
            <a:spLocks noGrp="1" noRot="1" noMove="1" noResize="1" noEditPoints="1" noAdjustHandles="1" noChangeArrowheads="1" noChangeShapeType="1"/>
          </p:cNvSpPr>
          <p:nvPr>
            <p:ph type="subTitle" idx="1" hasCustomPrompt="1"/>
          </p:nvPr>
        </p:nvSpPr>
        <p:spPr>
          <a:xfrm>
            <a:off x="1412841" y="3429000"/>
            <a:ext cx="9144000" cy="1143000"/>
          </a:xfrm>
        </p:spPr>
        <p:txBody>
          <a:bodyPr vert="horz" lIns="91440" tIns="45720" rIns="91440" bIns="45720" rtlCol="0" anchor="t">
            <a:normAutofit/>
          </a:bodyPr>
          <a:lstStyle>
            <a:lvl1pPr marL="0" indent="0" algn="ctr">
              <a:buNone/>
              <a:defRPr sz="1400">
                <a:latin typeface="Aptos (Textkörper)"/>
              </a:defRPr>
            </a:lvl1pPr>
          </a:lstStyle>
          <a:p>
            <a:r>
              <a:rPr lang="it-IT" sz="2000" dirty="0"/>
              <a:t>Week </a:t>
            </a:r>
            <a:r>
              <a:rPr lang="it-IT" sz="2000" dirty="0" err="1"/>
              <a:t>number</a:t>
            </a:r>
            <a:r>
              <a:rPr lang="it-IT" sz="2000" dirty="0"/>
              <a:t>: X</a:t>
            </a:r>
          </a:p>
          <a:p>
            <a:r>
              <a:rPr lang="it-IT" sz="2000" dirty="0"/>
              <a:t>Date: DD/MM/20JJ</a:t>
            </a:r>
          </a:p>
          <a:p>
            <a:r>
              <a:rPr lang="it-IT" sz="2000" dirty="0"/>
              <a:t>Supervisor: X</a:t>
            </a:r>
          </a:p>
        </p:txBody>
      </p:sp>
      <p:sp>
        <p:nvSpPr>
          <p:cNvPr id="4" name="Text Placeholder 2">
            <a:extLst>
              <a:ext uri="{FF2B5EF4-FFF2-40B4-BE49-F238E27FC236}">
                <a16:creationId xmlns:a16="http://schemas.microsoft.com/office/drawing/2014/main" id="{05588F89-BF05-8BCF-9834-AE05DA2404B4}"/>
              </a:ext>
            </a:extLst>
          </p:cNvPr>
          <p:cNvSpPr>
            <a:spLocks noGrp="1" noRot="1" noMove="1" noResize="1" noEditPoints="1" noAdjustHandles="1" noChangeArrowheads="1" noChangeShapeType="1"/>
          </p:cNvSpPr>
          <p:nvPr>
            <p:ph type="body" idx="10" hasCustomPrompt="1"/>
          </p:nvPr>
        </p:nvSpPr>
        <p:spPr>
          <a:xfrm>
            <a:off x="3316826" y="4882309"/>
            <a:ext cx="5128821" cy="331717"/>
          </a:xfrm>
        </p:spPr>
        <p:txBody>
          <a:bodyPr anchor="b">
            <a:noAutofit/>
          </a:bodyPr>
          <a:lstStyle>
            <a:lvl1pPr marL="0" indent="0" algn="ctr">
              <a:buNone/>
              <a:defRPr sz="1400" b="0">
                <a:latin typeface="Aptos (Textkörpe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Group </a:t>
            </a:r>
            <a:r>
              <a:rPr lang="de-DE" dirty="0" err="1"/>
              <a:t>members</a:t>
            </a:r>
            <a:r>
              <a:rPr lang="de-DE" dirty="0"/>
              <a:t>: </a:t>
            </a:r>
          </a:p>
        </p:txBody>
      </p:sp>
      <p:sp>
        <p:nvSpPr>
          <p:cNvPr id="9" name="Rechteck 8">
            <a:extLst>
              <a:ext uri="{FF2B5EF4-FFF2-40B4-BE49-F238E27FC236}">
                <a16:creationId xmlns:a16="http://schemas.microsoft.com/office/drawing/2014/main" id="{83077A87-075C-C9F1-CF08-7A350F77E612}"/>
              </a:ext>
            </a:extLst>
          </p:cNvPr>
          <p:cNvSpPr/>
          <p:nvPr userDrawn="1"/>
        </p:nvSpPr>
        <p:spPr>
          <a:xfrm>
            <a:off x="-4172" y="6542492"/>
            <a:ext cx="12207494" cy="365126"/>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6" name="Picture 18" descr="A white windmill with clouds in the background&#10;&#10;AI-generated content may be incorrect.">
            <a:extLst>
              <a:ext uri="{FF2B5EF4-FFF2-40B4-BE49-F238E27FC236}">
                <a16:creationId xmlns:a16="http://schemas.microsoft.com/office/drawing/2014/main" id="{B8218494-1E39-5AB1-96DD-936404956E5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679950" y="5430021"/>
            <a:ext cx="1753782" cy="1313633"/>
          </a:xfrm>
          <a:prstGeom prst="rect">
            <a:avLst/>
          </a:prstGeom>
        </p:spPr>
      </p:pic>
      <p:sp>
        <p:nvSpPr>
          <p:cNvPr id="5" name="Datumsplatzhalter 4">
            <a:extLst>
              <a:ext uri="{FF2B5EF4-FFF2-40B4-BE49-F238E27FC236}">
                <a16:creationId xmlns:a16="http://schemas.microsoft.com/office/drawing/2014/main" id="{DB3C889B-2F55-2C2F-122E-E89ABE6A2D95}"/>
              </a:ext>
            </a:extLst>
          </p:cNvPr>
          <p:cNvSpPr>
            <a:spLocks noGrp="1"/>
          </p:cNvSpPr>
          <p:nvPr>
            <p:ph type="dt" sz="half" idx="11"/>
          </p:nvPr>
        </p:nvSpPr>
        <p:spPr/>
        <p:txBody>
          <a:bodyPr/>
          <a:lstStyle/>
          <a:p>
            <a:fld id="{02AEE8E4-D792-40D2-B8D4-0007E21A0CF8}" type="datetime1">
              <a:rPr lang="en-GB" smtClean="0"/>
              <a:t>10/11/2025</a:t>
            </a:fld>
            <a:endParaRPr lang="en-GB" dirty="0"/>
          </a:p>
        </p:txBody>
      </p:sp>
      <p:sp>
        <p:nvSpPr>
          <p:cNvPr id="6" name="Fußzeilenplatzhalter 5">
            <a:extLst>
              <a:ext uri="{FF2B5EF4-FFF2-40B4-BE49-F238E27FC236}">
                <a16:creationId xmlns:a16="http://schemas.microsoft.com/office/drawing/2014/main" id="{E2877DC7-CA1E-181B-77C7-99C60829ED57}"/>
              </a:ext>
            </a:extLst>
          </p:cNvPr>
          <p:cNvSpPr>
            <a:spLocks noGrp="1"/>
          </p:cNvSpPr>
          <p:nvPr>
            <p:ph type="ftr" sz="quarter" idx="12"/>
          </p:nvPr>
        </p:nvSpPr>
        <p:spPr/>
        <p:txBody>
          <a:bodyPr/>
          <a:lstStyle/>
          <a:p>
            <a:r>
              <a:rPr lang="en-GB"/>
              <a:t>Optimus Syria</a:t>
            </a:r>
            <a:endParaRPr lang="en-GB" dirty="0"/>
          </a:p>
        </p:txBody>
      </p:sp>
      <p:sp>
        <p:nvSpPr>
          <p:cNvPr id="7" name="Foliennummernplatzhalter 6">
            <a:extLst>
              <a:ext uri="{FF2B5EF4-FFF2-40B4-BE49-F238E27FC236}">
                <a16:creationId xmlns:a16="http://schemas.microsoft.com/office/drawing/2014/main" id="{043E1ABD-9DAE-E035-8B0B-D41EFED3FC86}"/>
              </a:ext>
            </a:extLst>
          </p:cNvPr>
          <p:cNvSpPr>
            <a:spLocks noGrp="1"/>
          </p:cNvSpPr>
          <p:nvPr>
            <p:ph type="sldNum" sz="quarter" idx="13"/>
          </p:nvPr>
        </p:nvSpPr>
        <p:spPr/>
        <p:txBody>
          <a:bodyPr/>
          <a:lstStyle/>
          <a:p>
            <a:fld id="{013F6232-4F06-48BA-8F69-BF531F607829}" type="slidenum">
              <a:rPr lang="en-GB" smtClean="0"/>
              <a:pPr/>
              <a:t>‹#›</a:t>
            </a:fld>
            <a:endParaRPr lang="en-GB" dirty="0"/>
          </a:p>
        </p:txBody>
      </p:sp>
    </p:spTree>
    <p:extLst>
      <p:ext uri="{BB962C8B-B14F-4D97-AF65-F5344CB8AC3E}">
        <p14:creationId xmlns:p14="http://schemas.microsoft.com/office/powerpoint/2010/main" val="3347730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CD36E4AE-BF2C-D504-0887-03D81D07CDC8}"/>
              </a:ext>
            </a:extLst>
          </p:cNvPr>
          <p:cNvSpPr/>
          <p:nvPr userDrawn="1"/>
        </p:nvSpPr>
        <p:spPr>
          <a:xfrm>
            <a:off x="-4172" y="6542492"/>
            <a:ext cx="12207494" cy="365126"/>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 name="Free-form: Shape 13">
            <a:extLst>
              <a:ext uri="{FF2B5EF4-FFF2-40B4-BE49-F238E27FC236}">
                <a16:creationId xmlns:a16="http://schemas.microsoft.com/office/drawing/2014/main" id="{7608A32D-44F3-01F2-D6ED-924DFF3CC333}"/>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 Placeholder 2">
            <a:extLst>
              <a:ext uri="{FF2B5EF4-FFF2-40B4-BE49-F238E27FC236}">
                <a16:creationId xmlns:a16="http://schemas.microsoft.com/office/drawing/2014/main" id="{476B4C36-B64B-F839-789E-0C40D5E60E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8" name="Free-form: Shape 13">
            <a:extLst>
              <a:ext uri="{FF2B5EF4-FFF2-40B4-BE49-F238E27FC236}">
                <a16:creationId xmlns:a16="http://schemas.microsoft.com/office/drawing/2014/main" id="{1DE142EE-E501-93E6-565D-AB4A5A647F0F}"/>
              </a:ext>
            </a:extLst>
          </p:cNvPr>
          <p:cNvSpPr/>
          <p:nvPr/>
        </p:nvSpPr>
        <p:spPr>
          <a:xfrm rot="10800000">
            <a:off x="-2090" y="-18190"/>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776A7918-93DA-D7CE-97A3-DDF18B379B65}"/>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ooter Placeholder 4">
            <a:extLst>
              <a:ext uri="{FF2B5EF4-FFF2-40B4-BE49-F238E27FC236}">
                <a16:creationId xmlns:a16="http://schemas.microsoft.com/office/drawing/2014/main" id="{F164827E-F028-4C94-EB63-600BCABCD15C}"/>
              </a:ext>
            </a:extLst>
          </p:cNvPr>
          <p:cNvSpPr>
            <a:spLocks noGrp="1"/>
          </p:cNvSpPr>
          <p:nvPr>
            <p:ph type="ftr" sz="quarter" idx="3"/>
          </p:nvPr>
        </p:nvSpPr>
        <p:spPr>
          <a:xfrm>
            <a:off x="8474613" y="6564113"/>
            <a:ext cx="2879187" cy="365125"/>
          </a:xfrm>
          <a:prstGeom prst="rect">
            <a:avLst/>
          </a:prstGeom>
        </p:spPr>
        <p:txBody>
          <a:bodyPr vert="horz" lIns="91440" tIns="45720" rIns="91440" bIns="45720" rtlCol="0" anchor="ctr"/>
          <a:lstStyle>
            <a:lvl1pPr algn="r">
              <a:defRPr sz="1200">
                <a:solidFill>
                  <a:schemeClr val="bg1"/>
                </a:solidFill>
              </a:defRPr>
            </a:lvl1pPr>
          </a:lstStyle>
          <a:p>
            <a:r>
              <a:rPr lang="en-GB" dirty="0"/>
              <a:t>Team Name / Optimus Syria</a:t>
            </a:r>
          </a:p>
        </p:txBody>
      </p:sp>
      <p:sp>
        <p:nvSpPr>
          <p:cNvPr id="6" name="Slide Number Placeholder 5">
            <a:extLst>
              <a:ext uri="{FF2B5EF4-FFF2-40B4-BE49-F238E27FC236}">
                <a16:creationId xmlns:a16="http://schemas.microsoft.com/office/drawing/2014/main" id="{00B8DD39-3F07-862A-3C91-AC524529184A}"/>
              </a:ext>
            </a:extLst>
          </p:cNvPr>
          <p:cNvSpPr>
            <a:spLocks noGrp="1"/>
          </p:cNvSpPr>
          <p:nvPr>
            <p:ph type="sldNum" sz="quarter" idx="4"/>
          </p:nvPr>
        </p:nvSpPr>
        <p:spPr>
          <a:xfrm>
            <a:off x="1949570" y="6566803"/>
            <a:ext cx="928958" cy="365125"/>
          </a:xfrm>
          <a:prstGeom prst="rect">
            <a:avLst/>
          </a:prstGeom>
        </p:spPr>
        <p:txBody>
          <a:bodyPr vert="horz" lIns="91440" tIns="45720" rIns="91440" bIns="45720" rtlCol="0" anchor="ctr"/>
          <a:lstStyle>
            <a:lvl1pPr algn="ctr">
              <a:defRPr sz="1200">
                <a:solidFill>
                  <a:schemeClr val="bg1"/>
                </a:solidFill>
              </a:defRPr>
            </a:lvl1pPr>
          </a:lstStyle>
          <a:p>
            <a:fld id="{013F6232-4F06-48BA-8F69-BF531F607829}" type="slidenum">
              <a:rPr lang="en-GB" smtClean="0"/>
              <a:pPr/>
              <a:t>‹#›</a:t>
            </a:fld>
            <a:endParaRPr lang="en-GB" dirty="0"/>
          </a:p>
        </p:txBody>
      </p:sp>
      <p:sp>
        <p:nvSpPr>
          <p:cNvPr id="4" name="Date Placeholder 3">
            <a:extLst>
              <a:ext uri="{FF2B5EF4-FFF2-40B4-BE49-F238E27FC236}">
                <a16:creationId xmlns:a16="http://schemas.microsoft.com/office/drawing/2014/main" id="{A6D593D3-E60D-CF97-AC8A-2B02D933B02F}"/>
              </a:ext>
            </a:extLst>
          </p:cNvPr>
          <p:cNvSpPr>
            <a:spLocks noGrp="1"/>
          </p:cNvSpPr>
          <p:nvPr>
            <p:ph type="dt" sz="half" idx="2"/>
          </p:nvPr>
        </p:nvSpPr>
        <p:spPr>
          <a:xfrm>
            <a:off x="838200" y="6566803"/>
            <a:ext cx="1111370" cy="365125"/>
          </a:xfrm>
          <a:prstGeom prst="rect">
            <a:avLst/>
          </a:prstGeom>
        </p:spPr>
        <p:txBody>
          <a:bodyPr vert="horz" lIns="91440" tIns="45720" rIns="91440" bIns="45720" rtlCol="0" anchor="ctr"/>
          <a:lstStyle>
            <a:lvl1pPr algn="l">
              <a:defRPr sz="1200">
                <a:solidFill>
                  <a:schemeClr val="bg1"/>
                </a:solidFill>
              </a:defRPr>
            </a:lvl1pPr>
          </a:lstStyle>
          <a:p>
            <a:fld id="{02AEE8E4-D792-40D2-B8D4-0007E21A0CF8}" type="datetime1">
              <a:rPr lang="en-GB" smtClean="0"/>
              <a:t>10/11/2025</a:t>
            </a:fld>
            <a:endParaRPr lang="en-GB" dirty="0"/>
          </a:p>
        </p:txBody>
      </p:sp>
      <p:sp>
        <p:nvSpPr>
          <p:cNvPr id="11" name="Free-form: Shape 13">
            <a:extLst>
              <a:ext uri="{FF2B5EF4-FFF2-40B4-BE49-F238E27FC236}">
                <a16:creationId xmlns:a16="http://schemas.microsoft.com/office/drawing/2014/main" id="{1ABD3F4B-4853-EC8E-00EB-5109F86CE0F1}"/>
              </a:ext>
            </a:extLst>
          </p:cNvPr>
          <p:cNvSpPr/>
          <p:nvPr userDrawn="1"/>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Free-form: Shape 13">
            <a:extLst>
              <a:ext uri="{FF2B5EF4-FFF2-40B4-BE49-F238E27FC236}">
                <a16:creationId xmlns:a16="http://schemas.microsoft.com/office/drawing/2014/main" id="{2BF40EC9-0D42-5E08-04BD-F330229C7518}"/>
              </a:ext>
            </a:extLst>
          </p:cNvPr>
          <p:cNvSpPr/>
          <p:nvPr userDrawn="1"/>
        </p:nvSpPr>
        <p:spPr>
          <a:xfrm rot="10800000">
            <a:off x="-2090" y="-18190"/>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Free-form: Shape 13">
            <a:extLst>
              <a:ext uri="{FF2B5EF4-FFF2-40B4-BE49-F238E27FC236}">
                <a16:creationId xmlns:a16="http://schemas.microsoft.com/office/drawing/2014/main" id="{0BB1BAA4-B843-57F3-9FCE-C9585D332FAE}"/>
              </a:ext>
            </a:extLst>
          </p:cNvPr>
          <p:cNvSpPr/>
          <p:nvPr userDrawn="1"/>
        </p:nvSpPr>
        <p:spPr>
          <a:xfrm rot="10800000">
            <a:off x="-26376" y="-254312"/>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a:extLst>
              <a:ext uri="{FF2B5EF4-FFF2-40B4-BE49-F238E27FC236}">
                <a16:creationId xmlns:a16="http://schemas.microsoft.com/office/drawing/2014/main" id="{74A75E23-C68E-95B1-6539-4A187BBC42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endParaRPr lang="en-GB" dirty="0"/>
          </a:p>
        </p:txBody>
      </p:sp>
    </p:spTree>
    <p:extLst>
      <p:ext uri="{BB962C8B-B14F-4D97-AF65-F5344CB8AC3E}">
        <p14:creationId xmlns:p14="http://schemas.microsoft.com/office/powerpoint/2010/main" val="2653178425"/>
      </p:ext>
    </p:extLst>
  </p:cSld>
  <p:clrMap bg1="lt1" tx1="dk1" bg2="lt2" tx2="dk2" accent1="accent1" accent2="accent2" accent3="accent3" accent4="accent4" accent5="accent5" accent6="accent6" hlink="hlink" folHlink="folHlink"/>
  <p:sldLayoutIdLst>
    <p:sldLayoutId id="2147483687" r:id="rId1"/>
    <p:sldLayoutId id="2147483663" r:id="rId2"/>
    <p:sldLayoutId id="2147483686" r:id="rId3"/>
    <p:sldLayoutId id="2147483674" r:id="rId4"/>
    <p:sldLayoutId id="2147483685" r:id="rId5"/>
    <p:sldLayoutId id="2147483684" r:id="rId6"/>
    <p:sldLayoutId id="2147483688" r:id="rId7"/>
    <p:sldLayoutId id="2147483666" r:id="rId8"/>
    <p:sldLayoutId id="2147483689" r:id="rId9"/>
    <p:sldLayoutId id="2147483662" r:id="rId10"/>
    <p:sldLayoutId id="2147483690" r:id="rId11"/>
    <p:sldLayoutId id="2147483664" r:id="rId12"/>
    <p:sldLayoutId id="2147483665" r:id="rId13"/>
    <p:sldLayoutId id="2147483667" r:id="rId14"/>
    <p:sldLayoutId id="2147483668" r:id="rId15"/>
    <p:sldLayoutId id="2147483669" r:id="rId16"/>
    <p:sldLayoutId id="2147483670" r:id="rId17"/>
    <p:sldLayoutId id="2147483671" r:id="rId18"/>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5620995-1DFE-FB81-B1FD-1F43AD25E6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BF9FFA78-25BC-8AF7-71C4-CCA91A9325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ooter Placeholder 4">
            <a:extLst>
              <a:ext uri="{FF2B5EF4-FFF2-40B4-BE49-F238E27FC236}">
                <a16:creationId xmlns:a16="http://schemas.microsoft.com/office/drawing/2014/main" id="{8CB32A29-5E71-00A9-66DA-1FED8EA8FAF3}"/>
              </a:ext>
            </a:extLst>
          </p:cNvPr>
          <p:cNvSpPr>
            <a:spLocks noGrp="1"/>
          </p:cNvSpPr>
          <p:nvPr>
            <p:ph type="ftr" sz="quarter" idx="3"/>
          </p:nvPr>
        </p:nvSpPr>
        <p:spPr>
          <a:xfrm>
            <a:off x="8474613" y="6564113"/>
            <a:ext cx="2879187" cy="365125"/>
          </a:xfrm>
          <a:prstGeom prst="rect">
            <a:avLst/>
          </a:prstGeom>
        </p:spPr>
        <p:txBody>
          <a:bodyPr vert="horz" lIns="91440" tIns="45720" rIns="91440" bIns="45720" rtlCol="0" anchor="ctr"/>
          <a:lstStyle>
            <a:lvl1pPr algn="r">
              <a:defRPr sz="1200">
                <a:solidFill>
                  <a:schemeClr val="bg1"/>
                </a:solidFill>
              </a:defRPr>
            </a:lvl1pPr>
          </a:lstStyle>
          <a:p>
            <a:r>
              <a:rPr lang="en-GB" dirty="0"/>
              <a:t>Optimus Syria</a:t>
            </a:r>
          </a:p>
        </p:txBody>
      </p:sp>
      <p:sp>
        <p:nvSpPr>
          <p:cNvPr id="8" name="Slide Number Placeholder 5">
            <a:extLst>
              <a:ext uri="{FF2B5EF4-FFF2-40B4-BE49-F238E27FC236}">
                <a16:creationId xmlns:a16="http://schemas.microsoft.com/office/drawing/2014/main" id="{75A1141D-8ADF-66F7-AB0C-CAA4E1B2CB82}"/>
              </a:ext>
            </a:extLst>
          </p:cNvPr>
          <p:cNvSpPr>
            <a:spLocks noGrp="1"/>
          </p:cNvSpPr>
          <p:nvPr>
            <p:ph type="sldNum" sz="quarter" idx="4"/>
          </p:nvPr>
        </p:nvSpPr>
        <p:spPr>
          <a:xfrm>
            <a:off x="1949570" y="6566803"/>
            <a:ext cx="928958" cy="365125"/>
          </a:xfrm>
          <a:prstGeom prst="rect">
            <a:avLst/>
          </a:prstGeom>
        </p:spPr>
        <p:txBody>
          <a:bodyPr vert="horz" lIns="91440" tIns="45720" rIns="91440" bIns="45720" rtlCol="0" anchor="ctr"/>
          <a:lstStyle>
            <a:lvl1pPr algn="ctr">
              <a:defRPr sz="1200">
                <a:solidFill>
                  <a:schemeClr val="bg1"/>
                </a:solidFill>
              </a:defRPr>
            </a:lvl1pPr>
          </a:lstStyle>
          <a:p>
            <a:fld id="{013F6232-4F06-48BA-8F69-BF531F607829}" type="slidenum">
              <a:rPr lang="en-GB" smtClean="0"/>
              <a:pPr/>
              <a:t>‹#›</a:t>
            </a:fld>
            <a:endParaRPr lang="en-GB" dirty="0"/>
          </a:p>
        </p:txBody>
      </p:sp>
      <p:sp>
        <p:nvSpPr>
          <p:cNvPr id="9" name="Date Placeholder 3">
            <a:extLst>
              <a:ext uri="{FF2B5EF4-FFF2-40B4-BE49-F238E27FC236}">
                <a16:creationId xmlns:a16="http://schemas.microsoft.com/office/drawing/2014/main" id="{07138566-A99B-8C60-010B-13E0F43C5657}"/>
              </a:ext>
            </a:extLst>
          </p:cNvPr>
          <p:cNvSpPr>
            <a:spLocks noGrp="1"/>
          </p:cNvSpPr>
          <p:nvPr>
            <p:ph type="dt" sz="half" idx="2"/>
          </p:nvPr>
        </p:nvSpPr>
        <p:spPr>
          <a:xfrm>
            <a:off x="838200" y="6566803"/>
            <a:ext cx="1111370" cy="365125"/>
          </a:xfrm>
          <a:prstGeom prst="rect">
            <a:avLst/>
          </a:prstGeom>
        </p:spPr>
        <p:txBody>
          <a:bodyPr vert="horz" lIns="91440" tIns="45720" rIns="91440" bIns="45720" rtlCol="0" anchor="ctr"/>
          <a:lstStyle>
            <a:lvl1pPr algn="l">
              <a:defRPr sz="1200">
                <a:solidFill>
                  <a:schemeClr val="bg1"/>
                </a:solidFill>
              </a:defRPr>
            </a:lvl1pPr>
          </a:lstStyle>
          <a:p>
            <a:fld id="{02AEE8E4-D792-40D2-B8D4-0007E21A0CF8}" type="datetime1">
              <a:rPr lang="en-GB" smtClean="0"/>
              <a:t>10/11/2025</a:t>
            </a:fld>
            <a:endParaRPr lang="en-GB" dirty="0"/>
          </a:p>
        </p:txBody>
      </p:sp>
    </p:spTree>
    <p:extLst>
      <p:ext uri="{BB962C8B-B14F-4D97-AF65-F5344CB8AC3E}">
        <p14:creationId xmlns:p14="http://schemas.microsoft.com/office/powerpoint/2010/main" val="3811557844"/>
      </p:ext>
    </p:extLst>
  </p:cSld>
  <p:clrMap bg1="lt1" tx1="dk1" bg2="lt2" tx2="dk2" accent1="accent1" accent2="accent2" accent3="accent3" accent4="accent4" accent5="accent5" accent6="accent6" hlink="hlink" folHlink="folHlink"/>
  <p:sldLayoutIdLst>
    <p:sldLayoutId id="2147483673" r:id="rId1"/>
    <p:sldLayoutId id="2147483675" r:id="rId2"/>
    <p:sldLayoutId id="2147483676"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hyperlink" Target="https://github.com/Karim-bakhtyar/Optimus-Syria-WEC/tree/main/2_Technical_Reports" TargetMode="External"/><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5.xml"/><Relationship Id="rId6" Type="http://schemas.openxmlformats.org/officeDocument/2006/relationships/image" Target="../media/image19.png"/><Relationship Id="rId11" Type="http://schemas.openxmlformats.org/officeDocument/2006/relationships/image" Target="../media/image15.png"/><Relationship Id="rId5" Type="http://schemas.openxmlformats.org/officeDocument/2006/relationships/hyperlink" Target="https://github.com/Karim-bakhtyar/Optimus-Syria-WEC/tree/main/6_Documentation_Archive/Guidelines" TargetMode="External"/><Relationship Id="rId10" Type="http://schemas.openxmlformats.org/officeDocument/2006/relationships/image" Target="../media/image14.png"/><Relationship Id="rId4" Type="http://schemas.openxmlformats.org/officeDocument/2006/relationships/image" Target="../media/image18.png"/><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el 21">
            <a:extLst>
              <a:ext uri="{FF2B5EF4-FFF2-40B4-BE49-F238E27FC236}">
                <a16:creationId xmlns:a16="http://schemas.microsoft.com/office/drawing/2014/main" id="{C01C5AA7-5821-01BD-1AC8-74837347C777}"/>
              </a:ext>
            </a:extLst>
          </p:cNvPr>
          <p:cNvSpPr>
            <a:spLocks noGrp="1"/>
          </p:cNvSpPr>
          <p:nvPr>
            <p:ph type="title"/>
          </p:nvPr>
        </p:nvSpPr>
        <p:spPr/>
        <p:txBody>
          <a:bodyPr/>
          <a:lstStyle/>
          <a:p>
            <a:r>
              <a:rPr lang="de-DE" dirty="0"/>
              <a:t>List of contents</a:t>
            </a:r>
          </a:p>
        </p:txBody>
      </p:sp>
      <p:sp>
        <p:nvSpPr>
          <p:cNvPr id="23" name="Datumsplatzhalter 22">
            <a:extLst>
              <a:ext uri="{FF2B5EF4-FFF2-40B4-BE49-F238E27FC236}">
                <a16:creationId xmlns:a16="http://schemas.microsoft.com/office/drawing/2014/main" id="{278CF838-7112-4F3F-EAE6-B2D4ED8FB4EE}"/>
              </a:ext>
            </a:extLst>
          </p:cNvPr>
          <p:cNvSpPr>
            <a:spLocks noGrp="1"/>
          </p:cNvSpPr>
          <p:nvPr>
            <p:ph type="dt" sz="half" idx="10"/>
          </p:nvPr>
        </p:nvSpPr>
        <p:spPr/>
        <p:txBody>
          <a:bodyPr/>
          <a:lstStyle/>
          <a:p>
            <a:fld id="{1B2647D9-CCE9-448B-BCAE-B6078094F078}" type="datetime1">
              <a:rPr lang="en-GB" smtClean="0"/>
              <a:t>10/11/2025</a:t>
            </a:fld>
            <a:endParaRPr lang="en-GB" dirty="0"/>
          </a:p>
        </p:txBody>
      </p:sp>
      <p:sp>
        <p:nvSpPr>
          <p:cNvPr id="24" name="Fußzeilenplatzhalter 23">
            <a:extLst>
              <a:ext uri="{FF2B5EF4-FFF2-40B4-BE49-F238E27FC236}">
                <a16:creationId xmlns:a16="http://schemas.microsoft.com/office/drawing/2014/main" id="{7A4CB245-78A9-C73E-8215-8D18B2739C00}"/>
              </a:ext>
            </a:extLst>
          </p:cNvPr>
          <p:cNvSpPr>
            <a:spLocks noGrp="1"/>
          </p:cNvSpPr>
          <p:nvPr>
            <p:ph type="ftr" sz="quarter" idx="11"/>
          </p:nvPr>
        </p:nvSpPr>
        <p:spPr/>
        <p:txBody>
          <a:bodyPr/>
          <a:lstStyle/>
          <a:p>
            <a:r>
              <a:rPr lang="en-GB" dirty="0"/>
              <a:t>Management Team PM/ Optimus Syria</a:t>
            </a:r>
          </a:p>
        </p:txBody>
      </p:sp>
      <p:sp>
        <p:nvSpPr>
          <p:cNvPr id="25" name="Foliennummernplatzhalter 24">
            <a:extLst>
              <a:ext uri="{FF2B5EF4-FFF2-40B4-BE49-F238E27FC236}">
                <a16:creationId xmlns:a16="http://schemas.microsoft.com/office/drawing/2014/main" id="{1F1D02DB-C1C0-0C64-772D-D708982E9FB1}"/>
              </a:ext>
            </a:extLst>
          </p:cNvPr>
          <p:cNvSpPr>
            <a:spLocks noGrp="1"/>
          </p:cNvSpPr>
          <p:nvPr>
            <p:ph type="sldNum" sz="quarter" idx="12"/>
          </p:nvPr>
        </p:nvSpPr>
        <p:spPr/>
        <p:txBody>
          <a:bodyPr/>
          <a:lstStyle/>
          <a:p>
            <a:fld id="{013F6232-4F06-48BA-8F69-BF531F607829}" type="slidenum">
              <a:rPr lang="en-GB" smtClean="0"/>
              <a:t>1</a:t>
            </a:fld>
            <a:endParaRPr lang="en-GB"/>
          </a:p>
        </p:txBody>
      </p:sp>
      <p:sp>
        <p:nvSpPr>
          <p:cNvPr id="2" name="Textplatzhalter 1">
            <a:extLst>
              <a:ext uri="{FF2B5EF4-FFF2-40B4-BE49-F238E27FC236}">
                <a16:creationId xmlns:a16="http://schemas.microsoft.com/office/drawing/2014/main" id="{AB50A548-9038-155C-8BC6-63C2D94B9A13}"/>
              </a:ext>
            </a:extLst>
          </p:cNvPr>
          <p:cNvSpPr>
            <a:spLocks noGrp="1"/>
          </p:cNvSpPr>
          <p:nvPr>
            <p:ph type="body" sz="quarter" idx="18"/>
          </p:nvPr>
        </p:nvSpPr>
        <p:spPr/>
        <p:txBody>
          <a:bodyPr/>
          <a:lstStyle/>
          <a:p>
            <a:r>
              <a:rPr lang="en-GB" dirty="0"/>
              <a:t>Bakhtyar </a:t>
            </a:r>
            <a:r>
              <a:rPr lang="en-GB" dirty="0" err="1"/>
              <a:t>karim</a:t>
            </a:r>
            <a:endParaRPr lang="en-GB" dirty="0"/>
          </a:p>
        </p:txBody>
      </p:sp>
      <p:sp>
        <p:nvSpPr>
          <p:cNvPr id="3" name="Content Placeholder 2">
            <a:extLst>
              <a:ext uri="{FF2B5EF4-FFF2-40B4-BE49-F238E27FC236}">
                <a16:creationId xmlns:a16="http://schemas.microsoft.com/office/drawing/2014/main" id="{2ACA9DE4-3193-6E74-5611-A9D096A4EB6F}"/>
              </a:ext>
            </a:extLst>
          </p:cNvPr>
          <p:cNvSpPr txBox="1">
            <a:spLocks/>
          </p:cNvSpPr>
          <p:nvPr/>
        </p:nvSpPr>
        <p:spPr>
          <a:xfrm>
            <a:off x="838200" y="1612265"/>
            <a:ext cx="10515600" cy="4351338"/>
          </a:xfrm>
          <a:prstGeom prst="rect">
            <a:avLst/>
          </a:prstGeom>
        </p:spPr>
        <p:txBody>
          <a:bodyPr vert="horz" lIns="91440" tIns="45720" rIns="91440" bIns="45720" rtlCol="0">
            <a:normAutofit/>
          </a:bodyPr>
          <a:lstStyle>
            <a:lvl1pPr marL="514350" indent="-514350" algn="l" defTabSz="914400" rtl="0" eaLnBrk="1" latinLnBrk="0" hangingPunct="1">
              <a:lnSpc>
                <a:spcPct val="90000"/>
              </a:lnSpc>
              <a:spcBef>
                <a:spcPts val="1000"/>
              </a:spcBef>
              <a:buFont typeface="+mj-lt"/>
              <a:buAutoNum type="arabicPeriod"/>
              <a:defRPr sz="2200" kern="1200">
                <a:solidFill>
                  <a:schemeClr val="tx1"/>
                </a:solidFill>
                <a:latin typeface="+mn-lt"/>
                <a:ea typeface="+mn-ea"/>
                <a:cs typeface="+mn-cs"/>
              </a:defRPr>
            </a:lvl1pPr>
            <a:lvl2pPr marL="971550" indent="-514350" algn="l" defTabSz="914400" rtl="0" eaLnBrk="1" latinLnBrk="0" hangingPunct="1">
              <a:lnSpc>
                <a:spcPct val="90000"/>
              </a:lnSpc>
              <a:spcBef>
                <a:spcPts val="500"/>
              </a:spcBef>
              <a:buFont typeface="+mj-lt"/>
              <a:buAutoNum type="romanLcPeriod"/>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de-DE" dirty="0"/>
              <a:t>Introduction to Guidelines</a:t>
            </a:r>
          </a:p>
          <a:p>
            <a:pPr lvl="1"/>
            <a:r>
              <a:rPr lang="de-DE" dirty="0"/>
              <a:t>Guidline for Certification of Wind Turbines 2010</a:t>
            </a:r>
          </a:p>
          <a:p>
            <a:pPr lvl="1"/>
            <a:r>
              <a:rPr lang="de-DE" dirty="0"/>
              <a:t>DNV/ST/0437: Load and Site Condistions</a:t>
            </a:r>
          </a:p>
          <a:p>
            <a:pPr lvl="1"/>
            <a:r>
              <a:rPr lang="de-DE" dirty="0"/>
              <a:t>DNVGL/ST/0376: Rotor Blade for Wind Turbines</a:t>
            </a:r>
          </a:p>
          <a:p>
            <a:pPr lvl="1"/>
            <a:r>
              <a:rPr lang="de-DE" dirty="0"/>
              <a:t>DNVGL/ST/0361: Machinery for Wind Turbines</a:t>
            </a:r>
          </a:p>
          <a:p>
            <a:pPr lvl="1"/>
            <a:r>
              <a:rPr lang="de-DE" dirty="0"/>
              <a:t>DNVGL/ST/0126: Suport Structure for Wind Turbines</a:t>
            </a:r>
          </a:p>
          <a:p>
            <a:pPr lvl="1"/>
            <a:r>
              <a:rPr lang="de-DE" dirty="0"/>
              <a:t>DNVGL/ST/0416: Corrosion Protection for Wind Turbines</a:t>
            </a:r>
          </a:p>
          <a:p>
            <a:pPr lvl="1"/>
            <a:endParaRPr lang="de-DE" dirty="0"/>
          </a:p>
          <a:p>
            <a:r>
              <a:rPr lang="de-DE" dirty="0"/>
              <a:t>Guidlines for Teams</a:t>
            </a:r>
          </a:p>
          <a:p>
            <a:r>
              <a:rPr lang="de-DE" dirty="0"/>
              <a:t>Final Report Template &amp; GitHub</a:t>
            </a:r>
          </a:p>
          <a:p>
            <a:pPr marL="0" indent="0">
              <a:buNone/>
            </a:pPr>
            <a:endParaRPr lang="de-DE" dirty="0"/>
          </a:p>
          <a:p>
            <a:pPr lvl="1"/>
            <a:endParaRPr lang="de-DE" dirty="0"/>
          </a:p>
        </p:txBody>
      </p:sp>
    </p:spTree>
    <p:extLst>
      <p:ext uri="{BB962C8B-B14F-4D97-AF65-F5344CB8AC3E}">
        <p14:creationId xmlns:p14="http://schemas.microsoft.com/office/powerpoint/2010/main" val="1106553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0B893F6D-288A-550A-C796-008FEA91A947}"/>
              </a:ext>
            </a:extLst>
          </p:cNvPr>
          <p:cNvSpPr>
            <a:spLocks noGrp="1"/>
          </p:cNvSpPr>
          <p:nvPr>
            <p:ph type="title"/>
          </p:nvPr>
        </p:nvSpPr>
        <p:spPr/>
        <p:txBody>
          <a:bodyPr/>
          <a:lstStyle/>
          <a:p>
            <a:r>
              <a:rPr lang="de-DE" dirty="0"/>
              <a:t>1. Introduction to Guidlines</a:t>
            </a:r>
            <a:endParaRPr lang="en-GB" dirty="0"/>
          </a:p>
        </p:txBody>
      </p:sp>
      <p:sp>
        <p:nvSpPr>
          <p:cNvPr id="14" name="Textplatzhalter 13">
            <a:extLst>
              <a:ext uri="{FF2B5EF4-FFF2-40B4-BE49-F238E27FC236}">
                <a16:creationId xmlns:a16="http://schemas.microsoft.com/office/drawing/2014/main" id="{74941C66-F67D-47E9-8D08-622A52F2EA14}"/>
              </a:ext>
            </a:extLst>
          </p:cNvPr>
          <p:cNvSpPr>
            <a:spLocks noGrp="1"/>
          </p:cNvSpPr>
          <p:nvPr>
            <p:ph type="body" sz="quarter" idx="18"/>
          </p:nvPr>
        </p:nvSpPr>
        <p:spPr/>
        <p:txBody>
          <a:bodyPr/>
          <a:lstStyle/>
          <a:p>
            <a:r>
              <a:rPr lang="en-GB" dirty="0" err="1"/>
              <a:t>Bakhtyar</a:t>
            </a:r>
            <a:r>
              <a:rPr lang="en-GB" dirty="0"/>
              <a:t> Karim</a:t>
            </a:r>
          </a:p>
        </p:txBody>
      </p:sp>
      <p:sp>
        <p:nvSpPr>
          <p:cNvPr id="2" name="Datumsplatzhalter 1">
            <a:extLst>
              <a:ext uri="{FF2B5EF4-FFF2-40B4-BE49-F238E27FC236}">
                <a16:creationId xmlns:a16="http://schemas.microsoft.com/office/drawing/2014/main" id="{E9FDD682-B40F-C5C9-1855-56A85BC15BC8}"/>
              </a:ext>
            </a:extLst>
          </p:cNvPr>
          <p:cNvSpPr>
            <a:spLocks noGrp="1"/>
          </p:cNvSpPr>
          <p:nvPr>
            <p:ph type="dt" sz="half" idx="19"/>
          </p:nvPr>
        </p:nvSpPr>
        <p:spPr/>
        <p:txBody>
          <a:bodyPr/>
          <a:lstStyle/>
          <a:p>
            <a:fld id="{2D1EE79A-E6D4-4691-9116-935A2AA336A9}" type="datetime1">
              <a:rPr lang="en-GB" smtClean="0"/>
              <a:t>10/11/2025</a:t>
            </a:fld>
            <a:endParaRPr lang="en-GB"/>
          </a:p>
        </p:txBody>
      </p:sp>
      <p:sp>
        <p:nvSpPr>
          <p:cNvPr id="3" name="Fußzeilenplatzhalter 2">
            <a:extLst>
              <a:ext uri="{FF2B5EF4-FFF2-40B4-BE49-F238E27FC236}">
                <a16:creationId xmlns:a16="http://schemas.microsoft.com/office/drawing/2014/main" id="{D668328F-481A-A412-4E89-23ACFE133DF4}"/>
              </a:ext>
            </a:extLst>
          </p:cNvPr>
          <p:cNvSpPr>
            <a:spLocks noGrp="1"/>
          </p:cNvSpPr>
          <p:nvPr>
            <p:ph type="ftr" sz="quarter" idx="20"/>
          </p:nvPr>
        </p:nvSpPr>
        <p:spPr/>
        <p:txBody>
          <a:bodyPr/>
          <a:lstStyle/>
          <a:p>
            <a:r>
              <a:rPr lang="en-GB" dirty="0"/>
              <a:t>Management Team PM/ Optimus Syria</a:t>
            </a:r>
          </a:p>
        </p:txBody>
      </p:sp>
      <p:sp>
        <p:nvSpPr>
          <p:cNvPr id="4" name="Foliennummernplatzhalter 3">
            <a:extLst>
              <a:ext uri="{FF2B5EF4-FFF2-40B4-BE49-F238E27FC236}">
                <a16:creationId xmlns:a16="http://schemas.microsoft.com/office/drawing/2014/main" id="{082D30E5-E8EB-4514-D402-7006892C79B8}"/>
              </a:ext>
            </a:extLst>
          </p:cNvPr>
          <p:cNvSpPr>
            <a:spLocks noGrp="1"/>
          </p:cNvSpPr>
          <p:nvPr>
            <p:ph type="sldNum" sz="quarter" idx="21"/>
          </p:nvPr>
        </p:nvSpPr>
        <p:spPr/>
        <p:txBody>
          <a:bodyPr/>
          <a:lstStyle/>
          <a:p>
            <a:fld id="{013F6232-4F06-48BA-8F69-BF531F607829}" type="slidenum">
              <a:rPr lang="en-GB" smtClean="0"/>
              <a:t>2</a:t>
            </a:fld>
            <a:endParaRPr lang="en-GB"/>
          </a:p>
        </p:txBody>
      </p:sp>
      <p:sp>
        <p:nvSpPr>
          <p:cNvPr id="10" name="Inhaltsplatzhalter 2">
            <a:extLst>
              <a:ext uri="{FF2B5EF4-FFF2-40B4-BE49-F238E27FC236}">
                <a16:creationId xmlns:a16="http://schemas.microsoft.com/office/drawing/2014/main" id="{711AAC40-D4A5-6AC8-BE73-CD4035EA05F5}"/>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971550" indent="-514350" algn="l" defTabSz="914400" rtl="0" eaLnBrk="1" latinLnBrk="0" hangingPunct="1">
              <a:lnSpc>
                <a:spcPct val="90000"/>
              </a:lnSpc>
              <a:spcBef>
                <a:spcPts val="500"/>
              </a:spcBef>
              <a:buFont typeface="+mj-lt"/>
              <a:buAutoNum type="romanLcPeriod"/>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dirty="0"/>
          </a:p>
        </p:txBody>
      </p:sp>
      <p:pic>
        <p:nvPicPr>
          <p:cNvPr id="7" name="Google Shape;85;p13" descr="image.png">
            <a:extLst>
              <a:ext uri="{FF2B5EF4-FFF2-40B4-BE49-F238E27FC236}">
                <a16:creationId xmlns:a16="http://schemas.microsoft.com/office/drawing/2014/main" id="{BFB07406-51A7-A0B2-2F69-B7D6E6A18AA3}"/>
              </a:ext>
            </a:extLst>
          </p:cNvPr>
          <p:cNvPicPr preferRelativeResize="0"/>
          <p:nvPr/>
        </p:nvPicPr>
        <p:blipFill rotWithShape="1">
          <a:blip r:embed="rId2">
            <a:alphaModFix/>
            <a:duotone>
              <a:schemeClr val="accent4">
                <a:shade val="45000"/>
                <a:satMod val="135000"/>
              </a:schemeClr>
              <a:prstClr val="white"/>
            </a:duotone>
          </a:blip>
          <a:srcRect/>
          <a:stretch/>
        </p:blipFill>
        <p:spPr>
          <a:xfrm>
            <a:off x="476250" y="1798439"/>
            <a:ext cx="3555950" cy="4236243"/>
          </a:xfrm>
          <a:prstGeom prst="round2DiagRect">
            <a:avLst>
              <a:gd name="adj1" fmla="val 16667"/>
              <a:gd name="adj2" fmla="val 0"/>
            </a:avLst>
          </a:prstGeom>
          <a:ln w="88900" cap="sq">
            <a:solidFill>
              <a:schemeClr val="accent1">
                <a:lumMod val="60000"/>
                <a:lumOff val="40000"/>
              </a:schemeClr>
            </a:solidFill>
            <a:miter lim="800000"/>
          </a:ln>
          <a:effectLst>
            <a:outerShdw blurRad="254000" algn="tl" rotWithShape="0">
              <a:srgbClr val="000000">
                <a:alpha val="43000"/>
              </a:srgbClr>
            </a:outerShdw>
          </a:effectLst>
        </p:spPr>
      </p:pic>
      <p:sp>
        <p:nvSpPr>
          <p:cNvPr id="8" name="Google Shape;94;p13">
            <a:extLst>
              <a:ext uri="{FF2B5EF4-FFF2-40B4-BE49-F238E27FC236}">
                <a16:creationId xmlns:a16="http://schemas.microsoft.com/office/drawing/2014/main" id="{8B1CEAEF-C508-76DB-ED14-B303CEC1F7F9}"/>
              </a:ext>
            </a:extLst>
          </p:cNvPr>
          <p:cNvSpPr txBox="1"/>
          <p:nvPr/>
        </p:nvSpPr>
        <p:spPr>
          <a:xfrm>
            <a:off x="771525" y="2808089"/>
            <a:ext cx="3113670" cy="72019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950" b="1" i="0" u="none" strike="noStrike" cap="none" dirty="0">
                <a:latin typeface="Roboto Mono"/>
                <a:ea typeface="Roboto Mono"/>
                <a:cs typeface="Roboto Mono"/>
                <a:sym typeface="Roboto Mono"/>
              </a:rPr>
              <a:t>WHAT are these Guidelines?</a:t>
            </a:r>
            <a:endParaRPr dirty="0"/>
          </a:p>
        </p:txBody>
      </p:sp>
      <p:pic>
        <p:nvPicPr>
          <p:cNvPr id="12" name="Google Shape;100;p13" descr="image.png">
            <a:extLst>
              <a:ext uri="{FF2B5EF4-FFF2-40B4-BE49-F238E27FC236}">
                <a16:creationId xmlns:a16="http://schemas.microsoft.com/office/drawing/2014/main" id="{10ABEDA2-46B0-1177-2D8D-5EDB1DDE37D7}"/>
              </a:ext>
            </a:extLst>
          </p:cNvPr>
          <p:cNvPicPr preferRelativeResize="0"/>
          <p:nvPr/>
        </p:nvPicPr>
        <p:blipFill rotWithShape="1">
          <a:blip r:embed="rId3">
            <a:alphaModFix/>
            <a:duotone>
              <a:prstClr val="black"/>
              <a:schemeClr val="accent4">
                <a:tint val="45000"/>
                <a:satMod val="400000"/>
              </a:schemeClr>
            </a:duotone>
          </a:blip>
          <a:srcRect/>
          <a:stretch/>
        </p:blipFill>
        <p:spPr>
          <a:xfrm>
            <a:off x="771525" y="2141339"/>
            <a:ext cx="447675" cy="400050"/>
          </a:xfrm>
          <a:prstGeom prst="rect">
            <a:avLst/>
          </a:prstGeom>
          <a:noFill/>
          <a:ln>
            <a:noFill/>
          </a:ln>
        </p:spPr>
      </p:pic>
      <p:sp>
        <p:nvSpPr>
          <p:cNvPr id="17" name="Google Shape;95;p13">
            <a:extLst>
              <a:ext uri="{FF2B5EF4-FFF2-40B4-BE49-F238E27FC236}">
                <a16:creationId xmlns:a16="http://schemas.microsoft.com/office/drawing/2014/main" id="{2E95D15C-2F43-4B86-3FC2-2EE15C087C61}"/>
              </a:ext>
            </a:extLst>
          </p:cNvPr>
          <p:cNvSpPr txBox="1"/>
          <p:nvPr/>
        </p:nvSpPr>
        <p:spPr>
          <a:xfrm>
            <a:off x="771525" y="3545085"/>
            <a:ext cx="3113670" cy="232679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latin typeface="DM Sans"/>
                <a:ea typeface="DM Sans"/>
                <a:cs typeface="DM Sans"/>
                <a:sym typeface="DM Sans"/>
              </a:rPr>
              <a:t>They are the official DNV GL / GL standards our </a:t>
            </a:r>
            <a:r>
              <a:rPr lang="en-US" sz="1350" dirty="0">
                <a:latin typeface="DM Sans"/>
                <a:ea typeface="DM Sans"/>
                <a:cs typeface="DM Sans"/>
                <a:sym typeface="DM Sans"/>
              </a:rPr>
              <a:t>(</a:t>
            </a:r>
            <a:r>
              <a:rPr lang="en-US" sz="1350" b="0" i="0" u="none" strike="noStrike" cap="none" dirty="0">
                <a:latin typeface="DM Sans"/>
                <a:ea typeface="DM Sans"/>
                <a:cs typeface="DM Sans"/>
                <a:sym typeface="DM Sans"/>
              </a:rPr>
              <a:t>engineering rulebook). They provide the internationally accepted technical requirements for designing, manufacturing, and testing every part of a wind turbine, from the blades to the foundation.</a:t>
            </a:r>
            <a:endParaRPr dirty="0"/>
          </a:p>
        </p:txBody>
      </p:sp>
      <p:pic>
        <p:nvPicPr>
          <p:cNvPr id="19" name="Picture 18" descr="A document with text and symbols&#10;&#10;AI-generated content may be incorrect.">
            <a:extLst>
              <a:ext uri="{FF2B5EF4-FFF2-40B4-BE49-F238E27FC236}">
                <a16:creationId xmlns:a16="http://schemas.microsoft.com/office/drawing/2014/main" id="{F2D9AD5C-35DA-FD7E-219D-EC8BAC14A2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47851" y="1578934"/>
            <a:ext cx="1694818" cy="219420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2" name="Picture 21" descr="A white paper with blue text&#10;&#10;AI-generated content may be incorrect.">
            <a:extLst>
              <a:ext uri="{FF2B5EF4-FFF2-40B4-BE49-F238E27FC236}">
                <a16:creationId xmlns:a16="http://schemas.microsoft.com/office/drawing/2014/main" id="{F875E75E-1E94-5A26-DEDA-53B742C63045}"/>
              </a:ext>
            </a:extLst>
          </p:cNvPr>
          <p:cNvPicPr>
            <a:picLocks noChangeAspect="1"/>
          </p:cNvPicPr>
          <p:nvPr/>
        </p:nvPicPr>
        <p:blipFill>
          <a:blip r:embed="rId5">
            <a:extLst>
              <a:ext uri="{28A0092B-C50C-407E-A947-70E740481C1C}">
                <a14:useLocalDpi xmlns:a14="http://schemas.microsoft.com/office/drawing/2010/main" val="0"/>
              </a:ext>
            </a:extLst>
          </a:blip>
          <a:srcRect l="-1" r="4296" b="2474"/>
          <a:stretch>
            <a:fillRect/>
          </a:stretch>
        </p:blipFill>
        <p:spPr>
          <a:xfrm>
            <a:off x="8863914" y="3951864"/>
            <a:ext cx="1660951" cy="24016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4" name="Picture 23" descr="A screenshot of a computer&#10;&#10;AI-generated content may be incorrect.">
            <a:extLst>
              <a:ext uri="{FF2B5EF4-FFF2-40B4-BE49-F238E27FC236}">
                <a16:creationId xmlns:a16="http://schemas.microsoft.com/office/drawing/2014/main" id="{5B462836-ED2A-B50A-F83C-6835206BAA4C}"/>
              </a:ext>
            </a:extLst>
          </p:cNvPr>
          <p:cNvPicPr>
            <a:picLocks noChangeAspect="1"/>
          </p:cNvPicPr>
          <p:nvPr/>
        </p:nvPicPr>
        <p:blipFill>
          <a:blip r:embed="rId6">
            <a:extLst>
              <a:ext uri="{28A0092B-C50C-407E-A947-70E740481C1C}">
                <a14:useLocalDpi xmlns:a14="http://schemas.microsoft.com/office/drawing/2010/main" val="0"/>
              </a:ext>
            </a:extLst>
          </a:blip>
          <a:srcRect r="6358"/>
          <a:stretch>
            <a:fillRect/>
          </a:stretch>
        </p:blipFill>
        <p:spPr>
          <a:xfrm>
            <a:off x="8836562" y="1552572"/>
            <a:ext cx="1627086" cy="22205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6" name="Picture 25" descr="A white paper with black text&#10;&#10;AI-generated content may be incorrect.">
            <a:extLst>
              <a:ext uri="{FF2B5EF4-FFF2-40B4-BE49-F238E27FC236}">
                <a16:creationId xmlns:a16="http://schemas.microsoft.com/office/drawing/2014/main" id="{04469867-4158-082E-799D-FD3ABB74B9E9}"/>
              </a:ext>
            </a:extLst>
          </p:cNvPr>
          <p:cNvPicPr>
            <a:picLocks noChangeAspect="1"/>
          </p:cNvPicPr>
          <p:nvPr/>
        </p:nvPicPr>
        <p:blipFill>
          <a:blip r:embed="rId7">
            <a:extLst>
              <a:ext uri="{28A0092B-C50C-407E-A947-70E740481C1C}">
                <a14:useLocalDpi xmlns:a14="http://schemas.microsoft.com/office/drawing/2010/main" val="0"/>
              </a:ext>
            </a:extLst>
          </a:blip>
          <a:srcRect r="2039" b="1274"/>
          <a:stretch>
            <a:fillRect/>
          </a:stretch>
        </p:blipFill>
        <p:spPr>
          <a:xfrm>
            <a:off x="6847527" y="4012436"/>
            <a:ext cx="1627086" cy="23410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8" name="Picture 27" descr="A screenshot of a computer&#10;&#10;AI-generated content may be incorrect.">
            <a:extLst>
              <a:ext uri="{FF2B5EF4-FFF2-40B4-BE49-F238E27FC236}">
                <a16:creationId xmlns:a16="http://schemas.microsoft.com/office/drawing/2014/main" id="{F11251E2-BD83-517C-8B8F-BE3216826FF4}"/>
              </a:ext>
            </a:extLst>
          </p:cNvPr>
          <p:cNvPicPr>
            <a:picLocks noChangeAspect="1"/>
          </p:cNvPicPr>
          <p:nvPr/>
        </p:nvPicPr>
        <p:blipFill>
          <a:blip r:embed="rId8">
            <a:extLst>
              <a:ext uri="{28A0092B-C50C-407E-A947-70E740481C1C}">
                <a14:useLocalDpi xmlns:a14="http://schemas.microsoft.com/office/drawing/2010/main" val="0"/>
              </a:ext>
            </a:extLst>
          </a:blip>
          <a:srcRect b="5362"/>
          <a:stretch>
            <a:fillRect/>
          </a:stretch>
        </p:blipFill>
        <p:spPr>
          <a:xfrm>
            <a:off x="6847526" y="1578934"/>
            <a:ext cx="1627086" cy="219420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0" name="Picture 29" descr="A white paper with black text&#10;&#10;AI-generated content may be incorrect.">
            <a:extLst>
              <a:ext uri="{FF2B5EF4-FFF2-40B4-BE49-F238E27FC236}">
                <a16:creationId xmlns:a16="http://schemas.microsoft.com/office/drawing/2014/main" id="{9F5C5F7F-B19A-A570-31A6-BE31EAFD884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60329" y="4012034"/>
            <a:ext cx="1631760" cy="234144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53850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1+#ppt_w/2"/>
                                          </p:val>
                                        </p:tav>
                                        <p:tav tm="100000">
                                          <p:val>
                                            <p:strVal val="#ppt_x"/>
                                          </p:val>
                                        </p:tav>
                                      </p:tavLst>
                                    </p:anim>
                                    <p:anim calcmode="lin" valueType="num">
                                      <p:cBhvr additive="base">
                                        <p:cTn id="12" dur="500" fill="hold"/>
                                        <p:tgtEl>
                                          <p:spTgt spid="28"/>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500" fill="hold"/>
                                        <p:tgtEl>
                                          <p:spTgt spid="24"/>
                                        </p:tgtEl>
                                        <p:attrNameLst>
                                          <p:attrName>ppt_x</p:attrName>
                                        </p:attrNameLst>
                                      </p:cBhvr>
                                      <p:tavLst>
                                        <p:tav tm="0">
                                          <p:val>
                                            <p:strVal val="1+#ppt_w/2"/>
                                          </p:val>
                                        </p:tav>
                                        <p:tav tm="100000">
                                          <p:val>
                                            <p:strVal val="#ppt_x"/>
                                          </p:val>
                                        </p:tav>
                                      </p:tavLst>
                                    </p:anim>
                                    <p:anim calcmode="lin" valueType="num">
                                      <p:cBhvr additive="base">
                                        <p:cTn id="16" dur="500" fill="hold"/>
                                        <p:tgtEl>
                                          <p:spTgt spid="2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1+#ppt_w/2"/>
                                          </p:val>
                                        </p:tav>
                                        <p:tav tm="100000">
                                          <p:val>
                                            <p:strVal val="#ppt_x"/>
                                          </p:val>
                                        </p:tav>
                                      </p:tavLst>
                                    </p:anim>
                                    <p:anim calcmode="lin" valueType="num">
                                      <p:cBhvr additive="base">
                                        <p:cTn id="20" dur="500" fill="hold"/>
                                        <p:tgtEl>
                                          <p:spTgt spid="22"/>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fill="hold"/>
                                        <p:tgtEl>
                                          <p:spTgt spid="26"/>
                                        </p:tgtEl>
                                        <p:attrNameLst>
                                          <p:attrName>ppt_x</p:attrName>
                                        </p:attrNameLst>
                                      </p:cBhvr>
                                      <p:tavLst>
                                        <p:tav tm="0">
                                          <p:val>
                                            <p:strVal val="1+#ppt_w/2"/>
                                          </p:val>
                                        </p:tav>
                                        <p:tav tm="100000">
                                          <p:val>
                                            <p:strVal val="#ppt_x"/>
                                          </p:val>
                                        </p:tav>
                                      </p:tavLst>
                                    </p:anim>
                                    <p:anim calcmode="lin" valueType="num">
                                      <p:cBhvr additive="base">
                                        <p:cTn id="24" dur="500" fill="hold"/>
                                        <p:tgtEl>
                                          <p:spTgt spid="26"/>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anim calcmode="lin" valueType="num">
                                      <p:cBhvr additive="base">
                                        <p:cTn id="27" dur="500" fill="hold"/>
                                        <p:tgtEl>
                                          <p:spTgt spid="30"/>
                                        </p:tgtEl>
                                        <p:attrNameLst>
                                          <p:attrName>ppt_x</p:attrName>
                                        </p:attrNameLst>
                                      </p:cBhvr>
                                      <p:tavLst>
                                        <p:tav tm="0">
                                          <p:val>
                                            <p:strVal val="1+#ppt_w/2"/>
                                          </p:val>
                                        </p:tav>
                                        <p:tav tm="100000">
                                          <p:val>
                                            <p:strVal val="#ppt_x"/>
                                          </p:val>
                                        </p:tav>
                                      </p:tavLst>
                                    </p:anim>
                                    <p:anim calcmode="lin" valueType="num">
                                      <p:cBhvr additive="base">
                                        <p:cTn id="28"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18389-4B94-55E2-CBFB-DD562A485408}"/>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9E567B5F-A772-C5EE-B262-F383D7BB3F26}"/>
              </a:ext>
            </a:extLst>
          </p:cNvPr>
          <p:cNvSpPr>
            <a:spLocks noGrp="1"/>
          </p:cNvSpPr>
          <p:nvPr>
            <p:ph type="title"/>
          </p:nvPr>
        </p:nvSpPr>
        <p:spPr>
          <a:xfrm>
            <a:off x="347648" y="305142"/>
            <a:ext cx="11773231" cy="1325563"/>
          </a:xfrm>
        </p:spPr>
        <p:txBody>
          <a:bodyPr/>
          <a:lstStyle/>
          <a:p>
            <a:r>
              <a:rPr lang="de-DE" dirty="0"/>
              <a:t>1.i. Guidline for Certification of Wind turbines 2010</a:t>
            </a:r>
            <a:endParaRPr lang="en-GB" dirty="0"/>
          </a:p>
        </p:txBody>
      </p:sp>
      <p:sp>
        <p:nvSpPr>
          <p:cNvPr id="14" name="Textplatzhalter 13">
            <a:extLst>
              <a:ext uri="{FF2B5EF4-FFF2-40B4-BE49-F238E27FC236}">
                <a16:creationId xmlns:a16="http://schemas.microsoft.com/office/drawing/2014/main" id="{0A6C083C-188B-7C70-6CF1-47DF34D405FE}"/>
              </a:ext>
            </a:extLst>
          </p:cNvPr>
          <p:cNvSpPr>
            <a:spLocks noGrp="1"/>
          </p:cNvSpPr>
          <p:nvPr>
            <p:ph type="body" sz="quarter" idx="18"/>
          </p:nvPr>
        </p:nvSpPr>
        <p:spPr/>
        <p:txBody>
          <a:bodyPr/>
          <a:lstStyle/>
          <a:p>
            <a:r>
              <a:rPr lang="en-GB"/>
              <a:t>Bakhtyar Karim</a:t>
            </a:r>
            <a:endParaRPr lang="en-GB" dirty="0"/>
          </a:p>
        </p:txBody>
      </p:sp>
      <p:sp>
        <p:nvSpPr>
          <p:cNvPr id="2" name="Datumsplatzhalter 1">
            <a:extLst>
              <a:ext uri="{FF2B5EF4-FFF2-40B4-BE49-F238E27FC236}">
                <a16:creationId xmlns:a16="http://schemas.microsoft.com/office/drawing/2014/main" id="{BBD3AEE0-3675-F0FA-F3E0-E950DCCD9BA8}"/>
              </a:ext>
            </a:extLst>
          </p:cNvPr>
          <p:cNvSpPr>
            <a:spLocks noGrp="1"/>
          </p:cNvSpPr>
          <p:nvPr>
            <p:ph type="dt" sz="half" idx="19"/>
          </p:nvPr>
        </p:nvSpPr>
        <p:spPr/>
        <p:txBody>
          <a:bodyPr/>
          <a:lstStyle/>
          <a:p>
            <a:fld id="{2D1EE79A-E6D4-4691-9116-935A2AA336A9}" type="datetime1">
              <a:rPr lang="en-GB" smtClean="0"/>
              <a:t>10/11/2025</a:t>
            </a:fld>
            <a:endParaRPr lang="en-GB"/>
          </a:p>
        </p:txBody>
      </p:sp>
      <p:sp>
        <p:nvSpPr>
          <p:cNvPr id="3" name="Fußzeilenplatzhalter 2">
            <a:extLst>
              <a:ext uri="{FF2B5EF4-FFF2-40B4-BE49-F238E27FC236}">
                <a16:creationId xmlns:a16="http://schemas.microsoft.com/office/drawing/2014/main" id="{A440CA12-21A5-E838-040F-20A724BFA513}"/>
              </a:ext>
            </a:extLst>
          </p:cNvPr>
          <p:cNvSpPr>
            <a:spLocks noGrp="1"/>
          </p:cNvSpPr>
          <p:nvPr>
            <p:ph type="ftr" sz="quarter" idx="20"/>
          </p:nvPr>
        </p:nvSpPr>
        <p:spPr/>
        <p:txBody>
          <a:bodyPr/>
          <a:lstStyle/>
          <a:p>
            <a:r>
              <a:rPr lang="en-GB"/>
              <a:t>Management Team PM / Optimus Syria</a:t>
            </a:r>
            <a:endParaRPr lang="en-GB" dirty="0"/>
          </a:p>
        </p:txBody>
      </p:sp>
      <p:sp>
        <p:nvSpPr>
          <p:cNvPr id="4" name="Foliennummernplatzhalter 3">
            <a:extLst>
              <a:ext uri="{FF2B5EF4-FFF2-40B4-BE49-F238E27FC236}">
                <a16:creationId xmlns:a16="http://schemas.microsoft.com/office/drawing/2014/main" id="{33B1D443-9BE3-536A-29DE-C97D04FF4F9D}"/>
              </a:ext>
            </a:extLst>
          </p:cNvPr>
          <p:cNvSpPr>
            <a:spLocks noGrp="1"/>
          </p:cNvSpPr>
          <p:nvPr>
            <p:ph type="sldNum" sz="quarter" idx="21"/>
          </p:nvPr>
        </p:nvSpPr>
        <p:spPr/>
        <p:txBody>
          <a:bodyPr/>
          <a:lstStyle/>
          <a:p>
            <a:fld id="{013F6232-4F06-48BA-8F69-BF531F607829}" type="slidenum">
              <a:rPr lang="en-GB" smtClean="0"/>
              <a:t>3</a:t>
            </a:fld>
            <a:endParaRPr lang="en-GB"/>
          </a:p>
        </p:txBody>
      </p:sp>
      <p:sp>
        <p:nvSpPr>
          <p:cNvPr id="10" name="Inhaltsplatzhalter 2">
            <a:extLst>
              <a:ext uri="{FF2B5EF4-FFF2-40B4-BE49-F238E27FC236}">
                <a16:creationId xmlns:a16="http://schemas.microsoft.com/office/drawing/2014/main" id="{D4EF07E3-EB4B-02ED-E9A9-506FB1E883FB}"/>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971550" indent="-514350" algn="l" defTabSz="914400" rtl="0" eaLnBrk="1" latinLnBrk="0" hangingPunct="1">
              <a:lnSpc>
                <a:spcPct val="90000"/>
              </a:lnSpc>
              <a:spcBef>
                <a:spcPts val="500"/>
              </a:spcBef>
              <a:buFont typeface="+mj-lt"/>
              <a:buAutoNum type="romanLcPeriod"/>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dirty="0"/>
          </a:p>
        </p:txBody>
      </p:sp>
      <p:sp>
        <p:nvSpPr>
          <p:cNvPr id="9" name="Google Shape;102;p14">
            <a:extLst>
              <a:ext uri="{FF2B5EF4-FFF2-40B4-BE49-F238E27FC236}">
                <a16:creationId xmlns:a16="http://schemas.microsoft.com/office/drawing/2014/main" id="{5CED38DA-2589-C45A-A21C-2567EA860C24}"/>
              </a:ext>
            </a:extLst>
          </p:cNvPr>
          <p:cNvSpPr txBox="1"/>
          <p:nvPr/>
        </p:nvSpPr>
        <p:spPr>
          <a:xfrm>
            <a:off x="347648" y="1307606"/>
            <a:ext cx="11496704" cy="265919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latin typeface="DM Sans"/>
                <a:ea typeface="DM Sans"/>
                <a:cs typeface="DM Sans"/>
                <a:sym typeface="DM Sans"/>
              </a:rPr>
              <a:t>This document is the project's certification roadmap, defining the entire process through three core phases: </a:t>
            </a:r>
          </a:p>
          <a:p>
            <a:pPr marL="400050" marR="0" lvl="0" indent="-400050" algn="l" rtl="0">
              <a:lnSpc>
                <a:spcPct val="159944"/>
              </a:lnSpc>
              <a:spcBef>
                <a:spcPts val="0"/>
              </a:spcBef>
              <a:spcAft>
                <a:spcPts val="0"/>
              </a:spcAft>
              <a:buFont typeface="+mj-lt"/>
              <a:buAutoNum type="romanLcPeriod"/>
            </a:pPr>
            <a:r>
              <a:rPr lang="en-US" sz="1800" b="0" i="0" u="none" strike="noStrike" cap="none" dirty="0">
                <a:latin typeface="DM Sans"/>
                <a:ea typeface="DM Sans"/>
                <a:cs typeface="DM Sans"/>
                <a:sym typeface="DM Sans"/>
              </a:rPr>
              <a:t>Design Assessment</a:t>
            </a:r>
          </a:p>
          <a:p>
            <a:pPr marL="400050" marR="0" lvl="0" indent="-400050" algn="l" rtl="0">
              <a:lnSpc>
                <a:spcPct val="159944"/>
              </a:lnSpc>
              <a:spcBef>
                <a:spcPts val="0"/>
              </a:spcBef>
              <a:spcAft>
                <a:spcPts val="0"/>
              </a:spcAft>
              <a:buFont typeface="+mj-lt"/>
              <a:buAutoNum type="romanLcPeriod"/>
            </a:pPr>
            <a:r>
              <a:rPr lang="en-US" sz="1800" b="0" i="0" u="none" strike="noStrike" cap="none" dirty="0">
                <a:latin typeface="DM Sans"/>
                <a:ea typeface="DM Sans"/>
                <a:cs typeface="DM Sans"/>
                <a:sym typeface="DM Sans"/>
              </a:rPr>
              <a:t>Manufacturing Inspection</a:t>
            </a:r>
          </a:p>
          <a:p>
            <a:pPr marL="400050" marR="0" lvl="0" indent="-400050" algn="l" rtl="0">
              <a:lnSpc>
                <a:spcPct val="159944"/>
              </a:lnSpc>
              <a:spcBef>
                <a:spcPts val="0"/>
              </a:spcBef>
              <a:spcAft>
                <a:spcPts val="0"/>
              </a:spcAft>
              <a:buFont typeface="+mj-lt"/>
              <a:buAutoNum type="romanLcPeriod"/>
            </a:pPr>
            <a:r>
              <a:rPr lang="en-US" sz="1800" b="0" i="0" u="none" strike="noStrike" cap="none" dirty="0">
                <a:latin typeface="DM Sans"/>
                <a:ea typeface="DM Sans"/>
                <a:cs typeface="DM Sans"/>
                <a:sym typeface="DM Sans"/>
              </a:rPr>
              <a:t>Prototype Testing. </a:t>
            </a:r>
          </a:p>
          <a:p>
            <a:pPr marR="0" lvl="0" algn="l" rtl="0">
              <a:lnSpc>
                <a:spcPct val="159944"/>
              </a:lnSpc>
              <a:spcBef>
                <a:spcPts val="0"/>
              </a:spcBef>
              <a:spcAft>
                <a:spcPts val="0"/>
              </a:spcAft>
            </a:pPr>
            <a:r>
              <a:rPr lang="en-US" sz="1800" b="0" i="0" u="none" strike="noStrike" cap="none" dirty="0">
                <a:latin typeface="DM Sans"/>
                <a:ea typeface="DM Sans"/>
                <a:cs typeface="DM Sans"/>
                <a:sym typeface="DM Sans"/>
              </a:rPr>
              <a:t>It ensures all specialized work is integrated into a cohesive and certifiable </a:t>
            </a:r>
          </a:p>
          <a:p>
            <a:pPr marR="0" lvl="0" algn="l" rtl="0">
              <a:lnSpc>
                <a:spcPct val="159944"/>
              </a:lnSpc>
              <a:spcBef>
                <a:spcPts val="0"/>
              </a:spcBef>
              <a:spcAft>
                <a:spcPts val="0"/>
              </a:spcAft>
            </a:pPr>
            <a:r>
              <a:rPr lang="en-US" sz="1800" b="0" i="0" u="none" strike="noStrike" cap="none" dirty="0">
                <a:latin typeface="DM Sans"/>
                <a:ea typeface="DM Sans"/>
                <a:cs typeface="DM Sans"/>
                <a:sym typeface="DM Sans"/>
              </a:rPr>
              <a:t>package that meets strict regulatory safety standards.</a:t>
            </a:r>
            <a:endParaRPr dirty="0"/>
          </a:p>
        </p:txBody>
      </p:sp>
      <p:sp>
        <p:nvSpPr>
          <p:cNvPr id="11" name="Google Shape;103;p14">
            <a:extLst>
              <a:ext uri="{FF2B5EF4-FFF2-40B4-BE49-F238E27FC236}">
                <a16:creationId xmlns:a16="http://schemas.microsoft.com/office/drawing/2014/main" id="{976895CC-8BDC-3E29-9BE0-FA6573E49466}"/>
              </a:ext>
            </a:extLst>
          </p:cNvPr>
          <p:cNvSpPr txBox="1"/>
          <p:nvPr/>
        </p:nvSpPr>
        <p:spPr>
          <a:xfrm>
            <a:off x="194554" y="4001294"/>
            <a:ext cx="8339152" cy="2215991"/>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latin typeface="DM Sans"/>
                <a:ea typeface="DM Sans"/>
                <a:cs typeface="DM Sans"/>
                <a:sym typeface="DM Sans"/>
              </a:rPr>
              <a:t>The guideline establishes the context for all other DNV GL standard. It specifically mandates documentation for Load Assumptions (Ch. 4), Strength Analyses (Ch. 5), and requirements for Machinery and Electrical Installations (Ch. 7 &amp; 8), providing the initial scope and guaranteeing industrial recognition of our design.</a:t>
            </a:r>
            <a:endParaRPr dirty="0"/>
          </a:p>
        </p:txBody>
      </p:sp>
      <p:pic>
        <p:nvPicPr>
          <p:cNvPr id="12" name="Picture 11" descr="A document with text and symbols&#10;&#10;AI-generated content may be incorrect.">
            <a:extLst>
              <a:ext uri="{FF2B5EF4-FFF2-40B4-BE49-F238E27FC236}">
                <a16:creationId xmlns:a16="http://schemas.microsoft.com/office/drawing/2014/main" id="{AC97492F-4CEC-10A3-EAE9-AB2C0D1502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21628" y="2017855"/>
            <a:ext cx="2879187" cy="37275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3" name="TextBox 12">
            <a:extLst>
              <a:ext uri="{FF2B5EF4-FFF2-40B4-BE49-F238E27FC236}">
                <a16:creationId xmlns:a16="http://schemas.microsoft.com/office/drawing/2014/main" id="{25A5A7CF-583C-98FA-12F0-490EAB7D67D2}"/>
              </a:ext>
            </a:extLst>
          </p:cNvPr>
          <p:cNvSpPr txBox="1"/>
          <p:nvPr/>
        </p:nvSpPr>
        <p:spPr>
          <a:xfrm>
            <a:off x="194554" y="6192091"/>
            <a:ext cx="6139542" cy="369332"/>
          </a:xfrm>
          <a:prstGeom prst="rect">
            <a:avLst/>
          </a:prstGeom>
          <a:noFill/>
        </p:spPr>
        <p:txBody>
          <a:bodyPr wrap="square">
            <a:spAutoFit/>
          </a:bodyPr>
          <a:lstStyle/>
          <a:p>
            <a:r>
              <a:rPr lang="en-US" sz="1800" dirty="0"/>
              <a:t>[1]</a:t>
            </a:r>
            <a:endParaRPr lang="en-DE" dirty="0"/>
          </a:p>
        </p:txBody>
      </p:sp>
    </p:spTree>
    <p:extLst>
      <p:ext uri="{BB962C8B-B14F-4D97-AF65-F5344CB8AC3E}">
        <p14:creationId xmlns:p14="http://schemas.microsoft.com/office/powerpoint/2010/main" val="199138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0B893F6D-288A-550A-C796-008FEA91A947}"/>
              </a:ext>
            </a:extLst>
          </p:cNvPr>
          <p:cNvSpPr>
            <a:spLocks noGrp="1"/>
          </p:cNvSpPr>
          <p:nvPr>
            <p:ph type="title"/>
          </p:nvPr>
        </p:nvSpPr>
        <p:spPr/>
        <p:txBody>
          <a:bodyPr/>
          <a:lstStyle/>
          <a:p>
            <a:r>
              <a:rPr lang="de-DE" dirty="0"/>
              <a:t>1.ii. DNV/ST/0437: Load and Site Condistions</a:t>
            </a:r>
            <a:endParaRPr lang="en-GB" dirty="0"/>
          </a:p>
        </p:txBody>
      </p:sp>
      <p:sp>
        <p:nvSpPr>
          <p:cNvPr id="14" name="Textplatzhalter 13">
            <a:extLst>
              <a:ext uri="{FF2B5EF4-FFF2-40B4-BE49-F238E27FC236}">
                <a16:creationId xmlns:a16="http://schemas.microsoft.com/office/drawing/2014/main" id="{74941C66-F67D-47E9-8D08-622A52F2EA14}"/>
              </a:ext>
            </a:extLst>
          </p:cNvPr>
          <p:cNvSpPr>
            <a:spLocks noGrp="1"/>
          </p:cNvSpPr>
          <p:nvPr>
            <p:ph type="body" sz="quarter" idx="18"/>
          </p:nvPr>
        </p:nvSpPr>
        <p:spPr/>
        <p:txBody>
          <a:bodyPr/>
          <a:lstStyle/>
          <a:p>
            <a:r>
              <a:rPr lang="en-GB" dirty="0" err="1"/>
              <a:t>Bakhtyar</a:t>
            </a:r>
            <a:r>
              <a:rPr lang="en-GB" dirty="0"/>
              <a:t> Karim</a:t>
            </a:r>
          </a:p>
        </p:txBody>
      </p:sp>
      <p:sp>
        <p:nvSpPr>
          <p:cNvPr id="2" name="Datumsplatzhalter 1">
            <a:extLst>
              <a:ext uri="{FF2B5EF4-FFF2-40B4-BE49-F238E27FC236}">
                <a16:creationId xmlns:a16="http://schemas.microsoft.com/office/drawing/2014/main" id="{E9FDD682-B40F-C5C9-1855-56A85BC15BC8}"/>
              </a:ext>
            </a:extLst>
          </p:cNvPr>
          <p:cNvSpPr>
            <a:spLocks noGrp="1"/>
          </p:cNvSpPr>
          <p:nvPr>
            <p:ph type="dt" sz="half" idx="19"/>
          </p:nvPr>
        </p:nvSpPr>
        <p:spPr/>
        <p:txBody>
          <a:bodyPr/>
          <a:lstStyle/>
          <a:p>
            <a:fld id="{2D1EE79A-E6D4-4691-9116-935A2AA336A9}" type="datetime1">
              <a:rPr lang="en-GB" smtClean="0"/>
              <a:t>10/11/2025</a:t>
            </a:fld>
            <a:endParaRPr lang="en-GB"/>
          </a:p>
        </p:txBody>
      </p:sp>
      <p:sp>
        <p:nvSpPr>
          <p:cNvPr id="3" name="Fußzeilenplatzhalter 2">
            <a:extLst>
              <a:ext uri="{FF2B5EF4-FFF2-40B4-BE49-F238E27FC236}">
                <a16:creationId xmlns:a16="http://schemas.microsoft.com/office/drawing/2014/main" id="{D668328F-481A-A412-4E89-23ACFE133DF4}"/>
              </a:ext>
            </a:extLst>
          </p:cNvPr>
          <p:cNvSpPr>
            <a:spLocks noGrp="1"/>
          </p:cNvSpPr>
          <p:nvPr>
            <p:ph type="ftr" sz="quarter" idx="20"/>
          </p:nvPr>
        </p:nvSpPr>
        <p:spPr/>
        <p:txBody>
          <a:bodyPr/>
          <a:lstStyle/>
          <a:p>
            <a:r>
              <a:rPr lang="en-GB" dirty="0"/>
              <a:t>Management Team PM / Optimus Syria</a:t>
            </a:r>
          </a:p>
        </p:txBody>
      </p:sp>
      <p:sp>
        <p:nvSpPr>
          <p:cNvPr id="4" name="Foliennummernplatzhalter 3">
            <a:extLst>
              <a:ext uri="{FF2B5EF4-FFF2-40B4-BE49-F238E27FC236}">
                <a16:creationId xmlns:a16="http://schemas.microsoft.com/office/drawing/2014/main" id="{082D30E5-E8EB-4514-D402-7006892C79B8}"/>
              </a:ext>
            </a:extLst>
          </p:cNvPr>
          <p:cNvSpPr>
            <a:spLocks noGrp="1"/>
          </p:cNvSpPr>
          <p:nvPr>
            <p:ph type="sldNum" sz="quarter" idx="21"/>
          </p:nvPr>
        </p:nvSpPr>
        <p:spPr/>
        <p:txBody>
          <a:bodyPr/>
          <a:lstStyle/>
          <a:p>
            <a:fld id="{013F6232-4F06-48BA-8F69-BF531F607829}" type="slidenum">
              <a:rPr lang="en-GB" smtClean="0"/>
              <a:t>4</a:t>
            </a:fld>
            <a:endParaRPr lang="en-GB"/>
          </a:p>
        </p:txBody>
      </p:sp>
      <p:sp>
        <p:nvSpPr>
          <p:cNvPr id="8" name="Google Shape;115;p15">
            <a:extLst>
              <a:ext uri="{FF2B5EF4-FFF2-40B4-BE49-F238E27FC236}">
                <a16:creationId xmlns:a16="http://schemas.microsoft.com/office/drawing/2014/main" id="{F6BCCB38-83FB-F9AA-0E87-363F30AC32C9}"/>
              </a:ext>
            </a:extLst>
          </p:cNvPr>
          <p:cNvSpPr txBox="1"/>
          <p:nvPr/>
        </p:nvSpPr>
        <p:spPr>
          <a:xfrm>
            <a:off x="476249" y="1604198"/>
            <a:ext cx="7800003" cy="1772793"/>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latin typeface="+mj-lt"/>
                <a:ea typeface="DM Sans"/>
                <a:cs typeface="DM Sans"/>
                <a:sym typeface="DM Sans"/>
              </a:rPr>
              <a:t>This is the fundamental input standard for all engineering, dictating the environment the turbine must survive. It provides the methodology for defining all relevant external conditions</a:t>
            </a:r>
            <a:r>
              <a:rPr lang="en-US" dirty="0">
                <a:latin typeface="+mj-lt"/>
                <a:ea typeface="DM Sans"/>
                <a:cs typeface="DM Sans"/>
                <a:sym typeface="DM Sans"/>
              </a:rPr>
              <a:t>,</a:t>
            </a:r>
            <a:r>
              <a:rPr lang="en-US" sz="1800" b="0" i="0" u="none" strike="noStrike" cap="none" dirty="0">
                <a:latin typeface="+mj-lt"/>
                <a:ea typeface="DM Sans"/>
                <a:cs typeface="DM Sans"/>
                <a:sym typeface="DM Sans"/>
              </a:rPr>
              <a:t> including wind turbulence and temperature ranges. Critically, it combines these with operational states into a set of Design Load Cases.</a:t>
            </a:r>
            <a:endParaRPr dirty="0">
              <a:latin typeface="+mj-lt"/>
            </a:endParaRPr>
          </a:p>
        </p:txBody>
      </p:sp>
      <p:sp>
        <p:nvSpPr>
          <p:cNvPr id="9" name="Google Shape;116;p15">
            <a:extLst>
              <a:ext uri="{FF2B5EF4-FFF2-40B4-BE49-F238E27FC236}">
                <a16:creationId xmlns:a16="http://schemas.microsoft.com/office/drawing/2014/main" id="{D2EBA3E8-58DB-48E3-EC80-F9A6CB3F2F50}"/>
              </a:ext>
            </a:extLst>
          </p:cNvPr>
          <p:cNvSpPr txBox="1"/>
          <p:nvPr/>
        </p:nvSpPr>
        <p:spPr>
          <a:xfrm>
            <a:off x="476249" y="3508068"/>
            <a:ext cx="7800003" cy="1772793"/>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latin typeface="+mj-lt"/>
                <a:ea typeface="DM Sans"/>
                <a:cs typeface="DM Sans"/>
                <a:sym typeface="DM Sans"/>
              </a:rPr>
              <a:t>The Load and Dynamic team uses this to determine the extreme and fatigue loads for every component</a:t>
            </a:r>
            <a:r>
              <a:rPr lang="en-US" dirty="0">
                <a:latin typeface="+mj-lt"/>
                <a:ea typeface="DM Sans"/>
                <a:cs typeface="DM Sans"/>
                <a:sym typeface="DM Sans"/>
              </a:rPr>
              <a:t>, t</a:t>
            </a:r>
            <a:r>
              <a:rPr lang="en-US" sz="1800" b="0" i="0" u="none" strike="noStrike" cap="none" dirty="0">
                <a:latin typeface="+mj-lt"/>
                <a:ea typeface="DM Sans"/>
                <a:cs typeface="DM Sans"/>
                <a:sym typeface="DM Sans"/>
              </a:rPr>
              <a:t>he Controller teams must reference this standard because their innovative control strategies are judged by how effectively they mitigate these loads and prevent component failure during specific fault scenarios (grid loss, EOG). </a:t>
            </a:r>
            <a:endParaRPr dirty="0">
              <a:latin typeface="+mj-lt"/>
            </a:endParaRPr>
          </a:p>
        </p:txBody>
      </p:sp>
      <p:pic>
        <p:nvPicPr>
          <p:cNvPr id="10" name="Picture 9" descr="A white paper with black text&#10;&#10;AI-generated content may be incorrect.">
            <a:extLst>
              <a:ext uri="{FF2B5EF4-FFF2-40B4-BE49-F238E27FC236}">
                <a16:creationId xmlns:a16="http://schemas.microsoft.com/office/drawing/2014/main" id="{701EBEE5-5E2D-5A09-4928-9AC9B951CA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33233" y="1780963"/>
            <a:ext cx="2992710" cy="42943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TextBox 10">
            <a:extLst>
              <a:ext uri="{FF2B5EF4-FFF2-40B4-BE49-F238E27FC236}">
                <a16:creationId xmlns:a16="http://schemas.microsoft.com/office/drawing/2014/main" id="{520FE514-B4CA-ABEB-1BA2-6813EB353D02}"/>
              </a:ext>
            </a:extLst>
          </p:cNvPr>
          <p:cNvSpPr txBox="1"/>
          <p:nvPr/>
        </p:nvSpPr>
        <p:spPr>
          <a:xfrm>
            <a:off x="194554" y="6192091"/>
            <a:ext cx="6139542" cy="369332"/>
          </a:xfrm>
          <a:prstGeom prst="rect">
            <a:avLst/>
          </a:prstGeom>
          <a:noFill/>
        </p:spPr>
        <p:txBody>
          <a:bodyPr wrap="square">
            <a:spAutoFit/>
          </a:bodyPr>
          <a:lstStyle/>
          <a:p>
            <a:r>
              <a:rPr lang="en-US" sz="1800" dirty="0"/>
              <a:t>[</a:t>
            </a:r>
            <a:r>
              <a:rPr lang="en-US" dirty="0"/>
              <a:t>2</a:t>
            </a:r>
            <a:r>
              <a:rPr lang="en-US" sz="1800" dirty="0"/>
              <a:t>]</a:t>
            </a:r>
            <a:endParaRPr lang="en-DE" dirty="0"/>
          </a:p>
        </p:txBody>
      </p:sp>
    </p:spTree>
    <p:extLst>
      <p:ext uri="{BB962C8B-B14F-4D97-AF65-F5344CB8AC3E}">
        <p14:creationId xmlns:p14="http://schemas.microsoft.com/office/powerpoint/2010/main" val="3961857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8A466-A401-1E41-CDCC-65760E6D31DC}"/>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87128F0A-2CA1-B088-7D97-77C56A2E9159}"/>
              </a:ext>
            </a:extLst>
          </p:cNvPr>
          <p:cNvSpPr>
            <a:spLocks noGrp="1"/>
          </p:cNvSpPr>
          <p:nvPr>
            <p:ph type="title"/>
          </p:nvPr>
        </p:nvSpPr>
        <p:spPr>
          <a:xfrm>
            <a:off x="0" y="322802"/>
            <a:ext cx="12362512" cy="1325563"/>
          </a:xfrm>
        </p:spPr>
        <p:txBody>
          <a:bodyPr/>
          <a:lstStyle/>
          <a:p>
            <a:r>
              <a:rPr lang="de-DE" dirty="0"/>
              <a:t>1.iii. DNVGL/ST/0376: Rotor Blades for Wind Turbines</a:t>
            </a:r>
            <a:endParaRPr lang="en-GB" dirty="0"/>
          </a:p>
        </p:txBody>
      </p:sp>
      <p:sp>
        <p:nvSpPr>
          <p:cNvPr id="14" name="Textplatzhalter 13">
            <a:extLst>
              <a:ext uri="{FF2B5EF4-FFF2-40B4-BE49-F238E27FC236}">
                <a16:creationId xmlns:a16="http://schemas.microsoft.com/office/drawing/2014/main" id="{14FA608C-BF88-E055-55C9-0FA45B7B8245}"/>
              </a:ext>
            </a:extLst>
          </p:cNvPr>
          <p:cNvSpPr>
            <a:spLocks noGrp="1"/>
          </p:cNvSpPr>
          <p:nvPr>
            <p:ph type="body" sz="quarter" idx="18"/>
          </p:nvPr>
        </p:nvSpPr>
        <p:spPr/>
        <p:txBody>
          <a:bodyPr/>
          <a:lstStyle/>
          <a:p>
            <a:r>
              <a:rPr lang="en-GB"/>
              <a:t>Bakhtyar Karim</a:t>
            </a:r>
            <a:endParaRPr lang="en-GB" dirty="0"/>
          </a:p>
        </p:txBody>
      </p:sp>
      <p:sp>
        <p:nvSpPr>
          <p:cNvPr id="2" name="Datumsplatzhalter 1">
            <a:extLst>
              <a:ext uri="{FF2B5EF4-FFF2-40B4-BE49-F238E27FC236}">
                <a16:creationId xmlns:a16="http://schemas.microsoft.com/office/drawing/2014/main" id="{15BD9573-64AD-31F1-B0F1-348EF02510D4}"/>
              </a:ext>
            </a:extLst>
          </p:cNvPr>
          <p:cNvSpPr>
            <a:spLocks noGrp="1"/>
          </p:cNvSpPr>
          <p:nvPr>
            <p:ph type="dt" sz="half" idx="19"/>
          </p:nvPr>
        </p:nvSpPr>
        <p:spPr/>
        <p:txBody>
          <a:bodyPr/>
          <a:lstStyle/>
          <a:p>
            <a:fld id="{2D1EE79A-E6D4-4691-9116-935A2AA336A9}" type="datetime1">
              <a:rPr lang="en-GB" smtClean="0"/>
              <a:t>10/11/2025</a:t>
            </a:fld>
            <a:endParaRPr lang="en-GB"/>
          </a:p>
        </p:txBody>
      </p:sp>
      <p:sp>
        <p:nvSpPr>
          <p:cNvPr id="3" name="Fußzeilenplatzhalter 2">
            <a:extLst>
              <a:ext uri="{FF2B5EF4-FFF2-40B4-BE49-F238E27FC236}">
                <a16:creationId xmlns:a16="http://schemas.microsoft.com/office/drawing/2014/main" id="{ED48EF6D-05BB-2C42-07FB-E3DF0E3437F6}"/>
              </a:ext>
            </a:extLst>
          </p:cNvPr>
          <p:cNvSpPr>
            <a:spLocks noGrp="1"/>
          </p:cNvSpPr>
          <p:nvPr>
            <p:ph type="ftr" sz="quarter" idx="20"/>
          </p:nvPr>
        </p:nvSpPr>
        <p:spPr/>
        <p:txBody>
          <a:bodyPr/>
          <a:lstStyle/>
          <a:p>
            <a:r>
              <a:rPr lang="en-GB"/>
              <a:t>Management Team PM / Optimus Syria</a:t>
            </a:r>
            <a:endParaRPr lang="en-GB" dirty="0"/>
          </a:p>
        </p:txBody>
      </p:sp>
      <p:sp>
        <p:nvSpPr>
          <p:cNvPr id="4" name="Foliennummernplatzhalter 3">
            <a:extLst>
              <a:ext uri="{FF2B5EF4-FFF2-40B4-BE49-F238E27FC236}">
                <a16:creationId xmlns:a16="http://schemas.microsoft.com/office/drawing/2014/main" id="{38DCE5B9-0807-3029-7FFC-4537806A026C}"/>
              </a:ext>
            </a:extLst>
          </p:cNvPr>
          <p:cNvSpPr>
            <a:spLocks noGrp="1"/>
          </p:cNvSpPr>
          <p:nvPr>
            <p:ph type="sldNum" sz="quarter" idx="21"/>
          </p:nvPr>
        </p:nvSpPr>
        <p:spPr/>
        <p:txBody>
          <a:bodyPr/>
          <a:lstStyle/>
          <a:p>
            <a:fld id="{013F6232-4F06-48BA-8F69-BF531F607829}" type="slidenum">
              <a:rPr lang="en-GB" smtClean="0"/>
              <a:t>5</a:t>
            </a:fld>
            <a:endParaRPr lang="en-GB"/>
          </a:p>
        </p:txBody>
      </p:sp>
      <p:sp>
        <p:nvSpPr>
          <p:cNvPr id="10" name="Inhaltsplatzhalter 2">
            <a:extLst>
              <a:ext uri="{FF2B5EF4-FFF2-40B4-BE49-F238E27FC236}">
                <a16:creationId xmlns:a16="http://schemas.microsoft.com/office/drawing/2014/main" id="{60F38C46-1F98-037C-8B1E-C5F7C4D3496B}"/>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971550" indent="-514350" algn="l" defTabSz="914400" rtl="0" eaLnBrk="1" latinLnBrk="0" hangingPunct="1">
              <a:lnSpc>
                <a:spcPct val="90000"/>
              </a:lnSpc>
              <a:spcBef>
                <a:spcPts val="500"/>
              </a:spcBef>
              <a:buFont typeface="+mj-lt"/>
              <a:buAutoNum type="romanLcPeriod"/>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dirty="0"/>
          </a:p>
        </p:txBody>
      </p:sp>
      <p:sp>
        <p:nvSpPr>
          <p:cNvPr id="7" name="Google Shape;128;p16">
            <a:extLst>
              <a:ext uri="{FF2B5EF4-FFF2-40B4-BE49-F238E27FC236}">
                <a16:creationId xmlns:a16="http://schemas.microsoft.com/office/drawing/2014/main" id="{CABC0BC9-3AF7-BA20-E9E5-23439FF274C9}"/>
              </a:ext>
            </a:extLst>
          </p:cNvPr>
          <p:cNvSpPr txBox="1"/>
          <p:nvPr/>
        </p:nvSpPr>
        <p:spPr>
          <a:xfrm>
            <a:off x="448945" y="1822935"/>
            <a:ext cx="7953375" cy="2215991"/>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latin typeface="+mj-lt"/>
                <a:ea typeface="DM Sans"/>
                <a:cs typeface="DM Sans"/>
                <a:sym typeface="DM Sans"/>
              </a:rPr>
              <a:t>This document is the exclusive technical guide for our composite rotor blades</a:t>
            </a:r>
            <a:r>
              <a:rPr lang="en-US" dirty="0">
                <a:latin typeface="+mj-lt"/>
                <a:ea typeface="DM Sans"/>
                <a:cs typeface="DM Sans"/>
                <a:sym typeface="DM Sans"/>
              </a:rPr>
              <a:t> </a:t>
            </a:r>
            <a:r>
              <a:rPr lang="en-US" sz="1800" b="0" i="0" u="none" strike="noStrike" cap="none" dirty="0">
                <a:latin typeface="+mj-lt"/>
                <a:ea typeface="DM Sans"/>
                <a:cs typeface="DM Sans"/>
                <a:sym typeface="DM Sans"/>
              </a:rPr>
              <a:t>, governing design, materials, manufacturing quality, and verification through testing. It mandates verification against specific FRP failure modes: </a:t>
            </a:r>
            <a:r>
              <a:rPr lang="en-US" sz="1800" b="0" i="0" u="none" strike="noStrike" cap="none" dirty="0" err="1">
                <a:latin typeface="+mj-lt"/>
                <a:ea typeface="DM Sans"/>
                <a:cs typeface="DM Sans"/>
                <a:sym typeface="DM Sans"/>
              </a:rPr>
              <a:t>Fibre</a:t>
            </a:r>
            <a:r>
              <a:rPr lang="en-US" sz="1800" b="0" i="0" u="none" strike="noStrike" cap="none" dirty="0">
                <a:latin typeface="+mj-lt"/>
                <a:ea typeface="DM Sans"/>
                <a:cs typeface="DM Sans"/>
                <a:sym typeface="DM Sans"/>
              </a:rPr>
              <a:t> Failure (FF), Inter </a:t>
            </a:r>
            <a:r>
              <a:rPr lang="en-US" sz="1800" b="0" i="0" u="none" strike="noStrike" cap="none" dirty="0" err="1">
                <a:latin typeface="+mj-lt"/>
                <a:ea typeface="DM Sans"/>
                <a:cs typeface="DM Sans"/>
                <a:sym typeface="DM Sans"/>
              </a:rPr>
              <a:t>Fibre</a:t>
            </a:r>
            <a:r>
              <a:rPr lang="en-US" sz="1800" b="0" i="0" u="none" strike="noStrike" cap="none" dirty="0">
                <a:latin typeface="+mj-lt"/>
                <a:ea typeface="DM Sans"/>
                <a:cs typeface="DM Sans"/>
                <a:sym typeface="DM Sans"/>
              </a:rPr>
              <a:t> Failure (IFF), and Buckling. It specifies the partial safety factors needed for composite materials to account for degradation and temperature effects.</a:t>
            </a:r>
            <a:endParaRPr dirty="0">
              <a:latin typeface="+mj-lt"/>
            </a:endParaRPr>
          </a:p>
        </p:txBody>
      </p:sp>
      <p:sp>
        <p:nvSpPr>
          <p:cNvPr id="8" name="Google Shape;129;p16">
            <a:extLst>
              <a:ext uri="{FF2B5EF4-FFF2-40B4-BE49-F238E27FC236}">
                <a16:creationId xmlns:a16="http://schemas.microsoft.com/office/drawing/2014/main" id="{F7FDA765-033D-3321-F38A-A7E7C0FC8824}"/>
              </a:ext>
            </a:extLst>
          </p:cNvPr>
          <p:cNvSpPr txBox="1"/>
          <p:nvPr/>
        </p:nvSpPr>
        <p:spPr>
          <a:xfrm>
            <a:off x="448392" y="4221548"/>
            <a:ext cx="7953375" cy="886397"/>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latin typeface="+mj-lt"/>
                <a:ea typeface="DM Sans"/>
                <a:cs typeface="DM Sans"/>
                <a:sym typeface="DM Sans"/>
              </a:rPr>
              <a:t>For Rotor </a:t>
            </a:r>
            <a:r>
              <a:rPr lang="en-US" dirty="0">
                <a:latin typeface="+mj-lt"/>
                <a:ea typeface="DM Sans"/>
                <a:cs typeface="DM Sans"/>
                <a:sym typeface="DM Sans"/>
              </a:rPr>
              <a:t>Blade S</a:t>
            </a:r>
            <a:r>
              <a:rPr lang="en-US" sz="1800" b="0" i="0" u="none" strike="noStrike" cap="none" dirty="0">
                <a:latin typeface="+mj-lt"/>
                <a:ea typeface="DM Sans"/>
                <a:cs typeface="DM Sans"/>
                <a:sym typeface="DM Sans"/>
              </a:rPr>
              <a:t>tructures and Aerodynamics teams, this standard defines the technical acceptance criteria for their design. </a:t>
            </a:r>
            <a:endParaRPr dirty="0">
              <a:latin typeface="+mj-lt"/>
            </a:endParaRPr>
          </a:p>
        </p:txBody>
      </p:sp>
      <p:pic>
        <p:nvPicPr>
          <p:cNvPr id="17" name="Picture 16" descr="A screenshot of a computer&#10;&#10;AI-generated content may be incorrect.">
            <a:extLst>
              <a:ext uri="{FF2B5EF4-FFF2-40B4-BE49-F238E27FC236}">
                <a16:creationId xmlns:a16="http://schemas.microsoft.com/office/drawing/2014/main" id="{33FE66FD-DCF9-A8D8-44F9-B2356C3C2CF9}"/>
              </a:ext>
            </a:extLst>
          </p:cNvPr>
          <p:cNvPicPr>
            <a:picLocks noChangeAspect="1"/>
          </p:cNvPicPr>
          <p:nvPr/>
        </p:nvPicPr>
        <p:blipFill>
          <a:blip r:embed="rId2">
            <a:extLst>
              <a:ext uri="{28A0092B-C50C-407E-A947-70E740481C1C}">
                <a14:useLocalDpi xmlns:a14="http://schemas.microsoft.com/office/drawing/2010/main" val="0"/>
              </a:ext>
            </a:extLst>
          </a:blip>
          <a:srcRect b="5362"/>
          <a:stretch>
            <a:fillRect/>
          </a:stretch>
        </p:blipFill>
        <p:spPr>
          <a:xfrm>
            <a:off x="8596395" y="1648365"/>
            <a:ext cx="3018662" cy="40708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8" name="TextBox 17">
            <a:extLst>
              <a:ext uri="{FF2B5EF4-FFF2-40B4-BE49-F238E27FC236}">
                <a16:creationId xmlns:a16="http://schemas.microsoft.com/office/drawing/2014/main" id="{2EB42CE3-AAB4-D433-EDD2-07A1F151735F}"/>
              </a:ext>
            </a:extLst>
          </p:cNvPr>
          <p:cNvSpPr txBox="1"/>
          <p:nvPr/>
        </p:nvSpPr>
        <p:spPr>
          <a:xfrm>
            <a:off x="194554" y="6192091"/>
            <a:ext cx="6139542" cy="369332"/>
          </a:xfrm>
          <a:prstGeom prst="rect">
            <a:avLst/>
          </a:prstGeom>
          <a:noFill/>
        </p:spPr>
        <p:txBody>
          <a:bodyPr wrap="square">
            <a:spAutoFit/>
          </a:bodyPr>
          <a:lstStyle/>
          <a:p>
            <a:r>
              <a:rPr lang="en-US" sz="1800" dirty="0"/>
              <a:t>[</a:t>
            </a:r>
            <a:r>
              <a:rPr lang="en-US" dirty="0"/>
              <a:t>3</a:t>
            </a:r>
            <a:r>
              <a:rPr lang="en-US" sz="1800" dirty="0"/>
              <a:t>]</a:t>
            </a:r>
            <a:endParaRPr lang="en-DE" dirty="0"/>
          </a:p>
        </p:txBody>
      </p:sp>
    </p:spTree>
    <p:extLst>
      <p:ext uri="{BB962C8B-B14F-4D97-AF65-F5344CB8AC3E}">
        <p14:creationId xmlns:p14="http://schemas.microsoft.com/office/powerpoint/2010/main" val="2520685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B7BEC-C7E0-6F78-C4DD-3B4FBB524DE5}"/>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236C325C-58BA-9994-9796-C989FD5F3265}"/>
              </a:ext>
            </a:extLst>
          </p:cNvPr>
          <p:cNvSpPr>
            <a:spLocks noGrp="1"/>
          </p:cNvSpPr>
          <p:nvPr>
            <p:ph type="title"/>
          </p:nvPr>
        </p:nvSpPr>
        <p:spPr>
          <a:xfrm>
            <a:off x="0" y="322802"/>
            <a:ext cx="12362512" cy="1325563"/>
          </a:xfrm>
        </p:spPr>
        <p:txBody>
          <a:bodyPr/>
          <a:lstStyle/>
          <a:p>
            <a:r>
              <a:rPr lang="de-DE" dirty="0"/>
              <a:t>1.iv. DNVGL/ST/0361: Machinery for Wind Turbines</a:t>
            </a:r>
            <a:endParaRPr lang="en-GB" dirty="0"/>
          </a:p>
        </p:txBody>
      </p:sp>
      <p:sp>
        <p:nvSpPr>
          <p:cNvPr id="14" name="Textplatzhalter 13">
            <a:extLst>
              <a:ext uri="{FF2B5EF4-FFF2-40B4-BE49-F238E27FC236}">
                <a16:creationId xmlns:a16="http://schemas.microsoft.com/office/drawing/2014/main" id="{0421E78F-9B06-E7D7-EDC7-DF56422E8C12}"/>
              </a:ext>
            </a:extLst>
          </p:cNvPr>
          <p:cNvSpPr>
            <a:spLocks noGrp="1"/>
          </p:cNvSpPr>
          <p:nvPr>
            <p:ph type="body" sz="quarter" idx="18"/>
          </p:nvPr>
        </p:nvSpPr>
        <p:spPr/>
        <p:txBody>
          <a:bodyPr/>
          <a:lstStyle/>
          <a:p>
            <a:r>
              <a:rPr lang="en-GB"/>
              <a:t>Bakhtyar Karim</a:t>
            </a:r>
            <a:endParaRPr lang="en-GB" dirty="0"/>
          </a:p>
        </p:txBody>
      </p:sp>
      <p:sp>
        <p:nvSpPr>
          <p:cNvPr id="2" name="Datumsplatzhalter 1">
            <a:extLst>
              <a:ext uri="{FF2B5EF4-FFF2-40B4-BE49-F238E27FC236}">
                <a16:creationId xmlns:a16="http://schemas.microsoft.com/office/drawing/2014/main" id="{E0F27F4D-D202-D253-210B-F5110537000D}"/>
              </a:ext>
            </a:extLst>
          </p:cNvPr>
          <p:cNvSpPr>
            <a:spLocks noGrp="1"/>
          </p:cNvSpPr>
          <p:nvPr>
            <p:ph type="dt" sz="half" idx="19"/>
          </p:nvPr>
        </p:nvSpPr>
        <p:spPr/>
        <p:txBody>
          <a:bodyPr/>
          <a:lstStyle/>
          <a:p>
            <a:fld id="{2D1EE79A-E6D4-4691-9116-935A2AA336A9}" type="datetime1">
              <a:rPr lang="en-GB" smtClean="0"/>
              <a:t>10/11/2025</a:t>
            </a:fld>
            <a:endParaRPr lang="en-GB"/>
          </a:p>
        </p:txBody>
      </p:sp>
      <p:sp>
        <p:nvSpPr>
          <p:cNvPr id="3" name="Fußzeilenplatzhalter 2">
            <a:extLst>
              <a:ext uri="{FF2B5EF4-FFF2-40B4-BE49-F238E27FC236}">
                <a16:creationId xmlns:a16="http://schemas.microsoft.com/office/drawing/2014/main" id="{D463ED65-D8F7-1C9D-F34E-FF622E45E78D}"/>
              </a:ext>
            </a:extLst>
          </p:cNvPr>
          <p:cNvSpPr>
            <a:spLocks noGrp="1"/>
          </p:cNvSpPr>
          <p:nvPr>
            <p:ph type="ftr" sz="quarter" idx="20"/>
          </p:nvPr>
        </p:nvSpPr>
        <p:spPr/>
        <p:txBody>
          <a:bodyPr/>
          <a:lstStyle/>
          <a:p>
            <a:r>
              <a:rPr lang="en-GB"/>
              <a:t>Management Team PM / Optimus Syria</a:t>
            </a:r>
            <a:endParaRPr lang="en-GB" dirty="0"/>
          </a:p>
        </p:txBody>
      </p:sp>
      <p:sp>
        <p:nvSpPr>
          <p:cNvPr id="4" name="Foliennummernplatzhalter 3">
            <a:extLst>
              <a:ext uri="{FF2B5EF4-FFF2-40B4-BE49-F238E27FC236}">
                <a16:creationId xmlns:a16="http://schemas.microsoft.com/office/drawing/2014/main" id="{904CD817-63C7-9EE8-8E0B-A07598406225}"/>
              </a:ext>
            </a:extLst>
          </p:cNvPr>
          <p:cNvSpPr>
            <a:spLocks noGrp="1"/>
          </p:cNvSpPr>
          <p:nvPr>
            <p:ph type="sldNum" sz="quarter" idx="21"/>
          </p:nvPr>
        </p:nvSpPr>
        <p:spPr/>
        <p:txBody>
          <a:bodyPr/>
          <a:lstStyle/>
          <a:p>
            <a:fld id="{013F6232-4F06-48BA-8F69-BF531F607829}" type="slidenum">
              <a:rPr lang="en-GB" smtClean="0"/>
              <a:t>6</a:t>
            </a:fld>
            <a:endParaRPr lang="en-GB"/>
          </a:p>
        </p:txBody>
      </p:sp>
      <p:sp>
        <p:nvSpPr>
          <p:cNvPr id="10" name="Inhaltsplatzhalter 2">
            <a:extLst>
              <a:ext uri="{FF2B5EF4-FFF2-40B4-BE49-F238E27FC236}">
                <a16:creationId xmlns:a16="http://schemas.microsoft.com/office/drawing/2014/main" id="{171BAA4F-93E7-4643-E5F6-E6D300BC3B20}"/>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971550" indent="-514350" algn="l" defTabSz="914400" rtl="0" eaLnBrk="1" latinLnBrk="0" hangingPunct="1">
              <a:lnSpc>
                <a:spcPct val="90000"/>
              </a:lnSpc>
              <a:spcBef>
                <a:spcPts val="500"/>
              </a:spcBef>
              <a:buFont typeface="+mj-lt"/>
              <a:buAutoNum type="romanLcPeriod"/>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dirty="0"/>
          </a:p>
        </p:txBody>
      </p:sp>
      <p:sp>
        <p:nvSpPr>
          <p:cNvPr id="9" name="Google Shape;141;p17">
            <a:extLst>
              <a:ext uri="{FF2B5EF4-FFF2-40B4-BE49-F238E27FC236}">
                <a16:creationId xmlns:a16="http://schemas.microsoft.com/office/drawing/2014/main" id="{0877660C-A430-23A6-E62B-E32529513E2D}"/>
              </a:ext>
            </a:extLst>
          </p:cNvPr>
          <p:cNvSpPr txBox="1"/>
          <p:nvPr/>
        </p:nvSpPr>
        <p:spPr>
          <a:xfrm>
            <a:off x="401320" y="1811288"/>
            <a:ext cx="7360920" cy="1772793"/>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latin typeface="+mj-lt"/>
                <a:ea typeface="DM Sans"/>
                <a:cs typeface="DM Sans"/>
                <a:sym typeface="DM Sans"/>
              </a:rPr>
              <a:t>This standard governs the design and verification of all mechanical machinery in the nacelle, gearbox, bearings</a:t>
            </a:r>
            <a:r>
              <a:rPr lang="en-US" dirty="0">
                <a:latin typeface="+mj-lt"/>
                <a:ea typeface="DM Sans"/>
                <a:cs typeface="DM Sans"/>
                <a:sym typeface="DM Sans"/>
              </a:rPr>
              <a:t> also </a:t>
            </a:r>
            <a:r>
              <a:rPr lang="en-US" sz="1800" b="0" i="0" u="none" strike="noStrike" cap="none" dirty="0">
                <a:latin typeface="+mj-lt"/>
                <a:ea typeface="DM Sans"/>
                <a:cs typeface="DM Sans"/>
                <a:sym typeface="DM Sans"/>
              </a:rPr>
              <a:t>brake, pitch and yaw system. It provides the specific structural and fatigue analysis rules for metallic components, ensuring they safely manage the extreme torque and load.</a:t>
            </a:r>
            <a:endParaRPr dirty="0">
              <a:latin typeface="+mj-lt"/>
            </a:endParaRPr>
          </a:p>
        </p:txBody>
      </p:sp>
      <p:pic>
        <p:nvPicPr>
          <p:cNvPr id="13" name="Picture 12" descr="A white paper with black text&#10;&#10;AI-generated content may be incorrect.">
            <a:extLst>
              <a:ext uri="{FF2B5EF4-FFF2-40B4-BE49-F238E27FC236}">
                <a16:creationId xmlns:a16="http://schemas.microsoft.com/office/drawing/2014/main" id="{834A2568-A877-9B00-3A61-1452A368AC5B}"/>
              </a:ext>
            </a:extLst>
          </p:cNvPr>
          <p:cNvPicPr>
            <a:picLocks noChangeAspect="1"/>
          </p:cNvPicPr>
          <p:nvPr/>
        </p:nvPicPr>
        <p:blipFill>
          <a:blip r:embed="rId2">
            <a:extLst>
              <a:ext uri="{28A0092B-C50C-407E-A947-70E740481C1C}">
                <a14:useLocalDpi xmlns:a14="http://schemas.microsoft.com/office/drawing/2010/main" val="0"/>
              </a:ext>
            </a:extLst>
          </a:blip>
          <a:srcRect r="2039" b="1274"/>
          <a:stretch>
            <a:fillRect/>
          </a:stretch>
        </p:blipFill>
        <p:spPr>
          <a:xfrm>
            <a:off x="8199120" y="1596817"/>
            <a:ext cx="3322840" cy="47808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5" name="TextBox 14">
            <a:extLst>
              <a:ext uri="{FF2B5EF4-FFF2-40B4-BE49-F238E27FC236}">
                <a16:creationId xmlns:a16="http://schemas.microsoft.com/office/drawing/2014/main" id="{558D034C-B30E-7E45-6621-11FAE2B17C59}"/>
              </a:ext>
            </a:extLst>
          </p:cNvPr>
          <p:cNvSpPr txBox="1"/>
          <p:nvPr/>
        </p:nvSpPr>
        <p:spPr>
          <a:xfrm>
            <a:off x="194554" y="6192091"/>
            <a:ext cx="6139542" cy="369332"/>
          </a:xfrm>
          <a:prstGeom prst="rect">
            <a:avLst/>
          </a:prstGeom>
          <a:noFill/>
        </p:spPr>
        <p:txBody>
          <a:bodyPr wrap="square">
            <a:spAutoFit/>
          </a:bodyPr>
          <a:lstStyle/>
          <a:p>
            <a:r>
              <a:rPr lang="en-US" sz="1800" dirty="0"/>
              <a:t>[</a:t>
            </a:r>
            <a:r>
              <a:rPr lang="en-US" dirty="0"/>
              <a:t>4</a:t>
            </a:r>
            <a:r>
              <a:rPr lang="en-US" sz="1800" dirty="0"/>
              <a:t>]</a:t>
            </a:r>
            <a:endParaRPr lang="en-DE" dirty="0"/>
          </a:p>
        </p:txBody>
      </p:sp>
      <p:sp>
        <p:nvSpPr>
          <p:cNvPr id="6" name="Google Shape;141;p17">
            <a:extLst>
              <a:ext uri="{FF2B5EF4-FFF2-40B4-BE49-F238E27FC236}">
                <a16:creationId xmlns:a16="http://schemas.microsoft.com/office/drawing/2014/main" id="{ED15FE80-8032-9722-EC22-7BBC57EFA1CB}"/>
              </a:ext>
            </a:extLst>
          </p:cNvPr>
          <p:cNvSpPr txBox="1"/>
          <p:nvPr/>
        </p:nvSpPr>
        <p:spPr>
          <a:xfrm>
            <a:off x="401320" y="3761341"/>
            <a:ext cx="7360920" cy="2492990"/>
          </a:xfrm>
          <a:prstGeom prst="rect">
            <a:avLst/>
          </a:prstGeom>
          <a:noFill/>
          <a:ln>
            <a:noFill/>
          </a:ln>
        </p:spPr>
        <p:txBody>
          <a:bodyPr spcFirstLastPara="1" wrap="square" lIns="0" tIns="0" rIns="0" bIns="0" anchor="t" anchorCtr="0">
            <a:spAutoFit/>
          </a:bodyPr>
          <a:lstStyle/>
          <a:p>
            <a:pPr algn="just">
              <a:lnSpc>
                <a:spcPct val="150000"/>
              </a:lnSpc>
            </a:pPr>
            <a:r>
              <a:rPr lang="en-US" dirty="0"/>
              <a:t>This guideline gives the mechanical teams the main instructions they need. It tells them how to analyze the engine and gears so we can stop resonances. More importantly, this rulebook makes sure safety systems like the brakes and pitch control are reliable, so that every moving part on the turbine is safe for long term use.</a:t>
            </a:r>
          </a:p>
          <a:p>
            <a:pPr marL="0" marR="0" lvl="0" indent="0" algn="l" rtl="0">
              <a:lnSpc>
                <a:spcPct val="150000"/>
              </a:lnSpc>
              <a:spcBef>
                <a:spcPts val="0"/>
              </a:spcBef>
              <a:spcAft>
                <a:spcPts val="0"/>
              </a:spcAft>
              <a:buNone/>
            </a:pPr>
            <a:endParaRPr dirty="0">
              <a:latin typeface="+mj-lt"/>
            </a:endParaRPr>
          </a:p>
        </p:txBody>
      </p:sp>
    </p:spTree>
    <p:extLst>
      <p:ext uri="{BB962C8B-B14F-4D97-AF65-F5344CB8AC3E}">
        <p14:creationId xmlns:p14="http://schemas.microsoft.com/office/powerpoint/2010/main" val="3162505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F42AF-C1C4-0D0B-FAED-E4BD1C094676}"/>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378FC20C-587B-A0E5-A034-5125DC10FF16}"/>
              </a:ext>
            </a:extLst>
          </p:cNvPr>
          <p:cNvSpPr>
            <a:spLocks noGrp="1"/>
          </p:cNvSpPr>
          <p:nvPr>
            <p:ph type="title"/>
          </p:nvPr>
        </p:nvSpPr>
        <p:spPr>
          <a:xfrm>
            <a:off x="0" y="305142"/>
            <a:ext cx="12362512" cy="1325563"/>
          </a:xfrm>
        </p:spPr>
        <p:txBody>
          <a:bodyPr>
            <a:normAutofit/>
          </a:bodyPr>
          <a:lstStyle/>
          <a:p>
            <a:r>
              <a:rPr lang="de-DE" sz="4000" dirty="0"/>
              <a:t>1.v. DNVGL/ST/0126: Support Structure for Wind Turbines</a:t>
            </a:r>
            <a:endParaRPr lang="en-GB" sz="4000" dirty="0"/>
          </a:p>
        </p:txBody>
      </p:sp>
      <p:sp>
        <p:nvSpPr>
          <p:cNvPr id="14" name="Textplatzhalter 13">
            <a:extLst>
              <a:ext uri="{FF2B5EF4-FFF2-40B4-BE49-F238E27FC236}">
                <a16:creationId xmlns:a16="http://schemas.microsoft.com/office/drawing/2014/main" id="{42C6FC12-C84D-3233-CE5A-C517D0EC14F6}"/>
              </a:ext>
            </a:extLst>
          </p:cNvPr>
          <p:cNvSpPr>
            <a:spLocks noGrp="1"/>
          </p:cNvSpPr>
          <p:nvPr>
            <p:ph type="body" sz="quarter" idx="18"/>
          </p:nvPr>
        </p:nvSpPr>
        <p:spPr/>
        <p:txBody>
          <a:bodyPr/>
          <a:lstStyle/>
          <a:p>
            <a:r>
              <a:rPr lang="en-GB"/>
              <a:t>Bakhtyar Karim</a:t>
            </a:r>
            <a:endParaRPr lang="en-GB" dirty="0"/>
          </a:p>
        </p:txBody>
      </p:sp>
      <p:sp>
        <p:nvSpPr>
          <p:cNvPr id="2" name="Datumsplatzhalter 1">
            <a:extLst>
              <a:ext uri="{FF2B5EF4-FFF2-40B4-BE49-F238E27FC236}">
                <a16:creationId xmlns:a16="http://schemas.microsoft.com/office/drawing/2014/main" id="{43638404-4BB3-8763-E3EE-FD92BFB74388}"/>
              </a:ext>
            </a:extLst>
          </p:cNvPr>
          <p:cNvSpPr>
            <a:spLocks noGrp="1"/>
          </p:cNvSpPr>
          <p:nvPr>
            <p:ph type="dt" sz="half" idx="19"/>
          </p:nvPr>
        </p:nvSpPr>
        <p:spPr/>
        <p:txBody>
          <a:bodyPr/>
          <a:lstStyle/>
          <a:p>
            <a:fld id="{2D1EE79A-E6D4-4691-9116-935A2AA336A9}" type="datetime1">
              <a:rPr lang="en-GB" smtClean="0"/>
              <a:t>10/11/2025</a:t>
            </a:fld>
            <a:endParaRPr lang="en-GB"/>
          </a:p>
        </p:txBody>
      </p:sp>
      <p:sp>
        <p:nvSpPr>
          <p:cNvPr id="3" name="Fußzeilenplatzhalter 2">
            <a:extLst>
              <a:ext uri="{FF2B5EF4-FFF2-40B4-BE49-F238E27FC236}">
                <a16:creationId xmlns:a16="http://schemas.microsoft.com/office/drawing/2014/main" id="{336C3E6E-BE3F-C7AC-833D-81221831A218}"/>
              </a:ext>
            </a:extLst>
          </p:cNvPr>
          <p:cNvSpPr>
            <a:spLocks noGrp="1"/>
          </p:cNvSpPr>
          <p:nvPr>
            <p:ph type="ftr" sz="quarter" idx="20"/>
          </p:nvPr>
        </p:nvSpPr>
        <p:spPr/>
        <p:txBody>
          <a:bodyPr/>
          <a:lstStyle/>
          <a:p>
            <a:r>
              <a:rPr lang="en-GB"/>
              <a:t>Management Team PM / Optimus Syria</a:t>
            </a:r>
            <a:endParaRPr lang="en-GB" dirty="0"/>
          </a:p>
        </p:txBody>
      </p:sp>
      <p:sp>
        <p:nvSpPr>
          <p:cNvPr id="4" name="Foliennummernplatzhalter 3">
            <a:extLst>
              <a:ext uri="{FF2B5EF4-FFF2-40B4-BE49-F238E27FC236}">
                <a16:creationId xmlns:a16="http://schemas.microsoft.com/office/drawing/2014/main" id="{DA1E5E41-C9B7-AFC0-6CDD-98F183A21627}"/>
              </a:ext>
            </a:extLst>
          </p:cNvPr>
          <p:cNvSpPr>
            <a:spLocks noGrp="1"/>
          </p:cNvSpPr>
          <p:nvPr>
            <p:ph type="sldNum" sz="quarter" idx="21"/>
          </p:nvPr>
        </p:nvSpPr>
        <p:spPr/>
        <p:txBody>
          <a:bodyPr/>
          <a:lstStyle/>
          <a:p>
            <a:fld id="{013F6232-4F06-48BA-8F69-BF531F607829}" type="slidenum">
              <a:rPr lang="en-GB" smtClean="0"/>
              <a:t>7</a:t>
            </a:fld>
            <a:endParaRPr lang="en-GB"/>
          </a:p>
        </p:txBody>
      </p:sp>
      <p:sp>
        <p:nvSpPr>
          <p:cNvPr id="10" name="Inhaltsplatzhalter 2">
            <a:extLst>
              <a:ext uri="{FF2B5EF4-FFF2-40B4-BE49-F238E27FC236}">
                <a16:creationId xmlns:a16="http://schemas.microsoft.com/office/drawing/2014/main" id="{E964D8D6-704C-F881-90C4-D8A517AB8355}"/>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971550" indent="-514350" algn="l" defTabSz="914400" rtl="0" eaLnBrk="1" latinLnBrk="0" hangingPunct="1">
              <a:lnSpc>
                <a:spcPct val="90000"/>
              </a:lnSpc>
              <a:spcBef>
                <a:spcPts val="500"/>
              </a:spcBef>
              <a:buFont typeface="+mj-lt"/>
              <a:buAutoNum type="romanLcPeriod"/>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dirty="0"/>
          </a:p>
        </p:txBody>
      </p:sp>
      <p:sp>
        <p:nvSpPr>
          <p:cNvPr id="7" name="Google Shape;154;p18">
            <a:extLst>
              <a:ext uri="{FF2B5EF4-FFF2-40B4-BE49-F238E27FC236}">
                <a16:creationId xmlns:a16="http://schemas.microsoft.com/office/drawing/2014/main" id="{C7CD91D1-3066-A547-8E2B-F1E2DBAB63D4}"/>
              </a:ext>
            </a:extLst>
          </p:cNvPr>
          <p:cNvSpPr txBox="1"/>
          <p:nvPr/>
        </p:nvSpPr>
        <p:spPr>
          <a:xfrm>
            <a:off x="320040" y="1478502"/>
            <a:ext cx="7950200" cy="2215991"/>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latin typeface="+mj-lt"/>
                <a:ea typeface="DM Sans"/>
                <a:cs typeface="DM Sans"/>
                <a:sym typeface="DM Sans"/>
              </a:rPr>
              <a:t>This is the definitive technical code for the structural design of the tower and foundation teams</a:t>
            </a:r>
            <a:r>
              <a:rPr lang="en-US" dirty="0">
                <a:latin typeface="+mj-lt"/>
                <a:ea typeface="DM Sans"/>
                <a:cs typeface="DM Sans"/>
                <a:sym typeface="DM Sans"/>
              </a:rPr>
              <a:t>, i</a:t>
            </a:r>
            <a:r>
              <a:rPr lang="en-US" sz="1800" b="0" i="0" u="none" strike="noStrike" cap="none" dirty="0">
                <a:latin typeface="+mj-lt"/>
                <a:ea typeface="DM Sans"/>
                <a:cs typeface="DM Sans"/>
                <a:sym typeface="DM Sans"/>
              </a:rPr>
              <a:t>t establishes the rules for verifying the support structure against Ultimate (ULS), Fatigue (FLS), and Serviceability (SLS) limit states. For the tower, this includes detailed rules for shell buckling and the strength of the crucial flange and welded connections.</a:t>
            </a:r>
            <a:endParaRPr dirty="0">
              <a:latin typeface="+mj-lt"/>
            </a:endParaRPr>
          </a:p>
        </p:txBody>
      </p:sp>
      <p:sp>
        <p:nvSpPr>
          <p:cNvPr id="8" name="Google Shape;155;p18">
            <a:extLst>
              <a:ext uri="{FF2B5EF4-FFF2-40B4-BE49-F238E27FC236}">
                <a16:creationId xmlns:a16="http://schemas.microsoft.com/office/drawing/2014/main" id="{C28C6C6F-F7C2-63C7-4DE9-BBB7A74CEF7C}"/>
              </a:ext>
            </a:extLst>
          </p:cNvPr>
          <p:cNvSpPr txBox="1"/>
          <p:nvPr/>
        </p:nvSpPr>
        <p:spPr>
          <a:xfrm>
            <a:off x="320040" y="3889413"/>
            <a:ext cx="7950200" cy="2215991"/>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latin typeface="+mj-lt"/>
                <a:ea typeface="DM Sans"/>
                <a:cs typeface="DM Sans"/>
                <a:sym typeface="DM Sans"/>
              </a:rPr>
              <a:t>For the foundation, it details the necessary requirements for geotechnical design (soil structure interaction) and the structural dimensioning of concrete and steel elements. By adhering to this standard, we ensure the 5 MW turbine is securely anchored and the tower maintains its stability and integrity under the enormous forces applied at the hub over the WEC's lifespan.</a:t>
            </a:r>
            <a:endParaRPr dirty="0">
              <a:latin typeface="+mj-lt"/>
            </a:endParaRPr>
          </a:p>
        </p:txBody>
      </p:sp>
      <p:pic>
        <p:nvPicPr>
          <p:cNvPr id="12" name="Picture 11" descr="A screenshot of a computer&#10;&#10;AI-generated content may be incorrect.">
            <a:extLst>
              <a:ext uri="{FF2B5EF4-FFF2-40B4-BE49-F238E27FC236}">
                <a16:creationId xmlns:a16="http://schemas.microsoft.com/office/drawing/2014/main" id="{F957231E-DC27-01BE-6A0A-7672DA5BFFC1}"/>
              </a:ext>
            </a:extLst>
          </p:cNvPr>
          <p:cNvPicPr>
            <a:picLocks noChangeAspect="1"/>
          </p:cNvPicPr>
          <p:nvPr/>
        </p:nvPicPr>
        <p:blipFill>
          <a:blip r:embed="rId2">
            <a:extLst>
              <a:ext uri="{28A0092B-C50C-407E-A947-70E740481C1C}">
                <a14:useLocalDpi xmlns:a14="http://schemas.microsoft.com/office/drawing/2010/main" val="0"/>
              </a:ext>
            </a:extLst>
          </a:blip>
          <a:srcRect r="6358"/>
          <a:stretch>
            <a:fillRect/>
          </a:stretch>
        </p:blipFill>
        <p:spPr>
          <a:xfrm>
            <a:off x="8399374" y="1630705"/>
            <a:ext cx="3336014" cy="45528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3" name="TextBox 12">
            <a:extLst>
              <a:ext uri="{FF2B5EF4-FFF2-40B4-BE49-F238E27FC236}">
                <a16:creationId xmlns:a16="http://schemas.microsoft.com/office/drawing/2014/main" id="{5E4C33FF-68DB-84BD-DA47-AD19F89348F4}"/>
              </a:ext>
            </a:extLst>
          </p:cNvPr>
          <p:cNvSpPr txBox="1"/>
          <p:nvPr/>
        </p:nvSpPr>
        <p:spPr>
          <a:xfrm>
            <a:off x="194554" y="6192091"/>
            <a:ext cx="6139542" cy="369332"/>
          </a:xfrm>
          <a:prstGeom prst="rect">
            <a:avLst/>
          </a:prstGeom>
          <a:noFill/>
        </p:spPr>
        <p:txBody>
          <a:bodyPr wrap="square">
            <a:spAutoFit/>
          </a:bodyPr>
          <a:lstStyle/>
          <a:p>
            <a:r>
              <a:rPr lang="en-US" sz="1800" dirty="0"/>
              <a:t>[</a:t>
            </a:r>
            <a:r>
              <a:rPr lang="en-US" dirty="0"/>
              <a:t>5</a:t>
            </a:r>
            <a:r>
              <a:rPr lang="en-US" sz="1800" dirty="0"/>
              <a:t>]</a:t>
            </a:r>
            <a:endParaRPr lang="en-DE" dirty="0"/>
          </a:p>
        </p:txBody>
      </p:sp>
    </p:spTree>
    <p:extLst>
      <p:ext uri="{BB962C8B-B14F-4D97-AF65-F5344CB8AC3E}">
        <p14:creationId xmlns:p14="http://schemas.microsoft.com/office/powerpoint/2010/main" val="3267626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CC8F-1448-2BE0-81E6-2F9FEE8952F7}"/>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FE40D0A5-E26D-547F-2785-56F86B348BB9}"/>
              </a:ext>
            </a:extLst>
          </p:cNvPr>
          <p:cNvSpPr>
            <a:spLocks noGrp="1"/>
          </p:cNvSpPr>
          <p:nvPr>
            <p:ph type="title"/>
          </p:nvPr>
        </p:nvSpPr>
        <p:spPr>
          <a:xfrm>
            <a:off x="0" y="305142"/>
            <a:ext cx="12362512" cy="1325563"/>
          </a:xfrm>
        </p:spPr>
        <p:txBody>
          <a:bodyPr>
            <a:normAutofit/>
          </a:bodyPr>
          <a:lstStyle/>
          <a:p>
            <a:r>
              <a:rPr lang="de-DE" sz="3600" dirty="0"/>
              <a:t>1.vi. DNVGL/RP/0416: Corrosion protection for Wind Turbines</a:t>
            </a:r>
            <a:endParaRPr lang="en-GB" sz="3600" dirty="0"/>
          </a:p>
        </p:txBody>
      </p:sp>
      <p:sp>
        <p:nvSpPr>
          <p:cNvPr id="14" name="Textplatzhalter 13">
            <a:extLst>
              <a:ext uri="{FF2B5EF4-FFF2-40B4-BE49-F238E27FC236}">
                <a16:creationId xmlns:a16="http://schemas.microsoft.com/office/drawing/2014/main" id="{1B8A06A7-89B1-161E-BC31-0C9AF0EE01B1}"/>
              </a:ext>
            </a:extLst>
          </p:cNvPr>
          <p:cNvSpPr>
            <a:spLocks noGrp="1"/>
          </p:cNvSpPr>
          <p:nvPr>
            <p:ph type="body" sz="quarter" idx="18"/>
          </p:nvPr>
        </p:nvSpPr>
        <p:spPr/>
        <p:txBody>
          <a:bodyPr/>
          <a:lstStyle/>
          <a:p>
            <a:r>
              <a:rPr lang="en-GB"/>
              <a:t>Bakhtyar Karim</a:t>
            </a:r>
            <a:endParaRPr lang="en-GB" dirty="0"/>
          </a:p>
        </p:txBody>
      </p:sp>
      <p:sp>
        <p:nvSpPr>
          <p:cNvPr id="2" name="Datumsplatzhalter 1">
            <a:extLst>
              <a:ext uri="{FF2B5EF4-FFF2-40B4-BE49-F238E27FC236}">
                <a16:creationId xmlns:a16="http://schemas.microsoft.com/office/drawing/2014/main" id="{22D7A600-B210-4157-D096-889A253A493D}"/>
              </a:ext>
            </a:extLst>
          </p:cNvPr>
          <p:cNvSpPr>
            <a:spLocks noGrp="1"/>
          </p:cNvSpPr>
          <p:nvPr>
            <p:ph type="dt" sz="half" idx="19"/>
          </p:nvPr>
        </p:nvSpPr>
        <p:spPr/>
        <p:txBody>
          <a:bodyPr/>
          <a:lstStyle/>
          <a:p>
            <a:fld id="{2D1EE79A-E6D4-4691-9116-935A2AA336A9}" type="datetime1">
              <a:rPr lang="en-GB" smtClean="0"/>
              <a:t>10/11/2025</a:t>
            </a:fld>
            <a:endParaRPr lang="en-GB"/>
          </a:p>
        </p:txBody>
      </p:sp>
      <p:sp>
        <p:nvSpPr>
          <p:cNvPr id="3" name="Fußzeilenplatzhalter 2">
            <a:extLst>
              <a:ext uri="{FF2B5EF4-FFF2-40B4-BE49-F238E27FC236}">
                <a16:creationId xmlns:a16="http://schemas.microsoft.com/office/drawing/2014/main" id="{14722848-00D0-B69F-5512-79C40E49E84B}"/>
              </a:ext>
            </a:extLst>
          </p:cNvPr>
          <p:cNvSpPr>
            <a:spLocks noGrp="1"/>
          </p:cNvSpPr>
          <p:nvPr>
            <p:ph type="ftr" sz="quarter" idx="20"/>
          </p:nvPr>
        </p:nvSpPr>
        <p:spPr/>
        <p:txBody>
          <a:bodyPr/>
          <a:lstStyle/>
          <a:p>
            <a:r>
              <a:rPr lang="en-GB"/>
              <a:t>Management Team PM / Optimus Syria</a:t>
            </a:r>
            <a:endParaRPr lang="en-GB" dirty="0"/>
          </a:p>
        </p:txBody>
      </p:sp>
      <p:sp>
        <p:nvSpPr>
          <p:cNvPr id="4" name="Foliennummernplatzhalter 3">
            <a:extLst>
              <a:ext uri="{FF2B5EF4-FFF2-40B4-BE49-F238E27FC236}">
                <a16:creationId xmlns:a16="http://schemas.microsoft.com/office/drawing/2014/main" id="{0422C61E-7461-D980-14C5-2532766D9CBC}"/>
              </a:ext>
            </a:extLst>
          </p:cNvPr>
          <p:cNvSpPr>
            <a:spLocks noGrp="1"/>
          </p:cNvSpPr>
          <p:nvPr>
            <p:ph type="sldNum" sz="quarter" idx="21"/>
          </p:nvPr>
        </p:nvSpPr>
        <p:spPr/>
        <p:txBody>
          <a:bodyPr/>
          <a:lstStyle/>
          <a:p>
            <a:fld id="{013F6232-4F06-48BA-8F69-BF531F607829}" type="slidenum">
              <a:rPr lang="en-GB" smtClean="0"/>
              <a:t>8</a:t>
            </a:fld>
            <a:endParaRPr lang="en-GB"/>
          </a:p>
        </p:txBody>
      </p:sp>
      <p:sp>
        <p:nvSpPr>
          <p:cNvPr id="10" name="Inhaltsplatzhalter 2">
            <a:extLst>
              <a:ext uri="{FF2B5EF4-FFF2-40B4-BE49-F238E27FC236}">
                <a16:creationId xmlns:a16="http://schemas.microsoft.com/office/drawing/2014/main" id="{F36CEC96-56DE-40CA-1089-DC104097BF55}"/>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971550" indent="-514350" algn="l" defTabSz="914400" rtl="0" eaLnBrk="1" latinLnBrk="0" hangingPunct="1">
              <a:lnSpc>
                <a:spcPct val="90000"/>
              </a:lnSpc>
              <a:spcBef>
                <a:spcPts val="500"/>
              </a:spcBef>
              <a:buFont typeface="+mj-lt"/>
              <a:buAutoNum type="romanLcPeriod"/>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dirty="0"/>
          </a:p>
        </p:txBody>
      </p:sp>
      <p:sp>
        <p:nvSpPr>
          <p:cNvPr id="9" name="Google Shape;167;p19">
            <a:extLst>
              <a:ext uri="{FF2B5EF4-FFF2-40B4-BE49-F238E27FC236}">
                <a16:creationId xmlns:a16="http://schemas.microsoft.com/office/drawing/2014/main" id="{BBA3A1DC-6E2B-B76E-6D47-321D8F5A936C}"/>
              </a:ext>
            </a:extLst>
          </p:cNvPr>
          <p:cNvSpPr txBox="1"/>
          <p:nvPr/>
        </p:nvSpPr>
        <p:spPr>
          <a:xfrm>
            <a:off x="350520" y="1720182"/>
            <a:ext cx="7787640" cy="1772793"/>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latin typeface="+mj-lt"/>
                <a:ea typeface="DM Sans"/>
                <a:cs typeface="DM Sans"/>
                <a:sym typeface="DM Sans"/>
              </a:rPr>
              <a:t>This document is a Recommended Practice (RP), offering essential guidance rather than mandatory requirements, it helps classify different corrosion zones (atmospheric, splash, submerged) and details technical solutions to minimize degradation.</a:t>
            </a:r>
            <a:endParaRPr dirty="0">
              <a:latin typeface="+mj-lt"/>
            </a:endParaRPr>
          </a:p>
        </p:txBody>
      </p:sp>
      <p:sp>
        <p:nvSpPr>
          <p:cNvPr id="11" name="Google Shape;168;p19">
            <a:extLst>
              <a:ext uri="{FF2B5EF4-FFF2-40B4-BE49-F238E27FC236}">
                <a16:creationId xmlns:a16="http://schemas.microsoft.com/office/drawing/2014/main" id="{51151F50-7D54-0E0B-5E4C-BAA9C37CB7FC}"/>
              </a:ext>
            </a:extLst>
          </p:cNvPr>
          <p:cNvSpPr txBox="1"/>
          <p:nvPr/>
        </p:nvSpPr>
        <p:spPr>
          <a:xfrm>
            <a:off x="350520" y="3582452"/>
            <a:ext cx="7787640" cy="2215991"/>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latin typeface="+mj-lt"/>
                <a:ea typeface="DM Sans"/>
                <a:cs typeface="DM Sans"/>
                <a:sym typeface="DM Sans"/>
              </a:rPr>
              <a:t>The RP outlines specific measures that must be considered by design teams, such as the use of high performance coating systems for the tower and nacelle, and the use of corrosion allowance (extra material thickness) on vulnerable parts. Implementing these measures is critical for minimizing degradation and achieving the target Lowest Cost of Energy (LCOE) over the turbine's operational life.</a:t>
            </a:r>
            <a:endParaRPr dirty="0">
              <a:latin typeface="+mj-lt"/>
            </a:endParaRPr>
          </a:p>
        </p:txBody>
      </p:sp>
      <p:pic>
        <p:nvPicPr>
          <p:cNvPr id="12" name="Picture 11" descr="A white paper with blue text&#10;&#10;AI-generated content may be incorrect.">
            <a:extLst>
              <a:ext uri="{FF2B5EF4-FFF2-40B4-BE49-F238E27FC236}">
                <a16:creationId xmlns:a16="http://schemas.microsoft.com/office/drawing/2014/main" id="{1D0CA786-7B10-88B0-5A25-4F4C66968429}"/>
              </a:ext>
            </a:extLst>
          </p:cNvPr>
          <p:cNvPicPr>
            <a:picLocks noChangeAspect="1"/>
          </p:cNvPicPr>
          <p:nvPr/>
        </p:nvPicPr>
        <p:blipFill>
          <a:blip r:embed="rId2">
            <a:extLst>
              <a:ext uri="{28A0092B-C50C-407E-A947-70E740481C1C}">
                <a14:useLocalDpi xmlns:a14="http://schemas.microsoft.com/office/drawing/2010/main" val="0"/>
              </a:ext>
            </a:extLst>
          </a:blip>
          <a:srcRect l="-1" r="4296" b="2474"/>
          <a:stretch>
            <a:fillRect/>
          </a:stretch>
        </p:blipFill>
        <p:spPr>
          <a:xfrm>
            <a:off x="8471653" y="1630705"/>
            <a:ext cx="3079579" cy="44528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3" name="TextBox 12">
            <a:extLst>
              <a:ext uri="{FF2B5EF4-FFF2-40B4-BE49-F238E27FC236}">
                <a16:creationId xmlns:a16="http://schemas.microsoft.com/office/drawing/2014/main" id="{37BD2BF5-8037-5990-1E12-760D55580214}"/>
              </a:ext>
            </a:extLst>
          </p:cNvPr>
          <p:cNvSpPr txBox="1"/>
          <p:nvPr/>
        </p:nvSpPr>
        <p:spPr>
          <a:xfrm>
            <a:off x="194554" y="6192091"/>
            <a:ext cx="6139542" cy="369332"/>
          </a:xfrm>
          <a:prstGeom prst="rect">
            <a:avLst/>
          </a:prstGeom>
          <a:noFill/>
        </p:spPr>
        <p:txBody>
          <a:bodyPr wrap="square">
            <a:spAutoFit/>
          </a:bodyPr>
          <a:lstStyle/>
          <a:p>
            <a:r>
              <a:rPr lang="en-US" sz="1800" dirty="0"/>
              <a:t>[</a:t>
            </a:r>
            <a:r>
              <a:rPr lang="en-US" dirty="0"/>
              <a:t>6</a:t>
            </a:r>
            <a:r>
              <a:rPr lang="en-US" sz="1800" dirty="0"/>
              <a:t>]</a:t>
            </a:r>
            <a:endParaRPr lang="en-DE" dirty="0"/>
          </a:p>
        </p:txBody>
      </p:sp>
    </p:spTree>
    <p:extLst>
      <p:ext uri="{BB962C8B-B14F-4D97-AF65-F5344CB8AC3E}">
        <p14:creationId xmlns:p14="http://schemas.microsoft.com/office/powerpoint/2010/main" val="3002837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EFE02-05BD-BBDE-F951-B47BF7280590}"/>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803BB7A2-3A34-24F4-AF60-01DC95C9AC9E}"/>
              </a:ext>
            </a:extLst>
          </p:cNvPr>
          <p:cNvSpPr>
            <a:spLocks noGrp="1"/>
          </p:cNvSpPr>
          <p:nvPr>
            <p:ph type="title"/>
          </p:nvPr>
        </p:nvSpPr>
        <p:spPr>
          <a:xfrm>
            <a:off x="651588" y="600942"/>
            <a:ext cx="11353800" cy="1325563"/>
          </a:xfrm>
        </p:spPr>
        <p:txBody>
          <a:bodyPr>
            <a:normAutofit/>
          </a:bodyPr>
          <a:lstStyle/>
          <a:p>
            <a:r>
              <a:rPr lang="de-DE" dirty="0"/>
              <a:t>2.i. Mass distribution</a:t>
            </a:r>
            <a:br>
              <a:rPr kumimoji="0" lang="en-US" altLang="en-DE" sz="4400" b="0" i="0" u="none" strike="noStrike" cap="none" normalizeH="0" baseline="0" dirty="0">
                <a:ln>
                  <a:noFill/>
                </a:ln>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endParaRPr lang="en-GB" dirty="0"/>
          </a:p>
        </p:txBody>
      </p:sp>
      <p:sp>
        <p:nvSpPr>
          <p:cNvPr id="13" name="Inhaltsplatzhalter 12">
            <a:extLst>
              <a:ext uri="{FF2B5EF4-FFF2-40B4-BE49-F238E27FC236}">
                <a16:creationId xmlns:a16="http://schemas.microsoft.com/office/drawing/2014/main" id="{A7326F22-1C91-7B82-A508-94C30DF24FF2}"/>
              </a:ext>
            </a:extLst>
          </p:cNvPr>
          <p:cNvSpPr>
            <a:spLocks noGrp="1"/>
          </p:cNvSpPr>
          <p:nvPr>
            <p:ph idx="1"/>
          </p:nvPr>
        </p:nvSpPr>
        <p:spPr>
          <a:xfrm>
            <a:off x="1024812" y="4082785"/>
            <a:ext cx="7052215" cy="1618316"/>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DE" sz="1600" b="0" i="0" u="none" strike="noStrike" cap="none" normalizeH="0" baseline="0" dirty="0">
                <a:ln>
                  <a:noFill/>
                </a:ln>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br>
              <a:rPr kumimoji="0" lang="en-US" altLang="en-DE" sz="1600" b="0" i="0" u="none" strike="noStrike" cap="none" normalizeH="0" baseline="0" dirty="0">
                <a:ln>
                  <a:noFill/>
                </a:ln>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endParaRPr kumimoji="0" lang="en-US" altLang="en-DE" sz="2800" b="0" i="0" u="none" strike="noStrike" cap="none" normalizeH="0" baseline="0" dirty="0">
              <a:ln>
                <a:noFill/>
              </a:ln>
              <a:solidFill>
                <a:schemeClr val="tx1"/>
              </a:solidFill>
              <a:effectLst/>
              <a:latin typeface="Arial" panose="020B0604020202020204" pitchFamily="34" charset="0"/>
            </a:endParaRPr>
          </a:p>
          <a:p>
            <a:pPr marL="0" indent="0">
              <a:buNone/>
            </a:pPr>
            <a:endParaRPr lang="en-GB" sz="1600" dirty="0"/>
          </a:p>
        </p:txBody>
      </p:sp>
      <p:sp>
        <p:nvSpPr>
          <p:cNvPr id="14" name="Textplatzhalter 13">
            <a:extLst>
              <a:ext uri="{FF2B5EF4-FFF2-40B4-BE49-F238E27FC236}">
                <a16:creationId xmlns:a16="http://schemas.microsoft.com/office/drawing/2014/main" id="{EE89AF81-D782-195B-BFCE-9CC6819BC961}"/>
              </a:ext>
            </a:extLst>
          </p:cNvPr>
          <p:cNvSpPr>
            <a:spLocks noGrp="1"/>
          </p:cNvSpPr>
          <p:nvPr>
            <p:ph type="body" sz="quarter" idx="18"/>
          </p:nvPr>
        </p:nvSpPr>
        <p:spPr/>
        <p:txBody>
          <a:bodyPr/>
          <a:lstStyle/>
          <a:p>
            <a:r>
              <a:rPr lang="en-GB" dirty="0" err="1"/>
              <a:t>Bakhtyar</a:t>
            </a:r>
            <a:r>
              <a:rPr lang="en-GB" dirty="0"/>
              <a:t> Karim</a:t>
            </a:r>
          </a:p>
        </p:txBody>
      </p:sp>
      <p:sp>
        <p:nvSpPr>
          <p:cNvPr id="2" name="Datumsplatzhalter 1">
            <a:extLst>
              <a:ext uri="{FF2B5EF4-FFF2-40B4-BE49-F238E27FC236}">
                <a16:creationId xmlns:a16="http://schemas.microsoft.com/office/drawing/2014/main" id="{E51CF9BE-DFD8-ED25-FCBA-EAECF8A59518}"/>
              </a:ext>
            </a:extLst>
          </p:cNvPr>
          <p:cNvSpPr>
            <a:spLocks noGrp="1"/>
          </p:cNvSpPr>
          <p:nvPr>
            <p:ph type="dt" sz="half" idx="19"/>
          </p:nvPr>
        </p:nvSpPr>
        <p:spPr/>
        <p:txBody>
          <a:bodyPr/>
          <a:lstStyle/>
          <a:p>
            <a:fld id="{2D1EE79A-E6D4-4691-9116-935A2AA336A9}" type="datetime1">
              <a:rPr lang="en-GB" smtClean="0"/>
              <a:t>10/11/2025</a:t>
            </a:fld>
            <a:endParaRPr lang="en-GB"/>
          </a:p>
        </p:txBody>
      </p:sp>
      <p:sp>
        <p:nvSpPr>
          <p:cNvPr id="3" name="Fußzeilenplatzhalter 2">
            <a:extLst>
              <a:ext uri="{FF2B5EF4-FFF2-40B4-BE49-F238E27FC236}">
                <a16:creationId xmlns:a16="http://schemas.microsoft.com/office/drawing/2014/main" id="{A80ADFFB-F683-BF4F-0C08-0184BB1F5EF5}"/>
              </a:ext>
            </a:extLst>
          </p:cNvPr>
          <p:cNvSpPr>
            <a:spLocks noGrp="1"/>
          </p:cNvSpPr>
          <p:nvPr>
            <p:ph type="ftr" sz="quarter" idx="20"/>
          </p:nvPr>
        </p:nvSpPr>
        <p:spPr/>
        <p:txBody>
          <a:bodyPr/>
          <a:lstStyle/>
          <a:p>
            <a:r>
              <a:rPr lang="en-GB" dirty="0"/>
              <a:t>Management Team PM / Optimus Syria</a:t>
            </a:r>
          </a:p>
        </p:txBody>
      </p:sp>
      <p:sp>
        <p:nvSpPr>
          <p:cNvPr id="4" name="Foliennummernplatzhalter 3">
            <a:extLst>
              <a:ext uri="{FF2B5EF4-FFF2-40B4-BE49-F238E27FC236}">
                <a16:creationId xmlns:a16="http://schemas.microsoft.com/office/drawing/2014/main" id="{BC698CDF-BBE5-D84F-0133-83330B78BFF8}"/>
              </a:ext>
            </a:extLst>
          </p:cNvPr>
          <p:cNvSpPr>
            <a:spLocks noGrp="1"/>
          </p:cNvSpPr>
          <p:nvPr>
            <p:ph type="sldNum" sz="quarter" idx="21"/>
          </p:nvPr>
        </p:nvSpPr>
        <p:spPr/>
        <p:txBody>
          <a:bodyPr/>
          <a:lstStyle/>
          <a:p>
            <a:fld id="{013F6232-4F06-48BA-8F69-BF531F607829}" type="slidenum">
              <a:rPr lang="en-GB" smtClean="0"/>
              <a:t>9</a:t>
            </a:fld>
            <a:endParaRPr lang="en-GB"/>
          </a:p>
        </p:txBody>
      </p:sp>
      <p:sp>
        <p:nvSpPr>
          <p:cNvPr id="10" name="Inhaltsplatzhalter 2">
            <a:extLst>
              <a:ext uri="{FF2B5EF4-FFF2-40B4-BE49-F238E27FC236}">
                <a16:creationId xmlns:a16="http://schemas.microsoft.com/office/drawing/2014/main" id="{0BBF0704-1B8C-2D7A-1694-F8F124366ED2}"/>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971550" indent="-514350" algn="l" defTabSz="914400" rtl="0" eaLnBrk="1" latinLnBrk="0" hangingPunct="1">
              <a:lnSpc>
                <a:spcPct val="90000"/>
              </a:lnSpc>
              <a:spcBef>
                <a:spcPts val="500"/>
              </a:spcBef>
              <a:buFont typeface="+mj-lt"/>
              <a:buAutoNum type="romanLcPeriod"/>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dirty="0"/>
          </a:p>
        </p:txBody>
      </p:sp>
      <p:graphicFrame>
        <p:nvGraphicFramePr>
          <p:cNvPr id="6" name="Table 5">
            <a:extLst>
              <a:ext uri="{FF2B5EF4-FFF2-40B4-BE49-F238E27FC236}">
                <a16:creationId xmlns:a16="http://schemas.microsoft.com/office/drawing/2014/main" id="{92244930-C22B-3EE9-5401-2431008B26D8}"/>
              </a:ext>
            </a:extLst>
          </p:cNvPr>
          <p:cNvGraphicFramePr>
            <a:graphicFrameLocks noGrp="1"/>
          </p:cNvGraphicFramePr>
          <p:nvPr>
            <p:extLst>
              <p:ext uri="{D42A27DB-BD31-4B8C-83A1-F6EECF244321}">
                <p14:modId xmlns:p14="http://schemas.microsoft.com/office/powerpoint/2010/main" val="1900601884"/>
              </p:ext>
            </p:extLst>
          </p:nvPr>
        </p:nvGraphicFramePr>
        <p:xfrm>
          <a:off x="651587" y="1805118"/>
          <a:ext cx="11132975" cy="3895983"/>
        </p:xfrm>
        <a:graphic>
          <a:graphicData uri="http://schemas.openxmlformats.org/drawingml/2006/table">
            <a:tbl>
              <a:tblPr>
                <a:tableStyleId>{775DCB02-9BB8-47FD-8907-85C794F793BA}</a:tableStyleId>
              </a:tblPr>
              <a:tblGrid>
                <a:gridCol w="4334745">
                  <a:extLst>
                    <a:ext uri="{9D8B030D-6E8A-4147-A177-3AD203B41FA5}">
                      <a16:colId xmlns:a16="http://schemas.microsoft.com/office/drawing/2014/main" val="927910492"/>
                    </a:ext>
                  </a:extLst>
                </a:gridCol>
                <a:gridCol w="6798230">
                  <a:extLst>
                    <a:ext uri="{9D8B030D-6E8A-4147-A177-3AD203B41FA5}">
                      <a16:colId xmlns:a16="http://schemas.microsoft.com/office/drawing/2014/main" val="361152864"/>
                    </a:ext>
                  </a:extLst>
                </a:gridCol>
              </a:tblGrid>
              <a:tr h="768175">
                <a:tc>
                  <a:txBody>
                    <a:bodyPr/>
                    <a:lstStyle/>
                    <a:p>
                      <a:pPr algn="ctr" fontAlgn="b">
                        <a:buNone/>
                      </a:pPr>
                      <a:r>
                        <a:rPr lang="en-US" sz="1600" b="0" u="none" strike="noStrike">
                          <a:solidFill>
                            <a:schemeClr val="bg1"/>
                          </a:solidFill>
                          <a:effectLst/>
                        </a:rPr>
                        <a:t>DNV-ST-0437: Loads and Site Conditions</a:t>
                      </a:r>
                      <a:endParaRPr lang="en-US" sz="1600" b="0" i="0" u="none" strike="noStrike">
                        <a:solidFill>
                          <a:schemeClr val="bg1"/>
                        </a:solidFill>
                        <a:effectLst/>
                        <a:latin typeface="Arial" panose="020B0604020202020204" pitchFamily="34" charset="0"/>
                      </a:endParaRPr>
                    </a:p>
                  </a:txBody>
                  <a:tcPr marL="5047" marR="5047" marT="5047" marB="3028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50000"/>
                        <a:lumOff val="50000"/>
                      </a:schemeClr>
                    </a:solidFill>
                  </a:tcPr>
                </a:tc>
                <a:tc>
                  <a:txBody>
                    <a:bodyPr/>
                    <a:lstStyle/>
                    <a:p>
                      <a:pPr algn="ctr" fontAlgn="b">
                        <a:buNone/>
                      </a:pPr>
                      <a:r>
                        <a:rPr lang="en-US" sz="1400" b="0" u="none" strike="noStrike" dirty="0">
                          <a:solidFill>
                            <a:schemeClr val="bg1"/>
                          </a:solidFill>
                          <a:effectLst/>
                        </a:rPr>
                        <a:t>2. Loads and Dynamics 7. Grid Code Development </a:t>
                      </a:r>
                      <a:endParaRPr lang="en-US" sz="1400" b="0" i="0" u="none" strike="noStrike" dirty="0">
                        <a:solidFill>
                          <a:schemeClr val="bg1"/>
                        </a:solidFill>
                        <a:effectLst/>
                        <a:latin typeface="Arial" panose="020B0604020202020204" pitchFamily="34" charset="0"/>
                      </a:endParaRPr>
                    </a:p>
                  </a:txBody>
                  <a:tcPr marL="5047" marR="5047" marT="5047" marB="3028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50000"/>
                        <a:lumOff val="50000"/>
                      </a:schemeClr>
                    </a:solidFill>
                  </a:tcPr>
                </a:tc>
                <a:extLst>
                  <a:ext uri="{0D108BD9-81ED-4DB2-BD59-A6C34878D82A}">
                    <a16:rowId xmlns:a16="http://schemas.microsoft.com/office/drawing/2014/main" val="1840446823"/>
                  </a:ext>
                </a:extLst>
              </a:tr>
              <a:tr h="530486">
                <a:tc>
                  <a:txBody>
                    <a:bodyPr/>
                    <a:lstStyle/>
                    <a:p>
                      <a:pPr algn="ctr" fontAlgn="b">
                        <a:buNone/>
                      </a:pPr>
                      <a:r>
                        <a:rPr lang="en-US" sz="1600" b="0" u="none" strike="noStrike">
                          <a:solidFill>
                            <a:schemeClr val="bg1"/>
                          </a:solidFill>
                          <a:effectLst/>
                        </a:rPr>
                        <a:t>DNVGL-ST-0126: Support Structures for WT </a:t>
                      </a:r>
                      <a:endParaRPr lang="en-US" sz="1600" b="0" i="0" u="none" strike="noStrike">
                        <a:solidFill>
                          <a:schemeClr val="bg1"/>
                        </a:solidFill>
                        <a:effectLst/>
                        <a:latin typeface="Arial" panose="020B0604020202020204" pitchFamily="34" charset="0"/>
                      </a:endParaRPr>
                    </a:p>
                  </a:txBody>
                  <a:tcPr marL="5047" marR="5047" marT="5047" marB="3028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50000"/>
                        <a:lumOff val="50000"/>
                      </a:schemeClr>
                    </a:solidFill>
                  </a:tcPr>
                </a:tc>
                <a:tc>
                  <a:txBody>
                    <a:bodyPr/>
                    <a:lstStyle/>
                    <a:p>
                      <a:pPr algn="ctr" fontAlgn="b">
                        <a:buNone/>
                      </a:pPr>
                      <a:r>
                        <a:rPr lang="en-US" sz="1400" b="0" u="none" strike="noStrike" dirty="0">
                          <a:solidFill>
                            <a:schemeClr val="bg1"/>
                          </a:solidFill>
                          <a:effectLst/>
                        </a:rPr>
                        <a:t>12. Tower, 13. Foundation</a:t>
                      </a:r>
                      <a:endParaRPr lang="en-US" sz="1400" b="0" i="0" u="none" strike="noStrike" dirty="0">
                        <a:solidFill>
                          <a:schemeClr val="bg1"/>
                        </a:solidFill>
                        <a:effectLst/>
                        <a:latin typeface="Arial" panose="020B0604020202020204" pitchFamily="34" charset="0"/>
                      </a:endParaRPr>
                    </a:p>
                  </a:txBody>
                  <a:tcPr marL="5047" marR="5047" marT="5047" marB="3028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50000"/>
                        <a:lumOff val="50000"/>
                      </a:schemeClr>
                    </a:solidFill>
                  </a:tcPr>
                </a:tc>
                <a:extLst>
                  <a:ext uri="{0D108BD9-81ED-4DB2-BD59-A6C34878D82A}">
                    <a16:rowId xmlns:a16="http://schemas.microsoft.com/office/drawing/2014/main" val="4147266666"/>
                  </a:ext>
                </a:extLst>
              </a:tr>
              <a:tr h="530486">
                <a:tc>
                  <a:txBody>
                    <a:bodyPr/>
                    <a:lstStyle/>
                    <a:p>
                      <a:pPr algn="ctr" fontAlgn="b">
                        <a:buNone/>
                      </a:pPr>
                      <a:r>
                        <a:rPr lang="en-US" sz="1600" b="0" u="none" strike="noStrike" dirty="0">
                          <a:solidFill>
                            <a:schemeClr val="bg1"/>
                          </a:solidFill>
                          <a:effectLst/>
                        </a:rPr>
                        <a:t>DNVGL-ST-0376: Rotor Blades for WT </a:t>
                      </a:r>
                      <a:endParaRPr lang="en-US" sz="1600" b="0" i="0" u="none" strike="noStrike" dirty="0">
                        <a:solidFill>
                          <a:schemeClr val="bg1"/>
                        </a:solidFill>
                        <a:effectLst/>
                        <a:latin typeface="Arial" panose="020B0604020202020204" pitchFamily="34" charset="0"/>
                      </a:endParaRPr>
                    </a:p>
                  </a:txBody>
                  <a:tcPr marL="5047" marR="5047" marT="5047" marB="3028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50000"/>
                        <a:lumOff val="50000"/>
                      </a:schemeClr>
                    </a:solidFill>
                  </a:tcPr>
                </a:tc>
                <a:tc>
                  <a:txBody>
                    <a:bodyPr/>
                    <a:lstStyle/>
                    <a:p>
                      <a:pPr algn="ctr" fontAlgn="b">
                        <a:buNone/>
                      </a:pPr>
                      <a:r>
                        <a:rPr lang="en-US" sz="1400" b="0" u="none" strike="noStrike" dirty="0">
                          <a:solidFill>
                            <a:schemeClr val="bg1"/>
                          </a:solidFill>
                          <a:effectLst/>
                        </a:rPr>
                        <a:t>4. Rotor Blade Aerodynamics, 5. Rotor Blade Structures</a:t>
                      </a:r>
                      <a:endParaRPr lang="en-US" sz="1400" b="0" i="0" u="none" strike="noStrike" dirty="0">
                        <a:solidFill>
                          <a:schemeClr val="bg1"/>
                        </a:solidFill>
                        <a:effectLst/>
                        <a:latin typeface="Arial" panose="020B0604020202020204" pitchFamily="34" charset="0"/>
                      </a:endParaRPr>
                    </a:p>
                  </a:txBody>
                  <a:tcPr marL="5047" marR="5047" marT="5047" marB="3028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50000"/>
                        <a:lumOff val="50000"/>
                      </a:schemeClr>
                    </a:solidFill>
                  </a:tcPr>
                </a:tc>
                <a:extLst>
                  <a:ext uri="{0D108BD9-81ED-4DB2-BD59-A6C34878D82A}">
                    <a16:rowId xmlns:a16="http://schemas.microsoft.com/office/drawing/2014/main" val="2064911088"/>
                  </a:ext>
                </a:extLst>
              </a:tr>
              <a:tr h="530486">
                <a:tc>
                  <a:txBody>
                    <a:bodyPr/>
                    <a:lstStyle/>
                    <a:p>
                      <a:pPr algn="ctr" fontAlgn="b">
                        <a:buNone/>
                      </a:pPr>
                      <a:r>
                        <a:rPr lang="en-US" sz="1600" b="0" u="none" strike="noStrike">
                          <a:solidFill>
                            <a:schemeClr val="bg1"/>
                          </a:solidFill>
                          <a:effectLst/>
                        </a:rPr>
                        <a:t>DNVGL-ST-0361: Machinery for WT </a:t>
                      </a:r>
                      <a:endParaRPr lang="en-US" sz="1600" b="0" i="0" u="none" strike="noStrike">
                        <a:solidFill>
                          <a:schemeClr val="bg1"/>
                        </a:solidFill>
                        <a:effectLst/>
                        <a:latin typeface="Arial" panose="020B0604020202020204" pitchFamily="34" charset="0"/>
                      </a:endParaRPr>
                    </a:p>
                  </a:txBody>
                  <a:tcPr marL="5047" marR="5047" marT="5047" marB="3028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50000"/>
                        <a:lumOff val="50000"/>
                      </a:schemeClr>
                    </a:solidFill>
                  </a:tcPr>
                </a:tc>
                <a:tc>
                  <a:txBody>
                    <a:bodyPr/>
                    <a:lstStyle/>
                    <a:p>
                      <a:pPr algn="ctr" fontAlgn="b">
                        <a:buNone/>
                      </a:pPr>
                      <a:r>
                        <a:rPr lang="en-US" sz="1400" b="0" u="none" strike="noStrike" dirty="0">
                          <a:solidFill>
                            <a:schemeClr val="bg1"/>
                          </a:solidFill>
                          <a:effectLst/>
                        </a:rPr>
                        <a:t>6. Electrical </a:t>
                      </a:r>
                      <a:r>
                        <a:rPr lang="en-US" sz="1400" b="0" u="none" strike="noStrike" dirty="0" err="1">
                          <a:solidFill>
                            <a:schemeClr val="bg1"/>
                          </a:solidFill>
                          <a:effectLst/>
                        </a:rPr>
                        <a:t>Drivtrain</a:t>
                      </a:r>
                      <a:r>
                        <a:rPr lang="en-US" sz="1400" b="0" u="none" strike="noStrike" dirty="0">
                          <a:solidFill>
                            <a:schemeClr val="bg1"/>
                          </a:solidFill>
                          <a:effectLst/>
                        </a:rPr>
                        <a:t> 8. Rotor Hub &amp; Pitch System, 9. Rotor Bearing System, </a:t>
                      </a:r>
                    </a:p>
                    <a:p>
                      <a:pPr algn="ctr" fontAlgn="b">
                        <a:buNone/>
                      </a:pPr>
                      <a:r>
                        <a:rPr lang="en-US" sz="1400" b="0" u="none" strike="noStrike" dirty="0">
                          <a:solidFill>
                            <a:schemeClr val="bg1"/>
                          </a:solidFill>
                          <a:effectLst/>
                        </a:rPr>
                        <a:t>10. Gearbox, Brake, Coupling, 11. Machine Bed, Yaw System</a:t>
                      </a:r>
                      <a:endParaRPr lang="en-US" sz="1400" b="0" i="0" u="none" strike="noStrike" dirty="0">
                        <a:solidFill>
                          <a:schemeClr val="bg1"/>
                        </a:solidFill>
                        <a:effectLst/>
                        <a:latin typeface="Arial" panose="020B0604020202020204" pitchFamily="34" charset="0"/>
                      </a:endParaRPr>
                    </a:p>
                  </a:txBody>
                  <a:tcPr marL="5047" marR="5047" marT="5047" marB="3028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50000"/>
                        <a:lumOff val="50000"/>
                      </a:schemeClr>
                    </a:solidFill>
                  </a:tcPr>
                </a:tc>
                <a:extLst>
                  <a:ext uri="{0D108BD9-81ED-4DB2-BD59-A6C34878D82A}">
                    <a16:rowId xmlns:a16="http://schemas.microsoft.com/office/drawing/2014/main" val="3022891364"/>
                  </a:ext>
                </a:extLst>
              </a:tr>
              <a:tr h="768175">
                <a:tc>
                  <a:txBody>
                    <a:bodyPr/>
                    <a:lstStyle/>
                    <a:p>
                      <a:pPr algn="ctr" fontAlgn="b">
                        <a:buNone/>
                      </a:pPr>
                      <a:r>
                        <a:rPr lang="en-US" sz="1600" b="0" u="none" strike="noStrike">
                          <a:solidFill>
                            <a:schemeClr val="bg1"/>
                          </a:solidFill>
                          <a:effectLst/>
                        </a:rPr>
                        <a:t>DNVGL-RP-0416: Corrosion Protection </a:t>
                      </a:r>
                      <a:endParaRPr lang="en-US" sz="1600" b="0" i="0" u="none" strike="noStrike">
                        <a:solidFill>
                          <a:schemeClr val="bg1"/>
                        </a:solidFill>
                        <a:effectLst/>
                        <a:latin typeface="Arial" panose="020B0604020202020204" pitchFamily="34" charset="0"/>
                      </a:endParaRPr>
                    </a:p>
                  </a:txBody>
                  <a:tcPr marL="5047" marR="5047" marT="5047" marB="3028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50000"/>
                        <a:lumOff val="50000"/>
                      </a:schemeClr>
                    </a:solidFill>
                  </a:tcPr>
                </a:tc>
                <a:tc>
                  <a:txBody>
                    <a:bodyPr/>
                    <a:lstStyle/>
                    <a:p>
                      <a:pPr algn="ctr" fontAlgn="b">
                        <a:buNone/>
                      </a:pPr>
                      <a:r>
                        <a:rPr lang="en-US" sz="1400" b="0" u="none" strike="noStrike" dirty="0">
                          <a:solidFill>
                            <a:schemeClr val="bg1"/>
                          </a:solidFill>
                          <a:effectLst/>
                        </a:rPr>
                        <a:t>0.2 System Integrator (Nacelle Cover), 12. Tower, 13. Foundation 14. Storage </a:t>
                      </a:r>
                      <a:endParaRPr lang="en-US" sz="1400" b="0" i="0" u="none" strike="noStrike" dirty="0">
                        <a:solidFill>
                          <a:schemeClr val="bg1"/>
                        </a:solidFill>
                        <a:effectLst/>
                        <a:latin typeface="Arial" panose="020B0604020202020204" pitchFamily="34" charset="0"/>
                      </a:endParaRPr>
                    </a:p>
                  </a:txBody>
                  <a:tcPr marL="5047" marR="5047" marT="5047" marB="3028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50000"/>
                        <a:lumOff val="50000"/>
                      </a:schemeClr>
                    </a:solidFill>
                  </a:tcPr>
                </a:tc>
                <a:extLst>
                  <a:ext uri="{0D108BD9-81ED-4DB2-BD59-A6C34878D82A}">
                    <a16:rowId xmlns:a16="http://schemas.microsoft.com/office/drawing/2014/main" val="1180310428"/>
                  </a:ext>
                </a:extLst>
              </a:tr>
              <a:tr h="768175">
                <a:tc>
                  <a:txBody>
                    <a:bodyPr/>
                    <a:lstStyle/>
                    <a:p>
                      <a:pPr algn="ctr" fontAlgn="b">
                        <a:buNone/>
                      </a:pPr>
                      <a:r>
                        <a:rPr lang="en-US" sz="1600" b="0" u="none" strike="noStrike" dirty="0">
                          <a:solidFill>
                            <a:srgbClr val="FFC000"/>
                          </a:solidFill>
                          <a:effectLst/>
                        </a:rPr>
                        <a:t>GL Guideline for the Certification of WT </a:t>
                      </a:r>
                      <a:endParaRPr lang="en-US" sz="1600" b="0" i="0" u="none" strike="noStrike" dirty="0">
                        <a:solidFill>
                          <a:srgbClr val="FFC000"/>
                        </a:solidFill>
                        <a:effectLst/>
                        <a:latin typeface="Arial" panose="020B0604020202020204" pitchFamily="34" charset="0"/>
                      </a:endParaRPr>
                    </a:p>
                  </a:txBody>
                  <a:tcPr marL="5047" marR="5047" marT="5047" marB="3028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50000"/>
                        <a:lumOff val="50000"/>
                      </a:schemeClr>
                    </a:solidFill>
                  </a:tcPr>
                </a:tc>
                <a:tc>
                  <a:txBody>
                    <a:bodyPr/>
                    <a:lstStyle/>
                    <a:p>
                      <a:pPr algn="ctr" fontAlgn="b">
                        <a:buNone/>
                      </a:pPr>
                      <a:r>
                        <a:rPr lang="en-US" sz="1400" b="0" u="none" strike="noStrike" dirty="0">
                          <a:solidFill>
                            <a:schemeClr val="bg1"/>
                          </a:solidFill>
                          <a:effectLst/>
                        </a:rPr>
                        <a:t>0.1 Head of Project, 0.2 System Integrator, 1. Windfarm Project Dev.</a:t>
                      </a:r>
                    </a:p>
                    <a:p>
                      <a:pPr algn="ctr" fontAlgn="b">
                        <a:buNone/>
                      </a:pPr>
                      <a:r>
                        <a:rPr lang="en-US" sz="1400" b="0" u="none" strike="noStrike" dirty="0">
                          <a:solidFill>
                            <a:schemeClr val="bg1"/>
                          </a:solidFill>
                          <a:effectLst/>
                        </a:rPr>
                        <a:t> 3. feedback &amp; Lidar assisted Control (</a:t>
                      </a:r>
                      <a:r>
                        <a:rPr lang="en-US" sz="1400" b="0" u="none" strike="noStrike" dirty="0">
                          <a:solidFill>
                            <a:srgbClr val="FFC000"/>
                          </a:solidFill>
                          <a:effectLst/>
                        </a:rPr>
                        <a:t>All Other Teams</a:t>
                      </a:r>
                      <a:r>
                        <a:rPr lang="en-US" sz="1400" b="0" u="none" strike="noStrike" dirty="0">
                          <a:solidFill>
                            <a:schemeClr val="bg1"/>
                          </a:solidFill>
                          <a:effectLst/>
                        </a:rPr>
                        <a:t>)</a:t>
                      </a:r>
                      <a:endParaRPr lang="en-US" sz="1400" b="0" i="0" u="none" strike="noStrike" dirty="0">
                        <a:solidFill>
                          <a:schemeClr val="bg1"/>
                        </a:solidFill>
                        <a:effectLst/>
                        <a:latin typeface="Arial" panose="020B0604020202020204" pitchFamily="34" charset="0"/>
                      </a:endParaRPr>
                    </a:p>
                  </a:txBody>
                  <a:tcPr marL="5047" marR="5047" marT="5047" marB="3028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50000"/>
                        <a:lumOff val="50000"/>
                      </a:schemeClr>
                    </a:solidFill>
                  </a:tcPr>
                </a:tc>
                <a:extLst>
                  <a:ext uri="{0D108BD9-81ED-4DB2-BD59-A6C34878D82A}">
                    <a16:rowId xmlns:a16="http://schemas.microsoft.com/office/drawing/2014/main" val="3299108406"/>
                  </a:ext>
                </a:extLst>
              </a:tr>
            </a:tbl>
          </a:graphicData>
        </a:graphic>
      </p:graphicFrame>
    </p:spTree>
    <p:extLst>
      <p:ext uri="{BB962C8B-B14F-4D97-AF65-F5344CB8AC3E}">
        <p14:creationId xmlns:p14="http://schemas.microsoft.com/office/powerpoint/2010/main" val="4292239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E14FE-1B83-7EC6-735E-448B510390DA}"/>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14E1CB65-9DE4-AF76-61B2-755E1F1175AD}"/>
              </a:ext>
            </a:extLst>
          </p:cNvPr>
          <p:cNvSpPr>
            <a:spLocks noGrp="1"/>
          </p:cNvSpPr>
          <p:nvPr>
            <p:ph type="title"/>
          </p:nvPr>
        </p:nvSpPr>
        <p:spPr>
          <a:xfrm>
            <a:off x="651588" y="600942"/>
            <a:ext cx="11353800" cy="1325563"/>
          </a:xfrm>
        </p:spPr>
        <p:txBody>
          <a:bodyPr>
            <a:normAutofit/>
          </a:bodyPr>
          <a:lstStyle/>
          <a:p>
            <a:r>
              <a:rPr lang="de-DE" dirty="0"/>
              <a:t>3. Final Report Template &amp; GitHub </a:t>
            </a:r>
            <a:br>
              <a:rPr kumimoji="0" lang="en-US" altLang="en-DE" sz="4400" b="0" i="0" u="none" strike="noStrike" cap="none" normalizeH="0" baseline="0" dirty="0">
                <a:ln>
                  <a:noFill/>
                </a:ln>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endParaRPr lang="en-GB" dirty="0"/>
          </a:p>
        </p:txBody>
      </p:sp>
      <p:sp>
        <p:nvSpPr>
          <p:cNvPr id="13" name="Inhaltsplatzhalter 12">
            <a:extLst>
              <a:ext uri="{FF2B5EF4-FFF2-40B4-BE49-F238E27FC236}">
                <a16:creationId xmlns:a16="http://schemas.microsoft.com/office/drawing/2014/main" id="{E7909C6F-2AFD-BDAA-D9A4-D999415587CE}"/>
              </a:ext>
            </a:extLst>
          </p:cNvPr>
          <p:cNvSpPr>
            <a:spLocks noGrp="1"/>
          </p:cNvSpPr>
          <p:nvPr>
            <p:ph idx="1"/>
          </p:nvPr>
        </p:nvSpPr>
        <p:spPr>
          <a:xfrm>
            <a:off x="1024812" y="4082785"/>
            <a:ext cx="7052215" cy="1618316"/>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DE" sz="1600" b="0" i="0" u="none" strike="noStrike" cap="none" normalizeH="0" baseline="0" dirty="0">
                <a:ln>
                  <a:noFill/>
                </a:ln>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br>
              <a:rPr kumimoji="0" lang="en-US" altLang="en-DE" sz="1600" b="0" i="0" u="none" strike="noStrike" cap="none" normalizeH="0" baseline="0" dirty="0">
                <a:ln>
                  <a:noFill/>
                </a:ln>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endParaRPr kumimoji="0" lang="en-US" altLang="en-DE" sz="2800" b="0" i="0" u="none" strike="noStrike" cap="none" normalizeH="0" baseline="0" dirty="0">
              <a:ln>
                <a:noFill/>
              </a:ln>
              <a:solidFill>
                <a:schemeClr val="tx1"/>
              </a:solidFill>
              <a:effectLst/>
              <a:latin typeface="Arial" panose="020B0604020202020204" pitchFamily="34" charset="0"/>
            </a:endParaRPr>
          </a:p>
          <a:p>
            <a:pPr marL="0" indent="0">
              <a:buNone/>
            </a:pPr>
            <a:endParaRPr lang="en-GB" sz="1600" dirty="0"/>
          </a:p>
        </p:txBody>
      </p:sp>
      <p:sp>
        <p:nvSpPr>
          <p:cNvPr id="14" name="Textplatzhalter 13">
            <a:extLst>
              <a:ext uri="{FF2B5EF4-FFF2-40B4-BE49-F238E27FC236}">
                <a16:creationId xmlns:a16="http://schemas.microsoft.com/office/drawing/2014/main" id="{3E5D7BDA-A9CE-94ED-5436-357E6CBAD9E3}"/>
              </a:ext>
            </a:extLst>
          </p:cNvPr>
          <p:cNvSpPr>
            <a:spLocks noGrp="1"/>
          </p:cNvSpPr>
          <p:nvPr>
            <p:ph type="body" sz="quarter" idx="18"/>
          </p:nvPr>
        </p:nvSpPr>
        <p:spPr/>
        <p:txBody>
          <a:bodyPr/>
          <a:lstStyle/>
          <a:p>
            <a:r>
              <a:rPr lang="en-GB" dirty="0" err="1"/>
              <a:t>Bakhtyar</a:t>
            </a:r>
            <a:r>
              <a:rPr lang="en-GB" dirty="0"/>
              <a:t> Karim</a:t>
            </a:r>
          </a:p>
        </p:txBody>
      </p:sp>
      <p:sp>
        <p:nvSpPr>
          <p:cNvPr id="2" name="Datumsplatzhalter 1">
            <a:extLst>
              <a:ext uri="{FF2B5EF4-FFF2-40B4-BE49-F238E27FC236}">
                <a16:creationId xmlns:a16="http://schemas.microsoft.com/office/drawing/2014/main" id="{9F638251-C3EE-2A63-F77C-282F5671AC46}"/>
              </a:ext>
            </a:extLst>
          </p:cNvPr>
          <p:cNvSpPr>
            <a:spLocks noGrp="1"/>
          </p:cNvSpPr>
          <p:nvPr>
            <p:ph type="dt" sz="half" idx="19"/>
          </p:nvPr>
        </p:nvSpPr>
        <p:spPr/>
        <p:txBody>
          <a:bodyPr/>
          <a:lstStyle/>
          <a:p>
            <a:fld id="{2D1EE79A-E6D4-4691-9116-935A2AA336A9}" type="datetime1">
              <a:rPr lang="en-GB" smtClean="0"/>
              <a:t>10/11/2025</a:t>
            </a:fld>
            <a:endParaRPr lang="en-GB"/>
          </a:p>
        </p:txBody>
      </p:sp>
      <p:sp>
        <p:nvSpPr>
          <p:cNvPr id="3" name="Fußzeilenplatzhalter 2">
            <a:extLst>
              <a:ext uri="{FF2B5EF4-FFF2-40B4-BE49-F238E27FC236}">
                <a16:creationId xmlns:a16="http://schemas.microsoft.com/office/drawing/2014/main" id="{B06DCDD6-EE97-4152-606B-4C1D765A4BBA}"/>
              </a:ext>
            </a:extLst>
          </p:cNvPr>
          <p:cNvSpPr>
            <a:spLocks noGrp="1"/>
          </p:cNvSpPr>
          <p:nvPr>
            <p:ph type="ftr" sz="quarter" idx="20"/>
          </p:nvPr>
        </p:nvSpPr>
        <p:spPr/>
        <p:txBody>
          <a:bodyPr/>
          <a:lstStyle/>
          <a:p>
            <a:r>
              <a:rPr lang="en-GB" dirty="0"/>
              <a:t>Management Team PM / Optimus Syria</a:t>
            </a:r>
          </a:p>
        </p:txBody>
      </p:sp>
      <p:sp>
        <p:nvSpPr>
          <p:cNvPr id="4" name="Foliennummernplatzhalter 3">
            <a:extLst>
              <a:ext uri="{FF2B5EF4-FFF2-40B4-BE49-F238E27FC236}">
                <a16:creationId xmlns:a16="http://schemas.microsoft.com/office/drawing/2014/main" id="{90408BB9-BEF9-811E-C28B-005B934CD69F}"/>
              </a:ext>
            </a:extLst>
          </p:cNvPr>
          <p:cNvSpPr>
            <a:spLocks noGrp="1"/>
          </p:cNvSpPr>
          <p:nvPr>
            <p:ph type="sldNum" sz="quarter" idx="21"/>
          </p:nvPr>
        </p:nvSpPr>
        <p:spPr/>
        <p:txBody>
          <a:bodyPr/>
          <a:lstStyle/>
          <a:p>
            <a:fld id="{013F6232-4F06-48BA-8F69-BF531F607829}" type="slidenum">
              <a:rPr lang="en-GB" smtClean="0"/>
              <a:t>10</a:t>
            </a:fld>
            <a:endParaRPr lang="en-GB"/>
          </a:p>
        </p:txBody>
      </p:sp>
      <p:sp>
        <p:nvSpPr>
          <p:cNvPr id="10" name="Inhaltsplatzhalter 2">
            <a:extLst>
              <a:ext uri="{FF2B5EF4-FFF2-40B4-BE49-F238E27FC236}">
                <a16:creationId xmlns:a16="http://schemas.microsoft.com/office/drawing/2014/main" id="{4E32E918-047E-A687-8F76-AEFA315AA5EB}"/>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971550" indent="-514350" algn="l" defTabSz="914400" rtl="0" eaLnBrk="1" latinLnBrk="0" hangingPunct="1">
              <a:lnSpc>
                <a:spcPct val="90000"/>
              </a:lnSpc>
              <a:spcBef>
                <a:spcPts val="500"/>
              </a:spcBef>
              <a:buFont typeface="+mj-lt"/>
              <a:buAutoNum type="romanLcPeriod"/>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dirty="0"/>
          </a:p>
        </p:txBody>
      </p:sp>
      <p:sp>
        <p:nvSpPr>
          <p:cNvPr id="7" name="TextBox 6">
            <a:extLst>
              <a:ext uri="{FF2B5EF4-FFF2-40B4-BE49-F238E27FC236}">
                <a16:creationId xmlns:a16="http://schemas.microsoft.com/office/drawing/2014/main" id="{5A31047E-8727-D22E-A29E-906A26E3D4E9}"/>
              </a:ext>
            </a:extLst>
          </p:cNvPr>
          <p:cNvSpPr txBox="1"/>
          <p:nvPr/>
        </p:nvSpPr>
        <p:spPr>
          <a:xfrm>
            <a:off x="651588" y="1485726"/>
            <a:ext cx="9563644" cy="338554"/>
          </a:xfrm>
          <a:prstGeom prst="rect">
            <a:avLst/>
          </a:prstGeom>
          <a:noFill/>
        </p:spPr>
        <p:txBody>
          <a:bodyPr wrap="none" rtlCol="0">
            <a:spAutoFit/>
          </a:bodyPr>
          <a:lstStyle/>
          <a:p>
            <a:pPr algn="l"/>
            <a:r>
              <a:rPr lang="en-US" sz="1600" dirty="0"/>
              <a:t>Those teams that want to start working on the final report, the template is ready now with necessary details:</a:t>
            </a:r>
            <a:endParaRPr lang="en-DE" sz="1600" dirty="0"/>
          </a:p>
        </p:txBody>
      </p:sp>
      <p:pic>
        <p:nvPicPr>
          <p:cNvPr id="9" name="Picture 8" descr="A close-up of a project&#10;&#10;AI-generated content may be incorrect.">
            <a:extLst>
              <a:ext uri="{FF2B5EF4-FFF2-40B4-BE49-F238E27FC236}">
                <a16:creationId xmlns:a16="http://schemas.microsoft.com/office/drawing/2014/main" id="{0ED33B0C-82F3-A7D2-9F02-FFA41539D9ED}"/>
              </a:ext>
            </a:extLst>
          </p:cNvPr>
          <p:cNvPicPr>
            <a:picLocks noChangeAspect="1"/>
          </p:cNvPicPr>
          <p:nvPr/>
        </p:nvPicPr>
        <p:blipFill>
          <a:blip r:embed="rId2">
            <a:extLst>
              <a:ext uri="{28A0092B-C50C-407E-A947-70E740481C1C}">
                <a14:useLocalDpi xmlns:a14="http://schemas.microsoft.com/office/drawing/2010/main" val="0"/>
              </a:ext>
            </a:extLst>
          </a:blip>
          <a:srcRect b="4601"/>
          <a:stretch>
            <a:fillRect/>
          </a:stretch>
        </p:blipFill>
        <p:spPr>
          <a:xfrm>
            <a:off x="716429" y="1824280"/>
            <a:ext cx="3395240" cy="4633744"/>
          </a:xfrm>
          <a:prstGeom prst="rect">
            <a:avLst/>
          </a:prstGeom>
          <a:ln w="12700" cap="sq">
            <a:solidFill>
              <a:srgbClr val="000000"/>
            </a:solidFill>
            <a:miter lim="800000"/>
          </a:ln>
          <a:effectLst>
            <a:outerShdw blurRad="57150" dist="50800" dir="2700000" algn="tl" rotWithShape="0">
              <a:srgbClr val="000000">
                <a:alpha val="40000"/>
              </a:srgbClr>
            </a:outerShdw>
          </a:effectLst>
        </p:spPr>
      </p:pic>
      <p:sp>
        <p:nvSpPr>
          <p:cNvPr id="11" name="TextBox 10">
            <a:extLst>
              <a:ext uri="{FF2B5EF4-FFF2-40B4-BE49-F238E27FC236}">
                <a16:creationId xmlns:a16="http://schemas.microsoft.com/office/drawing/2014/main" id="{2DED1C83-08DC-47BB-0A9B-6EAC4517AA41}"/>
              </a:ext>
            </a:extLst>
          </p:cNvPr>
          <p:cNvSpPr txBox="1"/>
          <p:nvPr/>
        </p:nvSpPr>
        <p:spPr>
          <a:xfrm>
            <a:off x="4246780" y="2313655"/>
            <a:ext cx="6971909" cy="307777"/>
          </a:xfrm>
          <a:prstGeom prst="rect">
            <a:avLst/>
          </a:prstGeom>
          <a:noFill/>
        </p:spPr>
        <p:txBody>
          <a:bodyPr wrap="none" rtlCol="0">
            <a:spAutoFit/>
          </a:bodyPr>
          <a:lstStyle/>
          <a:p>
            <a:r>
              <a:rPr lang="en-US" sz="1400" dirty="0">
                <a:hlinkClick r:id="rId3"/>
              </a:rPr>
              <a:t>Optimus-Syria-WEC/2_Technical_Reports at main · Karim-</a:t>
            </a:r>
            <a:r>
              <a:rPr lang="en-US" sz="1400" dirty="0" err="1">
                <a:hlinkClick r:id="rId3"/>
              </a:rPr>
              <a:t>bakhtyar</a:t>
            </a:r>
            <a:r>
              <a:rPr lang="en-US" sz="1400" dirty="0">
                <a:hlinkClick r:id="rId3"/>
              </a:rPr>
              <a:t>/Optimus-Syria-WEC</a:t>
            </a:r>
            <a:endParaRPr lang="en-DE" sz="1400" dirty="0">
              <a:solidFill>
                <a:schemeClr val="bg1"/>
              </a:solidFill>
            </a:endParaRPr>
          </a:p>
        </p:txBody>
      </p:sp>
      <p:pic>
        <p:nvPicPr>
          <p:cNvPr id="15" name="Picture 14" descr="A screenshot of a computer&#10;&#10;AI-generated content may be incorrect.">
            <a:extLst>
              <a:ext uri="{FF2B5EF4-FFF2-40B4-BE49-F238E27FC236}">
                <a16:creationId xmlns:a16="http://schemas.microsoft.com/office/drawing/2014/main" id="{F9B52B14-8A94-D265-865F-A374EBA0C7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40791" y="2849893"/>
            <a:ext cx="2930852" cy="1020131"/>
          </a:xfrm>
          <a:prstGeom prst="rect">
            <a:avLst/>
          </a:prstGeom>
        </p:spPr>
      </p:pic>
      <p:sp>
        <p:nvSpPr>
          <p:cNvPr id="16" name="TextBox 15">
            <a:extLst>
              <a:ext uri="{FF2B5EF4-FFF2-40B4-BE49-F238E27FC236}">
                <a16:creationId xmlns:a16="http://schemas.microsoft.com/office/drawing/2014/main" id="{A769E5A9-4609-B0DB-E938-A26E62753214}"/>
              </a:ext>
            </a:extLst>
          </p:cNvPr>
          <p:cNvSpPr txBox="1"/>
          <p:nvPr/>
        </p:nvSpPr>
        <p:spPr>
          <a:xfrm>
            <a:off x="4244991" y="4168994"/>
            <a:ext cx="6971910" cy="523220"/>
          </a:xfrm>
          <a:prstGeom prst="rect">
            <a:avLst/>
          </a:prstGeom>
          <a:noFill/>
        </p:spPr>
        <p:txBody>
          <a:bodyPr wrap="square" rtlCol="0">
            <a:spAutoFit/>
          </a:bodyPr>
          <a:lstStyle/>
          <a:p>
            <a:r>
              <a:rPr lang="en-US" sz="1400" dirty="0">
                <a:hlinkClick r:id="rId5"/>
              </a:rPr>
              <a:t>Optimus-Syria-WEC/6_Documentation_Archive/Guidelines at main · Karim-</a:t>
            </a:r>
            <a:r>
              <a:rPr lang="en-US" sz="1400" dirty="0" err="1">
                <a:hlinkClick r:id="rId5"/>
              </a:rPr>
              <a:t>bakhtyar</a:t>
            </a:r>
            <a:r>
              <a:rPr lang="en-US" sz="1400" dirty="0">
                <a:hlinkClick r:id="rId5"/>
              </a:rPr>
              <a:t>/Optimus-Syria-WEC</a:t>
            </a:r>
            <a:endParaRPr lang="en-DE" sz="1400" dirty="0">
              <a:solidFill>
                <a:schemeClr val="bg1"/>
              </a:solidFill>
            </a:endParaRPr>
          </a:p>
        </p:txBody>
      </p:sp>
      <p:pic>
        <p:nvPicPr>
          <p:cNvPr id="18" name="Picture 17" descr="A black and white screen with white text&#10;&#10;AI-generated content may be incorrect.">
            <a:extLst>
              <a:ext uri="{FF2B5EF4-FFF2-40B4-BE49-F238E27FC236}">
                <a16:creationId xmlns:a16="http://schemas.microsoft.com/office/drawing/2014/main" id="{B6D96F24-B551-3154-6C9F-951FC3D8868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86024" y="5288051"/>
            <a:ext cx="3419952" cy="828791"/>
          </a:xfrm>
          <a:prstGeom prst="rect">
            <a:avLst/>
          </a:prstGeom>
        </p:spPr>
      </p:pic>
      <p:cxnSp>
        <p:nvCxnSpPr>
          <p:cNvPr id="20" name="Straight Arrow Connector 19">
            <a:extLst>
              <a:ext uri="{FF2B5EF4-FFF2-40B4-BE49-F238E27FC236}">
                <a16:creationId xmlns:a16="http://schemas.microsoft.com/office/drawing/2014/main" id="{C8ACB656-7E12-0BAD-E223-61D2D3CE592C}"/>
              </a:ext>
            </a:extLst>
          </p:cNvPr>
          <p:cNvCxnSpPr>
            <a:cxnSpLocks/>
          </p:cNvCxnSpPr>
          <p:nvPr/>
        </p:nvCxnSpPr>
        <p:spPr>
          <a:xfrm>
            <a:off x="4244991" y="3344257"/>
            <a:ext cx="4312269"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21" name="Picture 20" descr="A document with text and symbols&#10;&#10;AI-generated content may be incorrect.">
            <a:extLst>
              <a:ext uri="{FF2B5EF4-FFF2-40B4-BE49-F238E27FC236}">
                <a16:creationId xmlns:a16="http://schemas.microsoft.com/office/drawing/2014/main" id="{72E0CAF6-2842-0ABE-D59A-F5CDC70CD7A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70333" y="4767437"/>
            <a:ext cx="612131" cy="7925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2" name="Picture 21" descr="A white paper with blue text&#10;&#10;AI-generated content may be incorrect.">
            <a:extLst>
              <a:ext uri="{FF2B5EF4-FFF2-40B4-BE49-F238E27FC236}">
                <a16:creationId xmlns:a16="http://schemas.microsoft.com/office/drawing/2014/main" id="{F2DC25B4-AEAE-3161-558D-D3F719CD9D8C}"/>
              </a:ext>
            </a:extLst>
          </p:cNvPr>
          <p:cNvPicPr>
            <a:picLocks noChangeAspect="1"/>
          </p:cNvPicPr>
          <p:nvPr/>
        </p:nvPicPr>
        <p:blipFill>
          <a:blip r:embed="rId8">
            <a:extLst>
              <a:ext uri="{28A0092B-C50C-407E-A947-70E740481C1C}">
                <a14:useLocalDpi xmlns:a14="http://schemas.microsoft.com/office/drawing/2010/main" val="0"/>
              </a:ext>
            </a:extLst>
          </a:blip>
          <a:srcRect l="-1" r="4296" b="2474"/>
          <a:stretch>
            <a:fillRect/>
          </a:stretch>
        </p:blipFill>
        <p:spPr>
          <a:xfrm>
            <a:off x="10363810" y="5654033"/>
            <a:ext cx="587668" cy="8497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3" name="Picture 22" descr="A screenshot of a computer&#10;&#10;AI-generated content may be incorrect.">
            <a:extLst>
              <a:ext uri="{FF2B5EF4-FFF2-40B4-BE49-F238E27FC236}">
                <a16:creationId xmlns:a16="http://schemas.microsoft.com/office/drawing/2014/main" id="{274AB4C5-A7BC-A954-21F5-D04FE1AE4E1C}"/>
              </a:ext>
            </a:extLst>
          </p:cNvPr>
          <p:cNvPicPr>
            <a:picLocks noChangeAspect="1"/>
          </p:cNvPicPr>
          <p:nvPr/>
        </p:nvPicPr>
        <p:blipFill>
          <a:blip r:embed="rId9">
            <a:extLst>
              <a:ext uri="{28A0092B-C50C-407E-A947-70E740481C1C}">
                <a14:useLocalDpi xmlns:a14="http://schemas.microsoft.com/office/drawing/2010/main" val="0"/>
              </a:ext>
            </a:extLst>
          </a:blip>
          <a:srcRect r="6358"/>
          <a:stretch>
            <a:fillRect/>
          </a:stretch>
        </p:blipFill>
        <p:spPr>
          <a:xfrm>
            <a:off x="10363810" y="4741285"/>
            <a:ext cx="587668" cy="80202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4" name="Picture 23" descr="A white paper with black text&#10;&#10;AI-generated content may be incorrect.">
            <a:extLst>
              <a:ext uri="{FF2B5EF4-FFF2-40B4-BE49-F238E27FC236}">
                <a16:creationId xmlns:a16="http://schemas.microsoft.com/office/drawing/2014/main" id="{3D8A1294-5A4B-0160-7A55-62E9EEFA1AC4}"/>
              </a:ext>
            </a:extLst>
          </p:cNvPr>
          <p:cNvPicPr>
            <a:picLocks noChangeAspect="1"/>
          </p:cNvPicPr>
          <p:nvPr/>
        </p:nvPicPr>
        <p:blipFill>
          <a:blip r:embed="rId10">
            <a:extLst>
              <a:ext uri="{28A0092B-C50C-407E-A947-70E740481C1C}">
                <a14:useLocalDpi xmlns:a14="http://schemas.microsoft.com/office/drawing/2010/main" val="0"/>
              </a:ext>
            </a:extLst>
          </a:blip>
          <a:srcRect r="2039" b="1274"/>
          <a:stretch>
            <a:fillRect/>
          </a:stretch>
        </p:blipFill>
        <p:spPr>
          <a:xfrm>
            <a:off x="9627564" y="5658223"/>
            <a:ext cx="587669" cy="8455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5" name="Picture 24" descr="A screenshot of a computer&#10;&#10;AI-generated content may be incorrect.">
            <a:extLst>
              <a:ext uri="{FF2B5EF4-FFF2-40B4-BE49-F238E27FC236}">
                <a16:creationId xmlns:a16="http://schemas.microsoft.com/office/drawing/2014/main" id="{182A328B-A659-83DB-AC8A-E4BAED3AE42A}"/>
              </a:ext>
            </a:extLst>
          </p:cNvPr>
          <p:cNvPicPr>
            <a:picLocks noChangeAspect="1"/>
          </p:cNvPicPr>
          <p:nvPr/>
        </p:nvPicPr>
        <p:blipFill>
          <a:blip r:embed="rId11">
            <a:extLst>
              <a:ext uri="{28A0092B-C50C-407E-A947-70E740481C1C}">
                <a14:useLocalDpi xmlns:a14="http://schemas.microsoft.com/office/drawing/2010/main" val="0"/>
              </a:ext>
            </a:extLst>
          </a:blip>
          <a:srcRect b="5362"/>
          <a:stretch>
            <a:fillRect/>
          </a:stretch>
        </p:blipFill>
        <p:spPr>
          <a:xfrm>
            <a:off x="9627564" y="4750807"/>
            <a:ext cx="587668" cy="7925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6" name="Picture 25" descr="A white paper with black text&#10;&#10;AI-generated content may be incorrect.">
            <a:extLst>
              <a:ext uri="{FF2B5EF4-FFF2-40B4-BE49-F238E27FC236}">
                <a16:creationId xmlns:a16="http://schemas.microsoft.com/office/drawing/2014/main" id="{BB11597B-4AED-0B75-4775-B1FEB8391BC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887943" y="5658079"/>
            <a:ext cx="589356" cy="8456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27" name="Straight Arrow Connector 26">
            <a:extLst>
              <a:ext uri="{FF2B5EF4-FFF2-40B4-BE49-F238E27FC236}">
                <a16:creationId xmlns:a16="http://schemas.microsoft.com/office/drawing/2014/main" id="{ABACEE0C-BD4A-9552-D9C4-B88CD69B7751}"/>
              </a:ext>
            </a:extLst>
          </p:cNvPr>
          <p:cNvCxnSpPr>
            <a:cxnSpLocks/>
          </p:cNvCxnSpPr>
          <p:nvPr/>
        </p:nvCxnSpPr>
        <p:spPr>
          <a:xfrm flipH="1">
            <a:off x="7924800" y="5654033"/>
            <a:ext cx="81599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56B71015-8012-1EF2-341B-FC1CD32D51F2}"/>
              </a:ext>
            </a:extLst>
          </p:cNvPr>
          <p:cNvCxnSpPr/>
          <p:nvPr/>
        </p:nvCxnSpPr>
        <p:spPr>
          <a:xfrm>
            <a:off x="4244991" y="4082785"/>
            <a:ext cx="7760397" cy="0"/>
          </a:xfrm>
          <a:prstGeom prst="line">
            <a:avLst/>
          </a:prstGeom>
          <a:ln w="571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91041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1+#ppt_w/2"/>
                                          </p:val>
                                        </p:tav>
                                        <p:tav tm="100000">
                                          <p:val>
                                            <p:strVal val="#ppt_x"/>
                                          </p:val>
                                        </p:tav>
                                      </p:tavLst>
                                    </p:anim>
                                    <p:anim calcmode="lin" valueType="num">
                                      <p:cBhvr additive="base">
                                        <p:cTn id="12" dur="500" fill="hold"/>
                                        <p:tgtEl>
                                          <p:spTgt spid="25"/>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fill="hold"/>
                                        <p:tgtEl>
                                          <p:spTgt spid="23"/>
                                        </p:tgtEl>
                                        <p:attrNameLst>
                                          <p:attrName>ppt_x</p:attrName>
                                        </p:attrNameLst>
                                      </p:cBhvr>
                                      <p:tavLst>
                                        <p:tav tm="0">
                                          <p:val>
                                            <p:strVal val="1+#ppt_w/2"/>
                                          </p:val>
                                        </p:tav>
                                        <p:tav tm="100000">
                                          <p:val>
                                            <p:strVal val="#ppt_x"/>
                                          </p:val>
                                        </p:tav>
                                      </p:tavLst>
                                    </p:anim>
                                    <p:anim calcmode="lin" valueType="num">
                                      <p:cBhvr additive="base">
                                        <p:cTn id="16" dur="500" fill="hold"/>
                                        <p:tgtEl>
                                          <p:spTgt spid="23"/>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1+#ppt_w/2"/>
                                          </p:val>
                                        </p:tav>
                                        <p:tav tm="100000">
                                          <p:val>
                                            <p:strVal val="#ppt_x"/>
                                          </p:val>
                                        </p:tav>
                                      </p:tavLst>
                                    </p:anim>
                                    <p:anim calcmode="lin" valueType="num">
                                      <p:cBhvr additive="base">
                                        <p:cTn id="20" dur="500" fill="hold"/>
                                        <p:tgtEl>
                                          <p:spTgt spid="22"/>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500" fill="hold"/>
                                        <p:tgtEl>
                                          <p:spTgt spid="24"/>
                                        </p:tgtEl>
                                        <p:attrNameLst>
                                          <p:attrName>ppt_x</p:attrName>
                                        </p:attrNameLst>
                                      </p:cBhvr>
                                      <p:tavLst>
                                        <p:tav tm="0">
                                          <p:val>
                                            <p:strVal val="1+#ppt_w/2"/>
                                          </p:val>
                                        </p:tav>
                                        <p:tav tm="100000">
                                          <p:val>
                                            <p:strVal val="#ppt_x"/>
                                          </p:val>
                                        </p:tav>
                                      </p:tavLst>
                                    </p:anim>
                                    <p:anim calcmode="lin" valueType="num">
                                      <p:cBhvr additive="base">
                                        <p:cTn id="24" dur="500" fill="hold"/>
                                        <p:tgtEl>
                                          <p:spTgt spid="24"/>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500" fill="hold"/>
                                        <p:tgtEl>
                                          <p:spTgt spid="26"/>
                                        </p:tgtEl>
                                        <p:attrNameLst>
                                          <p:attrName>ppt_x</p:attrName>
                                        </p:attrNameLst>
                                      </p:cBhvr>
                                      <p:tavLst>
                                        <p:tav tm="0">
                                          <p:val>
                                            <p:strVal val="1+#ppt_w/2"/>
                                          </p:val>
                                        </p:tav>
                                        <p:tav tm="100000">
                                          <p:val>
                                            <p:strVal val="#ppt_x"/>
                                          </p:val>
                                        </p:tav>
                                      </p:tavLst>
                                    </p:anim>
                                    <p:anim calcmode="lin" valueType="num">
                                      <p:cBhvr additive="base">
                                        <p:cTn id="28"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CB6ED1-18E3-9640-3D93-84F8B0B15004}"/>
              </a:ext>
            </a:extLst>
          </p:cNvPr>
          <p:cNvSpPr>
            <a:spLocks noGrp="1"/>
          </p:cNvSpPr>
          <p:nvPr>
            <p:ph type="title"/>
          </p:nvPr>
        </p:nvSpPr>
        <p:spPr>
          <a:xfrm>
            <a:off x="698241" y="271819"/>
            <a:ext cx="10515600" cy="1325563"/>
          </a:xfrm>
        </p:spPr>
        <p:txBody>
          <a:bodyPr/>
          <a:lstStyle/>
          <a:p>
            <a:r>
              <a:rPr lang="de-DE" dirty="0"/>
              <a:t>Bibliography / Managment Team / PM</a:t>
            </a:r>
          </a:p>
        </p:txBody>
      </p:sp>
      <p:sp>
        <p:nvSpPr>
          <p:cNvPr id="7" name="Content Placeholder 2">
            <a:extLst>
              <a:ext uri="{FF2B5EF4-FFF2-40B4-BE49-F238E27FC236}">
                <a16:creationId xmlns:a16="http://schemas.microsoft.com/office/drawing/2014/main" id="{F5C19340-9D16-A981-A772-1E4CF9E86436}"/>
              </a:ext>
            </a:extLst>
          </p:cNvPr>
          <p:cNvSpPr>
            <a:spLocks noGrp="1"/>
          </p:cNvSpPr>
          <p:nvPr>
            <p:ph idx="1" hasCustomPrompt="1"/>
          </p:nvPr>
        </p:nvSpPr>
        <p:spPr>
          <a:xfrm>
            <a:off x="513184" y="1483568"/>
            <a:ext cx="11949611" cy="4749379"/>
          </a:xfrm>
        </p:spPr>
        <p:txBody>
          <a:bodyPr>
            <a:normAutofit/>
          </a:bodyPr>
          <a:lstStyle>
            <a:lvl1pPr marL="0" indent="0">
              <a:buNone/>
              <a:defRPr sz="1600"/>
            </a:lvl1pPr>
          </a:lstStyle>
          <a:p>
            <a:pPr>
              <a:defRPr/>
            </a:pPr>
            <a:r>
              <a:rPr lang="en-US" dirty="0"/>
              <a:t>[1] GL Guideline for the Certification of Wind Turbines: Edition 2010</a:t>
            </a:r>
          </a:p>
          <a:p>
            <a:pPr>
              <a:defRPr/>
            </a:pPr>
            <a:r>
              <a:rPr lang="en-US" dirty="0"/>
              <a:t>[2] DNVGL-ST-0437: Loads and site conditions for wind turbines: Edition November 2016</a:t>
            </a:r>
          </a:p>
          <a:p>
            <a:pPr>
              <a:defRPr/>
            </a:pPr>
            <a:r>
              <a:rPr lang="en-US" dirty="0"/>
              <a:t>[3] DNVGL-ST-0376: Rotor blades for wind turbines: Edition December 2015 </a:t>
            </a:r>
          </a:p>
          <a:p>
            <a:pPr>
              <a:defRPr/>
            </a:pPr>
            <a:r>
              <a:rPr lang="en-US" dirty="0"/>
              <a:t>[4] DNVGL-ST-0361: Machinery for wind turbines: Edition September 2016</a:t>
            </a:r>
          </a:p>
          <a:p>
            <a:pPr lvl="0">
              <a:defRPr/>
            </a:pPr>
            <a:r>
              <a:rPr lang="en-US" dirty="0"/>
              <a:t>[5] DNVGL-ST-0126: Support structures for wind turbines: Edition July 2018 </a:t>
            </a:r>
          </a:p>
          <a:p>
            <a:pPr>
              <a:defRPr/>
            </a:pPr>
            <a:r>
              <a:rPr lang="en-US" dirty="0"/>
              <a:t>[6] DNVGL-RP-0416: Corrosion protection for wind turbines: Edition March 2016</a:t>
            </a:r>
          </a:p>
          <a:p>
            <a:pPr lvl="0">
              <a:defRPr/>
            </a:pPr>
            <a:endParaRPr lang="en-US" dirty="0"/>
          </a:p>
        </p:txBody>
      </p:sp>
      <p:sp>
        <p:nvSpPr>
          <p:cNvPr id="4" name="Datumsplatzhalter 3">
            <a:extLst>
              <a:ext uri="{FF2B5EF4-FFF2-40B4-BE49-F238E27FC236}">
                <a16:creationId xmlns:a16="http://schemas.microsoft.com/office/drawing/2014/main" id="{D0D8ED35-2E13-75BD-2A2E-AC6374785462}"/>
              </a:ext>
            </a:extLst>
          </p:cNvPr>
          <p:cNvSpPr>
            <a:spLocks noGrp="1"/>
          </p:cNvSpPr>
          <p:nvPr>
            <p:ph type="dt" sz="half" idx="10"/>
          </p:nvPr>
        </p:nvSpPr>
        <p:spPr/>
        <p:txBody>
          <a:bodyPr/>
          <a:lstStyle/>
          <a:p>
            <a:fld id="{26D83DB4-11DF-4DC9-9AFB-FDB45DBDB9C4}" type="datetime1">
              <a:rPr lang="en-GB" smtClean="0"/>
              <a:t>10/11/2025</a:t>
            </a:fld>
            <a:endParaRPr lang="en-GB" dirty="0"/>
          </a:p>
        </p:txBody>
      </p:sp>
      <p:sp>
        <p:nvSpPr>
          <p:cNvPr id="6" name="Fußzeilenplatzhalter 5">
            <a:extLst>
              <a:ext uri="{FF2B5EF4-FFF2-40B4-BE49-F238E27FC236}">
                <a16:creationId xmlns:a16="http://schemas.microsoft.com/office/drawing/2014/main" id="{40055318-CDFF-2436-5D76-D30CE5CB6A48}"/>
              </a:ext>
            </a:extLst>
          </p:cNvPr>
          <p:cNvSpPr>
            <a:spLocks noGrp="1"/>
          </p:cNvSpPr>
          <p:nvPr>
            <p:ph type="ftr" sz="quarter" idx="11"/>
          </p:nvPr>
        </p:nvSpPr>
        <p:spPr/>
        <p:txBody>
          <a:bodyPr/>
          <a:lstStyle/>
          <a:p>
            <a:r>
              <a:rPr lang="en-GB" dirty="0"/>
              <a:t>Management Team PM / Optimus Syria</a:t>
            </a:r>
          </a:p>
        </p:txBody>
      </p:sp>
      <p:sp>
        <p:nvSpPr>
          <p:cNvPr id="5" name="Foliennummernplatzhalter 4">
            <a:extLst>
              <a:ext uri="{FF2B5EF4-FFF2-40B4-BE49-F238E27FC236}">
                <a16:creationId xmlns:a16="http://schemas.microsoft.com/office/drawing/2014/main" id="{162673D2-F682-F630-F59F-C4FFF6A906E1}"/>
              </a:ext>
            </a:extLst>
          </p:cNvPr>
          <p:cNvSpPr>
            <a:spLocks noGrp="1"/>
          </p:cNvSpPr>
          <p:nvPr>
            <p:ph type="sldNum" sz="quarter" idx="12"/>
          </p:nvPr>
        </p:nvSpPr>
        <p:spPr/>
        <p:txBody>
          <a:bodyPr/>
          <a:lstStyle/>
          <a:p>
            <a:fld id="{013F6232-4F06-48BA-8F69-BF531F607829}" type="slidenum">
              <a:rPr lang="en-GB" smtClean="0"/>
              <a:pPr/>
              <a:t>11</a:t>
            </a:fld>
            <a:endParaRPr lang="en-GB" dirty="0"/>
          </a:p>
        </p:txBody>
      </p:sp>
      <p:sp>
        <p:nvSpPr>
          <p:cNvPr id="3" name="Textplatzhalter 2">
            <a:extLst>
              <a:ext uri="{FF2B5EF4-FFF2-40B4-BE49-F238E27FC236}">
                <a16:creationId xmlns:a16="http://schemas.microsoft.com/office/drawing/2014/main" id="{04F89852-0382-5806-3356-FA1C77F6D283}"/>
              </a:ext>
            </a:extLst>
          </p:cNvPr>
          <p:cNvSpPr>
            <a:spLocks noGrp="1"/>
          </p:cNvSpPr>
          <p:nvPr>
            <p:ph type="body" sz="quarter" idx="18"/>
          </p:nvPr>
        </p:nvSpPr>
        <p:spPr/>
        <p:txBody>
          <a:bodyPr/>
          <a:lstStyle/>
          <a:p>
            <a:r>
              <a:rPr lang="en-GB" dirty="0"/>
              <a:t>Bakhtyar Karim</a:t>
            </a:r>
          </a:p>
        </p:txBody>
      </p:sp>
    </p:spTree>
    <p:extLst>
      <p:ext uri="{BB962C8B-B14F-4D97-AF65-F5344CB8AC3E}">
        <p14:creationId xmlns:p14="http://schemas.microsoft.com/office/powerpoint/2010/main" val="761244998"/>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1200" dirty="0" smtClean="0">
            <a:solidFill>
              <a:schemeClr val="bg1"/>
            </a:solidFill>
          </a:defRPr>
        </a:defPPr>
      </a:lstStyle>
    </a:txDef>
  </a:objectDefaults>
  <a:extraClrSchemeLst/>
  <a:extLst>
    <a:ext uri="{05A4C25C-085E-4340-85A3-A5531E510DB2}">
      <thm15:themeFamily xmlns:thm15="http://schemas.microsoft.com/office/thememl/2012/main" name="Managment team" id="{49CF8F14-4D36-410B-8FD7-EF9AC5FC0265}" vid="{E0BCDBF3-E95D-42DF-9CFA-5A341A93A409}"/>
    </a:ext>
  </a:extLst>
</a:theme>
</file>

<file path=ppt/theme/theme2.xml><?xml version="1.0" encoding="utf-8"?>
<a:theme xmlns:a="http://schemas.openxmlformats.org/drawingml/2006/main" name="Benutzerdefiniertes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nagment team" id="{49CF8F14-4D36-410B-8FD7-EF9AC5FC0265}" vid="{B7A59B36-2137-465F-86DC-E5A6887FF7C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 dockstate="right" visibility="0" width="438"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CD039B6-C6AB-492A-94BF-C46AF895D2E7}">
  <we:reference id="WA200007130" version="1.0.0.1" store="en-US" storeType="omex"/>
  <we:alternateReferences>
    <we:reference id="WA200007130" version="1.0.0.1" store="en-US"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73D784B2-E216-4A14-BE4B-F0CA301E2B20}">
  <we:reference id="WA200005566" version="3.0.0.3" store="en-US" storeType="omex"/>
  <we:alternateReferences>
    <we:reference id="WA200005566" version="3.0.0.3"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Managment team</Template>
  <TotalTime>0</TotalTime>
  <Words>1273</Words>
  <Application>Microsoft Office PowerPoint</Application>
  <PresentationFormat>Widescreen</PresentationFormat>
  <Paragraphs>115</Paragraphs>
  <Slides>11</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11</vt:i4>
      </vt:variant>
    </vt:vector>
  </HeadingPairs>
  <TitlesOfParts>
    <vt:vector size="23" baseType="lpstr">
      <vt:lpstr>Aptos</vt:lpstr>
      <vt:lpstr>Aptos (Textkörper)</vt:lpstr>
      <vt:lpstr>Aptos Display</vt:lpstr>
      <vt:lpstr>Arial</vt:lpstr>
      <vt:lpstr>Calibri</vt:lpstr>
      <vt:lpstr>Calibri Light</vt:lpstr>
      <vt:lpstr>Cambria</vt:lpstr>
      <vt:lpstr>DM Sans</vt:lpstr>
      <vt:lpstr>Roboto Mono</vt:lpstr>
      <vt:lpstr>Times New Roman</vt:lpstr>
      <vt:lpstr>Office</vt:lpstr>
      <vt:lpstr>Benutzerdefiniertes Design</vt:lpstr>
      <vt:lpstr>List of contents</vt:lpstr>
      <vt:lpstr>1. Introduction to Guidlines</vt:lpstr>
      <vt:lpstr>1.i. Guidline for Certification of Wind turbines 2010</vt:lpstr>
      <vt:lpstr>1.ii. DNV/ST/0437: Load and Site Condistions</vt:lpstr>
      <vt:lpstr>1.iii. DNVGL/ST/0376: Rotor Blades for Wind Turbines</vt:lpstr>
      <vt:lpstr>1.iv. DNVGL/ST/0361: Machinery for Wind Turbines</vt:lpstr>
      <vt:lpstr>1.v. DNVGL/ST/0126: Support Structure for Wind Turbines</vt:lpstr>
      <vt:lpstr>1.vi. DNVGL/RP/0416: Corrosion protection for Wind Turbines</vt:lpstr>
      <vt:lpstr>2.i. Mass distribution </vt:lpstr>
      <vt:lpstr>3. Final Report Template &amp; GitHub  </vt:lpstr>
      <vt:lpstr>Bibliography / Managment Team / PM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List of contents</dc:title>
  <dc:creator>Bakhtiar Sabir</dc:creator>
  <cp:lastModifiedBy>Bakhtiar Sabir</cp:lastModifiedBy>
  <cp:revision>20</cp:revision>
  <dcterms:created xsi:type="dcterms:W3CDTF">2025-09-29T10:47:20Z</dcterms:created>
  <dcterms:modified xsi:type="dcterms:W3CDTF">2025-11-10T18:18:07Z</dcterms:modified>
</cp:coreProperties>
</file>