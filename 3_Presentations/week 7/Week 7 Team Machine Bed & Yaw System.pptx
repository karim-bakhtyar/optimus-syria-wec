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handoutMasterIdLst>
    <p:handoutMasterId r:id="rId12"/>
  </p:handoutMasterIdLst>
  <p:sldIdLst>
    <p:sldId id="263" r:id="rId3"/>
    <p:sldId id="285" r:id="rId4"/>
    <p:sldId id="308" r:id="rId5"/>
    <p:sldId id="291" r:id="rId6"/>
    <p:sldId id="309" r:id="rId7"/>
    <p:sldId id="310" r:id="rId8"/>
    <p:sldId id="311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08"/>
            <p14:sldId id="291"/>
            <p14:sldId id="309"/>
            <p14:sldId id="310"/>
            <p14:sldId id="311"/>
            <p14:sldId id="290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nfiglioli.com/_default_upload_bucket/TR_CAT_WIND_STD_ENG_R05_0.pdf" TargetMode="External"/><Relationship Id="rId2" Type="http://schemas.openxmlformats.org/officeDocument/2006/relationships/slide" Target="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thyssenkrupp-rothe-erde_Catalogue_EN_0423.pdf" TargetMode="External"/><Relationship Id="rId5" Type="http://schemas.openxmlformats.org/officeDocument/2006/relationships/hyperlink" Target="Report_Optimus92LE_Machinebed_Yawsystem_Rev1%20(1).pdf" TargetMode="External"/><Relationship Id="rId4" Type="http://schemas.openxmlformats.org/officeDocument/2006/relationships/hyperlink" Target="Final%20report%20Machine%20bed,%20yaw%20syste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Sathishkumar Venkatachalam, Shrihari G Kadam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Machine Bed &amp; Yaw System/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- 7</a:t>
            </a:r>
          </a:p>
          <a:p>
            <a:r>
              <a:rPr lang="it-IT" sz="2000" dirty="0"/>
              <a:t>Date: 04.11.2025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8376D06-4672-9EF6-7B17-FCFA47C3FDDF}"/>
              </a:ext>
            </a:extLst>
          </p:cNvPr>
          <p:cNvSpPr txBox="1">
            <a:spLocks/>
          </p:cNvSpPr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</a:t>
            </a:r>
            <a:r>
              <a:rPr lang="en-GB" dirty="0"/>
              <a:t>Sathishkumar Venkatachalam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5D8C-3E5B-E602-A935-521A1581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C580E-2809-B049-3D67-5D7769A1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143C-9BB0-DF67-AD4B-795FC4CF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0ED4E-7AD5-F9DB-3A70-EE05E34F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CB104A-0713-9C47-0F5D-96E287DF59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D5F662-FC69-5BA9-74AF-843D9516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9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74C8A896-5872-DF50-1F93-F0340A0A5B2E}"/>
              </a:ext>
            </a:extLst>
          </p:cNvPr>
          <p:cNvSpPr txBox="1"/>
          <p:nvPr/>
        </p:nvSpPr>
        <p:spPr>
          <a:xfrm>
            <a:off x="1589405" y="1786976"/>
            <a:ext cx="4281805" cy="23381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Yaw Bearing Selection &amp;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Yaw Bearing Teeth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Yaw drive &amp; its Motor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000" dirty="0"/>
              <a:t>Bed Casting – New estimations</a:t>
            </a:r>
            <a:r>
              <a:rPr lang="en-US" sz="2000" dirty="0"/>
              <a:t> </a:t>
            </a:r>
            <a:endParaRPr lang="en-IN" altLang="en-GB" sz="2000" dirty="0"/>
          </a:p>
        </p:txBody>
      </p:sp>
    </p:spTree>
    <p:extLst>
      <p:ext uri="{BB962C8B-B14F-4D97-AF65-F5344CB8AC3E}">
        <p14:creationId xmlns:p14="http://schemas.microsoft.com/office/powerpoint/2010/main" val="270743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EAAE-BA35-A8A2-25C5-DD12271A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9983F-38B4-BEAB-5B92-A13758AC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BE329-24E5-1CA5-6F29-488AA9E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6FAC-A587-5ADC-8AB6-2786487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AEB46C-8D4C-77DA-D4ED-E81CA97C6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A82073-D53B-4D6B-A04A-11E1C6B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  <a:sym typeface="+mn-ea"/>
              </a:rPr>
              <a:t>Yaw Bearing Selection &amp; Details</a:t>
            </a:r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3434" y="1115905"/>
            <a:ext cx="11360502" cy="2664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1. Bearing Manufacturer - </a:t>
            </a:r>
            <a:r>
              <a:rPr lang="en-IN" sz="2000" b="1" dirty="0"/>
              <a:t>Thyssenkrupp Bearing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2. Bearing Type - </a:t>
            </a:r>
            <a:r>
              <a:rPr lang="en-IN" sz="2000" b="1" dirty="0"/>
              <a:t>Double-row four-point</a:t>
            </a:r>
            <a:r>
              <a:rPr lang="en-IN" sz="2000" dirty="0"/>
              <a:t> Bearing with </a:t>
            </a:r>
            <a:r>
              <a:rPr lang="en-IN" sz="2000" b="1" dirty="0"/>
              <a:t>External Gears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3. Manufacturer Dr. No: </a:t>
            </a:r>
            <a:r>
              <a:rPr lang="en-IN" sz="2000" b="1" dirty="0"/>
              <a:t>091.50.2842.99041.1502  (20)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4. Value of Da is </a:t>
            </a:r>
            <a:r>
              <a:rPr lang="" altLang="en-US" sz="2000" dirty="0"/>
              <a:t>Ø</a:t>
            </a:r>
            <a:r>
              <a:rPr lang="en-IN" sz="2000" dirty="0"/>
              <a:t>3128,4mm and upscaling Da is app. </a:t>
            </a:r>
            <a:r>
              <a:rPr lang="en-IN" sz="2000" b="1" dirty="0"/>
              <a:t>3903,9</a:t>
            </a:r>
            <a:r>
              <a:rPr lang="" altLang="en-US" sz="2000" b="1" dirty="0"/>
              <a:t>Ø</a:t>
            </a:r>
            <a:r>
              <a:rPr lang="en-IN" sz="2000" b="1" dirty="0"/>
              <a:t>mm</a:t>
            </a:r>
            <a:r>
              <a:rPr lang="en-IN" sz="2000" dirty="0"/>
              <a:t>. Tolerance Safe Zone: </a:t>
            </a:r>
            <a:r>
              <a:rPr lang="en-IN" sz="2000" b="1" dirty="0"/>
              <a:t>4000± 5mm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pic>
        <p:nvPicPr>
          <p:cNvPr id="3" name="Picture 2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3896360"/>
            <a:ext cx="5141844" cy="1845735"/>
          </a:xfrm>
          <a:prstGeom prst="rect">
            <a:avLst/>
          </a:prstGeom>
        </p:spPr>
      </p:pic>
      <p:pic>
        <p:nvPicPr>
          <p:cNvPr id="7" name="Picture 6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68" y="3899535"/>
            <a:ext cx="4945902" cy="1839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A08B2B-8E30-64FD-6AB0-27C3EB6BBED0}"/>
              </a:ext>
            </a:extLst>
          </p:cNvPr>
          <p:cNvSpPr txBox="1"/>
          <p:nvPr/>
        </p:nvSpPr>
        <p:spPr>
          <a:xfrm>
            <a:off x="10780408" y="5742095"/>
            <a:ext cx="573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 action="ppaction://hlinksldjump"/>
              </a:rPr>
              <a:t>[4]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4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60AA31-782F-49C7-4800-0509FD0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  <a:sym typeface="+mn-ea"/>
              </a:rPr>
              <a:t>Yaw Bearing Selection &amp; Details</a:t>
            </a:r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7" name="Picture 6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2441575"/>
            <a:ext cx="3364865" cy="2543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626ED6-748A-98FE-423B-DFCCC5C763E4}"/>
              </a:ext>
            </a:extLst>
          </p:cNvPr>
          <p:cNvSpPr txBox="1"/>
          <p:nvPr/>
        </p:nvSpPr>
        <p:spPr>
          <a:xfrm>
            <a:off x="694690" y="5557092"/>
            <a:ext cx="573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 action="ppaction://hlinksldjump"/>
              </a:rPr>
              <a:t>[4]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7DF6E5-1405-F611-A2BC-3E460FFDC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522" y="1577950"/>
            <a:ext cx="5909278" cy="427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837-D0A8-9473-D329-97844B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7C539C-E88F-524D-F12D-B989452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2ECA-2223-DDFB-0160-FFEF721D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FEAF8B-B5BF-11F6-E77B-A9C9692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F77C54-941F-05B0-B686-B6E9A99C2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EF60FA-DEFE-899A-8E9C-75BDAC7C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318474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 dirty="0">
                <a:sym typeface="+mn-ea"/>
              </a:rPr>
              <a:t>Yaw Bearing / Pinion Teeth Module</a:t>
            </a:r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pic>
        <p:nvPicPr>
          <p:cNvPr id="2" name="Picture 1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" y="1872615"/>
            <a:ext cx="3502025" cy="3735705"/>
          </a:xfrm>
          <a:prstGeom prst="rect">
            <a:avLst/>
          </a:prstGeom>
        </p:spPr>
      </p:pic>
      <p:pic>
        <p:nvPicPr>
          <p:cNvPr id="3" name="Picture 2" descr="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995" y="1872615"/>
            <a:ext cx="2991485" cy="3799205"/>
          </a:xfrm>
          <a:prstGeom prst="rect">
            <a:avLst/>
          </a:prstGeom>
        </p:spPr>
      </p:pic>
      <p:pic>
        <p:nvPicPr>
          <p:cNvPr id="8" name="Picture 7" descr="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425" y="1872615"/>
            <a:ext cx="2037715" cy="1788795"/>
          </a:xfrm>
          <a:prstGeom prst="rect">
            <a:avLst/>
          </a:prstGeom>
        </p:spPr>
      </p:pic>
      <p:pic>
        <p:nvPicPr>
          <p:cNvPr id="11" name="Picture 10" descr="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185" y="3858895"/>
            <a:ext cx="1880870" cy="18808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465E56-13D3-2704-7EA6-0AD42EE22F40}"/>
              </a:ext>
            </a:extLst>
          </p:cNvPr>
          <p:cNvSpPr txBox="1"/>
          <p:nvPr/>
        </p:nvSpPr>
        <p:spPr>
          <a:xfrm>
            <a:off x="694690" y="5836898"/>
            <a:ext cx="6139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Source: </a:t>
            </a:r>
            <a:r>
              <a:rPr lang="en-IN" sz="1400" i="1" dirty="0"/>
              <a:t>provided by Bonfiglioli contact team on request. 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71974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74E5-EA3C-DF73-0F68-250666FD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F45EB5-2CE9-428B-8728-9BDFF32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3F572-5B6D-309F-27BD-C7105859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1AB53-3CE5-5714-38EA-C13DEC96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FDD505-E63B-3CE9-E5F5-A2E0C5DDB2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1048661" name="Title 1">
            <a:extLst>
              <a:ext uri="{FF2B5EF4-FFF2-40B4-BE49-F238E27FC236}">
                <a16:creationId xmlns:a16="http://schemas.microsoft.com/office/drawing/2014/main" id="{5A22A91E-DECF-F37B-11BF-28FD0B77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9" y="355794"/>
            <a:ext cx="11905861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3600" b="1" dirty="0">
                <a:sym typeface="+mn-ea"/>
              </a:rPr>
              <a:t>Yaw drive &amp; its Motor specification</a:t>
            </a:r>
            <a:r>
              <a:rPr lang="en-IN" altLang="en-US" sz="36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2085" y="1443354"/>
            <a:ext cx="9718040" cy="4924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sz="2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Specification</a:t>
            </a:r>
            <a:r>
              <a:rPr lang="en-US" sz="2200" b="1" dirty="0">
                <a:solidFill>
                  <a:prstClr val="black"/>
                </a:solidFill>
                <a:latin typeface="Aptos" panose="02110004020202020204"/>
                <a:sym typeface="+mn-ea"/>
              </a:rPr>
              <a:t>s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IN" altLang="en-US" sz="2200" b="1" dirty="0">
                <a:solidFill>
                  <a:prstClr val="black"/>
                </a:solidFill>
                <a:latin typeface="Aptos" panose="02110004020202020204"/>
                <a:sym typeface="+mn-ea"/>
              </a:rPr>
              <a:t>Drive : </a:t>
            </a:r>
            <a:r>
              <a:rPr lang="en-IN" altLang="en-US" sz="2200" dirty="0">
                <a:solidFill>
                  <a:prstClr val="black"/>
                </a:solidFill>
                <a:latin typeface="Aptos" panose="02110004020202020204"/>
                <a:sym typeface="+mn-ea"/>
              </a:rPr>
              <a:t>Bonfiglioli 716 T4</a:t>
            </a:r>
            <a:endParaRPr lang="en-IN" altLang="en-US" sz="2200" b="1" dirty="0">
              <a:solidFill>
                <a:prstClr val="black"/>
              </a:solidFill>
              <a:latin typeface="Aptos" panose="02110004020202020204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Motor: </a:t>
            </a:r>
            <a:r>
              <a:rPr 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BN160MR motor (11-15kW), 4 brake motor.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Gear Type: </a:t>
            </a:r>
            <a:r>
              <a:rPr 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Planetary gear system for high torque and load capacity.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Torque: </a:t>
            </a:r>
            <a:r>
              <a:rPr 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Capable of delivering rated torque up to 150,000 Nm and peak torque up to 400,000 Nm.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2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0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Benefit of </a:t>
            </a:r>
            <a:r>
              <a:rPr lang="en-IN" altLang="en-US" sz="20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6</a:t>
            </a:r>
            <a:r>
              <a:rPr lang="en-US" sz="20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 Drives: </a:t>
            </a:r>
            <a:r>
              <a:rPr 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Distributes the load</a:t>
            </a:r>
            <a:r>
              <a:rPr lang="en-I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 &amp; </a:t>
            </a:r>
            <a:r>
              <a:rPr 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ensures highly accurate directional control.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Gear System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Planetary Gear System - Durability - Excellent load capacity</a:t>
            </a:r>
            <a:endParaRPr lang="en-US" altLang="en-US" sz="2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sym typeface="+mn-ea"/>
            </a:endParaRPr>
          </a:p>
        </p:txBody>
      </p:sp>
      <p:sp>
        <p:nvSpPr>
          <p:cNvPr id="2" name="Text Box 8"/>
          <p:cNvSpPr txBox="1"/>
          <p:nvPr/>
        </p:nvSpPr>
        <p:spPr>
          <a:xfrm>
            <a:off x="8282694" y="5749090"/>
            <a:ext cx="4718050" cy="997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1400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                                         Source: </a:t>
            </a:r>
            <a:r>
              <a:rPr lang="en-US" altLang="en-US" sz="1400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Bonfiglioli </a:t>
            </a:r>
            <a:r>
              <a:rPr lang="en-IN" sz="1400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716 T4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1400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sym typeface="+mn-ea"/>
              </a:rPr>
              <a:t>                                                            + BN 160MR</a:t>
            </a:r>
            <a:endParaRPr lang="en-IN" altLang="en-US" sz="1400" i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sym typeface="+mn-e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CD9CA-5A26-9193-34C5-A86E4E59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600" y="2948943"/>
            <a:ext cx="1479567" cy="27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ABE-EC2D-4168-9C33-C738DCB4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610F1-4F52-FD59-D357-C2535E30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BC7725-8C07-1A4E-52F0-CC65E652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9E2AC4-D631-580A-3885-C23B67BB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447CCDC-97AD-F098-2112-52C8043AFC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</a:rPr>
              <a:t>Bed Casting – New estimations</a:t>
            </a:r>
            <a:r>
              <a:rPr lang="en-US" sz="4000" b="1" dirty="0">
                <a:latin typeface="Aptos" panose="020B0004020202020204" pitchFamily="34" charset="0"/>
              </a:rPr>
              <a:t> 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EE418-5531-FD35-0863-830755CBA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706" y="1304765"/>
            <a:ext cx="6517993" cy="52347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6D2E4-946B-E8BD-8A64-43B0969DAE53}"/>
              </a:ext>
            </a:extLst>
          </p:cNvPr>
          <p:cNvSpPr txBox="1"/>
          <p:nvPr/>
        </p:nvSpPr>
        <p:spPr>
          <a:xfrm>
            <a:off x="1154988" y="2228671"/>
            <a:ext cx="34470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000" dirty="0">
                <a:solidFill>
                  <a:prstClr val="black"/>
                </a:solidFill>
                <a:latin typeface="Aptos" panose="02110004020202020204"/>
                <a:sym typeface="+mn-ea"/>
              </a:rPr>
              <a:t>All dimensions are in mm.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ptos" panose="02110004020202020204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ptos" panose="02110004020202020204"/>
                <a:sym typeface="+mn-ea"/>
              </a:rPr>
              <a:t>Tower top diameter is 3800 mm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805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1E73-431B-337A-40D3-E44968F2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CF9A-AF1E-DE4C-5542-AFD79E20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D4D10B-EF4E-8992-F714-5452E953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931" y="6564113"/>
            <a:ext cx="3114869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FAF555-36E5-6E79-9CE7-E34DD6DC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5D76317-4E32-A375-D1E7-F959EE6846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Sathishkumar Venkatachalam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4769B-9C93-869E-68EB-A306AC19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32" y="581510"/>
            <a:ext cx="10537267" cy="853344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References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BA660E-A8A9-FC72-F129-4F4CEB73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465" y="1660952"/>
            <a:ext cx="10604136" cy="353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[1].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Bonfiglioli (accessed 19 Oct 2025). Solutions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for Wind.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3"/>
              </a:rPr>
              <a:t>https://www.bonfiglioli.com/_default_upload_bucket/TR_CAT_WIND_STD_ENG_R05_0.pdf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prstClr val="black"/>
                </a:solidFill>
                <a:hlinkClick r:id="rId4" action="ppaction://hlinkfile"/>
              </a:rPr>
              <a:t>[2]. </a:t>
            </a:r>
            <a:r>
              <a:rPr lang="en-US" sz="2000" dirty="0"/>
              <a:t>WEC Development Project</a:t>
            </a:r>
            <a:r>
              <a:rPr lang="en-GB" sz="2000" dirty="0"/>
              <a:t>: Optimus Shakti 5.0 Machine Bed and Yaw System Final Report.</a:t>
            </a:r>
          </a:p>
          <a:p>
            <a:pPr marL="0" indent="0">
              <a:buNone/>
            </a:pPr>
            <a:r>
              <a:rPr lang="en-GB" altLang="en-US" sz="2000" dirty="0">
                <a:solidFill>
                  <a:prstClr val="black"/>
                </a:solidFill>
                <a:hlinkClick r:id="rId5" action="ppaction://hlinkfile"/>
              </a:rPr>
              <a:t>[3]. </a:t>
            </a:r>
            <a:r>
              <a:rPr lang="en-US" sz="2000" dirty="0"/>
              <a:t>Master Wind Engineering Project Optimus 92LE </a:t>
            </a:r>
            <a:r>
              <a:rPr lang="en-GB" sz="2000" dirty="0"/>
              <a:t>Machine Bed and Yaw System </a:t>
            </a:r>
          </a:p>
          <a:p>
            <a:pPr marL="0" indent="0">
              <a:buNone/>
            </a:pPr>
            <a:r>
              <a:rPr lang="en-IN" altLang="en-GB" sz="2000" dirty="0">
                <a:sym typeface="+mn-ea"/>
                <a:hlinkClick r:id="rId6" action="ppaction://hlinkfile"/>
              </a:rPr>
              <a:t>[4]. </a:t>
            </a:r>
            <a:r>
              <a:rPr lang="en-IN" altLang="en-GB" sz="2000" dirty="0">
                <a:sym typeface="+mn-ea"/>
              </a:rPr>
              <a:t>Thyssenkrupp bearing Catalogue – (</a:t>
            </a:r>
            <a:r>
              <a:rPr lang="en-US" altLang="en-US" sz="2000" dirty="0">
                <a:solidFill>
                  <a:prstClr val="black"/>
                </a:solidFill>
              </a:rPr>
              <a:t>accessed 23 oct 2025).</a:t>
            </a:r>
            <a:r>
              <a:rPr lang="en-IN" altLang="en-GB" sz="2000" dirty="0">
                <a:sym typeface="+mn-ea"/>
              </a:rPr>
              <a:t> </a:t>
            </a:r>
            <a:r>
              <a:rPr lang="en-US" altLang="en-GB" sz="2000" dirty="0">
                <a:sym typeface="+mn-ea"/>
                <a:hlinkClick r:id="rId6" action="ppaction://hlinkfile"/>
              </a:rPr>
              <a:t>https://ucpcdn.thyssenkrupp.com/_binary/UCPthyssenkruppBACTBearing/de/downloads/link-thyssenkrupp_rothe_erde_bearing_inspection.pdf</a:t>
            </a:r>
            <a:endParaRPr lang="en-US" altLang="en-GB" sz="2000" dirty="0">
              <a:sym typeface="+mn-ea"/>
            </a:endParaRPr>
          </a:p>
          <a:p>
            <a:pPr marL="0" indent="0">
              <a:buNone/>
            </a:pPr>
            <a:endParaRPr kumimoji="0" lang="en-GB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buNone/>
            </a:pP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64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368</TotalTime>
  <Words>462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Yaw Bearing Selection &amp; Details </vt:lpstr>
      <vt:lpstr>Yaw Bearing Selection &amp; Details </vt:lpstr>
      <vt:lpstr>Yaw Bearing / Pinion Teeth Module </vt:lpstr>
      <vt:lpstr>Yaw drive &amp; its Motor specification </vt:lpstr>
      <vt:lpstr>Bed Casting – New estimations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44</cp:revision>
  <dcterms:created xsi:type="dcterms:W3CDTF">2025-10-26T22:40:44Z</dcterms:created>
  <dcterms:modified xsi:type="dcterms:W3CDTF">2025-11-10T10:06:42Z</dcterms:modified>
</cp:coreProperties>
</file>