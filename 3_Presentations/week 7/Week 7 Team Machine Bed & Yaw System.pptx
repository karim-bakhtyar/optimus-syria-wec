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1"/>
  </p:notesMasterIdLst>
  <p:handoutMasterIdLst>
    <p:handoutMasterId r:id="rId12"/>
  </p:handoutMasterIdLst>
  <p:sldIdLst>
    <p:sldId id="263" r:id="rId3"/>
    <p:sldId id="285" r:id="rId4"/>
    <p:sldId id="308" r:id="rId5"/>
    <p:sldId id="291" r:id="rId6"/>
    <p:sldId id="309" r:id="rId7"/>
    <p:sldId id="310" r:id="rId8"/>
    <p:sldId id="311" r:id="rId9"/>
    <p:sldId id="29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rst slide" id="{EBA04D78-D1FF-49F4-BDD6-03EE135E606E}">
          <p14:sldIdLst>
            <p14:sldId id="263"/>
          </p14:sldIdLst>
        </p14:section>
        <p14:section name="List of contents" id="{65043596-36B7-4360-BB5C-7A99EFAEC5C9}">
          <p14:sldIdLst>
            <p14:sldId id="285"/>
            <p14:sldId id="308"/>
            <p14:sldId id="291"/>
            <p14:sldId id="309"/>
            <p14:sldId id="310"/>
            <p14:sldId id="311"/>
            <p14:sldId id="290"/>
          </p14:sldIdLst>
        </p14:section>
        <p14:section name="Title, main slides" id="{B26F6679-C236-4D3D-BC2F-CAE5ED400718}">
          <p14:sldIdLst/>
        </p14:section>
        <p14:section name="bibliography" id="{2ECB0A3B-7D16-4F98-AD6A-5308DF7BF07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8ECEFA"/>
    <a:srgbClr val="92C6E6"/>
    <a:srgbClr val="80D2F7"/>
    <a:srgbClr val="7ED1F7"/>
    <a:srgbClr val="A1DFFD"/>
    <a:srgbClr val="C0F5FF"/>
    <a:srgbClr val="3C96FA"/>
    <a:srgbClr val="BDE5F9"/>
    <a:srgbClr val="C1E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82" d="100"/>
          <a:sy n="82" d="100"/>
        </p:scale>
        <p:origin x="62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984966E-98CC-6A78-1424-04B6E1F267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153D721-EFB9-BC0E-1DC1-4F7A40F312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53E7D-EEC7-43DF-AF05-49FE1E0C7B25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BF23EC-0BC1-545E-D00A-3466D80002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16600C-B63A-8960-82FD-8DC4BB46C81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B05C7-DCB9-437C-9E32-70E81341534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50978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2B7C8-164C-4140-932B-122F288D33C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3327E-A3FE-4279-B080-AD6DAF9EDC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5679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ybib.com/tools/ieee-citation-generator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of tea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8B5CAFF-79AF-87AE-7EAE-604CC93E7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58857" y="1978025"/>
            <a:ext cx="4894943" cy="4351338"/>
          </a:xfrm>
        </p:spPr>
        <p:txBody>
          <a:bodyPr>
            <a:normAutofit/>
          </a:bodyPr>
          <a:lstStyle>
            <a:lvl1pPr marL="514350" indent="-514350">
              <a:buFont typeface="+mj-lt"/>
              <a:buAutoNum type="arabicPeriod"/>
              <a:defRPr sz="2200"/>
            </a:lvl1pPr>
            <a:lvl2pPr marL="457200" indent="0">
              <a:buFont typeface="Arial" panose="020B0604020202020204" pitchFamily="34" charset="0"/>
              <a:buNone/>
              <a:defRPr sz="2200"/>
            </a:lvl2pPr>
          </a:lstStyle>
          <a:p>
            <a:pPr lvl="1"/>
            <a:r>
              <a:rPr lang="de-DE" dirty="0"/>
              <a:t>12. </a:t>
            </a:r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Bed</a:t>
            </a:r>
            <a:r>
              <a:rPr lang="de-DE" dirty="0"/>
              <a:t> &amp; Yaw System  </a:t>
            </a:r>
          </a:p>
          <a:p>
            <a:pPr lvl="1"/>
            <a:r>
              <a:rPr lang="de-DE" dirty="0"/>
              <a:t>13. Tower  </a:t>
            </a:r>
          </a:p>
          <a:p>
            <a:pPr lvl="1"/>
            <a:r>
              <a:rPr lang="de-DE" dirty="0"/>
              <a:t>14. </a:t>
            </a:r>
            <a:r>
              <a:rPr lang="de-DE" dirty="0" err="1"/>
              <a:t>Foundation</a:t>
            </a:r>
            <a:r>
              <a:rPr lang="de-DE" dirty="0"/>
              <a:t>  </a:t>
            </a:r>
          </a:p>
          <a:p>
            <a:pPr lvl="1"/>
            <a:r>
              <a:rPr lang="de-DE" dirty="0"/>
              <a:t>15. Storage System </a:t>
            </a:r>
          </a:p>
          <a:p>
            <a:pPr lvl="1"/>
            <a:endParaRPr lang="de-DE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62E2414-A9F3-5C69-E3A8-481E091525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Teams</a:t>
            </a:r>
          </a:p>
        </p:txBody>
      </p:sp>
      <p:cxnSp>
        <p:nvCxnSpPr>
          <p:cNvPr id="9" name="Straight Connector 5">
            <a:extLst>
              <a:ext uri="{FF2B5EF4-FFF2-40B4-BE49-F238E27FC236}">
                <a16:creationId xmlns:a16="http://schemas.microsoft.com/office/drawing/2014/main" id="{66EB7C6A-45A8-A327-54B4-9E3A0BCAC0B4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2466CB9-E665-36BA-2132-8519CA303C97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38200" y="1978025"/>
            <a:ext cx="4894943" cy="4351338"/>
          </a:xfrm>
        </p:spPr>
        <p:txBody>
          <a:bodyPr>
            <a:normAutofit/>
          </a:bodyPr>
          <a:lstStyle>
            <a:lvl1pPr marL="514350" indent="-514350">
              <a:buFont typeface="+mj-lt"/>
              <a:buAutoNum type="arabicPeriod"/>
              <a:defRPr sz="2200"/>
            </a:lvl1pPr>
            <a:lvl2pPr marL="457200" indent="0" algn="l">
              <a:buFont typeface="Arial" panose="020B0604020202020204" pitchFamily="34" charset="0"/>
              <a:buNone/>
              <a:defRPr sz="2200"/>
            </a:lvl2pPr>
          </a:lstStyle>
          <a:p>
            <a:pPr lvl="1"/>
            <a:r>
              <a:rPr lang="de-DE" dirty="0"/>
              <a:t>1.  </a:t>
            </a:r>
            <a:r>
              <a:rPr lang="de-DE" dirty="0" err="1"/>
              <a:t>Windfarm</a:t>
            </a:r>
            <a:r>
              <a:rPr lang="de-DE" dirty="0"/>
              <a:t> Project Development  </a:t>
            </a:r>
          </a:p>
          <a:p>
            <a:pPr lvl="1"/>
            <a:r>
              <a:rPr lang="de-DE" dirty="0"/>
              <a:t>2.  Loads and Dynamics  </a:t>
            </a:r>
          </a:p>
          <a:p>
            <a:pPr lvl="1"/>
            <a:r>
              <a:rPr lang="de-DE" dirty="0"/>
              <a:t>3.  Feedback Controller  </a:t>
            </a:r>
          </a:p>
          <a:p>
            <a:pPr lvl="1"/>
            <a:r>
              <a:rPr lang="de-DE" dirty="0"/>
              <a:t>4.  Lidar-</a:t>
            </a:r>
            <a:r>
              <a:rPr lang="de-DE" dirty="0" err="1"/>
              <a:t>Assisted</a:t>
            </a:r>
            <a:r>
              <a:rPr lang="de-DE" dirty="0"/>
              <a:t> Controller  </a:t>
            </a:r>
          </a:p>
          <a:p>
            <a:pPr lvl="1"/>
            <a:r>
              <a:rPr lang="de-DE" dirty="0"/>
              <a:t>5.  Rotor Blade </a:t>
            </a:r>
            <a:r>
              <a:rPr lang="de-DE" dirty="0" err="1"/>
              <a:t>Aerodynamics</a:t>
            </a:r>
            <a:r>
              <a:rPr lang="de-DE" dirty="0"/>
              <a:t>  </a:t>
            </a:r>
          </a:p>
          <a:p>
            <a:pPr lvl="1"/>
            <a:r>
              <a:rPr lang="de-DE" dirty="0"/>
              <a:t>6.  Rotor Blade </a:t>
            </a:r>
            <a:r>
              <a:rPr lang="de-DE" dirty="0" err="1"/>
              <a:t>Structures</a:t>
            </a:r>
            <a:r>
              <a:rPr lang="de-DE" dirty="0"/>
              <a:t>  </a:t>
            </a:r>
          </a:p>
          <a:p>
            <a:pPr lvl="1"/>
            <a:r>
              <a:rPr lang="de-DE" dirty="0"/>
              <a:t>7. 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Drivetrain</a:t>
            </a:r>
            <a:r>
              <a:rPr lang="de-DE" dirty="0"/>
              <a:t> (EDT)  </a:t>
            </a:r>
          </a:p>
          <a:p>
            <a:pPr lvl="1"/>
            <a:r>
              <a:rPr lang="de-DE" dirty="0"/>
              <a:t>8.  </a:t>
            </a:r>
            <a:r>
              <a:rPr lang="de-DE" dirty="0" err="1"/>
              <a:t>Grid</a:t>
            </a:r>
            <a:r>
              <a:rPr lang="de-DE" dirty="0"/>
              <a:t> Code Development (GCD)  </a:t>
            </a:r>
          </a:p>
          <a:p>
            <a:pPr lvl="1"/>
            <a:r>
              <a:rPr lang="de-DE" dirty="0"/>
              <a:t>9.  Rotor Hub &amp; Pitch System  </a:t>
            </a:r>
          </a:p>
          <a:p>
            <a:pPr lvl="1"/>
            <a:r>
              <a:rPr lang="de-DE" dirty="0"/>
              <a:t>10. Rotor </a:t>
            </a:r>
            <a:r>
              <a:rPr lang="de-DE" dirty="0" err="1"/>
              <a:t>Bearing</a:t>
            </a:r>
            <a:r>
              <a:rPr lang="de-DE" dirty="0"/>
              <a:t> System  </a:t>
            </a:r>
          </a:p>
          <a:p>
            <a:pPr lvl="1"/>
            <a:r>
              <a:rPr lang="de-DE" dirty="0"/>
              <a:t>11. </a:t>
            </a:r>
            <a:r>
              <a:rPr lang="de-DE" dirty="0" err="1"/>
              <a:t>Gearbox</a:t>
            </a:r>
            <a:r>
              <a:rPr lang="de-DE" dirty="0"/>
              <a:t>, Brake, Coupling  </a:t>
            </a:r>
          </a:p>
          <a:p>
            <a:pPr lvl="1"/>
            <a:r>
              <a:rPr lang="de-DE" dirty="0"/>
              <a:t>						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FD841E35-8D66-8DA2-B806-8C18E5D280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C28938A-3748-78F8-3D01-B82DF87C9B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Optimus Syria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3A903679-8273-AC0E-AD57-A9C78EE236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3313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of contents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8B5CAFF-79AF-87AE-7EAE-604CC93E7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351338"/>
          </a:xfrm>
        </p:spPr>
        <p:txBody>
          <a:bodyPr/>
          <a:lstStyle>
            <a:lvl1pPr marL="514350" indent="-514350">
              <a:buFont typeface="+mj-lt"/>
              <a:buAutoNum type="arabicPeriod"/>
              <a:defRPr sz="2200"/>
            </a:lvl1pPr>
            <a:lvl2pPr marL="971550" indent="-514350">
              <a:buFont typeface="+mj-lt"/>
              <a:buAutoNum type="romanLcPeriod"/>
              <a:defRPr sz="2000"/>
            </a:lvl2pPr>
          </a:lstStyle>
          <a:p>
            <a:pPr lvl="0"/>
            <a:r>
              <a:rPr lang="de-DE" dirty="0"/>
              <a:t>Title, </a:t>
            </a:r>
            <a:r>
              <a:rPr lang="de-DE" dirty="0" err="1"/>
              <a:t>example</a:t>
            </a:r>
            <a:r>
              <a:rPr lang="de-DE" dirty="0"/>
              <a:t>: Tasks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r>
              <a:rPr lang="de-DE" dirty="0"/>
              <a:t>   (</a:t>
            </a:r>
            <a:r>
              <a:rPr lang="de-DE" dirty="0" err="1"/>
              <a:t>Aptos</a:t>
            </a:r>
            <a:r>
              <a:rPr lang="de-DE" dirty="0"/>
              <a:t>, 22)</a:t>
            </a:r>
          </a:p>
          <a:p>
            <a:pPr lvl="1"/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drawings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r>
              <a:rPr lang="de-DE" dirty="0"/>
              <a:t>  (</a:t>
            </a:r>
            <a:r>
              <a:rPr lang="de-DE" dirty="0" err="1"/>
              <a:t>Aptos</a:t>
            </a:r>
            <a:r>
              <a:rPr lang="de-DE" dirty="0"/>
              <a:t>, 20)</a:t>
            </a:r>
          </a:p>
          <a:p>
            <a:pPr lvl="0"/>
            <a:r>
              <a:rPr lang="de-DE" dirty="0"/>
              <a:t>X</a:t>
            </a:r>
          </a:p>
          <a:p>
            <a:pPr lvl="1"/>
            <a:endParaRPr lang="de-DE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62E2414-A9F3-5C69-E3A8-481E091525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List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contents</a:t>
            </a:r>
            <a:endParaRPr lang="en-GB" dirty="0"/>
          </a:p>
        </p:txBody>
      </p:sp>
      <p:cxnSp>
        <p:nvCxnSpPr>
          <p:cNvPr id="9" name="Straight Connector 5">
            <a:extLst>
              <a:ext uri="{FF2B5EF4-FFF2-40B4-BE49-F238E27FC236}">
                <a16:creationId xmlns:a16="http://schemas.microsoft.com/office/drawing/2014/main" id="{66EB7C6A-45A8-A327-54B4-9E3A0BCAC0B4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64195E91-DEC0-2198-8D7F-F5D7511FB31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EC107A6-E0D9-69FD-44BC-CFD5F05D7C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CC2EBC5-DD43-6B7E-A5D7-5CD5B0E30A5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E7DFBCC3-CC46-17B2-DF15-92940A3865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984858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st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8B5CAFF-79AF-87AE-7EAE-604CC93E7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351338"/>
          </a:xfrm>
        </p:spPr>
        <p:txBody>
          <a:bodyPr/>
          <a:lstStyle>
            <a:lvl1pPr marL="514350" indent="-514350">
              <a:buFont typeface="+mj-lt"/>
              <a:buAutoNum type="arabicPeriod"/>
              <a:defRPr sz="2200"/>
            </a:lvl1pPr>
            <a:lvl2pPr marL="971550" indent="-514350">
              <a:buFont typeface="+mj-lt"/>
              <a:buAutoNum type="romanLcPeriod"/>
              <a:defRPr sz="2000"/>
            </a:lvl2pPr>
          </a:lstStyle>
          <a:p>
            <a:pPr lvl="0"/>
            <a:r>
              <a:rPr lang="de-DE" dirty="0"/>
              <a:t>Title, </a:t>
            </a:r>
            <a:r>
              <a:rPr lang="de-DE" dirty="0" err="1"/>
              <a:t>example</a:t>
            </a:r>
            <a:r>
              <a:rPr lang="de-DE" dirty="0"/>
              <a:t>: Tasks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  <a:p>
            <a:pPr lvl="1"/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drawings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  <a:p>
            <a:pPr lvl="0"/>
            <a:r>
              <a:rPr lang="de-DE" dirty="0"/>
              <a:t>X</a:t>
            </a:r>
          </a:p>
          <a:p>
            <a:pPr lvl="1"/>
            <a:endParaRPr lang="de-DE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62E2414-A9F3-5C69-E3A8-481E091525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List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contents</a:t>
            </a:r>
            <a:endParaRPr lang="en-GB" dirty="0"/>
          </a:p>
        </p:txBody>
      </p:sp>
      <p:cxnSp>
        <p:nvCxnSpPr>
          <p:cNvPr id="9" name="Straight Connector 5">
            <a:extLst>
              <a:ext uri="{FF2B5EF4-FFF2-40B4-BE49-F238E27FC236}">
                <a16:creationId xmlns:a16="http://schemas.microsoft.com/office/drawing/2014/main" id="{66EB7C6A-45A8-A327-54B4-9E3A0BCAC0B4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8F6D1F16-A947-CEE2-C58A-50217E901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873EF994-6CA7-B763-F215-A7D1723E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7F2F56B-9E4F-A460-92A9-87055C42B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3A8B7922-CD64-E421-B5E5-B7BA56CBCB0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54527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slide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8CB4A-E85F-FC1F-2439-52B071A98E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lang="de-DE" dirty="0"/>
              <a:t>1. Title, </a:t>
            </a:r>
            <a:r>
              <a:rPr lang="de-DE" dirty="0" err="1"/>
              <a:t>example</a:t>
            </a:r>
            <a:r>
              <a:rPr lang="de-DE" dirty="0"/>
              <a:t>: Tasks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r>
              <a:rPr lang="de-DE" dirty="0"/>
              <a:t>  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16958-F611-9E4F-AA4F-56999F637A7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200"/>
            </a:lvl1pPr>
            <a:lvl2pPr marL="971550" indent="-514350">
              <a:buFont typeface="+mj-lt"/>
              <a:buAutoNum type="romanLcPeriod"/>
              <a:defRPr sz="2000"/>
            </a:lvl2pPr>
          </a:lstStyle>
          <a:p>
            <a:pPr lvl="0"/>
            <a:r>
              <a:rPr lang="de-DE" dirty="0" err="1"/>
              <a:t>Abcd</a:t>
            </a:r>
            <a:r>
              <a:rPr lang="de-DE" dirty="0"/>
              <a:t> (</a:t>
            </a:r>
            <a:r>
              <a:rPr lang="de-DE" dirty="0" err="1"/>
              <a:t>Aptos</a:t>
            </a:r>
            <a:r>
              <a:rPr lang="de-DE" dirty="0"/>
              <a:t>, 22)</a:t>
            </a:r>
          </a:p>
          <a:p>
            <a:pPr marL="971550" marR="0" lvl="1" indent="-5143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romanLcPeriod"/>
              <a:tabLst/>
              <a:defRPr/>
            </a:pPr>
            <a:r>
              <a:rPr lang="de-DE" dirty="0" err="1"/>
              <a:t>efgh</a:t>
            </a:r>
            <a:r>
              <a:rPr lang="de-DE" dirty="0"/>
              <a:t> (</a:t>
            </a:r>
            <a:r>
              <a:rPr lang="de-DE" dirty="0" err="1"/>
              <a:t>Aptos</a:t>
            </a:r>
            <a:r>
              <a:rPr lang="de-DE" dirty="0"/>
              <a:t>, 20)</a:t>
            </a:r>
          </a:p>
          <a:p>
            <a:pPr lvl="1"/>
            <a:endParaRPr lang="de-DE" dirty="0"/>
          </a:p>
        </p:txBody>
      </p:sp>
      <p:cxnSp>
        <p:nvCxnSpPr>
          <p:cNvPr id="7" name="Straight Connector 5">
            <a:extLst>
              <a:ext uri="{FF2B5EF4-FFF2-40B4-BE49-F238E27FC236}">
                <a16:creationId xmlns:a16="http://schemas.microsoft.com/office/drawing/2014/main" id="{C5BF7EBE-3919-817C-149B-CF38705C6BC9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5B6D5E1-3173-F7DB-AFEA-577613F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4201E827-9609-58AA-70BC-996E2AD05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E013F6E-0CEE-85C3-4AD1-ADEED88F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4C7AB516-D061-772D-6849-99EBB44689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3039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8CB4A-E85F-FC1F-2439-52B071A98E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lang="de-DE" dirty="0"/>
              <a:t>1. Title, </a:t>
            </a:r>
            <a:r>
              <a:rPr lang="de-DE" dirty="0" err="1"/>
              <a:t>example</a:t>
            </a:r>
            <a:r>
              <a:rPr lang="de-DE" dirty="0"/>
              <a:t>: Tasks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r>
              <a:rPr lang="de-DE" dirty="0"/>
              <a:t>  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16958-F611-9E4F-AA4F-56999F637A7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200"/>
            </a:lvl1pPr>
            <a:lvl2pPr marL="971550" indent="-514350">
              <a:buFont typeface="+mj-lt"/>
              <a:buAutoNum type="romanLcPeriod"/>
              <a:defRPr sz="2000"/>
            </a:lvl2pPr>
          </a:lstStyle>
          <a:p>
            <a:pPr lvl="0"/>
            <a:r>
              <a:rPr lang="de-DE" dirty="0" err="1"/>
              <a:t>Abcd</a:t>
            </a:r>
            <a:endParaRPr lang="de-DE" dirty="0"/>
          </a:p>
          <a:p>
            <a:pPr lvl="1"/>
            <a:r>
              <a:rPr lang="de-DE" dirty="0" err="1"/>
              <a:t>efgh</a:t>
            </a:r>
            <a:endParaRPr lang="de-DE" dirty="0"/>
          </a:p>
        </p:txBody>
      </p:sp>
      <p:cxnSp>
        <p:nvCxnSpPr>
          <p:cNvPr id="7" name="Straight Connector 5">
            <a:extLst>
              <a:ext uri="{FF2B5EF4-FFF2-40B4-BE49-F238E27FC236}">
                <a16:creationId xmlns:a16="http://schemas.microsoft.com/office/drawing/2014/main" id="{C5BF7EBE-3919-817C-149B-CF38705C6BC9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479D6A9B-7716-D398-EE18-2F2D6AC11B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45BE17EA-55E6-D579-4D1F-7901F944C6AA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0CEF70-3482-4FC0-A3A4-7FB408C94A4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879E7A9-C563-396E-C6B6-B45497D433B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435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item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8CB4A-E85F-FC1F-2439-52B071A98E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lang="de-DE" dirty="0"/>
              <a:t>1-i. </a:t>
            </a: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Drawings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</p:txBody>
      </p:sp>
      <p:cxnSp>
        <p:nvCxnSpPr>
          <p:cNvPr id="7" name="Straight Connector 5">
            <a:extLst>
              <a:ext uri="{FF2B5EF4-FFF2-40B4-BE49-F238E27FC236}">
                <a16:creationId xmlns:a16="http://schemas.microsoft.com/office/drawing/2014/main" id="{C5BF7EBE-3919-817C-149B-CF38705C6BC9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19E5AF50-94A3-4308-3B68-BAD76E7A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798D87B-B794-AD8A-40F1-DEA4D547F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E6253E5-E305-7986-3017-8FAC6F34D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5" name="Textplatzhalter 16">
            <a:extLst>
              <a:ext uri="{FF2B5EF4-FFF2-40B4-BE49-F238E27FC236}">
                <a16:creationId xmlns:a16="http://schemas.microsoft.com/office/drawing/2014/main" id="{7E202380-1BD6-7A10-C51A-497A42391B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73267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8CB4A-E85F-FC1F-2439-52B071A98E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lang="de-DE" dirty="0"/>
              <a:t>1-i. </a:t>
            </a: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Drawings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16958-F611-9E4F-AA4F-56999F637A7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200"/>
            </a:lvl1pPr>
            <a:lvl2pPr marL="971550" indent="-514350">
              <a:buFont typeface="+mj-lt"/>
              <a:buAutoNum type="romanLcPeriod"/>
              <a:defRPr sz="2000"/>
            </a:lvl2pPr>
          </a:lstStyle>
          <a:p>
            <a:pPr lvl="0"/>
            <a:r>
              <a:rPr lang="de-DE" dirty="0" err="1"/>
              <a:t>Abcd</a:t>
            </a:r>
            <a:endParaRPr lang="de-DE" dirty="0"/>
          </a:p>
          <a:p>
            <a:pPr lvl="1"/>
            <a:r>
              <a:rPr lang="de-DE" dirty="0" err="1"/>
              <a:t>efgh</a:t>
            </a:r>
            <a:endParaRPr lang="de-DE" dirty="0"/>
          </a:p>
        </p:txBody>
      </p:sp>
      <p:cxnSp>
        <p:nvCxnSpPr>
          <p:cNvPr id="7" name="Straight Connector 5">
            <a:extLst>
              <a:ext uri="{FF2B5EF4-FFF2-40B4-BE49-F238E27FC236}">
                <a16:creationId xmlns:a16="http://schemas.microsoft.com/office/drawing/2014/main" id="{C5BF7EBE-3919-817C-149B-CF38705C6BC9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5228F91E-E7AD-B275-5A60-89428222D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F4F81C7-2C44-8CF8-2928-655E74DC8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60D8F3F-3088-D685-66AD-D2110FD40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29BD9540-0DAC-F607-0D84-145CAF084DC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  <p:sp>
        <p:nvSpPr>
          <p:cNvPr id="4" name="Textplatzhalter 4">
            <a:extLst>
              <a:ext uri="{FF2B5EF4-FFF2-40B4-BE49-F238E27FC236}">
                <a16:creationId xmlns:a16="http://schemas.microsoft.com/office/drawing/2014/main" id="{9943038B-A8F9-48D6-0A29-94D4AA659F6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9023" y="6216958"/>
            <a:ext cx="2248453" cy="309850"/>
          </a:xfrm>
        </p:spPr>
        <p:txBody>
          <a:bodyPr/>
          <a:lstStyle>
            <a:lvl2pPr marL="457200" indent="0">
              <a:buNone/>
              <a:defRPr/>
            </a:lvl2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[1], [2]….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9733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Slide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C287-18A0-EB82-8A27-F94CA3880D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X. Graph</a:t>
            </a:r>
            <a:endParaRPr lang="en-GB" dirty="0"/>
          </a:p>
        </p:txBody>
      </p:sp>
      <p:pic>
        <p:nvPicPr>
          <p:cNvPr id="6" name="Picture 2" descr="How HOMER Calculates Wind Turbine Power Output">
            <a:extLst>
              <a:ext uri="{FF2B5EF4-FFF2-40B4-BE49-F238E27FC236}">
                <a16:creationId xmlns:a16="http://schemas.microsoft.com/office/drawing/2014/main" id="{002A61B1-6859-B9E0-5E8D-876C02B28C1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724" y="1939999"/>
            <a:ext cx="542925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70DEEB4B-BB48-7BA1-DC37-D3F70525E158}"/>
              </a:ext>
            </a:extLst>
          </p:cNvPr>
          <p:cNvSpPr txBox="1"/>
          <p:nvPr userDrawn="1"/>
        </p:nvSpPr>
        <p:spPr>
          <a:xfrm>
            <a:off x="764619" y="5102669"/>
            <a:ext cx="51874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(</a:t>
            </a:r>
            <a:r>
              <a:rPr lang="it-IT" sz="1100" dirty="0" err="1"/>
              <a:t>Description</a:t>
            </a:r>
            <a:r>
              <a:rPr lang="it-IT" sz="1100" dirty="0"/>
              <a:t> of the </a:t>
            </a:r>
            <a:r>
              <a:rPr lang="it-IT" sz="1100" dirty="0" err="1"/>
              <a:t>graph</a:t>
            </a:r>
            <a:r>
              <a:rPr lang="it-IT" sz="1100" dirty="0"/>
              <a:t>, </a:t>
            </a:r>
            <a:r>
              <a:rPr lang="it-IT" sz="1100" dirty="0" err="1"/>
              <a:t>example</a:t>
            </a:r>
            <a:r>
              <a:rPr lang="it-IT" sz="1100" dirty="0"/>
              <a:t>: </a:t>
            </a:r>
            <a:r>
              <a:rPr lang="it-IT" sz="1100" i="1" dirty="0"/>
              <a:t>power curve power over wind speed</a:t>
            </a:r>
            <a:r>
              <a:rPr lang="it-IT" sz="1100" dirty="0"/>
              <a:t> )</a:t>
            </a:r>
          </a:p>
          <a:p>
            <a:r>
              <a:rPr lang="it-IT" sz="1100" dirty="0"/>
              <a:t>(</a:t>
            </a:r>
            <a:r>
              <a:rPr lang="it-IT" sz="1100" dirty="0" err="1"/>
              <a:t>Citation</a:t>
            </a:r>
            <a:r>
              <a:rPr lang="it-IT" sz="1100" dirty="0"/>
              <a:t> of the sources, </a:t>
            </a:r>
            <a:r>
              <a:rPr lang="it-IT" sz="1100" dirty="0" err="1"/>
              <a:t>example</a:t>
            </a:r>
            <a:r>
              <a:rPr lang="it-IT" sz="1100" dirty="0"/>
              <a:t>:</a:t>
            </a:r>
            <a:r>
              <a:rPr lang="it-IT" sz="1100" b="1" dirty="0"/>
              <a:t> </a:t>
            </a:r>
            <a:r>
              <a:rPr lang="it-IT" sz="1100" b="0" dirty="0"/>
              <a:t>[1] </a:t>
            </a:r>
            <a:r>
              <a:rPr lang="it-IT" sz="1100" dirty="0"/>
              <a:t>)  </a:t>
            </a:r>
          </a:p>
          <a:p>
            <a:r>
              <a:rPr lang="it-IT" sz="1100" dirty="0"/>
              <a:t>(Last date of access, </a:t>
            </a:r>
            <a:r>
              <a:rPr lang="it-IT" sz="1100" dirty="0" err="1"/>
              <a:t>example</a:t>
            </a:r>
            <a:r>
              <a:rPr lang="it-IT" sz="1100" dirty="0"/>
              <a:t>: 21/12/2015)</a:t>
            </a:r>
            <a:endParaRPr lang="en-GB" sz="1100" dirty="0"/>
          </a:p>
        </p:txBody>
      </p:sp>
      <p:cxnSp>
        <p:nvCxnSpPr>
          <p:cNvPr id="8" name="Connector: Elbow 6">
            <a:extLst>
              <a:ext uri="{FF2B5EF4-FFF2-40B4-BE49-F238E27FC236}">
                <a16:creationId xmlns:a16="http://schemas.microsoft.com/office/drawing/2014/main" id="{7A01EE56-12C5-DD96-C172-C145A0ED64CB}"/>
              </a:ext>
            </a:extLst>
          </p:cNvPr>
          <p:cNvCxnSpPr>
            <a:cxnSpLocks/>
          </p:cNvCxnSpPr>
          <p:nvPr userDrawn="1"/>
        </p:nvCxnSpPr>
        <p:spPr>
          <a:xfrm rot="10800000" flipV="1">
            <a:off x="3791371" y="4238699"/>
            <a:ext cx="4563205" cy="1222134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15">
            <a:extLst>
              <a:ext uri="{FF2B5EF4-FFF2-40B4-BE49-F238E27FC236}">
                <a16:creationId xmlns:a16="http://schemas.microsoft.com/office/drawing/2014/main" id="{EE3D1715-661B-80A0-F167-264ACC369A68}"/>
              </a:ext>
            </a:extLst>
          </p:cNvPr>
          <p:cNvSpPr/>
          <p:nvPr userDrawn="1"/>
        </p:nvSpPr>
        <p:spPr>
          <a:xfrm>
            <a:off x="7796637" y="3405202"/>
            <a:ext cx="3922209" cy="2011693"/>
          </a:xfrm>
          <a:prstGeom prst="ellips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1400" dirty="0" err="1"/>
              <a:t>Add</a:t>
            </a:r>
            <a:r>
              <a:rPr lang="it-IT" sz="1400" dirty="0"/>
              <a:t> a link to the </a:t>
            </a:r>
            <a:r>
              <a:rPr lang="it-IT" sz="1400" dirty="0" err="1"/>
              <a:t>reference</a:t>
            </a:r>
            <a:r>
              <a:rPr lang="it-IT" sz="1400" dirty="0"/>
              <a:t> </a:t>
            </a:r>
            <a:r>
              <a:rPr lang="it-IT" sz="1400" dirty="0" err="1"/>
              <a:t>number</a:t>
            </a:r>
            <a:r>
              <a:rPr lang="it-IT" sz="1400" dirty="0"/>
              <a:t> </a:t>
            </a:r>
            <a:r>
              <a:rPr lang="it-IT" sz="1400" dirty="0" err="1"/>
              <a:t>that</a:t>
            </a:r>
            <a:r>
              <a:rPr lang="it-IT" sz="1400" dirty="0"/>
              <a:t> </a:t>
            </a:r>
            <a:r>
              <a:rPr lang="it-IT" sz="1400" dirty="0" err="1"/>
              <a:t>goes</a:t>
            </a:r>
            <a:r>
              <a:rPr lang="it-IT" sz="1400" dirty="0"/>
              <a:t> to the last slide: highlight the </a:t>
            </a:r>
            <a:r>
              <a:rPr lang="it-IT" sz="1400" dirty="0" err="1"/>
              <a:t>number</a:t>
            </a:r>
            <a:r>
              <a:rPr lang="it-IT" sz="1400" dirty="0"/>
              <a:t>-&gt;</a:t>
            </a:r>
            <a:r>
              <a:rPr lang="it-IT" sz="1400" dirty="0" err="1"/>
              <a:t>right</a:t>
            </a:r>
            <a:r>
              <a:rPr lang="it-IT" sz="1400" dirty="0"/>
              <a:t> click-&gt;</a:t>
            </a:r>
            <a:r>
              <a:rPr lang="it-IT" sz="1400" dirty="0" err="1"/>
              <a:t>select</a:t>
            </a:r>
            <a:r>
              <a:rPr lang="it-IT" sz="1400" dirty="0"/>
              <a:t> link-&gt;place in </a:t>
            </a:r>
            <a:r>
              <a:rPr lang="it-IT" sz="1400" dirty="0" err="1"/>
              <a:t>this</a:t>
            </a:r>
            <a:r>
              <a:rPr lang="it-IT" sz="1400" dirty="0"/>
              <a:t> </a:t>
            </a:r>
            <a:r>
              <a:rPr lang="it-IT" sz="1400" dirty="0" err="1"/>
              <a:t>document</a:t>
            </a:r>
            <a:r>
              <a:rPr lang="it-IT" sz="1400" dirty="0"/>
              <a:t>-&gt;</a:t>
            </a:r>
            <a:r>
              <a:rPr lang="it-IT" sz="1400" dirty="0" err="1"/>
              <a:t>select</a:t>
            </a:r>
            <a:r>
              <a:rPr lang="it-IT" sz="1400" dirty="0"/>
              <a:t> last slide</a:t>
            </a:r>
            <a:endParaRPr lang="en-GB" sz="1400" dirty="0"/>
          </a:p>
        </p:txBody>
      </p:sp>
      <p:cxnSp>
        <p:nvCxnSpPr>
          <p:cNvPr id="10" name="Straight Connector 5">
            <a:extLst>
              <a:ext uri="{FF2B5EF4-FFF2-40B4-BE49-F238E27FC236}">
                <a16:creationId xmlns:a16="http://schemas.microsoft.com/office/drawing/2014/main" id="{9CCD7462-E12C-CDA3-D609-4AB679728A2E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7">
            <a:extLst>
              <a:ext uri="{FF2B5EF4-FFF2-40B4-BE49-F238E27FC236}">
                <a16:creationId xmlns:a16="http://schemas.microsoft.com/office/drawing/2014/main" id="{A1188C36-D6CB-FA53-013E-FC56AD427952}"/>
              </a:ext>
            </a:extLst>
          </p:cNvPr>
          <p:cNvSpPr/>
          <p:nvPr userDrawn="1"/>
        </p:nvSpPr>
        <p:spPr>
          <a:xfrm>
            <a:off x="6495002" y="1875014"/>
            <a:ext cx="2603270" cy="1404514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This</a:t>
            </a:r>
            <a:r>
              <a:rPr lang="it-IT" dirty="0"/>
              <a:t> slide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for </a:t>
            </a:r>
            <a:r>
              <a:rPr lang="it-IT" dirty="0" err="1"/>
              <a:t>explanation</a:t>
            </a:r>
            <a:r>
              <a:rPr lang="it-IT" dirty="0"/>
              <a:t>, </a:t>
            </a:r>
            <a:r>
              <a:rPr lang="it-IT" dirty="0" err="1"/>
              <a:t>dont´t</a:t>
            </a:r>
            <a:r>
              <a:rPr lang="it-IT" dirty="0"/>
              <a:t> use </a:t>
            </a:r>
            <a:r>
              <a:rPr lang="it-IT" dirty="0" err="1"/>
              <a:t>it!</a:t>
            </a:r>
            <a:endParaRPr lang="en-GB" dirty="0"/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749D4654-CB69-04EA-986A-2264B7AF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FC28337D-790B-E06F-0074-04AA48B92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2A63292-0139-33E2-79E8-D1F485A4C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5" name="Textplatzhalter 16">
            <a:extLst>
              <a:ext uri="{FF2B5EF4-FFF2-40B4-BE49-F238E27FC236}">
                <a16:creationId xmlns:a16="http://schemas.microsoft.com/office/drawing/2014/main" id="{596BA109-7562-188F-19E6-BAFF28DC5C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6484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C287-18A0-EB82-8A27-F94CA3880D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X. Graph</a:t>
            </a:r>
            <a:endParaRPr lang="en-GB" dirty="0"/>
          </a:p>
        </p:txBody>
      </p:sp>
      <p:pic>
        <p:nvPicPr>
          <p:cNvPr id="6" name="Picture 2" descr="How HOMER Calculates Wind Turbine Power Output">
            <a:extLst>
              <a:ext uri="{FF2B5EF4-FFF2-40B4-BE49-F238E27FC236}">
                <a16:creationId xmlns:a16="http://schemas.microsoft.com/office/drawing/2014/main" id="{002A61B1-6859-B9E0-5E8D-876C02B28C1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724" y="1939999"/>
            <a:ext cx="542925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70DEEB4B-BB48-7BA1-DC37-D3F70525E158}"/>
              </a:ext>
            </a:extLst>
          </p:cNvPr>
          <p:cNvSpPr txBox="1"/>
          <p:nvPr userDrawn="1"/>
        </p:nvSpPr>
        <p:spPr>
          <a:xfrm>
            <a:off x="764619" y="5102669"/>
            <a:ext cx="51874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(</a:t>
            </a:r>
            <a:r>
              <a:rPr lang="it-IT" sz="1100" dirty="0" err="1"/>
              <a:t>Description</a:t>
            </a:r>
            <a:r>
              <a:rPr lang="it-IT" sz="1100" dirty="0"/>
              <a:t> of the </a:t>
            </a:r>
            <a:r>
              <a:rPr lang="it-IT" sz="1100" dirty="0" err="1"/>
              <a:t>graph</a:t>
            </a:r>
            <a:r>
              <a:rPr lang="it-IT" sz="1100" dirty="0"/>
              <a:t>, </a:t>
            </a:r>
            <a:r>
              <a:rPr lang="it-IT" sz="1100" dirty="0" err="1"/>
              <a:t>example</a:t>
            </a:r>
            <a:r>
              <a:rPr lang="it-IT" sz="1100" dirty="0"/>
              <a:t>: </a:t>
            </a:r>
            <a:r>
              <a:rPr lang="it-IT" sz="1100" i="1" dirty="0"/>
              <a:t>power curve power over wind speed</a:t>
            </a:r>
            <a:r>
              <a:rPr lang="it-IT" sz="1100" dirty="0"/>
              <a:t> )</a:t>
            </a:r>
          </a:p>
          <a:p>
            <a:r>
              <a:rPr lang="it-IT" sz="1100" dirty="0"/>
              <a:t>(</a:t>
            </a:r>
            <a:r>
              <a:rPr lang="it-IT" sz="1100" dirty="0" err="1"/>
              <a:t>Citation</a:t>
            </a:r>
            <a:r>
              <a:rPr lang="it-IT" sz="1100" dirty="0"/>
              <a:t> of the sources, </a:t>
            </a:r>
            <a:r>
              <a:rPr lang="it-IT" sz="1100" dirty="0" err="1"/>
              <a:t>example</a:t>
            </a:r>
            <a:r>
              <a:rPr lang="it-IT" sz="1100" dirty="0"/>
              <a:t>:</a:t>
            </a:r>
            <a:r>
              <a:rPr lang="it-IT" sz="1100" b="1" dirty="0"/>
              <a:t> </a:t>
            </a:r>
            <a:r>
              <a:rPr lang="it-IT" sz="1100" b="0" dirty="0"/>
              <a:t>[1] </a:t>
            </a:r>
            <a:r>
              <a:rPr lang="it-IT" sz="1100" dirty="0"/>
              <a:t>)  </a:t>
            </a:r>
          </a:p>
          <a:p>
            <a:r>
              <a:rPr lang="it-IT" sz="1100" dirty="0"/>
              <a:t>(Last date of access, </a:t>
            </a:r>
            <a:r>
              <a:rPr lang="it-IT" sz="1100" dirty="0" err="1"/>
              <a:t>example</a:t>
            </a:r>
            <a:r>
              <a:rPr lang="it-IT" sz="1100" dirty="0"/>
              <a:t>: 21/12/2015)</a:t>
            </a:r>
            <a:endParaRPr lang="en-GB" sz="1100" dirty="0"/>
          </a:p>
        </p:txBody>
      </p:sp>
      <p:cxnSp>
        <p:nvCxnSpPr>
          <p:cNvPr id="10" name="Straight Connector 5">
            <a:extLst>
              <a:ext uri="{FF2B5EF4-FFF2-40B4-BE49-F238E27FC236}">
                <a16:creationId xmlns:a16="http://schemas.microsoft.com/office/drawing/2014/main" id="{9CCD7462-E12C-CDA3-D609-4AB679728A2E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98D8651D-3525-44E9-EF74-5AE1C96E2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C35C132-0CB8-F9A6-EC6C-F3AC1F1B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F58FF-5AD5-CF97-4FEE-FB1F38CD9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platzhalter 16">
            <a:extLst>
              <a:ext uri="{FF2B5EF4-FFF2-40B4-BE49-F238E27FC236}">
                <a16:creationId xmlns:a16="http://schemas.microsoft.com/office/drawing/2014/main" id="{DC21B0DD-4D97-871C-E587-F10AD55D8BD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1072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iography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3033-AA4A-D955-AE39-E7F2A40C8A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 err="1"/>
              <a:t>Bibliography</a:t>
            </a:r>
            <a:r>
              <a:rPr lang="de-DE" dirty="0"/>
              <a:t> – </a:t>
            </a:r>
            <a:r>
              <a:rPr lang="de-DE" dirty="0" err="1"/>
              <a:t>team</a:t>
            </a:r>
            <a:r>
              <a:rPr lang="de-DE" dirty="0"/>
              <a:t> </a:t>
            </a:r>
            <a:r>
              <a:rPr lang="de-DE" dirty="0" err="1"/>
              <a:t>name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8BDBB-4827-8B89-3EE0-5A3DD22172F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it-IT" dirty="0"/>
              <a:t>[1] </a:t>
            </a:r>
            <a:r>
              <a:rPr lang="en-GB" dirty="0"/>
              <a:t>“How HOMER Calculates Wind Turbine Power Output,” </a:t>
            </a:r>
            <a:r>
              <a:rPr lang="en-GB" i="1" dirty="0"/>
              <a:t>Homerenergy.com</a:t>
            </a:r>
            <a:r>
              <a:rPr lang="en-GB" dirty="0"/>
              <a:t>, 2017. https://www.homerenergy.com/products/pro/docs/3.15/how_homer_calculates_wind_turbine_power_output.html (accessed Aug. 25, 2025).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[2] …..</a:t>
            </a:r>
            <a:endParaRPr lang="it-IT" dirty="0"/>
          </a:p>
          <a:p>
            <a:pPr lvl="0"/>
            <a:endParaRPr lang="de-DE" dirty="0"/>
          </a:p>
        </p:txBody>
      </p:sp>
      <p:cxnSp>
        <p:nvCxnSpPr>
          <p:cNvPr id="6" name="Straight Arrow Connector 21">
            <a:extLst>
              <a:ext uri="{FF2B5EF4-FFF2-40B4-BE49-F238E27FC236}">
                <a16:creationId xmlns:a16="http://schemas.microsoft.com/office/drawing/2014/main" id="{9B5BA113-ABD0-9B33-1E2F-5863B083FE29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4994031" y="2734408"/>
            <a:ext cx="1245576" cy="18375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22">
            <a:extLst>
              <a:ext uri="{FF2B5EF4-FFF2-40B4-BE49-F238E27FC236}">
                <a16:creationId xmlns:a16="http://schemas.microsoft.com/office/drawing/2014/main" id="{59531AAE-8AA3-6039-F69E-EDD1AF57C810}"/>
              </a:ext>
            </a:extLst>
          </p:cNvPr>
          <p:cNvSpPr/>
          <p:nvPr userDrawn="1"/>
        </p:nvSpPr>
        <p:spPr>
          <a:xfrm>
            <a:off x="4475285" y="4572000"/>
            <a:ext cx="5969977" cy="1677864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The style </a:t>
            </a:r>
            <a:r>
              <a:rPr lang="it-IT" dirty="0" err="1"/>
              <a:t>chosen</a:t>
            </a:r>
            <a:r>
              <a:rPr lang="it-IT" dirty="0"/>
              <a:t> for </a:t>
            </a:r>
            <a:r>
              <a:rPr lang="it-IT" dirty="0" err="1"/>
              <a:t>citation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IEEE, so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want</a:t>
            </a:r>
            <a:r>
              <a:rPr lang="it-IT" dirty="0"/>
              <a:t> to create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citation</a:t>
            </a:r>
            <a:r>
              <a:rPr lang="it-IT" dirty="0"/>
              <a:t> follow </a:t>
            </a:r>
            <a:r>
              <a:rPr lang="it-IT" dirty="0" err="1"/>
              <a:t>that</a:t>
            </a:r>
            <a:r>
              <a:rPr lang="it-IT" dirty="0"/>
              <a:t> style.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want</a:t>
            </a:r>
            <a:r>
              <a:rPr lang="it-IT" dirty="0"/>
              <a:t> to create an IEEE </a:t>
            </a:r>
            <a:r>
              <a:rPr lang="it-IT" dirty="0" err="1"/>
              <a:t>citation</a:t>
            </a:r>
            <a:r>
              <a:rPr lang="it-IT" dirty="0"/>
              <a:t> from a website, </a:t>
            </a:r>
            <a:r>
              <a:rPr lang="it-IT" dirty="0" err="1"/>
              <a:t>you</a:t>
            </a:r>
            <a:r>
              <a:rPr lang="it-IT" dirty="0"/>
              <a:t> can use some free </a:t>
            </a:r>
            <a:r>
              <a:rPr lang="it-IT" dirty="0" err="1"/>
              <a:t>converters</a:t>
            </a:r>
            <a:r>
              <a:rPr lang="it-IT" dirty="0"/>
              <a:t> </a:t>
            </a:r>
            <a:r>
              <a:rPr lang="it-IT" dirty="0" err="1"/>
              <a:t>available</a:t>
            </a:r>
            <a:r>
              <a:rPr lang="it-IT" dirty="0"/>
              <a:t> on the internet, like:</a:t>
            </a:r>
          </a:p>
          <a:p>
            <a:pPr algn="ctr"/>
            <a:r>
              <a:rPr lang="en-GB" b="1" dirty="0">
                <a:hlinkClick r:id="rId2"/>
              </a:rPr>
              <a:t>https://www.mybib.com/tools/ieee-citation-generator</a:t>
            </a:r>
            <a:r>
              <a:rPr lang="en-GB" b="1" dirty="0"/>
              <a:t> </a:t>
            </a:r>
          </a:p>
        </p:txBody>
      </p:sp>
      <p:cxnSp>
        <p:nvCxnSpPr>
          <p:cNvPr id="4" name="Straight Connector 5">
            <a:extLst>
              <a:ext uri="{FF2B5EF4-FFF2-40B4-BE49-F238E27FC236}">
                <a16:creationId xmlns:a16="http://schemas.microsoft.com/office/drawing/2014/main" id="{7CC2DA80-2404-1A96-924E-A52A1DBAA34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7">
            <a:extLst>
              <a:ext uri="{FF2B5EF4-FFF2-40B4-BE49-F238E27FC236}">
                <a16:creationId xmlns:a16="http://schemas.microsoft.com/office/drawing/2014/main" id="{226F6F8F-D65D-4B43-5785-E89E617F8616}"/>
              </a:ext>
            </a:extLst>
          </p:cNvPr>
          <p:cNvSpPr/>
          <p:nvPr userDrawn="1"/>
        </p:nvSpPr>
        <p:spPr>
          <a:xfrm>
            <a:off x="908165" y="3299037"/>
            <a:ext cx="2603270" cy="1404514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This</a:t>
            </a:r>
            <a:r>
              <a:rPr lang="it-IT" dirty="0"/>
              <a:t> slide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for </a:t>
            </a:r>
            <a:r>
              <a:rPr lang="it-IT" dirty="0" err="1"/>
              <a:t>explanation</a:t>
            </a:r>
            <a:r>
              <a:rPr lang="it-IT" dirty="0"/>
              <a:t>, </a:t>
            </a:r>
            <a:r>
              <a:rPr lang="it-IT" dirty="0" err="1"/>
              <a:t>dont´t</a:t>
            </a:r>
            <a:r>
              <a:rPr lang="it-IT" dirty="0"/>
              <a:t> use </a:t>
            </a:r>
            <a:r>
              <a:rPr lang="it-IT" dirty="0" err="1"/>
              <a:t>it!</a:t>
            </a:r>
            <a:endParaRPr lang="en-GB" dirty="0"/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76AEEC7-3E6C-8FE6-7104-34FC93794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527D13C7-4982-3CF9-E6C0-8109C888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4A0136B-0337-50A8-941C-6DC048DC6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A21B8924-2541-A57C-7990-899E2DC11FD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096439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bl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3033-AA4A-D955-AE39-E7F2A40C8A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 err="1"/>
              <a:t>Bibliography</a:t>
            </a:r>
            <a:r>
              <a:rPr lang="de-DE" dirty="0"/>
              <a:t> – </a:t>
            </a:r>
            <a:r>
              <a:rPr lang="de-DE" dirty="0" err="1"/>
              <a:t>team</a:t>
            </a:r>
            <a:r>
              <a:rPr lang="de-DE" dirty="0"/>
              <a:t> </a:t>
            </a:r>
            <a:r>
              <a:rPr lang="de-DE" dirty="0" err="1"/>
              <a:t>name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8BDBB-4827-8B89-3EE0-5A3DD22172F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it-IT" dirty="0"/>
              <a:t>[1] </a:t>
            </a:r>
            <a:r>
              <a:rPr lang="en-GB" dirty="0"/>
              <a:t>“How HOMER Calculates Wind Turbine Power Output,” </a:t>
            </a:r>
            <a:r>
              <a:rPr lang="en-GB" i="1" dirty="0"/>
              <a:t>Homerenergy.com</a:t>
            </a:r>
            <a:r>
              <a:rPr lang="en-GB" dirty="0"/>
              <a:t>, 2017. https://www.homerenergy.com/products/pro/docs/3.15/how_homer_calculates_wind_turbine_power_output.html (accessed Aug. 25, 2025).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[2] …..</a:t>
            </a:r>
            <a:endParaRPr lang="it-IT" dirty="0"/>
          </a:p>
          <a:p>
            <a:pPr lvl="0"/>
            <a:endParaRPr lang="de-DE" dirty="0"/>
          </a:p>
        </p:txBody>
      </p:sp>
      <p:cxnSp>
        <p:nvCxnSpPr>
          <p:cNvPr id="4" name="Straight Connector 5">
            <a:extLst>
              <a:ext uri="{FF2B5EF4-FFF2-40B4-BE49-F238E27FC236}">
                <a16:creationId xmlns:a16="http://schemas.microsoft.com/office/drawing/2014/main" id="{7CC2DA80-2404-1A96-924E-A52A1DBAA34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51708"/>
            <a:ext cx="10515600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9BDC2AF-40F8-8529-16FE-AE51A8BD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A36B392-F5AC-41D8-5903-3EE036BA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595A811-7A18-1583-7B9C-87A7CBB7F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5E735FEA-D591-2E8E-B9B4-2A6BAFE00D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23280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3920-E451-6E8D-B0CB-C3FB9C0F7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CFBA5-B73E-6B89-322D-7C32A35A1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BF8199-371A-141A-1CD7-D551EEEFDF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16092FF3-E2C2-B5C5-579F-21F140EB3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5AD0AE9-D3B7-2239-8DBB-350367E7D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1BD0BA0-666C-E532-C68B-11386947B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027E2607-9D4B-3DD5-A6A2-FC3CB80BCC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423501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BF7B7-87CF-1A3E-E33E-44DC6E015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1B8D-C5F5-5242-4069-B1546B4BC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D26CD-98BD-17E2-BE55-DBB74BBC64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3B8D60-279E-D76A-9222-12B704BAE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1AF34B-F683-41AD-C71C-8E8C66CC4C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4EB4231A-B976-E0CE-75F3-D34A6911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E601F58-36C8-D2D9-A619-7EE495853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BFB4D11-F600-12A5-E5C2-DCA390332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Textplatzhalter 16">
            <a:extLst>
              <a:ext uri="{FF2B5EF4-FFF2-40B4-BE49-F238E27FC236}">
                <a16:creationId xmlns:a16="http://schemas.microsoft.com/office/drawing/2014/main" id="{39AFE95F-2805-F887-3AF4-313C835B17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37897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9CAB1E-C3D8-B43B-64D5-963D13F3D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B3E84C0-2A5E-8136-84E3-1F57CD264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9EE80A-8782-7800-16FF-963D026B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CFBF4831-0820-F79B-E15A-914A0E578D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370099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4D20E-7D43-D4CD-1058-46300B8EE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6584A-B476-0EA1-C12B-07C273F70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94232-1597-B186-D108-397BCF214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63342531-5FA3-5F71-CEB1-CFCD86F17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D108632-F456-C23D-6809-CF44E36A5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4F6375C-67FA-9BF2-A821-A5611C21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6E6CFA6E-C964-BB71-3D6D-D966EE4660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465591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2DC87-27CE-5A07-9629-719DC91D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65E744-3606-1D16-E7B2-58DAFC3E88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A9C703-BF20-85AF-358A-01ADED33C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DAC50BC-A24B-779F-0533-7A27D611B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B06DBDC-0EA1-59AB-DB5D-AEE297E61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3EB43FC5-BB47-1A87-75C6-C0AFB5C72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680B36F8-3A7C-6F05-A0AB-F3F43BA0922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2613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44B09-72C5-4D15-0E4C-46764EB8C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B470E9-1D3C-D5B3-7A54-66BD90099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C34C088-08EA-3896-8F05-16D82C511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8EA7E74-7B1F-8648-209E-BFE07FF1E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B97D1D-1741-1791-CBA3-FA5CA67CA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6A2FA29E-F5F4-39E0-E0C6-CACC20E04F1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68711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68A110-A33F-744D-89CB-FFCF49E08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6FACB-31E5-361F-D71D-18FCBA550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5945ED5-EBD1-3567-F959-B92E831E5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BB6A4D0-1BA6-C02F-BE18-391B96E98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Name / Optimus Syria</a:t>
            </a:r>
            <a:endParaRPr lang="en-GB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12E4BF-484F-C87E-8228-534B62A6B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A24C13F3-9C79-1E9F-ED48-61D2AD9586E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8527" y="6564113"/>
            <a:ext cx="5596085" cy="365125"/>
          </a:xfrm>
        </p:spPr>
        <p:txBody>
          <a:bodyPr anchor="ctr"/>
          <a:lstStyle>
            <a:lvl1pPr marL="0" indent="0" algn="ctr">
              <a:buNone/>
              <a:defRPr lang="de-DE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0701898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1">
    <p:bg>
      <p:bgPr>
        <a:blipFill dpi="0" rotWithShape="1">
          <a:blip r:embed="rId2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7E6E28C-7B17-1432-D698-5D8867EE337B}"/>
              </a:ext>
            </a:extLst>
          </p:cNvPr>
          <p:cNvSpPr txBox="1">
            <a:spLocks/>
          </p:cNvSpPr>
          <p:nvPr userDrawn="1"/>
        </p:nvSpPr>
        <p:spPr>
          <a:xfrm>
            <a:off x="1412841" y="2281143"/>
            <a:ext cx="9144000" cy="9125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6600" b="1" i="0" u="none" strike="noStrike" kern="1200" cap="none" spc="0" normalizeH="0" baseline="0" noProof="0">
                <a:ln/>
                <a:solidFill>
                  <a:srgbClr val="156082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Optimus Syria</a:t>
            </a:r>
            <a:endParaRPr kumimoji="0" lang="en-GB" sz="6600" b="1" i="0" u="none" strike="noStrike" kern="1200" cap="none" spc="0" normalizeH="0" baseline="0" noProof="0" dirty="0">
              <a:ln/>
              <a:solidFill>
                <a:srgbClr val="156082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9" name="Picture 8" descr="Hochschule Flensburg (Fachhochschule) – Wikipedia">
            <a:extLst>
              <a:ext uri="{FF2B5EF4-FFF2-40B4-BE49-F238E27FC236}">
                <a16:creationId xmlns:a16="http://schemas.microsoft.com/office/drawing/2014/main" id="{A98E8D30-71DB-C779-1E77-2B8D1F3246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77870" y="80932"/>
            <a:ext cx="2518129" cy="1672124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7FC9E882-BB5D-1CC3-9AD4-1ADE555B83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5999" y="330186"/>
            <a:ext cx="3586922" cy="1040207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3EFF5A11-92DF-BC35-55CA-EECA202C55B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4671"/>
          <a:stretch/>
        </p:blipFill>
        <p:spPr>
          <a:xfrm>
            <a:off x="135741" y="211147"/>
            <a:ext cx="3179298" cy="154190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D0057AC6-E958-18E0-BF43-7A806C66C90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2029" y="191498"/>
            <a:ext cx="2355285" cy="215005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Free-form: Shape 13">
            <a:extLst>
              <a:ext uri="{FF2B5EF4-FFF2-40B4-BE49-F238E27FC236}">
                <a16:creationId xmlns:a16="http://schemas.microsoft.com/office/drawing/2014/main" id="{233C0D9D-B26B-1DCE-8493-626ABDD067F7}"/>
              </a:ext>
            </a:extLst>
          </p:cNvPr>
          <p:cNvSpPr/>
          <p:nvPr userDrawn="1"/>
        </p:nvSpPr>
        <p:spPr>
          <a:xfrm>
            <a:off x="-7749" y="5526425"/>
            <a:ext cx="12218376" cy="72825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rgbClr val="0F9ED5">
                  <a:lumMod val="40000"/>
                  <a:lumOff val="60000"/>
                </a:srgbClr>
              </a:gs>
              <a:gs pos="100000">
                <a:sysClr val="window" lastClr="FFFFFF"/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Free-form: Shape 13">
            <a:extLst>
              <a:ext uri="{FF2B5EF4-FFF2-40B4-BE49-F238E27FC236}">
                <a16:creationId xmlns:a16="http://schemas.microsoft.com/office/drawing/2014/main" id="{95CC7C89-8F0E-07BF-6D89-44A0358FDFC8}"/>
              </a:ext>
            </a:extLst>
          </p:cNvPr>
          <p:cNvSpPr/>
          <p:nvPr userDrawn="1"/>
        </p:nvSpPr>
        <p:spPr>
          <a:xfrm>
            <a:off x="0" y="5838824"/>
            <a:ext cx="12192000" cy="675673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rgbClr val="156082">
                  <a:lumMod val="5000"/>
                  <a:lumOff val="95000"/>
                </a:srgbClr>
              </a:gs>
              <a:gs pos="74000">
                <a:srgbClr val="156082">
                  <a:lumMod val="45000"/>
                  <a:lumOff val="55000"/>
                </a:srgbClr>
              </a:gs>
              <a:gs pos="83000">
                <a:srgbClr val="156082">
                  <a:lumMod val="45000"/>
                  <a:lumOff val="55000"/>
                </a:srgbClr>
              </a:gs>
              <a:gs pos="100000">
                <a:srgbClr val="156082">
                  <a:lumMod val="30000"/>
                  <a:lumOff val="70000"/>
                </a:srgb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Free-form: Shape 13">
            <a:extLst>
              <a:ext uri="{FF2B5EF4-FFF2-40B4-BE49-F238E27FC236}">
                <a16:creationId xmlns:a16="http://schemas.microsoft.com/office/drawing/2014/main" id="{4FB94905-8FF2-701D-A980-9368DF7EB04F}"/>
              </a:ext>
            </a:extLst>
          </p:cNvPr>
          <p:cNvSpPr/>
          <p:nvPr userDrawn="1"/>
        </p:nvSpPr>
        <p:spPr>
          <a:xfrm>
            <a:off x="-7346" y="5928072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rgbClr val="0F9ED5">
                  <a:lumMod val="20000"/>
                  <a:lumOff val="80000"/>
                </a:srgbClr>
              </a:gs>
              <a:gs pos="50000">
                <a:sysClr val="window" lastClr="FFFFFF"/>
              </a:gs>
              <a:gs pos="100000">
                <a:srgbClr val="0F9ED5">
                  <a:lumMod val="20000"/>
                  <a:lumOff val="80000"/>
                </a:srgbClr>
              </a:gs>
            </a:gsLst>
            <a:lin ang="0" scaled="1"/>
            <a:tileRect/>
          </a:gradFill>
          <a:ln w="15875" cap="flat" cmpd="sng" algn="ctr">
            <a:solidFill>
              <a:srgbClr val="156082">
                <a:alpha val="0"/>
              </a:srgbClr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62B0D505-239D-592F-D28C-2537FD6A64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92399" y="4130862"/>
            <a:ext cx="3822700" cy="164669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1st Week Kick Off Presentation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Date: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202X</a:t>
            </a:r>
          </a:p>
          <a:p>
            <a:pPr lvl="4"/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AB9256-03E9-9046-0C0F-540CE5905E92}"/>
              </a:ext>
            </a:extLst>
          </p:cNvPr>
          <p:cNvSpPr/>
          <p:nvPr userDrawn="1"/>
        </p:nvSpPr>
        <p:spPr>
          <a:xfrm>
            <a:off x="-4172" y="6542492"/>
            <a:ext cx="12207494" cy="365126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Picture 18" descr="A white windmill with clouds in the background&#10;&#10;AI-generated content may be incorrect.">
            <a:extLst>
              <a:ext uri="{FF2B5EF4-FFF2-40B4-BE49-F238E27FC236}">
                <a16:creationId xmlns:a16="http://schemas.microsoft.com/office/drawing/2014/main" id="{9BDED722-8EE5-8B7F-02CA-CF3939A785CF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950" y="5430021"/>
            <a:ext cx="1753782" cy="131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3580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up starting slide (Explan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-form: Shape 13">
            <a:extLst>
              <a:ext uri="{FF2B5EF4-FFF2-40B4-BE49-F238E27FC236}">
                <a16:creationId xmlns:a16="http://schemas.microsoft.com/office/drawing/2014/main" id="{006CCD24-9C06-8926-5E3D-FFE059D5F3D2}"/>
              </a:ext>
            </a:extLst>
          </p:cNvPr>
          <p:cNvSpPr/>
          <p:nvPr userDrawn="1"/>
        </p:nvSpPr>
        <p:spPr>
          <a:xfrm>
            <a:off x="-7749" y="5526425"/>
            <a:ext cx="12218376" cy="72825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rgbClr val="0F9ED5">
                  <a:lumMod val="40000"/>
                  <a:lumOff val="60000"/>
                </a:srgbClr>
              </a:gs>
              <a:gs pos="100000">
                <a:sysClr val="window" lastClr="FFFFFF"/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-form: Shape 13">
            <a:extLst>
              <a:ext uri="{FF2B5EF4-FFF2-40B4-BE49-F238E27FC236}">
                <a16:creationId xmlns:a16="http://schemas.microsoft.com/office/drawing/2014/main" id="{1157507C-DF41-F2F7-53B7-B0DC0D568F3B}"/>
              </a:ext>
            </a:extLst>
          </p:cNvPr>
          <p:cNvSpPr/>
          <p:nvPr userDrawn="1"/>
        </p:nvSpPr>
        <p:spPr>
          <a:xfrm>
            <a:off x="0" y="5838824"/>
            <a:ext cx="12192000" cy="675673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rgbClr val="156082">
                  <a:lumMod val="5000"/>
                  <a:lumOff val="95000"/>
                </a:srgbClr>
              </a:gs>
              <a:gs pos="74000">
                <a:srgbClr val="156082">
                  <a:lumMod val="45000"/>
                  <a:lumOff val="55000"/>
                </a:srgbClr>
              </a:gs>
              <a:gs pos="83000">
                <a:srgbClr val="156082">
                  <a:lumMod val="45000"/>
                  <a:lumOff val="55000"/>
                </a:srgbClr>
              </a:gs>
              <a:gs pos="100000">
                <a:srgbClr val="156082">
                  <a:lumMod val="30000"/>
                  <a:lumOff val="70000"/>
                </a:srgb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Free-form: Shape 13">
            <a:extLst>
              <a:ext uri="{FF2B5EF4-FFF2-40B4-BE49-F238E27FC236}">
                <a16:creationId xmlns:a16="http://schemas.microsoft.com/office/drawing/2014/main" id="{94DF4395-7D7A-F380-6320-D9BE1ED1DA6D}"/>
              </a:ext>
            </a:extLst>
          </p:cNvPr>
          <p:cNvSpPr/>
          <p:nvPr userDrawn="1"/>
        </p:nvSpPr>
        <p:spPr>
          <a:xfrm>
            <a:off x="-7346" y="5928072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rgbClr val="0F9ED5">
                  <a:lumMod val="20000"/>
                  <a:lumOff val="80000"/>
                </a:srgbClr>
              </a:gs>
              <a:gs pos="50000">
                <a:sysClr val="window" lastClr="FFFFFF"/>
              </a:gs>
              <a:gs pos="100000">
                <a:srgbClr val="0F9ED5">
                  <a:lumMod val="20000"/>
                  <a:lumOff val="80000"/>
                </a:srgbClr>
              </a:gs>
            </a:gsLst>
            <a:lin ang="0" scaled="1"/>
            <a:tileRect/>
          </a:gradFill>
          <a:ln w="15875" cap="flat" cmpd="sng" algn="ctr">
            <a:solidFill>
              <a:srgbClr val="156082">
                <a:alpha val="0"/>
              </a:srgbClr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7" name="Picture 8" descr="Hochschule Flensburg (Fachhochschule) – Wikipedia">
            <a:extLst>
              <a:ext uri="{FF2B5EF4-FFF2-40B4-BE49-F238E27FC236}">
                <a16:creationId xmlns:a16="http://schemas.microsoft.com/office/drawing/2014/main" id="{811EE0A2-7B7B-66E3-65D6-A7F1D9F140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0439" y="264131"/>
            <a:ext cx="2518129" cy="1672124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88A3D22E-A6EF-A83A-86D5-C96D877CA4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45647" y="719916"/>
            <a:ext cx="3586922" cy="1040207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427A8DB5-3232-D63A-5CDF-0D3AD6450C3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825103" y="243054"/>
            <a:ext cx="3684008" cy="1703223"/>
          </a:xfrm>
          <a:prstGeom prst="rect">
            <a:avLst/>
          </a:prstGeom>
        </p:spPr>
      </p:pic>
      <p:sp>
        <p:nvSpPr>
          <p:cNvPr id="30" name="Title 1">
            <a:extLst>
              <a:ext uri="{FF2B5EF4-FFF2-40B4-BE49-F238E27FC236}">
                <a16:creationId xmlns:a16="http://schemas.microsoft.com/office/drawing/2014/main" id="{00FE6863-2F47-99AC-390A-A1BB2D1DD0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12841" y="2206093"/>
            <a:ext cx="9144000" cy="912598"/>
          </a:xfrm>
        </p:spPr>
        <p:txBody>
          <a:bodyPr>
            <a:noAutofit/>
          </a:bodyPr>
          <a:lstStyle>
            <a:lvl1pPr algn="ctr">
              <a:defRPr>
                <a:latin typeface="Aptos (Textkörper)"/>
              </a:defRPr>
            </a:lvl1pPr>
          </a:lstStyle>
          <a:p>
            <a:r>
              <a:rPr lang="it-IT" sz="4000" dirty="0"/>
              <a:t>Weekly report: Team X</a:t>
            </a:r>
            <a:endParaRPr lang="en-GB" sz="4000" dirty="0"/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05E4BCC5-2CED-6F6C-22B8-AF74FB7ECFF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12841" y="3429000"/>
            <a:ext cx="9144000" cy="11430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ctr">
              <a:buNone/>
              <a:defRPr sz="1400">
                <a:latin typeface="Aptos (Textkörper)"/>
              </a:defRPr>
            </a:lvl1pPr>
          </a:lstStyle>
          <a:p>
            <a:r>
              <a:rPr lang="it-IT" sz="2000" dirty="0"/>
              <a:t>Week </a:t>
            </a:r>
            <a:r>
              <a:rPr lang="it-IT" sz="2000" dirty="0" err="1"/>
              <a:t>number</a:t>
            </a:r>
            <a:r>
              <a:rPr lang="it-IT" sz="2000" dirty="0"/>
              <a:t>: X</a:t>
            </a:r>
          </a:p>
          <a:p>
            <a:r>
              <a:rPr lang="it-IT" sz="2000" dirty="0"/>
              <a:t>Date: DD/MM/20JJ</a:t>
            </a:r>
          </a:p>
          <a:p>
            <a:r>
              <a:rPr lang="it-IT" sz="2000" dirty="0"/>
              <a:t>Supervisor: X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C16AED5E-219C-C34B-7790-17DE2532E62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16826" y="4882309"/>
            <a:ext cx="5128821" cy="331717"/>
          </a:xfrm>
        </p:spPr>
        <p:txBody>
          <a:bodyPr anchor="b">
            <a:noAutofit/>
          </a:bodyPr>
          <a:lstStyle>
            <a:lvl1pPr marL="0" indent="0" algn="ctr">
              <a:buNone/>
              <a:defRPr sz="1400" b="0">
                <a:latin typeface="Aptos (Textkörper)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: 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4DF9F8D-C604-6899-2A9F-B743F135F77F}"/>
              </a:ext>
            </a:extLst>
          </p:cNvPr>
          <p:cNvSpPr/>
          <p:nvPr userDrawn="1"/>
        </p:nvSpPr>
        <p:spPr>
          <a:xfrm>
            <a:off x="-4172" y="6542492"/>
            <a:ext cx="12207494" cy="365126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6" name="Picture 18" descr="A white windmill with clouds in the background&#10;&#10;AI-generated content may be incorrect.">
            <a:extLst>
              <a:ext uri="{FF2B5EF4-FFF2-40B4-BE49-F238E27FC236}">
                <a16:creationId xmlns:a16="http://schemas.microsoft.com/office/drawing/2014/main" id="{B8218494-1E39-5AB1-96DD-936404956E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950" y="5430021"/>
            <a:ext cx="1753782" cy="1313633"/>
          </a:xfrm>
          <a:prstGeom prst="rect">
            <a:avLst/>
          </a:prstGeom>
        </p:spPr>
      </p:pic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2481298-4C0F-EA65-5B6C-A8C69906505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FE2B40EC-630A-E9C4-E03F-6B44073220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Optimus Syria</a:t>
            </a:r>
            <a:endParaRPr lang="en-GB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363FCB4-D064-121D-B878-2F16074058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84428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up start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-form: Shape 13">
            <a:extLst>
              <a:ext uri="{FF2B5EF4-FFF2-40B4-BE49-F238E27FC236}">
                <a16:creationId xmlns:a16="http://schemas.microsoft.com/office/drawing/2014/main" id="{006CCD24-9C06-8926-5E3D-FFE059D5F3D2}"/>
              </a:ext>
            </a:extLst>
          </p:cNvPr>
          <p:cNvSpPr/>
          <p:nvPr userDrawn="1"/>
        </p:nvSpPr>
        <p:spPr>
          <a:xfrm>
            <a:off x="-7749" y="5526425"/>
            <a:ext cx="12218376" cy="72825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rgbClr val="0F9ED5">
                  <a:lumMod val="40000"/>
                  <a:lumOff val="60000"/>
                </a:srgbClr>
              </a:gs>
              <a:gs pos="100000">
                <a:sysClr val="window" lastClr="FFFFFF"/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-form: Shape 13">
            <a:extLst>
              <a:ext uri="{FF2B5EF4-FFF2-40B4-BE49-F238E27FC236}">
                <a16:creationId xmlns:a16="http://schemas.microsoft.com/office/drawing/2014/main" id="{1157507C-DF41-F2F7-53B7-B0DC0D568F3B}"/>
              </a:ext>
            </a:extLst>
          </p:cNvPr>
          <p:cNvSpPr/>
          <p:nvPr userDrawn="1"/>
        </p:nvSpPr>
        <p:spPr>
          <a:xfrm>
            <a:off x="0" y="5838824"/>
            <a:ext cx="12192000" cy="675673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rgbClr val="156082">
                  <a:lumMod val="5000"/>
                  <a:lumOff val="95000"/>
                </a:srgbClr>
              </a:gs>
              <a:gs pos="74000">
                <a:srgbClr val="156082">
                  <a:lumMod val="45000"/>
                  <a:lumOff val="55000"/>
                </a:srgbClr>
              </a:gs>
              <a:gs pos="83000">
                <a:srgbClr val="156082">
                  <a:lumMod val="45000"/>
                  <a:lumOff val="55000"/>
                </a:srgbClr>
              </a:gs>
              <a:gs pos="100000">
                <a:srgbClr val="156082">
                  <a:lumMod val="30000"/>
                  <a:lumOff val="70000"/>
                </a:srgb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Free-form: Shape 13">
            <a:extLst>
              <a:ext uri="{FF2B5EF4-FFF2-40B4-BE49-F238E27FC236}">
                <a16:creationId xmlns:a16="http://schemas.microsoft.com/office/drawing/2014/main" id="{94DF4395-7D7A-F380-6320-D9BE1ED1DA6D}"/>
              </a:ext>
            </a:extLst>
          </p:cNvPr>
          <p:cNvSpPr/>
          <p:nvPr userDrawn="1"/>
        </p:nvSpPr>
        <p:spPr>
          <a:xfrm>
            <a:off x="-7346" y="5928072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rgbClr val="0F9ED5">
                  <a:lumMod val="20000"/>
                  <a:lumOff val="80000"/>
                </a:srgbClr>
              </a:gs>
              <a:gs pos="50000">
                <a:sysClr val="window" lastClr="FFFFFF"/>
              </a:gs>
              <a:gs pos="100000">
                <a:srgbClr val="0F9ED5">
                  <a:lumMod val="20000"/>
                  <a:lumOff val="80000"/>
                </a:srgbClr>
              </a:gs>
            </a:gsLst>
            <a:lin ang="0" scaled="1"/>
            <a:tileRect/>
          </a:gradFill>
          <a:ln w="15875" cap="flat" cmpd="sng" algn="ctr">
            <a:solidFill>
              <a:srgbClr val="156082">
                <a:alpha val="0"/>
              </a:srgbClr>
            </a:solidFill>
            <a:prstDash val="solid"/>
            <a:miter lim="800000"/>
          </a:ln>
          <a:effectLst>
            <a:glow>
              <a:srgbClr val="FFFF00"/>
            </a:glow>
            <a:outerShdw algn="ctr" rotWithShape="0">
              <a:sysClr val="windowText" lastClr="000000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7" name="Picture 8" descr="Hochschule Flensburg (Fachhochschule) – Wikipedia">
            <a:extLst>
              <a:ext uri="{FF2B5EF4-FFF2-40B4-BE49-F238E27FC236}">
                <a16:creationId xmlns:a16="http://schemas.microsoft.com/office/drawing/2014/main" id="{811EE0A2-7B7B-66E3-65D6-A7F1D9F140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0439" y="264131"/>
            <a:ext cx="2518129" cy="1672124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88A3D22E-A6EF-A83A-86D5-C96D877CA4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45647" y="719916"/>
            <a:ext cx="3586922" cy="1040207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427A8DB5-3232-D63A-5CDF-0D3AD6450C3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825103" y="243054"/>
            <a:ext cx="3684008" cy="1703223"/>
          </a:xfrm>
          <a:prstGeom prst="rect">
            <a:avLst/>
          </a:prstGeom>
        </p:spPr>
      </p:pic>
      <p:sp>
        <p:nvSpPr>
          <p:cNvPr id="30" name="Title 1">
            <a:extLst>
              <a:ext uri="{FF2B5EF4-FFF2-40B4-BE49-F238E27FC236}">
                <a16:creationId xmlns:a16="http://schemas.microsoft.com/office/drawing/2014/main" id="{00FE6863-2F47-99AC-390A-A1BB2D1DD0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12841" y="2206093"/>
            <a:ext cx="9144000" cy="912598"/>
          </a:xfrm>
        </p:spPr>
        <p:txBody>
          <a:bodyPr>
            <a:noAutofit/>
          </a:bodyPr>
          <a:lstStyle>
            <a:lvl1pPr algn="ctr">
              <a:defRPr>
                <a:latin typeface="Aptos (Textkörper)"/>
              </a:defRPr>
            </a:lvl1pPr>
          </a:lstStyle>
          <a:p>
            <a:r>
              <a:rPr lang="it-IT" sz="4000" dirty="0"/>
              <a:t>Weekly report: Team X</a:t>
            </a:r>
            <a:endParaRPr lang="en-GB" sz="4000" dirty="0"/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05E4BCC5-2CED-6F6C-22B8-AF74FB7ECF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 hasCustomPrompt="1"/>
          </p:nvPr>
        </p:nvSpPr>
        <p:spPr>
          <a:xfrm>
            <a:off x="1412841" y="3429000"/>
            <a:ext cx="9144000" cy="11430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ctr">
              <a:buNone/>
              <a:defRPr sz="1400">
                <a:latin typeface="Aptos (Textkörper)"/>
              </a:defRPr>
            </a:lvl1pPr>
          </a:lstStyle>
          <a:p>
            <a:r>
              <a:rPr lang="it-IT" sz="2000" dirty="0"/>
              <a:t>Week </a:t>
            </a:r>
            <a:r>
              <a:rPr lang="it-IT" sz="2000" dirty="0" err="1"/>
              <a:t>number</a:t>
            </a:r>
            <a:r>
              <a:rPr lang="it-IT" sz="2000" dirty="0"/>
              <a:t>: X</a:t>
            </a:r>
          </a:p>
          <a:p>
            <a:r>
              <a:rPr lang="it-IT" sz="2000" dirty="0"/>
              <a:t>Date: DD/MM/20JJ</a:t>
            </a:r>
          </a:p>
          <a:p>
            <a:r>
              <a:rPr lang="it-IT" sz="2000" dirty="0"/>
              <a:t>Supervisor: X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05588F89-BF05-8BCF-9834-AE05DA2404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idx="10" hasCustomPrompt="1"/>
          </p:nvPr>
        </p:nvSpPr>
        <p:spPr>
          <a:xfrm>
            <a:off x="3316826" y="4882309"/>
            <a:ext cx="5128821" cy="331717"/>
          </a:xfrm>
        </p:spPr>
        <p:txBody>
          <a:bodyPr anchor="b">
            <a:noAutofit/>
          </a:bodyPr>
          <a:lstStyle>
            <a:lvl1pPr marL="0" indent="0" algn="ctr">
              <a:buNone/>
              <a:defRPr sz="1400" b="0">
                <a:latin typeface="Aptos (Textkörper)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Group </a:t>
            </a:r>
            <a:r>
              <a:rPr lang="de-DE" dirty="0" err="1"/>
              <a:t>members</a:t>
            </a:r>
            <a:r>
              <a:rPr lang="de-DE" dirty="0"/>
              <a:t>: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3077A87-075C-C9F1-CF08-7A350F77E612}"/>
              </a:ext>
            </a:extLst>
          </p:cNvPr>
          <p:cNvSpPr/>
          <p:nvPr userDrawn="1"/>
        </p:nvSpPr>
        <p:spPr>
          <a:xfrm>
            <a:off x="-4172" y="6542492"/>
            <a:ext cx="12207494" cy="365126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6" name="Picture 18" descr="A white windmill with clouds in the background&#10;&#10;AI-generated content may be incorrect.">
            <a:extLst>
              <a:ext uri="{FF2B5EF4-FFF2-40B4-BE49-F238E27FC236}">
                <a16:creationId xmlns:a16="http://schemas.microsoft.com/office/drawing/2014/main" id="{B8218494-1E39-5AB1-96DD-936404956E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950" y="5430021"/>
            <a:ext cx="1753782" cy="1313633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3C889B-2F55-2C2F-122E-E89ABE6A2D9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877DC7-CA1E-181B-77C7-99C60829ED5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Optimus Syria</a:t>
            </a:r>
            <a:endParaRPr lang="en-GB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3E1ABD-9DAE-E035-8B0B-D41EFED3FC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773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D36E4AE-BF2C-D504-0887-03D81D07CDC8}"/>
              </a:ext>
            </a:extLst>
          </p:cNvPr>
          <p:cNvSpPr/>
          <p:nvPr userDrawn="1"/>
        </p:nvSpPr>
        <p:spPr>
          <a:xfrm>
            <a:off x="-4172" y="6542492"/>
            <a:ext cx="12207494" cy="365126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Free-form: Shape 13">
            <a:extLst>
              <a:ext uri="{FF2B5EF4-FFF2-40B4-BE49-F238E27FC236}">
                <a16:creationId xmlns:a16="http://schemas.microsoft.com/office/drawing/2014/main" id="{7608A32D-44F3-01F2-D6ED-924DFF3CC333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B4C36-B64B-F839-789E-0C40D5E60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GB" dirty="0"/>
          </a:p>
        </p:txBody>
      </p:sp>
      <p:sp>
        <p:nvSpPr>
          <p:cNvPr id="8" name="Free-form: Shape 13">
            <a:extLst>
              <a:ext uri="{FF2B5EF4-FFF2-40B4-BE49-F238E27FC236}">
                <a16:creationId xmlns:a16="http://schemas.microsoft.com/office/drawing/2014/main" id="{1DE142EE-E501-93E6-565D-AB4A5A647F0F}"/>
              </a:ext>
            </a:extLst>
          </p:cNvPr>
          <p:cNvSpPr/>
          <p:nvPr/>
        </p:nvSpPr>
        <p:spPr>
          <a:xfrm rot="10800000">
            <a:off x="-2090" y="-18190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776A7918-93DA-D7CE-97A3-DDF18B379B65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4827E-F028-4C94-EB63-600BCABCD1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74613" y="6564113"/>
            <a:ext cx="28791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Team Name / Optimus Syria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8DD39-3F07-862A-3C91-AC5245291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49570" y="6566803"/>
            <a:ext cx="9289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593D3-E60D-CF97-AC8A-2B02D933B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6803"/>
            <a:ext cx="11113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1ABD3F4B-4853-EC8E-00EB-5109F86CE0F1}"/>
              </a:ext>
            </a:extLst>
          </p:cNvPr>
          <p:cNvSpPr/>
          <p:nvPr userDrawn="1"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Free-form: Shape 13">
            <a:extLst>
              <a:ext uri="{FF2B5EF4-FFF2-40B4-BE49-F238E27FC236}">
                <a16:creationId xmlns:a16="http://schemas.microsoft.com/office/drawing/2014/main" id="{2BF40EC9-0D42-5E08-04BD-F330229C7518}"/>
              </a:ext>
            </a:extLst>
          </p:cNvPr>
          <p:cNvSpPr/>
          <p:nvPr userDrawn="1"/>
        </p:nvSpPr>
        <p:spPr>
          <a:xfrm rot="10800000">
            <a:off x="-2090" y="-18190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-form: Shape 13">
            <a:extLst>
              <a:ext uri="{FF2B5EF4-FFF2-40B4-BE49-F238E27FC236}">
                <a16:creationId xmlns:a16="http://schemas.microsoft.com/office/drawing/2014/main" id="{0BB1BAA4-B843-57F3-9FCE-C9585D332FAE}"/>
              </a:ext>
            </a:extLst>
          </p:cNvPr>
          <p:cNvSpPr/>
          <p:nvPr userDrawn="1"/>
        </p:nvSpPr>
        <p:spPr>
          <a:xfrm rot="10800000">
            <a:off x="-26376" y="-254312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75E23-C68E-95B1-6539-4A187BBC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3178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63" r:id="rId2"/>
    <p:sldLayoutId id="2147483686" r:id="rId3"/>
    <p:sldLayoutId id="2147483674" r:id="rId4"/>
    <p:sldLayoutId id="2147483685" r:id="rId5"/>
    <p:sldLayoutId id="2147483684" r:id="rId6"/>
    <p:sldLayoutId id="2147483688" r:id="rId7"/>
    <p:sldLayoutId id="2147483666" r:id="rId8"/>
    <p:sldLayoutId id="2147483689" r:id="rId9"/>
    <p:sldLayoutId id="2147483662" r:id="rId10"/>
    <p:sldLayoutId id="2147483690" r:id="rId11"/>
    <p:sldLayoutId id="2147483664" r:id="rId12"/>
    <p:sldLayoutId id="2147483665" r:id="rId13"/>
    <p:sldLayoutId id="2147483667" r:id="rId14"/>
    <p:sldLayoutId id="2147483668" r:id="rId15"/>
    <p:sldLayoutId id="2147483669" r:id="rId16"/>
    <p:sldLayoutId id="2147483670" r:id="rId17"/>
    <p:sldLayoutId id="2147483671" r:id="rId1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5620995-1DFE-FB81-B1FD-1F43AD25E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F9FFA78-25BC-8AF7-71C4-CCA91A932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CB32A29-5E71-00A9-66DA-1FED8EA8F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74613" y="6564113"/>
            <a:ext cx="28791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Optimus Syria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5A1141D-8ADF-66F7-AB0C-CAA4E1B2C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49570" y="6566803"/>
            <a:ext cx="9289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7138566-A99B-8C60-010B-13E0F43C5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6803"/>
            <a:ext cx="11113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02AEE8E4-D792-40D2-B8D4-0007E21A0CF8}" type="datetime1">
              <a:rPr lang="en-GB" smtClean="0"/>
              <a:t>10/11/2025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1557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nfiglioli.com/_default_upload_bucket/TR_CAT_WIND_STD_ENG_R05_0.pdf" TargetMode="External"/><Relationship Id="rId2" Type="http://schemas.openxmlformats.org/officeDocument/2006/relationships/slide" Target="slide7.xml"/><Relationship Id="rId1" Type="http://schemas.openxmlformats.org/officeDocument/2006/relationships/slideLayout" Target="../slideLayouts/slideLayout4.xml"/><Relationship Id="rId6" Type="http://schemas.openxmlformats.org/officeDocument/2006/relationships/hyperlink" Target="thyssenkrupp-rothe-erde_Catalogue_EN_0423.pdf" TargetMode="External"/><Relationship Id="rId5" Type="http://schemas.openxmlformats.org/officeDocument/2006/relationships/hyperlink" Target="Report_Optimus92LE_Machinebed_Yawsystem_Rev1%20(1).pdf" TargetMode="External"/><Relationship Id="rId4" Type="http://schemas.openxmlformats.org/officeDocument/2006/relationships/hyperlink" Target="Final%20report%20Machine%20bed,%20yaw%20system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7FF1E788-369D-9A8F-8F84-AD852E9D2E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6678" y="2216406"/>
            <a:ext cx="9718641" cy="912598"/>
          </a:xfrm>
        </p:spPr>
        <p:txBody>
          <a:bodyPr/>
          <a:lstStyle/>
          <a:p>
            <a:r>
              <a:rPr lang="en-GB" sz="4000" dirty="0"/>
              <a:t>Weekly report: Machine Bed &amp; Yaw System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E6C0A47-C45A-EB0C-4C45-15C9C28E75E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2475992" y="4582639"/>
            <a:ext cx="7240015" cy="365125"/>
          </a:xfrm>
        </p:spPr>
        <p:txBody>
          <a:bodyPr/>
          <a:lstStyle/>
          <a:p>
            <a:r>
              <a:rPr lang="en-GB" dirty="0" err="1"/>
              <a:t>Shoukat</a:t>
            </a:r>
            <a:r>
              <a:rPr lang="en-GB" dirty="0"/>
              <a:t> Abbas, </a:t>
            </a:r>
            <a:r>
              <a:rPr lang="en-GB" dirty="0" err="1"/>
              <a:t>Luksh</a:t>
            </a:r>
            <a:r>
              <a:rPr lang="en-GB" dirty="0"/>
              <a:t> Chawla, Sathishkumar Venkatachalam, Shrihari G Kadam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BE6549-3E86-5AE5-9E5E-148C592FC8C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11/11/2025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D6649A-1E87-C9DD-E3C2-12FE7407BD3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8802836" y="6566802"/>
            <a:ext cx="2879187" cy="365125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Machine Bed &amp; Yaw System/ Optimus Syria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00F9B30-73C2-F457-56BA-0324B85690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9ACFA37C-C6C3-881E-9DEF-5A96ED2C1D15}"/>
              </a:ext>
            </a:extLst>
          </p:cNvPr>
          <p:cNvSpPr txBox="1">
            <a:spLocks/>
          </p:cNvSpPr>
          <p:nvPr/>
        </p:nvSpPr>
        <p:spPr>
          <a:xfrm>
            <a:off x="1565241" y="2358493"/>
            <a:ext cx="9144000" cy="9125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ptos (Textkörper)"/>
                <a:ea typeface="+mj-ea"/>
                <a:cs typeface="+mj-cs"/>
              </a:defRPr>
            </a:lvl1pPr>
          </a:lstStyle>
          <a:p>
            <a:endParaRPr lang="en-GB" sz="4000" dirty="0"/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1E0415E7-E053-E995-249A-5B86E4F96002}"/>
              </a:ext>
            </a:extLst>
          </p:cNvPr>
          <p:cNvSpPr txBox="1">
            <a:spLocks/>
          </p:cNvSpPr>
          <p:nvPr/>
        </p:nvSpPr>
        <p:spPr>
          <a:xfrm>
            <a:off x="1412841" y="320553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ptos (Textkörper)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dirty="0"/>
              <a:t>Week No - 7</a:t>
            </a:r>
          </a:p>
          <a:p>
            <a:r>
              <a:rPr lang="it-IT" sz="2000" dirty="0"/>
              <a:t>Date: 11.11.2025</a:t>
            </a:r>
          </a:p>
          <a:p>
            <a:r>
              <a:rPr lang="it-IT" sz="2000" dirty="0"/>
              <a:t>Supervisor: Prof. Peter Quell</a:t>
            </a: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08376D06-4672-9EF6-7B17-FCFA47C3FDDF}"/>
              </a:ext>
            </a:extLst>
          </p:cNvPr>
          <p:cNvSpPr txBox="1">
            <a:spLocks/>
          </p:cNvSpPr>
          <p:nvPr/>
        </p:nvSpPr>
        <p:spPr>
          <a:xfrm>
            <a:off x="2517233" y="5089851"/>
            <a:ext cx="7240015" cy="36512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Aptos (Textkörper)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/>
              <a:t>Presented by –  </a:t>
            </a:r>
            <a:r>
              <a:rPr lang="en-GB" dirty="0"/>
              <a:t>Sathishkumar Venkatachalam</a:t>
            </a:r>
          </a:p>
        </p:txBody>
      </p:sp>
    </p:spTree>
    <p:extLst>
      <p:ext uri="{BB962C8B-B14F-4D97-AF65-F5344CB8AC3E}">
        <p14:creationId xmlns:p14="http://schemas.microsoft.com/office/powerpoint/2010/main" val="1493159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5D8C-3E5B-E602-A935-521A15813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5C580E-2809-B049-3D67-5D7769A1B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4143C-9BB0-DF67-AD4B-795FC4CF9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74613" y="6564113"/>
            <a:ext cx="3225975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10ED4E-7AD5-F9DB-3A70-EE05E34F0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2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FCB104A-0713-9C47-0F5D-96E287DF59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3D5F662-FC69-5BA9-74AF-843D9516E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596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Aptos" panose="020B0004020202020204" pitchFamily="34" charset="0"/>
              </a:rPr>
              <a:t>Contents</a:t>
            </a:r>
            <a:endParaRPr lang="en-US" sz="4000" dirty="0">
              <a:cs typeface="Times New Roman" panose="02020603050405020304" pitchFamily="18" charset="0"/>
            </a:endParaRPr>
          </a:p>
        </p:txBody>
      </p:sp>
      <p:sp>
        <p:nvSpPr>
          <p:cNvPr id="2" name="Text Box 1">
            <a:extLst>
              <a:ext uri="{FF2B5EF4-FFF2-40B4-BE49-F238E27FC236}">
                <a16:creationId xmlns:a16="http://schemas.microsoft.com/office/drawing/2014/main" id="{74C8A896-5872-DF50-1F93-F0340A0A5B2E}"/>
              </a:ext>
            </a:extLst>
          </p:cNvPr>
          <p:cNvSpPr txBox="1"/>
          <p:nvPr/>
        </p:nvSpPr>
        <p:spPr>
          <a:xfrm>
            <a:off x="1589405" y="1786976"/>
            <a:ext cx="4281805" cy="23381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altLang="en-GB" sz="2000" dirty="0"/>
              <a:t>Yaw Bearing Selection &amp;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alt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altLang="en-GB" sz="2000" dirty="0"/>
              <a:t>Yaw Bearing Teeth Module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alt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altLang="en-GB" sz="2000" dirty="0"/>
              <a:t>Yaw drive &amp; its Motor specification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alt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altLang="en-US" sz="2000" dirty="0"/>
              <a:t>Bed Casting – New estimations</a:t>
            </a:r>
            <a:r>
              <a:rPr lang="en-US" sz="2000" dirty="0"/>
              <a:t> </a:t>
            </a:r>
            <a:endParaRPr lang="en-IN" altLang="en-GB" sz="2000" dirty="0"/>
          </a:p>
        </p:txBody>
      </p:sp>
    </p:spTree>
    <p:extLst>
      <p:ext uri="{BB962C8B-B14F-4D97-AF65-F5344CB8AC3E}">
        <p14:creationId xmlns:p14="http://schemas.microsoft.com/office/powerpoint/2010/main" val="2707436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6EAAE-BA35-A8A2-25C5-DD12271A1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B9983F-38B4-BEAB-5B92-A13758AC8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BBE329-24E5-1CA5-6F29-488AA9E79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74613" y="6564113"/>
            <a:ext cx="3225975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976FAC-A587-5ADC-8AB6-2786487A5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3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4AEB46C-8D4C-77DA-D4ED-E81CA97C6D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A82073-D53B-4D6B-A04A-11E1C6BC4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95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b="1" dirty="0">
                <a:latin typeface="Aptos" panose="020B0004020202020204" pitchFamily="34" charset="0"/>
                <a:cs typeface="Times New Roman" panose="02020603050405020304" pitchFamily="18" charset="0"/>
                <a:sym typeface="+mn-ea"/>
              </a:rPr>
              <a:t>Yaw Bearing Selection &amp; Details</a:t>
            </a:r>
            <a:r>
              <a:rPr lang="en-IN" alt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4000" b="1" dirty="0"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3434" y="1115905"/>
            <a:ext cx="11360502" cy="2664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2000" dirty="0"/>
          </a:p>
          <a:p>
            <a:pPr>
              <a:lnSpc>
                <a:spcPct val="150000"/>
              </a:lnSpc>
            </a:pPr>
            <a:r>
              <a:rPr lang="en-IN" sz="2000" dirty="0"/>
              <a:t>1. Bearing Manufacturer - </a:t>
            </a:r>
            <a:r>
              <a:rPr lang="en-IN" sz="2000" b="1" dirty="0"/>
              <a:t>Thyssenkrupp Bearing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2. Bearing Type - </a:t>
            </a:r>
            <a:r>
              <a:rPr lang="en-IN" sz="2000" b="1" dirty="0"/>
              <a:t>Double-row four-point</a:t>
            </a:r>
            <a:r>
              <a:rPr lang="en-IN" sz="2000" dirty="0"/>
              <a:t> Bearing with </a:t>
            </a:r>
            <a:r>
              <a:rPr lang="en-IN" sz="2000" b="1" dirty="0"/>
              <a:t>External Gears</a:t>
            </a:r>
            <a:endParaRPr lang="en-IN" sz="2000" dirty="0"/>
          </a:p>
          <a:p>
            <a:pPr>
              <a:lnSpc>
                <a:spcPct val="150000"/>
              </a:lnSpc>
            </a:pPr>
            <a:r>
              <a:rPr lang="en-IN" sz="2000" dirty="0"/>
              <a:t>3. Manufacturer Dr. No: </a:t>
            </a:r>
            <a:r>
              <a:rPr lang="en-IN" sz="2000" b="1" dirty="0"/>
              <a:t>091.50.2842.99041.1502  (20)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4. Value of Da is </a:t>
            </a:r>
            <a:r>
              <a:rPr lang="" altLang="en-US" sz="2000" dirty="0"/>
              <a:t>Ø</a:t>
            </a:r>
            <a:r>
              <a:rPr lang="en-IN" sz="2000" dirty="0"/>
              <a:t>3128,4mm and upscaling Da is app. </a:t>
            </a:r>
            <a:r>
              <a:rPr lang="en-IN" sz="2000" b="1" dirty="0"/>
              <a:t>3903,9</a:t>
            </a:r>
            <a:r>
              <a:rPr lang="" altLang="en-US" sz="2000" b="1" dirty="0"/>
              <a:t>Ø</a:t>
            </a:r>
            <a:r>
              <a:rPr lang="en-IN" sz="2000" b="1" dirty="0"/>
              <a:t>mm</a:t>
            </a:r>
            <a:r>
              <a:rPr lang="en-IN" sz="2000" dirty="0"/>
              <a:t>. Tolerance Safe Zone: </a:t>
            </a:r>
            <a:r>
              <a:rPr lang="en-IN" sz="2000" b="1" dirty="0"/>
              <a:t>4000± 5mm</a:t>
            </a:r>
          </a:p>
          <a:p>
            <a:pPr>
              <a:lnSpc>
                <a:spcPct val="150000"/>
              </a:lnSpc>
            </a:pPr>
            <a:endParaRPr lang="en-IN" sz="2000" b="1" dirty="0"/>
          </a:p>
        </p:txBody>
      </p:sp>
      <p:pic>
        <p:nvPicPr>
          <p:cNvPr id="3" name="Picture 2" descr="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" y="3896360"/>
            <a:ext cx="5141844" cy="1845735"/>
          </a:xfrm>
          <a:prstGeom prst="rect">
            <a:avLst/>
          </a:prstGeom>
        </p:spPr>
      </p:pic>
      <p:pic>
        <p:nvPicPr>
          <p:cNvPr id="7" name="Picture 6" descr="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468" y="3899535"/>
            <a:ext cx="4945902" cy="18398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2A08B2B-8E30-64FD-6AB0-27C3EB6BBED0}"/>
              </a:ext>
            </a:extLst>
          </p:cNvPr>
          <p:cNvSpPr txBox="1"/>
          <p:nvPr/>
        </p:nvSpPr>
        <p:spPr>
          <a:xfrm>
            <a:off x="10780408" y="5742095"/>
            <a:ext cx="5733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4" action="ppaction://hlinksldjump"/>
              </a:rPr>
              <a:t>[4]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047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E8EEC-B589-6321-A79E-CB8F88254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C49EF7-09DF-03A6-8BF9-B41DB8090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EDAACE-52AF-503D-7C3F-7ED30E02A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50898" y="6564112"/>
            <a:ext cx="3236167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Bed</a:t>
            </a:r>
            <a:r>
              <a:rPr lang="de-DE" dirty="0"/>
              <a:t>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8528EF-3689-DAE2-7E4A-B1638DD3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4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4B5BC06-0622-E7B0-071C-2158743C72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C60AA31-782F-49C7-4800-0509FD0CE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90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b="1" dirty="0">
                <a:latin typeface="Aptos" panose="020B0004020202020204" pitchFamily="34" charset="0"/>
                <a:cs typeface="Times New Roman" panose="02020603050405020304" pitchFamily="18" charset="0"/>
                <a:sym typeface="+mn-ea"/>
              </a:rPr>
              <a:t>Yaw Bearing Selection &amp; Details</a:t>
            </a:r>
            <a:r>
              <a:rPr lang="en-IN" alt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4000" b="1" dirty="0">
              <a:cs typeface="Times New Roman" panose="02020603050405020304" pitchFamily="18" charset="0"/>
            </a:endParaRPr>
          </a:p>
        </p:txBody>
      </p:sp>
      <p:pic>
        <p:nvPicPr>
          <p:cNvPr id="7" name="Picture 6" descr="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" y="2441575"/>
            <a:ext cx="3364865" cy="25431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C626ED6-748A-98FE-423B-DFCCC5C763E4}"/>
              </a:ext>
            </a:extLst>
          </p:cNvPr>
          <p:cNvSpPr txBox="1"/>
          <p:nvPr/>
        </p:nvSpPr>
        <p:spPr>
          <a:xfrm>
            <a:off x="694690" y="5557092"/>
            <a:ext cx="5733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3" action="ppaction://hlinksldjump"/>
              </a:rPr>
              <a:t>[4]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7DF6E5-1405-F611-A2BC-3E460FFD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522" y="1577950"/>
            <a:ext cx="5909278" cy="427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0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CF837-D0A8-9473-D329-97844BA50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7C539C-E88F-524D-F12D-B98945201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762ECA-2223-DDFB-0160-FFEF721D7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74613" y="6564113"/>
            <a:ext cx="3225975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FEAF8B-B5BF-11F6-E77B-A9C969201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1F77C54-941F-05B0-B686-B6E9A99C253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8EF60FA-DEFE-899A-8E9C-75BDAC7C8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706" y="318474"/>
            <a:ext cx="11700587" cy="1325563"/>
          </a:xfrm>
        </p:spPr>
        <p:txBody>
          <a:bodyPr>
            <a:normAutofit/>
          </a:bodyPr>
          <a:lstStyle/>
          <a:p>
            <a:pPr algn="ctr"/>
            <a:r>
              <a:rPr lang="en-IN" altLang="en-GB" sz="4000" b="1" dirty="0">
                <a:sym typeface="+mn-ea"/>
              </a:rPr>
              <a:t>Yaw Bearing / Pinion Teeth Module</a:t>
            </a:r>
            <a:r>
              <a:rPr lang="en-IN" alt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4000" dirty="0">
              <a:cs typeface="Times New Roman" panose="02020603050405020304" pitchFamily="18" charset="0"/>
            </a:endParaRPr>
          </a:p>
        </p:txBody>
      </p:sp>
      <p:pic>
        <p:nvPicPr>
          <p:cNvPr id="2" name="Picture 1" descr="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" y="1872615"/>
            <a:ext cx="3502025" cy="3735705"/>
          </a:xfrm>
          <a:prstGeom prst="rect">
            <a:avLst/>
          </a:prstGeom>
        </p:spPr>
      </p:pic>
      <p:pic>
        <p:nvPicPr>
          <p:cNvPr id="3" name="Picture 2" descr="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995" y="1872615"/>
            <a:ext cx="2991485" cy="3799205"/>
          </a:xfrm>
          <a:prstGeom prst="rect">
            <a:avLst/>
          </a:prstGeom>
        </p:spPr>
      </p:pic>
      <p:pic>
        <p:nvPicPr>
          <p:cNvPr id="8" name="Picture 7" descr="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0425" y="1872615"/>
            <a:ext cx="2037715" cy="1788795"/>
          </a:xfrm>
          <a:prstGeom prst="rect">
            <a:avLst/>
          </a:prstGeom>
        </p:spPr>
      </p:pic>
      <p:pic>
        <p:nvPicPr>
          <p:cNvPr id="11" name="Picture 10" descr="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2185" y="3858895"/>
            <a:ext cx="1880870" cy="188087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3465E56-13D3-2704-7EA6-0AD42EE22F40}"/>
              </a:ext>
            </a:extLst>
          </p:cNvPr>
          <p:cNvSpPr txBox="1"/>
          <p:nvPr/>
        </p:nvSpPr>
        <p:spPr>
          <a:xfrm>
            <a:off x="694690" y="5836898"/>
            <a:ext cx="61395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i="1" dirty="0"/>
              <a:t>Source: </a:t>
            </a:r>
            <a:r>
              <a:rPr lang="en-IN" sz="1400" i="1" dirty="0"/>
              <a:t>provided by Bonfiglioli contact team on request. 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1719742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674E5-EA3C-DF73-0F68-250666FD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F45EB5-2CE9-428B-8728-9BDFF32BD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33F572-5B6D-309F-27BD-C7105859F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74613" y="6564113"/>
            <a:ext cx="3225975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01AB53-3CE5-5714-38EA-C13DEC96E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6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FDD505-E63B-3CE9-E5F5-A2E0C5DDB28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1048661" name="Title 1">
            <a:extLst>
              <a:ext uri="{FF2B5EF4-FFF2-40B4-BE49-F238E27FC236}">
                <a16:creationId xmlns:a16="http://schemas.microsoft.com/office/drawing/2014/main" id="{5A22A91E-DECF-F37B-11BF-28FD0B772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69" y="355794"/>
            <a:ext cx="11905861" cy="1325563"/>
          </a:xfrm>
        </p:spPr>
        <p:txBody>
          <a:bodyPr>
            <a:normAutofit/>
          </a:bodyPr>
          <a:lstStyle/>
          <a:p>
            <a:pPr algn="ctr"/>
            <a:r>
              <a:rPr lang="en-IN" altLang="en-GB" sz="3600" b="1" dirty="0">
                <a:sym typeface="+mn-ea"/>
              </a:rPr>
              <a:t>Yaw drive &amp; its Motor specification</a:t>
            </a:r>
            <a:r>
              <a:rPr lang="en-IN" altLang="en-US" sz="36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3600" dirty="0">
              <a:cs typeface="Times New Roman" panose="02020603050405020304" pitchFamily="18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172085" y="1443354"/>
            <a:ext cx="9718040" cy="492442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R="0" lvl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sz="22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Specification</a:t>
            </a:r>
            <a:r>
              <a:rPr lang="en-US" sz="2200" b="1" dirty="0">
                <a:solidFill>
                  <a:prstClr val="black"/>
                </a:solidFill>
                <a:latin typeface="Aptos" panose="02110004020202020204"/>
                <a:sym typeface="+mn-ea"/>
              </a:rPr>
              <a:t>s</a:t>
            </a:r>
          </a:p>
          <a:p>
            <a:pPr marR="0" lvl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+mn-ea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IN" altLang="en-US" sz="2200" b="1" dirty="0">
                <a:solidFill>
                  <a:prstClr val="black"/>
                </a:solidFill>
                <a:latin typeface="Aptos" panose="02110004020202020204"/>
                <a:sym typeface="+mn-ea"/>
              </a:rPr>
              <a:t>Drive : </a:t>
            </a:r>
            <a:r>
              <a:rPr lang="en-IN" altLang="en-US" sz="2200" dirty="0">
                <a:solidFill>
                  <a:prstClr val="black"/>
                </a:solidFill>
                <a:latin typeface="Aptos" panose="02110004020202020204"/>
                <a:sym typeface="+mn-ea"/>
              </a:rPr>
              <a:t>Bonfiglioli 716 T4</a:t>
            </a:r>
            <a:endParaRPr lang="en-IN" altLang="en-US" sz="2200" b="1" dirty="0">
              <a:solidFill>
                <a:prstClr val="black"/>
              </a:solidFill>
              <a:latin typeface="Aptos" panose="02110004020202020204"/>
              <a:sym typeface="+mn-ea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2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Motor: </a:t>
            </a:r>
            <a:r>
              <a:rPr 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BN160MR motor (11-15kW), 4 brake motor.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2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Gear Type: </a:t>
            </a:r>
            <a:r>
              <a:rPr 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Planetary gear system for high torque and load capacity.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2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Torque: </a:t>
            </a:r>
            <a:r>
              <a:rPr 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Capable of delivering rated torque up to 150,000 Nm and peak torque up to 400,000 Nm.</a:t>
            </a: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en-US" sz="2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sym typeface="+mn-ea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0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Benefit of </a:t>
            </a:r>
            <a:r>
              <a:rPr lang="en-IN" altLang="en-US" sz="20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6</a:t>
            </a:r>
            <a:r>
              <a:rPr lang="en-US" sz="2000" b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 Drives: </a:t>
            </a:r>
            <a:r>
              <a:rPr 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Distributes the load</a:t>
            </a:r>
            <a:r>
              <a:rPr lang="en-IN" alt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 &amp; </a:t>
            </a:r>
            <a:r>
              <a:rPr lang="en-US" sz="2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ensures highly accurate directional control.</a:t>
            </a: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+mn-ea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Gear System</a:t>
            </a:r>
            <a:r>
              <a:rPr kumimoji="0" lang="en-I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Planetary Gear System - Durability - Excellent load capacity</a:t>
            </a:r>
            <a:endParaRPr lang="en-US" altLang="en-US" sz="2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sym typeface="+mn-ea"/>
            </a:endParaRPr>
          </a:p>
        </p:txBody>
      </p:sp>
      <p:sp>
        <p:nvSpPr>
          <p:cNvPr id="2" name="Text Box 8"/>
          <p:cNvSpPr txBox="1"/>
          <p:nvPr/>
        </p:nvSpPr>
        <p:spPr>
          <a:xfrm>
            <a:off x="8282694" y="5749090"/>
            <a:ext cx="4718050" cy="997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sz="1400" b="1" i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                                         Source: </a:t>
            </a:r>
            <a:r>
              <a:rPr lang="en-US" altLang="en-US" sz="1400" i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Bonfiglioli </a:t>
            </a:r>
            <a:r>
              <a:rPr lang="en-IN" sz="1400" i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716 T4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sz="1400" i="1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sym typeface="+mn-ea"/>
              </a:rPr>
              <a:t>                                                            + BN 160MR</a:t>
            </a:r>
            <a:endParaRPr lang="en-IN" altLang="en-US" sz="1400" i="1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sym typeface="+mn-ea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7CD9CA-5A26-9193-34C5-A86E4E590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7600" y="2948943"/>
            <a:ext cx="1479567" cy="2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23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C4ABE-EC2D-4168-9C33-C738DCB4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B610F1-4F52-FD59-D357-C2535E302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BC7725-8C07-1A4E-52F0-CC65E652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74613" y="6564113"/>
            <a:ext cx="3225975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9E2AC4-D631-580A-3885-C23B67BB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7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447CCDC-97AD-F098-2112-52C8043AFC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1048661" name="Title 1"/>
          <p:cNvSpPr>
            <a:spLocks noGrp="1"/>
          </p:cNvSpPr>
          <p:nvPr>
            <p:ph type="title"/>
          </p:nvPr>
        </p:nvSpPr>
        <p:spPr>
          <a:xfrm>
            <a:off x="838200" y="31847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b="1" dirty="0">
                <a:latin typeface="Aptos" panose="020B0004020202020204" pitchFamily="34" charset="0"/>
              </a:rPr>
              <a:t>Bed Casting – New estimations</a:t>
            </a:r>
            <a:r>
              <a:rPr lang="en-US" sz="4000" b="1" dirty="0">
                <a:latin typeface="Aptos" panose="020B0004020202020204" pitchFamily="34" charset="0"/>
              </a:rPr>
              <a:t> </a:t>
            </a:r>
            <a:endParaRPr lang="en-US" sz="4000" dirty="0"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AEE418-5531-FD35-0863-830755CBA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3706" y="1304765"/>
            <a:ext cx="6517993" cy="52347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76D2E4-946B-E8BD-8A64-43B0969DAE53}"/>
              </a:ext>
            </a:extLst>
          </p:cNvPr>
          <p:cNvSpPr txBox="1"/>
          <p:nvPr/>
        </p:nvSpPr>
        <p:spPr>
          <a:xfrm>
            <a:off x="1154988" y="2228671"/>
            <a:ext cx="34470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altLang="en-US" sz="2000" dirty="0">
                <a:solidFill>
                  <a:prstClr val="black"/>
                </a:solidFill>
                <a:latin typeface="Aptos" panose="02110004020202020204"/>
                <a:sym typeface="+mn-ea"/>
              </a:rPr>
              <a:t>All dimensions are in mm.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solidFill>
                <a:prstClr val="black"/>
              </a:solidFill>
              <a:latin typeface="Aptos" panose="02110004020202020204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prstClr val="black"/>
                </a:solidFill>
                <a:latin typeface="Aptos" panose="02110004020202020204"/>
                <a:sym typeface="+mn-ea"/>
              </a:rPr>
              <a:t>Tower top diameter is 3800 mm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4805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71E73-431B-337A-40D3-E44968F2E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CF9A-AF1E-DE4C-5542-AFD79E200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11/11/2025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D4D10B-EF4E-8992-F714-5452E953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38931" y="6564113"/>
            <a:ext cx="3114869" cy="365125"/>
          </a:xfrm>
        </p:spPr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Bed &amp; Yaw System/ Optimus </a:t>
            </a:r>
            <a:r>
              <a:rPr lang="de-DE" dirty="0" err="1"/>
              <a:t>Syria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FFAF555-36E5-6E79-9CE7-E34DD6DC3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6D213-0805-4C3E-849D-17C75FD348C3}" type="slidenum">
              <a:rPr lang="de-DE" smtClean="0"/>
              <a:t>8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5D76317-4E32-A375-D1E7-F959EE6846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Sathishkumar Venkatachalam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84769B-9C93-869E-68EB-A306AC195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32" y="581510"/>
            <a:ext cx="10537267" cy="853344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/>
              <a:t>References</a:t>
            </a:r>
            <a:endParaRPr lang="en-US" sz="4000" b="1" dirty="0">
              <a:cs typeface="Times New Roman" panose="02020603050405020304" pitchFamily="18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1BA660E-A8A9-FC72-F129-4F4CEB739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65" y="1660952"/>
            <a:ext cx="10604136" cy="3536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  <a:hlinkClick r:id="rId2" action="ppaction://hlinksldjump"/>
              </a:rPr>
              <a:t>[1].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Bonfiglioli (accessed 19 Oct 2025). Solutions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for Wind.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  <a:hlinkClick r:id="rId3"/>
              </a:rPr>
              <a:t>https://www.bonfiglioli.com/_default_upload_bucket/TR_CAT_WIND_STD_ENG_R05_0.pdf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altLang="en-US" sz="2000" dirty="0">
                <a:solidFill>
                  <a:prstClr val="black"/>
                </a:solidFill>
                <a:hlinkClick r:id="rId4" action="ppaction://hlinkfile"/>
              </a:rPr>
              <a:t>[2]. </a:t>
            </a:r>
            <a:r>
              <a:rPr lang="en-US" sz="2000" dirty="0"/>
              <a:t>WEC Development Project</a:t>
            </a:r>
            <a:r>
              <a:rPr lang="en-GB" sz="2000" dirty="0"/>
              <a:t>: Optimus Shakti 5.0 Machine Bed and Yaw System Final Report.</a:t>
            </a:r>
          </a:p>
          <a:p>
            <a:pPr marL="0" indent="0">
              <a:buNone/>
            </a:pPr>
            <a:r>
              <a:rPr lang="en-GB" altLang="en-US" sz="2000" dirty="0">
                <a:solidFill>
                  <a:prstClr val="black"/>
                </a:solidFill>
                <a:hlinkClick r:id="rId5" action="ppaction://hlinkfile"/>
              </a:rPr>
              <a:t>[3]. </a:t>
            </a:r>
            <a:r>
              <a:rPr lang="en-US" sz="2000" dirty="0"/>
              <a:t>Master Wind Engineering Project Optimus 92LE </a:t>
            </a:r>
            <a:r>
              <a:rPr lang="en-GB" sz="2000" dirty="0"/>
              <a:t>Machine Bed and Yaw System </a:t>
            </a:r>
          </a:p>
          <a:p>
            <a:pPr marL="0" indent="0">
              <a:buNone/>
            </a:pPr>
            <a:r>
              <a:rPr lang="en-IN" altLang="en-GB" sz="2000" dirty="0">
                <a:sym typeface="+mn-ea"/>
                <a:hlinkClick r:id="rId6" action="ppaction://hlinkfile"/>
              </a:rPr>
              <a:t>[4]. </a:t>
            </a:r>
            <a:r>
              <a:rPr lang="en-IN" altLang="en-GB" sz="2000" dirty="0">
                <a:sym typeface="+mn-ea"/>
              </a:rPr>
              <a:t>Thyssenkrupp bearing Catalogue – (</a:t>
            </a:r>
            <a:r>
              <a:rPr lang="en-US" altLang="en-US" sz="2000" dirty="0">
                <a:solidFill>
                  <a:prstClr val="black"/>
                </a:solidFill>
              </a:rPr>
              <a:t>accessed 23 oct 2025).</a:t>
            </a:r>
            <a:r>
              <a:rPr lang="en-IN" altLang="en-GB" sz="2000" dirty="0">
                <a:sym typeface="+mn-ea"/>
              </a:rPr>
              <a:t> </a:t>
            </a:r>
            <a:r>
              <a:rPr lang="en-US" altLang="en-GB" sz="2000" dirty="0">
                <a:sym typeface="+mn-ea"/>
                <a:hlinkClick r:id="rId6" action="ppaction://hlinkfile"/>
              </a:rPr>
              <a:t>https://ucpcdn.thyssenkrupp.com/_binary/UCPthyssenkruppBACTBearing/de/downloads/link-thyssenkrupp_rothe_erde_bearing_inspection.pdf</a:t>
            </a:r>
            <a:endParaRPr lang="en-US" altLang="en-GB" sz="2000" dirty="0">
              <a:sym typeface="+mn-ea"/>
            </a:endParaRPr>
          </a:p>
          <a:p>
            <a:pPr marL="0" indent="0">
              <a:buNone/>
            </a:pPr>
            <a:endParaRPr kumimoji="0" lang="en-GB" altLang="en-US" sz="20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indent="0">
              <a:buNone/>
            </a:pPr>
            <a:endParaRPr kumimoji="0" lang="en-US" altLang="en-US" sz="20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7647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200"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3" id="{489382AE-0E20-4DDB-AC58-6881343BCB06}" vid="{12EB4CDA-A9DA-4F07-A373-8B888615A84A}"/>
    </a:ext>
  </a:extLst>
</a:theme>
</file>

<file path=ppt/theme/theme2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3" id="{489382AE-0E20-4DDB-AC58-6881343BCB06}" vid="{BC3BCC29-301C-4D70-A384-97DBC337907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525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CD039B6-C6AB-492A-94BF-C46AF895D2E7}">
  <we:reference id="WA200007130" version="1.0.0.1" store="en-US" storeType="omex"/>
  <we:alternateReferences>
    <we:reference id="WA200007130" version="1.0.0.1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3D784B2-E216-4A14-BE4B-F0CA301E2B20}">
  <we:reference id="WA200005566" version="3.0.0.3" store="en-US" storeType="omex"/>
  <we:alternateReferences>
    <we:reference id="WA200005566" version="3.0.0.3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Presentation template_final</Template>
  <TotalTime>370</TotalTime>
  <Words>462</Words>
  <Application>Microsoft Office PowerPoint</Application>
  <PresentationFormat>Widescreen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Aptos (Textkörper)</vt:lpstr>
      <vt:lpstr>Aptos Display</vt:lpstr>
      <vt:lpstr>Arial</vt:lpstr>
      <vt:lpstr>Calibri</vt:lpstr>
      <vt:lpstr>Calibri Light</vt:lpstr>
      <vt:lpstr>Times New Roman</vt:lpstr>
      <vt:lpstr>Office</vt:lpstr>
      <vt:lpstr>Benutzerdefiniertes Design</vt:lpstr>
      <vt:lpstr>Weekly report: Machine Bed &amp; Yaw System</vt:lpstr>
      <vt:lpstr>Contents</vt:lpstr>
      <vt:lpstr>Yaw Bearing Selection &amp; Details </vt:lpstr>
      <vt:lpstr>Yaw Bearing Selection &amp; Details </vt:lpstr>
      <vt:lpstr>Yaw Bearing / Pinion Teeth Module </vt:lpstr>
      <vt:lpstr>Yaw drive &amp; its Motor specification </vt:lpstr>
      <vt:lpstr>Bed Casting – New estimations 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report: Machine Bed &amp; Yaw System</dc:title>
  <dc:creator>Shrihari Kadam</dc:creator>
  <cp:lastModifiedBy>Shoukat Abbas</cp:lastModifiedBy>
  <cp:revision>47</cp:revision>
  <dcterms:created xsi:type="dcterms:W3CDTF">2025-10-26T22:40:44Z</dcterms:created>
  <dcterms:modified xsi:type="dcterms:W3CDTF">2025-11-10T10:13:28Z</dcterms:modified>
</cp:coreProperties>
</file>