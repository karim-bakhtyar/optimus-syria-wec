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1" r:id="rId2"/>
    <p:sldMasterId id="2147483672" r:id="rId3"/>
  </p:sldMasterIdLst>
  <p:notesMasterIdLst>
    <p:notesMasterId r:id="rId13"/>
  </p:notesMasterIdLst>
  <p:handoutMasterIdLst>
    <p:handoutMasterId r:id="rId14"/>
  </p:handoutMasterIdLst>
  <p:sldIdLst>
    <p:sldId id="270" r:id="rId4"/>
    <p:sldId id="259" r:id="rId5"/>
    <p:sldId id="284" r:id="rId6"/>
    <p:sldId id="297" r:id="rId7"/>
    <p:sldId id="298" r:id="rId8"/>
    <p:sldId id="299" r:id="rId9"/>
    <p:sldId id="300" r:id="rId10"/>
    <p:sldId id="301" r:id="rId11"/>
    <p:sldId id="30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70"/>
          </p14:sldIdLst>
        </p14:section>
        <p14:section name="List of contents" id="{65043596-36B7-4360-BB5C-7A99EFAEC5C9}">
          <p14:sldIdLst>
            <p14:sldId id="259"/>
          </p14:sldIdLst>
        </p14:section>
        <p14:section name="Title, main slides" id="{B26F6679-C236-4D3D-BC2F-CAE5ED400718}">
          <p14:sldIdLst>
            <p14:sldId id="284"/>
            <p14:sldId id="297"/>
            <p14:sldId id="298"/>
            <p14:sldId id="299"/>
            <p14:sldId id="300"/>
            <p14:sldId id="301"/>
            <p14:sldId id="302"/>
          </p14:sldIdLst>
        </p14:section>
        <p14:section name="bibliography" id="{2ECB0A3B-7D16-4F98-AD6A-5308DF7BF07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6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30/09/2025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Tower structure team/ Optimus Syria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53809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03315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83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21964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16522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20082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29234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5925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49395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19852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0955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 userDrawn="1"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 userDrawn="1"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 userDrawn="1"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773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30/09/2025</a:t>
            </a:r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76303"/>
            <a:ext cx="111137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r>
              <a:rPr lang="en-GB"/>
              <a:t>30/09/2025</a:t>
            </a:r>
            <a:endParaRPr lang="en-GB" dirty="0"/>
          </a:p>
        </p:txBody>
      </p:sp>
      <p:sp>
        <p:nvSpPr>
          <p:cNvPr id="8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373613"/>
            <a:ext cx="287918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/>
              <a:t>Tower structure team/ Optimus Syria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289160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16003"/>
            <a:ext cx="111137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GB"/>
              <a:t>30/09/2025</a:t>
            </a:r>
            <a:endParaRPr lang="en-GB" dirty="0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13313"/>
            <a:ext cx="2879187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GB"/>
              <a:t>Tower structure team/ Optimus Syria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6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FF1E788-369D-9A8F-8F84-AD852E9D2E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>
                <a:latin typeface="Times New Roman" pitchFamily="18" charset="0"/>
                <a:cs typeface="Times New Roman" pitchFamily="18" charset="0"/>
              </a:rPr>
              <a:t>Weekly report: Tower structure </a:t>
            </a:r>
            <a:endParaRPr lang="en-GB" b="1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77A63BB-08BE-619B-2533-3CC69CC1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2032000"/>
          </a:xfrm>
        </p:spPr>
        <p:txBody>
          <a:bodyPr>
            <a:normAutofit/>
          </a:bodyPr>
          <a:lstStyle/>
          <a:p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Week number: 07</a:t>
            </a:r>
          </a:p>
          <a:p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Date: 11/11/2025</a:t>
            </a:r>
          </a:p>
          <a:p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Supervisor: Prof. Faber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172911" y="4701104"/>
            <a:ext cx="73706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Times New Roman" pitchFamily="18" charset="0"/>
                <a:cs typeface="Times New Roman" pitchFamily="18" charset="0"/>
              </a:rPr>
              <a:t>Group members:  Ibrahim Mostafa, Mohammed Eldemerdash, Kirollos Ghaly</a:t>
            </a:r>
          </a:p>
        </p:txBody>
      </p:sp>
      <p:sp>
        <p:nvSpPr>
          <p:cNvPr id="2" name="Textfeld 12">
            <a:extLst>
              <a:ext uri="{FF2B5EF4-FFF2-40B4-BE49-F238E27FC236}">
                <a16:creationId xmlns:a16="http://schemas.microsoft.com/office/drawing/2014/main" id="{F1A690F4-D79D-8EBC-12DE-D491129BCFF6}"/>
              </a:ext>
            </a:extLst>
          </p:cNvPr>
          <p:cNvSpPr txBox="1"/>
          <p:nvPr/>
        </p:nvSpPr>
        <p:spPr>
          <a:xfrm>
            <a:off x="2172911" y="5081052"/>
            <a:ext cx="73706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latin typeface="Times New Roman" pitchFamily="18" charset="0"/>
                <a:cs typeface="Times New Roman" pitchFamily="18" charset="0"/>
              </a:rPr>
              <a:t>Speaker: Kirollos Ghaly (760171)</a:t>
            </a:r>
          </a:p>
        </p:txBody>
      </p:sp>
      <p:sp>
        <p:nvSpPr>
          <p:cNvPr id="9" name="Foliennummernplatzhalter 24">
            <a:extLst>
              <a:ext uri="{FF2B5EF4-FFF2-40B4-BE49-F238E27FC236}">
                <a16:creationId xmlns:a16="http://schemas.microsoft.com/office/drawing/2014/main" id="{98408CB7-B6A0-46F5-ABCE-5E527AA1E6EC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1</a:t>
            </a:fld>
            <a:endParaRPr lang="en-GB" dirty="0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6C33708F-5C1C-4DEB-9893-96704EE48E03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55185CE4-A5C3-45EC-B552-A42597EFE5E0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Group members: Ibrahim</a:t>
            </a:r>
            <a:r>
              <a:rPr lang="de-DE" sz="12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Mostafa, Mohammed Eldemerdash, Kirolls Ghaly</a:t>
            </a:r>
          </a:p>
        </p:txBody>
      </p:sp>
      <p:sp>
        <p:nvSpPr>
          <p:cNvPr id="15" name="Datumsplatzhalter 4">
            <a:extLst>
              <a:ext uri="{FF2B5EF4-FFF2-40B4-BE49-F238E27FC236}">
                <a16:creationId xmlns:a16="http://schemas.microsoft.com/office/drawing/2014/main" id="{E62260CD-B144-4EB9-8D9D-216FC0CC9477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11/11/2025</a:t>
            </a:r>
          </a:p>
        </p:txBody>
      </p:sp>
    </p:spTree>
    <p:extLst>
      <p:ext uri="{BB962C8B-B14F-4D97-AF65-F5344CB8AC3E}">
        <p14:creationId xmlns:p14="http://schemas.microsoft.com/office/powerpoint/2010/main" val="151510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C01C5AA7-5821-01BD-1AC8-74837347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List of contents</a:t>
            </a:r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1F1D02DB-C1C0-0C64-772D-D708982E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2</a:t>
            </a:fld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787400" y="1638300"/>
            <a:ext cx="10261600" cy="20922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r>
              <a:rPr lang="en-US" b="1" dirty="0"/>
              <a:t>Calculate the eigenfrequency manually.</a:t>
            </a:r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r>
              <a:rPr lang="en-US" b="1" dirty="0"/>
              <a:t>Calculate the eigenfrequency using the ANSYS program.</a:t>
            </a:r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Group members: Ibrahim</a:t>
            </a:r>
            <a:r>
              <a:rPr lang="de-DE" sz="12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Mostafa, Mohammed Eldemerdash, Kirolls Ghaly</a:t>
            </a:r>
          </a:p>
        </p:txBody>
      </p:sp>
      <p:sp>
        <p:nvSpPr>
          <p:cNvPr id="8" name="Datumsplatzhalter 4">
            <a:extLst>
              <a:ext uri="{FF2B5EF4-FFF2-40B4-BE49-F238E27FC236}">
                <a16:creationId xmlns:a16="http://schemas.microsoft.com/office/drawing/2014/main" id="{623C4886-1403-4AF4-B0CB-B8F27A1B3E2D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11/11/2025</a:t>
            </a:r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C9269D-F4B4-3623-34EB-CD874953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3</a:t>
            </a:fld>
            <a:endParaRPr lang="de-DE"/>
          </a:p>
        </p:txBody>
      </p:sp>
      <p:sp>
        <p:nvSpPr>
          <p:cNvPr id="9" name="TextBox 8"/>
          <p:cNvSpPr txBox="1"/>
          <p:nvPr/>
        </p:nvSpPr>
        <p:spPr>
          <a:xfrm>
            <a:off x="838200" y="787400"/>
            <a:ext cx="63312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eigenfrequency manually</a:t>
            </a:r>
            <a:endParaRPr lang="en-US" sz="2400" b="1" dirty="0"/>
          </a:p>
          <a:p>
            <a:endParaRPr lang="de-DE" sz="2400" b="1" dirty="0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Group members: Ibrahim Mostafa, Mohammed Eldemerdash, Kirolls Ghaly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ontent Placeholder 13">
                <a:extLst>
                  <a:ext uri="{FF2B5EF4-FFF2-40B4-BE49-F238E27FC236}">
                    <a16:creationId xmlns:a16="http://schemas.microsoft.com/office/drawing/2014/main" id="{F0C6FA40-CAF4-4D06-83F3-EECED8F592E3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184176" cy="30735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>
                  <a:buNone/>
                </a:pPr>
                <a:r>
                  <a:rPr lang="en-US" b="1" dirty="0"/>
                  <a:t>The Eigenfrequency Formula:</a:t>
                </a:r>
              </a:p>
              <a:p>
                <a:pPr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56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ar-EG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𝐸𝐼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285750" indent="-285750"/>
                <a:r>
                  <a:rPr lang="en-US" dirty="0"/>
                  <a:t>f1​ = first eigenfrequency [Hz]</a:t>
                </a:r>
              </a:p>
              <a:p>
                <a:pPr marL="285750" indent="-285750"/>
                <a:r>
                  <a:rPr lang="en-US" dirty="0"/>
                  <a:t>E = Young’s modulus [Pa]</a:t>
                </a:r>
              </a:p>
              <a:p>
                <a:pPr marL="285750" indent="-285750"/>
                <a:r>
                  <a:rPr lang="en-US" dirty="0"/>
                  <a:t>I = second moment of area [m⁴]</a:t>
                </a:r>
              </a:p>
              <a:p>
                <a:pPr marL="285750" indent="-285750"/>
                <a:r>
                  <a:rPr lang="en-US" dirty="0"/>
                  <a:t>m = mass per unit length [kg/m]</a:t>
                </a:r>
              </a:p>
              <a:p>
                <a:pPr marL="285750" indent="-285750"/>
                <a:r>
                  <a:rPr lang="en-US" dirty="0"/>
                  <a:t>L = length (tower height) [m]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17" name="Content Placeholder 13">
                <a:extLst>
                  <a:ext uri="{FF2B5EF4-FFF2-40B4-BE49-F238E27FC236}">
                    <a16:creationId xmlns:a16="http://schemas.microsoft.com/office/drawing/2014/main" id="{F0C6FA40-CAF4-4D06-83F3-EECED8F592E3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184176" cy="3073534"/>
              </a:xfrm>
              <a:prstGeom prst="rect">
                <a:avLst/>
              </a:prstGeom>
              <a:blipFill>
                <a:blip r:embed="rId2"/>
                <a:stretch>
                  <a:fillRect l="-1312" t="-1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Datumsplatzhalter 4">
            <a:extLst>
              <a:ext uri="{FF2B5EF4-FFF2-40B4-BE49-F238E27FC236}">
                <a16:creationId xmlns:a16="http://schemas.microsoft.com/office/drawing/2014/main" id="{2D7E604C-4BC8-4680-AA14-E1A5D74477A9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11/11/2025</a:t>
            </a:r>
          </a:p>
        </p:txBody>
      </p:sp>
    </p:spTree>
    <p:extLst>
      <p:ext uri="{BB962C8B-B14F-4D97-AF65-F5344CB8AC3E}">
        <p14:creationId xmlns:p14="http://schemas.microsoft.com/office/powerpoint/2010/main" val="1469653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C9269D-F4B4-3623-34EB-CD874953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4</a:t>
            </a:fld>
            <a:endParaRPr lang="de-DE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Group members: Ibrahim Mostafa, Mohammed Eldemerdash, Kirolls Ghaly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A71ED3-F950-4390-B797-EE10E6E6802A}"/>
              </a:ext>
            </a:extLst>
          </p:cNvPr>
          <p:cNvSpPr txBox="1"/>
          <p:nvPr/>
        </p:nvSpPr>
        <p:spPr>
          <a:xfrm>
            <a:off x="857248" y="787400"/>
            <a:ext cx="68555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eigenfrequency manually</a:t>
            </a:r>
          </a:p>
          <a:p>
            <a:endParaRPr lang="de-DE" sz="24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26C9636-427A-4714-8177-14B93B4B5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570" y="1765788"/>
            <a:ext cx="7380697" cy="3438067"/>
          </a:xfrm>
          <a:prstGeom prst="rect">
            <a:avLst/>
          </a:prstGeom>
        </p:spPr>
      </p:pic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84FC0C88-A7BE-4BCA-B0AE-BE3F9A66B1C0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11/11/2025</a:t>
            </a:r>
          </a:p>
        </p:txBody>
      </p:sp>
    </p:spTree>
    <p:extLst>
      <p:ext uri="{BB962C8B-B14F-4D97-AF65-F5344CB8AC3E}">
        <p14:creationId xmlns:p14="http://schemas.microsoft.com/office/powerpoint/2010/main" val="881971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C9269D-F4B4-3623-34EB-CD874953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5</a:t>
            </a:fld>
            <a:endParaRPr lang="de-DE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Group members: Ibrahim Mostafa, Mohammed Eldemerdash, Kirolls Ghaly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3AC06B-3F4E-4F1E-99D0-A1A10643963C}"/>
              </a:ext>
            </a:extLst>
          </p:cNvPr>
          <p:cNvSpPr txBox="1"/>
          <p:nvPr/>
        </p:nvSpPr>
        <p:spPr>
          <a:xfrm>
            <a:off x="857248" y="787400"/>
            <a:ext cx="6471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eigenfrequency manually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FC70EE-A807-4386-8053-716475860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403" y="1697727"/>
            <a:ext cx="6055421" cy="4040464"/>
          </a:xfrm>
          <a:prstGeom prst="rect">
            <a:avLst/>
          </a:prstGeom>
        </p:spPr>
      </p:pic>
      <p:sp>
        <p:nvSpPr>
          <p:cNvPr id="14" name="Datumsplatzhalter 4">
            <a:extLst>
              <a:ext uri="{FF2B5EF4-FFF2-40B4-BE49-F238E27FC236}">
                <a16:creationId xmlns:a16="http://schemas.microsoft.com/office/drawing/2014/main" id="{28489013-13C9-443B-AA97-EE23566B6ADF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11/11/2025</a:t>
            </a:r>
          </a:p>
        </p:txBody>
      </p:sp>
    </p:spTree>
    <p:extLst>
      <p:ext uri="{BB962C8B-B14F-4D97-AF65-F5344CB8AC3E}">
        <p14:creationId xmlns:p14="http://schemas.microsoft.com/office/powerpoint/2010/main" val="3370468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C9269D-F4B4-3623-34EB-CD874953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6</a:t>
            </a:fld>
            <a:endParaRPr lang="de-DE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Group members: Ibrahim Mostafa, Mohammed Eldemerdash, Kirolls Ghaly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293EA7-4ECA-4A34-9EE8-C9A86F5CC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655" y="1326396"/>
            <a:ext cx="5918681" cy="51528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CF9DA9C-432D-4204-AD23-385CEDA25EBB}"/>
              </a:ext>
            </a:extLst>
          </p:cNvPr>
          <p:cNvSpPr txBox="1"/>
          <p:nvPr/>
        </p:nvSpPr>
        <p:spPr>
          <a:xfrm>
            <a:off x="857248" y="787400"/>
            <a:ext cx="6471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eigenfrequency manually</a:t>
            </a:r>
          </a:p>
        </p:txBody>
      </p:sp>
      <p:sp>
        <p:nvSpPr>
          <p:cNvPr id="15" name="Datumsplatzhalter 4">
            <a:extLst>
              <a:ext uri="{FF2B5EF4-FFF2-40B4-BE49-F238E27FC236}">
                <a16:creationId xmlns:a16="http://schemas.microsoft.com/office/drawing/2014/main" id="{0DF49567-C3C3-40DB-B3F1-A017AF024C1C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11/11/2025</a:t>
            </a:r>
          </a:p>
        </p:txBody>
      </p:sp>
    </p:spTree>
    <p:extLst>
      <p:ext uri="{BB962C8B-B14F-4D97-AF65-F5344CB8AC3E}">
        <p14:creationId xmlns:p14="http://schemas.microsoft.com/office/powerpoint/2010/main" val="3981266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C9269D-F4B4-3623-34EB-CD874953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7</a:t>
            </a:fld>
            <a:endParaRPr lang="de-DE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Group members: Ibrahim Mostafa, Mohammed Eldemerdash, Kirolls Ghaly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8C4CA6-2E81-4941-8D31-9815B2DB4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065" y="1285117"/>
            <a:ext cx="5421869" cy="522550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D23ECB1-2C89-490E-A3EA-B81AAB912A73}"/>
              </a:ext>
            </a:extLst>
          </p:cNvPr>
          <p:cNvSpPr txBox="1"/>
          <p:nvPr/>
        </p:nvSpPr>
        <p:spPr>
          <a:xfrm>
            <a:off x="857248" y="787400"/>
            <a:ext cx="6471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eigenfrequency manually</a:t>
            </a:r>
          </a:p>
        </p:txBody>
      </p:sp>
      <p:sp>
        <p:nvSpPr>
          <p:cNvPr id="15" name="Datumsplatzhalter 4">
            <a:extLst>
              <a:ext uri="{FF2B5EF4-FFF2-40B4-BE49-F238E27FC236}">
                <a16:creationId xmlns:a16="http://schemas.microsoft.com/office/drawing/2014/main" id="{02C90EE2-6CBB-4BC5-B275-A933FFA33F15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11/11/2025</a:t>
            </a:r>
          </a:p>
        </p:txBody>
      </p:sp>
    </p:spTree>
    <p:extLst>
      <p:ext uri="{BB962C8B-B14F-4D97-AF65-F5344CB8AC3E}">
        <p14:creationId xmlns:p14="http://schemas.microsoft.com/office/powerpoint/2010/main" val="1866786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C9269D-F4B4-3623-34EB-CD874953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8</a:t>
            </a:fld>
            <a:endParaRPr lang="de-DE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Group members: Ibrahim Mostafa, Mohammed Eldemerdash, Kirolls Ghaly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0F96DB-1F13-42B7-B39E-D52FFA107E0D}"/>
              </a:ext>
            </a:extLst>
          </p:cNvPr>
          <p:cNvSpPr txBox="1"/>
          <p:nvPr/>
        </p:nvSpPr>
        <p:spPr>
          <a:xfrm>
            <a:off x="838200" y="827157"/>
            <a:ext cx="891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eigenfrequency using the ANSYS program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DA5F07-F628-4A0F-BF13-8DCAB9BF3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885" y="1444488"/>
            <a:ext cx="9426062" cy="4944014"/>
          </a:xfrm>
          <a:prstGeom prst="rect">
            <a:avLst/>
          </a:prstGeom>
        </p:spPr>
      </p:pic>
      <p:sp>
        <p:nvSpPr>
          <p:cNvPr id="15" name="Datumsplatzhalter 4">
            <a:extLst>
              <a:ext uri="{FF2B5EF4-FFF2-40B4-BE49-F238E27FC236}">
                <a16:creationId xmlns:a16="http://schemas.microsoft.com/office/drawing/2014/main" id="{3BF1CF0C-667D-4B22-BA8F-5540727197F7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11/11/2025</a:t>
            </a:r>
          </a:p>
        </p:txBody>
      </p:sp>
    </p:spTree>
    <p:extLst>
      <p:ext uri="{BB962C8B-B14F-4D97-AF65-F5344CB8AC3E}">
        <p14:creationId xmlns:p14="http://schemas.microsoft.com/office/powerpoint/2010/main" val="2685233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C9269D-F4B4-3623-34EB-CD874953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9</a:t>
            </a:fld>
            <a:endParaRPr lang="de-DE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Group members: Ibrahim Mostafa, Mohammed Eldemerdash, Kirolls Ghaly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0F96DB-1F13-42B7-B39E-D52FFA107E0D}"/>
              </a:ext>
            </a:extLst>
          </p:cNvPr>
          <p:cNvSpPr txBox="1"/>
          <p:nvPr/>
        </p:nvSpPr>
        <p:spPr>
          <a:xfrm>
            <a:off x="838200" y="827157"/>
            <a:ext cx="891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eigenfrequency using the ANSYS program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8642C24C-C757-4475-BE99-6A704BFC4AF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199" y="1825625"/>
            <a:ext cx="9737035" cy="2101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US" b="1" dirty="0"/>
              <a:t>The eigenfrequency refers to the ANSYS program:</a:t>
            </a:r>
            <a:br>
              <a:rPr lang="en-US" b="1" dirty="0"/>
            </a:br>
            <a:r>
              <a:rPr lang="en-US" dirty="0"/>
              <a:t>f1​ =  0.574 Hz</a:t>
            </a:r>
          </a:p>
          <a:p>
            <a:pPr indent="0">
              <a:buNone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The difference between the program and the manual calculation is only 18%, so it is acceptable.</a:t>
            </a:r>
          </a:p>
          <a:p>
            <a:pPr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10" name="Datumsplatzhalter 4">
            <a:extLst>
              <a:ext uri="{FF2B5EF4-FFF2-40B4-BE49-F238E27FC236}">
                <a16:creationId xmlns:a16="http://schemas.microsoft.com/office/drawing/2014/main" id="{65D3070D-BA62-47AA-998D-CAF9D9C2E9A3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11/11/2025</a:t>
            </a:r>
          </a:p>
        </p:txBody>
      </p:sp>
    </p:spTree>
    <p:extLst>
      <p:ext uri="{BB962C8B-B14F-4D97-AF65-F5344CB8AC3E}">
        <p14:creationId xmlns:p14="http://schemas.microsoft.com/office/powerpoint/2010/main" val="907347292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 template_fina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489382AE-0E20-4DDB-AC58-6881343BCB06}" vid="{12EB4CDA-A9DA-4F07-A373-8B888615A8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489382AE-0E20-4DDB-AC58-6881343BCB06}" vid="{BC3BCC29-301C-4D70-A384-97DBC337907C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525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3677</TotalTime>
  <Words>343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Aptos</vt:lpstr>
      <vt:lpstr>Aptos (Textkörper)</vt:lpstr>
      <vt:lpstr>Aptos Display</vt:lpstr>
      <vt:lpstr>Arial</vt:lpstr>
      <vt:lpstr>Calibri</vt:lpstr>
      <vt:lpstr>Calibri Light</vt:lpstr>
      <vt:lpstr>Cambria Math</vt:lpstr>
      <vt:lpstr>Times New Roman</vt:lpstr>
      <vt:lpstr>Wingdings</vt:lpstr>
      <vt:lpstr>Presentation template_final</vt:lpstr>
      <vt:lpstr>Custom Design</vt:lpstr>
      <vt:lpstr>Benutzerdefiniertes Design</vt:lpstr>
      <vt:lpstr>Weekly report: Tower structure </vt:lpstr>
      <vt:lpstr>List of 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report: Tower structure</dc:title>
  <dc:creator>dell</dc:creator>
  <cp:lastModifiedBy>ibrahem botet</cp:lastModifiedBy>
  <cp:revision>73</cp:revision>
  <dcterms:created xsi:type="dcterms:W3CDTF">2025-09-28T13:42:33Z</dcterms:created>
  <dcterms:modified xsi:type="dcterms:W3CDTF">2025-11-09T19:28:09Z</dcterms:modified>
</cp:coreProperties>
</file>