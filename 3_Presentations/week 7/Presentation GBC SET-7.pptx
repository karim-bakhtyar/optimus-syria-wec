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71" r:id="rId3"/>
    <p:sldId id="256" r:id="rId4"/>
    <p:sldId id="259" r:id="rId5"/>
    <p:sldId id="308" r:id="rId6"/>
    <p:sldId id="316" r:id="rId7"/>
    <p:sldId id="286" r:id="rId8"/>
    <p:sldId id="310" r:id="rId9"/>
    <p:sldId id="319" r:id="rId10"/>
    <p:sldId id="314" r:id="rId11"/>
    <p:sldId id="312" r:id="rId12"/>
    <p:sldId id="27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1"/>
            <p14:sldId id="256"/>
          </p14:sldIdLst>
        </p14:section>
        <p14:section name="List of Content" id="{531AC0BB-816B-410D-BA56-36D5099BF673}">
          <p14:sldIdLst>
            <p14:sldId id="259"/>
          </p14:sldIdLst>
        </p14:section>
        <p14:section name="Main slides" id="{BD6EF26E-A09A-41FB-8480-E6BC53006862}">
          <p14:sldIdLst>
            <p14:sldId id="308"/>
            <p14:sldId id="316"/>
            <p14:sldId id="286"/>
            <p14:sldId id="310"/>
            <p14:sldId id="319"/>
            <p14:sldId id="314"/>
            <p14:sldId id="312"/>
          </p14:sldIdLst>
        </p14:section>
        <p14:section name="Bibliography" id="{4B1BE071-296A-4A26-8CA8-772A89E6818A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1DFFD"/>
    <a:srgbClr val="EBED77"/>
    <a:srgbClr val="C0F5FF"/>
    <a:srgbClr val="8ECEFA"/>
    <a:srgbClr val="92C6E6"/>
    <a:srgbClr val="80D2F7"/>
    <a:srgbClr val="7ED1F7"/>
    <a:srgbClr val="3C96FA"/>
    <a:srgbClr val="BDE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2B7A-FC4A-A4AD-3974-26B5F60E980F}" v="253" dt="2025-11-09T14:32:36.009"/>
    <p1510:client id="{344C3303-129D-CFF7-D937-7F46037F2E99}" v="6" dt="2025-11-10T10:18:08.834"/>
    <p1510:client id="{7AE327D6-8FEF-9AA9-BBD9-6A07F85B7B34}" v="1636" dt="2025-11-09T22:19:35.032"/>
    <p1510:client id="{B2D9AC46-85A2-667C-0A23-4E715B801C7E}" v="124" dt="2025-11-08T13:42:10.4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24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CFF2-C4A0-C88B-1E9C-7E885138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3A8F-E2E3-B4BD-3B84-D178AF0E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BFD4-B46B-34FE-9A8B-9033E96D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40036-D7DD-42C8-B5AA-1A1F3B29326C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83137-53E8-FAAE-F427-32424D86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33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4901-6338-2E30-CCE8-77FD13F5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3F872-E966-4E82-A983-56302FF6F23D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5D97-094A-D8D8-0C4D-1DC08462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01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0F5D-2977-B8B5-3FC5-DF3AE874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47B5-0632-4013-2832-15D3D21A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4BC1-6A36-94FE-17CE-DFAD0BF1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A8C58-2FD7-4CE4-B4DC-DEF691109F84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FD8C-55CD-AD30-1E91-60750BCC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2AD0-0D56-CC63-D932-D1C61C77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48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3C60A-FE48-2910-84A1-612B23A7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AF5F-6746-45B9-A9FE-BBDE38F21A62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67CE-6F73-71D9-BF0B-18A7CD94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80765-E2ED-A6A2-9401-8425BFA0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75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96258-07C0-0BF2-CA2A-156B572B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2A9E8-7F5B-48DD-918E-3D5CE3382CAC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7D047-C31B-4C8F-E0B3-75014FF6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4742A-6F5B-071B-E0EA-98040252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10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DD78-FBCD-76B9-2CA1-031942F2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65290-9E56-44C7-B8BB-35B380DF0EFC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218E7-E787-22C8-B531-FFEC9002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76BDA-2FCA-9763-2EA1-4033A56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70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FDB8F-73D7-2EBC-A62D-4DC73794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F0FC-57EE-4F63-A5B2-1419F641B3FB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8D704-B4F5-F739-D1FA-65F2302B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751D-0392-D26F-33B1-9B05704F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27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85DB-F13A-97BE-F448-17416079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4EF9-9D62-4E5B-A559-3AD64F589666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ACE2-CF77-9AC4-52EF-82FBD40B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D674-CAD3-59F8-9DF5-CA4D8E7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98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AE937-083F-51CA-E382-30FE9BE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FDC8-E43A-43A1-931C-3C6B81D788BC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255A-C1CC-7A32-A0B3-4283D858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013-C03F-024A-D0F4-FF67E670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31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6D05-728D-ACC9-D7EA-DC9D7330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233B-7A79-4043-88EA-ECED45D3F6EF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4FC10-CEAF-B332-2960-AABF9CE2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D6E7-B58D-A523-935C-4B108C9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75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99A6-3C5A-016E-2F7E-AE842F8D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5656-A676-4972-ADDE-468CB1EDD68C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42F9-DB70-E4F8-D075-6A905187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AB33-4759-572E-2291-D19531D8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460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dirty="0" err="1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</a:t>
            </a:r>
            <a:r>
              <a:rPr kumimoji="0" lang="it-IT" sz="6600" b="1" i="0" u="none" strike="noStrike" kern="1200" cap="none" spc="0" normalizeH="0" baseline="0" noProof="0" dirty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17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EF21-84C8-586D-C38F-81DE3F931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3036B-E08D-B4B8-69CB-C42176842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3DB72-09E0-8BDF-14B4-4FA2820C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65BE2-6702-4930-A56D-B5476ACA0DF0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F2740-59F3-8354-CF52-53337A80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C06A1-E2ED-D4C3-86B0-3C972409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508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E779-A5CF-33E3-89F5-B43337C2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D232-4F34-AEFC-AFD0-741DABBA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F2E77-D5DF-1D17-C854-897B9DD3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475-D91E-4E33-BF8F-90378BE577F9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14D6-F2CE-1582-32E1-94A59C7A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27D5C-0D68-9101-A36C-9187E79B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392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8CC5-208E-4B47-6CAD-E29FCCC3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79405-6B60-96C3-7F85-CE10C2877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CBA10-7C40-29AA-A669-FC240702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31E26-A48B-4DE6-94E7-B322713FCCC0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99825-A403-E91C-FFA8-F874E991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BFE7-28C4-5DF1-911F-E0B622E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219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7720-A6A0-DF50-E2F8-F9527E23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D186-8E32-BEAD-C81B-DE65895FD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57542-2B68-1767-C023-57D111E4E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5A417-9018-30E4-0A47-8170AD7D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4A3D-964C-4047-935E-BF23384B028C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AF8F7-6A80-4F6A-4E5F-660537A2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D3418-4BA9-CD34-AE32-0EF41678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36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08D8-A3B6-96B0-A29C-1B8262BE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05487-0425-138F-F9A2-08722722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BCB02-5AB4-A5E9-0917-4B9DD049B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50C77-85F2-0754-8AD9-7A5A4AEF6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DDF01-B6D2-31ED-A641-114B1A0AD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1FCA1D-B4D0-56C6-A678-3E062436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B5ED4-4AEA-4BEE-9543-97F42F3A9DF7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0E1DB4-3501-792C-CAF9-4235B2E9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D0757-7BFA-7895-D03C-767D6405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3179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2EA9-258F-B5EB-624D-2EFA68C4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48340-45BA-0901-1551-9D9DA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72E45-CF5C-48EE-9BF1-31EB6A888072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2F2D2-B0BF-4202-0381-8243671B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6687B-3FE7-76CE-1134-2B3A5D18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6281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E6C1-24CC-682A-8886-999E9A21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E8120-3341-455E-87F6-3553B5B3458C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75448-9567-EFBD-FC78-2B80C2BD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95C70-5A8D-518E-49A4-1BE45385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015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20AB-BD7C-3FEC-DC53-91B04780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A408-CFF5-5EB0-4399-BB87E6CF0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6F81-445C-5EF6-6E32-68D1E9C1C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8E69-7027-0F17-B524-CD221B58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9507-0DDD-4F0A-9398-E897CDBED1CB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45A00-EFDD-31BA-C55F-26A6CC90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ACCAF-2E21-16F5-1C68-06D177E1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473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A28B-29EC-E505-5884-CB4B1C6F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25986-DCF9-FBB5-39AD-D04792C65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AEB0E-C7EC-4F26-009D-409178E43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AB446-5A6F-5112-F417-65A55A0DC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C440-4EA5-4D0A-B191-1DC4B1D8ACAD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2D12D-03AA-1A0A-4595-8E063817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B350E-16AC-3E65-1704-09F648AB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6441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8C89-C725-395E-E708-BEF95E19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E4975-013E-CB40-86C9-4D346B73C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6C674-4D68-9DAC-8E93-7EB627FC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45C8B-BD3D-4C3C-97C3-5C69D979E78D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C36B8-CAAE-BDC6-8DF5-9451A698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750A4-9B92-8DB3-B407-A8A74CEA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8052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9A6511-7D12-4461-0A24-9B3134C2C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222EB-F23C-083B-09C9-48B924AC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908F9-D1F7-F94A-CA98-198F714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1AAB-076A-4A0E-8268-D589047ED16D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1FCF1-AD09-ED98-9C1F-DDCABBE2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3C831-E5D1-B4E6-5F4E-FB9FFB5D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42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6C39C-11C9-4478-AACD-4B99CE86271F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07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24F72-DEC3-C328-E288-A7FC5B1D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096B6-F39D-5D3A-895A-1CE61CD3F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726E2-FBE9-5D75-A698-6FD0ED097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7C1E37-113B-4587-99CC-1F6CD3314CBE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CAFA2-68FA-9BA2-4F27-A8680F507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027B2-667B-4034-930B-AB076347A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48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FC7EDF-25D6-28E8-DCE0-52ED50209C25}"/>
              </a:ext>
            </a:extLst>
          </p:cNvPr>
          <p:cNvSpPr txBox="1"/>
          <p:nvPr/>
        </p:nvSpPr>
        <p:spPr>
          <a:xfrm>
            <a:off x="3913526" y="4104491"/>
            <a:ext cx="4142630" cy="6186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/>
              </a:rPr>
              <a:t>Date: </a:t>
            </a:r>
            <a:r>
              <a:rPr lang="it-IT" dirty="0">
                <a:solidFill>
                  <a:srgbClr val="0E2841">
                    <a:lumMod val="90000"/>
                    <a:lumOff val="10000"/>
                  </a:srgbClr>
                </a:solidFill>
                <a:latin typeface="Aptos (Textkörper)"/>
                <a:cs typeface="Times New Roman"/>
              </a:rPr>
              <a:t>11 November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/>
              </a:rPr>
              <a:t>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188679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7672-3CC8-A3D9-5404-84F2B78B6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4045" y="1748938"/>
            <a:ext cx="9144000" cy="912598"/>
          </a:xfrm>
        </p:spPr>
        <p:txBody>
          <a:bodyPr>
            <a:noAutofit/>
          </a:bodyPr>
          <a:lstStyle/>
          <a:p>
            <a:r>
              <a:rPr lang="it-IT" sz="3600" dirty="0">
                <a:latin typeface="Times New Roman"/>
                <a:cs typeface="Times New Roman"/>
              </a:rPr>
              <a:t>Weekly report: Team </a:t>
            </a:r>
            <a:r>
              <a:rPr lang="it-IT" sz="3600" dirty="0" err="1">
                <a:latin typeface="Times New Roman"/>
                <a:cs typeface="Times New Roman"/>
              </a:rPr>
              <a:t>Gearbox</a:t>
            </a:r>
            <a:r>
              <a:rPr lang="it-IT" sz="3600" dirty="0">
                <a:latin typeface="Times New Roman"/>
                <a:cs typeface="Times New Roman"/>
              </a:rPr>
              <a:t>, </a:t>
            </a:r>
            <a:r>
              <a:rPr lang="it-IT" sz="3600" dirty="0" err="1">
                <a:latin typeface="Times New Roman"/>
                <a:cs typeface="Times New Roman"/>
              </a:rPr>
              <a:t>Brake</a:t>
            </a:r>
            <a:r>
              <a:rPr lang="it-IT" sz="3600" dirty="0">
                <a:latin typeface="Times New Roman"/>
                <a:cs typeface="Times New Roman"/>
              </a:rPr>
              <a:t>, </a:t>
            </a:r>
            <a:r>
              <a:rPr lang="it-IT" sz="3600" dirty="0" err="1">
                <a:latin typeface="Times New Roman"/>
                <a:cs typeface="Times New Roman"/>
              </a:rPr>
              <a:t>Coupling</a:t>
            </a:r>
            <a:r>
              <a:rPr lang="it-IT" sz="3600" dirty="0">
                <a:latin typeface="Times New Roman"/>
                <a:cs typeface="Times New Roman"/>
              </a:rPr>
              <a:t> </a:t>
            </a:r>
            <a:endParaRPr lang="en-GB" sz="3600" dirty="0">
              <a:latin typeface="Times New Roman"/>
              <a:cs typeface="Times New Roman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6656" y="2650278"/>
            <a:ext cx="5899051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dirty="0">
                <a:latin typeface="Times New Roman"/>
                <a:cs typeface="Times New Roman"/>
              </a:rPr>
              <a:t>Week </a:t>
            </a:r>
            <a:r>
              <a:rPr lang="it-IT" sz="2000" dirty="0" err="1">
                <a:latin typeface="Times New Roman"/>
                <a:cs typeface="Times New Roman"/>
              </a:rPr>
              <a:t>number</a:t>
            </a:r>
            <a:r>
              <a:rPr lang="it-IT" sz="2000" dirty="0">
                <a:latin typeface="Times New Roman"/>
                <a:cs typeface="Times New Roman"/>
              </a:rPr>
              <a:t> : 07</a:t>
            </a:r>
          </a:p>
          <a:p>
            <a:r>
              <a:rPr lang="it-IT" sz="2000" dirty="0">
                <a:latin typeface="Times New Roman"/>
                <a:cs typeface="Times New Roman"/>
              </a:rPr>
              <a:t>Date: 11/11/2025</a:t>
            </a:r>
          </a:p>
          <a:p>
            <a:r>
              <a:rPr lang="it-IT" sz="2000" dirty="0">
                <a:latin typeface="Times New Roman"/>
                <a:cs typeface="Times New Roman"/>
              </a:rPr>
              <a:t>Supervisor: Prof. Peter </a:t>
            </a:r>
            <a:r>
              <a:rPr lang="it-IT" sz="2000" err="1">
                <a:latin typeface="Times New Roman"/>
                <a:cs typeface="Times New Roman"/>
              </a:rPr>
              <a:t>Quell</a:t>
            </a:r>
            <a:endParaRPr lang="en-GB" sz="2000" err="1">
              <a:latin typeface="Times New Roman"/>
              <a:cs typeface="Times New Roman"/>
            </a:endParaRPr>
          </a:p>
        </p:txBody>
      </p:sp>
      <p:pic>
        <p:nvPicPr>
          <p:cNvPr id="8" name="Picture 8" descr="Hochschule Flensburg (Fachhochschule) – Wikipedia">
            <a:extLst>
              <a:ext uri="{FF2B5EF4-FFF2-40B4-BE49-F238E27FC236}">
                <a16:creationId xmlns:a16="http://schemas.microsoft.com/office/drawing/2014/main" id="{E88D30C2-B846-594F-69A8-55F553804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E7EEC8C-633A-AEB3-3E8A-978E3C75A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13120F1-DE8B-A6AA-A1D5-19926A98F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4" name="Free-form: Shape 13">
            <a:extLst>
              <a:ext uri="{FF2B5EF4-FFF2-40B4-BE49-F238E27FC236}">
                <a16:creationId xmlns:a16="http://schemas.microsoft.com/office/drawing/2014/main" id="{44C88E41-E5B3-0D11-A4D3-711DA18380C9}"/>
              </a:ext>
            </a:extLst>
          </p:cNvPr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>
            <a:extLst>
              <a:ext uri="{FF2B5EF4-FFF2-40B4-BE49-F238E27FC236}">
                <a16:creationId xmlns:a16="http://schemas.microsoft.com/office/drawing/2014/main" id="{C26B78DF-71CA-5509-F4C5-6276C7251B89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>
            <a:extLst>
              <a:ext uri="{FF2B5EF4-FFF2-40B4-BE49-F238E27FC236}">
                <a16:creationId xmlns:a16="http://schemas.microsoft.com/office/drawing/2014/main" id="{2AC7F7CE-A165-18C0-6918-B9EA07638042}"/>
              </a:ext>
            </a:extLst>
          </p:cNvPr>
          <p:cNvSpPr/>
          <p:nvPr/>
        </p:nvSpPr>
        <p:spPr>
          <a:xfrm>
            <a:off x="-299280" y="5942449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>
            <a:extLst>
              <a:ext uri="{FF2B5EF4-FFF2-40B4-BE49-F238E27FC236}">
                <a16:creationId xmlns:a16="http://schemas.microsoft.com/office/drawing/2014/main" id="{735E7E19-AD9A-2739-2D13-BC73EA4C759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sz="11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19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2FD2ECB6-38EA-E857-A881-0C8E141A489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592750"/>
            <a:ext cx="1753782" cy="131363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4389E-5559-8492-2D9E-AFA299DB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4845" y="6542724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2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61359" y="3992437"/>
            <a:ext cx="8495794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Group Members :</a:t>
            </a:r>
            <a:r>
              <a:rPr lang="en-US" dirty="0" err="1">
                <a:latin typeface="Times New Roman"/>
                <a:cs typeface="Times New Roman"/>
              </a:rPr>
              <a:t>Nehang</a:t>
            </a:r>
            <a:r>
              <a:rPr lang="en-US" dirty="0">
                <a:latin typeface="Times New Roman"/>
                <a:cs typeface="Times New Roman"/>
              </a:rPr>
              <a:t> Jitendra </a:t>
            </a:r>
            <a:r>
              <a:rPr lang="en-US" dirty="0" err="1">
                <a:latin typeface="Times New Roman"/>
                <a:cs typeface="Times New Roman"/>
              </a:rPr>
              <a:t>Joshi,Santo</a:t>
            </a:r>
            <a:r>
              <a:rPr lang="en-US" dirty="0">
                <a:latin typeface="Times New Roman"/>
                <a:cs typeface="Times New Roman"/>
              </a:rPr>
              <a:t> Mazumder,</a:t>
            </a:r>
            <a:r>
              <a:rPr lang="fi-FI" dirty="0">
                <a:latin typeface="Times New Roman"/>
                <a:cs typeface="Times New Roman"/>
              </a:rPr>
              <a:t>Md </a:t>
            </a:r>
            <a:r>
              <a:rPr lang="fi-FI" dirty="0" err="1">
                <a:latin typeface="Times New Roman"/>
                <a:cs typeface="Times New Roman"/>
              </a:rPr>
              <a:t>Razaul</a:t>
            </a:r>
            <a:r>
              <a:rPr lang="fi-FI" dirty="0">
                <a:latin typeface="Times New Roman"/>
                <a:cs typeface="Times New Roman"/>
              </a:rPr>
              <a:t> Karim Rahat </a:t>
            </a:r>
            <a:endParaRPr lang="en-US"/>
          </a:p>
          <a:p>
            <a:r>
              <a:rPr lang="fi-FI" dirty="0">
                <a:latin typeface="Times New Roman"/>
                <a:cs typeface="Times New Roman"/>
              </a:rPr>
              <a:t>                              </a:t>
            </a:r>
            <a:endParaRPr lang="fi-FI" dirty="0" err="1">
              <a:latin typeface="Aptos"/>
              <a:cs typeface="Times New Roman"/>
            </a:endParaRPr>
          </a:p>
          <a:p>
            <a:r>
              <a:rPr lang="fi-FI" dirty="0">
                <a:latin typeface="Times New Roman"/>
                <a:cs typeface="Times New Roman"/>
              </a:rPr>
              <a:t>                                        </a:t>
            </a:r>
            <a:r>
              <a:rPr lang="en-GB" dirty="0">
                <a:latin typeface="Times New Roman"/>
                <a:ea typeface="+mn-lt"/>
                <a:cs typeface="+mn-lt"/>
              </a:rPr>
              <a:t>Presented by</a:t>
            </a:r>
            <a:r>
              <a:rPr lang="fi-FI" dirty="0">
                <a:latin typeface="Times New Roman"/>
                <a:cs typeface="Times New Roman"/>
              </a:rPr>
              <a:t> -</a:t>
            </a:r>
            <a:r>
              <a:rPr lang="fi-FI" dirty="0" err="1">
                <a:latin typeface="Times New Roman"/>
                <a:cs typeface="Times New Roman"/>
              </a:rPr>
              <a:t>Nehang</a:t>
            </a:r>
            <a:r>
              <a:rPr lang="fi-FI" dirty="0">
                <a:latin typeface="Times New Roman"/>
                <a:cs typeface="Times New Roman"/>
              </a:rPr>
              <a:t> </a:t>
            </a:r>
            <a:r>
              <a:rPr lang="fi-FI" dirty="0" err="1">
                <a:latin typeface="Times New Roman"/>
                <a:cs typeface="Times New Roman"/>
              </a:rPr>
              <a:t>Jitendra</a:t>
            </a:r>
            <a:r>
              <a:rPr lang="fi-FI" dirty="0">
                <a:latin typeface="Times New Roman"/>
                <a:cs typeface="Times New Roman"/>
              </a:rPr>
              <a:t> </a:t>
            </a:r>
            <a:r>
              <a:rPr lang="fi-FI" dirty="0" err="1">
                <a:latin typeface="Times New Roman"/>
                <a:cs typeface="Times New Roman"/>
              </a:rPr>
              <a:t>Joshi</a:t>
            </a:r>
          </a:p>
          <a:p>
            <a:pPr marL="342900" indent="-342900">
              <a:buFont typeface="+mj-lt"/>
              <a:buAutoNum type="arabicPeriod"/>
            </a:pPr>
            <a:endParaRPr lang="fi-FI">
              <a:latin typeface="Times New Roman"/>
              <a:cs typeface="Times New Roman"/>
            </a:endParaRP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98440240-F425-0B72-2058-EC45CD20C2C8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11-11-2025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hteck 17">
            <a:extLst>
              <a:ext uri="{FF2B5EF4-FFF2-40B4-BE49-F238E27FC236}">
                <a16:creationId xmlns:a16="http://schemas.microsoft.com/office/drawing/2014/main" id="{30319656-CF5E-28CD-1CFD-A3C3C62A9F22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</p:spTree>
    <p:extLst>
      <p:ext uri="{BB962C8B-B14F-4D97-AF65-F5344CB8AC3E}">
        <p14:creationId xmlns:p14="http://schemas.microsoft.com/office/powerpoint/2010/main" val="736408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3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7583" y="445344"/>
            <a:ext cx="4340796" cy="798992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de-DE" sz="2800" dirty="0">
                <a:latin typeface="Times New Roman"/>
                <a:cs typeface="Times New Roman"/>
              </a:rPr>
              <a:t>List of Content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73AD17-49A9-1372-BEA3-994BB76CBDE8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7249" y="1176770"/>
            <a:ext cx="4908022" cy="129830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de-DE" dirty="0">
                <a:latin typeface="Times New Roman"/>
                <a:cs typeface="Times New Roman"/>
              </a:rPr>
              <a:t>1.Torque and </a:t>
            </a:r>
            <a:r>
              <a:rPr lang="de-DE" dirty="0" err="1">
                <a:latin typeface="Times New Roman"/>
                <a:cs typeface="Times New Roman"/>
              </a:rPr>
              <a:t>rotational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dirty="0" err="1">
                <a:latin typeface="Times New Roman"/>
                <a:cs typeface="Times New Roman"/>
              </a:rPr>
              <a:t>speed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dirty="0" err="1">
                <a:latin typeface="Times New Roman"/>
                <a:cs typeface="Times New Roman"/>
              </a:rPr>
              <a:t>calculation</a:t>
            </a:r>
            <a:endParaRPr lang="en-US" dirty="0" err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dirty="0">
                <a:latin typeface="Times New Roman"/>
                <a:cs typeface="Times New Roman"/>
              </a:rPr>
              <a:t>2.Dimension overview of the gearbox finalized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de-DE" dirty="0">
                <a:latin typeface="Times New Roman"/>
                <a:cs typeface="Times New Roman"/>
              </a:rPr>
              <a:t>3.Calculation </a:t>
            </a:r>
            <a:r>
              <a:rPr lang="de-DE" dirty="0" err="1">
                <a:latin typeface="Times New Roman"/>
                <a:cs typeface="Times New Roman"/>
              </a:rPr>
              <a:t>of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dirty="0" err="1">
                <a:latin typeface="Times New Roman"/>
                <a:cs typeface="Times New Roman"/>
              </a:rPr>
              <a:t>the</a:t>
            </a:r>
            <a:r>
              <a:rPr lang="de-DE" dirty="0">
                <a:latin typeface="Times New Roman"/>
                <a:cs typeface="Times New Roman"/>
              </a:rPr>
              <a:t> 1st </a:t>
            </a:r>
            <a:r>
              <a:rPr lang="de-DE" dirty="0" err="1">
                <a:latin typeface="Times New Roman"/>
                <a:cs typeface="Times New Roman"/>
              </a:rPr>
              <a:t>stage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dirty="0" err="1">
                <a:latin typeface="Times New Roman"/>
                <a:cs typeface="Times New Roman"/>
              </a:rPr>
              <a:t>of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dirty="0" err="1">
                <a:latin typeface="Times New Roman"/>
                <a:cs typeface="Times New Roman"/>
              </a:rPr>
              <a:t>planetary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dirty="0" err="1">
                <a:latin typeface="Times New Roman"/>
                <a:cs typeface="Times New Roman"/>
              </a:rPr>
              <a:t>gear</a:t>
            </a:r>
            <a:r>
              <a:rPr lang="de-DE" dirty="0">
                <a:latin typeface="Times New Roman"/>
                <a:cs typeface="Times New Roman"/>
              </a:rPr>
              <a:t> and 2nd </a:t>
            </a:r>
            <a:r>
              <a:rPr lang="de-DE" dirty="0" err="1">
                <a:latin typeface="Times New Roman"/>
                <a:cs typeface="Times New Roman"/>
              </a:rPr>
              <a:t>stage</a:t>
            </a:r>
            <a:r>
              <a:rPr lang="de-DE" dirty="0">
                <a:latin typeface="Times New Roman"/>
                <a:cs typeface="Times New Roman"/>
              </a:rPr>
              <a:t> also Spur </a:t>
            </a:r>
            <a:r>
              <a:rPr lang="de-DE" dirty="0" err="1">
                <a:latin typeface="Times New Roman"/>
                <a:cs typeface="Times New Roman"/>
              </a:rPr>
              <a:t>gear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dirty="0" err="1">
                <a:latin typeface="Times New Roman"/>
                <a:cs typeface="Times New Roman"/>
              </a:rPr>
              <a:t>stage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dirty="0" err="1">
                <a:latin typeface="Times New Roman"/>
                <a:cs typeface="Times New Roman"/>
              </a:rPr>
              <a:t>calculation</a:t>
            </a:r>
            <a:r>
              <a:rPr lang="de-DE" dirty="0">
                <a:latin typeface="Times New Roman"/>
                <a:cs typeface="Times New Roman"/>
              </a:rPr>
              <a:t> </a:t>
            </a:r>
            <a:r>
              <a:rPr lang="de-DE" dirty="0" err="1">
                <a:latin typeface="Times New Roman"/>
                <a:cs typeface="Times New Roman"/>
              </a:rPr>
              <a:t>updated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de-DE" dirty="0">
                <a:latin typeface="Times New Roman"/>
                <a:cs typeface="Times New Roman"/>
              </a:rPr>
              <a:t>4.</a:t>
            </a:r>
            <a:r>
              <a:rPr lang="en-GB" dirty="0">
                <a:latin typeface="Times New Roman"/>
                <a:cs typeface="Times New Roman"/>
              </a:rPr>
              <a:t>Direct Bolted Flange Connection – LSS gearbox and main shaft</a:t>
            </a:r>
            <a:endParaRPr lang="de-DE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GB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GB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" pitchFamily="34" charset="0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229870" indent="-229870">
              <a:lnSpc>
                <a:spcPct val="150000"/>
              </a:lnSpc>
              <a:spcBef>
                <a:spcPts val="1000"/>
              </a:spcBef>
              <a:buFont typeface="Arial" pitchFamily="34" charset="0"/>
              <a:buChar char="•"/>
            </a:pPr>
            <a:endParaRPr lang="en-US" sz="2000">
              <a:latin typeface="Times New Roman"/>
              <a:cs typeface="Times New Roman"/>
            </a:endParaRPr>
          </a:p>
          <a:p>
            <a:pPr marL="229870" indent="-229870">
              <a:lnSpc>
                <a:spcPct val="150000"/>
              </a:lnSpc>
              <a:spcBef>
                <a:spcPts val="1000"/>
              </a:spcBef>
              <a:buFont typeface="Arial" pitchFamily="34" charset="0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229870" indent="-229870">
              <a:lnSpc>
                <a:spcPct val="150000"/>
              </a:lnSpc>
              <a:spcBef>
                <a:spcPts val="1000"/>
              </a:spcBef>
              <a:buFont typeface="Arial" pitchFamily="34" charset="0"/>
              <a:buChar char="•"/>
            </a:pPr>
            <a:endParaRPr lang="en-US" sz="2000">
              <a:latin typeface="Times New Roman"/>
              <a:cs typeface="Times New Roman"/>
            </a:endParaRPr>
          </a:p>
          <a:p>
            <a:endParaRPr lang="en-US" sz="2000">
              <a:latin typeface="Aptos"/>
              <a:cs typeface="Times New Roman"/>
            </a:endParaRPr>
          </a:p>
        </p:txBody>
      </p:sp>
      <p:sp>
        <p:nvSpPr>
          <p:cNvPr id="8" name="Rechteck 17">
            <a:extLst>
              <a:ext uri="{FF2B5EF4-FFF2-40B4-BE49-F238E27FC236}">
                <a16:creationId xmlns:a16="http://schemas.microsoft.com/office/drawing/2014/main" id="{63B77199-F2F5-F9F9-06EC-BD0AB57A03FC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9023AAA1-8831-C3DD-47D8-1F8FC9C754DC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11-11-2025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14B2E-C80F-3C17-EE51-E5D43D318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6B2A98C0-9BDC-58C1-EE9E-A27B5F5FAD3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B211426A-9A93-EACF-76B2-19EF20EB9622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D764EE54-3494-F6D3-6F6F-AE509CF19E1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61C0950-CB0C-5EF1-3A33-2DDE90EEBB94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2334EB4-432B-FA26-13D1-2EEE6A94A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4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1779F5A-80EB-61EE-BBE2-192F2DD19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cs typeface="Times New Roman"/>
              </a:rPr>
              <a:t>Torque</a:t>
            </a:r>
            <a:r>
              <a:rPr lang="de-DE" sz="2800" dirty="0">
                <a:latin typeface="Times New Roman"/>
                <a:ea typeface="+mj-lt"/>
                <a:cs typeface="+mj-lt"/>
              </a:rPr>
              <a:t> and </a:t>
            </a:r>
            <a:r>
              <a:rPr lang="de-DE" sz="2800" dirty="0" err="1">
                <a:latin typeface="Times New Roman"/>
                <a:ea typeface="+mj-lt"/>
                <a:cs typeface="+mj-lt"/>
              </a:rPr>
              <a:t>rotational</a:t>
            </a:r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r>
              <a:rPr lang="de-DE" sz="2800" dirty="0" err="1">
                <a:latin typeface="Times New Roman"/>
                <a:ea typeface="+mj-lt"/>
                <a:cs typeface="+mj-lt"/>
              </a:rPr>
              <a:t>speed</a:t>
            </a:r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r>
              <a:rPr lang="de-DE" sz="2800" dirty="0" err="1">
                <a:latin typeface="Times New Roman"/>
                <a:ea typeface="+mj-lt"/>
                <a:cs typeface="+mj-lt"/>
              </a:rPr>
              <a:t>calculation</a:t>
            </a:r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r>
              <a:rPr lang="de-DE" sz="2800" dirty="0" err="1">
                <a:latin typeface="Times New Roman"/>
                <a:ea typeface="+mj-lt"/>
                <a:cs typeface="+mj-lt"/>
              </a:rPr>
              <a:t>for</a:t>
            </a:r>
            <a:r>
              <a:rPr lang="de-DE" sz="2800" dirty="0">
                <a:latin typeface="Times New Roman"/>
                <a:ea typeface="+mj-lt"/>
                <a:cs typeface="+mj-lt"/>
              </a:rPr>
              <a:t> Rotor and Generator Updated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352DCD-C871-69E8-2CA8-FC898B0F36A0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F8433617-724A-C6CB-3941-3A377FBAD445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451DCF60-749F-919C-3630-F2FD627CD93B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11-11-2025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3DCF-E530-73C2-BCF1-5E53D05BECD4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cs typeface="Times New Roman"/>
              </a:rPr>
              <a:t>         </a:t>
            </a:r>
          </a:p>
          <a:p>
            <a:pPr marL="0" indent="0">
              <a:buNone/>
            </a:pPr>
            <a:endParaRPr lang="en-GB" sz="18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1800" b="1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104C029-36B9-8D40-C36E-0D0F02F25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182343"/>
              </p:ext>
            </p:extLst>
          </p:nvPr>
        </p:nvGraphicFramePr>
        <p:xfrm>
          <a:off x="488830" y="1250830"/>
          <a:ext cx="4373566" cy="3659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783">
                  <a:extLst>
                    <a:ext uri="{9D8B030D-6E8A-4147-A177-3AD203B41FA5}">
                      <a16:colId xmlns:a16="http://schemas.microsoft.com/office/drawing/2014/main" val="550184801"/>
                    </a:ext>
                  </a:extLst>
                </a:gridCol>
                <a:gridCol w="2186783">
                  <a:extLst>
                    <a:ext uri="{9D8B030D-6E8A-4147-A177-3AD203B41FA5}">
                      <a16:colId xmlns:a16="http://schemas.microsoft.com/office/drawing/2014/main" val="2489318114"/>
                    </a:ext>
                  </a:extLst>
                </a:gridCol>
              </a:tblGrid>
              <a:tr h="717176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Rotor 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950664"/>
                  </a:ext>
                </a:extLst>
              </a:tr>
              <a:tr h="980856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P rotor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5.4  MW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694248"/>
                  </a:ext>
                </a:extLst>
              </a:tr>
              <a:tr h="980856"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Times New Roman"/>
                        </a:rPr>
                        <a:t>nlss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10.12 rpm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167293"/>
                  </a:ext>
                </a:extLst>
              </a:tr>
              <a:tr h="980856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M rotor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5.095 KN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991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5EE08EF-AE22-444D-AFE5-2641958B6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724031"/>
              </p:ext>
            </p:extLst>
          </p:nvPr>
        </p:nvGraphicFramePr>
        <p:xfrm>
          <a:off x="6886754" y="1207698"/>
          <a:ext cx="4791918" cy="3721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959">
                  <a:extLst>
                    <a:ext uri="{9D8B030D-6E8A-4147-A177-3AD203B41FA5}">
                      <a16:colId xmlns:a16="http://schemas.microsoft.com/office/drawing/2014/main" val="550184801"/>
                    </a:ext>
                  </a:extLst>
                </a:gridCol>
                <a:gridCol w="2395959">
                  <a:extLst>
                    <a:ext uri="{9D8B030D-6E8A-4147-A177-3AD203B41FA5}">
                      <a16:colId xmlns:a16="http://schemas.microsoft.com/office/drawing/2014/main" val="2489318114"/>
                    </a:ext>
                  </a:extLst>
                </a:gridCol>
              </a:tblGrid>
              <a:tr h="83568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/>
                        </a:rPr>
                        <a:t>Generator 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950664"/>
                  </a:ext>
                </a:extLst>
              </a:tr>
              <a:tr h="961830">
                <a:tc>
                  <a:txBody>
                    <a:bodyPr/>
                    <a:lstStyle/>
                    <a:p>
                      <a:r>
                        <a:rPr lang="en-US" b="1" err="1">
                          <a:solidFill>
                            <a:schemeClr val="tx1"/>
                          </a:solidFill>
                          <a:latin typeface="Times New Roman"/>
                        </a:rPr>
                        <a:t>nhss</a:t>
                      </a:r>
                      <a:endParaRPr lang="en-US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1200 rpm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694248"/>
                  </a:ext>
                </a:extLst>
              </a:tr>
              <a:tr h="96183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Ratio </a:t>
                      </a:r>
                      <a:r>
                        <a:rPr lang="en-US" b="1" err="1">
                          <a:solidFill>
                            <a:schemeClr val="tx1"/>
                          </a:solidFill>
                          <a:latin typeface="Times New Roman"/>
                        </a:rPr>
                        <a:t>i</a:t>
                      </a:r>
                      <a:endParaRPr lang="en-US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1200 /10.12 = 118.57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167293"/>
                  </a:ext>
                </a:extLst>
              </a:tr>
              <a:tr h="96183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M 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41.9 </a:t>
                      </a:r>
                      <a:r>
                        <a:rPr lang="en-US" b="1" err="1">
                          <a:solidFill>
                            <a:schemeClr val="tx1"/>
                          </a:solidFill>
                          <a:latin typeface="Times New Roman"/>
                        </a:rPr>
                        <a:t>KNm</a:t>
                      </a:r>
                      <a:endParaRPr lang="en-US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99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062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A9B61-C222-9F58-972D-31B07672B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8073834B-E243-29BB-1A7F-31A5D50EF9BF}"/>
              </a:ext>
            </a:extLst>
          </p:cNvPr>
          <p:cNvSpPr/>
          <p:nvPr/>
        </p:nvSpPr>
        <p:spPr>
          <a:xfrm rot="10800000">
            <a:off x="-26376" y="277946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96EA3D85-978D-834B-5F29-7670EBE7EB32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4B6517F8-F090-C580-9578-180534EE9AC3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58366BD-2546-4EEF-527C-6F59774B2B1E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DD0C0F6-BEEC-9292-4626-BC2B8982D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5</a:t>
            </a:fld>
            <a:endParaRPr lang="en-GB" sz="1400" b="1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C10B54-4C09-0B61-ECB5-FE6AD5D36806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0E26D9AD-47EF-3893-7813-A2BADF76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074" y="0"/>
            <a:ext cx="10515600" cy="1325563"/>
          </a:xfrm>
        </p:spPr>
        <p:txBody>
          <a:bodyPr/>
          <a:lstStyle/>
          <a:p>
            <a:pPr algn="ctr"/>
            <a:br>
              <a:rPr lang="en-US" sz="2900" dirty="0">
                <a:latin typeface="Times New Roman"/>
                <a:cs typeface="Times New Roman"/>
              </a:rPr>
            </a:br>
            <a:endParaRPr lang="en-US" sz="2900">
              <a:latin typeface="Times New Roman"/>
              <a:cs typeface="Times New Roman"/>
            </a:endParaRPr>
          </a:p>
        </p:txBody>
      </p:sp>
      <p:sp>
        <p:nvSpPr>
          <p:cNvPr id="7" name="Rechteck 17">
            <a:extLst>
              <a:ext uri="{FF2B5EF4-FFF2-40B4-BE49-F238E27FC236}">
                <a16:creationId xmlns:a16="http://schemas.microsoft.com/office/drawing/2014/main" id="{7ECDEDF5-D50D-9381-054B-2D793327057E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80490718-7479-6054-2C6C-11AEC183D209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11-11-2025</a:t>
            </a:r>
          </a:p>
        </p:txBody>
      </p:sp>
      <p:sp>
        <p:nvSpPr>
          <p:cNvPr id="4" name="Title 11">
            <a:extLst>
              <a:ext uri="{FF2B5EF4-FFF2-40B4-BE49-F238E27FC236}">
                <a16:creationId xmlns:a16="http://schemas.microsoft.com/office/drawing/2014/main" id="{70795BA6-2EB1-3075-8DDA-AF8439C9318E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dirty="0">
                <a:latin typeface="Times New Roman"/>
                <a:ea typeface="Calibri Light"/>
                <a:cs typeface="Calibri Light"/>
              </a:rPr>
              <a:t>Dimension of the gearbox- Final</a:t>
            </a:r>
          </a:p>
          <a:p>
            <a:pPr algn="ctr"/>
            <a:br>
              <a:rPr lang="en-IN" sz="2800" u="sng" dirty="0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5F1B08-AB19-B108-CC85-D9A535377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391319"/>
              </p:ext>
            </p:extLst>
          </p:nvPr>
        </p:nvGraphicFramePr>
        <p:xfrm>
          <a:off x="1450963" y="1326225"/>
          <a:ext cx="9842054" cy="5038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1027">
                  <a:extLst>
                    <a:ext uri="{9D8B030D-6E8A-4147-A177-3AD203B41FA5}">
                      <a16:colId xmlns:a16="http://schemas.microsoft.com/office/drawing/2014/main" val="3540771183"/>
                    </a:ext>
                  </a:extLst>
                </a:gridCol>
                <a:gridCol w="4921027">
                  <a:extLst>
                    <a:ext uri="{9D8B030D-6E8A-4147-A177-3AD203B41FA5}">
                      <a16:colId xmlns:a16="http://schemas.microsoft.com/office/drawing/2014/main" val="2636943970"/>
                    </a:ext>
                  </a:extLst>
                </a:gridCol>
              </a:tblGrid>
              <a:tr h="71977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/>
                        </a:rPr>
                        <a:t>Dimensions in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886977"/>
                  </a:ext>
                </a:extLst>
              </a:tr>
              <a:tr h="71977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Total Width of the gearbox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3200 mm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754763"/>
                  </a:ext>
                </a:extLst>
              </a:tr>
              <a:tr h="71977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Gearbox total diameter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2100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996827"/>
                  </a:ext>
                </a:extLst>
              </a:tr>
              <a:tr h="71977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Outer diameter elastomeric bearing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350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465019"/>
                  </a:ext>
                </a:extLst>
              </a:tr>
              <a:tr h="71977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Pin to pin distance from the center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2600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458755"/>
                  </a:ext>
                </a:extLst>
              </a:tr>
              <a:tr h="7197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333333"/>
                          </a:solidFill>
                          <a:latin typeface="Times New Roman"/>
                        </a:rPr>
                        <a:t>pin diameter of the lever arm</a:t>
                      </a:r>
                      <a:endParaRPr lang="en-US" sz="18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275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840593"/>
                  </a:ext>
                </a:extLst>
              </a:tr>
              <a:tr h="71977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Bolt length near to elastomeric bearing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0.540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652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31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7B298-2227-C934-41C1-5F11AA141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E0EC2E18-1B20-D0F3-723E-B5B4175CF414}"/>
              </a:ext>
            </a:extLst>
          </p:cNvPr>
          <p:cNvSpPr/>
          <p:nvPr/>
        </p:nvSpPr>
        <p:spPr>
          <a:xfrm rot="10800000">
            <a:off x="-20791" y="407341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94322735-02B7-7E2B-72A2-A32DD6D30A97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DEAEFAC5-C70D-D3AA-2E24-E385A7B1902F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CBB6A10-2B01-A654-2C92-00A665DA2BF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04473B2-1CF6-31B7-EFE3-3E86AFD3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6</a:t>
            </a:fld>
            <a:endParaRPr lang="en-GB" sz="140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142635-10E6-AA78-A80A-017ACFB03E0F}"/>
              </a:ext>
            </a:extLst>
          </p:cNvPr>
          <p:cNvCxnSpPr/>
          <p:nvPr/>
        </p:nvCxnSpPr>
        <p:spPr>
          <a:xfrm>
            <a:off x="484418" y="138753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A20818F3-2E31-BD59-DCB5-5E70D6347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471" y="64698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ea typeface="Calibri Light"/>
                <a:cs typeface="Calibri Light"/>
              </a:rPr>
              <a:t>Formulas for Planetary gear</a:t>
            </a:r>
            <a:endParaRPr lang="en-GB" sz="2800">
              <a:latin typeface="Times New Roman"/>
              <a:ea typeface="Calibri Light"/>
              <a:cs typeface="Calibri Light"/>
            </a:endParaRPr>
          </a:p>
          <a:p>
            <a:pPr algn="ctr"/>
            <a:br>
              <a:rPr lang="en-IN" sz="2800" u="sng" dirty="0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sp>
        <p:nvSpPr>
          <p:cNvPr id="4" name="Rechteck 17">
            <a:extLst>
              <a:ext uri="{FF2B5EF4-FFF2-40B4-BE49-F238E27FC236}">
                <a16:creationId xmlns:a16="http://schemas.microsoft.com/office/drawing/2014/main" id="{6283D84C-5BBC-D3E3-28A8-FD6CA0FD495F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E64E3051-FB31-BD60-0BE3-C1B08A95D507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11-11-2025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DD16BC43-31DF-4D7C-B0CD-0111499A0AD3}"/>
              </a:ext>
            </a:extLst>
          </p:cNvPr>
          <p:cNvSpPr txBox="1"/>
          <p:nvPr/>
        </p:nvSpPr>
        <p:spPr>
          <a:xfrm>
            <a:off x="7210251" y="5411476"/>
            <a:ext cx="3076170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z  = No. of Teeth</a:t>
            </a:r>
            <a:endParaRPr lang="en-IN" sz="16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/>
            </a:endParaRPr>
          </a:p>
          <a:p>
            <a:r>
              <a:rPr lang="en-IN" sz="1600" dirty="0"/>
              <a:t>n = RPM</a:t>
            </a:r>
            <a:endParaRPr lang="en-IN" sz="1600" b="1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 = Pitch Circle Diameter</a:t>
            </a:r>
          </a:p>
          <a:p>
            <a:r>
              <a:rPr lang="en-IN" sz="16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= Gear Ratio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9B63C686-E132-4051-AF77-AE752F248D97}"/>
              </a:ext>
            </a:extLst>
          </p:cNvPr>
          <p:cNvSpPr txBox="1"/>
          <p:nvPr/>
        </p:nvSpPr>
        <p:spPr>
          <a:xfrm>
            <a:off x="345241" y="5949098"/>
            <a:ext cx="685176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>
                <a:latin typeface="Times New Roman"/>
                <a:cs typeface="Times New Roman"/>
              </a:rPr>
              <a:t>Reference: Lecture Notes by Prof. Peter Quell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E3E61B-05F3-B606-8690-A13190125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053665"/>
              </p:ext>
            </p:extLst>
          </p:nvPr>
        </p:nvGraphicFramePr>
        <p:xfrm>
          <a:off x="790575" y="1713871"/>
          <a:ext cx="4514850" cy="32289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57425">
                  <a:extLst>
                    <a:ext uri="{9D8B030D-6E8A-4147-A177-3AD203B41FA5}">
                      <a16:colId xmlns:a16="http://schemas.microsoft.com/office/drawing/2014/main" val="1926600920"/>
                    </a:ext>
                  </a:extLst>
                </a:gridCol>
                <a:gridCol w="2257425">
                  <a:extLst>
                    <a:ext uri="{9D8B030D-6E8A-4147-A177-3AD203B41FA5}">
                      <a16:colId xmlns:a16="http://schemas.microsoft.com/office/drawing/2014/main" val="4452518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z_Ring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16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pl-PL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z_Sun</a:t>
                      </a: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+( 2 x </a:t>
                      </a:r>
                      <a:r>
                        <a:rPr lang="pl-PL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z_Planet</a:t>
                      </a: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</a:t>
                      </a:r>
                      <a:endParaRPr lang="pl-PL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16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0707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z_Planet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16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z_Sun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- 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z_Ring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/ 2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16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8210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No. of Planets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 and 4</a:t>
                      </a:r>
                      <a:endParaRPr lang="en-US" dirty="0"/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2277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D_Sun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z_Sun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x Module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25301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D_Planets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D_Ring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/2) – (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D_Sun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/2)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7281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D_Ring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z_Ring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x Module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695739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Gap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D_Sun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+ 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D_Planets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 * Pi / (No. of Planets) - 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D_Planets</a:t>
                      </a:r>
                      <a:endParaRPr lang="en-US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38154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94D3348-8AE7-245F-A73B-E302A5F24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958797"/>
              </p:ext>
            </p:extLst>
          </p:nvPr>
        </p:nvGraphicFramePr>
        <p:xfrm>
          <a:off x="5947733" y="1622934"/>
          <a:ext cx="4667250" cy="332329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33625">
                  <a:extLst>
                    <a:ext uri="{9D8B030D-6E8A-4147-A177-3AD203B41FA5}">
                      <a16:colId xmlns:a16="http://schemas.microsoft.com/office/drawing/2014/main" val="49009956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1234642766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Face Width</a:t>
                      </a:r>
                      <a:endParaRPr lang="en-IN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193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10 x Module</a:t>
                      </a:r>
                      <a:endParaRPr lang="en-IN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193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591314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Tooth Depth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193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2.25 x Module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193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610625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n_Ring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0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27974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n_Planet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 Carrier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10.12 rpm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52754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n_Sun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(1-i_1) x 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n_Planet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 Carrier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82744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i_Sun,Planet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z_Planet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 / 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z_Sun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119220"/>
                  </a:ext>
                </a:extLst>
              </a:tr>
              <a:tr h="52294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n_Planet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n_Sun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 / 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i_Sun,Planet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096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709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CA489-E730-C38B-1673-A74574B2F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F71F6DB6-CFD1-8513-D431-0890CA55CB3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E9612B36-4A90-BE26-5C1F-B2C6A1B03A49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6ACEABC4-8528-759B-1231-BF783ACBB723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7ECF46C-DA95-B304-2358-C89C7AD26F5B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D6E70D-A51C-D75A-EE3A-2F064F1EF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7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AE188D-B3A8-D475-DFF0-3500985A1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400" b="1" dirty="0">
                <a:latin typeface="Times New Roman"/>
                <a:cs typeface="Times New Roman"/>
              </a:rPr>
              <a:t>Updated </a:t>
            </a:r>
            <a:r>
              <a:rPr lang="de-DE" sz="2400" b="1" err="1">
                <a:latin typeface="Times New Roman"/>
                <a:cs typeface="Times New Roman"/>
              </a:rPr>
              <a:t>Calculation</a:t>
            </a:r>
            <a:r>
              <a:rPr lang="de-DE" sz="2400" b="1" dirty="0">
                <a:latin typeface="Times New Roman"/>
                <a:cs typeface="Times New Roman"/>
              </a:rPr>
              <a:t> </a:t>
            </a:r>
            <a:r>
              <a:rPr lang="de-DE" sz="2400" b="1" err="1">
                <a:latin typeface="Times New Roman"/>
                <a:cs typeface="Times New Roman"/>
              </a:rPr>
              <a:t>for</a:t>
            </a:r>
            <a:r>
              <a:rPr lang="de-DE" sz="2400" b="1" dirty="0">
                <a:latin typeface="Times New Roman"/>
                <a:cs typeface="Times New Roman"/>
              </a:rPr>
              <a:t> 1st </a:t>
            </a:r>
            <a:r>
              <a:rPr lang="de-DE" sz="2400" b="1" err="1">
                <a:latin typeface="Times New Roman"/>
                <a:cs typeface="Times New Roman"/>
              </a:rPr>
              <a:t>stage</a:t>
            </a:r>
            <a:r>
              <a:rPr lang="de-DE" sz="2400" b="1" dirty="0">
                <a:latin typeface="Times New Roman"/>
                <a:cs typeface="Times New Roman"/>
              </a:rPr>
              <a:t> </a:t>
            </a:r>
            <a:r>
              <a:rPr lang="de-DE" sz="2400" b="1" err="1">
                <a:latin typeface="Times New Roman"/>
                <a:cs typeface="Times New Roman"/>
              </a:rPr>
              <a:t>of</a:t>
            </a:r>
            <a:r>
              <a:rPr lang="de-DE" sz="2400" b="1" dirty="0">
                <a:latin typeface="Times New Roman"/>
                <a:cs typeface="Times New Roman"/>
              </a:rPr>
              <a:t> </a:t>
            </a:r>
            <a:r>
              <a:rPr lang="de-DE" sz="2400" b="1" err="1">
                <a:latin typeface="Times New Roman"/>
                <a:cs typeface="Times New Roman"/>
              </a:rPr>
              <a:t>planetary</a:t>
            </a:r>
            <a:endParaRPr lang="de-DE" sz="2400" b="1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CC0A95-C0FF-7350-9F98-241EF26C1C80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04C6A064-AAB6-1B86-6380-0404D5956042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27F5CEDF-26A8-6565-6DD1-B130B944A3A1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11-11-2025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64EAD-ED1E-0B7D-1896-D580C88325CD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800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E948E1-C67E-8C53-A47C-64D54D645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77398"/>
              </p:ext>
            </p:extLst>
          </p:nvPr>
        </p:nvGraphicFramePr>
        <p:xfrm>
          <a:off x="330679" y="2329132"/>
          <a:ext cx="4806868" cy="4043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434">
                  <a:extLst>
                    <a:ext uri="{9D8B030D-6E8A-4147-A177-3AD203B41FA5}">
                      <a16:colId xmlns:a16="http://schemas.microsoft.com/office/drawing/2014/main" val="2137841670"/>
                    </a:ext>
                  </a:extLst>
                </a:gridCol>
                <a:gridCol w="2403434">
                  <a:extLst>
                    <a:ext uri="{9D8B030D-6E8A-4147-A177-3AD203B41FA5}">
                      <a16:colId xmlns:a16="http://schemas.microsoft.com/office/drawing/2014/main" val="4041340718"/>
                    </a:ext>
                  </a:extLst>
                </a:gridCol>
              </a:tblGrid>
              <a:tr h="49486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/>
                        </a:rPr>
                        <a:t>Module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860953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z_Sun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7905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z_Ring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09989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z_Planet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352314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No. of Planets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919976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(z_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S</a:t>
                      </a:r>
                      <a:r>
                        <a:rPr lang="pl-PL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un</a:t>
                      </a: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 + z_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R</a:t>
                      </a:r>
                      <a:r>
                        <a:rPr lang="pl-PL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ing</a:t>
                      </a: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)/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N</a:t>
                      </a: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o.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 of</a:t>
                      </a: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 </a:t>
                      </a:r>
                      <a:r>
                        <a:rPr lang="pl-PL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Planets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103900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Tooth Depth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09512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D_Sun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 (mm)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640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52571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73D7350-851D-A0E6-75B2-3F7FDAAAE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204385"/>
              </p:ext>
            </p:extLst>
          </p:nvPr>
        </p:nvGraphicFramePr>
        <p:xfrm>
          <a:off x="372661" y="1383734"/>
          <a:ext cx="4732160" cy="870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080">
                  <a:extLst>
                    <a:ext uri="{9D8B030D-6E8A-4147-A177-3AD203B41FA5}">
                      <a16:colId xmlns:a16="http://schemas.microsoft.com/office/drawing/2014/main" val="3745700448"/>
                    </a:ext>
                  </a:extLst>
                </a:gridCol>
                <a:gridCol w="2366080">
                  <a:extLst>
                    <a:ext uri="{9D8B030D-6E8A-4147-A177-3AD203B41FA5}">
                      <a16:colId xmlns:a16="http://schemas.microsoft.com/office/drawing/2014/main" val="3054481029"/>
                    </a:ext>
                  </a:extLst>
                </a:gridCol>
              </a:tblGrid>
              <a:tr h="87031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I-1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5.2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611000"/>
                  </a:ext>
                </a:extLst>
              </a:tr>
            </a:tbl>
          </a:graphicData>
        </a:graphic>
      </p:graphicFrame>
      <p:sp>
        <p:nvSpPr>
          <p:cNvPr id="15" name="TextBox 12">
            <a:extLst>
              <a:ext uri="{FF2B5EF4-FFF2-40B4-BE49-F238E27FC236}">
                <a16:creationId xmlns:a16="http://schemas.microsoft.com/office/drawing/2014/main" id="{891681F1-19DD-4D38-8668-56539A2E55A4}"/>
              </a:ext>
            </a:extLst>
          </p:cNvPr>
          <p:cNvSpPr txBox="1"/>
          <p:nvPr/>
        </p:nvSpPr>
        <p:spPr>
          <a:xfrm>
            <a:off x="3051617" y="6282850"/>
            <a:ext cx="68517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Times New Roman"/>
                <a:cs typeface="Times New Roman"/>
              </a:rPr>
              <a:t>Reference: Lecture Notes by Prof. Peter Quell and </a:t>
            </a:r>
            <a:r>
              <a:rPr lang="en-IN" sz="1600" err="1">
                <a:latin typeface="Times New Roman"/>
                <a:cs typeface="Times New Roman"/>
              </a:rPr>
              <a:t>PSGdesign</a:t>
            </a:r>
            <a:r>
              <a:rPr lang="en-IN" sz="1600" dirty="0">
                <a:latin typeface="Times New Roman"/>
                <a:cs typeface="Times New Roman"/>
              </a:rPr>
              <a:t> book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A84101F-95A9-40D8-1B7D-1A02FF66C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917019"/>
              </p:ext>
            </p:extLst>
          </p:nvPr>
        </p:nvGraphicFramePr>
        <p:xfrm>
          <a:off x="6626811" y="1383733"/>
          <a:ext cx="4732160" cy="866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080">
                  <a:extLst>
                    <a:ext uri="{9D8B030D-6E8A-4147-A177-3AD203B41FA5}">
                      <a16:colId xmlns:a16="http://schemas.microsoft.com/office/drawing/2014/main" val="3745700448"/>
                    </a:ext>
                  </a:extLst>
                </a:gridCol>
                <a:gridCol w="2366080">
                  <a:extLst>
                    <a:ext uri="{9D8B030D-6E8A-4147-A177-3AD203B41FA5}">
                      <a16:colId xmlns:a16="http://schemas.microsoft.com/office/drawing/2014/main" val="3054481029"/>
                    </a:ext>
                  </a:extLst>
                </a:gridCol>
              </a:tblGrid>
              <a:tr h="86658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1" i="0" u="none" strike="noStrike" noProof="0" err="1">
                          <a:solidFill>
                            <a:schemeClr val="bg1"/>
                          </a:solidFill>
                          <a:latin typeface="Times New Roman"/>
                        </a:rPr>
                        <a:t>D_Planets</a:t>
                      </a:r>
                      <a:r>
                        <a:rPr lang="en-IN" sz="1800" b="1" i="0" u="none" strike="noStrike" noProof="0" dirty="0">
                          <a:solidFill>
                            <a:schemeClr val="bg1"/>
                          </a:solidFill>
                          <a:latin typeface="Times New Roman"/>
                        </a:rPr>
                        <a:t> (mm)</a:t>
                      </a:r>
                      <a:endParaRPr lang="en-US" sz="1800" b="1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720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611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F99B5B3-B7FA-0B89-0BD4-759AE5E48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263119"/>
              </p:ext>
            </p:extLst>
          </p:nvPr>
        </p:nvGraphicFramePr>
        <p:xfrm>
          <a:off x="6613584" y="2329132"/>
          <a:ext cx="4808962" cy="395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529">
                  <a:extLst>
                    <a:ext uri="{9D8B030D-6E8A-4147-A177-3AD203B41FA5}">
                      <a16:colId xmlns:a16="http://schemas.microsoft.com/office/drawing/2014/main" val="2137841670"/>
                    </a:ext>
                  </a:extLst>
                </a:gridCol>
                <a:gridCol w="2403433">
                  <a:extLst>
                    <a:ext uri="{9D8B030D-6E8A-4147-A177-3AD203B41FA5}">
                      <a16:colId xmlns:a16="http://schemas.microsoft.com/office/drawing/2014/main" val="4041340718"/>
                    </a:ext>
                  </a:extLst>
                </a:gridCol>
              </a:tblGrid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 err="1">
                          <a:solidFill>
                            <a:schemeClr val="bg1"/>
                          </a:solidFill>
                          <a:latin typeface="Times New Roman"/>
                        </a:rPr>
                        <a:t>D_Ring</a:t>
                      </a:r>
                      <a:r>
                        <a:rPr lang="en-US" sz="1600" b="1" i="0" u="none" strike="noStrike" noProof="0" dirty="0">
                          <a:solidFill>
                            <a:schemeClr val="bg1"/>
                          </a:solidFill>
                          <a:latin typeface="Times New Roman"/>
                        </a:rPr>
                        <a:t> (mm)</a:t>
                      </a:r>
                      <a:endParaRPr lang="en-US" sz="1600" b="1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2080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860953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Gap (mm)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694.4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7905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Face Width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09989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n_Ring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(rpm)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352314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n_Planet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Carrier (rpm)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10.12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919976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n_Sun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(rpm)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42.50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103900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i_Sun,Planet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09512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n_Planet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(rpm)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40.62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525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813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0EF25-F77B-6BE4-BBE4-F471C13DE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BF528FB-1E91-97F5-8CF5-E26431E1ACC8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B8AE5CC3-0F85-D3E9-E1A0-9A5F5CF54BE6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BE62060B-DF47-56AD-D623-6508A96FB218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2076DCD-8FBC-C35B-7DD6-9AE68BDEF42C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496C440-D4A2-CE7F-B105-72233925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8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B954A8-4E91-ABFC-2D56-D555AAE79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400" dirty="0">
                <a:latin typeface="Times New Roman"/>
                <a:cs typeface="Times New Roman"/>
              </a:rPr>
              <a:t>Updated </a:t>
            </a:r>
            <a:r>
              <a:rPr lang="de-DE" sz="2400" dirty="0" err="1">
                <a:latin typeface="Times New Roman"/>
                <a:cs typeface="Times New Roman"/>
              </a:rPr>
              <a:t>Calculation</a:t>
            </a:r>
            <a:r>
              <a:rPr lang="de-DE" sz="2400" dirty="0">
                <a:latin typeface="Times New Roman"/>
                <a:cs typeface="Times New Roman"/>
              </a:rPr>
              <a:t> </a:t>
            </a:r>
            <a:r>
              <a:rPr lang="de-DE" sz="2400" dirty="0" err="1">
                <a:latin typeface="Times New Roman"/>
                <a:cs typeface="Times New Roman"/>
              </a:rPr>
              <a:t>for</a:t>
            </a:r>
            <a:r>
              <a:rPr lang="de-DE" sz="2400" dirty="0">
                <a:latin typeface="Times New Roman"/>
                <a:cs typeface="Times New Roman"/>
              </a:rPr>
              <a:t> 2nd </a:t>
            </a:r>
            <a:r>
              <a:rPr lang="de-DE" sz="2400" dirty="0" err="1">
                <a:latin typeface="Times New Roman"/>
                <a:cs typeface="Times New Roman"/>
              </a:rPr>
              <a:t>stage</a:t>
            </a:r>
            <a:r>
              <a:rPr lang="de-DE" sz="2400" dirty="0">
                <a:latin typeface="Times New Roman"/>
                <a:cs typeface="Times New Roman"/>
              </a:rPr>
              <a:t> </a:t>
            </a:r>
            <a:r>
              <a:rPr lang="de-DE" sz="2400" dirty="0" err="1">
                <a:latin typeface="Times New Roman"/>
                <a:cs typeface="Times New Roman"/>
              </a:rPr>
              <a:t>of</a:t>
            </a:r>
            <a:r>
              <a:rPr lang="de-DE" sz="2400" dirty="0">
                <a:latin typeface="Times New Roman"/>
                <a:cs typeface="Times New Roman"/>
              </a:rPr>
              <a:t> </a:t>
            </a:r>
            <a:r>
              <a:rPr lang="de-DE" sz="2400" dirty="0" err="1">
                <a:latin typeface="Times New Roman"/>
                <a:cs typeface="Times New Roman"/>
              </a:rPr>
              <a:t>planetary</a:t>
            </a:r>
            <a:endParaRPr lang="en-US" dirty="0" err="1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BD80ED-6864-6039-11CC-9981DB4F4DFC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9CE2403C-DBC4-E8DB-4C71-CE46CA0B69D9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176BADCD-9740-D145-4CDF-D00B39A5BDE9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11-11-2025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D148E-FD5A-6534-8DB3-479A92C12DB6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800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15E3C2-BD61-7B53-EB3D-0227DB638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260355"/>
              </p:ext>
            </p:extLst>
          </p:nvPr>
        </p:nvGraphicFramePr>
        <p:xfrm>
          <a:off x="330679" y="2329132"/>
          <a:ext cx="4806868" cy="4043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434">
                  <a:extLst>
                    <a:ext uri="{9D8B030D-6E8A-4147-A177-3AD203B41FA5}">
                      <a16:colId xmlns:a16="http://schemas.microsoft.com/office/drawing/2014/main" val="2137841670"/>
                    </a:ext>
                  </a:extLst>
                </a:gridCol>
                <a:gridCol w="2403434">
                  <a:extLst>
                    <a:ext uri="{9D8B030D-6E8A-4147-A177-3AD203B41FA5}">
                      <a16:colId xmlns:a16="http://schemas.microsoft.com/office/drawing/2014/main" val="4041340718"/>
                    </a:ext>
                  </a:extLst>
                </a:gridCol>
              </a:tblGrid>
              <a:tr h="49486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/>
                        </a:rPr>
                        <a:t>Module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860953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z_Sun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7905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z_Ring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09989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z_Planet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352314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No. of Planets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919976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(z_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S</a:t>
                      </a:r>
                      <a:r>
                        <a:rPr lang="pl-PL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un</a:t>
                      </a: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 + z_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R</a:t>
                      </a:r>
                      <a:r>
                        <a:rPr lang="pl-PL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ing</a:t>
                      </a: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)/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N</a:t>
                      </a: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o.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 of</a:t>
                      </a: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 </a:t>
                      </a:r>
                      <a:r>
                        <a:rPr lang="pl-PL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Planets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103900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Tooth Depth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20.25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09512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D_Sun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 (mm)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52571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5F7F7E-C687-F15F-0A93-4C21F5B1E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038659"/>
              </p:ext>
            </p:extLst>
          </p:nvPr>
        </p:nvGraphicFramePr>
        <p:xfrm>
          <a:off x="372661" y="1383734"/>
          <a:ext cx="4732160" cy="870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080">
                  <a:extLst>
                    <a:ext uri="{9D8B030D-6E8A-4147-A177-3AD203B41FA5}">
                      <a16:colId xmlns:a16="http://schemas.microsoft.com/office/drawing/2014/main" val="3745700448"/>
                    </a:ext>
                  </a:extLst>
                </a:gridCol>
                <a:gridCol w="2366080">
                  <a:extLst>
                    <a:ext uri="{9D8B030D-6E8A-4147-A177-3AD203B41FA5}">
                      <a16:colId xmlns:a16="http://schemas.microsoft.com/office/drawing/2014/main" val="3054481029"/>
                    </a:ext>
                  </a:extLst>
                </a:gridCol>
              </a:tblGrid>
              <a:tr h="87031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I-2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4.7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611000"/>
                  </a:ext>
                </a:extLst>
              </a:tr>
            </a:tbl>
          </a:graphicData>
        </a:graphic>
      </p:graphicFrame>
      <p:sp>
        <p:nvSpPr>
          <p:cNvPr id="15" name="TextBox 12">
            <a:extLst>
              <a:ext uri="{FF2B5EF4-FFF2-40B4-BE49-F238E27FC236}">
                <a16:creationId xmlns:a16="http://schemas.microsoft.com/office/drawing/2014/main" id="{4ED521A0-47A7-195B-6CD1-B58FA65546BD}"/>
              </a:ext>
            </a:extLst>
          </p:cNvPr>
          <p:cNvSpPr txBox="1"/>
          <p:nvPr/>
        </p:nvSpPr>
        <p:spPr>
          <a:xfrm>
            <a:off x="3051617" y="6282850"/>
            <a:ext cx="68517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Times New Roman"/>
                <a:cs typeface="Times New Roman"/>
              </a:rPr>
              <a:t>Reference: Lecture Notes by Prof. Peter Quell and </a:t>
            </a:r>
            <a:r>
              <a:rPr lang="en-IN" sz="1600" err="1">
                <a:latin typeface="Times New Roman"/>
                <a:cs typeface="Times New Roman"/>
              </a:rPr>
              <a:t>PSGdesign</a:t>
            </a:r>
            <a:r>
              <a:rPr lang="en-IN" sz="1600" dirty="0">
                <a:latin typeface="Times New Roman"/>
                <a:cs typeface="Times New Roman"/>
              </a:rPr>
              <a:t> book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1D17AF2-2B1E-C01F-581E-9C5C58631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59194"/>
              </p:ext>
            </p:extLst>
          </p:nvPr>
        </p:nvGraphicFramePr>
        <p:xfrm>
          <a:off x="6626811" y="1383733"/>
          <a:ext cx="4732160" cy="866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080">
                  <a:extLst>
                    <a:ext uri="{9D8B030D-6E8A-4147-A177-3AD203B41FA5}">
                      <a16:colId xmlns:a16="http://schemas.microsoft.com/office/drawing/2014/main" val="3745700448"/>
                    </a:ext>
                  </a:extLst>
                </a:gridCol>
                <a:gridCol w="2366080">
                  <a:extLst>
                    <a:ext uri="{9D8B030D-6E8A-4147-A177-3AD203B41FA5}">
                      <a16:colId xmlns:a16="http://schemas.microsoft.com/office/drawing/2014/main" val="3054481029"/>
                    </a:ext>
                  </a:extLst>
                </a:gridCol>
              </a:tblGrid>
              <a:tr h="86658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1" i="0" u="none" strike="noStrike" noProof="0" err="1">
                          <a:solidFill>
                            <a:schemeClr val="bg1"/>
                          </a:solidFill>
                          <a:latin typeface="Times New Roman"/>
                        </a:rPr>
                        <a:t>D_Planets</a:t>
                      </a:r>
                      <a:r>
                        <a:rPr lang="en-IN" sz="1800" b="1" i="0" u="none" strike="noStrike" noProof="0" dirty="0">
                          <a:solidFill>
                            <a:schemeClr val="bg1"/>
                          </a:solidFill>
                          <a:latin typeface="Times New Roman"/>
                        </a:rPr>
                        <a:t> (mm)</a:t>
                      </a:r>
                      <a:endParaRPr lang="en-US" sz="1800" b="1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270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611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0A3F2C6-0521-CC1B-F9DC-A8779AB50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848904"/>
              </p:ext>
            </p:extLst>
          </p:nvPr>
        </p:nvGraphicFramePr>
        <p:xfrm>
          <a:off x="6627961" y="2329131"/>
          <a:ext cx="4806866" cy="395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433">
                  <a:extLst>
                    <a:ext uri="{9D8B030D-6E8A-4147-A177-3AD203B41FA5}">
                      <a16:colId xmlns:a16="http://schemas.microsoft.com/office/drawing/2014/main" val="2137841670"/>
                    </a:ext>
                  </a:extLst>
                </a:gridCol>
                <a:gridCol w="2403433">
                  <a:extLst>
                    <a:ext uri="{9D8B030D-6E8A-4147-A177-3AD203B41FA5}">
                      <a16:colId xmlns:a16="http://schemas.microsoft.com/office/drawing/2014/main" val="4041340718"/>
                    </a:ext>
                  </a:extLst>
                </a:gridCol>
              </a:tblGrid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 err="1">
                          <a:solidFill>
                            <a:schemeClr val="bg1"/>
                          </a:solidFill>
                          <a:latin typeface="Times New Roman"/>
                        </a:rPr>
                        <a:t>D_Ring</a:t>
                      </a:r>
                      <a:r>
                        <a:rPr lang="en-US" sz="1600" b="1" i="0" u="none" strike="noStrike" noProof="0" dirty="0">
                          <a:solidFill>
                            <a:schemeClr val="bg1"/>
                          </a:solidFill>
                          <a:latin typeface="Times New Roman"/>
                        </a:rPr>
                        <a:t> (mm)</a:t>
                      </a:r>
                      <a:endParaRPr lang="en-US" sz="1600" b="1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860953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Gap (mm)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137.25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7905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Face Width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09989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n_Ring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(rpm)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352314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n_Planet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Carrier (rpm)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78.4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919976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n_Sun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(rpm)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516.56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103900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i_Sun,Planet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09512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n_Planet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(rpm)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688.74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525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68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E592B-A808-5CC6-4995-DA5950992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D205F7-2858-6C1E-0F02-89F20B147930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444807DC-5362-A6CD-6869-FC4B2825281E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0250385-F411-15FC-8B98-031BA8FB938F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7D32871-C2B4-ED41-E285-40157A8030C1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FD6636F-FC26-E004-D2E1-27C6D0D9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9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7F38159-DC58-43DB-89D4-69FE05585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400" dirty="0">
                <a:latin typeface="Times New Roman"/>
                <a:cs typeface="Times New Roman"/>
              </a:rPr>
              <a:t>Spur </a:t>
            </a:r>
            <a:r>
              <a:rPr lang="de-DE" sz="2400" dirty="0" err="1">
                <a:latin typeface="Times New Roman"/>
                <a:cs typeface="Times New Roman"/>
              </a:rPr>
              <a:t>gear</a:t>
            </a:r>
            <a:r>
              <a:rPr lang="de-DE" sz="2400" dirty="0">
                <a:latin typeface="Times New Roman"/>
                <a:cs typeface="Times New Roman"/>
              </a:rPr>
              <a:t> </a:t>
            </a:r>
            <a:r>
              <a:rPr lang="de-DE" sz="2400" dirty="0" err="1">
                <a:latin typeface="Times New Roman"/>
                <a:cs typeface="Times New Roman"/>
              </a:rPr>
              <a:t>stage</a:t>
            </a:r>
            <a:r>
              <a:rPr lang="de-DE" sz="2400" dirty="0">
                <a:latin typeface="Times New Roman"/>
                <a:cs typeface="Times New Roman"/>
              </a:rPr>
              <a:t> </a:t>
            </a:r>
            <a:r>
              <a:rPr lang="de-DE" sz="2400" dirty="0" err="1">
                <a:latin typeface="Times New Roman"/>
                <a:cs typeface="Times New Roman"/>
              </a:rPr>
              <a:t>calculation</a:t>
            </a:r>
            <a:endParaRPr lang="de-DE" sz="2400" dirty="0" err="1">
              <a:latin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91226D-1F36-549D-02B8-3BCC092D0041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7404C9AE-873A-0667-40CB-CEBF4D054075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50E75D59-A11A-CDCE-624E-424D2DFCB833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11-11-2025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9555A-5C64-8E1B-0573-E42F1B58B99A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3B2557-A714-E5E2-2822-CC43269E4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448824"/>
              </p:ext>
            </p:extLst>
          </p:nvPr>
        </p:nvGraphicFramePr>
        <p:xfrm>
          <a:off x="359433" y="1394603"/>
          <a:ext cx="4911454" cy="490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5727">
                  <a:extLst>
                    <a:ext uri="{9D8B030D-6E8A-4147-A177-3AD203B41FA5}">
                      <a16:colId xmlns:a16="http://schemas.microsoft.com/office/drawing/2014/main" val="3901863023"/>
                    </a:ext>
                  </a:extLst>
                </a:gridCol>
                <a:gridCol w="2455727">
                  <a:extLst>
                    <a:ext uri="{9D8B030D-6E8A-4147-A177-3AD203B41FA5}">
                      <a16:colId xmlns:a16="http://schemas.microsoft.com/office/drawing/2014/main" val="1225176775"/>
                    </a:ext>
                  </a:extLst>
                </a:gridCol>
              </a:tblGrid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I-3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4.8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401200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Module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98717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Center </a:t>
                      </a:r>
                      <a:r>
                        <a:rPr lang="en-US" b="1">
                          <a:latin typeface="Times New Roman"/>
                        </a:rPr>
                        <a:t>distance</a:t>
                      </a:r>
                      <a:r>
                        <a:rPr lang="en-US" b="1" dirty="0">
                          <a:latin typeface="Times New Roman"/>
                        </a:rPr>
                        <a:t>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585.8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411519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No of teeth on pinion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667561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err="1">
                          <a:latin typeface="Times New Roman"/>
                        </a:rPr>
                        <a:t>No.teeth</a:t>
                      </a:r>
                      <a:r>
                        <a:rPr lang="en-US" b="1" dirty="0">
                          <a:latin typeface="Times New Roman"/>
                        </a:rPr>
                        <a:t> on gear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701364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Width of the gear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204787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Hight factor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84122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Tooth depth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20.25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7649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36558E-F1A6-DD50-4616-303201B9D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888153"/>
              </p:ext>
            </p:extLst>
          </p:nvPr>
        </p:nvGraphicFramePr>
        <p:xfrm>
          <a:off x="6642338" y="1365847"/>
          <a:ext cx="4911454" cy="4933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5727">
                  <a:extLst>
                    <a:ext uri="{9D8B030D-6E8A-4147-A177-3AD203B41FA5}">
                      <a16:colId xmlns:a16="http://schemas.microsoft.com/office/drawing/2014/main" val="3901863023"/>
                    </a:ext>
                  </a:extLst>
                </a:gridCol>
                <a:gridCol w="2455727">
                  <a:extLst>
                    <a:ext uri="{9D8B030D-6E8A-4147-A177-3AD203B41FA5}">
                      <a16:colId xmlns:a16="http://schemas.microsoft.com/office/drawing/2014/main" val="1225176775"/>
                    </a:ext>
                  </a:extLst>
                </a:gridCol>
              </a:tblGrid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Bottom clearance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2.25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401200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Dia of input shaft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98717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Dia of output shaft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411519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PCD of pinion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972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667561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PCD of gear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701364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Face 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204787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Input shaft rpm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516.56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84122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Output shaft rpm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7649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B938CCB-4B15-8C0F-59CC-6B8BB9B2EF39}"/>
              </a:ext>
            </a:extLst>
          </p:cNvPr>
          <p:cNvSpPr txBox="1"/>
          <p:nvPr/>
        </p:nvSpPr>
        <p:spPr>
          <a:xfrm>
            <a:off x="3051617" y="6282850"/>
            <a:ext cx="68517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Times New Roman"/>
                <a:cs typeface="Times New Roman"/>
              </a:rPr>
              <a:t>Reference: Lecture Notes by Prof. Peter Quell and </a:t>
            </a:r>
            <a:r>
              <a:rPr lang="en-IN" sz="1600" err="1">
                <a:latin typeface="Times New Roman"/>
                <a:cs typeface="Times New Roman"/>
              </a:rPr>
              <a:t>PSGdesign</a:t>
            </a:r>
            <a:r>
              <a:rPr lang="en-IN" sz="1600" dirty="0">
                <a:latin typeface="Times New Roman"/>
                <a:cs typeface="Times New Roman"/>
              </a:rPr>
              <a:t> book</a:t>
            </a:r>
          </a:p>
        </p:txBody>
      </p:sp>
    </p:spTree>
    <p:extLst>
      <p:ext uri="{BB962C8B-B14F-4D97-AF65-F5344CB8AC3E}">
        <p14:creationId xmlns:p14="http://schemas.microsoft.com/office/powerpoint/2010/main" val="1660031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ABB16-4CC4-AE85-3211-DD2E5856D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CE8764E5-E4CC-52A0-832A-DF0031EA8CA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B8FD286B-8326-FB13-2533-88DF00F4E96E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1B473804-BE40-FC64-3A89-91779EF848D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60EED3D-75B1-33B3-0A9C-4786F878DE2F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BDF6113-C3CC-44BC-0E44-DC1588C92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10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9771931-2D71-76EC-C8A3-BC04ADEDA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en-GB" sz="2800" dirty="0">
                <a:latin typeface="Times New Roman"/>
                <a:ea typeface="+mj-lt"/>
                <a:cs typeface="+mj-lt"/>
              </a:rPr>
              <a:t>Direct Bolted Flange Connection – LSS gearbox and main shaft</a:t>
            </a:r>
            <a:endParaRPr lang="en-US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E91795-ECDD-6ABF-2B14-3D125F8E36B2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F095D452-0284-49CD-0EFD-FBA01E448934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9A6D2187-2238-F9BF-F756-D2259050C77F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11-11-2025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73368-5D8F-EA56-3B12-F45010D98EED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dirty="0">
              <a:latin typeface="Times New Roman"/>
              <a:cs typeface="Times New Roman"/>
            </a:endParaRPr>
          </a:p>
          <a:p>
            <a:endParaRPr lang="en-GB" sz="1800" dirty="0">
              <a:latin typeface="Times New Roman"/>
              <a:cs typeface="Times New Roman"/>
            </a:endParaRPr>
          </a:p>
          <a:p>
            <a:endParaRPr lang="en-GB" sz="1800" dirty="0">
              <a:latin typeface="Times New Roman"/>
              <a:cs typeface="Times New Roman"/>
            </a:endParaRPr>
          </a:p>
          <a:p>
            <a:endParaRPr lang="en-GB" sz="1800" dirty="0">
              <a:latin typeface="Times New Roman"/>
              <a:cs typeface="Times New Roman"/>
            </a:endParaRPr>
          </a:p>
          <a:p>
            <a:endParaRPr lang="en-GB" sz="1800" dirty="0">
              <a:latin typeface="Times New Roman"/>
              <a:cs typeface="Times New Roman"/>
            </a:endParaRPr>
          </a:p>
          <a:p>
            <a:endParaRPr lang="en-GB" sz="1800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pic>
        <p:nvPicPr>
          <p:cNvPr id="13" name="Picture 12" descr="A diagram of a mechanical part&#10;&#10;AI-generated content may be incorrect.">
            <a:extLst>
              <a:ext uri="{FF2B5EF4-FFF2-40B4-BE49-F238E27FC236}">
                <a16:creationId xmlns:a16="http://schemas.microsoft.com/office/drawing/2014/main" id="{A7FD3563-016B-D2DB-AF4B-1431C6327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25" y="1384989"/>
            <a:ext cx="11225840" cy="40736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377E3DF-4BB6-F8D9-CD25-FF69CAABB782}"/>
              </a:ext>
            </a:extLst>
          </p:cNvPr>
          <p:cNvSpPr txBox="1"/>
          <p:nvPr/>
        </p:nvSpPr>
        <p:spPr>
          <a:xfrm>
            <a:off x="3051617" y="6282850"/>
            <a:ext cx="68517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Times New Roman"/>
                <a:cs typeface="Times New Roman"/>
              </a:rPr>
              <a:t>Reference: Optimus Shakti</a:t>
            </a:r>
          </a:p>
        </p:txBody>
      </p:sp>
    </p:spTree>
    <p:extLst>
      <p:ext uri="{BB962C8B-B14F-4D97-AF65-F5344CB8AC3E}">
        <p14:creationId xmlns:p14="http://schemas.microsoft.com/office/powerpoint/2010/main" val="2720181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9DB2-1C60-2A59-656D-A5B74C9C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28A9E759-5D36-7577-1B72-EEFA19D202C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DF2E086-1F77-7ADA-A072-C1020548044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16784C5A-545D-7FC3-0803-92836236CBE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F48FE32-30A8-91E8-073B-1CE94513A3C5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2C03B4-4368-B8A0-5078-A33BA60C0D0C}"/>
              </a:ext>
            </a:extLst>
          </p:cNvPr>
          <p:cNvSpPr txBox="1"/>
          <p:nvPr/>
        </p:nvSpPr>
        <p:spPr>
          <a:xfrm>
            <a:off x="473320" y="1376739"/>
            <a:ext cx="11218984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Gearbox</a:t>
            </a:r>
          </a:p>
          <a:p>
            <a:r>
              <a:rPr lang="en-US" dirty="0">
                <a:latin typeface="Times New Roman"/>
                <a:cs typeface="Times New Roman"/>
              </a:rPr>
              <a:t>(1) Previous year Optimus projects 07-11-2025</a:t>
            </a:r>
          </a:p>
          <a:p>
            <a:r>
              <a:rPr lang="en-US" dirty="0">
                <a:latin typeface="Times New Roman"/>
                <a:cs typeface="Times New Roman"/>
              </a:rPr>
              <a:t>(2) </a:t>
            </a:r>
            <a:r>
              <a:rPr lang="en-IN" dirty="0">
                <a:solidFill>
                  <a:srgbClr val="202124"/>
                </a:solidFill>
                <a:latin typeface="Times New Roman"/>
                <a:ea typeface="Roboto"/>
                <a:cs typeface="Roboto"/>
              </a:rPr>
              <a:t>Roloff Matek </a:t>
            </a:r>
            <a:r>
              <a:rPr lang="en-IN" dirty="0" err="1">
                <a:solidFill>
                  <a:srgbClr val="202124"/>
                </a:solidFill>
                <a:latin typeface="Times New Roman"/>
                <a:ea typeface="Roboto"/>
                <a:cs typeface="Roboto"/>
              </a:rPr>
              <a:t>Maschinenelemente</a:t>
            </a:r>
            <a:r>
              <a:rPr lang="en-IN" dirty="0">
                <a:solidFill>
                  <a:srgbClr val="202124"/>
                </a:solidFill>
                <a:latin typeface="Times New Roman"/>
                <a:ea typeface="Roboto"/>
                <a:cs typeface="Roboto"/>
              </a:rPr>
              <a:t> 06-11-2025</a:t>
            </a:r>
          </a:p>
          <a:p>
            <a:r>
              <a:rPr lang="en-US" dirty="0">
                <a:latin typeface="Times New Roman"/>
                <a:cs typeface="Times New Roman"/>
              </a:rPr>
              <a:t>(3) Lecture notes – Mechanical drive train by </a:t>
            </a:r>
            <a:r>
              <a:rPr lang="en-US" dirty="0" err="1">
                <a:latin typeface="Times New Roman"/>
                <a:cs typeface="Times New Roman"/>
              </a:rPr>
              <a:t>Prof.Peter</a:t>
            </a:r>
            <a:r>
              <a:rPr lang="en-US" dirty="0">
                <a:latin typeface="Times New Roman"/>
                <a:cs typeface="Times New Roman"/>
              </a:rPr>
              <a:t> Quell.07-11-2025</a:t>
            </a:r>
          </a:p>
          <a:p>
            <a:r>
              <a:rPr lang="en-US" dirty="0">
                <a:latin typeface="Times New Roman"/>
                <a:cs typeface="Times New Roman"/>
              </a:rPr>
              <a:t>(4)</a:t>
            </a:r>
            <a:r>
              <a:rPr lang="en-US" dirty="0">
                <a:latin typeface="Times New Roman"/>
                <a:ea typeface="+mn-lt"/>
                <a:cs typeface="+mn-lt"/>
              </a:rPr>
              <a:t>Shigley's mechanical engineering design and PSG data book 08-11-2025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(5)thecatalystis</a:t>
            </a:r>
            <a:r>
              <a:rPr lang="en-US" dirty="0">
                <a:latin typeface="Times New Roman"/>
                <a:ea typeface="+mn-lt"/>
                <a:cs typeface="+mn-lt"/>
              </a:rPr>
              <a:t>.com website 09-11-2025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Coupling</a:t>
            </a:r>
          </a:p>
          <a:p>
            <a:r>
              <a:rPr lang="en-US" dirty="0">
                <a:latin typeface="Times New Roman"/>
                <a:cs typeface="Times New Roman"/>
              </a:rPr>
              <a:t>(1)Previous year Optimus project 07-11-2025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cs typeface="Times New Roman"/>
            </a:endParaRP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0213FB-EC9C-6767-58CC-49D609115B85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2540" y="145123"/>
            <a:ext cx="10515600" cy="1325563"/>
          </a:xfrm>
        </p:spPr>
        <p:txBody>
          <a:bodyPr/>
          <a:lstStyle/>
          <a:p>
            <a:r>
              <a:rPr lang="en-US" sz="2400">
                <a:latin typeface="Times New Roman"/>
                <a:cs typeface="Times New Roman"/>
              </a:rPr>
              <a:t>Bibliography</a:t>
            </a:r>
            <a:r>
              <a:rPr lang="en-US" sz="2400"/>
              <a:t>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00345E6-CF06-28DF-4FC1-25E3760C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1751" y="6542723"/>
            <a:ext cx="560384" cy="32199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11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" name="Rechteck 17">
            <a:extLst>
              <a:ext uri="{FF2B5EF4-FFF2-40B4-BE49-F238E27FC236}">
                <a16:creationId xmlns:a16="http://schemas.microsoft.com/office/drawing/2014/main" id="{A123406F-280E-0AE2-1CA5-076787BBFD2B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A10A1338-E7A7-5577-14B1-2D44C353F0BE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11-11-2025</a:t>
            </a:r>
          </a:p>
        </p:txBody>
      </p:sp>
    </p:spTree>
    <p:extLst>
      <p:ext uri="{BB962C8B-B14F-4D97-AF65-F5344CB8AC3E}">
        <p14:creationId xmlns:p14="http://schemas.microsoft.com/office/powerpoint/2010/main" val="1533939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Office Theme</vt:lpstr>
      <vt:lpstr>Custom Design</vt:lpstr>
      <vt:lpstr>PowerPoint Presentation</vt:lpstr>
      <vt:lpstr>Weekly report: Team Gearbox, Brake, Coupling </vt:lpstr>
      <vt:lpstr>List of Content</vt:lpstr>
      <vt:lpstr>Torque and rotational speed calculation for Rotor and Generator Updated</vt:lpstr>
      <vt:lpstr> </vt:lpstr>
      <vt:lpstr> Formulas for Planetary gear  </vt:lpstr>
      <vt:lpstr>Updated Calculation for 1st stage of planetary</vt:lpstr>
      <vt:lpstr>Updated Calculation for 2nd stage of planetary</vt:lpstr>
      <vt:lpstr>Spur gear stage calculation</vt:lpstr>
      <vt:lpstr>Direct Bolted Flange Connection – LSS gearbox and main shaft</vt:lpstr>
      <vt:lpstr>Bibliography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revision>2016</cp:revision>
  <dcterms:created xsi:type="dcterms:W3CDTF">2025-07-21T13:11:31Z</dcterms:created>
  <dcterms:modified xsi:type="dcterms:W3CDTF">2025-11-10T10:18:45Z</dcterms:modified>
</cp:coreProperties>
</file>