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23"/>
  </p:notesMasterIdLst>
  <p:sldIdLst>
    <p:sldId id="257" r:id="rId3"/>
    <p:sldId id="259" r:id="rId4"/>
    <p:sldId id="261" r:id="rId5"/>
    <p:sldId id="300" r:id="rId6"/>
    <p:sldId id="301" r:id="rId7"/>
    <p:sldId id="302" r:id="rId8"/>
    <p:sldId id="294" r:id="rId9"/>
    <p:sldId id="305" r:id="rId10"/>
    <p:sldId id="308" r:id="rId11"/>
    <p:sldId id="307" r:id="rId12"/>
    <p:sldId id="299" r:id="rId13"/>
    <p:sldId id="298" r:id="rId14"/>
    <p:sldId id="281" r:id="rId15"/>
    <p:sldId id="284" r:id="rId16"/>
    <p:sldId id="283" r:id="rId17"/>
    <p:sldId id="271" r:id="rId18"/>
    <p:sldId id="285" r:id="rId19"/>
    <p:sldId id="286" r:id="rId20"/>
    <p:sldId id="264" r:id="rId21"/>
    <p:sldId id="30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5" autoAdjust="0"/>
    <p:restoredTop sz="95036" autoAdjust="0"/>
  </p:normalViewPr>
  <p:slideViewPr>
    <p:cSldViewPr snapToGrid="0">
      <p:cViewPr>
        <p:scale>
          <a:sx n="66" d="100"/>
          <a:sy n="66" d="100"/>
        </p:scale>
        <p:origin x="1421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3C7D5-49C9-4310-99B0-74BF8F98F62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34A5A-C299-4527-A106-DBD1B288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23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4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032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662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574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2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6663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53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946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466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94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029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3209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7899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8053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1413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9885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55202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07005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8792-EDF0-A005-2CE2-24C261AC6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3DE22-B4B9-EA44-EF61-D733C53BE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3C22-FDA0-3E63-68DD-4A6E7DD4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4B19-AF55-A977-1451-9DC5DC1F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61A8-50FB-0E57-BC6B-11987F02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8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91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1956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20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11/11/2025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59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11/11/2025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519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5194/wes-8-149-2023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13D3613-1229-23C4-BBAC-0C4D5D552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6908"/>
            <a:ext cx="12192000" cy="912598"/>
          </a:xfrm>
        </p:spPr>
        <p:txBody>
          <a:bodyPr/>
          <a:lstStyle/>
          <a:p>
            <a:r>
              <a:rPr lang="en-US" noProof="0" dirty="0"/>
              <a:t>Weekly report: Feedback &amp; Lidar – Assisted Controller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11943A6-016A-175F-ED49-9090C8C30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noProof="0" dirty="0"/>
              <a:t>Week number: 07</a:t>
            </a:r>
          </a:p>
          <a:p>
            <a:r>
              <a:rPr lang="en-US" sz="2000" noProof="0" dirty="0"/>
              <a:t>Date: 11/11/2025</a:t>
            </a:r>
          </a:p>
          <a:p>
            <a:r>
              <a:rPr lang="en-US" sz="2000" noProof="0" dirty="0"/>
              <a:t>Supervisor: Prof. Dr.-Ing. David Schlipf</a:t>
            </a:r>
          </a:p>
          <a:p>
            <a:endParaRPr lang="en-US" sz="2000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D66077-75E8-B72F-9B4E-64E062858EC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982755" y="4653709"/>
            <a:ext cx="6226490" cy="758312"/>
          </a:xfrm>
        </p:spPr>
        <p:txBody>
          <a:bodyPr/>
          <a:lstStyle/>
          <a:p>
            <a:r>
              <a:rPr lang="en-US" noProof="0" dirty="0"/>
              <a:t>Group members: Mirza Dincer, Saurabh Pankaj Jha, Midhun </a:t>
            </a:r>
            <a:r>
              <a:rPr lang="en-US" noProof="0" dirty="0" err="1"/>
              <a:t>Kanichattu</a:t>
            </a:r>
            <a:r>
              <a:rPr lang="en-US" noProof="0" dirty="0"/>
              <a:t> Venu</a:t>
            </a:r>
          </a:p>
          <a:p>
            <a:r>
              <a:rPr lang="en-US" noProof="0" dirty="0"/>
              <a:t>Presenter: Midhun </a:t>
            </a:r>
            <a:r>
              <a:rPr lang="en-US" noProof="0" dirty="0" err="1"/>
              <a:t>Kanichattu</a:t>
            </a:r>
            <a:r>
              <a:rPr lang="en-US" noProof="0" dirty="0"/>
              <a:t> Venu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51974-AA80-93E7-DE29-6B240912C06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378A-4F01-6B30-CC0C-0D06C211A4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90F1C-B0AB-81E1-63B6-F10AE37370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6803"/>
            <a:ext cx="305597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11454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96C42-5C8A-4DF6-469E-AA02488B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  <a:p>
            <a:r>
              <a:rPr lang="en-US" noProof="0" dirty="0"/>
              <a:t>Use of Optimization method for IEA 3.4 MW</a:t>
            </a:r>
          </a:p>
          <a:p>
            <a:r>
              <a:rPr lang="en-US" noProof="0" dirty="0"/>
              <a:t>Results of Optimization method</a:t>
            </a:r>
          </a:p>
          <a:p>
            <a:r>
              <a:rPr lang="en-US" noProof="0" dirty="0"/>
              <a:t>Bladed Interface and Swap Array for Lidar Simulation</a:t>
            </a:r>
          </a:p>
          <a:p>
            <a:r>
              <a:rPr lang="en-US" noProof="0" dirty="0"/>
              <a:t>EOG Comparison Between Feedback Only and Feedback Feedforward</a:t>
            </a:r>
          </a:p>
          <a:p>
            <a:r>
              <a:rPr lang="en-US" noProof="0" dirty="0"/>
              <a:t>Conclusion</a:t>
            </a:r>
          </a:p>
          <a:p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E0BEDA-D340-0E86-7B6A-D958296C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List of 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26A6A-DC19-EFAF-AC42-F8701A3F5C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A55B5-D29A-D64C-52F3-986289E5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052D8F-1675-605E-CB1B-9CD5E63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B39CA5-143A-78A6-B398-AAF845BF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18398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776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D1F737-C9E5-D61C-802C-D8AA46A8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CE80E-4A9A-B819-E481-DA6D7AC2F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2112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/>
              <a:t>  Use the mapping optimization over DLC 1.2 for IEA 3.4 MW.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noProof="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/>
              <a:t> Understanding bladed interface and swap array for lidar simulation.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noProof="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/>
              <a:t> EOG simulation to compare feedback only control and feedback feedforward control.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noProof="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22DFD0-8551-3A05-D2F0-A2FEDE79CB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189547C-E522-4813-C302-A8977F7E796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04BE1C-7C80-B8F9-3A23-EBD96702EE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2FC9593-3854-FCA1-E2BE-010AAED06C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65699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324517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42A3-BA6F-6F11-9755-E9DAD9B55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Kp</a:t>
            </a:r>
            <a:r>
              <a:rPr lang="en-US" noProof="0" dirty="0"/>
              <a:t> and Ki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AFAB5-1412-D562-309F-A28CE96FC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noProof="0" dirty="0"/>
              <a:t>Starting point </a:t>
            </a:r>
            <a:r>
              <a:rPr lang="en-US" noProof="0" dirty="0"/>
              <a:t>(</a:t>
            </a:r>
            <a:r>
              <a:rPr lang="en-US" noProof="0" dirty="0" err="1"/>
              <a:t>Kp</a:t>
            </a:r>
            <a:r>
              <a:rPr lang="en-US" noProof="0" dirty="0"/>
              <a:t> = -12e-3 s, </a:t>
            </a:r>
            <a:r>
              <a:rPr lang="en-US" noProof="0" dirty="0" err="1"/>
              <a:t>Theta_k</a:t>
            </a:r>
            <a:r>
              <a:rPr lang="en-US" noProof="0" dirty="0"/>
              <a:t> = 6° ), is selected based on the original vector of IEA 3.4 MW. </a:t>
            </a:r>
            <a:r>
              <a:rPr lang="en-US" noProof="0" dirty="0" err="1"/>
              <a:t>Kp</a:t>
            </a:r>
            <a:r>
              <a:rPr lang="en-US" noProof="0" dirty="0"/>
              <a:t> is where theta = 0 in original vector, theta is equal to  where </a:t>
            </a:r>
            <a:r>
              <a:rPr lang="en-US" noProof="0" dirty="0" err="1"/>
              <a:t>Kp</a:t>
            </a:r>
            <a:r>
              <a:rPr lang="en-US" noProof="0" dirty="0"/>
              <a:t> is half of the selected point.</a:t>
            </a:r>
          </a:p>
          <a:p>
            <a:endParaRPr lang="en-US" noProof="0" dirty="0"/>
          </a:p>
          <a:p>
            <a:r>
              <a:rPr lang="en-US" b="1" noProof="0" dirty="0"/>
              <a:t>Based on the starting point, neighboring points will be decided</a:t>
            </a:r>
            <a:r>
              <a:rPr lang="en-US" noProof="0" dirty="0"/>
              <a:t>, and each point will be converted to vectors for input of ROSCO</a:t>
            </a:r>
          </a:p>
          <a:p>
            <a:r>
              <a:rPr lang="en-US" noProof="0" dirty="0" err="1"/>
              <a:t>Kp</a:t>
            </a:r>
            <a:r>
              <a:rPr lang="en-US" noProof="0" dirty="0"/>
              <a:t> = [-10e-3, -12e-3, -14e-3] , </a:t>
            </a:r>
            <a:r>
              <a:rPr lang="en-US" noProof="0" dirty="0" err="1"/>
              <a:t>theta_k</a:t>
            </a:r>
            <a:r>
              <a:rPr lang="en-US" noProof="0" dirty="0"/>
              <a:t> = [4, 6 ,8]</a:t>
            </a:r>
          </a:p>
          <a:p>
            <a:endParaRPr lang="en-US" noProof="0" dirty="0">
              <a:highlight>
                <a:srgbClr val="FFFF00"/>
              </a:highlight>
            </a:endParaRPr>
          </a:p>
          <a:p>
            <a:endParaRPr lang="en-US" noProof="0" dirty="0">
              <a:highlight>
                <a:srgbClr val="FFFF00"/>
              </a:highlight>
            </a:endParaRPr>
          </a:p>
          <a:p>
            <a:endParaRPr lang="en-US" noProof="0" dirty="0">
              <a:highlight>
                <a:srgbClr val="FFFF00"/>
              </a:highlight>
            </a:endParaRPr>
          </a:p>
          <a:p>
            <a:endParaRPr lang="en-US" noProof="0" dirty="0">
              <a:highlight>
                <a:srgbClr val="FFFF00"/>
              </a:highlight>
            </a:endParaRPr>
          </a:p>
          <a:p>
            <a:endParaRPr lang="en-US" noProof="0" dirty="0">
              <a:highlight>
                <a:srgbClr val="FFFF00"/>
              </a:highlight>
            </a:endParaRPr>
          </a:p>
          <a:p>
            <a:r>
              <a:rPr lang="en-US" noProof="0" dirty="0"/>
              <a:t>Ti equal to 1P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56D48-0CD2-D3D4-A89C-B67111CB35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A3E9-941D-2167-DBEC-62E5662CA12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2E4FA-7DDD-0C8D-1F24-EAFD58793C6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6493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5FC45-4931-5D80-7721-B778DE1AB0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4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428BE3-8A50-AAC3-D417-0F71D5F5E60E}"/>
                  </a:ext>
                </a:extLst>
              </p:cNvPr>
              <p:cNvSpPr txBox="1"/>
              <p:nvPr/>
            </p:nvSpPr>
            <p:spPr>
              <a:xfrm>
                <a:off x="838200" y="4001294"/>
                <a:ext cx="3737015" cy="14285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  <m:r>
                        <a:rPr lang="en-US" sz="2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sz="2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2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noProof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200" i="1" noProof="0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2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noProof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200" i="1" noProof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en-US" sz="2200" noProof="0" dirty="0"/>
              </a:p>
              <a:p>
                <a:endParaRPr lang="en-US" sz="2200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428BE3-8A50-AAC3-D417-0F71D5F5E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01294"/>
                <a:ext cx="3737015" cy="14285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65040B-C956-FA30-818C-A75FD3680311}"/>
                  </a:ext>
                </a:extLst>
              </p:cNvPr>
              <p:cNvSpPr txBox="1"/>
              <p:nvPr/>
            </p:nvSpPr>
            <p:spPr>
              <a:xfrm>
                <a:off x="4692936" y="4127051"/>
                <a:ext cx="1967265" cy="8844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  <m:r>
                        <a:rPr lang="en-US" sz="2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2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noProof="0" dirty="0"/>
              </a:p>
              <a:p>
                <a:endParaRPr lang="en-US" sz="1200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65040B-C956-FA30-818C-A75FD3680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936" y="4127051"/>
                <a:ext cx="1967265" cy="884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83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6736-CA32-3226-8405-953EBD17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Kp</a:t>
            </a:r>
            <a:r>
              <a:rPr lang="en-US" noProof="0" dirty="0"/>
              <a:t> Vectors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54BA813-949A-BC8D-C055-ACA037829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251" y="1027906"/>
            <a:ext cx="10929435" cy="543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36B7E-DF59-AC51-0133-B0FD70ED44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A545E-6E7B-AC8D-0342-65E4ABDCE41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25369-3DA8-3E50-CA34-D074B9D8802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74843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60E05-981E-B333-C802-A859CEF9BC3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73595-EDCC-C49F-1166-F42C785201D3}"/>
              </a:ext>
            </a:extLst>
          </p:cNvPr>
          <p:cNvSpPr txBox="1"/>
          <p:nvPr/>
        </p:nvSpPr>
        <p:spPr>
          <a:xfrm>
            <a:off x="4018960" y="6198510"/>
            <a:ext cx="3472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1: </a:t>
            </a:r>
            <a:r>
              <a:rPr lang="en-US" sz="1200" noProof="0" dirty="0" err="1"/>
              <a:t>Kp</a:t>
            </a:r>
            <a:r>
              <a:rPr lang="en-US" sz="1200" noProof="0" dirty="0"/>
              <a:t> Vectors for Optimization over DLC 1.2</a:t>
            </a:r>
          </a:p>
        </p:txBody>
      </p:sp>
    </p:spTree>
    <p:extLst>
      <p:ext uri="{BB962C8B-B14F-4D97-AF65-F5344CB8AC3E}">
        <p14:creationId xmlns:p14="http://schemas.microsoft.com/office/powerpoint/2010/main" val="1956652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028F-4C02-566E-AC50-4FD00371A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8BDBC6-F823-B050-93AE-255A9D0FA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91" y="1088837"/>
            <a:ext cx="10642778" cy="5293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D34BFB-D3F2-EB8F-BBF6-68BA2775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Ki Vectors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CA56D-F398-348F-2AE1-45B316A4C6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F8862-7A86-4DBD-6600-09E90C21220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B184E-3938-7526-8582-2FA6A829002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4741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F9E89-EF84-45D7-842E-59B50308C0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D70BB2-E9F2-93DF-70A1-0C93C0572D73}"/>
              </a:ext>
            </a:extLst>
          </p:cNvPr>
          <p:cNvSpPr txBox="1"/>
          <p:nvPr/>
        </p:nvSpPr>
        <p:spPr>
          <a:xfrm>
            <a:off x="4018960" y="6198510"/>
            <a:ext cx="3472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2: Ki Vectors for Optimization over DLC 1.2</a:t>
            </a:r>
          </a:p>
        </p:txBody>
      </p:sp>
    </p:spTree>
    <p:extLst>
      <p:ext uri="{BB962C8B-B14F-4D97-AF65-F5344CB8AC3E}">
        <p14:creationId xmlns:p14="http://schemas.microsoft.com/office/powerpoint/2010/main" val="1647351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875F-1320-8F6B-B2EC-351B9548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DLC 1.2 Simulation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94EA1-8D97-CBAE-482F-5AB8BA5B6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660 seconds </a:t>
            </a:r>
            <a:r>
              <a:rPr lang="en-US" noProof="0" dirty="0"/>
              <a:t>of simulation. Evaluation of values starts at t = 60 second to get settled values. Additionally, wind wraps around.</a:t>
            </a:r>
          </a:p>
          <a:p>
            <a:endParaRPr lang="en-US" noProof="0" dirty="0"/>
          </a:p>
          <a:p>
            <a:r>
              <a:rPr lang="en-US" b="1" noProof="0" dirty="0"/>
              <a:t>DLC 1.2 </a:t>
            </a:r>
            <a:r>
              <a:rPr lang="en-US" noProof="0" dirty="0"/>
              <a:t>wind fields with average of </a:t>
            </a:r>
            <a:r>
              <a:rPr lang="en-US" b="1" noProof="0" dirty="0"/>
              <a:t>8</a:t>
            </a:r>
            <a:r>
              <a:rPr lang="en-US" noProof="0" dirty="0"/>
              <a:t> </a:t>
            </a:r>
            <a:r>
              <a:rPr lang="en-US" b="1" noProof="0" dirty="0"/>
              <a:t>m/s to 24 m/s </a:t>
            </a:r>
            <a:r>
              <a:rPr lang="en-US" noProof="0" dirty="0"/>
              <a:t>with steps with 4m/s, </a:t>
            </a:r>
            <a:r>
              <a:rPr lang="en-US" b="1" noProof="0" dirty="0"/>
              <a:t>3 seeds</a:t>
            </a:r>
            <a:r>
              <a:rPr lang="en-US" noProof="0" dirty="0"/>
              <a:t>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b="1" noProof="0" dirty="0"/>
              <a:t>Enabled all DOFs. </a:t>
            </a:r>
            <a:endParaRPr lang="en-US" b="1" noProof="0" dirty="0">
              <a:solidFill>
                <a:srgbClr val="FF0000"/>
              </a:solidFill>
            </a:endParaRPr>
          </a:p>
          <a:p>
            <a:endParaRPr lang="en-US" b="1" noProof="0" dirty="0"/>
          </a:p>
          <a:p>
            <a:r>
              <a:rPr lang="en-US" b="1" noProof="0" dirty="0"/>
              <a:t>Initial conditions of pitch angle, rotor speed</a:t>
            </a:r>
            <a:r>
              <a:rPr lang="en-US" noProof="0" dirty="0"/>
              <a:t> and </a:t>
            </a:r>
            <a:r>
              <a:rPr lang="en-US" b="1" noProof="0" dirty="0"/>
              <a:t>fore-aft tower position</a:t>
            </a:r>
            <a:r>
              <a:rPr lang="en-US" noProof="0" dirty="0"/>
              <a:t> for every corresponding wind speed.</a:t>
            </a:r>
          </a:p>
          <a:p>
            <a:endParaRPr lang="en-US" noProof="0" dirty="0"/>
          </a:p>
          <a:p>
            <a:r>
              <a:rPr lang="en-US" noProof="0" dirty="0"/>
              <a:t>Running only </a:t>
            </a:r>
            <a:r>
              <a:rPr lang="en-US" b="1" noProof="0" dirty="0"/>
              <a:t>feedback controller</a:t>
            </a:r>
            <a:r>
              <a:rPr lang="en-US" noProof="0" dirty="0"/>
              <a:t>, no Lidar-assisted controller.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EDD2D-2B89-0589-D13D-DA1ADF658C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6A3A9-1DFF-2D29-EDA8-5C20BAC7C87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88A73-15F7-EFA3-C898-9459145AA7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74843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C0D38-DE31-0A7C-BA9A-D3A7752438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217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09AB-283E-31D9-47FD-33CFA360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5925F-1571-D22D-0210-17113808AF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E4B1D-9C2E-1655-AC3A-2835463C4FC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9F740-9AAC-05E2-D84F-B547C3E624B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256864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89553-FE3E-C19B-8767-E547E36B79F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8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B6285D-1BBD-910D-4CCB-C08F731AB45D}"/>
                  </a:ext>
                </a:extLst>
              </p:cNvPr>
              <p:cNvSpPr txBox="1"/>
              <p:nvPr/>
            </p:nvSpPr>
            <p:spPr>
              <a:xfrm>
                <a:off x="7807133" y="1726018"/>
                <a:ext cx="2819400" cy="11088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𝐴𝐸𝑃</m:t>
                      </m:r>
                      <m:r>
                        <a:rPr lang="en-US" sz="22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=8760</m:t>
                      </m:r>
                      <m:nary>
                        <m:naryPr>
                          <m:chr m:val="∑"/>
                          <m:ctrlPr>
                            <a:rPr lang="en-US" sz="2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2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2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b="0" noProof="0" dirty="0">
                  <a:solidFill>
                    <a:schemeClr val="tx1"/>
                  </a:solidFill>
                </a:endParaRPr>
              </a:p>
              <a:p>
                <a:pPr algn="l"/>
                <a:endParaRPr lang="en-US" sz="12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B6285D-1BBD-910D-4CCB-C08F731AB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33" y="1726018"/>
                <a:ext cx="2819400" cy="1108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E8836D7-EB7B-EBB0-18FE-404556502883}"/>
              </a:ext>
            </a:extLst>
          </p:cNvPr>
          <p:cNvSpPr txBox="1"/>
          <p:nvPr/>
        </p:nvSpPr>
        <p:spPr>
          <a:xfrm>
            <a:off x="838200" y="1362259"/>
            <a:ext cx="603719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noProof="0" dirty="0"/>
              <a:t>Annual Energy Production </a:t>
            </a:r>
            <a:r>
              <a:rPr lang="en-US" sz="2200" noProof="0" dirty="0"/>
              <a:t>(AEP)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noProof="0" dirty="0"/>
              <a:t>Generated power </a:t>
            </a:r>
            <a:r>
              <a:rPr lang="en-US" sz="2200" noProof="0" dirty="0"/>
              <a:t>(Pi) is output of the simulation.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noProof="0" dirty="0"/>
              <a:t>Frequency</a:t>
            </a:r>
            <a:r>
              <a:rPr lang="en-US" sz="2200" noProof="0" dirty="0"/>
              <a:t> (Fi) is calculated from </a:t>
            </a:r>
            <a:r>
              <a:rPr lang="tr-TR" sz="2200" dirty="0"/>
              <a:t>W</a:t>
            </a:r>
            <a:r>
              <a:rPr lang="en-US" sz="2200" noProof="0" dirty="0" err="1"/>
              <a:t>eibull</a:t>
            </a:r>
            <a:r>
              <a:rPr lang="en-US" sz="2200" noProof="0" dirty="0"/>
              <a:t> distribution, A = 7.5 m/s , k = 2 Rayleigh distribution.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A75F41-5DF9-3AC4-198E-476E27B1BFAF}"/>
              </a:ext>
            </a:extLst>
          </p:cNvPr>
          <p:cNvSpPr txBox="1"/>
          <p:nvPr/>
        </p:nvSpPr>
        <p:spPr>
          <a:xfrm>
            <a:off x="838200" y="3932832"/>
            <a:ext cx="623588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noProof="0" dirty="0"/>
              <a:t>Lifetime Weighted DEL </a:t>
            </a:r>
            <a:r>
              <a:rPr lang="en-US" sz="2200" noProof="0" dirty="0"/>
              <a:t>(LTW_DEL)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noProof="0" dirty="0" err="1"/>
              <a:t>DEL_ThisBin</a:t>
            </a:r>
            <a:r>
              <a:rPr lang="en-US" sz="2200" b="1" noProof="0" dirty="0"/>
              <a:t> </a:t>
            </a:r>
            <a:r>
              <a:rPr lang="en-US" sz="2200" noProof="0" dirty="0"/>
              <a:t>is the DEL values of tower base fore-aft moment for each wind speed calculated from output of the simulation.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noProof="0" dirty="0"/>
              <a:t>m</a:t>
            </a:r>
            <a:r>
              <a:rPr lang="en-US" sz="2200" noProof="0" dirty="0"/>
              <a:t> is equal to </a:t>
            </a:r>
            <a:r>
              <a:rPr lang="tr-TR" sz="2200" dirty="0"/>
              <a:t>W</a:t>
            </a:r>
            <a:r>
              <a:rPr lang="en-US" sz="2200" noProof="0" dirty="0" err="1"/>
              <a:t>oehler</a:t>
            </a:r>
            <a:r>
              <a:rPr lang="en-US" sz="2200" noProof="0" dirty="0"/>
              <a:t> exponent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E35DB1-1CDB-7C20-6374-3216B07D26F8}"/>
                  </a:ext>
                </a:extLst>
              </p:cNvPr>
              <p:cNvSpPr txBox="1"/>
              <p:nvPr/>
            </p:nvSpPr>
            <p:spPr>
              <a:xfrm>
                <a:off x="6957689" y="5648175"/>
                <a:ext cx="4518288" cy="9153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𝐿𝑇𝑊</m:t>
                      </m:r>
                      <m:r>
                        <m:rPr>
                          <m:lit/>
                        </m:rPr>
                        <a:rPr lang="en-US" sz="1600" i="1" noProof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𝐷𝐸𝐿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6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b="0" i="0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LTW</m:t>
                                              </m:r>
                                              <m:r>
                                                <m:rPr>
                                                  <m:lit/>
                                                  <m:nor/>
                                                </m:rPr>
                                                <a:rPr lang="en-US" sz="1600" b="0" i="0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b="0" i="0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DEL</m:t>
                                              </m:r>
                                              <m:r>
                                                <m:rPr>
                                                  <m:lit/>
                                                  <m:nor/>
                                                </m:rPr>
                                                <a:rPr lang="en-US" sz="1600" b="0" i="0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b="0" i="0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PerBin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lit/>
                            </m:r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sz="1600" b="0" noProof="0" dirty="0"/>
              </a:p>
              <a:p>
                <a:endParaRPr lang="en-US" sz="12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E35DB1-1CDB-7C20-6374-3216B07D2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689" y="5648175"/>
                <a:ext cx="4518288" cy="9153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3FDDBB-2E7F-8929-C745-509CBCF3186B}"/>
                  </a:ext>
                </a:extLst>
              </p:cNvPr>
              <p:cNvSpPr txBox="1"/>
              <p:nvPr/>
            </p:nvSpPr>
            <p:spPr>
              <a:xfrm>
                <a:off x="6875393" y="4016162"/>
                <a:ext cx="5343144" cy="915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𝐷𝐸𝐿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600" b="0" i="1" noProof="0" smtClean="0">
                          <a:latin typeface="Cambria Math" panose="02040503050406030204" pitchFamily="18" charset="0"/>
                        </a:rPr>
                        <m:t>PerBin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  <m:t>Weights</m:t>
                                  </m:r>
                                  <m: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  <m:t> ×</m:t>
                                  </m:r>
                                  <m:sSup>
                                    <m:sSup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 i="1" noProof="0" smtClean="0">
                                              <a:latin typeface="Cambria Math" panose="02040503050406030204" pitchFamily="18" charset="0"/>
                                            </a:rPr>
                                            <m:t>DEL</m:t>
                                          </m:r>
                                          <m:r>
                                            <a:rPr lang="en-US" sz="1600" i="1" noProof="0" smtClean="0">
                                              <a:latin typeface="Cambria Math" panose="02040503050406030204" pitchFamily="18" charset="0"/>
                                            </a:rPr>
                                            <m:t>_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 i="1" noProof="0" smtClean="0">
                                              <a:latin typeface="Cambria Math" panose="02040503050406030204" pitchFamily="18" charset="0"/>
                                            </a:rPr>
                                            <m:t>ThisBin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lit/>
                            </m:r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sz="1600" noProof="0" dirty="0"/>
              </a:p>
              <a:p>
                <a:pPr algn="l"/>
                <a:endParaRPr lang="en-US" sz="12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3FDDBB-2E7F-8929-C745-509CBCF3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393" y="4016162"/>
                <a:ext cx="5343144" cy="9153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9DB1EE-64D5-CF76-012F-C8D10C2C7C3B}"/>
                  </a:ext>
                </a:extLst>
              </p:cNvPr>
              <p:cNvSpPr txBox="1"/>
              <p:nvPr/>
            </p:nvSpPr>
            <p:spPr>
              <a:xfrm>
                <a:off x="7065263" y="5088698"/>
                <a:ext cx="4666214" cy="440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𝐿𝑇𝑊</m:t>
                      </m:r>
                      <m:r>
                        <m:rPr>
                          <m:lit/>
                        </m:rPr>
                        <a:rPr lang="en-US" sz="1600" i="1" noProof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𝐷𝐸𝐿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600" b="0" i="1" noProof="0" smtClean="0">
                          <a:latin typeface="Cambria Math" panose="02040503050406030204" pitchFamily="18" charset="0"/>
                        </a:rPr>
                        <m:t>PerBin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DEL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PerBin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Weights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lit/>
                            </m:r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sz="1600" b="0" noProof="0" dirty="0"/>
              </a:p>
              <a:p>
                <a:endParaRPr lang="en-US" sz="12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9DB1EE-64D5-CF76-012F-C8D10C2C7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263" y="5088698"/>
                <a:ext cx="4666214" cy="440120"/>
              </a:xfrm>
              <a:prstGeom prst="rect">
                <a:avLst/>
              </a:prstGeom>
              <a:blipFill>
                <a:blip r:embed="rId6"/>
                <a:stretch>
                  <a:fillRect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67139C0-51C8-E59D-3005-7F823E1993C9}"/>
              </a:ext>
            </a:extLst>
          </p:cNvPr>
          <p:cNvSpPr/>
          <p:nvPr/>
        </p:nvSpPr>
        <p:spPr>
          <a:xfrm flipV="1">
            <a:off x="-52388" y="3643073"/>
            <a:ext cx="12341924" cy="132598"/>
          </a:xfrm>
          <a:prstGeom prst="rect">
            <a:avLst/>
          </a:prstGeom>
          <a:solidFill>
            <a:srgbClr val="8ECEF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6763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F6D3-BBB6-56F5-EDEF-1CA02D07B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B661B9-FAAA-47BA-703B-5D693BCC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80" y="1027906"/>
            <a:ext cx="11100520" cy="55213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45167B-915B-864A-CE22-838AC6AD5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Lifetime Weighted DEL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26954-85D6-18DC-9495-04169C50B1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6E98D-CBD5-151B-DF32-762C011A433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4BA04-390D-FB7C-13F1-616AE6774C4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0169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C50EA-4370-0B1B-8645-8B81894433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DEC9E-9015-8B25-970C-98840CC38659}"/>
              </a:ext>
            </a:extLst>
          </p:cNvPr>
          <p:cNvSpPr txBox="1"/>
          <p:nvPr/>
        </p:nvSpPr>
        <p:spPr>
          <a:xfrm>
            <a:off x="4204057" y="6272258"/>
            <a:ext cx="3783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</a:t>
            </a:r>
            <a:r>
              <a:rPr lang="tr-TR" sz="1200" noProof="0" dirty="0"/>
              <a:t>3</a:t>
            </a:r>
            <a:r>
              <a:rPr lang="en-US" sz="1200" noProof="0" dirty="0"/>
              <a:t>: </a:t>
            </a:r>
            <a:r>
              <a:rPr lang="tr-TR" sz="1200" noProof="0" dirty="0" err="1"/>
              <a:t>Lifetime</a:t>
            </a:r>
            <a:r>
              <a:rPr lang="tr-TR" sz="1200" noProof="0" dirty="0"/>
              <a:t> </a:t>
            </a:r>
            <a:r>
              <a:rPr lang="tr-TR" sz="1200" noProof="0" dirty="0" err="1"/>
              <a:t>Weighted</a:t>
            </a:r>
            <a:r>
              <a:rPr lang="tr-TR" sz="1200" noProof="0" dirty="0"/>
              <a:t> DEL </a:t>
            </a:r>
            <a:r>
              <a:rPr lang="tr-TR" sz="1200" noProof="0" dirty="0" err="1"/>
              <a:t>Values</a:t>
            </a:r>
            <a:r>
              <a:rPr lang="tr-TR" sz="1200" noProof="0" dirty="0"/>
              <a:t> </a:t>
            </a:r>
            <a:r>
              <a:rPr lang="tr-TR" sz="1200" noProof="0" dirty="0" err="1"/>
              <a:t>for</a:t>
            </a:r>
            <a:r>
              <a:rPr lang="tr-TR" sz="1200" noProof="0" dirty="0"/>
              <a:t> </a:t>
            </a:r>
            <a:r>
              <a:rPr lang="tr-TR" sz="1200" noProof="0" dirty="0" err="1"/>
              <a:t>each</a:t>
            </a:r>
            <a:r>
              <a:rPr lang="tr-TR" sz="1200" noProof="0" dirty="0"/>
              <a:t> </a:t>
            </a:r>
            <a:r>
              <a:rPr lang="tr-TR" sz="1200" noProof="0" dirty="0" err="1"/>
              <a:t>vector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2462684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5A58-8229-CFB0-6904-CA533C8A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AEP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23153-85CE-A6E6-017E-42658DFB53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4009-158D-EB61-755B-554B3542C9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6FD5C-43CF-BC95-D28C-4EA017F70D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0169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354C5-8F16-EFFA-EF58-D39E603074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0993EF-617E-3DDA-ECDA-E2A4A4D8F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37" y="1027906"/>
            <a:ext cx="11179267" cy="55605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277CF9-9111-E053-FFD9-3C53179A2F5E}"/>
              </a:ext>
            </a:extLst>
          </p:cNvPr>
          <p:cNvSpPr txBox="1"/>
          <p:nvPr/>
        </p:nvSpPr>
        <p:spPr>
          <a:xfrm>
            <a:off x="4845765" y="6311427"/>
            <a:ext cx="3472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</a:t>
            </a:r>
            <a:r>
              <a:rPr lang="tr-TR" sz="1200" dirty="0"/>
              <a:t>4</a:t>
            </a:r>
            <a:r>
              <a:rPr lang="en-US" sz="1200" noProof="0" dirty="0"/>
              <a:t>: </a:t>
            </a:r>
            <a:r>
              <a:rPr lang="tr-TR" sz="1200" noProof="0" dirty="0"/>
              <a:t>AEP </a:t>
            </a:r>
            <a:r>
              <a:rPr lang="tr-TR" sz="1200" noProof="0" dirty="0" err="1"/>
              <a:t>Values</a:t>
            </a:r>
            <a:r>
              <a:rPr lang="tr-TR" sz="1200" noProof="0" dirty="0"/>
              <a:t> </a:t>
            </a:r>
            <a:r>
              <a:rPr lang="tr-TR" sz="1200" noProof="0" dirty="0" err="1"/>
              <a:t>for</a:t>
            </a:r>
            <a:r>
              <a:rPr lang="tr-TR" sz="1200" noProof="0" dirty="0"/>
              <a:t> </a:t>
            </a:r>
            <a:r>
              <a:rPr lang="tr-TR" sz="1200" noProof="0" dirty="0" err="1"/>
              <a:t>each</a:t>
            </a:r>
            <a:r>
              <a:rPr lang="tr-TR" sz="1200" noProof="0" dirty="0"/>
              <a:t> </a:t>
            </a:r>
            <a:r>
              <a:rPr lang="tr-TR" sz="1200" noProof="0" dirty="0" err="1"/>
              <a:t>vector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2432803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CC59-8483-ECE1-3AC4-04E722A6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A6F67FB-A051-632E-1CDE-2668501EE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Bladed Interface and Swap Array 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49E24A49-6543-E27B-73F2-053E8D98B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noProof="0" dirty="0"/>
              <a:t>Bladed Interface</a:t>
            </a:r>
            <a:r>
              <a:rPr lang="en-US" noProof="0" dirty="0"/>
              <a:t>, </a:t>
            </a:r>
          </a:p>
          <a:p>
            <a:r>
              <a:rPr lang="en-US" noProof="0" dirty="0"/>
              <a:t>Serves as the </a:t>
            </a:r>
            <a:r>
              <a:rPr lang="en-US" b="1" noProof="0" dirty="0"/>
              <a:t>communication link</a:t>
            </a:r>
            <a:r>
              <a:rPr lang="en-US" noProof="0" dirty="0"/>
              <a:t> between </a:t>
            </a:r>
            <a:r>
              <a:rPr lang="en-US" b="1" noProof="0" dirty="0"/>
              <a:t>OpenFAST/Bladed</a:t>
            </a:r>
            <a:r>
              <a:rPr lang="en-US" noProof="0" dirty="0"/>
              <a:t> and </a:t>
            </a:r>
            <a:r>
              <a:rPr lang="en-US" b="1" noProof="0" dirty="0"/>
              <a:t>external controller DLLs</a:t>
            </a:r>
            <a:r>
              <a:rPr lang="en-US" noProof="0" dirty="0"/>
              <a:t>.</a:t>
            </a:r>
          </a:p>
          <a:p>
            <a:r>
              <a:rPr lang="en-US" noProof="0" dirty="0"/>
              <a:t>Uses the </a:t>
            </a:r>
            <a:r>
              <a:rPr lang="en-US" b="1" noProof="0" dirty="0"/>
              <a:t>legacy Bladed interface</a:t>
            </a:r>
            <a:r>
              <a:rPr lang="en-US" noProof="0" dirty="0"/>
              <a:t> for connecting MATLAB, Fortran, or C controllers.</a:t>
            </a:r>
          </a:p>
          <a:p>
            <a:pPr marL="0" indent="0">
              <a:buNone/>
            </a:pPr>
            <a:endParaRPr lang="en-US" b="1" noProof="0" dirty="0"/>
          </a:p>
          <a:p>
            <a:pPr marL="0" indent="0">
              <a:buNone/>
            </a:pPr>
            <a:r>
              <a:rPr lang="en-US" b="1" noProof="0" dirty="0"/>
              <a:t>Swap Array </a:t>
            </a:r>
            <a:r>
              <a:rPr lang="en-US" noProof="0" dirty="0"/>
              <a:t>(</a:t>
            </a:r>
            <a:r>
              <a:rPr lang="en-US" noProof="0" dirty="0" err="1"/>
              <a:t>avrSWAP</a:t>
            </a:r>
            <a:r>
              <a:rPr lang="en-US" noProof="0" dirty="0"/>
              <a:t>), </a:t>
            </a:r>
          </a:p>
          <a:p>
            <a:pPr marL="0" indent="0">
              <a:buNone/>
            </a:pPr>
            <a:r>
              <a:rPr lang="en-US" noProof="0" dirty="0"/>
              <a:t>A </a:t>
            </a:r>
            <a:r>
              <a:rPr lang="en-US" b="1" noProof="0" dirty="0"/>
              <a:t>shared data array</a:t>
            </a:r>
            <a:r>
              <a:rPr lang="en-US" noProof="0" dirty="0"/>
              <a:t> (</a:t>
            </a:r>
            <a:r>
              <a:rPr lang="en-US" noProof="0" dirty="0" err="1"/>
              <a:t>avrSWAP</a:t>
            </a:r>
            <a:r>
              <a:rPr lang="en-US" noProof="0" dirty="0"/>
              <a:t>) that transfers signals between </a:t>
            </a:r>
            <a:r>
              <a:rPr lang="en-US" b="1" noProof="0" dirty="0"/>
              <a:t>OpenFAST/Bladed</a:t>
            </a:r>
            <a:r>
              <a:rPr lang="en-US" noProof="0" dirty="0"/>
              <a:t> and controller </a:t>
            </a:r>
            <a:r>
              <a:rPr lang="en-US" b="1" noProof="0" dirty="0"/>
              <a:t>DLLs</a:t>
            </a:r>
            <a:r>
              <a:rPr lang="en-US" noProof="0" dirty="0"/>
              <a:t>.</a:t>
            </a:r>
          </a:p>
          <a:p>
            <a:r>
              <a:rPr lang="en-US" noProof="0" dirty="0"/>
              <a:t>Contains both </a:t>
            </a:r>
          </a:p>
          <a:p>
            <a:pPr marL="0" indent="0">
              <a:buNone/>
            </a:pPr>
            <a:r>
              <a:rPr lang="en-US" b="1" noProof="0" dirty="0"/>
              <a:t>      inputs</a:t>
            </a:r>
            <a:r>
              <a:rPr lang="en-US" noProof="0" dirty="0"/>
              <a:t> (wind speed, rotor speed, pitch) </a:t>
            </a:r>
          </a:p>
          <a:p>
            <a:pPr marL="0" indent="0">
              <a:buNone/>
            </a:pPr>
            <a:r>
              <a:rPr lang="en-US" noProof="0" dirty="0"/>
              <a:t>      </a:t>
            </a:r>
            <a:r>
              <a:rPr lang="en-US" b="1" noProof="0" dirty="0"/>
              <a:t>outputs</a:t>
            </a:r>
            <a:r>
              <a:rPr lang="en-US" noProof="0" dirty="0"/>
              <a:t> (pitch, torque, status, time)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2103F6F-B697-1033-42C0-F4E91192120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B014F9-2123-3EA9-C849-B4F063B21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17312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0382C3-7FF2-DD70-57B3-E8932DD4EE6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BBC748D-760A-87FB-8285-AA82E5A78C9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1550" indent="-514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B96056C-0771-33D0-3A9E-0CF67FAB82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760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B893F6D-288A-550A-C796-008FEA91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WRAPPER.DLL System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D847DFA5-0CA0-3D6E-6A5E-98464DBBD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Acts as the </a:t>
            </a:r>
            <a:r>
              <a:rPr lang="en-US" b="1" noProof="0" dirty="0"/>
              <a:t>master DLL</a:t>
            </a:r>
            <a:r>
              <a:rPr lang="en-US" noProof="0" dirty="0"/>
              <a:t> coordinating control modules.</a:t>
            </a:r>
          </a:p>
          <a:p>
            <a:r>
              <a:rPr lang="en-US" b="1" noProof="0" dirty="0"/>
              <a:t>Function:</a:t>
            </a:r>
            <a:r>
              <a:rPr lang="en-US" noProof="0" dirty="0"/>
              <a:t> Calls sub-DLLs in a specific sequence defined in </a:t>
            </a:r>
            <a:r>
              <a:rPr lang="en-US" i="1" noProof="0" dirty="0"/>
              <a:t>WRAPPER.IN</a:t>
            </a:r>
            <a:r>
              <a:rPr lang="en-US" noProof="0" dirty="0"/>
              <a:t>.</a:t>
            </a:r>
          </a:p>
          <a:p>
            <a:r>
              <a:rPr lang="en-US" b="1" noProof="0" dirty="0"/>
              <a:t>Modules Involved:</a:t>
            </a:r>
            <a:endParaRPr lang="en-US" noProof="0" dirty="0"/>
          </a:p>
          <a:p>
            <a:r>
              <a:rPr lang="en-US" noProof="0" dirty="0"/>
              <a:t>LDP.dll</a:t>
            </a:r>
          </a:p>
          <a:p>
            <a:r>
              <a:rPr lang="en-US" noProof="0" dirty="0"/>
              <a:t>FFP.dll</a:t>
            </a:r>
          </a:p>
          <a:p>
            <a:r>
              <a:rPr lang="en-US" noProof="0" dirty="0"/>
              <a:t>ROSCO.dll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FDD682-B40F-C5C9-1855-56A85BC15BC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68328F-481A-A412-4E89-23ACFE133DF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36362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2D30E5-E8EB-4514-D402-7006892C79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711AAC40-D4A5-6AC8-BE73-CD4035EA05F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1550" indent="-514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B2B7B17-66C0-46B1-2A8E-7D4EF60D36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3850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LDP.dll – Lidar 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Reads </a:t>
            </a:r>
            <a:r>
              <a:rPr lang="en-US" b="1" noProof="0" dirty="0"/>
              <a:t>Line-of-Sight (LOS)</a:t>
            </a:r>
            <a:r>
              <a:rPr lang="en-US" noProof="0" dirty="0"/>
              <a:t> measurements from the lidar.</a:t>
            </a:r>
          </a:p>
          <a:p>
            <a:r>
              <a:rPr lang="en-US" b="1" noProof="0" dirty="0"/>
              <a:t>Estimates</a:t>
            </a:r>
            <a:r>
              <a:rPr lang="en-US" noProof="0" dirty="0"/>
              <a:t> rotor-effective wind speed.</a:t>
            </a:r>
          </a:p>
          <a:p>
            <a:r>
              <a:rPr lang="en-US" noProof="0" dirty="0"/>
              <a:t>Writes estimated wind speed to </a:t>
            </a:r>
            <a:r>
              <a:rPr lang="en-US" b="1" noProof="0" dirty="0" err="1"/>
              <a:t>avrSWAP</a:t>
            </a:r>
            <a:r>
              <a:rPr lang="en-US" b="1" noProof="0" dirty="0"/>
              <a:t> array</a:t>
            </a:r>
            <a:r>
              <a:rPr lang="en-US" noProof="0" dirty="0"/>
              <a:t>.</a:t>
            </a:r>
          </a:p>
          <a:p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155412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314AB9F-D23A-3187-53AA-3BA35B832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8583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LDP.dll – Lidar Data Processing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16493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14</a:t>
            </a:fld>
            <a:endParaRPr lang="en-US" noProof="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896716"/>
              </p:ext>
            </p:extLst>
          </p:nvPr>
        </p:nvGraphicFramePr>
        <p:xfrm>
          <a:off x="897467" y="1825625"/>
          <a:ext cx="10617200" cy="4392934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6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9018">
                <a:tc>
                  <a:txBody>
                    <a:bodyPr/>
                    <a:lstStyle/>
                    <a:p>
                      <a:r>
                        <a:rPr lang="en-US" sz="1400" b="1" noProof="0" dirty="0" err="1"/>
                        <a:t>avrSWAP</a:t>
                      </a:r>
                      <a:r>
                        <a:rPr lang="en-US" sz="1400" b="1" noProof="0" dirty="0"/>
                        <a:t> Index</a:t>
                      </a:r>
                      <a:endParaRPr lang="en-US" sz="1400" noProof="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Signal Name</a:t>
                      </a:r>
                      <a:endParaRPr lang="en-US" sz="1400" noProof="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Direction</a:t>
                      </a:r>
                      <a:endParaRPr lang="en-US" sz="1400" noProof="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Description</a:t>
                      </a:r>
                      <a:endParaRPr lang="en-US" sz="1400" noProof="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071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63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Base index for lidar data in the </a:t>
                      </a:r>
                      <a:r>
                        <a:rPr lang="en-US" sz="1400" noProof="0" dirty="0" err="1"/>
                        <a:t>avrSWAP</a:t>
                      </a:r>
                      <a:r>
                        <a:rPr lang="en-US" sz="1400" noProof="0" dirty="0"/>
                        <a:t> array. Used to locate lidar data in the swap array.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308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NewMeasurementFlag</a:t>
                      </a:r>
                      <a:endParaRPr lang="en-US" sz="1400" noProof="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Flag indicating if a new lidar measurement is available (0 = no, 1 = yes).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 + 1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BeamID</a:t>
                      </a:r>
                      <a:endParaRPr lang="en-US" sz="1400" noProof="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ID of the current lidar beam.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 + 2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GatesPerBeam</a:t>
                      </a:r>
                      <a:endParaRPr lang="en-US" sz="1400" noProof="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Number of gates in the lidar beam.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6071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 + 2 + </a:t>
                      </a:r>
                      <a:r>
                        <a:rPr lang="en-US" sz="1400" noProof="0" dirty="0" err="1"/>
                        <a:t>iGate</a:t>
                      </a:r>
                      <a:endParaRPr lang="en-US" sz="1400" noProof="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v_los</a:t>
                      </a:r>
                      <a:r>
                        <a:rPr lang="en-US" sz="1400" noProof="0" dirty="0"/>
                        <a:t>(</a:t>
                      </a:r>
                      <a:r>
                        <a:rPr lang="en-US" sz="1400" noProof="0" dirty="0" err="1"/>
                        <a:t>iGate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Line-of-sight wind speed measurements for each gate [m/s]. (</a:t>
                      </a:r>
                      <a:r>
                        <a:rPr lang="en-US" sz="1400" noProof="0" dirty="0" err="1"/>
                        <a:t>iGate</a:t>
                      </a:r>
                      <a:r>
                        <a:rPr lang="en-US" sz="1400" noProof="0" dirty="0"/>
                        <a:t> = 1…</a:t>
                      </a:r>
                      <a:r>
                        <a:rPr lang="en-US" sz="1400" noProof="0" dirty="0" err="1"/>
                        <a:t>GatesPerBeam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308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 + 2 + (</a:t>
                      </a:r>
                      <a:r>
                        <a:rPr lang="en-US" sz="1400" noProof="0" dirty="0" err="1"/>
                        <a:t>GatesPerBeam</a:t>
                      </a:r>
                      <a:r>
                        <a:rPr lang="en-US" sz="1400" noProof="0" dirty="0"/>
                        <a:t>) + 7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REWS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OUT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Rotor Effective Wind Speed estimated from lidar; written back to </a:t>
                      </a:r>
                      <a:r>
                        <a:rPr lang="en-US" sz="1400" noProof="0" dirty="0" err="1"/>
                        <a:t>avrSWAP</a:t>
                      </a:r>
                      <a:r>
                        <a:rPr lang="en-US" sz="1400" noProof="0" dirty="0"/>
                        <a:t>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B38ABB0-66B6-08C3-BA3D-314BBF8209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9154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/>
              <a:t>Feed-Forward Pitch Control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Reads rotor-effective wind speed from </a:t>
            </a:r>
            <a:r>
              <a:rPr lang="en-US" b="1" noProof="0" dirty="0" err="1"/>
              <a:t>avrSWAP</a:t>
            </a:r>
            <a:r>
              <a:rPr lang="en-US" noProof="0" dirty="0"/>
              <a:t>.</a:t>
            </a:r>
          </a:p>
          <a:p>
            <a:r>
              <a:rPr lang="en-US" b="1" noProof="0" dirty="0"/>
              <a:t>Filters</a:t>
            </a:r>
            <a:r>
              <a:rPr lang="en-US" noProof="0" dirty="0"/>
              <a:t> and </a:t>
            </a:r>
            <a:r>
              <a:rPr lang="en-US" b="1" noProof="0" dirty="0"/>
              <a:t>time-shifts</a:t>
            </a:r>
            <a:r>
              <a:rPr lang="en-US" noProof="0" dirty="0"/>
              <a:t> the signal.</a:t>
            </a:r>
            <a:endParaRPr lang="tr-TR" noProof="0" dirty="0"/>
          </a:p>
          <a:p>
            <a:r>
              <a:rPr lang="en-US" dirty="0"/>
              <a:t>Calculates the feedforward pitch angle from the static pitch curve</a:t>
            </a:r>
            <a:endParaRPr lang="en-US" noProof="0" dirty="0"/>
          </a:p>
          <a:p>
            <a:r>
              <a:rPr lang="en-US" noProof="0" dirty="0"/>
              <a:t>Outputs </a:t>
            </a:r>
            <a:r>
              <a:rPr lang="en-US" b="1" noProof="0" dirty="0"/>
              <a:t>feed-forward pitch rate (time derivative)</a:t>
            </a:r>
            <a:r>
              <a:rPr lang="en-US" noProof="0" dirty="0"/>
              <a:t>.</a:t>
            </a:r>
          </a:p>
          <a:p>
            <a:r>
              <a:rPr lang="en-US" noProof="0" dirty="0"/>
              <a:t>Writes pitch rate signal back to </a:t>
            </a:r>
            <a:r>
              <a:rPr lang="en-US" b="1" noProof="0" dirty="0" err="1"/>
              <a:t>avrSWAP</a:t>
            </a:r>
            <a:r>
              <a:rPr lang="en-US" noProof="0" dirty="0"/>
              <a:t>.</a:t>
            </a:r>
          </a:p>
          <a:p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74613" y="6564313"/>
            <a:ext cx="3193512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4B0196-62D4-3F1A-6941-D83B5C2975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244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/>
              <a:t>Feed-Forward Pitch Control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74612" y="6564113"/>
            <a:ext cx="322208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838200" y="287822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945399"/>
              </p:ext>
            </p:extLst>
          </p:nvPr>
        </p:nvGraphicFramePr>
        <p:xfrm>
          <a:off x="738060" y="1612231"/>
          <a:ext cx="10258805" cy="4733141"/>
        </p:xfrm>
        <a:graphic>
          <a:graphicData uri="http://schemas.openxmlformats.org/drawingml/2006/table">
            <a:tbl>
              <a:tblPr/>
              <a:tblGrid>
                <a:gridCol w="115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4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2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434">
                <a:tc>
                  <a:txBody>
                    <a:bodyPr/>
                    <a:lstStyle/>
                    <a:p>
                      <a:pPr algn="ctr"/>
                      <a:endParaRPr lang="en-US" sz="12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 err="1"/>
                        <a:t>avrSWAP</a:t>
                      </a:r>
                      <a:r>
                        <a:rPr lang="en-US" sz="1400" b="1" noProof="0" dirty="0"/>
                        <a:t> Index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/>
                        <a:t>Signal Name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/>
                        <a:t>Direction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/>
                        <a:t>Description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264">
                <a:tc>
                  <a:txBody>
                    <a:bodyPr/>
                    <a:lstStyle/>
                    <a:p>
                      <a:pPr algn="ctr"/>
                      <a:endParaRPr lang="en-US" sz="12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3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time step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IN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Simulation time step [s]; used by FFP for filtering and pitch rate calculation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916">
                <a:tc>
                  <a:txBody>
                    <a:bodyPr/>
                    <a:lstStyle/>
                    <a:p>
                      <a:pPr algn="ctr"/>
                      <a:endParaRPr lang="en-US" sz="12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/>
                        <a:t>63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L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IN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Starting index in </a:t>
                      </a:r>
                      <a:r>
                        <a:rPr lang="en-US" sz="1400" noProof="0" dirty="0" err="1"/>
                        <a:t>avrSWAP</a:t>
                      </a:r>
                      <a:r>
                        <a:rPr lang="en-US" sz="1400" noProof="0" dirty="0"/>
                        <a:t> array where lidar-related data begins (set by OpenFAST or LDP.DLL).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537">
                <a:tc>
                  <a:txBody>
                    <a:bodyPr/>
                    <a:lstStyle/>
                    <a:p>
                      <a:pPr algn="ctr"/>
                      <a:endParaRPr lang="en-US" sz="12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/>
                        <a:t>L + 2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 err="1"/>
                        <a:t>GatesPerBeam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IN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Number of lidar range gates (for this reference version, only one gate is used).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781">
                <a:tc>
                  <a:txBody>
                    <a:bodyPr/>
                    <a:lstStyle/>
                    <a:p>
                      <a:pPr algn="ctr"/>
                      <a:endParaRPr lang="en-US" sz="12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/>
                        <a:t>L + 2 + (</a:t>
                      </a:r>
                      <a:r>
                        <a:rPr lang="en-US" sz="1400" b="1" noProof="0" dirty="0" err="1"/>
                        <a:t>GatesPerBeam</a:t>
                      </a:r>
                      <a:r>
                        <a:rPr lang="en-US" sz="1400" b="1" noProof="0" dirty="0"/>
                        <a:t>) + 7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REWS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IN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Rotor Effective Wind Speed (from LDP.DLL) used for feedforward pitch control.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023">
                <a:tc>
                  <a:txBody>
                    <a:bodyPr/>
                    <a:lstStyle/>
                    <a:p>
                      <a:pPr algn="ctr"/>
                      <a:endParaRPr lang="en-US" sz="12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/>
                        <a:t>L + 2 + (</a:t>
                      </a:r>
                      <a:r>
                        <a:rPr lang="en-US" sz="1400" b="1" noProof="0" dirty="0" err="1"/>
                        <a:t>GatesPerBeam</a:t>
                      </a:r>
                      <a:r>
                        <a:rPr lang="en-US" sz="1400" b="1" noProof="0" dirty="0"/>
                        <a:t>) + 8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 err="1"/>
                        <a:t>REWS_b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OUT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Buffered (time-shifted) filtered REWS signal sent back to OpenFAST.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700">
                <a:tc>
                  <a:txBody>
                    <a:bodyPr/>
                    <a:lstStyle/>
                    <a:p>
                      <a:pPr algn="ctr"/>
                      <a:endParaRPr lang="en-US" sz="12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/>
                        <a:t>L + 2 + (</a:t>
                      </a:r>
                      <a:r>
                        <a:rPr lang="en-US" sz="1400" b="1" noProof="0" dirty="0" err="1"/>
                        <a:t>GatesPerBeam</a:t>
                      </a:r>
                      <a:r>
                        <a:rPr lang="en-US" sz="1400" b="1" noProof="0" dirty="0"/>
                        <a:t>) + 9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 err="1"/>
                        <a:t>FF_PitchRate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OUT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Feedforward pitch rate (</a:t>
                      </a:r>
                      <a:r>
                        <a:rPr lang="en-US" sz="1400" noProof="0" dirty="0" err="1"/>
                        <a:t>Δθ</a:t>
                      </a:r>
                      <a:r>
                        <a:rPr lang="en-US" sz="1400" noProof="0" dirty="0"/>
                        <a:t>/</a:t>
                      </a:r>
                      <a:r>
                        <a:rPr lang="en-US" sz="1400" noProof="0" dirty="0" err="1"/>
                        <a:t>Δt</a:t>
                      </a:r>
                      <a:r>
                        <a:rPr lang="en-US" sz="1400" noProof="0" dirty="0"/>
                        <a:t>) output for ROSCO controller.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700">
                <a:tc>
                  <a:txBody>
                    <a:bodyPr/>
                    <a:lstStyle/>
                    <a:p>
                      <a:pPr algn="ctr"/>
                      <a:endParaRPr lang="en-US" sz="12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/>
                        <a:t>L + 2 + (</a:t>
                      </a:r>
                      <a:r>
                        <a:rPr lang="en-US" sz="1400" b="1" noProof="0" dirty="0" err="1"/>
                        <a:t>GatesPerBeam</a:t>
                      </a:r>
                      <a:r>
                        <a:rPr lang="en-US" sz="1400" b="1" noProof="0" dirty="0"/>
                        <a:t>) + 10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 err="1"/>
                        <a:t>REWS_f</a:t>
                      </a:r>
                      <a:endParaRPr lang="en-US" sz="1400" noProof="0" dirty="0"/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OUT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Filtered REWS after low-pass filtering — diagnostic output.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46977" y="1535759"/>
            <a:ext cx="601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6D9B8C9-D3B6-69D6-304A-CD6D5B5F8A85}"/>
              </a:ext>
            </a:extLst>
          </p:cNvPr>
          <p:cNvSpPr txBox="1">
            <a:spLocks/>
          </p:cNvSpPr>
          <p:nvPr/>
        </p:nvSpPr>
        <p:spPr>
          <a:xfrm>
            <a:off x="2878528" y="6564112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065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EOG Comparison for 12m/s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16493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668812" y="5703610"/>
            <a:ext cx="6509228" cy="309850"/>
          </a:xfrm>
        </p:spPr>
        <p:txBody>
          <a:bodyPr>
            <a:normAutofit fontScale="25000" lnSpcReduction="20000"/>
          </a:bodyPr>
          <a:lstStyle/>
          <a:p>
            <a:r>
              <a:rPr lang="en-US" sz="6400" noProof="0" dirty="0"/>
              <a:t>Cost for feedback feedforward ("30 s sprint"): 0.639505 (</a:t>
            </a:r>
            <a:r>
              <a:rPr lang="en-US" sz="6400" noProof="0" dirty="0" err="1"/>
              <a:t>T_buffer</a:t>
            </a:r>
            <a:r>
              <a:rPr lang="en-US" sz="6400" noProof="0" dirty="0"/>
              <a:t> 4.5)</a:t>
            </a:r>
          </a:p>
          <a:p>
            <a:r>
              <a:rPr lang="en-US" sz="6400" noProof="0" dirty="0"/>
              <a:t>Cost for feedback only ("30 s sprint"): 0.983657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733" y="1261533"/>
            <a:ext cx="8144933" cy="436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4957B49-84CB-40FD-1E68-26430DD05A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1421E-B3F0-523B-D079-89E51D8723FD}"/>
              </a:ext>
            </a:extLst>
          </p:cNvPr>
          <p:cNvSpPr txBox="1"/>
          <p:nvPr/>
        </p:nvSpPr>
        <p:spPr>
          <a:xfrm>
            <a:off x="4359990" y="6284424"/>
            <a:ext cx="3755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</a:t>
            </a:r>
            <a:r>
              <a:rPr lang="tr-TR" sz="1200" dirty="0"/>
              <a:t>5</a:t>
            </a:r>
            <a:r>
              <a:rPr lang="en-US" sz="1200" noProof="0" dirty="0"/>
              <a:t>:</a:t>
            </a:r>
            <a:r>
              <a:rPr lang="tr-TR" sz="1200" noProof="0" dirty="0"/>
              <a:t> </a:t>
            </a:r>
            <a:r>
              <a:rPr lang="tr-TR" sz="1200" noProof="0" dirty="0" err="1"/>
              <a:t>Comparison</a:t>
            </a:r>
            <a:r>
              <a:rPr lang="tr-TR" sz="1200" noProof="0" dirty="0"/>
              <a:t> of </a:t>
            </a:r>
            <a:r>
              <a:rPr lang="tr-TR" sz="1200" noProof="0" dirty="0" err="1"/>
              <a:t>controllers</a:t>
            </a:r>
            <a:r>
              <a:rPr lang="tr-TR" sz="1200" noProof="0" dirty="0"/>
              <a:t> </a:t>
            </a:r>
            <a:r>
              <a:rPr lang="tr-TR" sz="1200" noProof="0" dirty="0" err="1"/>
              <a:t>over</a:t>
            </a:r>
            <a:r>
              <a:rPr lang="tr-TR" sz="1200" dirty="0"/>
              <a:t> </a:t>
            </a:r>
            <a:r>
              <a:rPr lang="tr-TR" sz="1200" noProof="0" dirty="0"/>
              <a:t>12 m/s EOG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3662488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EOG Comparison for 25m/s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12683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708917" y="5740600"/>
            <a:ext cx="6951188" cy="309850"/>
          </a:xfrm>
        </p:spPr>
        <p:txBody>
          <a:bodyPr>
            <a:normAutofit fontScale="25000" lnSpcReduction="20000"/>
          </a:bodyPr>
          <a:lstStyle/>
          <a:p>
            <a:r>
              <a:rPr lang="en-US" sz="6400" noProof="0" dirty="0"/>
              <a:t>Cost for feedback feedforward ("30 s sprint"): 0.813933 (for </a:t>
            </a:r>
            <a:r>
              <a:rPr lang="en-US" sz="6400" noProof="0" dirty="0" err="1"/>
              <a:t>T_buffer</a:t>
            </a:r>
            <a:r>
              <a:rPr lang="en-US" sz="6400" noProof="0" dirty="0"/>
              <a:t> 2)</a:t>
            </a:r>
          </a:p>
          <a:p>
            <a:r>
              <a:rPr lang="en-US" sz="6400" noProof="0" dirty="0"/>
              <a:t>Cost for feedback only ("30 s sprint"): 1.487102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3075" name="Picture 3" descr="C:\Users\lenovo\Downloads\Optimus-Syria-WEC-main (11)\Optimus-Syria-WEC-main\4_Simulation_Files\SummerGames\SprintOptimus_3p4MW\EOG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599" y="1317625"/>
            <a:ext cx="84666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CA0FD58-D849-72E8-C515-9A456E1720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1D291-20A0-B1CA-D63D-E741C04DD45A}"/>
              </a:ext>
            </a:extLst>
          </p:cNvPr>
          <p:cNvSpPr txBox="1"/>
          <p:nvPr/>
        </p:nvSpPr>
        <p:spPr>
          <a:xfrm>
            <a:off x="4359990" y="6284424"/>
            <a:ext cx="3717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</a:t>
            </a:r>
            <a:r>
              <a:rPr lang="tr-TR" sz="1200" noProof="0" dirty="0"/>
              <a:t>6</a:t>
            </a:r>
            <a:r>
              <a:rPr lang="en-US" sz="1200" noProof="0" dirty="0"/>
              <a:t>:</a:t>
            </a:r>
            <a:r>
              <a:rPr lang="tr-TR" sz="1200" noProof="0" dirty="0"/>
              <a:t> </a:t>
            </a:r>
            <a:r>
              <a:rPr lang="tr-TR" sz="1200" noProof="0" dirty="0" err="1"/>
              <a:t>Comparison</a:t>
            </a:r>
            <a:r>
              <a:rPr lang="tr-TR" sz="1200" noProof="0" dirty="0"/>
              <a:t> of </a:t>
            </a:r>
            <a:r>
              <a:rPr lang="tr-TR" sz="1200" noProof="0" dirty="0" err="1"/>
              <a:t>controllers</a:t>
            </a:r>
            <a:r>
              <a:rPr lang="tr-TR" sz="1200" noProof="0" dirty="0"/>
              <a:t> </a:t>
            </a:r>
            <a:r>
              <a:rPr lang="tr-TR" sz="1200" noProof="0" dirty="0" err="1"/>
              <a:t>over</a:t>
            </a:r>
            <a:r>
              <a:rPr lang="tr-TR" sz="1200" noProof="0" dirty="0"/>
              <a:t> 25 m/s EOG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887130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FF05-E4FA-0C0D-C7B9-03579DF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4F11E-0379-23D5-BA8E-334FB43B2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Optimization method is tested with IEA 3.4 MW</a:t>
            </a:r>
          </a:p>
          <a:p>
            <a:r>
              <a:rPr lang="en-US" noProof="0" dirty="0"/>
              <a:t>Understanding how Bladed Interface and swap Array Works in Lidar-Assisted Controller.</a:t>
            </a:r>
          </a:p>
          <a:p>
            <a:r>
              <a:rPr lang="en-US" noProof="0" dirty="0"/>
              <a:t>EOG simulation comparison between feedback only and feedback feedforward controller.</a:t>
            </a:r>
          </a:p>
          <a:p>
            <a:endParaRPr lang="en-US" noProof="0" dirty="0"/>
          </a:p>
          <a:p>
            <a:pPr fontAlgn="base"/>
            <a:r>
              <a:rPr lang="en-US" b="1" noProof="0" dirty="0"/>
              <a:t>Next weeks:</a:t>
            </a:r>
            <a:endParaRPr lang="tr-TR" b="1" noProof="0" dirty="0"/>
          </a:p>
          <a:p>
            <a:pPr fontAlgn="base"/>
            <a:r>
              <a:rPr lang="en-US" dirty="0"/>
              <a:t>Adjust static pitch curve for 25 m/s simulation​</a:t>
            </a:r>
          </a:p>
          <a:p>
            <a:pPr fontAlgn="base"/>
            <a:r>
              <a:rPr lang="en-US" dirty="0"/>
              <a:t>Updating Brute Force Optimization to find global Optimum​</a:t>
            </a:r>
          </a:p>
          <a:p>
            <a:pPr fontAlgn="base"/>
            <a:r>
              <a:rPr lang="en-US" dirty="0"/>
              <a:t>Look into tower damper​</a:t>
            </a:r>
          </a:p>
          <a:p>
            <a:pPr fontAlgn="base"/>
            <a:r>
              <a:rPr lang="en-US" dirty="0"/>
              <a:t>Start with Optimus turbine?</a:t>
            </a:r>
          </a:p>
          <a:p>
            <a:endParaRPr lang="en-US" b="1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57715-04AD-1733-D6EE-3ED2075EF0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55E15D-A89A-0E88-0C10-DCC57A70042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600388-DD13-10AE-D6E8-C3B2B3F898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8398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0AAE9-4FCB-81C8-9E6C-E44698F413F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3650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3B6C-8CCF-52E5-C4C1-B464A55A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Bibliography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B197543-FFF8-0796-8597-AFAFFAFAC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Guo, F., Schlipf, D., &amp; Cheng, P. W. (2023). Evaluation of lidar-assisted wind turbine control under various turbulence characteristics. </a:t>
            </a:r>
            <a:r>
              <a:rPr lang="en-US" i="1" noProof="0" dirty="0"/>
              <a:t>Wind Energy Science, 8</a:t>
            </a:r>
            <a:r>
              <a:rPr lang="en-US" noProof="0" dirty="0"/>
              <a:t>(1), 149–171. </a:t>
            </a:r>
            <a:r>
              <a:rPr lang="en-US" noProof="0" dirty="0">
                <a:hlinkClick r:id="rId2"/>
              </a:rPr>
              <a:t>https://doi.org/10.5194/wes-8-149-2023</a:t>
            </a:r>
            <a:endParaRPr lang="en-US" noProof="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noProof="0" dirty="0">
              <a:latin typeface="Arial" panose="020B0604020202020204" pitchFamily="34" charset="0"/>
            </a:endParaRPr>
          </a:p>
          <a:p>
            <a:endParaRPr lang="en-US" noProof="0" dirty="0"/>
          </a:p>
          <a:p>
            <a:endParaRPr lang="en-US" sz="2400" noProof="0" dirty="0">
              <a:latin typeface="Arial" panose="020B0604020202020204" pitchFamily="34" charset="0"/>
            </a:endParaRPr>
          </a:p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CFC14-7D0B-D387-0E84-9E578197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11/11/2025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0F6A7-F17B-7C59-29CB-54CB36FF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C2CE3-7EB6-1F62-4462-A2E3824B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29C44B-3891-81AD-6964-9252AC4218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Midhun </a:t>
            </a:r>
            <a:r>
              <a:rPr lang="en-US" noProof="0" dirty="0" err="1"/>
              <a:t>Kanichattu</a:t>
            </a:r>
            <a:r>
              <a:rPr lang="en-US" noProof="0" dirty="0"/>
              <a:t> Venu - </a:t>
            </a:r>
            <a:r>
              <a:rPr lang="en-US" noProof="0" dirty="0">
                <a:latin typeface="Times New Roman" pitchFamily="18" charset="0"/>
                <a:cs typeface="Times New Roman" pitchFamily="18" charset="0"/>
              </a:rPr>
              <a:t>770588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32809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E7258755-3B8A-428F-9B71-020BDB6F6014}" vid="{2CB19E59-5F41-4D40-98BC-C6D4E668C96F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4971</TotalTime>
  <Words>1452</Words>
  <Application>Microsoft Office PowerPoint</Application>
  <PresentationFormat>Widescreen</PresentationFormat>
  <Paragraphs>254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Theme1</vt:lpstr>
      <vt:lpstr>Benutzerdefiniertes Design</vt:lpstr>
      <vt:lpstr>Weekly report: Feedback &amp; Lidar – Assisted Controller</vt:lpstr>
      <vt:lpstr>List of Contents</vt:lpstr>
      <vt:lpstr>Tasks of the Week</vt:lpstr>
      <vt:lpstr>Kp and Ki Optimization</vt:lpstr>
      <vt:lpstr>Kp Vectors</vt:lpstr>
      <vt:lpstr>Ki Vectors</vt:lpstr>
      <vt:lpstr>DLC 1.2 Simulation Settings</vt:lpstr>
      <vt:lpstr>Results</vt:lpstr>
      <vt:lpstr>Lifetime Weighted DEL Results</vt:lpstr>
      <vt:lpstr>AEP Results</vt:lpstr>
      <vt:lpstr>Bladed Interface and Swap Array </vt:lpstr>
      <vt:lpstr> WRAPPER.DLL System</vt:lpstr>
      <vt:lpstr>LDP.dll – Lidar Data Processing</vt:lpstr>
      <vt:lpstr>LDP.dll – Lidar Data Processing</vt:lpstr>
      <vt:lpstr>Feed-Forward Pitch Control</vt:lpstr>
      <vt:lpstr>Feed-Forward Pitch Control</vt:lpstr>
      <vt:lpstr>EOG Comparison for 12m/s</vt:lpstr>
      <vt:lpstr>EOG Comparison for 25m/s</vt:lpstr>
      <vt:lpstr>Conclusion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Mirza Dincer</dc:creator>
  <cp:lastModifiedBy>Mirza Dincer</cp:lastModifiedBy>
  <cp:revision>107</cp:revision>
  <dcterms:created xsi:type="dcterms:W3CDTF">2025-10-04T12:59:06Z</dcterms:created>
  <dcterms:modified xsi:type="dcterms:W3CDTF">2025-11-10T11:47:36Z</dcterms:modified>
</cp:coreProperties>
</file>