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4" r:id="rId6"/>
  </p:sldMasterIdLst>
  <p:notesMasterIdLst>
    <p:notesMasterId r:id="rId14"/>
  </p:notesMasterIdLst>
  <p:sldIdLst>
    <p:sldId id="256" r:id="rId7"/>
    <p:sldId id="381" r:id="rId8"/>
    <p:sldId id="380" r:id="rId9"/>
    <p:sldId id="373" r:id="rId10"/>
    <p:sldId id="275" r:id="rId11"/>
    <p:sldId id="382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  <p14:sldId id="381"/>
            <p14:sldId id="380"/>
            <p14:sldId id="373"/>
            <p14:sldId id="275"/>
            <p14:sldId id="382"/>
            <p14:sldId id="280"/>
          </p14:sldIdLst>
        </p14:section>
        <p14:section name="text slide" id="{65043596-36B7-4360-BB5C-7A99EFAEC5C9}">
          <p14:sldIdLst/>
        </p14:section>
        <p14:section name="graph slide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CA9-C0A7-3774-6313-5C0F1920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8BE7A-5C96-2F5C-8150-D090DF813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2D4F5-91B8-C4C4-DC3C-DE8A363E9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Shows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distances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surrounding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In </a:t>
            </a:r>
            <a:r>
              <a:rPr lang="de-DE" dirty="0" err="1">
                <a:sym typeface="Wingdings" panose="05000000000000000000" pitchFamily="2" charset="2"/>
              </a:rPr>
              <a:t>general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distance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longer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surrounding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especially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main</a:t>
            </a:r>
            <a:r>
              <a:rPr lang="de-DE" dirty="0">
                <a:sym typeface="Wingdings" panose="05000000000000000000" pitchFamily="2" charset="2"/>
              </a:rPr>
              <a:t> wind </a:t>
            </a:r>
            <a:r>
              <a:rPr lang="de-DE" dirty="0" err="1">
                <a:sym typeface="Wingdings" panose="05000000000000000000" pitchFamily="2" charset="2"/>
              </a:rPr>
              <a:t>dirction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which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cruicual</a:t>
            </a:r>
            <a:r>
              <a:rPr lang="de-DE" dirty="0">
                <a:sym typeface="Wingdings" panose="05000000000000000000" pitchFamily="2" charset="2"/>
              </a:rPr>
              <a:t>!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Regarding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 A,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shaddow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flicker</a:t>
            </a:r>
            <a:r>
              <a:rPr lang="de-DE" dirty="0">
                <a:sym typeface="Wingdings" panose="05000000000000000000" pitchFamily="2" charset="2"/>
              </a:rPr>
              <a:t> will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, but </a:t>
            </a:r>
            <a:r>
              <a:rPr lang="de-DE" dirty="0" err="1">
                <a:sym typeface="Wingdings" panose="05000000000000000000" pitchFamily="2" charset="2"/>
              </a:rPr>
              <a:t>only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morning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ours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With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buildings</a:t>
            </a:r>
            <a:r>
              <a:rPr lang="de-DE" dirty="0">
                <a:sym typeface="Wingdings" panose="05000000000000000000" pitchFamily="2" charset="2"/>
              </a:rPr>
              <a:t> F-H, I am not </a:t>
            </a:r>
            <a:r>
              <a:rPr lang="de-DE" dirty="0" err="1">
                <a:sym typeface="Wingdings" panose="05000000000000000000" pitchFamily="2" charset="2"/>
              </a:rPr>
              <a:t>sure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are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use</a:t>
            </a:r>
            <a:r>
              <a:rPr lang="de-DE" dirty="0">
                <a:sym typeface="Wingdings" panose="05000000000000000000" pitchFamily="2" charset="2"/>
              </a:rPr>
              <a:t>. I </a:t>
            </a:r>
            <a:r>
              <a:rPr lang="de-DE" dirty="0" err="1">
                <a:sym typeface="Wingdings" panose="05000000000000000000" pitchFamily="2" charset="2"/>
              </a:rPr>
              <a:t>assume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farmers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or</a:t>
            </a:r>
            <a:r>
              <a:rPr lang="de-DE" dirty="0">
                <a:sym typeface="Wingdings" panose="05000000000000000000" pitchFamily="2" charset="2"/>
              </a:rPr>
              <a:t> so.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In </a:t>
            </a:r>
            <a:r>
              <a:rPr lang="de-DE" dirty="0" err="1">
                <a:sym typeface="Wingdings" panose="05000000000000000000" pitchFamily="2" charset="2"/>
              </a:rPr>
              <a:t>my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opinion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better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side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now</a:t>
            </a:r>
            <a:r>
              <a:rPr lang="de-DE" dirty="0">
                <a:sym typeface="Wingdings" panose="05000000000000000000" pitchFamily="2" charset="2"/>
              </a:rPr>
              <a:t>. </a:t>
            </a:r>
            <a:r>
              <a:rPr lang="de-DE" dirty="0" err="1">
                <a:sym typeface="Wingdings" panose="05000000000000000000" pitchFamily="2" charset="2"/>
              </a:rPr>
              <a:t>Only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amount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water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resources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could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major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, but </a:t>
            </a:r>
            <a:r>
              <a:rPr lang="de-DE" dirty="0" err="1">
                <a:sym typeface="Wingdings" panose="05000000000000000000" pitchFamily="2" charset="2"/>
              </a:rPr>
              <a:t>according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soil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analysis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</a:t>
            </a:r>
            <a:r>
              <a:rPr lang="de-DE" dirty="0">
                <a:sym typeface="Wingdings" panose="05000000000000000000" pitchFamily="2" charset="2"/>
              </a:rPr>
              <a:t> will not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problem</a:t>
            </a:r>
            <a:r>
              <a:rPr lang="de-DE" dirty="0">
                <a:sym typeface="Wingdings" panose="05000000000000000000" pitchFamily="2" charset="2"/>
              </a:rPr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7C25D-84A0-BE45-5F58-45C867B1B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7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632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74029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0837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5949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040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6592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1489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24962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3582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083487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051080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570402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3637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102701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096486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35326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900739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1965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9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" TargetMode="External"/><Relationship Id="rId2" Type="http://schemas.openxmlformats.org/officeDocument/2006/relationships/hyperlink" Target="https://earth.google.com/web/@34.29977563,36.68817928,1384.78342427a,853580.17318904d,35y,0h,0t,0r/data=CgRCAggBOgMKATBCAggASg0I____________ARA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rser.2021.111293/" TargetMode="External"/><Relationship Id="rId4" Type="http://schemas.openxmlformats.org/officeDocument/2006/relationships/hyperlink" Target="https://openinframap.org/#10.04/33.2058/36.20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Team Project Development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it-IT" sz="2000" dirty="0"/>
              <a:t>Week number: 08 – Kick Off</a:t>
            </a:r>
          </a:p>
          <a:p>
            <a:r>
              <a:rPr lang="it-IT" sz="2000" dirty="0"/>
              <a:t>Date: </a:t>
            </a:r>
            <a:r>
              <a:rPr lang="en-US" sz="2000" dirty="0"/>
              <a:t>11</a:t>
            </a:r>
            <a:r>
              <a:rPr lang="it-IT" sz="2000" dirty="0"/>
              <a:t>/11/2025</a:t>
            </a:r>
          </a:p>
          <a:p>
            <a:r>
              <a:rPr lang="it-IT" sz="2000" dirty="0"/>
              <a:t>Supervisor: Dr.</a:t>
            </a:r>
            <a:r>
              <a:rPr lang="tr-TR" sz="2000" dirty="0"/>
              <a:t> </a:t>
            </a:r>
            <a:r>
              <a:rPr lang="it-IT" sz="2000" dirty="0"/>
              <a:t>Marina Blohm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</a:t>
            </a:r>
            <a:r>
              <a:rPr lang="tr-TR" sz="1400" dirty="0"/>
              <a:t> </a:t>
            </a:r>
            <a:r>
              <a:rPr lang="tr-TR" sz="1400" b="1" dirty="0"/>
              <a:t>Ahmed Sallam</a:t>
            </a:r>
            <a:r>
              <a:rPr lang="en-US" sz="1400" b="1" dirty="0"/>
              <a:t>,</a:t>
            </a:r>
            <a:r>
              <a:rPr lang="tr-TR" sz="1400" b="1" dirty="0"/>
              <a:t> Luis Urhahn,, Ceren Cetin, Sohail Mansuri</a:t>
            </a:r>
          </a:p>
          <a:p>
            <a:pPr algn="ctr"/>
            <a:endParaRPr lang="tr-TR" sz="1400" b="1" dirty="0"/>
          </a:p>
          <a:p>
            <a:pPr algn="ctr"/>
            <a:endParaRPr lang="tr-TR" sz="1400" b="1" dirty="0"/>
          </a:p>
          <a:p>
            <a:pPr algn="ctr"/>
            <a:endParaRPr lang="tr-TR" sz="1400" b="1" dirty="0"/>
          </a:p>
          <a:p>
            <a:pPr algn="ctr"/>
            <a:endParaRPr lang="de-DE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tx1"/>
                </a:solidFill>
              </a:rPr>
              <a:t>1</a:t>
            </a:fld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56BF-EFF3-551E-51E0-355C5C495450}"/>
              </a:ext>
            </a:extLst>
          </p:cNvPr>
          <p:cNvSpPr txBox="1"/>
          <p:nvPr/>
        </p:nvSpPr>
        <p:spPr>
          <a:xfrm>
            <a:off x="4455298" y="5153243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Presenter : Ahmed Sallam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5EF1-F0B2-651E-802E-1E95ED86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4A594E4-5EF5-00C3-6BBE-E84E6E515DA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862D75B-AAE6-0630-1B7B-3BAAC4E8D7FA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BF506A8-2DE4-79FF-DF19-0D10B8A76D5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2F9376C-C79D-4DE0-780F-120E664AA9E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DAB2103-A007-124A-B5BF-6622E6FF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29287" y="6551600"/>
            <a:ext cx="442064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Ahmed Sallam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E64413-88C2-AA77-825D-45B03B0F1F70}"/>
              </a:ext>
            </a:extLst>
          </p:cNvPr>
          <p:cNvCxnSpPr/>
          <p:nvPr/>
        </p:nvCxnSpPr>
        <p:spPr>
          <a:xfrm>
            <a:off x="630115" y="1176770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39D098-7DBF-484D-536E-4C72852A8325}"/>
              </a:ext>
            </a:extLst>
          </p:cNvPr>
          <p:cNvSpPr txBox="1"/>
          <p:nvPr/>
        </p:nvSpPr>
        <p:spPr>
          <a:xfrm>
            <a:off x="629750" y="576685"/>
            <a:ext cx="7983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Weekly progress of the team</a:t>
            </a:r>
          </a:p>
          <a:p>
            <a:endParaRPr lang="LID4096" sz="3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A85E97-8213-4FB3-F0A7-8895EED825C8}"/>
              </a:ext>
            </a:extLst>
          </p:cNvPr>
          <p:cNvSpPr/>
          <p:nvPr/>
        </p:nvSpPr>
        <p:spPr>
          <a:xfrm>
            <a:off x="8908026" y="2605548"/>
            <a:ext cx="1573161" cy="3834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D9438-5258-2C3A-CB58-6C9201E8931C}"/>
              </a:ext>
            </a:extLst>
          </p:cNvPr>
          <p:cNvSpPr txBox="1"/>
          <p:nvPr/>
        </p:nvSpPr>
        <p:spPr>
          <a:xfrm>
            <a:off x="629750" y="2612611"/>
            <a:ext cx="4788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wind turbine capital cost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87C0D-50C1-200D-6008-6266B5790915}"/>
              </a:ext>
            </a:extLst>
          </p:cNvPr>
          <p:cNvSpPr txBox="1"/>
          <p:nvPr/>
        </p:nvSpPr>
        <p:spPr>
          <a:xfrm>
            <a:off x="629750" y="1867523"/>
            <a:ext cx="521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new feed in tariff in Syria</a:t>
            </a:r>
          </a:p>
          <a:p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B89A3-0BE2-1B6F-EAFD-FC9FF6F8C698}"/>
              </a:ext>
            </a:extLst>
          </p:cNvPr>
          <p:cNvSpPr txBox="1"/>
          <p:nvPr/>
        </p:nvSpPr>
        <p:spPr>
          <a:xfrm>
            <a:off x="629750" y="3245991"/>
            <a:ext cx="3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price contributions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98915-AEEA-3C80-3BC4-C8A815366D2A}"/>
              </a:ext>
            </a:extLst>
          </p:cNvPr>
          <p:cNvSpPr txBox="1"/>
          <p:nvPr/>
        </p:nvSpPr>
        <p:spPr>
          <a:xfrm>
            <a:off x="629750" y="3972020"/>
            <a:ext cx="431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impression to financial indicators 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9B098-8694-E549-9C3E-A9F2129717E3}"/>
              </a:ext>
            </a:extLst>
          </p:cNvPr>
          <p:cNvSpPr txBox="1"/>
          <p:nvPr/>
        </p:nvSpPr>
        <p:spPr>
          <a:xfrm>
            <a:off x="1170039" y="6531120"/>
            <a:ext cx="737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endParaRPr lang="LID4096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8F755D01-07E4-C24B-253A-0DDA6081A8DD}"/>
              </a:ext>
            </a:extLst>
          </p:cNvPr>
          <p:cNvSpPr txBox="1">
            <a:spLocks/>
          </p:cNvSpPr>
          <p:nvPr/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de-DE" sz="1200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sz="1200" dirty="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85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DC82-BC99-56BA-E03F-65F89E82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4F27527-2ACA-36B6-A24D-7D3824330A6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3187628-FBDC-2879-A3F9-FEE28EE99CC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D1BE70C-C1F6-D693-181C-6B6A926074F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2D721F-C67B-90E2-DAEF-7BFE80C5BAA8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D8761CB-5E3C-3FEC-83CD-B2BE0E6E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09785" y="6541768"/>
            <a:ext cx="1697105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Ahmed Sallam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3896C8-D7D1-7544-AD83-70007CC44FDA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F85C21-8C5B-3F13-A0EF-4524470C18E0}"/>
              </a:ext>
            </a:extLst>
          </p:cNvPr>
          <p:cNvSpPr txBox="1"/>
          <p:nvPr/>
        </p:nvSpPr>
        <p:spPr>
          <a:xfrm>
            <a:off x="577487" y="451491"/>
            <a:ext cx="89991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The new feed in tariff in Syria</a:t>
            </a:r>
          </a:p>
          <a:p>
            <a:endParaRPr lang="LID4096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127B52-F8F4-E44D-7ABD-6DF772CC5BE6}"/>
              </a:ext>
            </a:extLst>
          </p:cNvPr>
          <p:cNvSpPr txBox="1"/>
          <p:nvPr/>
        </p:nvSpPr>
        <p:spPr>
          <a:xfrm>
            <a:off x="484418" y="1461937"/>
            <a:ext cx="9264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new system </a:t>
            </a:r>
            <a:r>
              <a:rPr lang="en-US" sz="1600" dirty="0"/>
              <a:t>is</a:t>
            </a:r>
            <a:r>
              <a:rPr lang="en-US" dirty="0"/>
              <a:t> divided into four tiers, moving away from universal, heavy subsidies toward cost-recovery for higher consumption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7F8A5-16C6-A249-FDE9-1640CC1BD4CB}"/>
              </a:ext>
            </a:extLst>
          </p:cNvPr>
          <p:cNvSpPr txBox="1"/>
          <p:nvPr/>
        </p:nvSpPr>
        <p:spPr>
          <a:xfrm>
            <a:off x="-68828" y="2565100"/>
            <a:ext cx="577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Tier 1: Highly </a:t>
            </a:r>
            <a:r>
              <a:rPr lang="en-US" sz="1600" dirty="0"/>
              <a:t>Subsidized</a:t>
            </a:r>
            <a:r>
              <a:rPr lang="en-US" dirty="0"/>
              <a:t> (Low-Income)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F056D-6A8B-FBAF-8A92-2F8F57E5D779}"/>
              </a:ext>
            </a:extLst>
          </p:cNvPr>
          <p:cNvSpPr txBox="1"/>
          <p:nvPr/>
        </p:nvSpPr>
        <p:spPr>
          <a:xfrm>
            <a:off x="304799" y="3075170"/>
            <a:ext cx="53979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Price: 600 SYP/kWh (approx. 4.6 € cent/kWh).</a:t>
            </a:r>
          </a:p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Limit: Consumption up to 300 kWh per two-month billing cycle.</a:t>
            </a:r>
          </a:p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Subsidy: This rate remains 60% subsidized by the government.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LID4096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F7531-CFCD-B306-7620-0C09ABDB8F7F}"/>
              </a:ext>
            </a:extLst>
          </p:cNvPr>
          <p:cNvSpPr txBox="1"/>
          <p:nvPr/>
        </p:nvSpPr>
        <p:spPr>
          <a:xfrm>
            <a:off x="903516" y="4070228"/>
            <a:ext cx="5190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Tier 2: Medium/High Income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B90EF-D7A1-AF4E-4350-C0BC11F0189F}"/>
              </a:ext>
            </a:extLst>
          </p:cNvPr>
          <p:cNvSpPr txBox="1"/>
          <p:nvPr/>
        </p:nvSpPr>
        <p:spPr>
          <a:xfrm>
            <a:off x="-442452" y="5065668"/>
            <a:ext cx="7177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Price: 1,400 SYP/kWh (approx. 10.8 € cent/kWh).</a:t>
            </a:r>
          </a:p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Limit: Consumption above 300 kWh per two-month billing cycle.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31A49-8B11-7B54-E081-2060CBAF4273}"/>
              </a:ext>
            </a:extLst>
          </p:cNvPr>
          <p:cNvSpPr txBox="1"/>
          <p:nvPr/>
        </p:nvSpPr>
        <p:spPr>
          <a:xfrm>
            <a:off x="6735097" y="2574031"/>
            <a:ext cx="526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Tier 3: Exempt from Rationing / Public Institutions</a:t>
            </a:r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F632A-B7A2-8EA5-0039-942AA70C07D4}"/>
              </a:ext>
            </a:extLst>
          </p:cNvPr>
          <p:cNvSpPr txBox="1"/>
          <p:nvPr/>
        </p:nvSpPr>
        <p:spPr>
          <a:xfrm>
            <a:off x="6264196" y="3075170"/>
            <a:ext cx="57104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Price: 1,700 SYP/kWh (approx. 13.1 € cent/kWh).</a:t>
            </a:r>
          </a:p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LID4096" altLang="LID4096" sz="1400" dirty="0">
                <a:latin typeface="Arial" panose="020B0604020202020204" pitchFamily="34" charset="0"/>
              </a:rPr>
              <a:t>Applies to: Government institutions and companies/factories requiring 24/7 power.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89CD4C-B23F-6F4A-4A0F-3F580CA1BD4F}"/>
              </a:ext>
            </a:extLst>
          </p:cNvPr>
          <p:cNvSpPr txBox="1"/>
          <p:nvPr/>
        </p:nvSpPr>
        <p:spPr>
          <a:xfrm>
            <a:off x="6735097" y="4393393"/>
            <a:ext cx="479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Tier 4: High Consumption Industry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B2B554-F70F-AE96-D80E-5989842328E2}"/>
              </a:ext>
            </a:extLst>
          </p:cNvPr>
          <p:cNvSpPr txBox="1"/>
          <p:nvPr/>
        </p:nvSpPr>
        <p:spPr>
          <a:xfrm>
            <a:off x="6093910" y="5173400"/>
            <a:ext cx="5710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Price: 1,800 SYP/kWh (approx. 13.8 € cent/kWh).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Applies to: High electrical consumption industries (e.g., smelters/heavy manufacturing).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4820AE-5E9B-E8C6-7C46-9EABC4F8555B}"/>
              </a:ext>
            </a:extLst>
          </p:cNvPr>
          <p:cNvSpPr txBox="1"/>
          <p:nvPr/>
        </p:nvSpPr>
        <p:spPr>
          <a:xfrm>
            <a:off x="1414794" y="6529252"/>
            <a:ext cx="56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LID4096" dirty="0"/>
          </a:p>
        </p:txBody>
      </p: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ACF931F5-FCD2-D538-891B-671723529570}"/>
              </a:ext>
            </a:extLst>
          </p:cNvPr>
          <p:cNvSpPr txBox="1">
            <a:spLocks/>
          </p:cNvSpPr>
          <p:nvPr/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de-DE" sz="1200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sz="1200" dirty="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0581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3" grpId="0"/>
      <p:bldP spid="14" grpId="0"/>
      <p:bldP spid="17" grpId="0"/>
      <p:bldP spid="19" grpId="0"/>
      <p:bldP spid="24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853C-2D3A-85E9-BAEE-AE0FD973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78CE47D-F523-067D-3DDA-C7CAD5BE447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326A9D7-E377-F2EB-2473-15EEB6F09593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1617261-DAB0-0842-3E61-29707826E19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A5CF224-45D0-914A-1CAC-A01CDC4A0C23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85ED49-82A4-CC4C-7450-D8DB7020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429" y="6538183"/>
            <a:ext cx="2497091" cy="365125"/>
          </a:xfrm>
        </p:spPr>
        <p:txBody>
          <a:bodyPr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Ahmed Sallam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D74410-48CC-3922-30ED-0CE92203FDA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9ED3F44-6F4F-569A-B781-E875986A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92" y="3673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Wind turbine Capex</a:t>
            </a:r>
            <a:br>
              <a:rPr lang="en-US" sz="3200" dirty="0"/>
            </a:br>
            <a:endParaRPr lang="LID4096" sz="3200" dirty="0"/>
          </a:p>
        </p:txBody>
      </p:sp>
      <p:pic>
        <p:nvPicPr>
          <p:cNvPr id="12" name="Picture 11" descr="A graph of a wind turbine&#10;&#10;AI-generated content may be incorrect.">
            <a:extLst>
              <a:ext uri="{FF2B5EF4-FFF2-40B4-BE49-F238E27FC236}">
                <a16:creationId xmlns:a16="http://schemas.microsoft.com/office/drawing/2014/main" id="{D407B9C0-9C95-2D5F-F48C-8F9B7F530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80" y="2186353"/>
            <a:ext cx="6930867" cy="34805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5EBDBC-C37E-6764-72BB-3DBF4DD67A07}"/>
              </a:ext>
            </a:extLst>
          </p:cNvPr>
          <p:cNvSpPr txBox="1"/>
          <p:nvPr/>
        </p:nvSpPr>
        <p:spPr>
          <a:xfrm>
            <a:off x="226142" y="1609924"/>
            <a:ext cx="50349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2021 – Stable Prices</a:t>
            </a:r>
            <a:br>
              <a:rPr lang="en-US" sz="1400" dirty="0"/>
            </a:br>
            <a:r>
              <a:rPr lang="en-US" sz="1400" dirty="0"/>
              <a:t>  - Vestas: €0.8 million/MW</a:t>
            </a:r>
            <a:br>
              <a:rPr lang="en-US" sz="1400" dirty="0"/>
            </a:br>
            <a:r>
              <a:rPr lang="en-US" sz="1400" dirty="0"/>
              <a:t>  - Siemens Gamesa: €0.7 million/MW</a:t>
            </a:r>
            <a:br>
              <a:rPr lang="en-US" sz="1400" dirty="0"/>
            </a:br>
            <a:r>
              <a:rPr lang="en-US" sz="1400" dirty="0"/>
              <a:t>  - Nordex/Acciona: €0.7 million/MW</a:t>
            </a:r>
            <a:endParaRPr lang="LID4096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D0FC8A-835B-098E-6CBC-2DB84A270423}"/>
              </a:ext>
            </a:extLst>
          </p:cNvPr>
          <p:cNvSpPr/>
          <p:nvPr/>
        </p:nvSpPr>
        <p:spPr>
          <a:xfrm>
            <a:off x="8477769" y="4865309"/>
            <a:ext cx="648930" cy="7939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425C9F-E803-D38F-59E9-51B298323A97}"/>
              </a:ext>
            </a:extLst>
          </p:cNvPr>
          <p:cNvSpPr txBox="1"/>
          <p:nvPr/>
        </p:nvSpPr>
        <p:spPr>
          <a:xfrm>
            <a:off x="226142" y="2695515"/>
            <a:ext cx="46899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2022 – Prices Increased</a:t>
            </a:r>
            <a:br>
              <a:rPr lang="en-US" sz="1400" dirty="0"/>
            </a:br>
            <a:r>
              <a:rPr lang="en-US" sz="1400" dirty="0"/>
              <a:t>  - Vestas: €1.2 million/MW</a:t>
            </a:r>
            <a:br>
              <a:rPr lang="en-US" sz="1400" dirty="0"/>
            </a:br>
            <a:r>
              <a:rPr lang="en-US" sz="1400" dirty="0"/>
              <a:t>  - Siemens Gamesa: €0.8 million/MW</a:t>
            </a:r>
            <a:br>
              <a:rPr lang="en-US" sz="1400" dirty="0"/>
            </a:br>
            <a:r>
              <a:rPr lang="en-US" sz="1400" dirty="0"/>
              <a:t>  - Nordex/Acciona: €0.9 million/MW</a:t>
            </a:r>
            <a:br>
              <a:rPr lang="en-US" dirty="0"/>
            </a:br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B6A09-D782-68F4-3F80-8CC0CBB8334A}"/>
              </a:ext>
            </a:extLst>
          </p:cNvPr>
          <p:cNvSpPr txBox="1"/>
          <p:nvPr/>
        </p:nvSpPr>
        <p:spPr>
          <a:xfrm>
            <a:off x="226142" y="3705716"/>
            <a:ext cx="44960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2023 – Continued Rise</a:t>
            </a:r>
            <a:br>
              <a:rPr lang="en-US" sz="1400" dirty="0"/>
            </a:br>
            <a:r>
              <a:rPr lang="en-US" sz="1400" dirty="0"/>
              <a:t>  - Vestas: €1.1 million/MW</a:t>
            </a:r>
            <a:br>
              <a:rPr lang="en-US" sz="1400" dirty="0"/>
            </a:br>
            <a:r>
              <a:rPr lang="en-US" sz="1400" dirty="0"/>
              <a:t>  - Siemens Gamesa: €1.0 million/MW</a:t>
            </a:r>
            <a:br>
              <a:rPr lang="en-US" dirty="0"/>
            </a:br>
            <a:endParaRPr lang="LID4096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F99D4D-9272-5401-92CF-D691F1B923C0}"/>
              </a:ext>
            </a:extLst>
          </p:cNvPr>
          <p:cNvSpPr txBox="1"/>
          <p:nvPr/>
        </p:nvSpPr>
        <p:spPr>
          <a:xfrm>
            <a:off x="226142" y="4685659"/>
            <a:ext cx="49554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Chinese Manufacturers</a:t>
            </a:r>
            <a:br>
              <a:rPr lang="en-US" sz="1400" dirty="0"/>
            </a:br>
            <a:r>
              <a:rPr lang="en-US" sz="1400" dirty="0"/>
              <a:t>  - Less impacted by cost pressures</a:t>
            </a:r>
            <a:br>
              <a:rPr lang="en-US" sz="1400" dirty="0"/>
            </a:br>
            <a:r>
              <a:rPr lang="en-US" sz="1400" dirty="0"/>
              <a:t>  - Access to local raw materials &amp; subsidies</a:t>
            </a:r>
            <a:br>
              <a:rPr lang="en-US" sz="1400" dirty="0"/>
            </a:br>
            <a:r>
              <a:rPr lang="en-US" sz="1400" dirty="0"/>
              <a:t>  - Prices around €0.6 million/MW (2022)</a:t>
            </a:r>
            <a:br>
              <a:rPr lang="en-US" sz="1400" dirty="0"/>
            </a:br>
            <a:r>
              <a:rPr lang="en-US" sz="1400" dirty="0"/>
              <a:t>  - Lower than Western manufacturers</a:t>
            </a:r>
            <a:endParaRPr lang="LID4096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2EC75E-366A-41AF-98F3-3DDCC0505CC4}"/>
              </a:ext>
            </a:extLst>
          </p:cNvPr>
          <p:cNvCxnSpPr>
            <a:cxnSpLocks/>
          </p:cNvCxnSpPr>
          <p:nvPr/>
        </p:nvCxnSpPr>
        <p:spPr>
          <a:xfrm flipV="1">
            <a:off x="7757652" y="5571906"/>
            <a:ext cx="691831" cy="378863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59A2EA-576F-E9A4-1F1C-1BB92E04BB74}"/>
              </a:ext>
            </a:extLst>
          </p:cNvPr>
          <p:cNvSpPr txBox="1"/>
          <p:nvPr/>
        </p:nvSpPr>
        <p:spPr>
          <a:xfrm>
            <a:off x="6912078" y="5934787"/>
            <a:ext cx="476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https://www.enerdata.net/publications/executive-briefing/wind-market-share.html</a:t>
            </a:r>
            <a:endParaRPr lang="LID4096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123649-6613-6F81-11D0-1E148EEC4A8D}"/>
              </a:ext>
            </a:extLst>
          </p:cNvPr>
          <p:cNvSpPr txBox="1"/>
          <p:nvPr/>
        </p:nvSpPr>
        <p:spPr>
          <a:xfrm>
            <a:off x="1414794" y="6529252"/>
            <a:ext cx="56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LID4096" dirty="0"/>
          </a:p>
        </p:txBody>
      </p:sp>
      <p:sp>
        <p:nvSpPr>
          <p:cNvPr id="37" name="Fußzeilenplatzhalter 4">
            <a:extLst>
              <a:ext uri="{FF2B5EF4-FFF2-40B4-BE49-F238E27FC236}">
                <a16:creationId xmlns:a16="http://schemas.microsoft.com/office/drawing/2014/main" id="{1A9D7A88-0051-AD09-5F69-ACD5A5E2B214}"/>
              </a:ext>
            </a:extLst>
          </p:cNvPr>
          <p:cNvSpPr txBox="1">
            <a:spLocks/>
          </p:cNvSpPr>
          <p:nvPr/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de-DE" sz="1200">
                <a:solidFill>
                  <a:prstClr val="white"/>
                </a:solidFill>
                <a:latin typeface="Aptos" panose="02110004020202020204"/>
              </a:rPr>
              <a:t>Project Development / Optimus Syria</a:t>
            </a:r>
            <a:endParaRPr lang="de-DE" sz="1200" dirty="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17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1673-C806-16FF-C047-6A3A62BA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B4220DB-ABED-BB7E-C689-63ED759C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-50766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Initial price contributions </a:t>
            </a:r>
            <a:endParaRPr lang="LID4096" sz="32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7CDDA4-CAF1-6B99-9CD2-DE8D9116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4E5387-0264-DBE7-B9F4-72DC5ACF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87520-8C5D-C9F2-711A-5A82834C7A5A}"/>
              </a:ext>
            </a:extLst>
          </p:cNvPr>
          <p:cNvSpPr txBox="1"/>
          <p:nvPr/>
        </p:nvSpPr>
        <p:spPr>
          <a:xfrm>
            <a:off x="1414794" y="6529252"/>
            <a:ext cx="56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LID4096" dirty="0"/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51D2D4-65F7-E6CB-EFE2-690105D86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5561"/>
            <a:ext cx="12192000" cy="50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6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8DDB35E5-8E39-8072-6542-0257A2F0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652" y="4255298"/>
            <a:ext cx="3455304" cy="1565399"/>
          </a:xfrm>
          <a:prstGeom prst="rect">
            <a:avLst/>
          </a:prstGeom>
        </p:spPr>
      </p:pic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6B6DE25-FF62-3573-A3B1-1B685753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Project Development / Optimus Syria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24B1FB4-D4D9-2B01-D75A-821963FC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07766" y="6564746"/>
            <a:ext cx="1570221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Ahmed Sallam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D163C-FDBE-8C94-4945-88183E508309}"/>
              </a:ext>
            </a:extLst>
          </p:cNvPr>
          <p:cNvSpPr txBox="1"/>
          <p:nvPr/>
        </p:nvSpPr>
        <p:spPr>
          <a:xfrm>
            <a:off x="1414794" y="6529252"/>
            <a:ext cx="56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LID4096" dirty="0"/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4CC86B38-F79F-7278-9404-1A8591D5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365125"/>
            <a:ext cx="10515600" cy="13255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First impression to financial indicators </a:t>
            </a:r>
            <a:endParaRPr lang="LID4096" sz="3200" dirty="0"/>
          </a:p>
        </p:txBody>
      </p:sp>
      <p:pic>
        <p:nvPicPr>
          <p:cNvPr id="14" name="Picture 1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4519803A-49F7-AACE-1CF6-89E0CD4D2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8" y="1462005"/>
            <a:ext cx="12208066" cy="5040702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AFB7A98-3288-6F06-4868-7AECF63D4212}"/>
              </a:ext>
            </a:extLst>
          </p:cNvPr>
          <p:cNvSpPr/>
          <p:nvPr/>
        </p:nvSpPr>
        <p:spPr>
          <a:xfrm>
            <a:off x="2418736" y="5405827"/>
            <a:ext cx="668594" cy="41487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DE23B-FDB5-1022-1D23-E913B574D322}"/>
              </a:ext>
            </a:extLst>
          </p:cNvPr>
          <p:cNvCxnSpPr>
            <a:cxnSpLocks/>
          </p:cNvCxnSpPr>
          <p:nvPr/>
        </p:nvCxnSpPr>
        <p:spPr>
          <a:xfrm flipV="1">
            <a:off x="1414794" y="5820697"/>
            <a:ext cx="1003942" cy="570271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graph of a diagram&#10;&#10;AI-generated content may be incorrect.">
            <a:extLst>
              <a:ext uri="{FF2B5EF4-FFF2-40B4-BE49-F238E27FC236}">
                <a16:creationId xmlns:a16="http://schemas.microsoft.com/office/drawing/2014/main" id="{7AC79AC9-E724-A8C0-41A1-C6E5478F5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257481"/>
            <a:ext cx="6400800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2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2447-9F3D-9203-A29F-68ED7EF4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C010DB9-B9A3-4B73-B3E3-D8674C2F93F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F445E85-FF35-756C-2772-29030A24220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F1F1ECD-76F4-A4E8-25D8-EAE2755AAA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D8187B5-BEAA-1733-584D-176607E94ED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F8F795-4EB1-7D9A-B0E0-D7C21189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266" y="6538183"/>
            <a:ext cx="553183" cy="365125"/>
          </a:xfrm>
        </p:spPr>
        <p:txBody>
          <a:bodyPr/>
          <a:lstStyle/>
          <a:p>
            <a:pPr algn="ctr"/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 algn="ctr"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6A3CC6-174A-888C-850D-3ADC444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11218984" cy="712728"/>
          </a:xfrm>
        </p:spPr>
        <p:txBody>
          <a:bodyPr>
            <a:normAutofit/>
          </a:bodyPr>
          <a:lstStyle/>
          <a:p>
            <a:r>
              <a:rPr lang="de-DE" dirty="0"/>
              <a:t>References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4022A3-EFCA-EE72-042E-043B9CDF3F6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92C6-ED6E-8531-0D86-BF949EA55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tr-TR" sz="1900" dirty="0"/>
              <a:t>file:///D:/windenergei%20master/2nd%20semster/optimus%20project/pdfs/EN2024_ISE_Study_Levelized_Cost_of_Electricity_Renewable_Energy_Technologies.pdf[2] Google Earth, </a:t>
            </a:r>
            <a:r>
              <a:rPr lang="tr-TR" sz="1900" i="1" dirty="0"/>
              <a:t>Google Earth Web</a:t>
            </a:r>
            <a:r>
              <a:rPr lang="tr-TR" sz="1900" dirty="0"/>
              <a:t>. [Online]. Available: </a:t>
            </a:r>
            <a:r>
              <a:rPr lang="tr-TR" sz="1900" dirty="0">
                <a:hlinkClick r:id="rId2"/>
              </a:rPr>
              <a:t>https://earth.google.com/web/@34.29977563,36.68817928,1384.78342427a,853580.17318904d,35y,0h,0t,0r/data=CgRCAggBOgMKATBCAggASg0I____________ARAA</a:t>
            </a:r>
            <a:r>
              <a:rPr lang="tr-TR" sz="1900" dirty="0"/>
              <a:t>. [Accessed: Sep. 17, 2025].</a:t>
            </a:r>
          </a:p>
          <a:p>
            <a:r>
              <a:rPr lang="tr-TR" sz="1900" dirty="0"/>
              <a:t>[3] Google Maps, </a:t>
            </a:r>
            <a:r>
              <a:rPr lang="tr-TR" sz="1900" i="1" dirty="0"/>
              <a:t>Google Maps</a:t>
            </a:r>
            <a:r>
              <a:rPr lang="tr-TR" sz="1900" dirty="0"/>
              <a:t>. [Online]. Available: </a:t>
            </a:r>
            <a:r>
              <a:rPr lang="tr-TR" sz="1900" dirty="0">
                <a:hlinkClick r:id="rId3"/>
              </a:rPr>
              <a:t>https://www.google.com/maps</a:t>
            </a:r>
            <a:r>
              <a:rPr lang="tr-TR" sz="1900" dirty="0"/>
              <a:t>. [Accessed: Sep. 17, 2025].</a:t>
            </a:r>
          </a:p>
          <a:p>
            <a:r>
              <a:rPr lang="tr-TR" sz="1900" dirty="0"/>
              <a:t>[4] Open Infrastructure Map, </a:t>
            </a:r>
            <a:r>
              <a:rPr lang="tr-TR" sz="1900" i="1" dirty="0"/>
              <a:t>OpenInfraMap</a:t>
            </a:r>
            <a:r>
              <a:rPr lang="tr-TR" sz="1900" dirty="0"/>
              <a:t>. [Online]. Available: </a:t>
            </a:r>
            <a:r>
              <a:rPr lang="tr-TR" sz="1900" dirty="0">
                <a:hlinkClick r:id="rId4"/>
              </a:rPr>
              <a:t>https://openinframap.org/#10.04/33.2058/36.2058</a:t>
            </a:r>
            <a:r>
              <a:rPr lang="tr-TR" sz="1900" dirty="0"/>
              <a:t>. [Accessed: Sep. 17, 2025].</a:t>
            </a:r>
          </a:p>
          <a:p>
            <a:r>
              <a:rPr lang="en-US" sz="1900" dirty="0"/>
              <a:t>Wind power plant site selection: A systematic review </a:t>
            </a:r>
            <a:br>
              <a:rPr lang="en-US" sz="1900" dirty="0"/>
            </a:br>
            <a:r>
              <a:rPr lang="tr-TR" sz="1900" dirty="0">
                <a:hlinkClick r:id="rId5"/>
              </a:rPr>
              <a:t>https://doi.org/10.1016/j.rser.2021.111293</a:t>
            </a:r>
            <a:r>
              <a:rPr lang="en-US" sz="1900" dirty="0">
                <a:hlinkClick r:id="rId5"/>
              </a:rPr>
              <a:t>/</a:t>
            </a:r>
            <a:endParaRPr lang="tr-TR" sz="1900" dirty="0"/>
          </a:p>
        </p:txBody>
      </p:sp>
    </p:spTree>
    <p:extLst>
      <p:ext uri="{BB962C8B-B14F-4D97-AF65-F5344CB8AC3E}">
        <p14:creationId xmlns:p14="http://schemas.microsoft.com/office/powerpoint/2010/main" val="300043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_Project Development_Week_01" id="{565AEDCE-AEA5-4BFA-88F3-D43DDDF3E38B}" vid="{7E403B28-2726-4574-8041-C7D53A5C5E6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87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8ED8C6ACF53C418E42EFCEE2100334" ma:contentTypeVersion="14" ma:contentTypeDescription="Ein neues Dokument erstellen." ma:contentTypeScope="" ma:versionID="55daf8c1348c2d18c78aba756c4375d5">
  <xsd:schema xmlns:xsd="http://www.w3.org/2001/XMLSchema" xmlns:xs="http://www.w3.org/2001/XMLSchema" xmlns:p="http://schemas.microsoft.com/office/2006/metadata/properties" xmlns:ns3="c2e2211f-efd8-41c4-b0e4-f9d02e6fa652" xmlns:ns4="117e12d0-7e6a-4baf-90da-da83f86f542e" targetNamespace="http://schemas.microsoft.com/office/2006/metadata/properties" ma:root="true" ma:fieldsID="608b4dd469a240f50e4a9492b3699c70" ns3:_="" ns4:_="">
    <xsd:import namespace="c2e2211f-efd8-41c4-b0e4-f9d02e6fa652"/>
    <xsd:import namespace="117e12d0-7e6a-4baf-90da-da83f86f54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2211f-efd8-41c4-b0e4-f9d02e6fa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e12d0-7e6a-4baf-90da-da83f86f54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e2211f-efd8-41c4-b0e4-f9d02e6fa65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366F2C-8C74-4E59-ACF3-4A33DBC1B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2211f-efd8-41c4-b0e4-f9d02e6fa652"/>
    <ds:schemaRef ds:uri="117e12d0-7e6a-4baf-90da-da83f86f54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F1061A-17C7-4F4A-9830-A9F1702CCAEA}">
  <ds:schemaRefs>
    <ds:schemaRef ds:uri="http://schemas.microsoft.com/office/infopath/2007/PartnerControls"/>
    <ds:schemaRef ds:uri="c2e2211f-efd8-41c4-b0e4-f9d02e6fa652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17e12d0-7e6a-4baf-90da-da83f86f542e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E1FA3D-3612-45D1-BA6C-325405A7CD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5536</TotalTime>
  <Words>750</Words>
  <Application>Microsoft Office PowerPoint</Application>
  <PresentationFormat>Widescreen</PresentationFormat>
  <Paragraphs>70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Custom Design</vt:lpstr>
      <vt:lpstr>Office</vt:lpstr>
      <vt:lpstr>Weekly report: Team Project Development</vt:lpstr>
      <vt:lpstr>PowerPoint Presentation</vt:lpstr>
      <vt:lpstr>PowerPoint Presentation</vt:lpstr>
      <vt:lpstr>Wind turbine Capex </vt:lpstr>
      <vt:lpstr>Initial price contributions </vt:lpstr>
      <vt:lpstr>First impression to financial indicators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20812019100769</cp:lastModifiedBy>
  <cp:revision>16</cp:revision>
  <dcterms:created xsi:type="dcterms:W3CDTF">2025-07-21T13:11:31Z</dcterms:created>
  <dcterms:modified xsi:type="dcterms:W3CDTF">2025-11-09T18:17:48Z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0x010100AB8ED8C6ACF53C418E42EFCEE2100334</vt:lpwstr>
  </property>
</Properties>
</file>