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omments/modernComment_13D_0.xml" ContentType="application/vnd.ms-powerpoint.comment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notesMasterIdLst>
    <p:notesMasterId r:id="rId11"/>
  </p:notesMasterIdLst>
  <p:handoutMasterIdLst>
    <p:handoutMasterId r:id="rId12"/>
  </p:handoutMasterIdLst>
  <p:sldIdLst>
    <p:sldId id="324" r:id="rId3"/>
    <p:sldId id="325" r:id="rId4"/>
    <p:sldId id="317" r:id="rId5"/>
    <p:sldId id="318" r:id="rId6"/>
    <p:sldId id="321" r:id="rId7"/>
    <p:sldId id="327" r:id="rId8"/>
    <p:sldId id="308" r:id="rId9"/>
    <p:sldId id="32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/>
        </p14:section>
        <p14:section name="List of contents" id="{65043596-36B7-4360-BB5C-7A99EFAEC5C9}">
          <p14:sldIdLst>
            <p14:sldId id="324"/>
            <p14:sldId id="325"/>
            <p14:sldId id="317"/>
            <p14:sldId id="318"/>
            <p14:sldId id="321"/>
            <p14:sldId id="327"/>
            <p14:sldId id="308"/>
            <p14:sldId id="326"/>
          </p14:sldIdLst>
        </p14:section>
        <p14:section name="Title, main slides" id="{B26F6679-C236-4D3D-BC2F-CAE5ED400718}">
          <p14:sldIdLst/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1BD5DC-5676-6DC8-CE94-81ACB83F5E47}" name="SATHISHKUMAR V" initials="SV" userId="c6e3b939f287349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D2F7"/>
    <a:srgbClr val="FFFFFF"/>
    <a:srgbClr val="8ECEFA"/>
    <a:srgbClr val="92C6E6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omments/modernComment_13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316282-DE07-406B-B9EF-E34323781A41}" authorId="{981BD5DC-5676-6DC8-CE94-81ACB83F5E47}" created="2025-12-01T05:19:39.666">
    <pc:sldMkLst xmlns:pc="http://schemas.microsoft.com/office/powerpoint/2013/main/command">
      <pc:docMk/>
      <pc:sldMk cId="0" sldId="317"/>
    </pc:sldMkLst>
    <p188:txBody>
      <a:bodyPr/>
      <a:lstStyle/>
      <a:p>
        <a:r>
          <a:rPr lang="en-GB" altLang="en-US"/>
          <a:t>?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22.12.2025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7000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12. </a:t>
            </a:r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  </a:t>
            </a:r>
          </a:p>
          <a:p>
            <a:pPr lvl="1"/>
            <a:r>
              <a:rPr lang="de-DE"/>
              <a:t>13. Tower  </a:t>
            </a:r>
          </a:p>
          <a:p>
            <a:pPr lvl="1"/>
            <a:r>
              <a:rPr lang="de-DE"/>
              <a:t>14. </a:t>
            </a:r>
            <a:r>
              <a:rPr lang="de-DE" err="1"/>
              <a:t>Foundation</a:t>
            </a:r>
            <a:r>
              <a:rPr lang="de-DE"/>
              <a:t>  </a:t>
            </a:r>
          </a:p>
          <a:p>
            <a:pPr lvl="1"/>
            <a:r>
              <a:rPr lang="de-DE"/>
              <a:t>15. Storage System </a:t>
            </a:r>
          </a:p>
          <a:p>
            <a:pPr lvl="1"/>
            <a:endParaRPr lang="de-D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Teams</a:t>
            </a:r>
          </a:p>
        </p:txBody>
      </p:sp>
      <p:cxnSp>
        <p:nvCxnSpPr>
          <p:cNvPr id="9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1.  </a:t>
            </a:r>
            <a:r>
              <a:rPr lang="de-DE" err="1"/>
              <a:t>Windfarm</a:t>
            </a:r>
            <a:r>
              <a:rPr lang="de-DE"/>
              <a:t> Project Development  </a:t>
            </a:r>
          </a:p>
          <a:p>
            <a:pPr lvl="1"/>
            <a:r>
              <a:rPr lang="de-DE"/>
              <a:t>2.  Loads and Dynamics  </a:t>
            </a:r>
          </a:p>
          <a:p>
            <a:pPr lvl="1"/>
            <a:r>
              <a:rPr lang="de-DE"/>
              <a:t>3.  Feedback Controller  </a:t>
            </a:r>
          </a:p>
          <a:p>
            <a:pPr lvl="1"/>
            <a:r>
              <a:rPr lang="de-DE"/>
              <a:t>4.  Lidar-</a:t>
            </a:r>
            <a:r>
              <a:rPr lang="de-DE" err="1"/>
              <a:t>Assisted</a:t>
            </a:r>
            <a:r>
              <a:rPr lang="de-DE"/>
              <a:t> Controller  </a:t>
            </a:r>
          </a:p>
          <a:p>
            <a:pPr lvl="1"/>
            <a:r>
              <a:rPr lang="de-DE"/>
              <a:t>5.  Rotor Blade </a:t>
            </a:r>
            <a:r>
              <a:rPr lang="de-DE" err="1"/>
              <a:t>Aerodynamics</a:t>
            </a:r>
            <a:r>
              <a:rPr lang="de-DE"/>
              <a:t>  </a:t>
            </a:r>
          </a:p>
          <a:p>
            <a:pPr lvl="1"/>
            <a:r>
              <a:rPr lang="de-DE"/>
              <a:t>6.  Rotor Blade </a:t>
            </a:r>
            <a:r>
              <a:rPr lang="de-DE" err="1"/>
              <a:t>Structures</a:t>
            </a:r>
            <a:r>
              <a:rPr lang="de-DE"/>
              <a:t>  </a:t>
            </a:r>
          </a:p>
          <a:p>
            <a:pPr lvl="1"/>
            <a:r>
              <a:rPr lang="de-DE"/>
              <a:t>7.  </a:t>
            </a:r>
            <a:r>
              <a:rPr lang="de-DE" err="1"/>
              <a:t>Electrical</a:t>
            </a:r>
            <a:r>
              <a:rPr lang="de-DE"/>
              <a:t> </a:t>
            </a:r>
            <a:r>
              <a:rPr lang="de-DE" err="1"/>
              <a:t>Drivetrain</a:t>
            </a:r>
            <a:r>
              <a:rPr lang="de-DE"/>
              <a:t> (EDT)  </a:t>
            </a:r>
          </a:p>
          <a:p>
            <a:pPr lvl="1"/>
            <a:r>
              <a:rPr lang="de-DE"/>
              <a:t>8.  </a:t>
            </a:r>
            <a:r>
              <a:rPr lang="de-DE" err="1"/>
              <a:t>Grid</a:t>
            </a:r>
            <a:r>
              <a:rPr lang="de-DE"/>
              <a:t> Code Development (GCD)  </a:t>
            </a:r>
          </a:p>
          <a:p>
            <a:pPr lvl="1"/>
            <a:r>
              <a:rPr lang="de-DE"/>
              <a:t>9.  Rotor Hub &amp; Pitch System  </a:t>
            </a:r>
          </a:p>
          <a:p>
            <a:pPr lvl="1"/>
            <a:r>
              <a:rPr lang="de-DE"/>
              <a:t>10. Rotor </a:t>
            </a:r>
            <a:r>
              <a:rPr lang="de-DE" err="1"/>
              <a:t>Bearing</a:t>
            </a:r>
            <a:r>
              <a:rPr lang="de-DE"/>
              <a:t> System  </a:t>
            </a:r>
          </a:p>
          <a:p>
            <a:pPr lvl="1"/>
            <a:r>
              <a:rPr lang="de-DE"/>
              <a:t>11. </a:t>
            </a:r>
            <a:r>
              <a:rPr lang="de-DE" err="1"/>
              <a:t>Gearbox</a:t>
            </a:r>
            <a:r>
              <a:rPr lang="de-DE"/>
              <a:t>, Brake, Coupling  </a:t>
            </a:r>
          </a:p>
          <a:p>
            <a:pPr lvl="1"/>
            <a:r>
              <a:rPr lang="de-DE"/>
              <a:t>						</a:t>
            </a:r>
          </a:p>
        </p:txBody>
      </p:sp>
      <p:sp>
        <p:nvSpPr>
          <p:cNvPr id="12" name="Datumsplatzhalter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16" name="Fußzeilenplatzhalter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17" name="Foliennummernplatzhalt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umsplatzhalter 9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defRPr/>
            </a:pPr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1"/>
            <a:endParaRPr lang="de-DE"/>
          </a:p>
        </p:txBody>
      </p:sp>
      <p:cxnSp>
        <p:nvCxnSpPr>
          <p:cNvPr id="7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umsplatzhalt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16" name="Fußzeilenplatzhalt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7" name="Foliennummernplatzhalt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8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cxnSp>
        <p:nvCxnSpPr>
          <p:cNvPr id="7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  <p:sp>
        <p:nvSpPr>
          <p:cNvPr id="4" name="Textplatzhalter 4"/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/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8" name="Connector: Elbow 6"/>
          <p:cNvCxnSpPr/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/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err="1"/>
              <a:t>Add</a:t>
            </a:r>
            <a:r>
              <a:rPr lang="it-IT" sz="1400"/>
              <a:t> a link to the </a:t>
            </a:r>
            <a:r>
              <a:rPr lang="it-IT" sz="1400" err="1"/>
              <a:t>reference</a:t>
            </a:r>
            <a:r>
              <a:rPr lang="it-IT" sz="1400"/>
              <a:t> </a:t>
            </a:r>
            <a:r>
              <a:rPr lang="it-IT" sz="1400" err="1"/>
              <a:t>number</a:t>
            </a:r>
            <a:r>
              <a:rPr lang="it-IT" sz="1400"/>
              <a:t> </a:t>
            </a:r>
            <a:r>
              <a:rPr lang="it-IT" sz="1400" err="1"/>
              <a:t>that</a:t>
            </a:r>
            <a:r>
              <a:rPr lang="it-IT" sz="1400"/>
              <a:t> </a:t>
            </a:r>
            <a:r>
              <a:rPr lang="it-IT" sz="1400" err="1"/>
              <a:t>goes</a:t>
            </a:r>
            <a:r>
              <a:rPr lang="it-IT" sz="1400"/>
              <a:t> to the last slide: highlight the </a:t>
            </a:r>
            <a:r>
              <a:rPr lang="it-IT" sz="1400" err="1"/>
              <a:t>number</a:t>
            </a:r>
            <a:r>
              <a:rPr lang="it-IT" sz="1400"/>
              <a:t>-&gt;</a:t>
            </a:r>
            <a:r>
              <a:rPr lang="it-IT" sz="1400" err="1"/>
              <a:t>right</a:t>
            </a:r>
            <a:r>
              <a:rPr lang="it-IT" sz="1400"/>
              <a:t> click-&gt;</a:t>
            </a:r>
            <a:r>
              <a:rPr lang="it-IT" sz="1400" err="1"/>
              <a:t>select</a:t>
            </a:r>
            <a:r>
              <a:rPr lang="it-IT" sz="1400"/>
              <a:t> link-&gt;place in </a:t>
            </a:r>
            <a:r>
              <a:rPr lang="it-IT" sz="1400" err="1"/>
              <a:t>this</a:t>
            </a:r>
            <a:r>
              <a:rPr lang="it-IT" sz="1400"/>
              <a:t> </a:t>
            </a:r>
            <a:r>
              <a:rPr lang="it-IT" sz="1400" err="1"/>
              <a:t>document</a:t>
            </a:r>
            <a:r>
              <a:rPr lang="it-IT" sz="1400"/>
              <a:t>-&gt;</a:t>
            </a:r>
            <a:r>
              <a:rPr lang="it-IT" sz="1400" err="1"/>
              <a:t>select</a:t>
            </a:r>
            <a:r>
              <a:rPr lang="it-IT" sz="1400"/>
              <a:t> last slide</a:t>
            </a:r>
            <a:endParaRPr lang="en-GB" sz="1400"/>
          </a:p>
        </p:txBody>
      </p:sp>
      <p:cxnSp>
        <p:nvCxnSpPr>
          <p:cNvPr id="10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/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2" name="Datumsplatzhalt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13" name="Fußzeilenplatzhalt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/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10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/>
          <p:cNvCxnSpPr/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/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/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/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/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/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37" name="Rechteck 36"/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834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t-IT" sz="6600" b="1" i="0" u="none" strike="noStrike" kern="1200" cap="none" spc="0" normalizeH="0" baseline="0" noProof="0"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5"/>
          <a:srcRect l="4671"/>
          <a:stretch>
            <a:fillRect/>
          </a:stretch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/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/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/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/>
          </a:p>
        </p:txBody>
      </p:sp>
      <p:sp>
        <p:nvSpPr>
          <p:cNvPr id="15" name="Rechteck 14"/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Picture 18" descr="A white windmill with clouds in the background&#10;&#10;AI-generated content may be incorrect.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/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/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/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37" name="Rechteck 36"/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/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/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/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/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4" name="Text Placeholder 2"/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9" name="Rechteck 8"/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/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Free-form: Shape 13"/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Team Name / Optimus Syria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  <p:sp>
        <p:nvSpPr>
          <p:cNvPr id="11" name="Free-form: Shape 13"/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-form: Shape 13"/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/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71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Optimus Syria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22/12/2025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3D_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actio.com/en/kostenfaktoren-im-stahlbau/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Report_Optimus92LE_Machinebed_Yawsystem.ln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jactio.com/en/kostenfaktoren-im-stahlba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1236678" y="2216406"/>
            <a:ext cx="9718641" cy="912598"/>
          </a:xfrm>
        </p:spPr>
        <p:txBody>
          <a:bodyPr/>
          <a:lstStyle/>
          <a:p>
            <a:r>
              <a:rPr lang="en-GB" sz="4000" dirty="0"/>
              <a:t>Weekly report: Machine Bed &amp; Yaw System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idx="10"/>
          </p:nvPr>
        </p:nvSpPr>
        <p:spPr>
          <a:xfrm>
            <a:off x="2475992" y="4582639"/>
            <a:ext cx="7240015" cy="365125"/>
          </a:xfrm>
        </p:spPr>
        <p:txBody>
          <a:bodyPr/>
          <a:lstStyle/>
          <a:p>
            <a:r>
              <a:rPr lang="en-GB" dirty="0" err="1"/>
              <a:t>Shoukat</a:t>
            </a:r>
            <a:r>
              <a:rPr lang="en-GB" dirty="0"/>
              <a:t> Abbas, </a:t>
            </a:r>
            <a:r>
              <a:rPr lang="en-GB" dirty="0" err="1"/>
              <a:t>Luksh</a:t>
            </a:r>
            <a:r>
              <a:rPr lang="en-GB" dirty="0"/>
              <a:t> Chawla, </a:t>
            </a:r>
            <a:r>
              <a:rPr lang="en-GB" dirty="0" err="1"/>
              <a:t>Sathishkumar</a:t>
            </a:r>
            <a:r>
              <a:rPr lang="en-GB" dirty="0"/>
              <a:t> </a:t>
            </a:r>
            <a:r>
              <a:rPr lang="en-GB" dirty="0" err="1"/>
              <a:t>Venkatachalam</a:t>
            </a:r>
            <a:r>
              <a:rPr lang="en-GB" dirty="0"/>
              <a:t>, </a:t>
            </a:r>
            <a:r>
              <a:rPr lang="en-GB" dirty="0" err="1"/>
              <a:t>Shrihari</a:t>
            </a:r>
            <a:r>
              <a:rPr lang="en-GB" dirty="0"/>
              <a:t> G </a:t>
            </a:r>
            <a:r>
              <a:rPr lang="en-GB" dirty="0" err="1"/>
              <a:t>Kadam</a:t>
            </a:r>
            <a:endParaRPr lang="en-GB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23/12/2025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2"/>
          </p:nvPr>
        </p:nvSpPr>
        <p:spPr>
          <a:xfrm>
            <a:off x="8445910" y="6566802"/>
            <a:ext cx="3236113" cy="365125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Machine Bed &amp; Yaw System/ Optimus Syria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1</a:t>
            </a:fld>
            <a:endParaRPr lang="en-GB"/>
          </a:p>
        </p:txBody>
      </p:sp>
      <p:sp>
        <p:nvSpPr>
          <p:cNvPr id="26" name="Title 1"/>
          <p:cNvSpPr txBox="1"/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/>
          </a:p>
        </p:txBody>
      </p:sp>
      <p:sp>
        <p:nvSpPr>
          <p:cNvPr id="27" name="Subtitle 2"/>
          <p:cNvSpPr txBox="1"/>
          <p:nvPr/>
        </p:nvSpPr>
        <p:spPr>
          <a:xfrm>
            <a:off x="1412841" y="320553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/>
              <a:t>Week No - 13</a:t>
            </a:r>
          </a:p>
          <a:p>
            <a:r>
              <a:rPr lang="it-IT" sz="2000" dirty="0"/>
              <a:t>Date: 23.12.2025</a:t>
            </a:r>
          </a:p>
          <a:p>
            <a:r>
              <a:rPr lang="it-IT" sz="2000" dirty="0"/>
              <a:t>Supervisor: Prof. Peter Quell</a:t>
            </a:r>
          </a:p>
        </p:txBody>
      </p:sp>
      <p:sp>
        <p:nvSpPr>
          <p:cNvPr id="5" name="Textplatzhalter 9"/>
          <p:cNvSpPr txBox="1"/>
          <p:nvPr/>
        </p:nvSpPr>
        <p:spPr>
          <a:xfrm>
            <a:off x="2517233" y="5089851"/>
            <a:ext cx="7240015" cy="365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Presented by –  Shoukat Abbas</a:t>
            </a:r>
          </a:p>
        </p:txBody>
      </p:sp>
    </p:spTree>
    <p:extLst>
      <p:ext uri="{BB962C8B-B14F-4D97-AF65-F5344CB8AC3E}">
        <p14:creationId xmlns:p14="http://schemas.microsoft.com/office/powerpoint/2010/main" val="2793870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23/12/2025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Bed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2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Shoukat Abbas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6328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ptos" panose="020B0004020202020204" pitchFamily="34" charset="0"/>
              </a:rPr>
              <a:t>Contents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793875" y="1610706"/>
            <a:ext cx="6405573" cy="47212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endParaRPr lang="en-IN" alt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Machine Bed Design Changes</a:t>
            </a:r>
            <a:endParaRPr lang="en-IN" alt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Rear Machine Bed</a:t>
            </a:r>
            <a:br>
              <a:rPr lang="en-IN" altLang="en-GB" sz="2200" dirty="0"/>
            </a:br>
            <a:endParaRPr lang="en-IN" alt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Assembly Update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200" dirty="0"/>
              <a:t>Cost Analysis</a:t>
            </a:r>
            <a:endParaRPr lang="en-IN" altLang="en-GB" sz="2200" dirty="0"/>
          </a:p>
          <a:p>
            <a:endParaRPr lang="en-IN" alt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200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379625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23</a:t>
            </a:r>
            <a:r>
              <a:rPr lang="en-GB" dirty="0"/>
              <a:t>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3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>
          <a:xfrm>
            <a:off x="2878528" y="6581140"/>
            <a:ext cx="5596085" cy="365125"/>
          </a:xfrm>
        </p:spPr>
        <p:txBody>
          <a:bodyPr/>
          <a:lstStyle/>
          <a:p>
            <a:r>
              <a:rPr lang="en-IN" altLang="en-GB" dirty="0">
                <a:sym typeface="+mn-ea"/>
              </a:rPr>
              <a:t>Shoukat Abbas</a:t>
            </a:r>
            <a:endParaRPr lang="en-IN" altLang="en-GB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cs typeface="Times New Roman" panose="02020603050405020304"/>
              </a:rPr>
              <a:t>M</a:t>
            </a:r>
            <a:r>
              <a:rPr lang="en-US" sz="4000" b="1" dirty="0" err="1">
                <a:cs typeface="Times New Roman" panose="02020603050405020304"/>
              </a:rPr>
              <a:t>achine</a:t>
            </a:r>
            <a:r>
              <a:rPr lang="en-US" sz="4000" b="1" dirty="0">
                <a:cs typeface="Times New Roman" panose="02020603050405020304"/>
              </a:rPr>
              <a:t> Bed – Optimization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76182" y="1681976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latin typeface="Aptos" panose="02110004020202020204"/>
                <a:ea typeface="Aptos" panose="02110004020202020204"/>
                <a:cs typeface="Aptos" panose="02110004020202020204"/>
              </a:rPr>
              <a:t>Machine Bed </a:t>
            </a:r>
            <a:r>
              <a:rPr lang="en-IN" sz="2000" b="1" i="0" u="none" strike="noStrike" baseline="0" dirty="0">
                <a:solidFill>
                  <a:srgbClr val="000000"/>
                </a:solidFill>
                <a:latin typeface="Aptos" panose="02110004020202020204"/>
                <a:ea typeface="Aptos" panose="02110004020202020204"/>
                <a:cs typeface="Aptos" panose="02110004020202020204"/>
              </a:rPr>
              <a:t>- 3D</a:t>
            </a:r>
            <a:endParaRPr lang="en-US" dirty="0"/>
          </a:p>
          <a:p>
            <a:pPr algn="l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3" name="Arrow: Right 22"/>
          <p:cNvSpPr/>
          <p:nvPr/>
        </p:nvSpPr>
        <p:spPr>
          <a:xfrm>
            <a:off x="5467566" y="366999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Screenshot 2025-12-14 222704"/>
          <p:cNvPicPr>
            <a:picLocks noChangeAspect="1"/>
          </p:cNvPicPr>
          <p:nvPr/>
        </p:nvPicPr>
        <p:blipFill>
          <a:blip r:embed="rId3"/>
          <a:srcRect l="7214" r="6667" b="12483"/>
          <a:stretch>
            <a:fillRect/>
          </a:stretch>
        </p:blipFill>
        <p:spPr>
          <a:xfrm>
            <a:off x="504985" y="2120812"/>
            <a:ext cx="4593590" cy="3334385"/>
          </a:xfrm>
          <a:prstGeom prst="rect">
            <a:avLst/>
          </a:prstGeom>
        </p:spPr>
      </p:pic>
      <p:sp>
        <p:nvSpPr>
          <p:cNvPr id="39" name="Text Box 38"/>
          <p:cNvSpPr txBox="1"/>
          <p:nvPr/>
        </p:nvSpPr>
        <p:spPr>
          <a:xfrm>
            <a:off x="8020050" y="5869305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altLang="en-GB" sz="1200" dirty="0"/>
              <a:t>Fixing positions extended</a:t>
            </a:r>
            <a:endParaRPr lang="en-IN" altLang="en-GB" sz="1200" dirty="0">
              <a:solidFill>
                <a:schemeClr val="tx1"/>
              </a:solidFill>
            </a:endParaRPr>
          </a:p>
        </p:txBody>
      </p:sp>
      <p:pic>
        <p:nvPicPr>
          <p:cNvPr id="8" name="Picture 7" descr="A black and yellow object with holes&#10;&#10;AI-generated content may be incorrect.">
            <a:extLst>
              <a:ext uri="{FF2B5EF4-FFF2-40B4-BE49-F238E27FC236}">
                <a16:creationId xmlns:a16="http://schemas.microsoft.com/office/drawing/2014/main" id="{3E869103-2C89-2E45-9498-FA4E8CD39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164" y="1792295"/>
            <a:ext cx="4554142" cy="3770634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BA79B5-56F7-A35F-5D5F-D3DB4BA60730}"/>
              </a:ext>
            </a:extLst>
          </p:cNvPr>
          <p:cNvCxnSpPr>
            <a:cxnSpLocks/>
          </p:cNvCxnSpPr>
          <p:nvPr/>
        </p:nvCxnSpPr>
        <p:spPr>
          <a:xfrm flipV="1">
            <a:off x="6445974" y="3409068"/>
            <a:ext cx="1028604" cy="13280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Box 28">
            <a:extLst>
              <a:ext uri="{FF2B5EF4-FFF2-40B4-BE49-F238E27FC236}">
                <a16:creationId xmlns:a16="http://schemas.microsoft.com/office/drawing/2014/main" id="{D3803B79-629A-D91B-0160-7CBD91C52820}"/>
              </a:ext>
            </a:extLst>
          </p:cNvPr>
          <p:cNvSpPr txBox="1"/>
          <p:nvPr/>
        </p:nvSpPr>
        <p:spPr>
          <a:xfrm>
            <a:off x="5757560" y="4919812"/>
            <a:ext cx="1934845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altLang="en-GB" sz="1200" dirty="0">
                <a:sym typeface="+mn-ea"/>
              </a:rPr>
              <a:t>Dimensions changes</a:t>
            </a:r>
            <a:endParaRPr lang="en-IN" altLang="en-GB" sz="1200" dirty="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E61F65-CD6F-8FB4-29A3-39C4A1AA94CC}"/>
              </a:ext>
            </a:extLst>
          </p:cNvPr>
          <p:cNvCxnSpPr>
            <a:cxnSpLocks/>
          </p:cNvCxnSpPr>
          <p:nvPr/>
        </p:nvCxnSpPr>
        <p:spPr>
          <a:xfrm flipV="1">
            <a:off x="8856586" y="4945748"/>
            <a:ext cx="720951" cy="8292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2F3E4E-9D2A-74DD-4503-C9217CE4647E}"/>
              </a:ext>
            </a:extLst>
          </p:cNvPr>
          <p:cNvCxnSpPr>
            <a:cxnSpLocks/>
          </p:cNvCxnSpPr>
          <p:nvPr/>
        </p:nvCxnSpPr>
        <p:spPr>
          <a:xfrm>
            <a:off x="7672182" y="2120812"/>
            <a:ext cx="1345302" cy="10031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Box 28">
            <a:extLst>
              <a:ext uri="{FF2B5EF4-FFF2-40B4-BE49-F238E27FC236}">
                <a16:creationId xmlns:a16="http://schemas.microsoft.com/office/drawing/2014/main" id="{C355380B-3BF1-D9DF-C398-5807752865AB}"/>
              </a:ext>
            </a:extLst>
          </p:cNvPr>
          <p:cNvSpPr txBox="1"/>
          <p:nvPr/>
        </p:nvSpPr>
        <p:spPr>
          <a:xfrm>
            <a:off x="6445974" y="1736792"/>
            <a:ext cx="193484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altLang="en-GB" sz="1200" dirty="0">
                <a:sym typeface="+mn-ea"/>
              </a:rPr>
              <a:t>Shaft and Bearing modifications</a:t>
            </a:r>
            <a:endParaRPr lang="en-IN" altLang="en-GB" sz="12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23</a:t>
            </a:r>
            <a:r>
              <a:rPr lang="en-GB" dirty="0"/>
              <a:t>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4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dirty="0">
                <a:sym typeface="+mn-ea"/>
              </a:rPr>
              <a:t>Shoukat Abbas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GB" sz="4000" b="1" dirty="0">
                <a:cs typeface="Times New Roman" panose="02020603050405020304"/>
              </a:rPr>
              <a:t>Rear </a:t>
            </a:r>
            <a:r>
              <a:rPr lang="en-GB" sz="4000" b="1" dirty="0">
                <a:cs typeface="Times New Roman" panose="02020603050405020304"/>
              </a:rPr>
              <a:t>M</a:t>
            </a:r>
            <a:r>
              <a:rPr lang="en-US" sz="4000" b="1" dirty="0" err="1">
                <a:cs typeface="Times New Roman" panose="02020603050405020304"/>
              </a:rPr>
              <a:t>achine</a:t>
            </a:r>
            <a:r>
              <a:rPr lang="en-US" sz="4000" b="1" dirty="0">
                <a:cs typeface="Times New Roman" panose="02020603050405020304"/>
              </a:rPr>
              <a:t> Bed –</a:t>
            </a:r>
            <a:r>
              <a:rPr lang="en-IN" altLang="en-US" sz="4000" b="1" dirty="0">
                <a:cs typeface="Times New Roman" panose="02020603050405020304"/>
              </a:rPr>
              <a:t> Design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527712" y="5668416"/>
            <a:ext cx="3473450" cy="1661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N" altLang="en-GB" sz="1200" dirty="0">
                <a:solidFill>
                  <a:schemeClr val="tx1"/>
                </a:solidFill>
              </a:rPr>
              <a:t>* </a:t>
            </a:r>
            <a:r>
              <a:rPr lang="en-IN" altLang="en-GB" sz="1200" dirty="0"/>
              <a:t>Own</a:t>
            </a:r>
            <a:r>
              <a:rPr lang="en-IN" altLang="en-GB" sz="1200" dirty="0">
                <a:solidFill>
                  <a:schemeClr val="tx1"/>
                </a:solidFill>
              </a:rPr>
              <a:t> model- Concept Design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818120" y="5624830"/>
            <a:ext cx="3473450" cy="1661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N" altLang="en-GB" sz="1200" dirty="0">
                <a:solidFill>
                  <a:schemeClr val="tx1"/>
                </a:solidFill>
              </a:rPr>
              <a:t>* Optimus Syria - Final Design</a:t>
            </a:r>
          </a:p>
        </p:txBody>
      </p:sp>
      <p:pic>
        <p:nvPicPr>
          <p:cNvPr id="8" name="Picture 7" descr="Screenshot 2025-12-15 205334">
            <a:extLst>
              <a:ext uri="{FF2B5EF4-FFF2-40B4-BE49-F238E27FC236}">
                <a16:creationId xmlns:a16="http://schemas.microsoft.com/office/drawing/2014/main" id="{CE360467-5F4F-1915-57B1-2E96A31C08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87" t="3286" r="7173" b="11745"/>
          <a:stretch>
            <a:fillRect/>
          </a:stretch>
        </p:blipFill>
        <p:spPr>
          <a:xfrm>
            <a:off x="1358337" y="1535430"/>
            <a:ext cx="3040380" cy="1893570"/>
          </a:xfrm>
          <a:prstGeom prst="rect">
            <a:avLst/>
          </a:prstGeom>
        </p:spPr>
      </p:pic>
      <p:pic>
        <p:nvPicPr>
          <p:cNvPr id="11" name="Picture 10" descr="Screenshot 2025-12-15 205358">
            <a:extLst>
              <a:ext uri="{FF2B5EF4-FFF2-40B4-BE49-F238E27FC236}">
                <a16:creationId xmlns:a16="http://schemas.microsoft.com/office/drawing/2014/main" id="{9DE54DDC-FC48-50CD-34E2-DBAE88D4FA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20" t="6699" r="12309" b="9355"/>
          <a:stretch>
            <a:fillRect/>
          </a:stretch>
        </p:blipFill>
        <p:spPr>
          <a:xfrm>
            <a:off x="1358337" y="3694518"/>
            <a:ext cx="3040380" cy="1821815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B0CA68E7-744D-35D1-106F-AC4CA9F40E46}"/>
              </a:ext>
            </a:extLst>
          </p:cNvPr>
          <p:cNvSpPr/>
          <p:nvPr/>
        </p:nvSpPr>
        <p:spPr>
          <a:xfrm>
            <a:off x="4940428" y="368166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grey object with holes&#10;&#10;AI-generated content may be incorrect.">
            <a:extLst>
              <a:ext uri="{FF2B5EF4-FFF2-40B4-BE49-F238E27FC236}">
                <a16:creationId xmlns:a16="http://schemas.microsoft.com/office/drawing/2014/main" id="{5FA47264-EF5B-3466-E187-4C6BF42B0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661" y="1936301"/>
            <a:ext cx="4654139" cy="32881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23</a:t>
            </a:r>
            <a:r>
              <a:rPr lang="en-GB" dirty="0"/>
              <a:t>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5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altLang="en-GB" dirty="0">
                <a:sym typeface="+mn-ea"/>
              </a:rPr>
              <a:t>Shoukat Abbas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cs typeface="Times New Roman" panose="02020603050405020304"/>
              </a:rPr>
              <a:t>Updated Rear Machine Bed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pic>
        <p:nvPicPr>
          <p:cNvPr id="7" name="Picture 6" descr="A grey object with a shadow&#10;&#10;AI-generated content may be incorrect.">
            <a:extLst>
              <a:ext uri="{FF2B5EF4-FFF2-40B4-BE49-F238E27FC236}">
                <a16:creationId xmlns:a16="http://schemas.microsoft.com/office/drawing/2014/main" id="{738259A8-60BA-964F-F251-379F63690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166" y="1519233"/>
            <a:ext cx="5903668" cy="3819533"/>
          </a:xfrm>
          <a:prstGeom prst="rect">
            <a:avLst/>
          </a:prstGeom>
        </p:spPr>
      </p:pic>
      <p:sp>
        <p:nvSpPr>
          <p:cNvPr id="8" name="Text Box 14">
            <a:extLst>
              <a:ext uri="{FF2B5EF4-FFF2-40B4-BE49-F238E27FC236}">
                <a16:creationId xmlns:a16="http://schemas.microsoft.com/office/drawing/2014/main" id="{AF5B40D1-27A2-E66D-1E6E-D1D1F4B08CD6}"/>
              </a:ext>
            </a:extLst>
          </p:cNvPr>
          <p:cNvSpPr txBox="1"/>
          <p:nvPr/>
        </p:nvSpPr>
        <p:spPr>
          <a:xfrm>
            <a:off x="3001946" y="5733532"/>
            <a:ext cx="7193501" cy="8305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altLang="en-GB" sz="1600" dirty="0">
                <a:solidFill>
                  <a:schemeClr val="tx1"/>
                </a:solidFill>
              </a:rPr>
              <a:t>Cross-sectioned view Simple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altLang="en-GB" sz="1600" dirty="0">
                <a:solidFill>
                  <a:schemeClr val="tx1"/>
                </a:solidFill>
              </a:rPr>
              <a:t>H-Beam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23</a:t>
            </a:r>
            <a:r>
              <a:rPr lang="en-GB" dirty="0"/>
              <a:t>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6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altLang="en-GB" dirty="0">
                <a:sym typeface="+mn-ea"/>
              </a:rPr>
              <a:t>Shoukat Abbas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cs typeface="Times New Roman" panose="02020603050405020304"/>
              </a:rPr>
              <a:t>Updated Machine Bed &amp; Yaw System Ass.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pic>
        <p:nvPicPr>
          <p:cNvPr id="7" name="Picture 6" descr="A drawing of a machine&#10;&#10;AI-generated content may be incorrect.">
            <a:extLst>
              <a:ext uri="{FF2B5EF4-FFF2-40B4-BE49-F238E27FC236}">
                <a16:creationId xmlns:a16="http://schemas.microsoft.com/office/drawing/2014/main" id="{4180085C-2192-C514-A61F-EEDCCCDF4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089" y="1448593"/>
            <a:ext cx="6127822" cy="48649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23</a:t>
            </a:r>
            <a:r>
              <a:rPr lang="en-GB" dirty="0"/>
              <a:t>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Bed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7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altLang="en-GB" dirty="0">
                <a:sym typeface="+mn-ea"/>
              </a:rPr>
              <a:t>Shoukat Abbas</a:t>
            </a:r>
            <a:endParaRPr lang="en-GB" dirty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539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b="1" dirty="0">
                <a:cs typeface="Times New Roman" panose="02020603050405020304" pitchFamily="18" charset="0"/>
                <a:sym typeface="+mn-ea"/>
              </a:rPr>
              <a:t>Cost Analysis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86743" y="1417250"/>
            <a:ext cx="11360502" cy="12790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IN" sz="2000"/>
          </a:p>
          <a:p>
            <a:pPr>
              <a:lnSpc>
                <a:spcPct val="150000"/>
              </a:lnSpc>
            </a:pPr>
            <a:r>
              <a:rPr lang="en-IN" sz="2000" b="1"/>
              <a:t> </a:t>
            </a:r>
          </a:p>
          <a:p>
            <a:pPr>
              <a:lnSpc>
                <a:spcPct val="150000"/>
              </a:lnSpc>
            </a:pPr>
            <a:endParaRPr lang="en-IN" sz="2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E657C4-BCC8-5A1C-A845-3D1FC10DA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130450"/>
              </p:ext>
            </p:extLst>
          </p:nvPr>
        </p:nvGraphicFramePr>
        <p:xfrm>
          <a:off x="1327355" y="1348949"/>
          <a:ext cx="9254285" cy="5102902"/>
        </p:xfrm>
        <a:graphic>
          <a:graphicData uri="http://schemas.openxmlformats.org/drawingml/2006/table">
            <a:tbl>
              <a:tblPr/>
              <a:tblGrid>
                <a:gridCol w="2630956">
                  <a:extLst>
                    <a:ext uri="{9D8B030D-6E8A-4147-A177-3AD203B41FA5}">
                      <a16:colId xmlns:a16="http://schemas.microsoft.com/office/drawing/2014/main" val="2373423766"/>
                    </a:ext>
                  </a:extLst>
                </a:gridCol>
                <a:gridCol w="2190254">
                  <a:extLst>
                    <a:ext uri="{9D8B030D-6E8A-4147-A177-3AD203B41FA5}">
                      <a16:colId xmlns:a16="http://schemas.microsoft.com/office/drawing/2014/main" val="276655939"/>
                    </a:ext>
                  </a:extLst>
                </a:gridCol>
                <a:gridCol w="2768481">
                  <a:extLst>
                    <a:ext uri="{9D8B030D-6E8A-4147-A177-3AD203B41FA5}">
                      <a16:colId xmlns:a16="http://schemas.microsoft.com/office/drawing/2014/main" val="3658942975"/>
                    </a:ext>
                  </a:extLst>
                </a:gridCol>
                <a:gridCol w="1664594">
                  <a:extLst>
                    <a:ext uri="{9D8B030D-6E8A-4147-A177-3AD203B41FA5}">
                      <a16:colId xmlns:a16="http://schemas.microsoft.com/office/drawing/2014/main" val="2756787529"/>
                    </a:ext>
                  </a:extLst>
                </a:gridCol>
              </a:tblGrid>
              <a:tr h="7677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Components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weight per component (kg)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Cost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663074"/>
                  </a:ext>
                </a:extLst>
              </a:tr>
              <a:tr h="3534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Yaw Drive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700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6750 in series production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740749"/>
                  </a:ext>
                </a:extLst>
              </a:tr>
              <a:tr h="4874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 x 6750 €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40.500 €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751014"/>
                  </a:ext>
                </a:extLst>
              </a:tr>
              <a:tr h="3534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Brake Calipers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210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3500 per caliper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200938"/>
                  </a:ext>
                </a:extLst>
              </a:tr>
              <a:tr h="3534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 x 3500 €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49.000 €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333425"/>
                  </a:ext>
                </a:extLst>
              </a:tr>
              <a:tr h="3534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Brake Disk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1751,3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3822,00 €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853935"/>
                  </a:ext>
                </a:extLst>
              </a:tr>
              <a:tr h="3534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260773"/>
                  </a:ext>
                </a:extLst>
              </a:tr>
              <a:tr h="3534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Yaw Bearing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4293,1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24.508,20 €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8355438"/>
                  </a:ext>
                </a:extLst>
              </a:tr>
              <a:tr h="3534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874376"/>
                  </a:ext>
                </a:extLst>
              </a:tr>
              <a:tr h="426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Machine Bed casted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35329.09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2 € / kg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70.658 €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123946"/>
                  </a:ext>
                </a:extLst>
              </a:tr>
              <a:tr h="6093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Machine Bed welded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16339,06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2,5 € / kg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40.847,65 €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30022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685C643-1C8C-52AE-2F9A-80CFF9560224}"/>
              </a:ext>
            </a:extLst>
          </p:cNvPr>
          <p:cNvSpPr txBox="1"/>
          <p:nvPr/>
        </p:nvSpPr>
        <p:spPr>
          <a:xfrm>
            <a:off x="10739284" y="6193704"/>
            <a:ext cx="565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hlinkClick r:id="rId2"/>
              </a:rPr>
              <a:t>[2].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989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5142"/>
            <a:ext cx="10515600" cy="1411691"/>
          </a:xfrm>
        </p:spPr>
        <p:txBody>
          <a:bodyPr/>
          <a:lstStyle/>
          <a:p>
            <a:pPr algn="ctr"/>
            <a:r>
              <a:rPr lang="en-GB" sz="4000" b="1" dirty="0"/>
              <a:t>References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23/12/2025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66923" y="6564113"/>
            <a:ext cx="3086878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8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Shoukat Abbas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idx="1"/>
          </p:nvPr>
        </p:nvSpPr>
        <p:spPr>
          <a:xfrm>
            <a:off x="578498" y="1594192"/>
            <a:ext cx="10775302" cy="45827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2"/>
            <a:r>
              <a:rPr lang="fr-FR" sz="1800" dirty="0" err="1"/>
              <a:t>Optimus</a:t>
            </a:r>
            <a:r>
              <a:rPr lang="fr-FR" sz="1800" dirty="0"/>
              <a:t> 92 LE (</a:t>
            </a:r>
            <a:r>
              <a:rPr lang="fr-FR" sz="1800" dirty="0" err="1"/>
              <a:t>Previous</a:t>
            </a:r>
            <a:r>
              <a:rPr lang="fr-FR" sz="1800" dirty="0"/>
              <a:t> Concept) __ </a:t>
            </a:r>
            <a:r>
              <a:rPr lang="fr-FR" sz="1800" dirty="0">
                <a:hlinkClick r:id="rId3" action="ppaction://hlinkfile"/>
              </a:rPr>
              <a:t>Report_Optimus92LE_Machinebed_Yawsystem.lnk</a:t>
            </a:r>
            <a:r>
              <a:rPr lang="fr-FR" sz="1800" dirty="0"/>
              <a:t> </a:t>
            </a:r>
            <a:r>
              <a:rPr lang="fr-FR" sz="1800" dirty="0" err="1"/>
              <a:t>Accesed</a:t>
            </a:r>
            <a:r>
              <a:rPr lang="fr-FR" sz="1800" dirty="0"/>
              <a:t> ( 12/11/2025)</a:t>
            </a:r>
          </a:p>
          <a:p>
            <a:pPr lvl="2"/>
            <a:r>
              <a:rPr lang="fr-FR" sz="1800" dirty="0">
                <a:hlinkClick r:id="rId4"/>
              </a:rPr>
              <a:t>[2]. </a:t>
            </a:r>
            <a:r>
              <a:rPr lang="fr-FR" sz="1800" dirty="0" err="1"/>
              <a:t>Latest</a:t>
            </a:r>
            <a:r>
              <a:rPr lang="fr-FR" sz="1800" dirty="0"/>
              <a:t> </a:t>
            </a:r>
            <a:r>
              <a:rPr lang="fr-FR" sz="1800" dirty="0" err="1"/>
              <a:t>Prices</a:t>
            </a:r>
            <a:r>
              <a:rPr lang="fr-FR" sz="1800" dirty="0"/>
              <a:t> of Steel construction </a:t>
            </a:r>
            <a:r>
              <a:rPr lang="fr-FR" sz="1800" dirty="0" err="1"/>
              <a:t>jactio</a:t>
            </a:r>
            <a:r>
              <a:rPr lang="fr-FR" sz="1800" dirty="0"/>
              <a:t>. </a:t>
            </a:r>
            <a:r>
              <a:rPr lang="fr-FR" sz="1800" dirty="0">
                <a:hlinkClick r:id="rId4"/>
              </a:rPr>
              <a:t>https://jactio.com/en/kostenfaktoren-im-stahlbau/</a:t>
            </a:r>
            <a:br>
              <a:rPr lang="fr-FR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912903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64</TotalTime>
  <Words>317</Words>
  <Application>Microsoft Office PowerPoint</Application>
  <PresentationFormat>Widescreen</PresentationFormat>
  <Paragraphs>95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Office</vt:lpstr>
      <vt:lpstr>Benutzerdefiniertes Design</vt:lpstr>
      <vt:lpstr>Weekly report: Machine Bed &amp; Yaw System</vt:lpstr>
      <vt:lpstr>Contents</vt:lpstr>
      <vt:lpstr>Machine Bed – Optimization</vt:lpstr>
      <vt:lpstr>Rear Machine Bed – Design</vt:lpstr>
      <vt:lpstr>Updated Rear Machine Bed</vt:lpstr>
      <vt:lpstr>Updated Machine Bed &amp; Yaw System Ass.</vt:lpstr>
      <vt:lpstr>Cost Analysis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report: Machine Bed &amp; Yaw System</dc:title>
  <dc:creator>Shrihari Kadam</dc:creator>
  <cp:lastModifiedBy>Shoukat Abbas</cp:lastModifiedBy>
  <cp:revision>26</cp:revision>
  <dcterms:created xsi:type="dcterms:W3CDTF">2025-10-26T22:40:00Z</dcterms:created>
  <dcterms:modified xsi:type="dcterms:W3CDTF">2025-12-22T15:24:35Z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7AEA9298D95340698E1820C85AEDBF08_12</vt:lpwstr>
  </property>
  <property fmtid="{D5CDD505-2E9C-101B-9397-08002B2CF9AE}" pid="3" name="KSOProductBuildVer">
    <vt:lpwstr>2057-12.2.0.23149</vt:lpwstr>
  </property>
</Properties>
</file>