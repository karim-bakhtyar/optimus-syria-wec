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90" r:id="rId5"/>
    <p:sldId id="297" r:id="rId6"/>
    <p:sldId id="294" r:id="rId7"/>
    <p:sldId id="295" r:id="rId8"/>
    <p:sldId id="296" r:id="rId9"/>
    <p:sldId id="29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90"/>
            <p14:sldId id="297"/>
            <p14:sldId id="294"/>
            <p14:sldId id="295"/>
            <p14:sldId id="296"/>
            <p14:sldId id="293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231E-5A67-3A7D-9899-E9C3D164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6000-FC93-AF5B-725E-3B0F00E45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B7B2-B716-A1D9-3ECD-FE9CB36C2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ED5D-D283-566F-3508-C5310D95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0A95-3354-1E23-AC2F-36570F8E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F854E-84A1-66F2-6B68-0FCB2B385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2B355-F189-1E47-EC2A-1706C2189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EF73F-5B10-AFA4-8628-19A014FCB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11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C1F2-6819-8207-675D-863180A6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F6D5D-1820-EB52-2494-8D8B5D4D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DDD9D-EB4F-4873-B7EB-9421A7E8F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A47F-55A1-4DDB-DA93-EBE8CC1EC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868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308C-9E66-7465-4EB4-ED4DB788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83AE0-B487-046F-E254-7A9844D4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CE6D2-77EF-F615-FE0E-2895E4F1C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8AD4-BE72-3565-D27B-03214A57D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50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8FA4-004A-EF8C-835E-981DC2FB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CA210-E22A-C10C-9C06-E70A3E140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FEEB2-F1A4-00CE-E1BD-55BD46DF4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58599-819A-DA0E-C9BB-5BFE571B4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71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7D5E-EC1D-CB17-ACD9-CA2152BE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F400F-7385-6278-F6F6-84F834564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EF4A5-D8A5-17A3-72DC-35B22601B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058A6-FC44-A60A-BC34-8634FFA1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209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22/12/2025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22/12/2025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22/12/2025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13</a:t>
            </a:r>
          </a:p>
          <a:p>
            <a:r>
              <a:rPr lang="it-IT" sz="2000" dirty="0"/>
              <a:t>Date: 23/12/2025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4158" y="6528076"/>
            <a:ext cx="433176" cy="365125"/>
          </a:xfrm>
        </p:spPr>
        <p:txBody>
          <a:bodyPr/>
          <a:lstStyle/>
          <a:p>
            <a:pPr algn="ctr"/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 algn="ctr"/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Comparision</a:t>
            </a:r>
            <a:r>
              <a:rPr lang="en-US" sz="2400" dirty="0">
                <a:cs typeface="Times New Roman" panose="02020603050405020304" pitchFamily="18" charset="0"/>
              </a:rPr>
              <a:t>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Variations in Percentage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Calculated Parameters of </a:t>
            </a:r>
            <a:r>
              <a:rPr lang="en-US" sz="2400" dirty="0" err="1">
                <a:cs typeface="Times New Roman" panose="02020603050405020304" pitchFamily="18" charset="0"/>
              </a:rPr>
              <a:t>Mextremes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Mextremes</a:t>
            </a:r>
            <a:r>
              <a:rPr lang="en-US" sz="2400" dirty="0">
                <a:cs typeface="Times New Roman" panose="02020603050405020304" pitchFamily="18" charset="0"/>
              </a:rPr>
              <a:t> Table For Machinery &amp; Tower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6048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5526F-EA1E-29F5-D36D-9C6FF00049B8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7D58-91BF-6053-2B32-5D4AFB1A44DA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06B-41C3-447D-33BA-0D095651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126A9F-06B4-29D1-C004-78EB4398FCB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8160115-CB47-939B-646F-5DF9D9A5CD7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475720C-15ED-C4E1-573A-2EAB3788DA3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6AF1D8-C329-CDBE-C1DE-0A432B3C26B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A00BD-51B9-1925-C5F5-CA0097FBBF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C65F497-F6BF-58E3-28B0-4EF64451C25E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048A1B-615F-FD29-6EA3-DA58C1AC200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CFC4D300-B489-7D27-17D0-ABFC6397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04" y="38294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Comparision</a:t>
            </a:r>
            <a:r>
              <a:rPr lang="en-US" dirty="0"/>
              <a:t> Table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0AE88-8E6A-8813-E6C1-05A9E2F8749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5EEC84-9024-5F11-C46F-A6F16A260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63" y="1335309"/>
            <a:ext cx="10995074" cy="512745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3147858-5E27-BD61-BA8B-438DF0C21A3C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5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546B-8521-747A-B115-1C18A82C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855A61E-941E-424D-392A-E9A903F41F8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2ADB9F9-F36A-85F0-8A6A-10407E18E04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0404C48-BF47-2519-F0A2-0EF4544E77D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F2667D-CD42-5682-F37A-E856CB9838D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2FFBE5-CE6A-1AA5-32B2-B8AE0D88CFB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DEA2A10-2D30-F7E1-4028-4E02F212F758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A8C49E-256C-E7E3-AB4D-59CBBC94E969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2B5B03DD-6FD6-FB66-950B-9B2DB70B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04" y="38294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Variations in Percent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B4909-2E66-DDCC-D299-A5B65001278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23D83-7FF9-1A47-F758-D386CAD4BBE2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91825-58A8-3913-6F41-C7C71876E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9" y="1555603"/>
            <a:ext cx="4402214" cy="4694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B6DDD6-B7A5-990E-0570-92585B362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560" y="1455308"/>
            <a:ext cx="6584842" cy="492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6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F8EF-62B4-4CCB-F33D-BF7B2E4E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9950FE-DB01-05E6-A119-C101F2CCD43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C8B341A-914A-7A84-BA05-C1E6CF1F3B7F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715A5B8-749B-DB9D-4E4C-F5566EDBA3C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861396F-6051-4DF5-A5C0-4D29846FBC0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CEECE8-1161-39FE-2539-763A7B6DA9AB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C1FCF1-C31F-649D-4404-5C4FB419C3F1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526A0-AE3B-7866-2A1D-1AC8C2AE3F08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B58F6-B17B-50A7-7175-DF0E72E53C5B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A86FAFFA-F085-C1E1-0839-D3A4D4B2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Calculated Parameters 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BC414A-20F0-E570-9DBC-133AE82B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13" y="1263690"/>
            <a:ext cx="11218985" cy="4986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D95B49-1AAD-7C5D-32BF-FDD1B83B9DD2}"/>
              </a:ext>
            </a:extLst>
          </p:cNvPr>
          <p:cNvSpPr txBox="1"/>
          <p:nvPr/>
        </p:nvSpPr>
        <p:spPr>
          <a:xfrm>
            <a:off x="4831890" y="1831719"/>
            <a:ext cx="2461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Resultant Calculations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1F5388-9458-FE4E-EF2A-BD3121354967}"/>
              </a:ext>
            </a:extLst>
          </p:cNvPr>
          <p:cNvSpPr/>
          <p:nvPr/>
        </p:nvSpPr>
        <p:spPr>
          <a:xfrm>
            <a:off x="412716" y="4699819"/>
            <a:ext cx="4447648" cy="13076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B63D63-C9E4-5109-CFEF-0AFE073E9B33}"/>
              </a:ext>
            </a:extLst>
          </p:cNvPr>
          <p:cNvSpPr/>
          <p:nvPr/>
        </p:nvSpPr>
        <p:spPr>
          <a:xfrm>
            <a:off x="501513" y="1342284"/>
            <a:ext cx="4447648" cy="13076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56959F-BFAB-DE62-B823-9BDEFC2C2543}"/>
              </a:ext>
            </a:extLst>
          </p:cNvPr>
          <p:cNvSpPr txBox="1"/>
          <p:nvPr/>
        </p:nvSpPr>
        <p:spPr>
          <a:xfrm>
            <a:off x="4831889" y="5315957"/>
            <a:ext cx="247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Calculated parameters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26427-1AE2-C318-BACF-54AB700A597F}"/>
              </a:ext>
            </a:extLst>
          </p:cNvPr>
          <p:cNvSpPr txBox="1"/>
          <p:nvPr/>
        </p:nvSpPr>
        <p:spPr>
          <a:xfrm>
            <a:off x="9198204" y="1258031"/>
            <a:ext cx="252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Safety Factors included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CD691-BA37-AF2B-4FD7-09AB82510ABD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96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B8EE-AC78-F22A-B813-4F9A2E1D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F18CA2B-9F12-C66F-F86C-E3E12FDC47F7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DE4833AF-9EBE-89E2-89D0-91E82056A0A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D28F0F5-D4DD-D83B-27A3-7ADC10CA9DC1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C348B68-DCE6-79CF-1995-61CE1BBD078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B7386-057F-B23C-8DCE-49A0BA3815A4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627EA2-E3DF-D5CF-DB1D-CDF8A6B10051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89DDBF-D3BB-06DB-2EF9-0B877F92B333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0E4658AB-A39E-0719-D57B-BC314A015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04" y="38294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Tables For Machinery &amp; Tower Components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20E98-3813-1459-C380-4D81B1CCC60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630193-7FE6-6BD0-2DD8-48E2C6FD2A84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B88C0-6885-3AA7-4F2B-66362EED7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1243133"/>
            <a:ext cx="11127479" cy="26996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28003-055D-6ECF-A374-B2A6B6E86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7" y="3989976"/>
            <a:ext cx="11038989" cy="254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4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33EB-957A-C360-98FA-9A310C47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0CEF97D-9EE9-1105-CD5A-0103A1CF85A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0CDD2A5-E162-AB67-8555-F325BBAD5CCC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CC3FD4B-C168-603E-7FD0-62EF8FBAE4E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430B120-88B3-658E-04CB-FB22E5AA8BE8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68AC1E-6435-553A-DCC6-06DB07854B5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BC53EE-65D4-43F2-A935-41191AB47A0E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2A02D-7044-38BF-C2EC-7B5DAED2A5E3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AFEC5E3C-64D6-6C4C-EDBA-81F1283C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04" y="38294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Tables For Machinery &amp; Tower Components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EAD57E-B2ED-D26C-CCB5-5CCDB702309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86C43-683F-D277-5F4F-C3AFA368F6B0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8634D-A6F4-2B7B-51A5-8C334F88A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1166989"/>
            <a:ext cx="11218984" cy="2489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7BAEC8-BBDC-BDCF-FAFF-6110331DB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3695008"/>
            <a:ext cx="11218984" cy="28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4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2F46-87DA-68A6-C6A4-6761BFE2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1F7C864-DD95-32E7-1648-136621A637F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0BBAE24-3B19-B9C1-49DB-0254544123B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F9423F1-4EE1-9C25-8FE3-2A3DAA0300C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F1F55E8-3941-97C9-CB04-D825658CA3B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C3AE7E-FAB4-358F-1D16-C44C5D70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114096-A77C-FF58-EAFB-223242195D0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411549-E99C-BA76-A58E-EAD18673631F}"/>
              </a:ext>
            </a:extLst>
          </p:cNvPr>
          <p:cNvSpPr txBox="1"/>
          <p:nvPr/>
        </p:nvSpPr>
        <p:spPr>
          <a:xfrm>
            <a:off x="484417" y="1840667"/>
            <a:ext cx="100459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Completed Post Processing Result.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Extremes with updated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Result with scaled Shakti used by other teams for there calculations and GL Stats series results shows good optimization and will enhance with three below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more loop (5th) will generate in upcoming time when three file details got fixed </a:t>
            </a:r>
          </a:p>
          <a:p>
            <a:r>
              <a:rPr lang="en-US" dirty="0"/>
              <a:t>      1. Blade Structure 2. LiDAR Controller for Optimus Syria 3. Nacelle Details by System Integrator.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C4E52FD-3D1B-730F-6986-CC1DD2079981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C1AE3-9990-4F4B-7ADE-BE9342DE7129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D068C-4E60-3639-3CDC-8889BDAF662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23/12/2025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2D916-C10E-9C0C-BF16-DFB9ECBC66B7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06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Standard, DNVGL-ST-0376 – Edition December 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OpenFAST_v3.0 &amp; NREL 5 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MatLAB</a:t>
            </a:r>
            <a:r>
              <a:rPr lang="en-GB" dirty="0">
                <a:cs typeface="Times New Roman" panose="02020603050405020304" pitchFamily="18" charset="0"/>
              </a:rPr>
              <a:t> 2011b, </a:t>
            </a:r>
            <a:r>
              <a:rPr lang="en-GB" dirty="0" err="1">
                <a:cs typeface="Times New Roman" panose="02020603050405020304" pitchFamily="18" charset="0"/>
              </a:rPr>
              <a:t>MExtremes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4D7F5-6570-ACBE-ED5E-F8FE71E45631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23/12/2025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C628D-A055-42DF-4F69-5CCAE8731820}"/>
              </a:ext>
            </a:extLst>
          </p:cNvPr>
          <p:cNvSpPr txBox="1"/>
          <p:nvPr/>
        </p:nvSpPr>
        <p:spPr>
          <a:xfrm>
            <a:off x="4607425" y="6585424"/>
            <a:ext cx="336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Md Aman, Arham Memon, Paresh </a:t>
            </a:r>
            <a:r>
              <a:rPr lang="en-US" sz="1400" dirty="0" err="1">
                <a:solidFill>
                  <a:schemeClr val="bg1"/>
                </a:solidFill>
              </a:rPr>
              <a:t>Nakum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333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Custom Design</vt:lpstr>
      <vt:lpstr>Weekly report: Load &amp; Dynamics</vt:lpstr>
      <vt:lpstr>Agenda For Loads &amp; Dynamics</vt:lpstr>
      <vt:lpstr>Comparision Table</vt:lpstr>
      <vt:lpstr>Variations in Percent</vt:lpstr>
      <vt:lpstr>Calculated Parameters </vt:lpstr>
      <vt:lpstr>Tables For Machinery &amp; Tower Components</vt:lpstr>
      <vt:lpstr>Tables For Machinery &amp; Tower Components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106</cp:revision>
  <dcterms:created xsi:type="dcterms:W3CDTF">2025-07-21T13:11:31Z</dcterms:created>
  <dcterms:modified xsi:type="dcterms:W3CDTF">2025-12-22T02:56:10Z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