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0" r:id="rId2"/>
  </p:sldMasterIdLst>
  <p:notesMasterIdLst>
    <p:notesMasterId r:id="rId20"/>
  </p:notesMasterIdLst>
  <p:sldIdLst>
    <p:sldId id="257" r:id="rId3"/>
    <p:sldId id="259" r:id="rId4"/>
    <p:sldId id="261" r:id="rId5"/>
    <p:sldId id="278" r:id="rId6"/>
    <p:sldId id="283" r:id="rId7"/>
    <p:sldId id="271" r:id="rId8"/>
    <p:sldId id="273" r:id="rId9"/>
    <p:sldId id="274" r:id="rId10"/>
    <p:sldId id="285" r:id="rId11"/>
    <p:sldId id="265" r:id="rId12"/>
    <p:sldId id="286" r:id="rId13"/>
    <p:sldId id="266" r:id="rId14"/>
    <p:sldId id="281" r:id="rId15"/>
    <p:sldId id="282" r:id="rId16"/>
    <p:sldId id="315" r:id="rId17"/>
    <p:sldId id="264" r:id="rId18"/>
    <p:sldId id="27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C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E4C64E-E1A8-4D2A-8C33-5937CD587AEB}" v="45" dt="2025-12-15T10:44:37.546"/>
    <p1510:client id="{85E09888-B262-4080-8C06-2F25140AE9A1}" v="19" dt="2025-12-15T13:41:29.567"/>
    <p1510:client id="{BD9D4A05-CAF8-420C-BF6D-71A04EC16F45}" v="14" dt="2025-12-15T13:48:41.006"/>
    <p1510:client id="{CB32D31C-075A-46A2-8E80-F87F4AB13507}" v="32" dt="2025-12-15T10:40:01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Schlipf" userId="42e3ab0d-bd86-46c8-a131-9fd9c29bdce4" providerId="ADAL" clId="{8805D8F0-70E8-497D-B71A-8D710B12D196}"/>
    <pc:docChg chg="custSel addSld delSld modSld">
      <pc:chgData name="David Schlipf" userId="42e3ab0d-bd86-46c8-a131-9fd9c29bdce4" providerId="ADAL" clId="{8805D8F0-70E8-497D-B71A-8D710B12D196}" dt="2025-12-15T13:52:38.316" v="335" actId="1076"/>
      <pc:docMkLst>
        <pc:docMk/>
      </pc:docMkLst>
      <pc:sldChg chg="modSp mod">
        <pc:chgData name="David Schlipf" userId="42e3ab0d-bd86-46c8-a131-9fd9c29bdce4" providerId="ADAL" clId="{8805D8F0-70E8-497D-B71A-8D710B12D196}" dt="2025-12-15T13:41:59.586" v="1" actId="27636"/>
        <pc:sldMkLst>
          <pc:docMk/>
          <pc:sldMk cId="996576297" sldId="320"/>
        </pc:sldMkLst>
        <pc:spChg chg="mod">
          <ac:chgData name="David Schlipf" userId="42e3ab0d-bd86-46c8-a131-9fd9c29bdce4" providerId="ADAL" clId="{8805D8F0-70E8-497D-B71A-8D710B12D196}" dt="2025-12-15T13:41:59.586" v="1" actId="27636"/>
          <ac:spMkLst>
            <pc:docMk/>
            <pc:sldMk cId="996576297" sldId="320"/>
            <ac:spMk id="8" creationId="{51542E95-640F-4C03-F580-30EAC65AA7EC}"/>
          </ac:spMkLst>
        </pc:spChg>
      </pc:sldChg>
      <pc:sldChg chg="modSp mod">
        <pc:chgData name="David Schlipf" userId="42e3ab0d-bd86-46c8-a131-9fd9c29bdce4" providerId="ADAL" clId="{8805D8F0-70E8-497D-B71A-8D710B12D196}" dt="2025-12-15T13:41:59.592" v="2" actId="27636"/>
        <pc:sldMkLst>
          <pc:docMk/>
          <pc:sldMk cId="3710097373" sldId="321"/>
        </pc:sldMkLst>
        <pc:spChg chg="mod">
          <ac:chgData name="David Schlipf" userId="42e3ab0d-bd86-46c8-a131-9fd9c29bdce4" providerId="ADAL" clId="{8805D8F0-70E8-497D-B71A-8D710B12D196}" dt="2025-12-15T13:41:59.592" v="2" actId="27636"/>
          <ac:spMkLst>
            <pc:docMk/>
            <pc:sldMk cId="3710097373" sldId="321"/>
            <ac:spMk id="8" creationId="{B7EB6796-EFEF-8C4E-A4D0-A9DBA979BDBE}"/>
          </ac:spMkLst>
        </pc:spChg>
      </pc:sldChg>
      <pc:sldChg chg="del">
        <pc:chgData name="David Schlipf" userId="42e3ab0d-bd86-46c8-a131-9fd9c29bdce4" providerId="ADAL" clId="{8805D8F0-70E8-497D-B71A-8D710B12D196}" dt="2025-12-15T13:45:50.448" v="256" actId="47"/>
        <pc:sldMkLst>
          <pc:docMk/>
          <pc:sldMk cId="2363819949" sldId="322"/>
        </pc:sldMkLst>
      </pc:sldChg>
      <pc:sldChg chg="addSp modSp add mod">
        <pc:chgData name="David Schlipf" userId="42e3ab0d-bd86-46c8-a131-9fd9c29bdce4" providerId="ADAL" clId="{8805D8F0-70E8-497D-B71A-8D710B12D196}" dt="2025-12-15T13:45:42.958" v="255" actId="20577"/>
        <pc:sldMkLst>
          <pc:docMk/>
          <pc:sldMk cId="3268536240" sldId="323"/>
        </pc:sldMkLst>
        <pc:spChg chg="mod">
          <ac:chgData name="David Schlipf" userId="42e3ab0d-bd86-46c8-a131-9fd9c29bdce4" providerId="ADAL" clId="{8805D8F0-70E8-497D-B71A-8D710B12D196}" dt="2025-12-15T13:42:57.574" v="35" actId="20577"/>
          <ac:spMkLst>
            <pc:docMk/>
            <pc:sldMk cId="3268536240" sldId="323"/>
            <ac:spMk id="2" creationId="{103A3430-4BE4-DBE3-1E0E-E328A2FC6E53}"/>
          </ac:spMkLst>
        </pc:spChg>
        <pc:spChg chg="mod">
          <ac:chgData name="David Schlipf" userId="42e3ab0d-bd86-46c8-a131-9fd9c29bdce4" providerId="ADAL" clId="{8805D8F0-70E8-497D-B71A-8D710B12D196}" dt="2025-12-15T13:45:42.958" v="255" actId="20577"/>
          <ac:spMkLst>
            <pc:docMk/>
            <pc:sldMk cId="3268536240" sldId="323"/>
            <ac:spMk id="6" creationId="{26A2CC9E-C47A-C94D-DEED-F2E888FA0655}"/>
          </ac:spMkLst>
        </pc:spChg>
        <pc:picChg chg="add mod">
          <ac:chgData name="David Schlipf" userId="42e3ab0d-bd86-46c8-a131-9fd9c29bdce4" providerId="ADAL" clId="{8805D8F0-70E8-497D-B71A-8D710B12D196}" dt="2025-12-15T13:44:32.053" v="109" actId="1076"/>
          <ac:picMkLst>
            <pc:docMk/>
            <pc:sldMk cId="3268536240" sldId="323"/>
            <ac:picMk id="1026" creationId="{FE1E2C04-E1F7-EF39-5139-F2169DFC817F}"/>
          </ac:picMkLst>
        </pc:picChg>
      </pc:sldChg>
      <pc:sldChg chg="addSp delSp modSp add mod">
        <pc:chgData name="David Schlipf" userId="42e3ab0d-bd86-46c8-a131-9fd9c29bdce4" providerId="ADAL" clId="{8805D8F0-70E8-497D-B71A-8D710B12D196}" dt="2025-12-15T13:52:38.316" v="335" actId="1076"/>
        <pc:sldMkLst>
          <pc:docMk/>
          <pc:sldMk cId="3420739991" sldId="324"/>
        </pc:sldMkLst>
        <pc:spChg chg="mod">
          <ac:chgData name="David Schlipf" userId="42e3ab0d-bd86-46c8-a131-9fd9c29bdce4" providerId="ADAL" clId="{8805D8F0-70E8-497D-B71A-8D710B12D196}" dt="2025-12-15T13:52:32.718" v="333" actId="1076"/>
          <ac:spMkLst>
            <pc:docMk/>
            <pc:sldMk cId="3420739991" sldId="324"/>
            <ac:spMk id="6" creationId="{F7458B27-B631-5CB7-E42B-03CA38E40C0A}"/>
          </ac:spMkLst>
        </pc:spChg>
        <pc:picChg chg="add mod">
          <ac:chgData name="David Schlipf" userId="42e3ab0d-bd86-46c8-a131-9fd9c29bdce4" providerId="ADAL" clId="{8805D8F0-70E8-497D-B71A-8D710B12D196}" dt="2025-12-15T13:52:38.316" v="335" actId="1076"/>
          <ac:picMkLst>
            <pc:docMk/>
            <pc:sldMk cId="3420739991" sldId="324"/>
            <ac:picMk id="5" creationId="{D8DB6A71-6E43-04CF-5B89-0964CD4F421E}"/>
          </ac:picMkLst>
        </pc:picChg>
        <pc:picChg chg="add mod">
          <ac:chgData name="David Schlipf" userId="42e3ab0d-bd86-46c8-a131-9fd9c29bdce4" providerId="ADAL" clId="{8805D8F0-70E8-497D-B71A-8D710B12D196}" dt="2025-12-15T13:52:34.021" v="334" actId="1076"/>
          <ac:picMkLst>
            <pc:docMk/>
            <pc:sldMk cId="3420739991" sldId="324"/>
            <ac:picMk id="11" creationId="{117C0700-5050-AE2F-C606-810BBE320522}"/>
          </ac:picMkLst>
        </pc:picChg>
        <pc:picChg chg="del">
          <ac:chgData name="David Schlipf" userId="42e3ab0d-bd86-46c8-a131-9fd9c29bdce4" providerId="ADAL" clId="{8805D8F0-70E8-497D-B71A-8D710B12D196}" dt="2025-12-15T13:45:56.385" v="258" actId="478"/>
          <ac:picMkLst>
            <pc:docMk/>
            <pc:sldMk cId="3420739991" sldId="324"/>
            <ac:picMk id="1026" creationId="{B58AF4A1-7832-A2C3-95F0-9614F4645818}"/>
          </ac:picMkLst>
        </pc:picChg>
      </pc:sldChg>
    </pc:docChg>
  </pc:docChgLst>
  <pc:docChgLst>
    <pc:chgData name="Mirza Dincer" userId="S::midi5327@stud.hs-flensburg.de::379adbd7-337b-4551-930c-e9513034144b" providerId="AD" clId="Web-{CB32D31C-075A-46A2-8E80-F87F4AB13507}"/>
    <pc:docChg chg="modSld">
      <pc:chgData name="Mirza Dincer" userId="S::midi5327@stud.hs-flensburg.de::379adbd7-337b-4551-930c-e9513034144b" providerId="AD" clId="Web-{CB32D31C-075A-46A2-8E80-F87F4AB13507}" dt="2025-12-15T10:40:01.122" v="31" actId="20577"/>
      <pc:docMkLst>
        <pc:docMk/>
      </pc:docMkLst>
      <pc:sldChg chg="modSp">
        <pc:chgData name="Mirza Dincer" userId="S::midi5327@stud.hs-flensburg.de::379adbd7-337b-4551-930c-e9513034144b" providerId="AD" clId="Web-{CB32D31C-075A-46A2-8E80-F87F4AB13507}" dt="2025-12-15T10:40:01.122" v="31" actId="20577"/>
        <pc:sldMkLst>
          <pc:docMk/>
          <pc:sldMk cId="996576297" sldId="320"/>
        </pc:sldMkLst>
        <pc:spChg chg="mod">
          <ac:chgData name="Mirza Dincer" userId="S::midi5327@stud.hs-flensburg.de::379adbd7-337b-4551-930c-e9513034144b" providerId="AD" clId="Web-{CB32D31C-075A-46A2-8E80-F87F4AB13507}" dt="2025-12-15T10:40:01.122" v="31" actId="20577"/>
          <ac:spMkLst>
            <pc:docMk/>
            <pc:sldMk cId="996576297" sldId="320"/>
            <ac:spMk id="3" creationId="{2A495AC4-07B0-8002-ABA4-67B4D30FD5E0}"/>
          </ac:spMkLst>
        </pc:spChg>
      </pc:sldChg>
    </pc:docChg>
  </pc:docChgLst>
  <pc:docChgLst>
    <pc:chgData name="Mirza Dincer" userId="S::midi5327@stud.hs-flensburg.de::379adbd7-337b-4551-930c-e9513034144b" providerId="AD" clId="Web-{6BE4C64E-E1A8-4D2A-8C33-5937CD587AEB}"/>
    <pc:docChg chg="modSld">
      <pc:chgData name="Mirza Dincer" userId="S::midi5327@stud.hs-flensburg.de::379adbd7-337b-4551-930c-e9513034144b" providerId="AD" clId="Web-{6BE4C64E-E1A8-4D2A-8C33-5937CD587AEB}" dt="2025-12-15T10:44:37.546" v="44" actId="20577"/>
      <pc:docMkLst>
        <pc:docMk/>
      </pc:docMkLst>
      <pc:sldChg chg="modSp">
        <pc:chgData name="Mirza Dincer" userId="S::midi5327@stud.hs-flensburg.de::379adbd7-337b-4551-930c-e9513034144b" providerId="AD" clId="Web-{6BE4C64E-E1A8-4D2A-8C33-5937CD587AEB}" dt="2025-12-15T10:44:37.546" v="44" actId="20577"/>
        <pc:sldMkLst>
          <pc:docMk/>
          <pc:sldMk cId="996576297" sldId="320"/>
        </pc:sldMkLst>
        <pc:spChg chg="mod">
          <ac:chgData name="Mirza Dincer" userId="S::midi5327@stud.hs-flensburg.de::379adbd7-337b-4551-930c-e9513034144b" providerId="AD" clId="Web-{6BE4C64E-E1A8-4D2A-8C33-5937CD587AEB}" dt="2025-12-15T10:44:37.546" v="44" actId="20577"/>
          <ac:spMkLst>
            <pc:docMk/>
            <pc:sldMk cId="996576297" sldId="320"/>
            <ac:spMk id="3" creationId="{2A495AC4-07B0-8002-ABA4-67B4D30FD5E0}"/>
          </ac:spMkLst>
        </pc:spChg>
      </pc:sldChg>
    </pc:docChg>
  </pc:docChgLst>
  <pc:docChgLst>
    <pc:chgData name="David Schlipf" userId="S::david.schlipf@hs-flensburg.de::42e3ab0d-bd86-46c8-a131-9fd9c29bdce4" providerId="AD" clId="Web-{85E09888-B262-4080-8C06-2F25140AE9A1}"/>
    <pc:docChg chg="addSld modSld">
      <pc:chgData name="David Schlipf" userId="S::david.schlipf@hs-flensburg.de::42e3ab0d-bd86-46c8-a131-9fd9c29bdce4" providerId="AD" clId="Web-{85E09888-B262-4080-8C06-2F25140AE9A1}" dt="2025-12-15T13:41:29.567" v="17"/>
      <pc:docMkLst>
        <pc:docMk/>
      </pc:docMkLst>
      <pc:sldChg chg="addSp delSp modSp add replId">
        <pc:chgData name="David Schlipf" userId="S::david.schlipf@hs-flensburg.de::42e3ab0d-bd86-46c8-a131-9fd9c29bdce4" providerId="AD" clId="Web-{85E09888-B262-4080-8C06-2F25140AE9A1}" dt="2025-12-15T13:41:29.567" v="17"/>
        <pc:sldMkLst>
          <pc:docMk/>
          <pc:sldMk cId="2363819949" sldId="322"/>
        </pc:sldMkLst>
        <pc:spChg chg="mod">
          <ac:chgData name="David Schlipf" userId="S::david.schlipf@hs-flensburg.de::42e3ab0d-bd86-46c8-a131-9fd9c29bdce4" providerId="AD" clId="Web-{85E09888-B262-4080-8C06-2F25140AE9A1}" dt="2025-12-15T13:41:26.332" v="16" actId="20577"/>
          <ac:spMkLst>
            <pc:docMk/>
            <pc:sldMk cId="2363819949" sldId="322"/>
            <ac:spMk id="2" creationId="{BE6529C3-75D8-94FD-D434-5FFB8DD8BA3F}"/>
          </ac:spMkLst>
        </pc:spChg>
        <pc:spChg chg="del">
          <ac:chgData name="David Schlipf" userId="S::david.schlipf@hs-flensburg.de::42e3ab0d-bd86-46c8-a131-9fd9c29bdce4" providerId="AD" clId="Web-{85E09888-B262-4080-8C06-2F25140AE9A1}" dt="2025-12-15T13:41:29.567" v="17"/>
          <ac:spMkLst>
            <pc:docMk/>
            <pc:sldMk cId="2363819949" sldId="322"/>
            <ac:spMk id="5" creationId="{93BF19A1-A17E-F23E-2EEE-17D271CF3B07}"/>
          </ac:spMkLst>
        </pc:spChg>
        <pc:spChg chg="add mod">
          <ac:chgData name="David Schlipf" userId="S::david.schlipf@hs-flensburg.de::42e3ab0d-bd86-46c8-a131-9fd9c29bdce4" providerId="AD" clId="Web-{85E09888-B262-4080-8C06-2F25140AE9A1}" dt="2025-12-15T13:41:29.567" v="17"/>
          <ac:spMkLst>
            <pc:docMk/>
            <pc:sldMk cId="2363819949" sldId="322"/>
            <ac:spMk id="6" creationId="{EB074C5E-E8A8-33D6-F476-AB030DE2838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3C7D5-49C9-4310-99B0-74BF8F98F62E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34A5A-C299-4527-A106-DBD1B288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61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34A5A-C299-4527-A106-DBD1B2885A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7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12. </a:t>
            </a:r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  </a:t>
            </a:r>
          </a:p>
          <a:p>
            <a:pPr lvl="1"/>
            <a:r>
              <a:rPr lang="de-DE"/>
              <a:t>13. Tower  </a:t>
            </a:r>
          </a:p>
          <a:p>
            <a:pPr lvl="1"/>
            <a:r>
              <a:rPr lang="de-DE"/>
              <a:t>14. </a:t>
            </a:r>
            <a:r>
              <a:rPr lang="de-DE" err="1"/>
              <a:t>Foundation</a:t>
            </a:r>
            <a:r>
              <a:rPr lang="de-DE"/>
              <a:t>  </a:t>
            </a:r>
          </a:p>
          <a:p>
            <a:pPr lvl="1"/>
            <a:r>
              <a:rPr lang="de-DE"/>
              <a:t>15. Storage System 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1.  </a:t>
            </a:r>
            <a:r>
              <a:rPr lang="de-DE" err="1"/>
              <a:t>Windfarm</a:t>
            </a:r>
            <a:r>
              <a:rPr lang="de-DE"/>
              <a:t> Project Development  </a:t>
            </a:r>
          </a:p>
          <a:p>
            <a:pPr lvl="1"/>
            <a:r>
              <a:rPr lang="de-DE"/>
              <a:t>2.  Loads and Dynamics  </a:t>
            </a:r>
          </a:p>
          <a:p>
            <a:pPr lvl="1"/>
            <a:r>
              <a:rPr lang="de-DE"/>
              <a:t>3.  Feedback Controller  </a:t>
            </a:r>
          </a:p>
          <a:p>
            <a:pPr lvl="1"/>
            <a:r>
              <a:rPr lang="de-DE"/>
              <a:t>4.  Lidar-</a:t>
            </a:r>
            <a:r>
              <a:rPr lang="de-DE" err="1"/>
              <a:t>Assisted</a:t>
            </a:r>
            <a:r>
              <a:rPr lang="de-DE"/>
              <a:t> Controller  </a:t>
            </a:r>
          </a:p>
          <a:p>
            <a:pPr lvl="1"/>
            <a:r>
              <a:rPr lang="de-DE"/>
              <a:t>5.  Rotor Blade </a:t>
            </a:r>
            <a:r>
              <a:rPr lang="de-DE" err="1"/>
              <a:t>Aerodynamics</a:t>
            </a:r>
            <a:r>
              <a:rPr lang="de-DE"/>
              <a:t>  </a:t>
            </a:r>
          </a:p>
          <a:p>
            <a:pPr lvl="1"/>
            <a:r>
              <a:rPr lang="de-DE"/>
              <a:t>6.  Rotor Blade </a:t>
            </a:r>
            <a:r>
              <a:rPr lang="de-DE" err="1"/>
              <a:t>Structures</a:t>
            </a:r>
            <a:r>
              <a:rPr lang="de-DE"/>
              <a:t>  </a:t>
            </a:r>
          </a:p>
          <a:p>
            <a:pPr lvl="1"/>
            <a:r>
              <a:rPr lang="de-DE"/>
              <a:t>7.  </a:t>
            </a:r>
            <a:r>
              <a:rPr lang="de-DE" err="1"/>
              <a:t>Electrical</a:t>
            </a:r>
            <a:r>
              <a:rPr lang="de-DE"/>
              <a:t> </a:t>
            </a:r>
            <a:r>
              <a:rPr lang="de-DE" err="1"/>
              <a:t>Drivetrain</a:t>
            </a:r>
            <a:r>
              <a:rPr lang="de-DE"/>
              <a:t> (EDT)  </a:t>
            </a:r>
          </a:p>
          <a:p>
            <a:pPr lvl="1"/>
            <a:r>
              <a:rPr lang="de-DE"/>
              <a:t>8.  </a:t>
            </a:r>
            <a:r>
              <a:rPr lang="de-DE" err="1"/>
              <a:t>Grid</a:t>
            </a:r>
            <a:r>
              <a:rPr lang="de-DE"/>
              <a:t> Code Development (GCD)  </a:t>
            </a:r>
          </a:p>
          <a:p>
            <a:pPr lvl="1"/>
            <a:r>
              <a:rPr lang="de-DE"/>
              <a:t>9.  Rotor Hub &amp; Pitch System  </a:t>
            </a:r>
          </a:p>
          <a:p>
            <a:pPr lvl="1"/>
            <a:r>
              <a:rPr lang="de-DE"/>
              <a:t>10. Rotor </a:t>
            </a:r>
            <a:r>
              <a:rPr lang="de-DE" err="1"/>
              <a:t>Bearing</a:t>
            </a:r>
            <a:r>
              <a:rPr lang="de-DE"/>
              <a:t> System  </a:t>
            </a:r>
          </a:p>
          <a:p>
            <a:pPr lvl="1"/>
            <a:r>
              <a:rPr lang="de-DE"/>
              <a:t>11. </a:t>
            </a:r>
            <a:r>
              <a:rPr lang="de-DE" err="1"/>
              <a:t>Gearbox</a:t>
            </a:r>
            <a:r>
              <a:rPr lang="de-DE"/>
              <a:t>, Brake, Coupling  </a:t>
            </a:r>
          </a:p>
          <a:p>
            <a:pPr lvl="1"/>
            <a:r>
              <a:rPr lang="de-DE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23/12/2025</a:t>
            </a:r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4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 and short, concise bullet points) </a:t>
            </a:r>
            <a:br>
              <a:rPr lang="it-IT"/>
            </a:br>
            <a:r>
              <a:rPr lang="it-IT" err="1"/>
              <a:t>Only</a:t>
            </a:r>
            <a:r>
              <a:rPr lang="it-IT"/>
              <a:t> </a:t>
            </a:r>
            <a:r>
              <a:rPr lang="it-IT" err="1"/>
              <a:t>topics</a:t>
            </a:r>
            <a:r>
              <a:rPr lang="it-IT"/>
              <a:t> for the 4 min </a:t>
            </a:r>
            <a:r>
              <a:rPr lang="it-IT" err="1"/>
              <a:t>timeslot</a:t>
            </a:r>
            <a:r>
              <a:rPr lang="it-IT"/>
              <a:t>!</a:t>
            </a:r>
            <a:endParaRPr lang="en-GB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23/12/2025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35032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23/12/2025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66624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1"/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Use [1], [2], [3] for </a:t>
            </a:r>
            <a:r>
              <a:rPr lang="it-IT" err="1"/>
              <a:t>everything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have</a:t>
            </a:r>
            <a:r>
              <a:rPr lang="it-IT"/>
              <a:t> from a source (</a:t>
            </a:r>
            <a:r>
              <a:rPr lang="it-IT" err="1"/>
              <a:t>numbers</a:t>
            </a:r>
            <a:r>
              <a:rPr lang="it-IT"/>
              <a:t> </a:t>
            </a:r>
            <a:r>
              <a:rPr lang="it-IT" err="1"/>
              <a:t>should</a:t>
            </a:r>
            <a:r>
              <a:rPr lang="it-IT"/>
              <a:t> be the </a:t>
            </a:r>
            <a:r>
              <a:rPr lang="it-IT" err="1"/>
              <a:t>same</a:t>
            </a:r>
            <a:r>
              <a:rPr lang="it-IT"/>
              <a:t> like in the </a:t>
            </a:r>
            <a:r>
              <a:rPr lang="it-IT" err="1"/>
              <a:t>bibliography</a:t>
            </a:r>
            <a:r>
              <a:rPr lang="it-IT"/>
              <a:t>) (</a:t>
            </a:r>
            <a:r>
              <a:rPr lang="it-IT" err="1"/>
              <a:t>incl</a:t>
            </a:r>
            <a:r>
              <a:rPr lang="it-IT"/>
              <a:t>. pictures /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created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by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own</a:t>
            </a:r>
            <a:r>
              <a:rPr lang="it-IT"/>
              <a:t>, </a:t>
            </a:r>
            <a:r>
              <a:rPr lang="it-IT" err="1"/>
              <a:t>declare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</a:t>
            </a:r>
            <a:r>
              <a:rPr lang="it-IT" err="1"/>
              <a:t>as</a:t>
            </a:r>
            <a:r>
              <a:rPr lang="it-IT"/>
              <a:t> a </a:t>
            </a:r>
            <a:r>
              <a:rPr lang="it-IT" err="1"/>
              <a:t>thing</a:t>
            </a:r>
            <a:r>
              <a:rPr lang="it-IT"/>
              <a:t> </a:t>
            </a:r>
            <a:r>
              <a:rPr lang="it-IT" err="1"/>
              <a:t>you’ve</a:t>
            </a:r>
            <a:r>
              <a:rPr lang="it-IT"/>
              <a:t> </a:t>
            </a:r>
            <a:r>
              <a:rPr lang="it-IT" err="1"/>
              <a:t>done</a:t>
            </a:r>
            <a:r>
              <a:rPr lang="it-IT"/>
              <a:t> ) [Style </a:t>
            </a:r>
            <a:r>
              <a:rPr lang="it-IT" err="1"/>
              <a:t>Aptos</a:t>
            </a:r>
            <a:r>
              <a:rPr lang="it-IT"/>
              <a:t>/14]</a:t>
            </a:r>
            <a:endParaRPr lang="en-GB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</a:p>
          <a:p>
            <a:pPr algn="ctr"/>
            <a:r>
              <a:rPr lang="it-IT"/>
              <a:t>an </a:t>
            </a:r>
            <a:r>
              <a:rPr lang="it-IT" err="1"/>
              <a:t>intial</a:t>
            </a:r>
            <a:r>
              <a:rPr lang="it-IT"/>
              <a:t> slide with </a:t>
            </a:r>
            <a:r>
              <a:rPr lang="it-IT" err="1"/>
              <a:t>all</a:t>
            </a:r>
            <a:r>
              <a:rPr lang="it-IT"/>
              <a:t> the tasks </a:t>
            </a:r>
            <a:r>
              <a:rPr lang="it-IT" err="1"/>
              <a:t>completed</a:t>
            </a:r>
            <a:r>
              <a:rPr lang="it-IT"/>
              <a:t> for the week </a:t>
            </a:r>
            <a:r>
              <a:rPr lang="it-IT" err="1"/>
              <a:t>should</a:t>
            </a:r>
            <a:r>
              <a:rPr lang="it-IT"/>
              <a:t> </a:t>
            </a:r>
            <a:r>
              <a:rPr lang="it-IT" err="1"/>
              <a:t>always</a:t>
            </a:r>
            <a:r>
              <a:rPr lang="it-IT"/>
              <a:t> be </a:t>
            </a:r>
            <a:r>
              <a:rPr lang="it-IT" err="1"/>
              <a:t>included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style, do </a:t>
            </a:r>
            <a:r>
              <a:rPr lang="it-IT" err="1"/>
              <a:t>not</a:t>
            </a:r>
            <a:r>
              <a:rPr lang="it-IT"/>
              <a:t> </a:t>
            </a:r>
            <a:r>
              <a:rPr lang="it-IT" err="1"/>
              <a:t>write</a:t>
            </a:r>
            <a:r>
              <a:rPr lang="it-IT"/>
              <a:t> more text </a:t>
            </a:r>
            <a:r>
              <a:rPr lang="it-IT" err="1"/>
              <a:t>than</a:t>
            </a:r>
            <a:r>
              <a:rPr lang="it-IT"/>
              <a:t> </a:t>
            </a:r>
            <a:r>
              <a:rPr lang="it-IT" err="1"/>
              <a:t>necessary</a:t>
            </a:r>
            <a:r>
              <a:rPr lang="it-IT"/>
              <a:t> (short, concise bullet points are </a:t>
            </a:r>
            <a:r>
              <a:rPr lang="it-IT" err="1"/>
              <a:t>often</a:t>
            </a:r>
            <a:r>
              <a:rPr lang="it-IT"/>
              <a:t> </a:t>
            </a:r>
            <a:r>
              <a:rPr lang="it-IT" err="1"/>
              <a:t>enough</a:t>
            </a:r>
            <a:r>
              <a:rPr lang="it-IT"/>
              <a:t>)</a:t>
            </a:r>
            <a:endParaRPr lang="en-GB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23/12/2025</a:t>
            </a:r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65741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23/12/2025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233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22)</a:t>
            </a:r>
          </a:p>
          <a:p>
            <a:pPr lvl="1"/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BUT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use </a:t>
            </a:r>
            <a:r>
              <a:rPr lang="it-IT" err="1"/>
              <a:t>underpoints</a:t>
            </a:r>
            <a:r>
              <a:rPr lang="it-IT"/>
              <a:t> </a:t>
            </a:r>
            <a:r>
              <a:rPr lang="it-IT" err="1"/>
              <a:t>please</a:t>
            </a:r>
            <a:r>
              <a:rPr lang="it-IT"/>
              <a:t> with the i, ii, iii….</a:t>
            </a:r>
            <a:endParaRPr lang="en-GB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23/12/2025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66636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23/12/2025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341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err="1"/>
              <a:t>Add</a:t>
            </a:r>
            <a:r>
              <a:rPr lang="it-IT" sz="1400"/>
              <a:t> a link to the </a:t>
            </a:r>
            <a:r>
              <a:rPr lang="it-IT" sz="1400" err="1"/>
              <a:t>reference</a:t>
            </a:r>
            <a:r>
              <a:rPr lang="it-IT" sz="1400"/>
              <a:t> </a:t>
            </a:r>
            <a:r>
              <a:rPr lang="it-IT" sz="1400" err="1"/>
              <a:t>number</a:t>
            </a:r>
            <a:r>
              <a:rPr lang="it-IT" sz="1400"/>
              <a:t> </a:t>
            </a:r>
            <a:r>
              <a:rPr lang="it-IT" sz="1400" err="1"/>
              <a:t>that</a:t>
            </a:r>
            <a:r>
              <a:rPr lang="it-IT" sz="1400"/>
              <a:t> </a:t>
            </a:r>
            <a:r>
              <a:rPr lang="it-IT" sz="1400" err="1"/>
              <a:t>goes</a:t>
            </a:r>
            <a:r>
              <a:rPr lang="it-IT" sz="1400"/>
              <a:t> to the last slide: highlight the </a:t>
            </a:r>
            <a:r>
              <a:rPr lang="it-IT" sz="1400" err="1"/>
              <a:t>number</a:t>
            </a:r>
            <a:r>
              <a:rPr lang="it-IT" sz="1400"/>
              <a:t>-&gt;</a:t>
            </a:r>
            <a:r>
              <a:rPr lang="it-IT" sz="1400" err="1"/>
              <a:t>right</a:t>
            </a:r>
            <a:r>
              <a:rPr lang="it-IT" sz="1400"/>
              <a:t> click-&gt;</a:t>
            </a:r>
            <a:r>
              <a:rPr lang="it-IT" sz="1400" err="1"/>
              <a:t>select</a:t>
            </a:r>
            <a:r>
              <a:rPr lang="it-IT" sz="1400"/>
              <a:t> link-&gt;place in </a:t>
            </a:r>
            <a:r>
              <a:rPr lang="it-IT" sz="1400" err="1"/>
              <a:t>this</a:t>
            </a:r>
            <a:r>
              <a:rPr lang="it-IT" sz="1400"/>
              <a:t> </a:t>
            </a:r>
            <a:r>
              <a:rPr lang="it-IT" sz="1400" err="1"/>
              <a:t>document</a:t>
            </a:r>
            <a:r>
              <a:rPr lang="it-IT" sz="1400"/>
              <a:t>-&gt;</a:t>
            </a:r>
            <a:r>
              <a:rPr lang="it-IT" sz="1400" err="1"/>
              <a:t>select</a:t>
            </a:r>
            <a:r>
              <a:rPr lang="it-IT" sz="1400"/>
              <a:t> last slide</a:t>
            </a:r>
            <a:endParaRPr lang="en-GB" sz="14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23/12/2025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9461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23/12/2025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24660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23/12/2025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943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23/12/2025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50291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23/12/2025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32093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23/12/2025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78992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23/12/2025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88053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23/12/2025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11413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23/12/2025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98859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23/12/2025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552020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23/12/2025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07005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8792-EDF0-A005-2CE2-24C261AC6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3DE22-B4B9-EA44-EF61-D733C53BE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83C22-FDA0-3E63-68DD-4A6E7DD4C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23/12/2025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04B19-AF55-A977-1451-9DC5DC1FE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D61A8-50FB-0E57-BC6B-11987F02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888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915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First slide for groups</a:t>
            </a:r>
            <a:endParaRPr lang="en-GB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23/12/2025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GB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9560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23/12/2025</a:t>
            </a:r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5209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23/12/2025</a:t>
            </a:r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459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sv-SE"/>
              <a:t>Feedback &amp; Lidar Controller  / Optimus Syria</a:t>
            </a:r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23/12/2025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19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13D3613-1229-23C4-BBAC-0C4D5D552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6908"/>
            <a:ext cx="12192000" cy="912598"/>
          </a:xfrm>
        </p:spPr>
        <p:txBody>
          <a:bodyPr/>
          <a:lstStyle/>
          <a:p>
            <a:r>
              <a:rPr lang="en-US" noProof="0" dirty="0"/>
              <a:t>Weekly report: Feedback &amp; Lidar – Assisted Controller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811943A6-016A-175F-ED49-9090C8C309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000" noProof="0" dirty="0"/>
              <a:t>Week number: 13</a:t>
            </a:r>
          </a:p>
          <a:p>
            <a:r>
              <a:rPr lang="en-US" sz="2000" noProof="0" dirty="0"/>
              <a:t>Date: 23/12/2025</a:t>
            </a:r>
          </a:p>
          <a:p>
            <a:r>
              <a:rPr lang="en-US" sz="2000" noProof="0" dirty="0"/>
              <a:t>Supervisor: Prof. Dr.-Ing. David Schlipf</a:t>
            </a:r>
          </a:p>
          <a:p>
            <a:endParaRPr lang="en-US" sz="2000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1D66077-75E8-B72F-9B4E-64E062858EC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982755" y="4653709"/>
            <a:ext cx="6226490" cy="758312"/>
          </a:xfrm>
        </p:spPr>
        <p:txBody>
          <a:bodyPr/>
          <a:lstStyle/>
          <a:p>
            <a:r>
              <a:rPr lang="en-US" noProof="0" dirty="0"/>
              <a:t>Group members: Mirza Dincer, Saurabh Pankaj Jha, Midhun </a:t>
            </a:r>
            <a:r>
              <a:rPr lang="en-US" noProof="0" dirty="0" err="1"/>
              <a:t>Kanichattu</a:t>
            </a:r>
            <a:r>
              <a:rPr lang="en-US" noProof="0" dirty="0"/>
              <a:t> Venu</a:t>
            </a:r>
          </a:p>
          <a:p>
            <a:r>
              <a:rPr lang="en-US" noProof="0" dirty="0"/>
              <a:t>Presenter: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51974-AA80-93E7-DE29-6B240912C06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 dirty="0"/>
              <a:t>23/12/2025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1378A-4F01-6B30-CC0C-0D06C211A4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US" noProof="0" smtClean="0"/>
              <a:pPr/>
              <a:t>1</a:t>
            </a:fld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D90F1C-B0AB-81E1-63B6-F10AE37370C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6803"/>
            <a:ext cx="3055971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1114542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396C42-5C8A-4DF6-469E-AA02488B5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Rated Wind Speed</a:t>
            </a:r>
          </a:p>
          <a:p>
            <a:r>
              <a:rPr lang="en-US" noProof="0" dirty="0"/>
              <a:t>Steady States values</a:t>
            </a:r>
          </a:p>
          <a:p>
            <a:r>
              <a:rPr lang="en-US" noProof="0" dirty="0"/>
              <a:t>Torque Controller</a:t>
            </a:r>
          </a:p>
          <a:p>
            <a:r>
              <a:rPr lang="en-US" noProof="0" dirty="0"/>
              <a:t>Pitch Controller</a:t>
            </a:r>
          </a:p>
          <a:p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E0BEDA-D340-0E86-7B6A-D958296C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List of Contents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26A6A-DC19-EFAF-AC42-F8701A3F5C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A55B5-D29A-D64C-52F3-986289E5F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23/12/2025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B052D8F-1675-605E-CB1B-9CD5E63E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B39CA5-143A-78A6-B398-AAF845BF2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657761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BD1F737-C9E5-D61C-802C-D8AA46A86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Tasks of the Week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CE80E-4A9A-B819-E481-DA6D7AC2F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02112" cy="4351338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noProof="0" dirty="0"/>
              <a:t>Retuning of feedback controller with updated blade configuration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22DFD0-8551-3A05-D2F0-A2FEDE79CBF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Mirza Dincer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189547C-E522-4813-C302-A8977F7E796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23/12/2025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04BE1C-7C80-B8F9-3A23-EBD96702EEC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2FC9593-3854-FCA1-E2BE-010AAED06C6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9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3245172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680C7-D551-D36E-F818-249D6830C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Rated Wind Speed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9BF12-310C-F6A5-314B-C7321569C1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D62FC-D8BA-5B97-B3C6-88D456B8881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23/12/2025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FA373-C337-58E9-C456-D80C60BE120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3E52F-7E14-1098-E2CC-0F1CFADBFD7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4</a:t>
            </a:fld>
            <a:endParaRPr lang="en-US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F2CE53-9C37-BA91-E1B6-71AC6848D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3504" y="1690688"/>
            <a:ext cx="8283294" cy="41200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A7548E-5C57-258A-D0D4-6A9702C2C276}"/>
                  </a:ext>
                </a:extLst>
              </p:cNvPr>
              <p:cNvSpPr txBox="1"/>
              <p:nvPr/>
            </p:nvSpPr>
            <p:spPr>
              <a:xfrm>
                <a:off x="7159986" y="2940114"/>
                <a:ext cx="4882662" cy="2925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noProof="0" dirty="0"/>
                  <a:t>Rated Wind speed can be found when all the parameters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noProof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sz="1600" b="0" i="0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1600" noProof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600" b="0" i="0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1600" noProof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1600" noProof="0" dirty="0"/>
                  <a:t>) set to rated values, then founding the wind speed where rotor acceleration (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600" i="1" kern="100" noProof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1600" kern="100" noProof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</m:acc>
                    <m:r>
                      <a:rPr lang="en-US" sz="1600" b="0" i="0" kern="100" noProof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US" sz="1600" b="0" i="0" kern="100" noProof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is</m:t>
                    </m:r>
                    <m:r>
                      <a:rPr lang="en-US" sz="1600" b="0" i="0" kern="100" noProof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kern="100" noProof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closest</m:t>
                    </m:r>
                    <m:r>
                      <a:rPr lang="en-US" sz="1600" b="0" i="0" kern="100" noProof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kern="100" noProof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to</m:t>
                    </m:r>
                    <m:r>
                      <a:rPr lang="en-US" sz="1600" b="0" i="0" kern="100" noProof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kern="100" noProof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zero</m:t>
                    </m:r>
                    <m:r>
                      <a:rPr lang="en-US" sz="1600" b="0" i="0" kern="100" noProof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1600" noProof="0" dirty="0"/>
              </a:p>
              <a:p>
                <a:endParaRPr lang="en-US" sz="1600" noProof="0" dirty="0"/>
              </a:p>
              <a:p>
                <a:r>
                  <a:rPr lang="en-US" sz="1600" noProof="0" dirty="0"/>
                  <a:t>The method to find is by using the </a:t>
                </a:r>
                <a:r>
                  <a:rPr lang="en-US" sz="1600" noProof="0" dirty="0" err="1"/>
                  <a:t>fminbnd</a:t>
                </a:r>
                <a:r>
                  <a:rPr lang="en-US" sz="1600" noProof="0" dirty="0"/>
                  <a:t> function in MATLAB, where it founds minimum value in a function, in this case our function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noProof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sSub>
                                  <m:sSubPr>
                                    <m:ctrlP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d>
                              <m:d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noProof="0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160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600" noProof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600" noProof="0" smtClean="0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</m:d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sub>
                                </m:sSub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sSub>
                                  <m:sSubPr>
                                    <m:ctrlP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𝐺𝐵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  <m:sup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600" noProof="0" dirty="0"/>
              </a:p>
              <a:p>
                <a:endParaRPr lang="en-US" sz="1600" noProof="0" dirty="0"/>
              </a:p>
              <a:p>
                <a:r>
                  <a:rPr lang="en-US" sz="1600" noProof="0" dirty="0"/>
                  <a:t>In our turbine, rated wind speed is 10.8 m/s.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A7548E-5C57-258A-D0D4-6A9702C2C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9986" y="2940114"/>
                <a:ext cx="4882662" cy="2925866"/>
              </a:xfrm>
              <a:prstGeom prst="rect">
                <a:avLst/>
              </a:prstGeom>
              <a:blipFill>
                <a:blip r:embed="rId3"/>
                <a:stretch>
                  <a:fillRect l="-749" t="-625" r="-874" b="-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55EBBA-F3FC-5EF2-00D9-706A730C4EDA}"/>
                  </a:ext>
                </a:extLst>
              </p:cNvPr>
              <p:cNvSpPr txBox="1"/>
              <p:nvPr/>
            </p:nvSpPr>
            <p:spPr>
              <a:xfrm>
                <a:off x="6782943" y="1859417"/>
                <a:ext cx="4930902" cy="4683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1" kern="100" noProof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Rotor</m:t>
                      </m:r>
                      <m:r>
                        <a:rPr lang="en-US" sz="1600" b="0" i="1" kern="100" noProof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1" kern="100" noProof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Motion</m:t>
                      </m:r>
                      <m:r>
                        <a:rPr lang="en-US" sz="1600" b="0" i="1" kern="100" noProof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: </m:t>
                      </m:r>
                      <m:r>
                        <a:rPr lang="en-US" sz="1600" i="1" kern="100" noProof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𝐽</m:t>
                      </m:r>
                      <m:r>
                        <a:rPr lang="en-US" sz="1600" i="1" kern="100" noProof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 </m:t>
                      </m:r>
                      <m:acc>
                        <m:accPr>
                          <m:chr m:val="̇"/>
                          <m:ctrlPr>
                            <a:rPr lang="en-US" sz="1600" i="1" kern="100" noProof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600" kern="100" noProof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Ω</m:t>
                          </m:r>
                        </m:e>
                      </m:acc>
                      <m:r>
                        <a:rPr lang="en-US" sz="1600" i="1" kern="100" noProof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kern="100" noProof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 noProof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i="1" kern="100" noProof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i="1" kern="100" noProof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 kern="100" noProof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 noProof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i="1" kern="100" noProof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sz="1600" i="1" kern="100" noProof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sz="1600" i="1" kern="100" noProof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 kern="100" noProof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i="1" kern="100" noProof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𝐺𝐵</m:t>
                          </m:r>
                        </m:sub>
                      </m:sSub>
                    </m:oMath>
                  </m:oMathPara>
                </a14:m>
                <a:endParaRPr lang="en-US" sz="1600" kern="100" noProof="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55EBBA-F3FC-5EF2-00D9-706A730C4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943" y="1859417"/>
                <a:ext cx="4930902" cy="468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8F979B-D054-706C-E9D0-C12C8A1A481C}"/>
                  </a:ext>
                </a:extLst>
              </p:cNvPr>
              <p:cNvSpPr txBox="1"/>
              <p:nvPr/>
            </p:nvSpPr>
            <p:spPr>
              <a:xfrm>
                <a:off x="6096000" y="2019971"/>
                <a:ext cx="6304788" cy="6220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Aerodynamic</m:t>
                          </m:r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Torque</m:t>
                          </m:r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i="0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0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600" i="0" noProof="0" smtClean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1600" i="0" noProof="0" smtClean="0"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en-US" sz="1600" i="0" noProof="0" smtClean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1600" i="0" noProof="0" smtClean="0">
                          <a:latin typeface="Cambria Math" panose="02040503050406030204" pitchFamily="18" charset="0"/>
                        </a:rPr>
                        <m:t>π</m:t>
                      </m:r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1600" i="0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 i="0" noProof="0" smtClean="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 i="0" noProof="0" smtClean="0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sz="1600" i="0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600" i="0" noProof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  <m:r>
                        <a:rPr lang="en-US" sz="1600" i="0" noProof="0" smtClean="0">
                          <a:latin typeface="Cambria Math" panose="02040503050406030204" pitchFamily="18" charset="0"/>
                        </a:rPr>
                        <m:t> </m:t>
                      </m:r>
                      <m:f>
                        <m:f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 b="0" i="1" noProof="0" smtClean="0">
                                  <a:latin typeface="Cambria Math" panose="02040503050406030204" pitchFamily="18" charset="0"/>
                                </a:rPr>
                                <m:t>rel</m:t>
                              </m:r>
                            </m:sub>
                            <m:sup>
                              <m: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num>
                        <m:den>
                          <m:r>
                            <m:rPr>
                              <m:sty m:val="p"/>
                            </m:rPr>
                            <a:rPr lang="en-US" sz="1600" b="0" i="0" noProof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</m:oMath>
                  </m:oMathPara>
                </a14:m>
                <a:endParaRPr lang="en-US" sz="1600" noProof="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8F979B-D054-706C-E9D0-C12C8A1A4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19971"/>
                <a:ext cx="6304788" cy="6220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9305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D6422-F88F-DAB4-D8D8-158EF1DD7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Steady States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6BCB8-21FD-CBB8-388C-0BE706872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600 seconds </a:t>
            </a:r>
            <a:r>
              <a:rPr lang="en-US" noProof="0" dirty="0"/>
              <a:t>of simulation. </a:t>
            </a:r>
          </a:p>
          <a:p>
            <a:endParaRPr lang="en-US" noProof="0" dirty="0"/>
          </a:p>
          <a:p>
            <a:r>
              <a:rPr lang="en-US" b="1" noProof="0" dirty="0"/>
              <a:t>Wind speeds </a:t>
            </a:r>
            <a:r>
              <a:rPr lang="en-US" noProof="0" dirty="0"/>
              <a:t>from </a:t>
            </a:r>
            <a:r>
              <a:rPr lang="en-US" b="1" noProof="0" dirty="0"/>
              <a:t>1 m/s to 30 m/s</a:t>
            </a:r>
            <a:r>
              <a:rPr lang="en-US" noProof="0" dirty="0"/>
              <a:t>, with increments of 1 m/s</a:t>
            </a:r>
          </a:p>
          <a:p>
            <a:endParaRPr lang="en-US" b="1" noProof="0" dirty="0"/>
          </a:p>
          <a:p>
            <a:r>
              <a:rPr lang="en-US" noProof="0" dirty="0"/>
              <a:t>Only enabled </a:t>
            </a:r>
            <a:r>
              <a:rPr lang="en-US" b="1" noProof="0" dirty="0"/>
              <a:t>Rotor DOF </a:t>
            </a:r>
            <a:r>
              <a:rPr lang="en-US" noProof="0" dirty="0"/>
              <a:t>and </a:t>
            </a:r>
            <a:r>
              <a:rPr lang="en-US" b="1" noProof="0" dirty="0"/>
              <a:t>First fore-aft tower bending-mode DOF.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noProof="0" dirty="0"/>
          </a:p>
          <a:p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C5421-0E5D-95C5-8049-59DBDAA6ED0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D808E-07B3-A6F7-6F58-3CAFF1E05D5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23/12/2025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A4C8F-E58E-3584-A41C-3C2785ED165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E4BAB-BAB7-346C-25D3-94F01B9868F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03900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E970A-1D60-EC12-CF16-0E6945D8B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Steady States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1469A-7169-7B54-AE0F-430C7E67F4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6CB73-D755-DA78-1AC8-F9E3FB1CF20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23/12/2025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457A0-3FF0-ED90-CD50-CA3980A5B21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1C161-0796-DAB4-F9F8-50CD8851A09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6</a:t>
            </a:fld>
            <a:endParaRPr lang="en-US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0AB236-6237-47FF-C289-99FEC1ECB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3354" y="1842036"/>
            <a:ext cx="6603761" cy="35976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F93703-C1D8-5925-92AE-2258DCA8B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239" y="1842036"/>
            <a:ext cx="6603761" cy="35976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BB64D0-0D61-FEAE-1910-C762B60B50BD}"/>
              </a:ext>
            </a:extLst>
          </p:cNvPr>
          <p:cNvSpPr txBox="1"/>
          <p:nvPr/>
        </p:nvSpPr>
        <p:spPr>
          <a:xfrm>
            <a:off x="2562475" y="1839346"/>
            <a:ext cx="151790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200" noProof="0" dirty="0"/>
              <a:t>Rotational Speed [rpm]</a:t>
            </a:r>
            <a:endParaRPr lang="en-US" sz="1200" noProof="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64A771-482C-77B3-033F-1BB56F714DCE}"/>
              </a:ext>
            </a:extLst>
          </p:cNvPr>
          <p:cNvSpPr txBox="1"/>
          <p:nvPr/>
        </p:nvSpPr>
        <p:spPr>
          <a:xfrm>
            <a:off x="8742882" y="1839346"/>
            <a:ext cx="119664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200" noProof="0" dirty="0"/>
              <a:t>Pitch Angles [deg]</a:t>
            </a:r>
            <a:endParaRPr lang="en-US" sz="12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968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C5A9D-18B8-8CA1-C6E4-DD693FCB1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B6195-E54E-D7B7-E5A3-1F11D548D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Steady States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7E591-4802-3886-C20B-49A83DC5030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60544-763B-E084-52DB-44004D6A3D0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23/12/2025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BFBA4-0017-A828-BA2C-89511927F71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EB1A4-CC4D-DE3F-28B7-CD298084D80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7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E3836C-ED7F-A9A9-D58E-4C848CB9E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3354" y="1842036"/>
            <a:ext cx="6603761" cy="35976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34AB7B-3437-818B-42EB-740BC9578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569" y="1839346"/>
            <a:ext cx="6603761" cy="35976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EFD4BE-43FE-BECB-8014-0DA90E2F96B1}"/>
              </a:ext>
            </a:extLst>
          </p:cNvPr>
          <p:cNvSpPr txBox="1"/>
          <p:nvPr/>
        </p:nvSpPr>
        <p:spPr>
          <a:xfrm>
            <a:off x="2414049" y="1839346"/>
            <a:ext cx="165290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200" noProof="0" dirty="0"/>
              <a:t>Generator Torque [</a:t>
            </a:r>
            <a:r>
              <a:rPr lang="en-US" sz="1200" noProof="0" dirty="0" err="1"/>
              <a:t>kNm</a:t>
            </a:r>
            <a:r>
              <a:rPr lang="en-US" sz="1200" noProof="0" dirty="0"/>
              <a:t>]</a:t>
            </a:r>
            <a:endParaRPr lang="en-US" sz="1200" noProof="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F6982F-CFCD-4820-1843-1DABA14CFA8D}"/>
              </a:ext>
            </a:extLst>
          </p:cNvPr>
          <p:cNvSpPr txBox="1"/>
          <p:nvPr/>
        </p:nvSpPr>
        <p:spPr>
          <a:xfrm>
            <a:off x="8595330" y="1836656"/>
            <a:ext cx="157155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200" noProof="0" dirty="0"/>
              <a:t>Tower Top Position [m]</a:t>
            </a:r>
            <a:endParaRPr lang="en-US" sz="12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599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A7C54-2DF6-6B00-286A-9EDF64D9F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B8127-7E97-0052-41E5-B8CAD97D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Steady States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0E544-7CFC-979E-92F5-3A3F6FE6F9C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787A3-F8E2-16E7-E461-61FD9BC7D93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23/12/2025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BE290-9EB8-89EA-132C-B18BD8E431D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46EC2-23B4-79A7-090D-45C7D27E84A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8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48D11E-18AB-5F8D-4A0E-5E951B65C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550" y="1344168"/>
            <a:ext cx="9752900" cy="53132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C7B16C-C941-F90F-4F76-4E0B397919E9}"/>
              </a:ext>
            </a:extLst>
          </p:cNvPr>
          <p:cNvSpPr txBox="1"/>
          <p:nvPr/>
        </p:nvSpPr>
        <p:spPr>
          <a:xfrm>
            <a:off x="5676569" y="1506022"/>
            <a:ext cx="165290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200" noProof="0" dirty="0"/>
              <a:t>Static Power Curve</a:t>
            </a:r>
            <a:endParaRPr lang="en-US" sz="12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518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B4428-2034-7C27-F935-87188CAD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Power Coefficient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E9A0A-245A-75E7-788C-18F6F156D7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AF168-8E02-0C27-7974-0CCB926D505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23/12/2025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8DBF9-9316-7A76-5C2F-31C619A67AB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3D1DD-CD0F-268A-5AB6-84385E0039C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9</a:t>
            </a:fld>
            <a:endParaRPr lang="en-US" noProof="0" dirty="0"/>
          </a:p>
        </p:txBody>
      </p:sp>
      <p:sp>
        <p:nvSpPr>
          <p:cNvPr id="9" name="Inhaltsplatzhalter 5">
            <a:extLst>
              <a:ext uri="{FF2B5EF4-FFF2-40B4-BE49-F238E27FC236}">
                <a16:creationId xmlns:a16="http://schemas.microsoft.com/office/drawing/2014/main" id="{271DB8D3-09C2-E20F-19DD-20DE48FDF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5807075"/>
            <a:ext cx="10515600" cy="592822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Maximum power coefficient is 0.43 at TSR = 9.7 and 0 deg.</a:t>
            </a:r>
          </a:p>
        </p:txBody>
      </p:sp>
      <p:pic>
        <p:nvPicPr>
          <p:cNvPr id="10" name="Grafik 4">
            <a:extLst>
              <a:ext uri="{FF2B5EF4-FFF2-40B4-BE49-F238E27FC236}">
                <a16:creationId xmlns:a16="http://schemas.microsoft.com/office/drawing/2014/main" id="{C94AA625-5B7C-2335-2E8B-CBE182BFB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546" y="1687998"/>
            <a:ext cx="5334000" cy="40005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EA164DE-EC20-EB83-7A5C-E4C83B0EA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46" y="1690688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174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040B0-332F-C3BC-CAF5-EECB0F10F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Torque Controller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9DF35D-7075-59E9-F71B-4E5E84ADE09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3D5C4-8F92-8502-E4B2-996DC1F0B45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23/12/2025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4117D-853F-FC7B-8624-883A2ACB84F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6BBE9-3692-3C90-2379-8538C5901D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10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4B0D58-F366-79F0-A3F9-19777F756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3736" y="1579400"/>
            <a:ext cx="8549640" cy="465777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88D64A-D014-A253-1C36-348DDE2F1786}"/>
                  </a:ext>
                </a:extLst>
              </p:cNvPr>
              <p:cNvSpPr txBox="1"/>
              <p:nvPr/>
            </p:nvSpPr>
            <p:spPr>
              <a:xfrm>
                <a:off x="7255789" y="1993146"/>
                <a:ext cx="1840230" cy="345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i="1" noProof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sz="1600" i="0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noProof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600" i="0" noProof="0">
                          <a:latin typeface="Cambria Math" panose="02040503050406030204" pitchFamily="18" charset="0"/>
                        </a:rPr>
                        <m:t> </m:t>
                      </m:r>
                      <m:sSubSup>
                        <m:sSubSup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i="0" noProof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sz="1600" i="1" noProof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  <m:sup>
                          <m:r>
                            <a:rPr lang="en-US" sz="1600" i="0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600" noProof="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88D64A-D014-A253-1C36-348DDE2F1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789" y="1993146"/>
                <a:ext cx="1840230" cy="3450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CAAE9E-8A8F-F9CA-E330-6B70AA0A33A9}"/>
                  </a:ext>
                </a:extLst>
              </p:cNvPr>
              <p:cNvSpPr txBox="1"/>
              <p:nvPr/>
            </p:nvSpPr>
            <p:spPr>
              <a:xfrm>
                <a:off x="9096019" y="1838138"/>
                <a:ext cx="2336317" cy="6798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600" i="0" noProof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 noProof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0" noProof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600" i="0" noProof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1600" i="0" noProof="0"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en-US" sz="1600" i="0" noProof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1600" i="0" noProof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sz="1600" i="0" noProof="0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1600" i="0" noProof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1600" i="0" noProof="0">
                          <a:latin typeface="Cambria Math" panose="02040503050406030204" pitchFamily="18" charset="0"/>
                        </a:rPr>
                        <m:t> </m:t>
                      </m:r>
                      <m:f>
                        <m:f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1600" i="0" noProof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n-US" sz="1600" b="0" i="1" noProof="0">
                                  <a:latin typeface="Cambria Math" panose="02040503050406030204" pitchFamily="18" charset="0"/>
                                </a:rPr>
                                <m:t>opt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1600" b="0" i="1" noProof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noProof="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 b="0" i="1" noProof="0">
                                  <a:latin typeface="Cambria Math" panose="02040503050406030204" pitchFamily="18" charset="0"/>
                                </a:rPr>
                                <m:t>opt</m:t>
                              </m:r>
                            </m:sub>
                            <m:sup>
                              <m:r>
                                <a:rPr lang="en-US" sz="1600" b="0" i="0" noProof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  <m:r>
                            <a:rPr lang="en-US" sz="1600" b="0" i="0" noProof="0">
                              <a:latin typeface="Cambria Math" panose="02040503050406030204" pitchFamily="18" charset="0"/>
                            </a:rPr>
                            <m:t> </m:t>
                          </m:r>
                          <m:sSubSup>
                            <m:sSubSupPr>
                              <m:ctrlPr>
                                <a:rPr lang="en-US" sz="1600" b="0" i="1" noProof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noProof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600" b="0" i="1" noProof="0">
                                  <a:latin typeface="Cambria Math" panose="02040503050406030204" pitchFamily="18" charset="0"/>
                                </a:rPr>
                                <m:t>𝐺𝐵</m:t>
                              </m:r>
                            </m:sub>
                            <m:sup>
                              <m:r>
                                <a:rPr lang="en-US" sz="1600" b="0" i="0" noProof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1600" noProof="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CAAE9E-8A8F-F9CA-E330-6B70AA0A3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6019" y="1838138"/>
                <a:ext cx="2336317" cy="6798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7AC159D-01C6-5FAE-B449-1A88CA6EE804}"/>
              </a:ext>
            </a:extLst>
          </p:cNvPr>
          <p:cNvSpPr txBox="1"/>
          <p:nvPr/>
        </p:nvSpPr>
        <p:spPr>
          <a:xfrm>
            <a:off x="7827264" y="2785208"/>
            <a:ext cx="360507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noProof="0" dirty="0"/>
              <a:t>K value shows the relation between generator torque and generator speed for region 2.</a:t>
            </a:r>
          </a:p>
          <a:p>
            <a:pPr algn="l"/>
            <a:endParaRPr lang="en-US" sz="1400" noProof="0" dirty="0"/>
          </a:p>
          <a:p>
            <a:pPr algn="l"/>
            <a:r>
              <a:rPr lang="en-US" sz="1400" noProof="0" dirty="0"/>
              <a:t>To find the best k value, we optimized for highest power generated at a region 2 wind speed, in this case 6.5 m/s.</a:t>
            </a:r>
          </a:p>
          <a:p>
            <a:pPr algn="l"/>
            <a:endParaRPr lang="en-US" sz="1400" noProof="0" dirty="0"/>
          </a:p>
          <a:p>
            <a:pPr algn="l"/>
            <a:r>
              <a:rPr lang="en-US" sz="1400" noProof="0" dirty="0"/>
              <a:t>Starting point is 1.4273 Nm/(rad/s^2), which is the value obtained by max Cp point (0. 43 in theta = 0° and TSR = 97).</a:t>
            </a:r>
          </a:p>
          <a:p>
            <a:pPr algn="l"/>
            <a:endParaRPr lang="en-US" sz="1400" noProof="0" dirty="0"/>
          </a:p>
          <a:p>
            <a:r>
              <a:rPr lang="en-US" sz="1400" noProof="0" dirty="0"/>
              <a:t>1.9273 Nm/(rad/s^2) gives the highest power.</a:t>
            </a:r>
          </a:p>
        </p:txBody>
      </p:sp>
    </p:spTree>
    <p:extLst>
      <p:ext uri="{BB962C8B-B14F-4D97-AF65-F5344CB8AC3E}">
        <p14:creationId xmlns:p14="http://schemas.microsoft.com/office/powerpoint/2010/main" val="27830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CD00-F220-674C-A70A-CFB17397C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Simulation Settings for Step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1B5B0-5B62-63DE-528F-171092768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300 seconds </a:t>
            </a:r>
            <a:r>
              <a:rPr lang="en-US" noProof="0" dirty="0"/>
              <a:t>of simulation, to see settled values for both wind speeds.</a:t>
            </a:r>
          </a:p>
          <a:p>
            <a:endParaRPr lang="en-US" noProof="0" dirty="0"/>
          </a:p>
          <a:p>
            <a:r>
              <a:rPr lang="en-US" b="1" noProof="0" dirty="0"/>
              <a:t>Step wind speed</a:t>
            </a:r>
            <a:r>
              <a:rPr lang="en-US" noProof="0" dirty="0"/>
              <a:t>,</a:t>
            </a:r>
            <a:r>
              <a:rPr lang="en-US" b="1" noProof="0" dirty="0"/>
              <a:t> </a:t>
            </a:r>
            <a:r>
              <a:rPr lang="en-US" noProof="0" dirty="0"/>
              <a:t>from 6 m/s to 7 m/s.</a:t>
            </a:r>
          </a:p>
          <a:p>
            <a:endParaRPr lang="en-US" b="1" noProof="0" dirty="0"/>
          </a:p>
          <a:p>
            <a:r>
              <a:rPr lang="en-US" noProof="0" dirty="0"/>
              <a:t>Only enabled </a:t>
            </a:r>
            <a:r>
              <a:rPr lang="en-US" b="1" noProof="0" dirty="0"/>
              <a:t>Rotor DOF </a:t>
            </a:r>
            <a:r>
              <a:rPr lang="en-US" noProof="0" dirty="0"/>
              <a:t>and </a:t>
            </a:r>
            <a:r>
              <a:rPr lang="en-US" b="1" noProof="0" dirty="0"/>
              <a:t>First fore-aft tower bending-mode DOF</a:t>
            </a:r>
            <a:r>
              <a:rPr lang="en-US" noProof="0" dirty="0"/>
              <a:t>.</a:t>
            </a:r>
          </a:p>
          <a:p>
            <a:endParaRPr lang="en-US" b="1" noProof="0" dirty="0"/>
          </a:p>
          <a:p>
            <a:r>
              <a:rPr lang="en-US" noProof="0" dirty="0"/>
              <a:t>Initial conditions of </a:t>
            </a:r>
            <a:r>
              <a:rPr lang="en-US" b="1" noProof="0" dirty="0"/>
              <a:t>rotor speed </a:t>
            </a:r>
            <a:r>
              <a:rPr lang="en-US" noProof="0" dirty="0"/>
              <a:t>and </a:t>
            </a:r>
            <a:r>
              <a:rPr lang="en-US" b="1" noProof="0" dirty="0"/>
              <a:t>fore-aft tower top displacement</a:t>
            </a:r>
            <a:r>
              <a:rPr lang="en-US" noProof="0" dirty="0"/>
              <a:t>.</a:t>
            </a:r>
            <a:r>
              <a:rPr lang="en-US" b="1" noProof="0" dirty="0"/>
              <a:t> </a:t>
            </a:r>
          </a:p>
          <a:p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3C1F0-C740-C3B8-9467-010D3209A3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C6DAC8-D65E-F600-C41D-57162C7E3CF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23/12/2025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8EE67-24B0-4EB8-6B12-62DBFFF9A07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CD2CC-68F4-95A0-9D13-B63D475A20C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95007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1CB5A-490E-6433-7FC3-BE8C64BC3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Torque Controller PI Controller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25936D-FC4E-874F-9FED-2D597BFA52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CA1E6-E1F9-E500-5BE1-D03E4A2383F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23/12/2025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31F291-3CE4-F6B1-99E1-27EB8AAA048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D511E9-7E7A-EB9A-5168-874C216364B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12</a:t>
            </a:fld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70A726-D0A9-85B0-D1F5-1C720596FE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7" t="930" r="21879" b="17915"/>
          <a:stretch>
            <a:fillRect/>
          </a:stretch>
        </p:blipFill>
        <p:spPr>
          <a:xfrm>
            <a:off x="198739" y="1609344"/>
            <a:ext cx="8275873" cy="45086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F609A5-746B-6835-8D47-8F397FDA86DF}"/>
              </a:ext>
            </a:extLst>
          </p:cNvPr>
          <p:cNvSpPr txBox="1"/>
          <p:nvPr/>
        </p:nvSpPr>
        <p:spPr>
          <a:xfrm>
            <a:off x="8162202" y="1606654"/>
            <a:ext cx="383105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/>
              <a:t>In step response of a wind turbine for below rated,  we need a behavior  of slightly damped (D = 0.7), and natural frequency of 2 -3 times slower than rated rotational speed. </a:t>
            </a:r>
          </a:p>
          <a:p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C824A1-104F-43D5-F3CC-509DEB8FED88}"/>
              </a:ext>
            </a:extLst>
          </p:cNvPr>
          <p:cNvSpPr txBox="1"/>
          <p:nvPr/>
        </p:nvSpPr>
        <p:spPr>
          <a:xfrm>
            <a:off x="8162202" y="3201714"/>
            <a:ext cx="377367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/>
              <a:t>Starting </a:t>
            </a:r>
            <a:r>
              <a:rPr lang="en-US" sz="1400" noProof="0" dirty="0" err="1"/>
              <a:t>Kp</a:t>
            </a:r>
            <a:r>
              <a:rPr lang="en-US" sz="1400" noProof="0" dirty="0"/>
              <a:t> chosen same as IEA 3.4 MW, </a:t>
            </a:r>
          </a:p>
          <a:p>
            <a:r>
              <a:rPr lang="en-US" sz="1400" noProof="0" dirty="0" err="1"/>
              <a:t>Kp</a:t>
            </a:r>
            <a:r>
              <a:rPr lang="en-US" sz="1400" noProof="0" dirty="0"/>
              <a:t> = 961 [Nm/(rad/s)].</a:t>
            </a:r>
          </a:p>
          <a:p>
            <a:endParaRPr lang="en-US" sz="1400" noProof="0" dirty="0"/>
          </a:p>
          <a:p>
            <a:r>
              <a:rPr lang="en-US" sz="1400" noProof="0" dirty="0"/>
              <a:t>Ki = </a:t>
            </a:r>
            <a:r>
              <a:rPr lang="en-US" sz="1400" noProof="0" dirty="0" err="1"/>
              <a:t>Kp</a:t>
            </a:r>
            <a:r>
              <a:rPr lang="en-US" sz="1400" noProof="0" dirty="0"/>
              <a:t> / Ti, where Ti = 6 s.</a:t>
            </a:r>
          </a:p>
          <a:p>
            <a:endParaRPr lang="en-US" sz="1400" noProof="0" dirty="0"/>
          </a:p>
          <a:p>
            <a:r>
              <a:rPr lang="en-US" sz="1400" noProof="0" dirty="0"/>
              <a:t>In the figure, we compare the step response of different </a:t>
            </a:r>
            <a:r>
              <a:rPr lang="en-US" sz="1400" noProof="0" dirty="0" err="1"/>
              <a:t>Kp</a:t>
            </a:r>
            <a:r>
              <a:rPr lang="en-US" sz="1400" noProof="0" dirty="0"/>
              <a:t> values from 6 m/s to 7 m/s.</a:t>
            </a:r>
          </a:p>
          <a:p>
            <a:endParaRPr lang="en-US" sz="1400" noProof="0" dirty="0"/>
          </a:p>
          <a:p>
            <a:r>
              <a:rPr lang="en-US" sz="1400" noProof="0" dirty="0"/>
              <a:t>It is seen that as we increase the </a:t>
            </a:r>
            <a:r>
              <a:rPr lang="en-US" sz="1400" noProof="0" dirty="0" err="1"/>
              <a:t>Kp</a:t>
            </a:r>
            <a:r>
              <a:rPr lang="en-US" sz="1400" noProof="0" dirty="0"/>
              <a:t>, we get a better behavior.</a:t>
            </a:r>
          </a:p>
          <a:p>
            <a:endParaRPr lang="en-US" sz="1400" noProof="0" dirty="0"/>
          </a:p>
          <a:p>
            <a:r>
              <a:rPr lang="en-US" sz="1400" noProof="0" dirty="0" err="1"/>
              <a:t>Kp</a:t>
            </a:r>
            <a:r>
              <a:rPr lang="en-US" sz="1400" noProof="0" dirty="0"/>
              <a:t> is chosen as 1400 [Nm/(rad/s)].</a:t>
            </a:r>
          </a:p>
        </p:txBody>
      </p:sp>
    </p:spTree>
    <p:extLst>
      <p:ext uri="{BB962C8B-B14F-4D97-AF65-F5344CB8AC3E}">
        <p14:creationId xmlns:p14="http://schemas.microsoft.com/office/powerpoint/2010/main" val="2440151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8F472-71C4-4AA1-5766-C33643775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Responses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CC7A2-1D40-6086-C262-7E7270C37A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B566A-40C6-DAA5-BFEB-04DCC9EFB86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23/12/2025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B66D0-44CA-9EB8-98FB-E666B830D31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641CF-A29E-00DA-C035-601408E2D6E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13</a:t>
            </a:fld>
            <a:endParaRPr lang="en-US" noProof="0" dirty="0"/>
          </a:p>
        </p:txBody>
      </p:sp>
      <p:pic>
        <p:nvPicPr>
          <p:cNvPr id="10" name="Content Placeholder 11">
            <a:extLst>
              <a:ext uri="{FF2B5EF4-FFF2-40B4-BE49-F238E27FC236}">
                <a16:creationId xmlns:a16="http://schemas.microsoft.com/office/drawing/2014/main" id="{3EF77D32-AE6E-0CFD-9631-E33C111A4555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68314" y="1120634"/>
            <a:ext cx="8655371" cy="47270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C84986-C3CA-757C-207E-57298BC157A6}"/>
              </a:ext>
            </a:extLst>
          </p:cNvPr>
          <p:cNvSpPr txBox="1"/>
          <p:nvPr/>
        </p:nvSpPr>
        <p:spPr>
          <a:xfrm>
            <a:off x="4390761" y="5833996"/>
            <a:ext cx="3410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noProof="0" dirty="0"/>
              <a:t>Step response simulation from 6 to 7 m/s. Controller keeps the TSR constant for region 2.</a:t>
            </a:r>
          </a:p>
        </p:txBody>
      </p:sp>
    </p:spTree>
    <p:extLst>
      <p:ext uri="{BB962C8B-B14F-4D97-AF65-F5344CB8AC3E}">
        <p14:creationId xmlns:p14="http://schemas.microsoft.com/office/powerpoint/2010/main" val="1853393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56114-5DD2-8C91-C427-A721CE6A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Responses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383467-9855-A680-8BC0-084BD96C9AC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87381-26AC-8ABE-0686-28119B233D4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23/12/2025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D4CEB-DAC4-ACED-14AA-6717A55A152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92B23-F8AE-0483-0C23-B65B5248D38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14</a:t>
            </a:fld>
            <a:endParaRPr lang="en-US" noProof="0" dirty="0"/>
          </a:p>
        </p:txBody>
      </p:sp>
      <p:pic>
        <p:nvPicPr>
          <p:cNvPr id="9" name="Content Placeholder 9">
            <a:extLst>
              <a:ext uri="{FF2B5EF4-FFF2-40B4-BE49-F238E27FC236}">
                <a16:creationId xmlns:a16="http://schemas.microsoft.com/office/drawing/2014/main" id="{A3C97CF2-CBCC-7887-07B6-C03E607EC894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68314" y="1120634"/>
            <a:ext cx="8655372" cy="47270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FDABA0-EB54-8348-EE8A-F5404152AD80}"/>
              </a:ext>
            </a:extLst>
          </p:cNvPr>
          <p:cNvSpPr txBox="1"/>
          <p:nvPr/>
        </p:nvSpPr>
        <p:spPr>
          <a:xfrm>
            <a:off x="4395334" y="5847650"/>
            <a:ext cx="4373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noProof="0" dirty="0"/>
              <a:t>Step response simulation for 15 to 16 m/s. </a:t>
            </a:r>
          </a:p>
          <a:p>
            <a:pPr algn="l"/>
            <a:r>
              <a:rPr lang="en-US" sz="1200" noProof="0" dirty="0"/>
              <a:t>Controller keeps the rotational speed constant for region 3.</a:t>
            </a:r>
          </a:p>
        </p:txBody>
      </p:sp>
    </p:spTree>
    <p:extLst>
      <p:ext uri="{BB962C8B-B14F-4D97-AF65-F5344CB8AC3E}">
        <p14:creationId xmlns:p14="http://schemas.microsoft.com/office/powerpoint/2010/main" val="3704944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E712C-4440-4FA7-FFD5-8A3A733EE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Simulation Settings for Pitch Optimization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205BA-D4ED-6C02-3A16-9B2BBB5C5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noProof="0" dirty="0"/>
              <a:t>660 seconds </a:t>
            </a:r>
            <a:r>
              <a:rPr lang="en-US" noProof="0" dirty="0"/>
              <a:t>of simulation. Evaluation of values starts at t = 60 second to get settled values. Additionally, wind wraps around.</a:t>
            </a:r>
          </a:p>
          <a:p>
            <a:endParaRPr lang="en-US" noProof="0" dirty="0"/>
          </a:p>
          <a:p>
            <a:r>
              <a:rPr lang="en-US" b="1" noProof="0" dirty="0"/>
              <a:t>DLC 1.2 </a:t>
            </a:r>
            <a:r>
              <a:rPr lang="en-US" noProof="0" dirty="0"/>
              <a:t>wind fields with average of </a:t>
            </a:r>
            <a:r>
              <a:rPr lang="en-US" b="1" noProof="0" dirty="0"/>
              <a:t>8</a:t>
            </a:r>
            <a:r>
              <a:rPr lang="en-US" noProof="0" dirty="0"/>
              <a:t> </a:t>
            </a:r>
            <a:r>
              <a:rPr lang="en-US" b="1" noProof="0" dirty="0"/>
              <a:t>m/s to 24 m/s </a:t>
            </a:r>
            <a:r>
              <a:rPr lang="en-US" noProof="0" dirty="0"/>
              <a:t>with steps with 4m/s, </a:t>
            </a:r>
            <a:r>
              <a:rPr lang="en-US" b="1" noProof="0" dirty="0"/>
              <a:t>3 seeds</a:t>
            </a:r>
            <a:r>
              <a:rPr lang="en-US" noProof="0" dirty="0"/>
              <a:t>.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b="1" noProof="0" dirty="0"/>
              <a:t>Enabled all DOFs. </a:t>
            </a:r>
            <a:endParaRPr lang="en-US" b="1" noProof="0" dirty="0">
              <a:solidFill>
                <a:srgbClr val="FF0000"/>
              </a:solidFill>
            </a:endParaRPr>
          </a:p>
          <a:p>
            <a:endParaRPr lang="en-US" b="1" noProof="0" dirty="0"/>
          </a:p>
          <a:p>
            <a:r>
              <a:rPr lang="en-US" b="1" noProof="0" dirty="0"/>
              <a:t>Initial conditions of pitch angle, rotor speed</a:t>
            </a:r>
            <a:r>
              <a:rPr lang="en-US" noProof="0" dirty="0"/>
              <a:t> and </a:t>
            </a:r>
            <a:r>
              <a:rPr lang="en-US" b="1" noProof="0" dirty="0"/>
              <a:t>fore-aft tower position</a:t>
            </a:r>
            <a:r>
              <a:rPr lang="en-US" noProof="0" dirty="0"/>
              <a:t> for every corresponding wind speed.</a:t>
            </a:r>
          </a:p>
          <a:p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54429-0D40-4280-D680-3A8104C356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4E262-26B9-5163-B4A3-43879B2914D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23/12/2025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D051B-4C5E-F42B-C715-59D31993132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33C56-1335-881E-7B83-2506C15BFF6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1093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FF05-E4FA-0C0D-C7B9-03579DF8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Pitch Optimization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57715-04AD-1733-D6EE-3ED2075EF0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E55E15D-A89A-0E88-0C10-DCC57A70042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23/12/2025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4600388-DD13-10AE-D6E8-C3B2B3F898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20AAE9-4FCB-81C8-9E6C-E44698F413F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16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C8E8FF-EA76-C9C7-6254-397816655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0669" y="1639433"/>
            <a:ext cx="6798848" cy="37039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319249-4A00-3DEA-57EB-F8699E883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569" y="1639433"/>
            <a:ext cx="6798847" cy="37039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93929C-037B-4189-33E3-710AF8A0E952}"/>
              </a:ext>
            </a:extLst>
          </p:cNvPr>
          <p:cNvSpPr txBox="1"/>
          <p:nvPr/>
        </p:nvSpPr>
        <p:spPr>
          <a:xfrm>
            <a:off x="2643223" y="5685606"/>
            <a:ext cx="69055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noProof="0" dirty="0"/>
              <a:t>It is seen that the point </a:t>
            </a:r>
            <a:r>
              <a:rPr lang="en-US" sz="1600" noProof="0" dirty="0" err="1"/>
              <a:t>Kp</a:t>
            </a:r>
            <a:r>
              <a:rPr lang="en-US" sz="1600" noProof="0" dirty="0"/>
              <a:t> = -0.012 s and theta = 14° gives the lowest DEL, such that differences in AEP can be ignored because they are too small.</a:t>
            </a:r>
          </a:p>
        </p:txBody>
      </p:sp>
    </p:spTree>
    <p:extLst>
      <p:ext uri="{BB962C8B-B14F-4D97-AF65-F5344CB8AC3E}">
        <p14:creationId xmlns:p14="http://schemas.microsoft.com/office/powerpoint/2010/main" val="2223650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FF05-E4FA-0C0D-C7B9-03579DF8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B4F11E-0379-23D5-BA8E-334FB43B2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335"/>
            <a:ext cx="10515600" cy="467262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en-US" noProof="0" dirty="0"/>
          </a:p>
          <a:p>
            <a:pPr marL="0" indent="0" fontAlgn="base">
              <a:buNone/>
            </a:pPr>
            <a:endParaRPr lang="en-US" noProof="0" dirty="0"/>
          </a:p>
          <a:p>
            <a:pPr marL="0" indent="0" fontAlgn="base">
              <a:buNone/>
            </a:pPr>
            <a:endParaRPr lang="en-US" noProof="0" dirty="0"/>
          </a:p>
          <a:p>
            <a:pPr marL="0" indent="0" fontAlgn="base">
              <a:buNone/>
            </a:pPr>
            <a:endParaRPr lang="en-US" noProof="0" dirty="0"/>
          </a:p>
          <a:p>
            <a:pPr marL="0" indent="0" fontAlgn="base">
              <a:buNone/>
            </a:pP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57715-04AD-1733-D6EE-3ED2075EF0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Mirza Dincer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E55E15D-A89A-0E88-0C10-DCC57A70042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 dirty="0"/>
              <a:t>23/12/2025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4600388-DD13-10AE-D6E8-C3B2B3F898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20AAE9-4FCB-81C8-9E6C-E44698F413F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17</a:t>
            </a:fld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34CD46-E3C9-F960-8D4C-CA164302E045}"/>
              </a:ext>
            </a:extLst>
          </p:cNvPr>
          <p:cNvSpPr txBox="1"/>
          <p:nvPr/>
        </p:nvSpPr>
        <p:spPr>
          <a:xfrm>
            <a:off x="1069848" y="1690688"/>
            <a:ext cx="102839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noProof="0" dirty="0"/>
              <a:t>Feedback controller is ready for Optimus Syria</a:t>
            </a:r>
          </a:p>
          <a:p>
            <a:pPr algn="l"/>
            <a:endParaRPr lang="en-US" noProof="0" dirty="0"/>
          </a:p>
          <a:p>
            <a:pPr algn="l"/>
            <a:r>
              <a:rPr lang="en-US" noProof="0" dirty="0"/>
              <a:t>Continue and finish adjusting the Lidar-Assisted Controller</a:t>
            </a:r>
          </a:p>
        </p:txBody>
      </p:sp>
    </p:spTree>
    <p:extLst>
      <p:ext uri="{BB962C8B-B14F-4D97-AF65-F5344CB8AC3E}">
        <p14:creationId xmlns:p14="http://schemas.microsoft.com/office/powerpoint/2010/main" val="139912742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E7258755-3B8A-428F-9B71-020BDB6F6014}" vid="{2CB19E59-5F41-4D40-98BC-C6D4E668C96F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1357</TotalTime>
  <Words>876</Words>
  <Application>Microsoft Office PowerPoint</Application>
  <PresentationFormat>Widescreen</PresentationFormat>
  <Paragraphs>147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Aptos</vt:lpstr>
      <vt:lpstr>Aptos (Textkörper)</vt:lpstr>
      <vt:lpstr>Aptos Display</vt:lpstr>
      <vt:lpstr>Arial</vt:lpstr>
      <vt:lpstr>Calibri</vt:lpstr>
      <vt:lpstr>Calibri Light</vt:lpstr>
      <vt:lpstr>Cambria Math</vt:lpstr>
      <vt:lpstr>Times New Roman</vt:lpstr>
      <vt:lpstr>Theme1</vt:lpstr>
      <vt:lpstr>Benutzerdefiniertes Design</vt:lpstr>
      <vt:lpstr>Weekly report: Feedback &amp; Lidar – Assisted Controller</vt:lpstr>
      <vt:lpstr>List of Contents</vt:lpstr>
      <vt:lpstr>Tasks of the Week</vt:lpstr>
      <vt:lpstr>Rated Wind Speed</vt:lpstr>
      <vt:lpstr>Steady States Simulation</vt:lpstr>
      <vt:lpstr>Steady States</vt:lpstr>
      <vt:lpstr>Steady States</vt:lpstr>
      <vt:lpstr>Steady States </vt:lpstr>
      <vt:lpstr>Power Coefficient</vt:lpstr>
      <vt:lpstr>Torque Controller</vt:lpstr>
      <vt:lpstr>Simulation Settings for Step Response</vt:lpstr>
      <vt:lpstr>Torque Controller PI Controller </vt:lpstr>
      <vt:lpstr>Step Responses</vt:lpstr>
      <vt:lpstr>Step Responses</vt:lpstr>
      <vt:lpstr>Simulation Settings for Pitch Optimization </vt:lpstr>
      <vt:lpstr>Pitch Optimization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Mirza Dincer</dc:creator>
  <cp:lastModifiedBy>Mirza Dincer</cp:lastModifiedBy>
  <cp:revision>22</cp:revision>
  <dcterms:created xsi:type="dcterms:W3CDTF">2025-10-04T12:59:06Z</dcterms:created>
  <dcterms:modified xsi:type="dcterms:W3CDTF">2025-12-22T10:37:58Z</dcterms:modified>
</cp:coreProperties>
</file>