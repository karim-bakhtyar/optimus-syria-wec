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9"/>
  </p:notesMasterIdLst>
  <p:handoutMasterIdLst>
    <p:handoutMasterId r:id="rId20"/>
  </p:handoutMasterIdLst>
  <p:sldIdLst>
    <p:sldId id="263" r:id="rId3"/>
    <p:sldId id="265" r:id="rId4"/>
    <p:sldId id="271" r:id="rId5"/>
    <p:sldId id="273" r:id="rId6"/>
    <p:sldId id="315" r:id="rId7"/>
    <p:sldId id="317" r:id="rId8"/>
    <p:sldId id="318" r:id="rId9"/>
    <p:sldId id="320" r:id="rId10"/>
    <p:sldId id="321" r:id="rId11"/>
    <p:sldId id="322" r:id="rId12"/>
    <p:sldId id="323" r:id="rId13"/>
    <p:sldId id="319" r:id="rId14"/>
    <p:sldId id="324" r:id="rId15"/>
    <p:sldId id="325" r:id="rId16"/>
    <p:sldId id="328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63"/>
          </p14:sldIdLst>
        </p14:section>
        <p14:section name="List of contents" id="{65043596-36B7-4360-BB5C-7A99EFAEC5C9}">
          <p14:sldIdLst>
            <p14:sldId id="265"/>
            <p14:sldId id="271"/>
            <p14:sldId id="273"/>
            <p14:sldId id="315"/>
            <p14:sldId id="317"/>
            <p14:sldId id="318"/>
            <p14:sldId id="320"/>
            <p14:sldId id="321"/>
            <p14:sldId id="322"/>
            <p14:sldId id="323"/>
            <p14:sldId id="319"/>
            <p14:sldId id="324"/>
            <p14:sldId id="325"/>
            <p14:sldId id="328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0000FF"/>
    <a:srgbClr val="00FFFF"/>
    <a:srgbClr val="F0E8BA"/>
    <a:srgbClr val="CCCC00"/>
    <a:srgbClr val="FFFF99"/>
    <a:srgbClr val="FFFFFF"/>
    <a:srgbClr val="8ECEFA"/>
    <a:srgbClr val="92C6E6"/>
    <a:srgbClr val="80D2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9" d="100"/>
          <a:sy n="99" d="100"/>
        </p:scale>
        <p:origin x="8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D8C433-C475-4CAE-857E-235FA63F02E5}" type="doc">
      <dgm:prSet loTypeId="urn:microsoft.com/office/officeart/2005/8/layout/cycle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95EDC888-0AC6-4440-8BCB-CE203CA04D59}">
      <dgm:prSet phldrT="[Text]" phldr="0" custT="1"/>
      <dgm:spPr/>
      <dgm:t>
        <a:bodyPr/>
        <a:lstStyle/>
        <a:p>
          <a:r>
            <a:rPr lang="en-IN" sz="2200" dirty="0"/>
            <a:t>Material Selection</a:t>
          </a:r>
        </a:p>
      </dgm:t>
    </dgm:pt>
    <dgm:pt modelId="{05C3DC7F-E211-46A3-ABC8-DD0CC358F30A}" type="parTrans" cxnId="{F0F0E40F-DD78-4681-8592-4EBA75A618EC}">
      <dgm:prSet/>
      <dgm:spPr/>
      <dgm:t>
        <a:bodyPr/>
        <a:lstStyle/>
        <a:p>
          <a:endParaRPr lang="en-IN"/>
        </a:p>
      </dgm:t>
    </dgm:pt>
    <dgm:pt modelId="{9E7202D7-A6F8-4BB7-925A-F6A90BECD12E}" type="sibTrans" cxnId="{F0F0E40F-DD78-4681-8592-4EBA75A618EC}">
      <dgm:prSet/>
      <dgm:spPr/>
      <dgm:t>
        <a:bodyPr/>
        <a:lstStyle/>
        <a:p>
          <a:endParaRPr lang="en-IN"/>
        </a:p>
      </dgm:t>
    </dgm:pt>
    <dgm:pt modelId="{1EC7AFF7-044A-4B8E-B350-38C2955F513F}">
      <dgm:prSet phldrT="[Text]" phldr="0" custT="1"/>
      <dgm:spPr/>
      <dgm:t>
        <a:bodyPr/>
        <a:lstStyle/>
        <a:p>
          <a:pPr algn="ctr"/>
          <a:r>
            <a:rPr lang="en-IN" sz="2200" dirty="0"/>
            <a:t>Spar Cap &amp; Shear Web Thickness</a:t>
          </a:r>
        </a:p>
      </dgm:t>
    </dgm:pt>
    <dgm:pt modelId="{A617D354-1937-43B0-994E-6C318DB71808}" type="parTrans" cxnId="{884BD687-CF7E-401F-94FA-637F114C0EDC}">
      <dgm:prSet/>
      <dgm:spPr/>
      <dgm:t>
        <a:bodyPr/>
        <a:lstStyle/>
        <a:p>
          <a:endParaRPr lang="en-IN"/>
        </a:p>
      </dgm:t>
    </dgm:pt>
    <dgm:pt modelId="{C6E2288E-5E22-4E9F-BF1D-6DCB61A2E552}" type="sibTrans" cxnId="{884BD687-CF7E-401F-94FA-637F114C0EDC}">
      <dgm:prSet/>
      <dgm:spPr/>
      <dgm:t>
        <a:bodyPr/>
        <a:lstStyle/>
        <a:p>
          <a:endParaRPr lang="en-IN"/>
        </a:p>
      </dgm:t>
    </dgm:pt>
    <dgm:pt modelId="{16D901E8-5821-499B-983C-72D01CA26945}">
      <dgm:prSet phldrT="[Text]" phldr="0" custT="1"/>
      <dgm:spPr/>
      <dgm:t>
        <a:bodyPr/>
        <a:lstStyle/>
        <a:p>
          <a:r>
            <a:rPr lang="en-IN" sz="2200" dirty="0"/>
            <a:t>Develop Blade Model in NuMAD</a:t>
          </a:r>
        </a:p>
      </dgm:t>
    </dgm:pt>
    <dgm:pt modelId="{1454D822-2F5A-4873-A4BB-547B11BA68BC}" type="parTrans" cxnId="{82C81FE9-39D9-4090-A6AC-6A4BE941E2FA}">
      <dgm:prSet/>
      <dgm:spPr/>
      <dgm:t>
        <a:bodyPr/>
        <a:lstStyle/>
        <a:p>
          <a:endParaRPr lang="en-IN"/>
        </a:p>
      </dgm:t>
    </dgm:pt>
    <dgm:pt modelId="{DB965494-3459-43C6-8BCA-8CDFF9DFF345}" type="sibTrans" cxnId="{82C81FE9-39D9-4090-A6AC-6A4BE941E2FA}">
      <dgm:prSet/>
      <dgm:spPr/>
      <dgm:t>
        <a:bodyPr/>
        <a:lstStyle/>
        <a:p>
          <a:endParaRPr lang="en-IN"/>
        </a:p>
      </dgm:t>
    </dgm:pt>
    <dgm:pt modelId="{579A2979-9CDE-47A7-8B59-0F564B7A06B5}">
      <dgm:prSet phldrT="[Text]" phldr="0" custT="1"/>
      <dgm:spPr/>
      <dgm:t>
        <a:bodyPr/>
        <a:lstStyle/>
        <a:p>
          <a:r>
            <a:rPr lang="en-IN" sz="2200" dirty="0"/>
            <a:t>Analysis with </a:t>
          </a:r>
          <a:r>
            <a:rPr lang="en-IN" sz="2200" dirty="0" err="1"/>
            <a:t>Precomp</a:t>
          </a:r>
          <a:endParaRPr lang="en-IN" sz="2200" dirty="0"/>
        </a:p>
      </dgm:t>
    </dgm:pt>
    <dgm:pt modelId="{6877F7AE-3C9F-4F27-B645-AD016ED628E9}" type="parTrans" cxnId="{842A9F3B-3881-452E-874B-6E547AA0BEF0}">
      <dgm:prSet/>
      <dgm:spPr/>
      <dgm:t>
        <a:bodyPr/>
        <a:lstStyle/>
        <a:p>
          <a:endParaRPr lang="en-IN"/>
        </a:p>
      </dgm:t>
    </dgm:pt>
    <dgm:pt modelId="{52CA155E-3888-421A-A1D7-B45330EEA4CF}" type="sibTrans" cxnId="{842A9F3B-3881-452E-874B-6E547AA0BEF0}">
      <dgm:prSet/>
      <dgm:spPr/>
      <dgm:t>
        <a:bodyPr/>
        <a:lstStyle/>
        <a:p>
          <a:endParaRPr lang="en-IN"/>
        </a:p>
      </dgm:t>
    </dgm:pt>
    <dgm:pt modelId="{74AAE3EF-E540-4851-92E1-99128A786899}">
      <dgm:prSet phldrT="[Text]" phldr="0" custT="1"/>
      <dgm:spPr/>
      <dgm:t>
        <a:bodyPr/>
        <a:lstStyle/>
        <a:p>
          <a:pPr algn="ctr"/>
          <a:r>
            <a:rPr lang="en-IN" sz="2200" dirty="0"/>
            <a:t>Iterate and refine the design</a:t>
          </a:r>
        </a:p>
      </dgm:t>
    </dgm:pt>
    <dgm:pt modelId="{80A6C48A-5CA0-48EA-9902-D0C919ABE115}" type="parTrans" cxnId="{907F8907-258E-401A-8B40-CEA5FAC0F1D7}">
      <dgm:prSet/>
      <dgm:spPr/>
      <dgm:t>
        <a:bodyPr/>
        <a:lstStyle/>
        <a:p>
          <a:endParaRPr lang="en-IN"/>
        </a:p>
      </dgm:t>
    </dgm:pt>
    <dgm:pt modelId="{0B725438-B610-48DF-A6B0-0AB5357C58FC}" type="sibTrans" cxnId="{907F8907-258E-401A-8B40-CEA5FAC0F1D7}">
      <dgm:prSet/>
      <dgm:spPr/>
      <dgm:t>
        <a:bodyPr/>
        <a:lstStyle/>
        <a:p>
          <a:endParaRPr lang="en-IN"/>
        </a:p>
      </dgm:t>
    </dgm:pt>
    <dgm:pt modelId="{41FF7046-D613-4BC0-9473-F6143AE9776B}" type="pres">
      <dgm:prSet presAssocID="{12D8C433-C475-4CAE-857E-235FA63F02E5}" presName="cycle" presStyleCnt="0">
        <dgm:presLayoutVars>
          <dgm:dir/>
          <dgm:resizeHandles val="exact"/>
        </dgm:presLayoutVars>
      </dgm:prSet>
      <dgm:spPr/>
    </dgm:pt>
    <dgm:pt modelId="{00AAE12E-C923-4A3F-AEB2-37B45A1D520A}" type="pres">
      <dgm:prSet presAssocID="{95EDC888-0AC6-4440-8BCB-CE203CA04D59}" presName="dummy" presStyleCnt="0"/>
      <dgm:spPr/>
    </dgm:pt>
    <dgm:pt modelId="{83D6056C-7599-43BC-9C77-89AEB34730A1}" type="pres">
      <dgm:prSet presAssocID="{95EDC888-0AC6-4440-8BCB-CE203CA04D59}" presName="node" presStyleLbl="revTx" presStyleIdx="0" presStyleCnt="5">
        <dgm:presLayoutVars>
          <dgm:bulletEnabled val="1"/>
        </dgm:presLayoutVars>
      </dgm:prSet>
      <dgm:spPr/>
    </dgm:pt>
    <dgm:pt modelId="{2AD242C6-6964-4581-AE15-6A839E8239EB}" type="pres">
      <dgm:prSet presAssocID="{9E7202D7-A6F8-4BB7-925A-F6A90BECD12E}" presName="sibTrans" presStyleLbl="node1" presStyleIdx="0" presStyleCnt="5"/>
      <dgm:spPr/>
    </dgm:pt>
    <dgm:pt modelId="{7DB94917-508B-4FE4-84F4-CBC08FFF2D06}" type="pres">
      <dgm:prSet presAssocID="{1EC7AFF7-044A-4B8E-B350-38C2955F513F}" presName="dummy" presStyleCnt="0"/>
      <dgm:spPr/>
    </dgm:pt>
    <dgm:pt modelId="{E97C15F2-C18C-47C8-835E-A6FADC7FA2EA}" type="pres">
      <dgm:prSet presAssocID="{1EC7AFF7-044A-4B8E-B350-38C2955F513F}" presName="node" presStyleLbl="revTx" presStyleIdx="1" presStyleCnt="5">
        <dgm:presLayoutVars>
          <dgm:bulletEnabled val="1"/>
        </dgm:presLayoutVars>
      </dgm:prSet>
      <dgm:spPr/>
    </dgm:pt>
    <dgm:pt modelId="{1AFB9D6C-7D47-460E-BDFC-4418A541A1B5}" type="pres">
      <dgm:prSet presAssocID="{C6E2288E-5E22-4E9F-BF1D-6DCB61A2E552}" presName="sibTrans" presStyleLbl="node1" presStyleIdx="1" presStyleCnt="5"/>
      <dgm:spPr/>
    </dgm:pt>
    <dgm:pt modelId="{852ACD22-DF07-499B-9725-61A8628E3483}" type="pres">
      <dgm:prSet presAssocID="{16D901E8-5821-499B-983C-72D01CA26945}" presName="dummy" presStyleCnt="0"/>
      <dgm:spPr/>
    </dgm:pt>
    <dgm:pt modelId="{DC24DCBE-1143-4790-85BE-1B7E16E0D405}" type="pres">
      <dgm:prSet presAssocID="{16D901E8-5821-499B-983C-72D01CA26945}" presName="node" presStyleLbl="revTx" presStyleIdx="2" presStyleCnt="5">
        <dgm:presLayoutVars>
          <dgm:bulletEnabled val="1"/>
        </dgm:presLayoutVars>
      </dgm:prSet>
      <dgm:spPr/>
    </dgm:pt>
    <dgm:pt modelId="{9F97DBFB-599F-4A7E-8AA3-3C309AB8AAA4}" type="pres">
      <dgm:prSet presAssocID="{DB965494-3459-43C6-8BCA-8CDFF9DFF345}" presName="sibTrans" presStyleLbl="node1" presStyleIdx="2" presStyleCnt="5"/>
      <dgm:spPr/>
    </dgm:pt>
    <dgm:pt modelId="{4A40E4B9-6B00-41DD-92B1-5A14DA6CD39C}" type="pres">
      <dgm:prSet presAssocID="{579A2979-9CDE-47A7-8B59-0F564B7A06B5}" presName="dummy" presStyleCnt="0"/>
      <dgm:spPr/>
    </dgm:pt>
    <dgm:pt modelId="{1F60DC91-6B2B-449D-857C-E3A9ED3D8E27}" type="pres">
      <dgm:prSet presAssocID="{579A2979-9CDE-47A7-8B59-0F564B7A06B5}" presName="node" presStyleLbl="revTx" presStyleIdx="3" presStyleCnt="5">
        <dgm:presLayoutVars>
          <dgm:bulletEnabled val="1"/>
        </dgm:presLayoutVars>
      </dgm:prSet>
      <dgm:spPr/>
    </dgm:pt>
    <dgm:pt modelId="{516F6495-2FC6-4AAF-913C-103933B960CB}" type="pres">
      <dgm:prSet presAssocID="{52CA155E-3888-421A-A1D7-B45330EEA4CF}" presName="sibTrans" presStyleLbl="node1" presStyleIdx="3" presStyleCnt="5"/>
      <dgm:spPr/>
    </dgm:pt>
    <dgm:pt modelId="{E612AE7C-C525-4F8C-A696-13ACF16DBD1F}" type="pres">
      <dgm:prSet presAssocID="{74AAE3EF-E540-4851-92E1-99128A786899}" presName="dummy" presStyleCnt="0"/>
      <dgm:spPr/>
    </dgm:pt>
    <dgm:pt modelId="{3E92B128-F4C3-4CD7-A872-691C00A20922}" type="pres">
      <dgm:prSet presAssocID="{74AAE3EF-E540-4851-92E1-99128A786899}" presName="node" presStyleLbl="revTx" presStyleIdx="4" presStyleCnt="5">
        <dgm:presLayoutVars>
          <dgm:bulletEnabled val="1"/>
        </dgm:presLayoutVars>
      </dgm:prSet>
      <dgm:spPr/>
    </dgm:pt>
    <dgm:pt modelId="{85136A0B-269C-46F3-AA6A-8558614214FC}" type="pres">
      <dgm:prSet presAssocID="{0B725438-B610-48DF-A6B0-0AB5357C58FC}" presName="sibTrans" presStyleLbl="node1" presStyleIdx="4" presStyleCnt="5"/>
      <dgm:spPr/>
    </dgm:pt>
  </dgm:ptLst>
  <dgm:cxnLst>
    <dgm:cxn modelId="{907F8907-258E-401A-8B40-CEA5FAC0F1D7}" srcId="{12D8C433-C475-4CAE-857E-235FA63F02E5}" destId="{74AAE3EF-E540-4851-92E1-99128A786899}" srcOrd="4" destOrd="0" parTransId="{80A6C48A-5CA0-48EA-9902-D0C919ABE115}" sibTransId="{0B725438-B610-48DF-A6B0-0AB5357C58FC}"/>
    <dgm:cxn modelId="{F0F0E40F-DD78-4681-8592-4EBA75A618EC}" srcId="{12D8C433-C475-4CAE-857E-235FA63F02E5}" destId="{95EDC888-0AC6-4440-8BCB-CE203CA04D59}" srcOrd="0" destOrd="0" parTransId="{05C3DC7F-E211-46A3-ABC8-DD0CC358F30A}" sibTransId="{9E7202D7-A6F8-4BB7-925A-F6A90BECD12E}"/>
    <dgm:cxn modelId="{93471F14-B4C2-4139-AA0E-7F68DDDF8046}" type="presOf" srcId="{52CA155E-3888-421A-A1D7-B45330EEA4CF}" destId="{516F6495-2FC6-4AAF-913C-103933B960CB}" srcOrd="0" destOrd="0" presId="urn:microsoft.com/office/officeart/2005/8/layout/cycle1"/>
    <dgm:cxn modelId="{F0738B1F-C007-435C-AE3A-1E50E05EF206}" type="presOf" srcId="{9E7202D7-A6F8-4BB7-925A-F6A90BECD12E}" destId="{2AD242C6-6964-4581-AE15-6A839E8239EB}" srcOrd="0" destOrd="0" presId="urn:microsoft.com/office/officeart/2005/8/layout/cycle1"/>
    <dgm:cxn modelId="{9FEC7626-EBD0-4361-84B4-21F5327863FF}" type="presOf" srcId="{12D8C433-C475-4CAE-857E-235FA63F02E5}" destId="{41FF7046-D613-4BC0-9473-F6143AE9776B}" srcOrd="0" destOrd="0" presId="urn:microsoft.com/office/officeart/2005/8/layout/cycle1"/>
    <dgm:cxn modelId="{DCA83236-4FE0-44BD-8110-349637773A77}" type="presOf" srcId="{DB965494-3459-43C6-8BCA-8CDFF9DFF345}" destId="{9F97DBFB-599F-4A7E-8AA3-3C309AB8AAA4}" srcOrd="0" destOrd="0" presId="urn:microsoft.com/office/officeart/2005/8/layout/cycle1"/>
    <dgm:cxn modelId="{842A9F3B-3881-452E-874B-6E547AA0BEF0}" srcId="{12D8C433-C475-4CAE-857E-235FA63F02E5}" destId="{579A2979-9CDE-47A7-8B59-0F564B7A06B5}" srcOrd="3" destOrd="0" parTransId="{6877F7AE-3C9F-4F27-B645-AD016ED628E9}" sibTransId="{52CA155E-3888-421A-A1D7-B45330EEA4CF}"/>
    <dgm:cxn modelId="{CC9C7662-FFBB-4725-909A-75CD74C5BD31}" type="presOf" srcId="{74AAE3EF-E540-4851-92E1-99128A786899}" destId="{3E92B128-F4C3-4CD7-A872-691C00A20922}" srcOrd="0" destOrd="0" presId="urn:microsoft.com/office/officeart/2005/8/layout/cycle1"/>
    <dgm:cxn modelId="{D3D51A6A-6B32-44D2-9514-EBE3A4C06993}" type="presOf" srcId="{0B725438-B610-48DF-A6B0-0AB5357C58FC}" destId="{85136A0B-269C-46F3-AA6A-8558614214FC}" srcOrd="0" destOrd="0" presId="urn:microsoft.com/office/officeart/2005/8/layout/cycle1"/>
    <dgm:cxn modelId="{884BD687-CF7E-401F-94FA-637F114C0EDC}" srcId="{12D8C433-C475-4CAE-857E-235FA63F02E5}" destId="{1EC7AFF7-044A-4B8E-B350-38C2955F513F}" srcOrd="1" destOrd="0" parTransId="{A617D354-1937-43B0-994E-6C318DB71808}" sibTransId="{C6E2288E-5E22-4E9F-BF1D-6DCB61A2E552}"/>
    <dgm:cxn modelId="{C843099C-3FCB-4B5B-9CE5-A45266F2F9F4}" type="presOf" srcId="{C6E2288E-5E22-4E9F-BF1D-6DCB61A2E552}" destId="{1AFB9D6C-7D47-460E-BDFC-4418A541A1B5}" srcOrd="0" destOrd="0" presId="urn:microsoft.com/office/officeart/2005/8/layout/cycle1"/>
    <dgm:cxn modelId="{5B2AE29E-07AD-45F8-B094-583FE451B736}" type="presOf" srcId="{16D901E8-5821-499B-983C-72D01CA26945}" destId="{DC24DCBE-1143-4790-85BE-1B7E16E0D405}" srcOrd="0" destOrd="0" presId="urn:microsoft.com/office/officeart/2005/8/layout/cycle1"/>
    <dgm:cxn modelId="{E1ED94BD-4978-47D0-A65D-34A37A65F97E}" type="presOf" srcId="{1EC7AFF7-044A-4B8E-B350-38C2955F513F}" destId="{E97C15F2-C18C-47C8-835E-A6FADC7FA2EA}" srcOrd="0" destOrd="0" presId="urn:microsoft.com/office/officeart/2005/8/layout/cycle1"/>
    <dgm:cxn modelId="{0D0DD9DD-1255-4EBC-AA4C-A3392109C5CC}" type="presOf" srcId="{579A2979-9CDE-47A7-8B59-0F564B7A06B5}" destId="{1F60DC91-6B2B-449D-857C-E3A9ED3D8E27}" srcOrd="0" destOrd="0" presId="urn:microsoft.com/office/officeart/2005/8/layout/cycle1"/>
    <dgm:cxn modelId="{82C81FE9-39D9-4090-A6AC-6A4BE941E2FA}" srcId="{12D8C433-C475-4CAE-857E-235FA63F02E5}" destId="{16D901E8-5821-499B-983C-72D01CA26945}" srcOrd="2" destOrd="0" parTransId="{1454D822-2F5A-4873-A4BB-547B11BA68BC}" sibTransId="{DB965494-3459-43C6-8BCA-8CDFF9DFF345}"/>
    <dgm:cxn modelId="{C0B79AF9-B0D7-43B2-86A7-1B09B3B66D91}" type="presOf" srcId="{95EDC888-0AC6-4440-8BCB-CE203CA04D59}" destId="{83D6056C-7599-43BC-9C77-89AEB34730A1}" srcOrd="0" destOrd="0" presId="urn:microsoft.com/office/officeart/2005/8/layout/cycle1"/>
    <dgm:cxn modelId="{2050E62E-6A2C-4FCD-8902-861A27F767B7}" type="presParOf" srcId="{41FF7046-D613-4BC0-9473-F6143AE9776B}" destId="{00AAE12E-C923-4A3F-AEB2-37B45A1D520A}" srcOrd="0" destOrd="0" presId="urn:microsoft.com/office/officeart/2005/8/layout/cycle1"/>
    <dgm:cxn modelId="{B6B07990-4A08-4A55-8753-BC62B8886FB7}" type="presParOf" srcId="{41FF7046-D613-4BC0-9473-F6143AE9776B}" destId="{83D6056C-7599-43BC-9C77-89AEB34730A1}" srcOrd="1" destOrd="0" presId="urn:microsoft.com/office/officeart/2005/8/layout/cycle1"/>
    <dgm:cxn modelId="{EE6FEAF4-A07D-45D5-8341-CCD4914E0C13}" type="presParOf" srcId="{41FF7046-D613-4BC0-9473-F6143AE9776B}" destId="{2AD242C6-6964-4581-AE15-6A839E8239EB}" srcOrd="2" destOrd="0" presId="urn:microsoft.com/office/officeart/2005/8/layout/cycle1"/>
    <dgm:cxn modelId="{F53E59E1-5DA7-4AD9-8853-CBCDCBC79723}" type="presParOf" srcId="{41FF7046-D613-4BC0-9473-F6143AE9776B}" destId="{7DB94917-508B-4FE4-84F4-CBC08FFF2D06}" srcOrd="3" destOrd="0" presId="urn:microsoft.com/office/officeart/2005/8/layout/cycle1"/>
    <dgm:cxn modelId="{0FF60897-C3A5-41A5-9C86-5F868B1A9EED}" type="presParOf" srcId="{41FF7046-D613-4BC0-9473-F6143AE9776B}" destId="{E97C15F2-C18C-47C8-835E-A6FADC7FA2EA}" srcOrd="4" destOrd="0" presId="urn:microsoft.com/office/officeart/2005/8/layout/cycle1"/>
    <dgm:cxn modelId="{B70AF61B-D47D-4BE3-82FA-46B09E68E110}" type="presParOf" srcId="{41FF7046-D613-4BC0-9473-F6143AE9776B}" destId="{1AFB9D6C-7D47-460E-BDFC-4418A541A1B5}" srcOrd="5" destOrd="0" presId="urn:microsoft.com/office/officeart/2005/8/layout/cycle1"/>
    <dgm:cxn modelId="{BE009FDA-0727-49D6-AC0A-0C484CA1B452}" type="presParOf" srcId="{41FF7046-D613-4BC0-9473-F6143AE9776B}" destId="{852ACD22-DF07-499B-9725-61A8628E3483}" srcOrd="6" destOrd="0" presId="urn:microsoft.com/office/officeart/2005/8/layout/cycle1"/>
    <dgm:cxn modelId="{FB6A092D-EFE1-44C3-833A-A6F7B5C019FC}" type="presParOf" srcId="{41FF7046-D613-4BC0-9473-F6143AE9776B}" destId="{DC24DCBE-1143-4790-85BE-1B7E16E0D405}" srcOrd="7" destOrd="0" presId="urn:microsoft.com/office/officeart/2005/8/layout/cycle1"/>
    <dgm:cxn modelId="{918CA22B-8CAA-4E98-ACB2-A98268F28324}" type="presParOf" srcId="{41FF7046-D613-4BC0-9473-F6143AE9776B}" destId="{9F97DBFB-599F-4A7E-8AA3-3C309AB8AAA4}" srcOrd="8" destOrd="0" presId="urn:microsoft.com/office/officeart/2005/8/layout/cycle1"/>
    <dgm:cxn modelId="{26AA8C3C-FDC1-45DF-8D9D-C9139264D409}" type="presParOf" srcId="{41FF7046-D613-4BC0-9473-F6143AE9776B}" destId="{4A40E4B9-6B00-41DD-92B1-5A14DA6CD39C}" srcOrd="9" destOrd="0" presId="urn:microsoft.com/office/officeart/2005/8/layout/cycle1"/>
    <dgm:cxn modelId="{E0A6A5E8-865C-423C-AF5B-705C0F262AA5}" type="presParOf" srcId="{41FF7046-D613-4BC0-9473-F6143AE9776B}" destId="{1F60DC91-6B2B-449D-857C-E3A9ED3D8E27}" srcOrd="10" destOrd="0" presId="urn:microsoft.com/office/officeart/2005/8/layout/cycle1"/>
    <dgm:cxn modelId="{067A8251-3DFB-48D5-A2DD-94662E8483A8}" type="presParOf" srcId="{41FF7046-D613-4BC0-9473-F6143AE9776B}" destId="{516F6495-2FC6-4AAF-913C-103933B960CB}" srcOrd="11" destOrd="0" presId="urn:microsoft.com/office/officeart/2005/8/layout/cycle1"/>
    <dgm:cxn modelId="{0F41FB51-A1A4-4922-8EBC-5C283DB68F8E}" type="presParOf" srcId="{41FF7046-D613-4BC0-9473-F6143AE9776B}" destId="{E612AE7C-C525-4F8C-A696-13ACF16DBD1F}" srcOrd="12" destOrd="0" presId="urn:microsoft.com/office/officeart/2005/8/layout/cycle1"/>
    <dgm:cxn modelId="{3EE67BD1-A9EE-42AB-9F2B-F6EC30DB863D}" type="presParOf" srcId="{41FF7046-D613-4BC0-9473-F6143AE9776B}" destId="{3E92B128-F4C3-4CD7-A872-691C00A20922}" srcOrd="13" destOrd="0" presId="urn:microsoft.com/office/officeart/2005/8/layout/cycle1"/>
    <dgm:cxn modelId="{5B0516B6-8994-40E2-A798-B791EAD0BA67}" type="presParOf" srcId="{41FF7046-D613-4BC0-9473-F6143AE9776B}" destId="{85136A0B-269C-46F3-AA6A-8558614214FC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D6056C-7599-43BC-9C77-89AEB34730A1}">
      <dsp:nvSpPr>
        <dsp:cNvPr id="0" name=""/>
        <dsp:cNvSpPr/>
      </dsp:nvSpPr>
      <dsp:spPr>
        <a:xfrm>
          <a:off x="4897728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Material Selection</a:t>
          </a:r>
        </a:p>
      </dsp:txBody>
      <dsp:txXfrm>
        <a:off x="4897728" y="37763"/>
        <a:ext cx="1282271" cy="1282271"/>
      </dsp:txXfrm>
    </dsp:sp>
    <dsp:sp modelId="{2AD242C6-6964-4581-AE15-6A839E8239E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21294266"/>
            <a:gd name="adj4" fmla="val 19765342"/>
            <a:gd name="adj5" fmla="val 6063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7C15F2-C18C-47C8-835E-A6FADC7FA2EA}">
      <dsp:nvSpPr>
        <dsp:cNvPr id="0" name=""/>
        <dsp:cNvSpPr/>
      </dsp:nvSpPr>
      <dsp:spPr>
        <a:xfrm>
          <a:off x="5673276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Spar Cap &amp; Shear Web Thickness</a:t>
          </a:r>
        </a:p>
      </dsp:txBody>
      <dsp:txXfrm>
        <a:off x="5673276" y="2424655"/>
        <a:ext cx="1282271" cy="1282271"/>
      </dsp:txXfrm>
    </dsp:sp>
    <dsp:sp modelId="{1AFB9D6C-7D47-460E-BDFC-4418A541A1B5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4015759"/>
            <a:gd name="adj4" fmla="val 2252458"/>
            <a:gd name="adj5" fmla="val 6063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4DCBE-1143-4790-85BE-1B7E16E0D405}">
      <dsp:nvSpPr>
        <dsp:cNvPr id="0" name=""/>
        <dsp:cNvSpPr/>
      </dsp:nvSpPr>
      <dsp:spPr>
        <a:xfrm>
          <a:off x="3642864" y="3899836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Develop Blade Model in NuMAD</a:t>
          </a:r>
        </a:p>
      </dsp:txBody>
      <dsp:txXfrm>
        <a:off x="3642864" y="3899836"/>
        <a:ext cx="1282271" cy="1282271"/>
      </dsp:txXfrm>
    </dsp:sp>
    <dsp:sp modelId="{9F97DBFB-599F-4A7E-8AA3-3C309AB8AAA4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8211880"/>
            <a:gd name="adj4" fmla="val 6448579"/>
            <a:gd name="adj5" fmla="val 6063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60DC91-6B2B-449D-857C-E3A9ED3D8E27}">
      <dsp:nvSpPr>
        <dsp:cNvPr id="0" name=""/>
        <dsp:cNvSpPr/>
      </dsp:nvSpPr>
      <dsp:spPr>
        <a:xfrm>
          <a:off x="1612452" y="2424655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Analysis with </a:t>
          </a:r>
          <a:r>
            <a:rPr lang="en-IN" sz="2200" kern="1200" dirty="0" err="1"/>
            <a:t>Precomp</a:t>
          </a:r>
          <a:endParaRPr lang="en-IN" sz="2200" kern="1200" dirty="0"/>
        </a:p>
      </dsp:txBody>
      <dsp:txXfrm>
        <a:off x="1612452" y="2424655"/>
        <a:ext cx="1282271" cy="1282271"/>
      </dsp:txXfrm>
    </dsp:sp>
    <dsp:sp modelId="{516F6495-2FC6-4AAF-913C-103933B960CB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2298996"/>
            <a:gd name="adj4" fmla="val 10770073"/>
            <a:gd name="adj5" fmla="val 6063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2B128-F4C3-4CD7-A872-691C00A20922}">
      <dsp:nvSpPr>
        <dsp:cNvPr id="0" name=""/>
        <dsp:cNvSpPr/>
      </dsp:nvSpPr>
      <dsp:spPr>
        <a:xfrm>
          <a:off x="2388000" y="37763"/>
          <a:ext cx="1282271" cy="1282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Iterate and refine the design</a:t>
          </a:r>
        </a:p>
      </dsp:txBody>
      <dsp:txXfrm>
        <a:off x="2388000" y="37763"/>
        <a:ext cx="1282271" cy="1282271"/>
      </dsp:txXfrm>
    </dsp:sp>
    <dsp:sp modelId="{85136A0B-269C-46F3-AA6A-8558614214FC}">
      <dsp:nvSpPr>
        <dsp:cNvPr id="0" name=""/>
        <dsp:cNvSpPr/>
      </dsp:nvSpPr>
      <dsp:spPr>
        <a:xfrm>
          <a:off x="1878218" y="289"/>
          <a:ext cx="4811563" cy="4811563"/>
        </a:xfrm>
        <a:prstGeom prst="circularArrow">
          <a:avLst>
            <a:gd name="adj1" fmla="val 5197"/>
            <a:gd name="adj2" fmla="val 335662"/>
            <a:gd name="adj3" fmla="val 16866744"/>
            <a:gd name="adj4" fmla="val 15197594"/>
            <a:gd name="adj5" fmla="val 6063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22.12.2025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22/12/2025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jp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22/12/2025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Team 5 – Rotor Blade Structures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E6C0A47-C45A-EB0C-4C45-15C9C28E75E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2878528" y="4648808"/>
            <a:ext cx="7678313" cy="793842"/>
          </a:xfrm>
        </p:spPr>
        <p:txBody>
          <a:bodyPr/>
          <a:lstStyle/>
          <a:p>
            <a:r>
              <a:rPr lang="en-GB" sz="1800" b="1" dirty="0"/>
              <a:t>Presented by – </a:t>
            </a:r>
            <a:r>
              <a:rPr lang="en-GB" sz="1800" b="1" dirty="0">
                <a:solidFill>
                  <a:srgbClr val="FF0000"/>
                </a:solidFill>
              </a:rPr>
              <a:t>------ </a:t>
            </a:r>
            <a:r>
              <a:rPr lang="en-GB" sz="1800" b="1" dirty="0"/>
              <a:t>(</a:t>
            </a:r>
            <a:r>
              <a:rPr lang="en-GB" sz="1800" b="1" dirty="0">
                <a:solidFill>
                  <a:srgbClr val="FF0000"/>
                </a:solidFill>
              </a:rPr>
              <a:t>700000</a:t>
            </a:r>
            <a:r>
              <a:rPr lang="en-GB" sz="1800" b="1" dirty="0"/>
              <a:t>)</a:t>
            </a:r>
          </a:p>
          <a:p>
            <a:r>
              <a:rPr lang="en-GB" sz="1600" b="1" dirty="0"/>
              <a:t>Team Members - </a:t>
            </a:r>
            <a:r>
              <a:rPr lang="en-GB" sz="1600" dirty="0"/>
              <a:t>Bhima B Masare, Anudeep Allanki, Dongsuk Kim, Mithun Shetty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altLang="ko-KR" dirty="0"/>
              <a:t>16/12/2025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51D6649A-1E87-C9DD-E3C2-12FE7407BD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 dirty="0"/>
              <a:t>Rotor Blades Structure/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27" name="Subtitle 2">
            <a:extLst>
              <a:ext uri="{FF2B5EF4-FFF2-40B4-BE49-F238E27FC236}">
                <a16:creationId xmlns:a16="http://schemas.microsoft.com/office/drawing/2014/main" id="{1E0415E7-E053-E995-249A-5B86E4F96002}"/>
              </a:ext>
            </a:extLst>
          </p:cNvPr>
          <p:cNvSpPr txBox="1">
            <a:spLocks/>
          </p:cNvSpPr>
          <p:nvPr/>
        </p:nvSpPr>
        <p:spPr>
          <a:xfrm>
            <a:off x="1412841" y="3586910"/>
            <a:ext cx="91440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(Textkörper)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sz="2000" b="1" dirty="0"/>
              <a:t>Week No - </a:t>
            </a:r>
            <a:r>
              <a:rPr lang="it-IT" sz="2000" dirty="0"/>
              <a:t>13</a:t>
            </a:r>
          </a:p>
          <a:p>
            <a:r>
              <a:rPr lang="it-IT" sz="2000" b="1" dirty="0"/>
              <a:t>Date -</a:t>
            </a:r>
            <a:r>
              <a:rPr lang="it-IT" sz="2000" dirty="0"/>
              <a:t> 16.12.2025</a:t>
            </a:r>
          </a:p>
          <a:p>
            <a:r>
              <a:rPr lang="it-IT" sz="2000" b="1" dirty="0"/>
              <a:t>Supervisor -</a:t>
            </a:r>
            <a:r>
              <a:rPr lang="it-IT" sz="2000" dirty="0"/>
              <a:t> Dr. Laurence Alhrshy</a:t>
            </a: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4806E567-AC3D-0689-0EEB-854383B43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53168"/>
            <a:ext cx="9867900" cy="4790457"/>
          </a:xfrm>
        </p:spPr>
        <p:txBody>
          <a:bodyPr>
            <a:noAutofit/>
          </a:bodyPr>
          <a:lstStyle/>
          <a:p>
            <a:pPr marL="0" lvl="0" indent="0">
              <a:buNone/>
            </a:pPr>
            <a:r>
              <a:rPr lang="de-DE" dirty="0"/>
              <a:t>1. Rotor Blade Structures Team Time line</a:t>
            </a:r>
          </a:p>
          <a:p>
            <a:pPr marL="0" lvl="0" indent="0">
              <a:buNone/>
            </a:pPr>
            <a:r>
              <a:rPr lang="en-US" dirty="0"/>
              <a:t>2. Tasks planned for Project</a:t>
            </a:r>
          </a:p>
          <a:p>
            <a:pPr marL="0" lvl="0" indent="0">
              <a:buNone/>
            </a:pPr>
            <a:r>
              <a:rPr lang="en-US" dirty="0"/>
              <a:t>3. Spar Cap –</a:t>
            </a:r>
          </a:p>
          <a:p>
            <a:pPr marL="0" lvl="0" indent="0">
              <a:buNone/>
            </a:pPr>
            <a:r>
              <a:rPr lang="en-US" sz="2000" dirty="0"/>
              <a:t>	3.1 Blade Design using NuMAD</a:t>
            </a:r>
          </a:p>
          <a:p>
            <a:pPr marL="0" lvl="0" indent="0">
              <a:buNone/>
            </a:pPr>
            <a:r>
              <a:rPr lang="en-US" sz="2000" dirty="0"/>
              <a:t>	3.2 Developing the Blade of </a:t>
            </a:r>
            <a:r>
              <a:rPr lang="en-US" sz="2000" dirty="0">
                <a:solidFill>
                  <a:srgbClr val="FF0000"/>
                </a:solidFill>
              </a:rPr>
              <a:t>WEC 2025 Optimus Syria</a:t>
            </a:r>
            <a:r>
              <a:rPr lang="en-US" sz="2000" dirty="0"/>
              <a:t> in NuMAD (</a:t>
            </a:r>
            <a:r>
              <a:rPr lang="en-US" sz="2000" i="1" dirty="0">
                <a:solidFill>
                  <a:srgbClr val="FF0000"/>
                </a:solidFill>
              </a:rPr>
              <a:t>Test 4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en-US" sz="2000" dirty="0"/>
              <a:t>	3.3 Updated Results (</a:t>
            </a:r>
            <a:r>
              <a:rPr lang="en-US" sz="2000" i="1" dirty="0">
                <a:solidFill>
                  <a:srgbClr val="FF0000"/>
                </a:solidFill>
              </a:rPr>
              <a:t>Update from Week 11</a:t>
            </a:r>
            <a:r>
              <a:rPr lang="en-US" sz="2000" dirty="0"/>
              <a:t>)</a:t>
            </a:r>
          </a:p>
          <a:p>
            <a:pPr marL="0" lvl="0" indent="0">
              <a:buNone/>
            </a:pPr>
            <a:r>
              <a:rPr lang="de-DE" dirty="0"/>
              <a:t>Bibliography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4BD01935-82E5-D79D-C490-ED5502D37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Contents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7BF55D9-EF5B-9E26-40AE-1F3D5F503D4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CE93207-F383-AC91-863A-7D6EA647733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E8728EB-C9D6-BA17-3C43-0FC592952D3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F3296396-1FEB-B93E-574C-0DB4C24D23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Bhima Babu Masare</a:t>
            </a:r>
          </a:p>
        </p:txBody>
      </p:sp>
    </p:spTree>
    <p:extLst>
      <p:ext uri="{BB962C8B-B14F-4D97-AF65-F5344CB8AC3E}">
        <p14:creationId xmlns:p14="http://schemas.microsoft.com/office/powerpoint/2010/main" val="3678816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E473E-38C4-BEFD-6925-717C4000C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258190-4173-9845-4929-910A187D3EE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9E9C03F-67D2-06AE-8AE4-7C60E10673C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A864A788-CAF6-E48E-0AEF-D66FD742D71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F420E8-A760-809C-426B-6B1BB6D9C2D6}"/>
              </a:ext>
            </a:extLst>
          </p:cNvPr>
          <p:cNvSpPr txBox="1"/>
          <p:nvPr/>
        </p:nvSpPr>
        <p:spPr>
          <a:xfrm>
            <a:off x="685800" y="667929"/>
            <a:ext cx="997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1. </a:t>
            </a:r>
            <a:r>
              <a:rPr lang="en-US" sz="2800" b="1" dirty="0"/>
              <a:t>Rotor Blade Structures Team Time line -</a:t>
            </a:r>
            <a:endParaRPr lang="en-IN" sz="28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F3DCE7-771E-9080-D19C-2878E7CB4E88}"/>
              </a:ext>
            </a:extLst>
          </p:cNvPr>
          <p:cNvSpPr txBox="1"/>
          <p:nvPr/>
        </p:nvSpPr>
        <p:spPr>
          <a:xfrm>
            <a:off x="838200" y="1259975"/>
            <a:ext cx="77888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400" b="1" dirty="0"/>
              <a:t>1.1 Team Time line for Month December -</a:t>
            </a:r>
            <a:endParaRPr lang="en-IN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6D5EBD-27AA-211B-4596-AF5FCB9E6E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17816" y="2433822"/>
            <a:ext cx="11556367" cy="256047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E785449-F0A0-2912-E7C0-7BC5CA509A02}"/>
              </a:ext>
            </a:extLst>
          </p:cNvPr>
          <p:cNvSpPr txBox="1"/>
          <p:nvPr/>
        </p:nvSpPr>
        <p:spPr>
          <a:xfrm>
            <a:off x="3414183" y="4275641"/>
            <a:ext cx="8460000" cy="720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156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2ACF-55D4-9220-4183-95D31C4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8FE6E9B-DB19-FBD8-EA4D-085FBF4CAB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F1268C7-E1C6-0696-9B82-FA431754B7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C477C971-72ED-E6B7-6755-C7EC302A70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C769CEB-1B8A-2B5B-66E0-50495DEF08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E579F-5EFE-B8C7-95F0-26F04ABA21DC}"/>
              </a:ext>
            </a:extLst>
          </p:cNvPr>
          <p:cNvSpPr txBox="1"/>
          <p:nvPr/>
        </p:nvSpPr>
        <p:spPr>
          <a:xfrm>
            <a:off x="685800" y="721989"/>
            <a:ext cx="69374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2. Tasks planned for Project –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36E2C168-E54F-EC95-359D-BAB7A9228628}"/>
              </a:ext>
            </a:extLst>
          </p:cNvPr>
          <p:cNvGraphicFramePr/>
          <p:nvPr/>
        </p:nvGraphicFramePr>
        <p:xfrm>
          <a:off x="1812000" y="1311316"/>
          <a:ext cx="8568000" cy="518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6F92940-7473-0ABB-FFF7-A9ED28058716}"/>
              </a:ext>
            </a:extLst>
          </p:cNvPr>
          <p:cNvSpPr txBox="1"/>
          <p:nvPr/>
        </p:nvSpPr>
        <p:spPr>
          <a:xfrm>
            <a:off x="5253789" y="5051170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D326CE-2281-E5D8-8DA5-8AEBA73CDC31}"/>
              </a:ext>
            </a:extLst>
          </p:cNvPr>
          <p:cNvSpPr txBox="1"/>
          <p:nvPr/>
        </p:nvSpPr>
        <p:spPr>
          <a:xfrm>
            <a:off x="6464968" y="1308626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E92CAB-B53D-1448-2500-D306DA3779D3}"/>
              </a:ext>
            </a:extLst>
          </p:cNvPr>
          <p:cNvSpPr txBox="1"/>
          <p:nvPr/>
        </p:nvSpPr>
        <p:spPr>
          <a:xfrm>
            <a:off x="7307178" y="3631857"/>
            <a:ext cx="1684421" cy="143175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l"/>
            <a:endParaRPr lang="en-IN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408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E7D4F-8AFF-41A2-86A5-113DB1752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4C6007-8ECA-302F-E1ED-1E5E86D5649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84D7DF9-8EB9-6019-8660-F519460A17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4805F11-E5C8-BE34-A92A-9ECA8D7C3E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18938A5-FAE6-4C76-4699-9D4330888DD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90792A-ABBF-CE22-6007-9AEBE5D8CC65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5BCAA9A-E46E-E2DF-C607-26A810994BB8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32930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3.1 Blade Modelling using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a. NuMAD</a:t>
            </a:r>
            <a:r>
              <a:rPr lang="en-US" sz="2200" dirty="0">
                <a:solidFill>
                  <a:sysClr val="windowText" lastClr="000000"/>
                </a:solidFill>
              </a:rPr>
              <a:t> </a:t>
            </a:r>
            <a:r>
              <a:rPr lang="en-US" sz="2200" b="1" dirty="0">
                <a:solidFill>
                  <a:sysClr val="windowText" lastClr="000000"/>
                </a:solidFill>
              </a:rPr>
              <a:t>(</a:t>
            </a:r>
            <a:r>
              <a:rPr lang="en-US" sz="2200" b="1" i="1" dirty="0">
                <a:solidFill>
                  <a:srgbClr val="FF0000"/>
                </a:solidFill>
              </a:rPr>
              <a:t>Numerical Manufacturing </a:t>
            </a:r>
            <a:r>
              <a:rPr lang="en-US" sz="2200" b="1" i="1" dirty="0"/>
              <a:t>And</a:t>
            </a:r>
            <a:r>
              <a:rPr lang="en-US" sz="2200" b="1" i="1" dirty="0">
                <a:solidFill>
                  <a:srgbClr val="FF0000"/>
                </a:solidFill>
              </a:rPr>
              <a:t> Design</a:t>
            </a:r>
            <a:r>
              <a:rPr lang="en-US" sz="2200" b="1" dirty="0">
                <a:solidFill>
                  <a:sysClr val="windowText" lastClr="000000"/>
                </a:solidFill>
              </a:rPr>
              <a:t>) 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</a:t>
            </a:r>
            <a:r>
              <a:rPr lang="en-US" sz="2200" dirty="0">
                <a:solidFill>
                  <a:sysClr val="windowText" lastClr="000000"/>
                </a:solidFill>
              </a:rPr>
              <a:t>The following are the steps to model a Blade using NuMAD –</a:t>
            </a:r>
            <a:endParaRPr lang="en-US" sz="2200" b="1" dirty="0">
              <a:solidFill>
                <a:sysClr val="windowText" lastClr="000000"/>
              </a:solidFill>
            </a:endParaRPr>
          </a:p>
          <a:p>
            <a:pPr marL="400050" lvl="1" indent="0">
              <a:buNone/>
            </a:pPr>
            <a:r>
              <a:rPr lang="en-US" sz="18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1 – </a:t>
            </a:r>
            <a:r>
              <a:rPr lang="en-US" sz="2200" b="1" dirty="0">
                <a:solidFill>
                  <a:srgbClr val="FF0000"/>
                </a:solidFill>
              </a:rPr>
              <a:t>Geometry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2 – </a:t>
            </a:r>
            <a:r>
              <a:rPr lang="en-US" sz="2200" b="1" dirty="0">
                <a:solidFill>
                  <a:srgbClr val="FF0000"/>
                </a:solidFill>
              </a:rPr>
              <a:t>Material &amp; Composite Definition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3 – </a:t>
            </a:r>
            <a:r>
              <a:rPr lang="en-US" sz="2200" b="1" dirty="0">
                <a:solidFill>
                  <a:srgbClr val="FF0000"/>
                </a:solidFill>
              </a:rPr>
              <a:t>Internal Structural Layout</a:t>
            </a:r>
          </a:p>
          <a:p>
            <a:pPr marL="400050" lvl="1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	</a:t>
            </a:r>
            <a:r>
              <a:rPr lang="en-US" sz="2200" b="1" i="1" dirty="0">
                <a:solidFill>
                  <a:sysClr val="windowText" lastClr="000000"/>
                </a:solidFill>
              </a:rPr>
              <a:t>Step 4 – </a:t>
            </a:r>
            <a:r>
              <a:rPr lang="en-US" sz="2200" b="1" dirty="0">
                <a:solidFill>
                  <a:srgbClr val="FF0000"/>
                </a:solidFill>
              </a:rPr>
              <a:t>Mesh Generation &amp; FEA Export</a:t>
            </a:r>
          </a:p>
        </p:txBody>
      </p:sp>
    </p:spTree>
    <p:extLst>
      <p:ext uri="{BB962C8B-B14F-4D97-AF65-F5344CB8AC3E}">
        <p14:creationId xmlns:p14="http://schemas.microsoft.com/office/powerpoint/2010/main" val="2187058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A6242-C090-EB59-EDEC-503EFE28F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85F53A-DA2C-E47E-B70E-11A2A091FE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425CA8E-F399-8076-B8AD-1DC1D7C66B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BB3D76E-CB4C-AB75-965C-FC0EFA60EFB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DC3C754-3F60-EB2F-766C-5EAFB3F3101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15FDE5-D8FF-CFCB-CF69-289F340FC6C0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8FD1495-89F5-C0A6-51D9-4AB5B4ECD793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4989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 (</a:t>
            </a:r>
            <a:r>
              <a:rPr lang="en-US" sz="2400" b="1" i="1" dirty="0">
                <a:solidFill>
                  <a:srgbClr val="FF0000"/>
                </a:solidFill>
              </a:rPr>
              <a:t>Test 4</a:t>
            </a:r>
            <a:r>
              <a:rPr lang="en-US" sz="2400" b="1" dirty="0">
                <a:solidFill>
                  <a:sysClr val="windowText" lastClr="000000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a. Airfoils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  <a:endParaRPr lang="en-US" sz="2200" i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F9534F6-597E-FA65-EE00-08EB52DA4C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25680"/>
              </p:ext>
            </p:extLst>
          </p:nvPr>
        </p:nvGraphicFramePr>
        <p:xfrm>
          <a:off x="1055348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Foil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Circular Foil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D60B_V5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Interp_T52.8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Interp_T45.0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Interp_T42.2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DU40B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45EBF4E-4E64-2B54-F43F-C7570AFCC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988118"/>
              </p:ext>
            </p:extLst>
          </p:nvPr>
        </p:nvGraphicFramePr>
        <p:xfrm>
          <a:off x="6276654" y="2228850"/>
          <a:ext cx="4860000" cy="3708400"/>
        </p:xfrm>
        <a:graphic>
          <a:graphicData uri="http://schemas.openxmlformats.org/drawingml/2006/table">
            <a:tbl>
              <a:tblPr firstRow="1" bandRow="1"/>
              <a:tblGrid>
                <a:gridCol w="792000">
                  <a:extLst>
                    <a:ext uri="{9D8B030D-6E8A-4147-A177-3AD203B41FA5}">
                      <a16:colId xmlns:a16="http://schemas.microsoft.com/office/drawing/2014/main" val="283835512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04851636"/>
                    </a:ext>
                  </a:extLst>
                </a:gridCol>
                <a:gridCol w="360000">
                  <a:extLst>
                    <a:ext uri="{9D8B030D-6E8A-4147-A177-3AD203B41FA5}">
                      <a16:colId xmlns:a16="http://schemas.microsoft.com/office/drawing/2014/main" val="3216685527"/>
                    </a:ext>
                  </a:extLst>
                </a:gridCol>
                <a:gridCol w="3276000">
                  <a:extLst>
                    <a:ext uri="{9D8B030D-6E8A-4147-A177-3AD203B41FA5}">
                      <a16:colId xmlns:a16="http://schemas.microsoft.com/office/drawing/2014/main" val="12745527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63390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119279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96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14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DU30_A17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6371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96698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DU25_A17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466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3166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5809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DU21_A17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5528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Node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–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200" b="0" i="1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NACA 63(3)-618</a:t>
                      </a: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944809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9709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9EB43-49C8-D124-8894-73EEE0E62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6F97C7-C20C-A915-42A1-B18344AFC1D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47C9F09C-3B5E-605F-98D6-E97F71BBFBE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8AB23D7-532A-7186-C96C-86183E7828A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B1BFBF40-71ED-871D-FAD7-4559A23451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E47E73-3AD8-26D2-CB52-496A96B466AC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596490-7F9D-0ABA-2A59-302DC372408C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b. Blade Geometry Details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46B0AC8-732E-D7C9-849A-34E66B07DF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317441"/>
              </p:ext>
            </p:extLst>
          </p:nvPr>
        </p:nvGraphicFramePr>
        <p:xfrm>
          <a:off x="685800" y="2195060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1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Interp_T52.8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Interp_T45.0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Interp_T42.2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20.718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1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3A6FB3-D6D5-D277-0E0D-8CBFEBB68D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22678"/>
              </p:ext>
            </p:extLst>
          </p:nvPr>
        </p:nvGraphicFramePr>
        <p:xfrm>
          <a:off x="6206625" y="2195059"/>
          <a:ext cx="5368425" cy="4278757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3976536225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Nodes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Pos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Chord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Twist</a:t>
                      </a:r>
                    </a:p>
                    <a:p>
                      <a:pPr algn="ctr" fontAlgn="b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[deg]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NACA 63(3)-618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73689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4672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D6C12-DA71-F55F-2A4A-4C5489570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C230EB-4FF9-2CE1-2832-7E0946F47FD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C94F7228-5E8A-4894-6EF3-F25D393B6D1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FC7E2E2E-B8E1-A3DC-E2A7-3ECFEF83783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3E9089B6-B8A9-BCA6-8A5D-7C534DFD40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3DDFF9-23F0-9C60-DCD6-7C5E682DC16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6D43BE2-E21C-5F8A-D76A-EA9BB275E10F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73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c. ‘</a:t>
            </a:r>
            <a:r>
              <a:rPr lang="en-US" sz="2200" b="1" i="1" dirty="0">
                <a:solidFill>
                  <a:srgbClr val="FF0000"/>
                </a:solidFill>
              </a:rPr>
              <a:t>Blade Span</a:t>
            </a:r>
            <a:r>
              <a:rPr lang="en-US" sz="2200" b="1" dirty="0">
                <a:solidFill>
                  <a:sysClr val="windowText" lastClr="000000"/>
                </a:solidFill>
              </a:rPr>
              <a:t>’ VS ‘</a:t>
            </a:r>
            <a:r>
              <a:rPr lang="en-US" sz="2200" b="1" i="1" dirty="0">
                <a:solidFill>
                  <a:srgbClr val="FF0000"/>
                </a:solidFill>
              </a:rPr>
              <a:t>Chord Distribution</a:t>
            </a:r>
            <a:r>
              <a:rPr lang="en-US" sz="2200" b="1" dirty="0">
                <a:solidFill>
                  <a:sysClr val="windowText" lastClr="000000"/>
                </a:solidFill>
              </a:rPr>
              <a:t>’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E2AF4-800D-73C2-AAD7-9BBFAFBF0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0696" y="2363413"/>
            <a:ext cx="11376000" cy="294508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87819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BB6A-65CB-046F-1125-828EACCFF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606402F-D25A-B5D7-AD3F-EE38A75F974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D751A8F-F0D7-45CB-AB35-14262ECF148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10F2CD4-51A2-8466-D9CE-452C86D293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6128350-3797-0E59-12B4-5BDD6174939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220BF9-5EB3-E2F4-08F9-3D1873A25A3A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8EB5084-96E8-93B0-4233-CB2ABF586AC4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d. Blade Material Details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Updated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E288624-C30E-42FE-CB17-A590CC9A18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98540"/>
              </p:ext>
            </p:extLst>
          </p:nvPr>
        </p:nvGraphicFramePr>
        <p:xfrm>
          <a:off x="1367456" y="2242686"/>
          <a:ext cx="9457087" cy="4212000"/>
        </p:xfrm>
        <a:graphic>
          <a:graphicData uri="http://schemas.openxmlformats.org/drawingml/2006/table">
            <a:tbl>
              <a:tblPr firstRow="1" bandRow="1"/>
              <a:tblGrid>
                <a:gridCol w="64665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1142437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09290364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476883899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961662055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338251710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Stack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Stack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[mm]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Gxy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[MPa]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prxy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[-]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Density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[kg/m3]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Gelcoat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0.06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3440.00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1380.00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1235.00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Triax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Skins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13650.00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5570870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Triax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Root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27700.00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13650.00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7200.00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1850.00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979411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UD Carbon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114500.00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8390.00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5990.00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1220.00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UD Glass 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41800.00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14000.00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2630.00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1920.00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1766817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 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55775356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 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Saertex</a:t>
                      </a: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(DB)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13600.00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13300.00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11800.00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0.49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1780.00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97531323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Foam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256.00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22.00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0.30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200.00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974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596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54182-ED2B-8AC1-05E6-C6616F42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0DA72C-24CE-B14E-C051-876F615D3C8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4D20692-44C1-8382-25B0-8EECCD20371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7F1A0E44-A453-A937-AD08-C7C3BE2BC16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3D7C238-C8BA-7F96-162F-EB0296B0DA7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7CC121D-EFDC-3161-E938-4365DEB10364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C8452D-3508-9FCB-7D17-BCE458A43854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e. Blade Stack of Material Details (</a:t>
            </a:r>
            <a:r>
              <a:rPr lang="en-US" sz="2200" b="1" i="1" dirty="0">
                <a:solidFill>
                  <a:srgbClr val="FF0000"/>
                </a:solidFill>
              </a:rPr>
              <a:t>Node 01 </a:t>
            </a:r>
            <a:r>
              <a:rPr lang="en-US" sz="2200" b="1" i="1" dirty="0"/>
              <a:t>– </a:t>
            </a:r>
            <a:r>
              <a:rPr lang="en-US" sz="2200" b="1" i="1" dirty="0">
                <a:solidFill>
                  <a:srgbClr val="FF0000"/>
                </a:solidFill>
              </a:rPr>
              <a:t>Node 10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3C971B2-7BC9-BC69-2F34-FB7E99FE78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9493216"/>
              </p:ext>
            </p:extLst>
          </p:nvPr>
        </p:nvGraphicFramePr>
        <p:xfrm>
          <a:off x="1757163" y="2246997"/>
          <a:ext cx="8677673" cy="411149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728713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3521516821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2080685924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806156927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Node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Pos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Chord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Location on </a:t>
                      </a: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954201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507374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2.129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Circular_Foil</a:t>
                      </a:r>
                      <a:endParaRPr lang="en-IN" sz="184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948641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D60B_V5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1435160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6.283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Interp_T52.8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79030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8.308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Interp_T45.0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431760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10.332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4.177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Interp_T42.2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31861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12.357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4.146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3408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17.931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3.926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20.718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DU40B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23.505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3.68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138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11F5A-6F6C-0AC4-F428-855466E9A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833F260-65C3-C8D7-B8E8-3975081F05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D0621BCA-39B4-1E09-CBF7-1BE3EC045BC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DE204CE-371F-8457-F140-3163A0A7A1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C03FF14-8B6D-8FE1-ADC3-013B4826F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696B21-0BDB-C73D-CFBB-A53A260E88A3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1BCF05E-FD0C-5887-84B7-4BFAFB2D6C25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e. Blade Stack of Material Details (</a:t>
            </a:r>
            <a:r>
              <a:rPr lang="en-US" sz="2200" b="1" i="1" dirty="0">
                <a:solidFill>
                  <a:srgbClr val="FF0000"/>
                </a:solidFill>
              </a:rPr>
              <a:t>Node 11 </a:t>
            </a:r>
            <a:r>
              <a:rPr lang="en-US" sz="2200" b="1" i="1" dirty="0"/>
              <a:t>– </a:t>
            </a:r>
            <a:r>
              <a:rPr lang="en-US" sz="2200" b="1" i="1" dirty="0">
                <a:solidFill>
                  <a:srgbClr val="FF0000"/>
                </a:solidFill>
              </a:rPr>
              <a:t>Node 20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6025C7A-49E5-A9E2-8FB7-2FF1E260B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34087"/>
              </p:ext>
            </p:extLst>
          </p:nvPr>
        </p:nvGraphicFramePr>
        <p:xfrm>
          <a:off x="1757163" y="2246997"/>
          <a:ext cx="8760433" cy="4111490"/>
        </p:xfrm>
        <a:graphic>
          <a:graphicData uri="http://schemas.openxmlformats.org/drawingml/2006/table">
            <a:tbl>
              <a:tblPr firstRow="1" bandRow="1"/>
              <a:tblGrid>
                <a:gridCol w="720000">
                  <a:extLst>
                    <a:ext uri="{9D8B030D-6E8A-4147-A177-3AD203B41FA5}">
                      <a16:colId xmlns:a16="http://schemas.microsoft.com/office/drawing/2014/main" val="2925482607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66895324"/>
                    </a:ext>
                  </a:extLst>
                </a:gridCol>
                <a:gridCol w="728713">
                  <a:extLst>
                    <a:ext uri="{9D8B030D-6E8A-4147-A177-3AD203B41FA5}">
                      <a16:colId xmlns:a16="http://schemas.microsoft.com/office/drawing/2014/main" val="1282574283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882679069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3521516821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2080685924"/>
                    </a:ext>
                  </a:extLst>
                </a:gridCol>
                <a:gridCol w="1609240">
                  <a:extLst>
                    <a:ext uri="{9D8B030D-6E8A-4147-A177-3AD203B41FA5}">
                      <a16:colId xmlns:a16="http://schemas.microsoft.com/office/drawing/2014/main" val="806156927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Node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Pos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Chord</a:t>
                      </a:r>
                      <a:b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</a:b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[m]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Location on </a:t>
                      </a:r>
                      <a:r>
                        <a:rPr lang="en-IN" sz="184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Airfoil</a:t>
                      </a: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 h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IN" sz="184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9542014"/>
                  </a:ext>
                </a:extLst>
              </a:tr>
              <a:tr h="46800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CAP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TE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14488629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30.057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5507374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36.61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3.126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88948641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40.055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51435160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43.6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DU30_A17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1,2,3,5,6,2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22790308"/>
                  </a:ext>
                </a:extLst>
              </a:tr>
              <a:tr h="1911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50.39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3431760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56.943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2.1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DU25_A17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231861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63.495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1,2,7,2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1734082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69.059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385539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74.643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DU21_A17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1,2,4,2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9260876"/>
                  </a:ext>
                </a:extLst>
              </a:tr>
              <a:tr h="36675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77.75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0.5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NACA 63(3)-618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84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1,2,3,2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669261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616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CA395-01F1-FA7C-7F33-4E6F4E512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12AAC0-FB29-EB21-EFFC-B44ECBE8E5B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D09E771-1122-5FCC-5A36-2F64C32E097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6378C52-9419-F720-D504-3DEEC864722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6D67A5B-F663-04C3-44F2-26DB2776ED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--------------------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4FB474-9D01-7ABA-72C4-DF2DB54C7A51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121C9CB-5B23-3D73-6C43-F47B78BC1D1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f. Blade Model in NuMAD (</a:t>
            </a:r>
            <a:r>
              <a:rPr lang="en-US" sz="2200" b="1" i="1" dirty="0">
                <a:solidFill>
                  <a:srgbClr val="FF0000"/>
                </a:solidFill>
              </a:rPr>
              <a:t>Solid View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Updated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0F576-0B60-9C09-B70F-064FCC9077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884" y="2242686"/>
            <a:ext cx="7197772" cy="399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9276006-64FA-5D0A-6913-17AB10AF7767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1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96F4D-2004-ECC1-9C3A-823AD21CB5CC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</a:rPr>
              <a:t>Note</a:t>
            </a:r>
            <a:r>
              <a:rPr lang="en-US" sz="1400" b="1" dirty="0"/>
              <a:t> – </a:t>
            </a:r>
            <a:r>
              <a:rPr lang="en-US" sz="1400" i="1" dirty="0"/>
              <a:t>This is not the final design some parameters needs to be modified later.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17745743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C01B7-9CC4-2B10-AA0F-00136185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F533F67-3F3A-6FFF-50E8-E3460305ECF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36AFED29-C59E-5718-8847-2CDC8A0AC53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A66C64C-398A-2261-7AC5-EDEC6D6C5C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9C4D596-F7D1-EA58-7E6C-1843F53B7A3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AD0DF0-3BF5-F1F9-0D47-C113F1FD4F09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9ADF2-A064-52FC-35C5-15356BE35331}"/>
              </a:ext>
            </a:extLst>
          </p:cNvPr>
          <p:cNvSpPr txBox="1">
            <a:spLocks/>
          </p:cNvSpPr>
          <p:nvPr/>
        </p:nvSpPr>
        <p:spPr>
          <a:xfrm>
            <a:off x="838200" y="1278957"/>
            <a:ext cx="10740992" cy="963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ysClr val="windowText" lastClr="000000"/>
                </a:solidFill>
              </a:rPr>
              <a:t>3.2 Developing the Blade of </a:t>
            </a:r>
            <a:r>
              <a:rPr lang="en-IN" sz="2400" b="1" i="1" dirty="0">
                <a:solidFill>
                  <a:srgbClr val="FF0000"/>
                </a:solidFill>
              </a:rPr>
              <a:t>WEC 2025 Optimus Syria </a:t>
            </a:r>
            <a:r>
              <a:rPr lang="en-IN" sz="2400" b="1" dirty="0">
                <a:solidFill>
                  <a:sysClr val="windowText" lastClr="000000"/>
                </a:solidFill>
              </a:rPr>
              <a:t>in NuMAD </a:t>
            </a:r>
            <a:r>
              <a:rPr lang="en-US" sz="2400" b="1" dirty="0">
                <a:solidFill>
                  <a:sysClr val="windowText" lastClr="000000"/>
                </a:solidFill>
              </a:rPr>
              <a:t>–</a:t>
            </a:r>
          </a:p>
          <a:p>
            <a:pPr marL="0" indent="0">
              <a:buNone/>
            </a:pPr>
            <a:r>
              <a:rPr lang="en-US" sz="2200" b="1" dirty="0">
                <a:solidFill>
                  <a:sysClr val="windowText" lastClr="000000"/>
                </a:solidFill>
              </a:rPr>
              <a:t>	g. Blade Model in NuMAD (</a:t>
            </a:r>
            <a:r>
              <a:rPr lang="en-US" sz="2200" b="1" i="1" dirty="0">
                <a:solidFill>
                  <a:srgbClr val="FF0000"/>
                </a:solidFill>
              </a:rPr>
              <a:t>Outline View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Test 4</a:t>
            </a:r>
            <a:r>
              <a:rPr lang="en-US" sz="2200" b="1" dirty="0">
                <a:solidFill>
                  <a:sysClr val="windowText" lastClr="000000"/>
                </a:solidFill>
              </a:rPr>
              <a:t>) – (</a:t>
            </a:r>
            <a:r>
              <a:rPr lang="en-US" sz="2200" b="1" i="1" dirty="0">
                <a:solidFill>
                  <a:srgbClr val="FF0000"/>
                </a:solidFill>
              </a:rPr>
              <a:t>Updated</a:t>
            </a:r>
            <a:r>
              <a:rPr lang="en-US" sz="2200" b="1" dirty="0">
                <a:solidFill>
                  <a:sysClr val="windowText" lastClr="000000"/>
                </a:solidFill>
              </a:rPr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56329-CAA2-175C-1336-340DEBAF97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93876" y="2242686"/>
            <a:ext cx="7351222" cy="3996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3FCB0FB-31C3-0936-91E9-75C00649712A}"/>
              </a:ext>
            </a:extLst>
          </p:cNvPr>
          <p:cNvSpPr txBox="1"/>
          <p:nvPr/>
        </p:nvSpPr>
        <p:spPr>
          <a:xfrm>
            <a:off x="8983887" y="4150504"/>
            <a:ext cx="280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/>
              <a:t>Figure 2 – </a:t>
            </a:r>
            <a:r>
              <a:rPr lang="en-US" sz="1400" i="1" dirty="0"/>
              <a:t>Blade Model in NuMAD</a:t>
            </a:r>
            <a:endParaRPr lang="en-IN" sz="1400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B8E18-B942-A554-EFD6-8B3141CAB589}"/>
              </a:ext>
            </a:extLst>
          </p:cNvPr>
          <p:cNvSpPr txBox="1"/>
          <p:nvPr/>
        </p:nvSpPr>
        <p:spPr>
          <a:xfrm>
            <a:off x="0" y="6253646"/>
            <a:ext cx="115310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b="1" dirty="0">
                <a:solidFill>
                  <a:srgbClr val="FF0000"/>
                </a:solidFill>
              </a:rPr>
              <a:t>Note</a:t>
            </a:r>
            <a:r>
              <a:rPr lang="en-US" sz="1400" b="1" dirty="0"/>
              <a:t> – </a:t>
            </a:r>
            <a:r>
              <a:rPr lang="en-US" sz="1400" i="1" dirty="0"/>
              <a:t>This is not the final design some parameters needs to be modified later.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3600812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67B9C-F14F-4ED6-4BC9-55C462EB4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6DCB2E9-5805-9E65-F542-7A2ACCF4401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FDA9A8BF-82CD-DD13-D18F-968A2B0D457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BFD1E0D5-D8A8-29CC-8E14-A6D0135E719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9A7899D0-EAAC-FD0C-DB04-697FFF5E6F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5FF82FF-F591-4693-E2CE-DBE438A60545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1289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660D36-4FB9-75AF-3715-3E33CC5FEB5F}"/>
              </a:ext>
            </a:extLst>
          </p:cNvPr>
          <p:cNvSpPr txBox="1"/>
          <p:nvPr/>
        </p:nvSpPr>
        <p:spPr>
          <a:xfrm>
            <a:off x="776090" y="1705476"/>
            <a:ext cx="55960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result which we got after executing the MATLAB code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 Max deflection we got is </a:t>
            </a:r>
            <a:r>
              <a:rPr lang="en-US" sz="2200" b="1" dirty="0">
                <a:solidFill>
                  <a:srgbClr val="FF0000"/>
                </a:solidFill>
              </a:rPr>
              <a:t>15.96 </a:t>
            </a:r>
            <a:r>
              <a:rPr lang="en-US" sz="2200" b="1" dirty="0"/>
              <a:t>m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We have limited the maximum deflection to </a:t>
            </a:r>
            <a:r>
              <a:rPr lang="en-US" sz="2200" b="1" dirty="0">
                <a:solidFill>
                  <a:srgbClr val="FF0000"/>
                </a:solidFill>
              </a:rPr>
              <a:t>8.5</a:t>
            </a:r>
            <a:r>
              <a:rPr lang="en-US" sz="2200" b="1" dirty="0"/>
              <a:t> m</a:t>
            </a:r>
            <a:r>
              <a:rPr lang="en-US" sz="2200" dirty="0"/>
              <a:t> as per our design requirements by altering the thickness of these spar caps and webs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FE97C8-97A7-E10A-7BBE-A3224C8B028D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Caps </a:t>
            </a:r>
            <a:r>
              <a:rPr lang="en-IN" sz="2800" b="1" dirty="0"/>
              <a:t>– (</a:t>
            </a:r>
            <a:r>
              <a:rPr lang="en-IN" sz="2800" b="1" i="1" dirty="0">
                <a:solidFill>
                  <a:srgbClr val="FF0000"/>
                </a:solidFill>
              </a:rPr>
              <a:t>Update from Week 11</a:t>
            </a:r>
            <a:r>
              <a:rPr lang="en-IN" sz="2800" b="1" dirty="0"/>
              <a:t>)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ABAEBD4-A1A7-B1FF-854D-FF68984612FE}"/>
              </a:ext>
            </a:extLst>
          </p:cNvPr>
          <p:cNvSpPr txBox="1">
            <a:spLocks/>
          </p:cNvSpPr>
          <p:nvPr/>
        </p:nvSpPr>
        <p:spPr>
          <a:xfrm>
            <a:off x="838200" y="1282566"/>
            <a:ext cx="10515600" cy="66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3.3 Updated Results –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B27793-6CFE-5B18-8589-ADFE9E93B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44677" y="1658686"/>
            <a:ext cx="4609123" cy="45045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094549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154F5-18A2-BA08-0093-42AB3D70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513061E-4F97-A135-F5CA-EF63D004C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D4B07F-645B-4DE8-AF20-7FF1FA76B246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E2D60B9-719B-42C8-2C57-EF20C7B1992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412C7B1D-F975-EE33-47EA-629574486BD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28647FA-AC0F-3B77-4B1D-E18C4AD22E1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altLang="ko-KR" dirty="0"/>
              <a:t>Bhima Babu Masare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4EA85D-62B7-0246-B0FB-8C2F757F4ACB}"/>
              </a:ext>
            </a:extLst>
          </p:cNvPr>
          <p:cNvSpPr txBox="1"/>
          <p:nvPr/>
        </p:nvSpPr>
        <p:spPr>
          <a:xfrm>
            <a:off x="685800" y="667929"/>
            <a:ext cx="86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b="1" dirty="0"/>
              <a:t>3. </a:t>
            </a:r>
            <a:r>
              <a:rPr lang="en-US" sz="2800" b="1" dirty="0"/>
              <a:t>Spar Cap – (</a:t>
            </a:r>
            <a:r>
              <a:rPr lang="en-US" sz="2800" b="1" i="1" dirty="0">
                <a:solidFill>
                  <a:srgbClr val="FF0000"/>
                </a:solidFill>
              </a:rPr>
              <a:t>Update from Week 11</a:t>
            </a:r>
            <a:r>
              <a:rPr lang="en-US" sz="2800" b="1" dirty="0"/>
              <a:t>)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9298FFC-73B6-9DDA-E0F3-BA146D258EA6}"/>
              </a:ext>
            </a:extLst>
          </p:cNvPr>
          <p:cNvSpPr txBox="1">
            <a:spLocks/>
          </p:cNvSpPr>
          <p:nvPr/>
        </p:nvSpPr>
        <p:spPr>
          <a:xfrm>
            <a:off x="838200" y="1282565"/>
            <a:ext cx="10515600" cy="9601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3.3 Updated Results –</a:t>
            </a:r>
          </a:p>
          <a:p>
            <a:pPr marL="0" indent="0">
              <a:buNone/>
            </a:pPr>
            <a:r>
              <a:rPr lang="en-US" sz="2400" b="1" dirty="0">
                <a:solidFill>
                  <a:sysClr val="windowText" lastClr="000000"/>
                </a:solidFill>
              </a:rPr>
              <a:t>	a.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Plots from MATLAB for Bending </a:t>
            </a:r>
            <a:r>
              <a:rPr kumimoji="0" lang="en-IN" sz="22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Analysis with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Deflection Limit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(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8.5 </a:t>
            </a:r>
            <a:r>
              <a:rPr kumimoji="0" lang="en-IN" sz="2200" b="1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m) </a:t>
            </a:r>
            <a:r>
              <a:rPr kumimoji="0" lang="en-IN" sz="22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–</a:t>
            </a:r>
          </a:p>
          <a:p>
            <a:pPr marL="0" indent="0">
              <a:buNone/>
            </a:pPr>
            <a:endParaRPr lang="en-US" sz="2400" b="1" dirty="0">
              <a:solidFill>
                <a:sysClr val="windowText" lastClr="0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AF64E7-57DE-8AD3-4CB8-A77D554FE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61331" y="2242686"/>
            <a:ext cx="6030475" cy="4248000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30487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83DB4-11DF-4DC9-9AFB-FDB45DBDB9C4}" type="datetime1">
              <a:rPr lang="en-GB" smtClean="0"/>
              <a:t>22/12/2025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0055318-CDFF-2436-5D76-D30CE5CB6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07705" y="6564113"/>
            <a:ext cx="3846095" cy="365125"/>
          </a:xfrm>
        </p:spPr>
        <p:txBody>
          <a:bodyPr/>
          <a:lstStyle/>
          <a:p>
            <a:r>
              <a:rPr lang="en-GB" dirty="0"/>
              <a:t>Rotor Blade Structures / Optimus Syria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4F89852-0382-5806-3356-FA1C77F6D28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/>
          </a:bodyPr>
          <a:lstStyle/>
          <a:p>
            <a:r>
              <a:rPr lang="en-GB" dirty="0"/>
              <a:t>Bhima Babu Masare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608B34B-CE26-1470-1701-E04971C52B8A}"/>
              </a:ext>
            </a:extLst>
          </p:cNvPr>
          <p:cNvSpPr txBox="1"/>
          <p:nvPr/>
        </p:nvSpPr>
        <p:spPr>
          <a:xfrm>
            <a:off x="484418" y="1465091"/>
            <a:ext cx="1067126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MW/61.5m Wind Turbine Blade Reference Model by Brian R. Resor, Sandia National Laboratories, California,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a 5 MW Reference Wind Turbine for Offshore System Development, J. Jonkman, S. Butterfield, W. Musial, and G. Scott, National Renewable Energy Laboratory, USA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from Optimus Shakthi 2024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Francesco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Previtali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Scripts from Prof. Dr. Laurence Alhrshy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 of Process Technology on Properties of Large-Scale Wind Turbine Blade Composite Spar Cap by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Yuanrong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Sun,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Congli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Hu,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Jianbo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Multi-disciplinary constraint optimization of wind turbines by Carlo Luigi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Bottasso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Filippo Campagnolo, Alessandro Croce</a:t>
            </a: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concept study of a carbon spar cap design for a 80m wind turbine blade by Malo Rosemeier, M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Bätge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Analysis of Equipment for Load Introduction during Full Scale Blade Test by J. Andersen, M. Escudero, L. Larsen, J. Thuesen, 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Vissamsetty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3" id="{489382AE-0E20-4DDB-AC58-6881343BCB06}" vid="{12EB4CDA-A9DA-4F07-A373-8B888615A84A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3" id="{489382AE-0E20-4DDB-AC58-6881343BCB06}" vid="{BC3BCC29-301C-4D70-A384-97DBC337907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Presentation template_final</Template>
  <TotalTime>1842</TotalTime>
  <Words>1553</Words>
  <Application>Microsoft Office PowerPoint</Application>
  <PresentationFormat>Widescreen</PresentationFormat>
  <Paragraphs>572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Aptos (Textkörper)</vt:lpstr>
      <vt:lpstr>Aptos Display</vt:lpstr>
      <vt:lpstr>Arial</vt:lpstr>
      <vt:lpstr>Calibri</vt:lpstr>
      <vt:lpstr>Calibri Light</vt:lpstr>
      <vt:lpstr>Times New Roman</vt:lpstr>
      <vt:lpstr>Office</vt:lpstr>
      <vt:lpstr>Benutzerdefiniertes Design</vt:lpstr>
      <vt:lpstr>Team 5 – Rotor Blade Structures</vt:lpstr>
      <vt:lpstr>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Bibliography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Bhima Masare</dc:creator>
  <cp:lastModifiedBy>Bhima Masare</cp:lastModifiedBy>
  <cp:revision>255</cp:revision>
  <dcterms:created xsi:type="dcterms:W3CDTF">2025-10-05T16:20:08Z</dcterms:created>
  <dcterms:modified xsi:type="dcterms:W3CDTF">2025-12-22T15:22:04Z</dcterms:modified>
</cp:coreProperties>
</file>