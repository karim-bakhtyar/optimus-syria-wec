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  <p:sldMasterId id="2147483691" r:id="rId5"/>
    <p:sldMasterId id="2147483672" r:id="rId6"/>
  </p:sldMasterIdLst>
  <p:notesMasterIdLst>
    <p:notesMasterId r:id="rId19"/>
  </p:notesMasterIdLst>
  <p:handoutMasterIdLst>
    <p:handoutMasterId r:id="rId20"/>
  </p:handoutMasterIdLst>
  <p:sldIdLst>
    <p:sldId id="263" r:id="rId7"/>
    <p:sldId id="273" r:id="rId8"/>
    <p:sldId id="277" r:id="rId9"/>
    <p:sldId id="276" r:id="rId10"/>
    <p:sldId id="281" r:id="rId11"/>
    <p:sldId id="278" r:id="rId12"/>
    <p:sldId id="282" r:id="rId13"/>
    <p:sldId id="269" r:id="rId14"/>
    <p:sldId id="279" r:id="rId15"/>
    <p:sldId id="280" r:id="rId16"/>
    <p:sldId id="283" r:id="rId17"/>
    <p:sldId id="267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first slide" id="{EBA04D78-D1FF-49F4-BDD6-03EE135E606E}">
          <p14:sldIdLst>
            <p14:sldId id="263"/>
          </p14:sldIdLst>
        </p14:section>
        <p14:section name="List of contents" id="{65043596-36B7-4360-BB5C-7A99EFAEC5C9}">
          <p14:sldIdLst>
            <p14:sldId id="273"/>
          </p14:sldIdLst>
        </p14:section>
        <p14:section name="Title, main slides" id="{B26F6679-C236-4D3D-BC2F-CAE5ED400718}">
          <p14:sldIdLst>
            <p14:sldId id="277"/>
            <p14:sldId id="276"/>
            <p14:sldId id="281"/>
            <p14:sldId id="278"/>
            <p14:sldId id="282"/>
            <p14:sldId id="269"/>
            <p14:sldId id="279"/>
            <p14:sldId id="280"/>
            <p14:sldId id="283"/>
          </p14:sldIdLst>
        </p14:section>
        <p14:section name="bibliography" id="{2ECB0A3B-7D16-4F98-AD6A-5308DF7BF078}">
          <p14:sldIdLst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8ECEFA"/>
    <a:srgbClr val="92C6E6"/>
    <a:srgbClr val="80D2F7"/>
    <a:srgbClr val="7ED1F7"/>
    <a:srgbClr val="A1DFFD"/>
    <a:srgbClr val="C0F5FF"/>
    <a:srgbClr val="3C96FA"/>
    <a:srgbClr val="BDE5F9"/>
    <a:srgbClr val="C1E5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1CC8E7C-AF6F-49C0-BAE7-3562EEB5EFE4}" v="1118" dt="2025-11-23T11:18:55.07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20" d="100"/>
          <a:sy n="120" d="100"/>
        </p:scale>
        <p:origin x="19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5.xml"/><Relationship Id="rId24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9.xml"/><Relationship Id="rId23" Type="http://schemas.openxmlformats.org/officeDocument/2006/relationships/theme" Target="theme/theme1.xml"/><Relationship Id="rId10" Type="http://schemas.openxmlformats.org/officeDocument/2006/relationships/slide" Target="slides/slide4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F984966E-98CC-6A78-1424-04B6E1F2673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9153D721-EFB9-BC0E-1DC1-4F7A40F3125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753E7D-EEC7-43DF-AF05-49FE1E0C7B25}" type="datetimeFigureOut">
              <a:rPr lang="de-DE" smtClean="0"/>
              <a:t>24.11.2025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A7BF23EC-0BC1-545E-D00A-3466D800025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716600C-B63A-8960-82FD-8DC4BB46C81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1B05C7-DCB9-437C-9E32-70E81341534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9509784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52B7C8-164C-4140-932B-122F288D33CD}" type="datetimeFigureOut">
              <a:rPr lang="en-GB" smtClean="0"/>
              <a:t>24/11/2025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23327E-A3FE-4279-B080-AD6DAF9EDC39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756791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mybib.com/tools/ieee-citation-generator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6.jpe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6.jpe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st of contents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8B5CAFF-79AF-87AE-7EAE-604CC93E76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10515600" cy="4351338"/>
          </a:xfrm>
        </p:spPr>
        <p:txBody>
          <a:bodyPr/>
          <a:lstStyle>
            <a:lvl1pPr marL="514350" indent="-514350">
              <a:buFont typeface="+mj-lt"/>
              <a:buAutoNum type="arabicPeriod"/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/>
              <a:t>Title, </a:t>
            </a:r>
            <a:r>
              <a:rPr lang="de-DE" err="1"/>
              <a:t>example</a:t>
            </a:r>
            <a:r>
              <a:rPr lang="de-DE"/>
              <a:t>: Tasks </a:t>
            </a:r>
            <a:r>
              <a:rPr lang="de-DE" err="1"/>
              <a:t>of</a:t>
            </a:r>
            <a:r>
              <a:rPr lang="de-DE"/>
              <a:t> </a:t>
            </a:r>
            <a:r>
              <a:rPr lang="de-DE" err="1"/>
              <a:t>the</a:t>
            </a:r>
            <a:r>
              <a:rPr lang="de-DE"/>
              <a:t> </a:t>
            </a:r>
            <a:r>
              <a:rPr lang="de-DE" err="1"/>
              <a:t>week</a:t>
            </a:r>
            <a:r>
              <a:rPr lang="de-DE"/>
              <a:t>   (</a:t>
            </a:r>
            <a:r>
              <a:rPr lang="de-DE" err="1"/>
              <a:t>Aptos</a:t>
            </a:r>
            <a:r>
              <a:rPr lang="de-DE"/>
              <a:t>, 22)</a:t>
            </a:r>
          </a:p>
          <a:p>
            <a:pPr lvl="1"/>
            <a:r>
              <a:rPr lang="de-DE" err="1"/>
              <a:t>Example</a:t>
            </a:r>
            <a:r>
              <a:rPr lang="de-DE"/>
              <a:t>: </a:t>
            </a:r>
            <a:r>
              <a:rPr lang="de-DE" err="1"/>
              <a:t>drawings</a:t>
            </a:r>
            <a:r>
              <a:rPr lang="de-DE"/>
              <a:t> </a:t>
            </a:r>
            <a:r>
              <a:rPr lang="de-DE" err="1"/>
              <a:t>from</a:t>
            </a:r>
            <a:r>
              <a:rPr lang="de-DE"/>
              <a:t> </a:t>
            </a:r>
            <a:r>
              <a:rPr lang="de-DE" err="1"/>
              <a:t>the</a:t>
            </a:r>
            <a:r>
              <a:rPr lang="de-DE"/>
              <a:t> </a:t>
            </a:r>
            <a:r>
              <a:rPr lang="de-DE" err="1"/>
              <a:t>week</a:t>
            </a:r>
            <a:r>
              <a:rPr lang="de-DE"/>
              <a:t>  (</a:t>
            </a:r>
            <a:r>
              <a:rPr lang="de-DE" err="1"/>
              <a:t>Aptos</a:t>
            </a:r>
            <a:r>
              <a:rPr lang="de-DE"/>
              <a:t>, 20)</a:t>
            </a:r>
          </a:p>
          <a:p>
            <a:pPr lvl="0"/>
            <a:r>
              <a:rPr lang="de-DE"/>
              <a:t>X</a:t>
            </a:r>
          </a:p>
          <a:p>
            <a:pPr lvl="1"/>
            <a:endParaRPr lang="de-DE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62E2414-A9F3-5C69-E3A8-481E091525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</p:spPr>
        <p:txBody>
          <a:bodyPr/>
          <a:lstStyle>
            <a:lvl1pPr>
              <a:defRPr/>
            </a:lvl1pPr>
          </a:lstStyle>
          <a:p>
            <a:r>
              <a:rPr lang="de-DE"/>
              <a:t>List </a:t>
            </a:r>
            <a:r>
              <a:rPr lang="de-DE" err="1"/>
              <a:t>of</a:t>
            </a:r>
            <a:r>
              <a:rPr lang="de-DE"/>
              <a:t> </a:t>
            </a:r>
            <a:r>
              <a:rPr lang="de-DE" err="1"/>
              <a:t>contents</a:t>
            </a:r>
            <a:r>
              <a:rPr lang="de-DE"/>
              <a:t> (</a:t>
            </a:r>
            <a:r>
              <a:rPr lang="de-DE" err="1"/>
              <a:t>Aptos</a:t>
            </a:r>
            <a:r>
              <a:rPr lang="de-DE"/>
              <a:t>, 44)</a:t>
            </a:r>
            <a:endParaRPr lang="en-GB"/>
          </a:p>
        </p:txBody>
      </p:sp>
      <p:cxnSp>
        <p:nvCxnSpPr>
          <p:cNvPr id="9" name="Straight Connector 5">
            <a:extLst>
              <a:ext uri="{FF2B5EF4-FFF2-40B4-BE49-F238E27FC236}">
                <a16:creationId xmlns:a16="http://schemas.microsoft.com/office/drawing/2014/main" id="{66EB7C6A-45A8-A327-54B4-9E3A0BCAC0B4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Isosceles Triangle 6">
            <a:extLst>
              <a:ext uri="{FF2B5EF4-FFF2-40B4-BE49-F238E27FC236}">
                <a16:creationId xmlns:a16="http://schemas.microsoft.com/office/drawing/2014/main" id="{170C5CF7-7129-6BD6-B815-EAF32508EFB5}"/>
              </a:ext>
            </a:extLst>
          </p:cNvPr>
          <p:cNvSpPr/>
          <p:nvPr userDrawn="1"/>
        </p:nvSpPr>
        <p:spPr>
          <a:xfrm>
            <a:off x="5218873" y="2853022"/>
            <a:ext cx="1546144" cy="1209996"/>
          </a:xfrm>
          <a:prstGeom prst="triangle">
            <a:avLst>
              <a:gd name="adj" fmla="val 50565"/>
            </a:avLst>
          </a:prstGeom>
          <a:ln w="571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Rectangle 7">
            <a:extLst>
              <a:ext uri="{FF2B5EF4-FFF2-40B4-BE49-F238E27FC236}">
                <a16:creationId xmlns:a16="http://schemas.microsoft.com/office/drawing/2014/main" id="{C7BE5E88-0734-5426-D3DF-C7901A7359D4}"/>
              </a:ext>
            </a:extLst>
          </p:cNvPr>
          <p:cNvSpPr/>
          <p:nvPr userDrawn="1"/>
        </p:nvSpPr>
        <p:spPr>
          <a:xfrm>
            <a:off x="4025317" y="4094711"/>
            <a:ext cx="3933255" cy="2327860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err="1"/>
              <a:t>This</a:t>
            </a:r>
            <a:r>
              <a:rPr lang="it-IT"/>
              <a:t> </a:t>
            </a:r>
            <a:r>
              <a:rPr lang="it-IT" err="1"/>
              <a:t>is</a:t>
            </a:r>
            <a:r>
              <a:rPr lang="it-IT"/>
              <a:t> an </a:t>
            </a:r>
            <a:r>
              <a:rPr lang="it-IT" err="1"/>
              <a:t>example</a:t>
            </a:r>
            <a:r>
              <a:rPr lang="it-IT"/>
              <a:t> </a:t>
            </a:r>
            <a:r>
              <a:rPr lang="it-IT" b="1"/>
              <a:t>BUT</a:t>
            </a:r>
            <a:br>
              <a:rPr lang="it-IT"/>
            </a:br>
            <a:r>
              <a:rPr lang="it-IT"/>
              <a:t>use the </a:t>
            </a:r>
            <a:r>
              <a:rPr lang="it-IT" err="1"/>
              <a:t>same</a:t>
            </a:r>
            <a:r>
              <a:rPr lang="it-IT"/>
              <a:t> style and short, concise bullet points) </a:t>
            </a:r>
            <a:br>
              <a:rPr lang="it-IT"/>
            </a:br>
            <a:r>
              <a:rPr lang="it-IT" err="1"/>
              <a:t>Only</a:t>
            </a:r>
            <a:r>
              <a:rPr lang="it-IT"/>
              <a:t> </a:t>
            </a:r>
            <a:r>
              <a:rPr lang="it-IT" err="1"/>
              <a:t>topics</a:t>
            </a:r>
            <a:r>
              <a:rPr lang="it-IT"/>
              <a:t> for the 4 min </a:t>
            </a:r>
            <a:r>
              <a:rPr lang="it-IT" err="1"/>
              <a:t>timeslot</a:t>
            </a:r>
            <a:r>
              <a:rPr lang="it-IT"/>
              <a:t>!</a:t>
            </a:r>
            <a:endParaRPr lang="en-GB"/>
          </a:p>
        </p:txBody>
      </p:sp>
      <p:sp>
        <p:nvSpPr>
          <p:cNvPr id="14" name="Rectangle 11">
            <a:extLst>
              <a:ext uri="{FF2B5EF4-FFF2-40B4-BE49-F238E27FC236}">
                <a16:creationId xmlns:a16="http://schemas.microsoft.com/office/drawing/2014/main" id="{11100C08-BD4D-E3E4-CE88-2FD7DF2770C3}"/>
              </a:ext>
            </a:extLst>
          </p:cNvPr>
          <p:cNvSpPr/>
          <p:nvPr userDrawn="1"/>
        </p:nvSpPr>
        <p:spPr>
          <a:xfrm>
            <a:off x="5727842" y="3001184"/>
            <a:ext cx="542886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GB" sz="7200" b="1" cap="none" spc="0">
                <a:ln w="0"/>
                <a:solidFill>
                  <a:schemeClr val="tx1"/>
                </a:solidFill>
              </a:rPr>
              <a:t>!</a:t>
            </a:r>
          </a:p>
        </p:txBody>
      </p:sp>
      <p:sp>
        <p:nvSpPr>
          <p:cNvPr id="2" name="Rectangle 7">
            <a:extLst>
              <a:ext uri="{FF2B5EF4-FFF2-40B4-BE49-F238E27FC236}">
                <a16:creationId xmlns:a16="http://schemas.microsoft.com/office/drawing/2014/main" id="{65B86036-57A0-C8C5-C8BB-699A37ABA2A8}"/>
              </a:ext>
            </a:extLst>
          </p:cNvPr>
          <p:cNvSpPr/>
          <p:nvPr userDrawn="1"/>
        </p:nvSpPr>
        <p:spPr>
          <a:xfrm>
            <a:off x="908165" y="3299037"/>
            <a:ext cx="2603270" cy="140451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err="1"/>
              <a:t>This</a:t>
            </a:r>
            <a:r>
              <a:rPr lang="it-IT"/>
              <a:t> slide </a:t>
            </a:r>
            <a:r>
              <a:rPr lang="it-IT" err="1"/>
              <a:t>is</a:t>
            </a:r>
            <a:r>
              <a:rPr lang="it-IT"/>
              <a:t> </a:t>
            </a:r>
            <a:r>
              <a:rPr lang="it-IT" err="1"/>
              <a:t>only</a:t>
            </a:r>
            <a:r>
              <a:rPr lang="it-IT"/>
              <a:t> for </a:t>
            </a:r>
            <a:r>
              <a:rPr lang="it-IT" err="1"/>
              <a:t>explanation</a:t>
            </a:r>
            <a:r>
              <a:rPr lang="it-IT"/>
              <a:t>, </a:t>
            </a:r>
            <a:r>
              <a:rPr lang="it-IT" err="1"/>
              <a:t>dont´t</a:t>
            </a:r>
            <a:r>
              <a:rPr lang="it-IT"/>
              <a:t> use </a:t>
            </a:r>
            <a:r>
              <a:rPr lang="it-IT" err="1"/>
              <a:t>it!</a:t>
            </a:r>
            <a:endParaRPr lang="en-GB"/>
          </a:p>
        </p:txBody>
      </p:sp>
      <p:sp>
        <p:nvSpPr>
          <p:cNvPr id="10" name="Datumsplatzhalter 9">
            <a:extLst>
              <a:ext uri="{FF2B5EF4-FFF2-40B4-BE49-F238E27FC236}">
                <a16:creationId xmlns:a16="http://schemas.microsoft.com/office/drawing/2014/main" id="{64195E91-DEC0-2198-8D7F-F5D7511FB319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24/11/2025</a:t>
            </a:fld>
            <a:endParaRPr lang="en-GB"/>
          </a:p>
        </p:txBody>
      </p:sp>
      <p:sp>
        <p:nvSpPr>
          <p:cNvPr id="15" name="Foliennummernplatzhalter 14">
            <a:extLst>
              <a:ext uri="{FF2B5EF4-FFF2-40B4-BE49-F238E27FC236}">
                <a16:creationId xmlns:a16="http://schemas.microsoft.com/office/drawing/2014/main" id="{8CC2EBC5-DD43-6B7E-A5D7-5CD5B0E30A5C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‹Nr.›</a:t>
            </a:fld>
            <a:endParaRPr lang="en-GB"/>
          </a:p>
        </p:txBody>
      </p:sp>
      <p:sp>
        <p:nvSpPr>
          <p:cNvPr id="3" name="Rectangle 7">
            <a:extLst>
              <a:ext uri="{FF2B5EF4-FFF2-40B4-BE49-F238E27FC236}">
                <a16:creationId xmlns:a16="http://schemas.microsoft.com/office/drawing/2014/main" id="{7DF5AC43-E5EF-0524-5C72-3AC43D2D1965}"/>
              </a:ext>
            </a:extLst>
          </p:cNvPr>
          <p:cNvSpPr/>
          <p:nvPr userDrawn="1"/>
        </p:nvSpPr>
        <p:spPr>
          <a:xfrm>
            <a:off x="7392013" y="1722381"/>
            <a:ext cx="2603270" cy="140451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/>
              <a:t>Use the </a:t>
            </a:r>
            <a:r>
              <a:rPr lang="it-IT" err="1"/>
              <a:t>heading</a:t>
            </a:r>
            <a:r>
              <a:rPr lang="it-IT"/>
              <a:t> in the </a:t>
            </a:r>
            <a:r>
              <a:rPr lang="it-IT" err="1"/>
              <a:t>same</a:t>
            </a:r>
            <a:r>
              <a:rPr lang="it-IT"/>
              <a:t> style </a:t>
            </a:r>
            <a:endParaRPr lang="en-GB"/>
          </a:p>
        </p:txBody>
      </p:sp>
      <p:cxnSp>
        <p:nvCxnSpPr>
          <p:cNvPr id="5" name="Straight Arrow Connector 21">
            <a:extLst>
              <a:ext uri="{FF2B5EF4-FFF2-40B4-BE49-F238E27FC236}">
                <a16:creationId xmlns:a16="http://schemas.microsoft.com/office/drawing/2014/main" id="{E14BA36E-5CEF-0525-3ADE-5A38CD19B2C1}"/>
              </a:ext>
            </a:extLst>
          </p:cNvPr>
          <p:cNvCxnSpPr>
            <a:cxnSpLocks/>
            <a:stCxn id="3" idx="0"/>
          </p:cNvCxnSpPr>
          <p:nvPr userDrawn="1"/>
        </p:nvCxnSpPr>
        <p:spPr>
          <a:xfrm flipH="1" flipV="1">
            <a:off x="7108466" y="1095661"/>
            <a:ext cx="1585182" cy="62672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66B44A4-CCF4-F4ED-41B9-357EC476AE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474613" y="6564113"/>
            <a:ext cx="28791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GB" err="1"/>
              <a:t>Griid</a:t>
            </a:r>
            <a:r>
              <a:rPr lang="en-GB"/>
              <a:t> Code Development / Optimus Syria</a:t>
            </a:r>
          </a:p>
        </p:txBody>
      </p:sp>
    </p:spTree>
    <p:extLst>
      <p:ext uri="{BB962C8B-B14F-4D97-AF65-F5344CB8AC3E}">
        <p14:creationId xmlns:p14="http://schemas.microsoft.com/office/powerpoint/2010/main" val="9848582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List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8B5CAFF-79AF-87AE-7EAE-604CC93E76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10515600" cy="4351338"/>
          </a:xfrm>
        </p:spPr>
        <p:txBody>
          <a:bodyPr/>
          <a:lstStyle>
            <a:lvl1pPr marL="514350" indent="-514350">
              <a:buFont typeface="+mj-lt"/>
              <a:buAutoNum type="arabicPeriod"/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/>
              <a:t>Title, </a:t>
            </a:r>
            <a:r>
              <a:rPr lang="de-DE" err="1"/>
              <a:t>example</a:t>
            </a:r>
            <a:r>
              <a:rPr lang="de-DE"/>
              <a:t>: Tasks </a:t>
            </a:r>
            <a:r>
              <a:rPr lang="de-DE" err="1"/>
              <a:t>of</a:t>
            </a:r>
            <a:r>
              <a:rPr lang="de-DE"/>
              <a:t> </a:t>
            </a:r>
            <a:r>
              <a:rPr lang="de-DE" err="1"/>
              <a:t>the</a:t>
            </a:r>
            <a:r>
              <a:rPr lang="de-DE"/>
              <a:t> </a:t>
            </a:r>
            <a:r>
              <a:rPr lang="de-DE" err="1"/>
              <a:t>week</a:t>
            </a:r>
            <a:endParaRPr lang="de-DE"/>
          </a:p>
          <a:p>
            <a:pPr lvl="1"/>
            <a:r>
              <a:rPr lang="de-DE" err="1"/>
              <a:t>Example</a:t>
            </a:r>
            <a:r>
              <a:rPr lang="de-DE"/>
              <a:t>: </a:t>
            </a:r>
            <a:r>
              <a:rPr lang="de-DE" err="1"/>
              <a:t>drawings</a:t>
            </a:r>
            <a:r>
              <a:rPr lang="de-DE"/>
              <a:t> </a:t>
            </a:r>
            <a:r>
              <a:rPr lang="de-DE" err="1"/>
              <a:t>from</a:t>
            </a:r>
            <a:r>
              <a:rPr lang="de-DE"/>
              <a:t> </a:t>
            </a:r>
            <a:r>
              <a:rPr lang="de-DE" err="1"/>
              <a:t>the</a:t>
            </a:r>
            <a:r>
              <a:rPr lang="de-DE"/>
              <a:t> </a:t>
            </a:r>
            <a:r>
              <a:rPr lang="de-DE" err="1"/>
              <a:t>week</a:t>
            </a:r>
            <a:endParaRPr lang="de-DE"/>
          </a:p>
          <a:p>
            <a:pPr lvl="0"/>
            <a:r>
              <a:rPr lang="de-DE"/>
              <a:t>X</a:t>
            </a:r>
          </a:p>
          <a:p>
            <a:pPr lvl="1"/>
            <a:endParaRPr lang="de-DE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62E2414-A9F3-5C69-E3A8-481E091525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</p:spPr>
        <p:txBody>
          <a:bodyPr/>
          <a:lstStyle>
            <a:lvl1pPr>
              <a:defRPr/>
            </a:lvl1pPr>
          </a:lstStyle>
          <a:p>
            <a:r>
              <a:rPr lang="de-DE"/>
              <a:t>List </a:t>
            </a:r>
            <a:r>
              <a:rPr lang="de-DE" err="1"/>
              <a:t>of</a:t>
            </a:r>
            <a:r>
              <a:rPr lang="de-DE"/>
              <a:t> </a:t>
            </a:r>
            <a:r>
              <a:rPr lang="de-DE" err="1"/>
              <a:t>contents</a:t>
            </a:r>
            <a:endParaRPr lang="en-GB"/>
          </a:p>
        </p:txBody>
      </p:sp>
      <p:cxnSp>
        <p:nvCxnSpPr>
          <p:cNvPr id="9" name="Straight Connector 5">
            <a:extLst>
              <a:ext uri="{FF2B5EF4-FFF2-40B4-BE49-F238E27FC236}">
                <a16:creationId xmlns:a16="http://schemas.microsoft.com/office/drawing/2014/main" id="{66EB7C6A-45A8-A327-54B4-9E3A0BCAC0B4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Datumsplatzhalter 10">
            <a:extLst>
              <a:ext uri="{FF2B5EF4-FFF2-40B4-BE49-F238E27FC236}">
                <a16:creationId xmlns:a16="http://schemas.microsoft.com/office/drawing/2014/main" id="{8F6D1F16-A947-CEE2-C58A-50217E9017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24/11/2025</a:t>
            </a:fld>
            <a:endParaRPr lang="en-GB"/>
          </a:p>
        </p:txBody>
      </p:sp>
      <p:sp>
        <p:nvSpPr>
          <p:cNvPr id="12" name="Fußzeilenplatzhalter 11">
            <a:extLst>
              <a:ext uri="{FF2B5EF4-FFF2-40B4-BE49-F238E27FC236}">
                <a16:creationId xmlns:a16="http://schemas.microsoft.com/office/drawing/2014/main" id="{873EF994-6CA7-B763-F215-A7D1723E2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Grid Code Development / Optimus Syria</a:t>
            </a:r>
          </a:p>
        </p:txBody>
      </p:sp>
      <p:sp>
        <p:nvSpPr>
          <p:cNvPr id="13" name="Foliennummernplatzhalter 12">
            <a:extLst>
              <a:ext uri="{FF2B5EF4-FFF2-40B4-BE49-F238E27FC236}">
                <a16:creationId xmlns:a16="http://schemas.microsoft.com/office/drawing/2014/main" id="{67F2F56B-9E4F-A460-92A9-87055C42B8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545273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slide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748CB4A-E85F-FC1F-2439-52B071A98EB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lang="de-DE"/>
              <a:t>1. Title, </a:t>
            </a:r>
            <a:r>
              <a:rPr lang="de-DE" err="1"/>
              <a:t>example</a:t>
            </a:r>
            <a:r>
              <a:rPr lang="de-DE"/>
              <a:t>: Tasks </a:t>
            </a:r>
            <a:r>
              <a:rPr lang="de-DE" err="1"/>
              <a:t>of</a:t>
            </a:r>
            <a:r>
              <a:rPr lang="de-DE"/>
              <a:t> </a:t>
            </a:r>
            <a:r>
              <a:rPr lang="de-DE" err="1"/>
              <a:t>the</a:t>
            </a:r>
            <a:r>
              <a:rPr lang="de-DE"/>
              <a:t> </a:t>
            </a:r>
            <a:r>
              <a:rPr lang="de-DE" err="1"/>
              <a:t>week</a:t>
            </a:r>
            <a:r>
              <a:rPr lang="de-DE"/>
              <a:t>   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4216958-F611-9E4F-AA4F-56999F637A75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 err="1"/>
              <a:t>Abcd</a:t>
            </a:r>
            <a:r>
              <a:rPr lang="de-DE"/>
              <a:t> (</a:t>
            </a:r>
            <a:r>
              <a:rPr lang="de-DE" err="1"/>
              <a:t>Aptos</a:t>
            </a:r>
            <a:r>
              <a:rPr lang="de-DE"/>
              <a:t>, 22)</a:t>
            </a:r>
          </a:p>
          <a:p>
            <a:pPr marL="971550" marR="0" lvl="1" indent="-51435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+mj-lt"/>
              <a:buAutoNum type="romanLcPeriod"/>
              <a:tabLst/>
              <a:defRPr/>
            </a:pPr>
            <a:r>
              <a:rPr lang="de-DE" err="1"/>
              <a:t>efgh</a:t>
            </a:r>
            <a:r>
              <a:rPr lang="de-DE"/>
              <a:t> (</a:t>
            </a:r>
            <a:r>
              <a:rPr lang="de-DE" err="1"/>
              <a:t>Aptos</a:t>
            </a:r>
            <a:r>
              <a:rPr lang="de-DE"/>
              <a:t>, 20)</a:t>
            </a:r>
          </a:p>
          <a:p>
            <a:pPr lvl="1"/>
            <a:endParaRPr lang="de-DE"/>
          </a:p>
        </p:txBody>
      </p:sp>
      <p:cxnSp>
        <p:nvCxnSpPr>
          <p:cNvPr id="7" name="Straight Connector 5">
            <a:extLst>
              <a:ext uri="{FF2B5EF4-FFF2-40B4-BE49-F238E27FC236}">
                <a16:creationId xmlns:a16="http://schemas.microsoft.com/office/drawing/2014/main" id="{C5BF7EBE-3919-817C-149B-CF38705C6BC9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Isosceles Triangle 6">
            <a:extLst>
              <a:ext uri="{FF2B5EF4-FFF2-40B4-BE49-F238E27FC236}">
                <a16:creationId xmlns:a16="http://schemas.microsoft.com/office/drawing/2014/main" id="{3272B118-64EE-99BB-8728-CE26B185DCFC}"/>
              </a:ext>
            </a:extLst>
          </p:cNvPr>
          <p:cNvSpPr/>
          <p:nvPr userDrawn="1"/>
        </p:nvSpPr>
        <p:spPr>
          <a:xfrm>
            <a:off x="8353959" y="1690688"/>
            <a:ext cx="1546144" cy="1209996"/>
          </a:xfrm>
          <a:prstGeom prst="triangle">
            <a:avLst>
              <a:gd name="adj" fmla="val 50565"/>
            </a:avLst>
          </a:prstGeom>
          <a:ln w="571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CCA8528F-A469-ED70-E9CA-F25798C1A305}"/>
              </a:ext>
            </a:extLst>
          </p:cNvPr>
          <p:cNvSpPr/>
          <p:nvPr userDrawn="1"/>
        </p:nvSpPr>
        <p:spPr>
          <a:xfrm>
            <a:off x="2209800" y="3095720"/>
            <a:ext cx="3933255" cy="2327860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/>
              <a:t>Use [1], [2], [3] for </a:t>
            </a:r>
            <a:r>
              <a:rPr lang="it-IT" err="1"/>
              <a:t>everything</a:t>
            </a:r>
            <a:r>
              <a:rPr lang="it-IT"/>
              <a:t> </a:t>
            </a:r>
            <a:r>
              <a:rPr lang="it-IT" err="1"/>
              <a:t>you</a:t>
            </a:r>
            <a:r>
              <a:rPr lang="it-IT"/>
              <a:t> </a:t>
            </a:r>
            <a:r>
              <a:rPr lang="it-IT" err="1"/>
              <a:t>have</a:t>
            </a:r>
            <a:r>
              <a:rPr lang="it-IT"/>
              <a:t> from a source (</a:t>
            </a:r>
            <a:r>
              <a:rPr lang="it-IT" err="1"/>
              <a:t>numbers</a:t>
            </a:r>
            <a:r>
              <a:rPr lang="it-IT"/>
              <a:t> </a:t>
            </a:r>
            <a:r>
              <a:rPr lang="it-IT" err="1"/>
              <a:t>should</a:t>
            </a:r>
            <a:r>
              <a:rPr lang="it-IT"/>
              <a:t> be the </a:t>
            </a:r>
            <a:r>
              <a:rPr lang="it-IT" err="1"/>
              <a:t>same</a:t>
            </a:r>
            <a:r>
              <a:rPr lang="it-IT"/>
              <a:t> like in the </a:t>
            </a:r>
            <a:r>
              <a:rPr lang="it-IT" err="1"/>
              <a:t>bibliography</a:t>
            </a:r>
            <a:r>
              <a:rPr lang="it-IT"/>
              <a:t>) (</a:t>
            </a:r>
            <a:r>
              <a:rPr lang="it-IT" err="1"/>
              <a:t>incl</a:t>
            </a:r>
            <a:r>
              <a:rPr lang="it-IT"/>
              <a:t>. pictures / </a:t>
            </a:r>
            <a:r>
              <a:rPr lang="it-IT" err="1"/>
              <a:t>if</a:t>
            </a:r>
            <a:r>
              <a:rPr lang="it-IT"/>
              <a:t> </a:t>
            </a:r>
            <a:r>
              <a:rPr lang="it-IT" err="1"/>
              <a:t>you</a:t>
            </a:r>
            <a:r>
              <a:rPr lang="it-IT"/>
              <a:t> </a:t>
            </a:r>
            <a:r>
              <a:rPr lang="it-IT" err="1"/>
              <a:t>created</a:t>
            </a:r>
            <a:r>
              <a:rPr lang="it-IT"/>
              <a:t> </a:t>
            </a:r>
            <a:r>
              <a:rPr lang="it-IT" err="1"/>
              <a:t>them</a:t>
            </a:r>
            <a:r>
              <a:rPr lang="it-IT"/>
              <a:t> by </a:t>
            </a:r>
            <a:r>
              <a:rPr lang="it-IT" err="1"/>
              <a:t>your</a:t>
            </a:r>
            <a:r>
              <a:rPr lang="it-IT"/>
              <a:t> </a:t>
            </a:r>
            <a:r>
              <a:rPr lang="it-IT" err="1"/>
              <a:t>own</a:t>
            </a:r>
            <a:r>
              <a:rPr lang="it-IT"/>
              <a:t>, </a:t>
            </a:r>
            <a:r>
              <a:rPr lang="it-IT" err="1"/>
              <a:t>declare</a:t>
            </a:r>
            <a:r>
              <a:rPr lang="it-IT"/>
              <a:t> </a:t>
            </a:r>
            <a:r>
              <a:rPr lang="it-IT" err="1"/>
              <a:t>them</a:t>
            </a:r>
            <a:r>
              <a:rPr lang="it-IT"/>
              <a:t> </a:t>
            </a:r>
            <a:r>
              <a:rPr lang="it-IT" err="1"/>
              <a:t>as</a:t>
            </a:r>
            <a:r>
              <a:rPr lang="it-IT"/>
              <a:t> a </a:t>
            </a:r>
            <a:r>
              <a:rPr lang="it-IT" err="1"/>
              <a:t>thing</a:t>
            </a:r>
            <a:r>
              <a:rPr lang="it-IT"/>
              <a:t> </a:t>
            </a:r>
            <a:r>
              <a:rPr lang="it-IT" err="1"/>
              <a:t>you’ve</a:t>
            </a:r>
            <a:r>
              <a:rPr lang="it-IT"/>
              <a:t> </a:t>
            </a:r>
            <a:r>
              <a:rPr lang="it-IT" err="1"/>
              <a:t>done</a:t>
            </a:r>
            <a:r>
              <a:rPr lang="it-IT"/>
              <a:t> ) [Style </a:t>
            </a:r>
            <a:r>
              <a:rPr lang="it-IT" err="1"/>
              <a:t>Aptos</a:t>
            </a:r>
            <a:r>
              <a:rPr lang="it-IT"/>
              <a:t>/14]</a:t>
            </a:r>
            <a:endParaRPr lang="en-GB"/>
          </a:p>
        </p:txBody>
      </p:sp>
      <p:sp>
        <p:nvSpPr>
          <p:cNvPr id="10" name="Rectangle 11">
            <a:extLst>
              <a:ext uri="{FF2B5EF4-FFF2-40B4-BE49-F238E27FC236}">
                <a16:creationId xmlns:a16="http://schemas.microsoft.com/office/drawing/2014/main" id="{E1F8C099-06EF-7661-9A3C-60FE5CD4C5D5}"/>
              </a:ext>
            </a:extLst>
          </p:cNvPr>
          <p:cNvSpPr/>
          <p:nvPr userDrawn="1"/>
        </p:nvSpPr>
        <p:spPr>
          <a:xfrm>
            <a:off x="8862928" y="1838850"/>
            <a:ext cx="542886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GB" sz="7200" b="1" cap="none" spc="0">
                <a:ln w="0"/>
                <a:solidFill>
                  <a:schemeClr val="tx1"/>
                </a:solidFill>
              </a:rPr>
              <a:t>!</a:t>
            </a:r>
          </a:p>
        </p:txBody>
      </p:sp>
      <p:sp>
        <p:nvSpPr>
          <p:cNvPr id="11" name="Rectangle 7">
            <a:extLst>
              <a:ext uri="{FF2B5EF4-FFF2-40B4-BE49-F238E27FC236}">
                <a16:creationId xmlns:a16="http://schemas.microsoft.com/office/drawing/2014/main" id="{6E31FDF0-C963-BED4-C97E-FF9F67C07D21}"/>
              </a:ext>
            </a:extLst>
          </p:cNvPr>
          <p:cNvSpPr/>
          <p:nvPr userDrawn="1"/>
        </p:nvSpPr>
        <p:spPr>
          <a:xfrm>
            <a:off x="7312803" y="3084777"/>
            <a:ext cx="3933255" cy="2327860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err="1"/>
              <a:t>This</a:t>
            </a:r>
            <a:r>
              <a:rPr lang="it-IT"/>
              <a:t> </a:t>
            </a:r>
            <a:r>
              <a:rPr lang="it-IT" err="1"/>
              <a:t>is</a:t>
            </a:r>
            <a:r>
              <a:rPr lang="it-IT"/>
              <a:t> an </a:t>
            </a:r>
            <a:r>
              <a:rPr lang="it-IT" err="1"/>
              <a:t>example</a:t>
            </a:r>
            <a:r>
              <a:rPr lang="it-IT"/>
              <a:t> </a:t>
            </a:r>
            <a:r>
              <a:rPr lang="it-IT" b="1"/>
              <a:t>BUT</a:t>
            </a:r>
          </a:p>
          <a:p>
            <a:pPr algn="ctr"/>
            <a:r>
              <a:rPr lang="it-IT"/>
              <a:t>an </a:t>
            </a:r>
            <a:r>
              <a:rPr lang="it-IT" err="1"/>
              <a:t>intial</a:t>
            </a:r>
            <a:r>
              <a:rPr lang="it-IT"/>
              <a:t> slide with </a:t>
            </a:r>
            <a:r>
              <a:rPr lang="it-IT" err="1"/>
              <a:t>all</a:t>
            </a:r>
            <a:r>
              <a:rPr lang="it-IT"/>
              <a:t> the tasks </a:t>
            </a:r>
            <a:r>
              <a:rPr lang="it-IT" err="1"/>
              <a:t>completed</a:t>
            </a:r>
            <a:r>
              <a:rPr lang="it-IT"/>
              <a:t> for the week </a:t>
            </a:r>
            <a:r>
              <a:rPr lang="it-IT" err="1"/>
              <a:t>should</a:t>
            </a:r>
            <a:r>
              <a:rPr lang="it-IT"/>
              <a:t> </a:t>
            </a:r>
            <a:r>
              <a:rPr lang="it-IT" err="1"/>
              <a:t>always</a:t>
            </a:r>
            <a:r>
              <a:rPr lang="it-IT"/>
              <a:t> be </a:t>
            </a:r>
            <a:r>
              <a:rPr lang="it-IT" err="1"/>
              <a:t>included</a:t>
            </a:r>
            <a:br>
              <a:rPr lang="it-IT"/>
            </a:br>
            <a:r>
              <a:rPr lang="it-IT"/>
              <a:t>Use the </a:t>
            </a:r>
            <a:r>
              <a:rPr lang="it-IT" err="1"/>
              <a:t>same</a:t>
            </a:r>
            <a:r>
              <a:rPr lang="it-IT"/>
              <a:t> style, do </a:t>
            </a:r>
            <a:r>
              <a:rPr lang="it-IT" err="1"/>
              <a:t>not</a:t>
            </a:r>
            <a:r>
              <a:rPr lang="it-IT"/>
              <a:t> </a:t>
            </a:r>
            <a:r>
              <a:rPr lang="it-IT" err="1"/>
              <a:t>write</a:t>
            </a:r>
            <a:r>
              <a:rPr lang="it-IT"/>
              <a:t> more text </a:t>
            </a:r>
            <a:r>
              <a:rPr lang="it-IT" err="1"/>
              <a:t>than</a:t>
            </a:r>
            <a:r>
              <a:rPr lang="it-IT"/>
              <a:t> </a:t>
            </a:r>
            <a:r>
              <a:rPr lang="it-IT" err="1"/>
              <a:t>necessary</a:t>
            </a:r>
            <a:r>
              <a:rPr lang="it-IT"/>
              <a:t> (short, concise bullet points are </a:t>
            </a:r>
            <a:r>
              <a:rPr lang="it-IT" err="1"/>
              <a:t>often</a:t>
            </a:r>
            <a:r>
              <a:rPr lang="it-IT"/>
              <a:t> </a:t>
            </a:r>
            <a:r>
              <a:rPr lang="it-IT" err="1"/>
              <a:t>enough</a:t>
            </a:r>
            <a:r>
              <a:rPr lang="it-IT"/>
              <a:t>)</a:t>
            </a:r>
            <a:endParaRPr lang="en-GB"/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5BA9FE0F-4438-A90E-178E-370DFB88F067}"/>
              </a:ext>
            </a:extLst>
          </p:cNvPr>
          <p:cNvSpPr txBox="1"/>
          <p:nvPr userDrawn="1"/>
        </p:nvSpPr>
        <p:spPr>
          <a:xfrm>
            <a:off x="812800" y="6219031"/>
            <a:ext cx="21209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/>
              <a:t>[1], [2]….</a:t>
            </a:r>
          </a:p>
        </p:txBody>
      </p:sp>
      <p:cxnSp>
        <p:nvCxnSpPr>
          <p:cNvPr id="13" name="Straight Arrow Connector 21">
            <a:extLst>
              <a:ext uri="{FF2B5EF4-FFF2-40B4-BE49-F238E27FC236}">
                <a16:creationId xmlns:a16="http://schemas.microsoft.com/office/drawing/2014/main" id="{C9F1C9AE-6377-666B-8F06-CF0B8B317160}"/>
              </a:ext>
            </a:extLst>
          </p:cNvPr>
          <p:cNvCxnSpPr>
            <a:cxnSpLocks/>
          </p:cNvCxnSpPr>
          <p:nvPr userDrawn="1"/>
        </p:nvCxnSpPr>
        <p:spPr>
          <a:xfrm flipH="1">
            <a:off x="1502229" y="4898571"/>
            <a:ext cx="1487714" cy="131838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7">
            <a:extLst>
              <a:ext uri="{FF2B5EF4-FFF2-40B4-BE49-F238E27FC236}">
                <a16:creationId xmlns:a16="http://schemas.microsoft.com/office/drawing/2014/main" id="{8C56F642-24B4-9889-6DFF-DDDACEFB7E68}"/>
              </a:ext>
            </a:extLst>
          </p:cNvPr>
          <p:cNvSpPr/>
          <p:nvPr userDrawn="1"/>
        </p:nvSpPr>
        <p:spPr>
          <a:xfrm>
            <a:off x="5256400" y="1634301"/>
            <a:ext cx="2603270" cy="140451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err="1"/>
              <a:t>This</a:t>
            </a:r>
            <a:r>
              <a:rPr lang="it-IT"/>
              <a:t> slide </a:t>
            </a:r>
            <a:r>
              <a:rPr lang="it-IT" err="1"/>
              <a:t>is</a:t>
            </a:r>
            <a:r>
              <a:rPr lang="it-IT"/>
              <a:t> </a:t>
            </a:r>
            <a:r>
              <a:rPr lang="it-IT" err="1"/>
              <a:t>only</a:t>
            </a:r>
            <a:r>
              <a:rPr lang="it-IT"/>
              <a:t> for </a:t>
            </a:r>
            <a:r>
              <a:rPr lang="it-IT" err="1"/>
              <a:t>explanation</a:t>
            </a:r>
            <a:r>
              <a:rPr lang="it-IT"/>
              <a:t>, </a:t>
            </a:r>
            <a:r>
              <a:rPr lang="it-IT" err="1"/>
              <a:t>dont´t</a:t>
            </a:r>
            <a:r>
              <a:rPr lang="it-IT"/>
              <a:t> use </a:t>
            </a:r>
            <a:r>
              <a:rPr lang="it-IT" err="1"/>
              <a:t>it!</a:t>
            </a:r>
            <a:endParaRPr lang="en-GB"/>
          </a:p>
        </p:txBody>
      </p:sp>
      <p:sp>
        <p:nvSpPr>
          <p:cNvPr id="15" name="Datumsplatzhalter 14">
            <a:extLst>
              <a:ext uri="{FF2B5EF4-FFF2-40B4-BE49-F238E27FC236}">
                <a16:creationId xmlns:a16="http://schemas.microsoft.com/office/drawing/2014/main" id="{F5B6D5E1-3173-F7DB-AFEA-577613F3A0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24/11/2025</a:t>
            </a:fld>
            <a:endParaRPr lang="en-GB"/>
          </a:p>
        </p:txBody>
      </p:sp>
      <p:sp>
        <p:nvSpPr>
          <p:cNvPr id="17" name="Foliennummernplatzhalter 16">
            <a:extLst>
              <a:ext uri="{FF2B5EF4-FFF2-40B4-BE49-F238E27FC236}">
                <a16:creationId xmlns:a16="http://schemas.microsoft.com/office/drawing/2014/main" id="{DE013F6E-0CEE-85C3-4AD1-ADEED88F5D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‹Nr.›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A21482-13B3-7966-1561-2C8B2003D66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474613" y="6564113"/>
            <a:ext cx="28791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GB" err="1"/>
              <a:t>Griid</a:t>
            </a:r>
            <a:r>
              <a:rPr lang="en-GB"/>
              <a:t> Code Development / Optimus Syria</a:t>
            </a:r>
          </a:p>
        </p:txBody>
      </p:sp>
    </p:spTree>
    <p:extLst>
      <p:ext uri="{BB962C8B-B14F-4D97-AF65-F5344CB8AC3E}">
        <p14:creationId xmlns:p14="http://schemas.microsoft.com/office/powerpoint/2010/main" val="19303942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748CB4A-E85F-FC1F-2439-52B071A98EB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lang="de-DE"/>
              <a:t>1. Title, </a:t>
            </a:r>
            <a:r>
              <a:rPr lang="de-DE" err="1"/>
              <a:t>example</a:t>
            </a:r>
            <a:r>
              <a:rPr lang="de-DE"/>
              <a:t>: Tasks </a:t>
            </a:r>
            <a:r>
              <a:rPr lang="de-DE" err="1"/>
              <a:t>of</a:t>
            </a:r>
            <a:r>
              <a:rPr lang="de-DE"/>
              <a:t> </a:t>
            </a:r>
            <a:r>
              <a:rPr lang="de-DE" err="1"/>
              <a:t>the</a:t>
            </a:r>
            <a:r>
              <a:rPr lang="de-DE"/>
              <a:t> </a:t>
            </a:r>
            <a:r>
              <a:rPr lang="de-DE" err="1"/>
              <a:t>week</a:t>
            </a:r>
            <a:r>
              <a:rPr lang="de-DE"/>
              <a:t>   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4216958-F611-9E4F-AA4F-56999F637A75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 err="1"/>
              <a:t>Abcd</a:t>
            </a:r>
            <a:endParaRPr lang="de-DE"/>
          </a:p>
          <a:p>
            <a:pPr lvl="1"/>
            <a:r>
              <a:rPr lang="de-DE" err="1"/>
              <a:t>efgh</a:t>
            </a:r>
            <a:endParaRPr lang="de-DE"/>
          </a:p>
        </p:txBody>
      </p:sp>
      <p:cxnSp>
        <p:nvCxnSpPr>
          <p:cNvPr id="7" name="Straight Connector 5">
            <a:extLst>
              <a:ext uri="{FF2B5EF4-FFF2-40B4-BE49-F238E27FC236}">
                <a16:creationId xmlns:a16="http://schemas.microsoft.com/office/drawing/2014/main" id="{C5BF7EBE-3919-817C-149B-CF38705C6BC9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Datumsplatzhalter 8">
            <a:extLst>
              <a:ext uri="{FF2B5EF4-FFF2-40B4-BE49-F238E27FC236}">
                <a16:creationId xmlns:a16="http://schemas.microsoft.com/office/drawing/2014/main" id="{45BE17EA-55E6-D579-4D1F-7901F944C6AA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24/11/2025</a:t>
            </a:fld>
            <a:endParaRPr lang="en-GB"/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4879E7A9-C563-396E-C6B6-B45497D433BD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‹Nr.›</a:t>
            </a:fld>
            <a:endParaRPr lang="en-GB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9AB8CDF8-03C0-DF20-0ABC-80A78BDABFB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49023" y="6216958"/>
            <a:ext cx="2248453" cy="309850"/>
          </a:xfrm>
        </p:spPr>
        <p:txBody>
          <a:bodyPr/>
          <a:lstStyle>
            <a:lvl2pPr marL="457200" indent="0">
              <a:buNone/>
              <a:defRPr/>
            </a:lvl2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[1], [2]….</a:t>
            </a:r>
          </a:p>
          <a:p>
            <a:pPr lvl="1"/>
            <a:endParaRPr lang="en-GB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EF4671D2-6B89-9B90-5B1E-A013325B2C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474613" y="6564113"/>
            <a:ext cx="28791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GB" err="1"/>
              <a:t>Griid</a:t>
            </a:r>
            <a:r>
              <a:rPr lang="en-GB"/>
              <a:t> Code Development / Optimus Syria</a:t>
            </a:r>
          </a:p>
        </p:txBody>
      </p:sp>
    </p:spTree>
    <p:extLst>
      <p:ext uri="{BB962C8B-B14F-4D97-AF65-F5344CB8AC3E}">
        <p14:creationId xmlns:p14="http://schemas.microsoft.com/office/powerpoint/2010/main" val="21984351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item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748CB4A-E85F-FC1F-2439-52B071A98EB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lang="de-DE"/>
              <a:t>1-i. </a:t>
            </a:r>
            <a:r>
              <a:rPr lang="de-DE" err="1"/>
              <a:t>Example</a:t>
            </a:r>
            <a:r>
              <a:rPr lang="de-DE"/>
              <a:t>: </a:t>
            </a:r>
            <a:r>
              <a:rPr lang="de-DE" err="1"/>
              <a:t>Drawings</a:t>
            </a:r>
            <a:r>
              <a:rPr lang="de-DE"/>
              <a:t> </a:t>
            </a:r>
            <a:r>
              <a:rPr lang="de-DE" err="1"/>
              <a:t>from</a:t>
            </a:r>
            <a:r>
              <a:rPr lang="de-DE"/>
              <a:t> </a:t>
            </a:r>
            <a:r>
              <a:rPr lang="de-DE" err="1"/>
              <a:t>the</a:t>
            </a:r>
            <a:r>
              <a:rPr lang="de-DE"/>
              <a:t> </a:t>
            </a:r>
            <a:r>
              <a:rPr lang="de-DE" err="1"/>
              <a:t>week</a:t>
            </a:r>
            <a:endParaRPr lang="de-D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4216958-F611-9E4F-AA4F-56999F637A75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 err="1"/>
              <a:t>Abcd</a:t>
            </a:r>
            <a:r>
              <a:rPr lang="de-DE"/>
              <a:t> (</a:t>
            </a:r>
            <a:r>
              <a:rPr lang="de-DE" err="1"/>
              <a:t>Aptos</a:t>
            </a:r>
            <a:r>
              <a:rPr lang="de-DE"/>
              <a:t> 22)</a:t>
            </a:r>
          </a:p>
          <a:p>
            <a:pPr lvl="1"/>
            <a:r>
              <a:rPr lang="de-DE" err="1"/>
              <a:t>efgh</a:t>
            </a:r>
            <a:r>
              <a:rPr lang="de-DE"/>
              <a:t> (</a:t>
            </a:r>
            <a:r>
              <a:rPr lang="de-DE" err="1"/>
              <a:t>Aptos</a:t>
            </a:r>
            <a:r>
              <a:rPr lang="de-DE"/>
              <a:t> 20)</a:t>
            </a:r>
          </a:p>
        </p:txBody>
      </p:sp>
      <p:cxnSp>
        <p:nvCxnSpPr>
          <p:cNvPr id="7" name="Straight Connector 5">
            <a:extLst>
              <a:ext uri="{FF2B5EF4-FFF2-40B4-BE49-F238E27FC236}">
                <a16:creationId xmlns:a16="http://schemas.microsoft.com/office/drawing/2014/main" id="{C5BF7EBE-3919-817C-149B-CF38705C6BC9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Isosceles Triangle 6">
            <a:extLst>
              <a:ext uri="{FF2B5EF4-FFF2-40B4-BE49-F238E27FC236}">
                <a16:creationId xmlns:a16="http://schemas.microsoft.com/office/drawing/2014/main" id="{703A19AF-E449-D353-12E1-A3DAF32E3EAB}"/>
              </a:ext>
            </a:extLst>
          </p:cNvPr>
          <p:cNvSpPr/>
          <p:nvPr userDrawn="1"/>
        </p:nvSpPr>
        <p:spPr>
          <a:xfrm>
            <a:off x="5218873" y="2853022"/>
            <a:ext cx="1546144" cy="1209996"/>
          </a:xfrm>
          <a:prstGeom prst="triangle">
            <a:avLst>
              <a:gd name="adj" fmla="val 50565"/>
            </a:avLst>
          </a:prstGeom>
          <a:ln w="571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Rectangle 7">
            <a:extLst>
              <a:ext uri="{FF2B5EF4-FFF2-40B4-BE49-F238E27FC236}">
                <a16:creationId xmlns:a16="http://schemas.microsoft.com/office/drawing/2014/main" id="{650D751B-3D4C-8864-D7F4-6EC8348A31EE}"/>
              </a:ext>
            </a:extLst>
          </p:cNvPr>
          <p:cNvSpPr/>
          <p:nvPr userDrawn="1"/>
        </p:nvSpPr>
        <p:spPr>
          <a:xfrm>
            <a:off x="4025317" y="4094711"/>
            <a:ext cx="3933255" cy="1298198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err="1"/>
              <a:t>This</a:t>
            </a:r>
            <a:r>
              <a:rPr lang="it-IT"/>
              <a:t> </a:t>
            </a:r>
            <a:r>
              <a:rPr lang="it-IT" err="1"/>
              <a:t>is</a:t>
            </a:r>
            <a:r>
              <a:rPr lang="it-IT"/>
              <a:t> an </a:t>
            </a:r>
            <a:r>
              <a:rPr lang="it-IT" err="1"/>
              <a:t>example</a:t>
            </a:r>
            <a:r>
              <a:rPr lang="it-IT"/>
              <a:t> BUT </a:t>
            </a:r>
            <a:r>
              <a:rPr lang="it-IT" err="1"/>
              <a:t>if</a:t>
            </a:r>
            <a:r>
              <a:rPr lang="it-IT"/>
              <a:t> </a:t>
            </a:r>
            <a:r>
              <a:rPr lang="it-IT" err="1"/>
              <a:t>you</a:t>
            </a:r>
            <a:r>
              <a:rPr lang="it-IT"/>
              <a:t> use </a:t>
            </a:r>
            <a:r>
              <a:rPr lang="it-IT" err="1"/>
              <a:t>underpoints</a:t>
            </a:r>
            <a:r>
              <a:rPr lang="it-IT"/>
              <a:t> </a:t>
            </a:r>
            <a:r>
              <a:rPr lang="it-IT" err="1"/>
              <a:t>please</a:t>
            </a:r>
            <a:r>
              <a:rPr lang="it-IT"/>
              <a:t> with the i, ii, iii….</a:t>
            </a:r>
            <a:endParaRPr lang="en-GB"/>
          </a:p>
        </p:txBody>
      </p:sp>
      <p:sp>
        <p:nvSpPr>
          <p:cNvPr id="13" name="Rectangle 11">
            <a:extLst>
              <a:ext uri="{FF2B5EF4-FFF2-40B4-BE49-F238E27FC236}">
                <a16:creationId xmlns:a16="http://schemas.microsoft.com/office/drawing/2014/main" id="{9BDEC9EB-F30A-F42A-26C3-F9AE08765705}"/>
              </a:ext>
            </a:extLst>
          </p:cNvPr>
          <p:cNvSpPr/>
          <p:nvPr userDrawn="1"/>
        </p:nvSpPr>
        <p:spPr>
          <a:xfrm>
            <a:off x="5727842" y="3001184"/>
            <a:ext cx="542886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GB" sz="7200" b="1" cap="none" spc="0">
                <a:ln w="0"/>
                <a:solidFill>
                  <a:schemeClr val="tx1"/>
                </a:solidFill>
              </a:rPr>
              <a:t>!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54BA2A1-6BBA-CA7A-578A-6529C5AD3CFE}"/>
              </a:ext>
            </a:extLst>
          </p:cNvPr>
          <p:cNvSpPr/>
          <p:nvPr userDrawn="1"/>
        </p:nvSpPr>
        <p:spPr>
          <a:xfrm>
            <a:off x="927758" y="2796999"/>
            <a:ext cx="2603270" cy="140451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err="1"/>
              <a:t>This</a:t>
            </a:r>
            <a:r>
              <a:rPr lang="it-IT"/>
              <a:t> slide </a:t>
            </a:r>
            <a:r>
              <a:rPr lang="it-IT" err="1"/>
              <a:t>is</a:t>
            </a:r>
            <a:r>
              <a:rPr lang="it-IT"/>
              <a:t> </a:t>
            </a:r>
            <a:r>
              <a:rPr lang="it-IT" err="1"/>
              <a:t>only</a:t>
            </a:r>
            <a:r>
              <a:rPr lang="it-IT"/>
              <a:t> for </a:t>
            </a:r>
            <a:r>
              <a:rPr lang="it-IT" err="1"/>
              <a:t>explanation</a:t>
            </a:r>
            <a:r>
              <a:rPr lang="it-IT"/>
              <a:t>, </a:t>
            </a:r>
            <a:r>
              <a:rPr lang="it-IT" err="1"/>
              <a:t>dont´t</a:t>
            </a:r>
            <a:r>
              <a:rPr lang="it-IT"/>
              <a:t> use </a:t>
            </a:r>
            <a:r>
              <a:rPr lang="it-IT" err="1"/>
              <a:t>it!</a:t>
            </a:r>
            <a:endParaRPr lang="en-GB"/>
          </a:p>
        </p:txBody>
      </p:sp>
      <p:sp>
        <p:nvSpPr>
          <p:cNvPr id="9" name="Datumsplatzhalter 8">
            <a:extLst>
              <a:ext uri="{FF2B5EF4-FFF2-40B4-BE49-F238E27FC236}">
                <a16:creationId xmlns:a16="http://schemas.microsoft.com/office/drawing/2014/main" id="{19E5AF50-94A3-4308-3B68-BAD76E7A7B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24/11/2025</a:t>
            </a:fld>
            <a:endParaRPr lang="en-GB"/>
          </a:p>
        </p:txBody>
      </p:sp>
      <p:sp>
        <p:nvSpPr>
          <p:cNvPr id="14" name="Foliennummernplatzhalter 13">
            <a:extLst>
              <a:ext uri="{FF2B5EF4-FFF2-40B4-BE49-F238E27FC236}">
                <a16:creationId xmlns:a16="http://schemas.microsoft.com/office/drawing/2014/main" id="{5E6253E5-E305-7986-3017-8FAC6F34DD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‹Nr.›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E5E503-ABFD-2524-8ED8-4D081D587A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474613" y="6564113"/>
            <a:ext cx="28791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GB" err="1"/>
              <a:t>Griid</a:t>
            </a:r>
            <a:r>
              <a:rPr lang="en-GB"/>
              <a:t> Code Development / Optimus Syria</a:t>
            </a:r>
          </a:p>
        </p:txBody>
      </p:sp>
    </p:spTree>
    <p:extLst>
      <p:ext uri="{BB962C8B-B14F-4D97-AF65-F5344CB8AC3E}">
        <p14:creationId xmlns:p14="http://schemas.microsoft.com/office/powerpoint/2010/main" val="17732677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ubit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748CB4A-E85F-FC1F-2439-52B071A98EB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lang="de-DE"/>
              <a:t>1-i. </a:t>
            </a:r>
            <a:r>
              <a:rPr lang="de-DE" err="1"/>
              <a:t>Example</a:t>
            </a:r>
            <a:r>
              <a:rPr lang="de-DE"/>
              <a:t>: </a:t>
            </a:r>
            <a:r>
              <a:rPr lang="de-DE" err="1"/>
              <a:t>Drawings</a:t>
            </a:r>
            <a:r>
              <a:rPr lang="de-DE"/>
              <a:t> </a:t>
            </a:r>
            <a:r>
              <a:rPr lang="de-DE" err="1"/>
              <a:t>from</a:t>
            </a:r>
            <a:r>
              <a:rPr lang="de-DE"/>
              <a:t> </a:t>
            </a:r>
            <a:r>
              <a:rPr lang="de-DE" err="1"/>
              <a:t>the</a:t>
            </a:r>
            <a:r>
              <a:rPr lang="de-DE"/>
              <a:t> </a:t>
            </a:r>
            <a:r>
              <a:rPr lang="de-DE" err="1"/>
              <a:t>week</a:t>
            </a:r>
            <a:endParaRPr lang="de-D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4216958-F611-9E4F-AA4F-56999F637A75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 err="1"/>
              <a:t>Abcd</a:t>
            </a:r>
            <a:endParaRPr lang="de-DE"/>
          </a:p>
          <a:p>
            <a:pPr lvl="1"/>
            <a:r>
              <a:rPr lang="de-DE" err="1"/>
              <a:t>efgh</a:t>
            </a:r>
            <a:endParaRPr lang="de-DE"/>
          </a:p>
        </p:txBody>
      </p:sp>
      <p:cxnSp>
        <p:nvCxnSpPr>
          <p:cNvPr id="7" name="Straight Connector 5">
            <a:extLst>
              <a:ext uri="{FF2B5EF4-FFF2-40B4-BE49-F238E27FC236}">
                <a16:creationId xmlns:a16="http://schemas.microsoft.com/office/drawing/2014/main" id="{C5BF7EBE-3919-817C-149B-CF38705C6BC9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5228F91E-E7AD-B275-5A60-89428222DD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24/11/2025</a:t>
            </a:fld>
            <a:endParaRPr lang="en-GB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260D8F3F-3088-D685-66AD-D2110FD402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‹Nr.›</a:t>
            </a:fld>
            <a:endParaRPr lang="en-GB"/>
          </a:p>
        </p:txBody>
      </p:sp>
      <p:sp>
        <p:nvSpPr>
          <p:cNvPr id="4" name="Textplatzhalter 4">
            <a:extLst>
              <a:ext uri="{FF2B5EF4-FFF2-40B4-BE49-F238E27FC236}">
                <a16:creationId xmlns:a16="http://schemas.microsoft.com/office/drawing/2014/main" id="{9943038B-A8F9-48D6-0A29-94D4AA659F6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49023" y="6216958"/>
            <a:ext cx="2248453" cy="309850"/>
          </a:xfrm>
        </p:spPr>
        <p:txBody>
          <a:bodyPr/>
          <a:lstStyle>
            <a:lvl2pPr marL="457200" indent="0">
              <a:buNone/>
              <a:defRPr/>
            </a:lvl2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[1], [2]….</a:t>
            </a:r>
          </a:p>
          <a:p>
            <a:pPr lvl="1"/>
            <a:endParaRPr lang="en-GB"/>
          </a:p>
        </p:txBody>
      </p:sp>
      <p:sp>
        <p:nvSpPr>
          <p:cNvPr id="6" name="Textplatzhalter 16">
            <a:extLst>
              <a:ext uri="{FF2B5EF4-FFF2-40B4-BE49-F238E27FC236}">
                <a16:creationId xmlns:a16="http://schemas.microsoft.com/office/drawing/2014/main" id="{9E45A9B0-40B3-EFC2-CB05-B97B4898105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b="0" u="none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err="1"/>
              <a:t>Presented</a:t>
            </a:r>
            <a:r>
              <a:rPr lang="de-DE"/>
              <a:t> </a:t>
            </a:r>
            <a:r>
              <a:rPr lang="de-DE" err="1"/>
              <a:t>by</a:t>
            </a:r>
            <a:r>
              <a:rPr lang="de-DE"/>
              <a:t>: Josef Remberger / </a:t>
            </a:r>
            <a:r>
              <a:rPr lang="de-DE" sz="1200"/>
              <a:t>Vijay </a:t>
            </a:r>
            <a:r>
              <a:rPr lang="de-DE" sz="1200" err="1"/>
              <a:t>Simha</a:t>
            </a:r>
            <a:r>
              <a:rPr lang="de-DE" sz="1200"/>
              <a:t> Reddy </a:t>
            </a:r>
            <a:r>
              <a:rPr lang="de-DE" sz="1200" err="1"/>
              <a:t>Bogala</a:t>
            </a:r>
            <a:endParaRPr lang="de-DE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D94D06B6-F957-715C-C460-88CE66E112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474613" y="6564113"/>
            <a:ext cx="28791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GB" err="1"/>
              <a:t>Griid</a:t>
            </a:r>
            <a:r>
              <a:rPr lang="en-GB"/>
              <a:t> Code Development / Optimus Syria</a:t>
            </a:r>
          </a:p>
        </p:txBody>
      </p:sp>
    </p:spTree>
    <p:extLst>
      <p:ext uri="{BB962C8B-B14F-4D97-AF65-F5344CB8AC3E}">
        <p14:creationId xmlns:p14="http://schemas.microsoft.com/office/powerpoint/2010/main" val="19597331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 Slide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37C287-18A0-EB82-8A27-F94CA3880D0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/>
              <a:t>X. Graph</a:t>
            </a:r>
            <a:endParaRPr lang="en-GB"/>
          </a:p>
        </p:txBody>
      </p:sp>
      <p:pic>
        <p:nvPicPr>
          <p:cNvPr id="6" name="Picture 2" descr="How HOMER Calculates Wind Turbine Power Output">
            <a:extLst>
              <a:ext uri="{FF2B5EF4-FFF2-40B4-BE49-F238E27FC236}">
                <a16:creationId xmlns:a16="http://schemas.microsoft.com/office/drawing/2014/main" id="{002A61B1-6859-B9E0-5E8D-876C02B28C1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3724" y="1939999"/>
            <a:ext cx="5429250" cy="3067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2">
            <a:extLst>
              <a:ext uri="{FF2B5EF4-FFF2-40B4-BE49-F238E27FC236}">
                <a16:creationId xmlns:a16="http://schemas.microsoft.com/office/drawing/2014/main" id="{70DEEB4B-BB48-7BA1-DC37-D3F70525E158}"/>
              </a:ext>
            </a:extLst>
          </p:cNvPr>
          <p:cNvSpPr txBox="1"/>
          <p:nvPr userDrawn="1"/>
        </p:nvSpPr>
        <p:spPr>
          <a:xfrm>
            <a:off x="764619" y="5102669"/>
            <a:ext cx="5187461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100"/>
              <a:t>(</a:t>
            </a:r>
            <a:r>
              <a:rPr lang="it-IT" sz="1100" err="1"/>
              <a:t>Description</a:t>
            </a:r>
            <a:r>
              <a:rPr lang="it-IT" sz="1100"/>
              <a:t> of the </a:t>
            </a:r>
            <a:r>
              <a:rPr lang="it-IT" sz="1100" err="1"/>
              <a:t>graph</a:t>
            </a:r>
            <a:r>
              <a:rPr lang="it-IT" sz="1100"/>
              <a:t>, </a:t>
            </a:r>
            <a:r>
              <a:rPr lang="it-IT" sz="1100" err="1"/>
              <a:t>example</a:t>
            </a:r>
            <a:r>
              <a:rPr lang="it-IT" sz="1100"/>
              <a:t>: </a:t>
            </a:r>
            <a:r>
              <a:rPr lang="it-IT" sz="1100" i="1"/>
              <a:t>power curve power over wind speed</a:t>
            </a:r>
            <a:r>
              <a:rPr lang="it-IT" sz="1100"/>
              <a:t> )</a:t>
            </a:r>
          </a:p>
          <a:p>
            <a:r>
              <a:rPr lang="it-IT" sz="1100"/>
              <a:t>(</a:t>
            </a:r>
            <a:r>
              <a:rPr lang="it-IT" sz="1100" err="1"/>
              <a:t>Citation</a:t>
            </a:r>
            <a:r>
              <a:rPr lang="it-IT" sz="1100"/>
              <a:t> of the sources, </a:t>
            </a:r>
            <a:r>
              <a:rPr lang="it-IT" sz="1100" err="1"/>
              <a:t>example</a:t>
            </a:r>
            <a:r>
              <a:rPr lang="it-IT" sz="1100"/>
              <a:t>:</a:t>
            </a:r>
            <a:r>
              <a:rPr lang="it-IT" sz="1100" b="1"/>
              <a:t> </a:t>
            </a:r>
            <a:r>
              <a:rPr lang="it-IT" sz="1100" b="0"/>
              <a:t>[1] </a:t>
            </a:r>
            <a:r>
              <a:rPr lang="it-IT" sz="1100"/>
              <a:t>)  </a:t>
            </a:r>
          </a:p>
          <a:p>
            <a:r>
              <a:rPr lang="it-IT" sz="1100"/>
              <a:t>(Last date of access, </a:t>
            </a:r>
            <a:r>
              <a:rPr lang="it-IT" sz="1100" err="1"/>
              <a:t>example</a:t>
            </a:r>
            <a:r>
              <a:rPr lang="it-IT" sz="1100"/>
              <a:t>: 21/12/2015)</a:t>
            </a:r>
            <a:endParaRPr lang="en-GB" sz="1100"/>
          </a:p>
        </p:txBody>
      </p:sp>
      <p:cxnSp>
        <p:nvCxnSpPr>
          <p:cNvPr id="8" name="Connector: Elbow 6">
            <a:extLst>
              <a:ext uri="{FF2B5EF4-FFF2-40B4-BE49-F238E27FC236}">
                <a16:creationId xmlns:a16="http://schemas.microsoft.com/office/drawing/2014/main" id="{7A01EE56-12C5-DD96-C172-C145A0ED64CB}"/>
              </a:ext>
            </a:extLst>
          </p:cNvPr>
          <p:cNvCxnSpPr>
            <a:cxnSpLocks/>
          </p:cNvCxnSpPr>
          <p:nvPr userDrawn="1"/>
        </p:nvCxnSpPr>
        <p:spPr>
          <a:xfrm rot="10800000" flipV="1">
            <a:off x="3791371" y="4238699"/>
            <a:ext cx="4563205" cy="1222134"/>
          </a:xfrm>
          <a:prstGeom prst="bentConnector3">
            <a:avLst>
              <a:gd name="adj1" fmla="val 50000"/>
            </a:avLst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15">
            <a:extLst>
              <a:ext uri="{FF2B5EF4-FFF2-40B4-BE49-F238E27FC236}">
                <a16:creationId xmlns:a16="http://schemas.microsoft.com/office/drawing/2014/main" id="{EE3D1715-661B-80A0-F167-264ACC369A68}"/>
              </a:ext>
            </a:extLst>
          </p:cNvPr>
          <p:cNvSpPr/>
          <p:nvPr userDrawn="1"/>
        </p:nvSpPr>
        <p:spPr>
          <a:xfrm>
            <a:off x="7796637" y="3405202"/>
            <a:ext cx="3922209" cy="2011693"/>
          </a:xfrm>
          <a:prstGeom prst="ellips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sz="1400" err="1"/>
              <a:t>Add</a:t>
            </a:r>
            <a:r>
              <a:rPr lang="it-IT" sz="1400"/>
              <a:t> a link to the </a:t>
            </a:r>
            <a:r>
              <a:rPr lang="it-IT" sz="1400" err="1"/>
              <a:t>reference</a:t>
            </a:r>
            <a:r>
              <a:rPr lang="it-IT" sz="1400"/>
              <a:t> </a:t>
            </a:r>
            <a:r>
              <a:rPr lang="it-IT" sz="1400" err="1"/>
              <a:t>number</a:t>
            </a:r>
            <a:r>
              <a:rPr lang="it-IT" sz="1400"/>
              <a:t> </a:t>
            </a:r>
            <a:r>
              <a:rPr lang="it-IT" sz="1400" err="1"/>
              <a:t>that</a:t>
            </a:r>
            <a:r>
              <a:rPr lang="it-IT" sz="1400"/>
              <a:t> </a:t>
            </a:r>
            <a:r>
              <a:rPr lang="it-IT" sz="1400" err="1"/>
              <a:t>goes</a:t>
            </a:r>
            <a:r>
              <a:rPr lang="it-IT" sz="1400"/>
              <a:t> to the last slide: highlight the </a:t>
            </a:r>
            <a:r>
              <a:rPr lang="it-IT" sz="1400" err="1"/>
              <a:t>number</a:t>
            </a:r>
            <a:r>
              <a:rPr lang="it-IT" sz="1400"/>
              <a:t>-&gt;</a:t>
            </a:r>
            <a:r>
              <a:rPr lang="it-IT" sz="1400" err="1"/>
              <a:t>right</a:t>
            </a:r>
            <a:r>
              <a:rPr lang="it-IT" sz="1400"/>
              <a:t> click-&gt;</a:t>
            </a:r>
            <a:r>
              <a:rPr lang="it-IT" sz="1400" err="1"/>
              <a:t>select</a:t>
            </a:r>
            <a:r>
              <a:rPr lang="it-IT" sz="1400"/>
              <a:t> link-&gt;place in </a:t>
            </a:r>
            <a:r>
              <a:rPr lang="it-IT" sz="1400" err="1"/>
              <a:t>this</a:t>
            </a:r>
            <a:r>
              <a:rPr lang="it-IT" sz="1400"/>
              <a:t> </a:t>
            </a:r>
            <a:r>
              <a:rPr lang="it-IT" sz="1400" err="1"/>
              <a:t>document</a:t>
            </a:r>
            <a:r>
              <a:rPr lang="it-IT" sz="1400"/>
              <a:t>-&gt;</a:t>
            </a:r>
            <a:r>
              <a:rPr lang="it-IT" sz="1400" err="1"/>
              <a:t>select</a:t>
            </a:r>
            <a:r>
              <a:rPr lang="it-IT" sz="1400"/>
              <a:t> last slide</a:t>
            </a:r>
            <a:endParaRPr lang="en-GB" sz="1400"/>
          </a:p>
        </p:txBody>
      </p:sp>
      <p:cxnSp>
        <p:nvCxnSpPr>
          <p:cNvPr id="10" name="Straight Connector 5">
            <a:extLst>
              <a:ext uri="{FF2B5EF4-FFF2-40B4-BE49-F238E27FC236}">
                <a16:creationId xmlns:a16="http://schemas.microsoft.com/office/drawing/2014/main" id="{9CCD7462-E12C-CDA3-D609-4AB679728A2E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7">
            <a:extLst>
              <a:ext uri="{FF2B5EF4-FFF2-40B4-BE49-F238E27FC236}">
                <a16:creationId xmlns:a16="http://schemas.microsoft.com/office/drawing/2014/main" id="{A1188C36-D6CB-FA53-013E-FC56AD427952}"/>
              </a:ext>
            </a:extLst>
          </p:cNvPr>
          <p:cNvSpPr/>
          <p:nvPr userDrawn="1"/>
        </p:nvSpPr>
        <p:spPr>
          <a:xfrm>
            <a:off x="6495002" y="1875014"/>
            <a:ext cx="2603270" cy="140451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err="1"/>
              <a:t>This</a:t>
            </a:r>
            <a:r>
              <a:rPr lang="it-IT"/>
              <a:t> slide </a:t>
            </a:r>
            <a:r>
              <a:rPr lang="it-IT" err="1"/>
              <a:t>is</a:t>
            </a:r>
            <a:r>
              <a:rPr lang="it-IT"/>
              <a:t> </a:t>
            </a:r>
            <a:r>
              <a:rPr lang="it-IT" err="1"/>
              <a:t>only</a:t>
            </a:r>
            <a:r>
              <a:rPr lang="it-IT"/>
              <a:t> for </a:t>
            </a:r>
            <a:r>
              <a:rPr lang="it-IT" err="1"/>
              <a:t>explanation</a:t>
            </a:r>
            <a:r>
              <a:rPr lang="it-IT"/>
              <a:t>, </a:t>
            </a:r>
            <a:r>
              <a:rPr lang="it-IT" err="1"/>
              <a:t>dont´t</a:t>
            </a:r>
            <a:r>
              <a:rPr lang="it-IT"/>
              <a:t> use </a:t>
            </a:r>
            <a:r>
              <a:rPr lang="it-IT" err="1"/>
              <a:t>it!</a:t>
            </a:r>
            <a:endParaRPr lang="en-GB"/>
          </a:p>
        </p:txBody>
      </p:sp>
      <p:sp>
        <p:nvSpPr>
          <p:cNvPr id="12" name="Datumsplatzhalter 11">
            <a:extLst>
              <a:ext uri="{FF2B5EF4-FFF2-40B4-BE49-F238E27FC236}">
                <a16:creationId xmlns:a16="http://schemas.microsoft.com/office/drawing/2014/main" id="{749D4654-CB69-04EA-986A-2264B7AF43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24/11/2025</a:t>
            </a:fld>
            <a:endParaRPr lang="en-GB"/>
          </a:p>
        </p:txBody>
      </p:sp>
      <p:sp>
        <p:nvSpPr>
          <p:cNvPr id="14" name="Foliennummernplatzhalter 13">
            <a:extLst>
              <a:ext uri="{FF2B5EF4-FFF2-40B4-BE49-F238E27FC236}">
                <a16:creationId xmlns:a16="http://schemas.microsoft.com/office/drawing/2014/main" id="{A2A63292-0139-33E2-79E8-D1F485A4C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‹Nr.›</a:t>
            </a:fld>
            <a:endParaRPr lang="en-GB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F5722C0-AE44-1F16-8E78-87C36A4CA39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474613" y="6564113"/>
            <a:ext cx="28791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GB" err="1"/>
              <a:t>Griid</a:t>
            </a:r>
            <a:r>
              <a:rPr lang="en-GB"/>
              <a:t> Code Development / Optimus Syria</a:t>
            </a:r>
          </a:p>
        </p:txBody>
      </p:sp>
    </p:spTree>
    <p:extLst>
      <p:ext uri="{BB962C8B-B14F-4D97-AF65-F5344CB8AC3E}">
        <p14:creationId xmlns:p14="http://schemas.microsoft.com/office/powerpoint/2010/main" val="2864848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37C287-18A0-EB82-8A27-F94CA3880D0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/>
              <a:t>X. Graph</a:t>
            </a:r>
            <a:endParaRPr lang="en-GB"/>
          </a:p>
        </p:txBody>
      </p:sp>
      <p:pic>
        <p:nvPicPr>
          <p:cNvPr id="6" name="Picture 2" descr="How HOMER Calculates Wind Turbine Power Output">
            <a:extLst>
              <a:ext uri="{FF2B5EF4-FFF2-40B4-BE49-F238E27FC236}">
                <a16:creationId xmlns:a16="http://schemas.microsoft.com/office/drawing/2014/main" id="{002A61B1-6859-B9E0-5E8D-876C02B28C1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3724" y="1939999"/>
            <a:ext cx="5429250" cy="3067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2">
            <a:extLst>
              <a:ext uri="{FF2B5EF4-FFF2-40B4-BE49-F238E27FC236}">
                <a16:creationId xmlns:a16="http://schemas.microsoft.com/office/drawing/2014/main" id="{70DEEB4B-BB48-7BA1-DC37-D3F70525E158}"/>
              </a:ext>
            </a:extLst>
          </p:cNvPr>
          <p:cNvSpPr txBox="1"/>
          <p:nvPr userDrawn="1"/>
        </p:nvSpPr>
        <p:spPr>
          <a:xfrm>
            <a:off x="764619" y="5102669"/>
            <a:ext cx="5187461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100"/>
              <a:t>(</a:t>
            </a:r>
            <a:r>
              <a:rPr lang="it-IT" sz="1100" err="1"/>
              <a:t>Description</a:t>
            </a:r>
            <a:r>
              <a:rPr lang="it-IT" sz="1100"/>
              <a:t> of the </a:t>
            </a:r>
            <a:r>
              <a:rPr lang="it-IT" sz="1100" err="1"/>
              <a:t>graph</a:t>
            </a:r>
            <a:r>
              <a:rPr lang="it-IT" sz="1100"/>
              <a:t>, </a:t>
            </a:r>
            <a:r>
              <a:rPr lang="it-IT" sz="1100" err="1"/>
              <a:t>example</a:t>
            </a:r>
            <a:r>
              <a:rPr lang="it-IT" sz="1100"/>
              <a:t>: </a:t>
            </a:r>
            <a:r>
              <a:rPr lang="it-IT" sz="1100" i="1"/>
              <a:t>power curve power over wind speed</a:t>
            </a:r>
            <a:r>
              <a:rPr lang="it-IT" sz="1100"/>
              <a:t> )</a:t>
            </a:r>
          </a:p>
          <a:p>
            <a:r>
              <a:rPr lang="it-IT" sz="1100"/>
              <a:t>(</a:t>
            </a:r>
            <a:r>
              <a:rPr lang="it-IT" sz="1100" err="1"/>
              <a:t>Citation</a:t>
            </a:r>
            <a:r>
              <a:rPr lang="it-IT" sz="1100"/>
              <a:t> of the sources, </a:t>
            </a:r>
            <a:r>
              <a:rPr lang="it-IT" sz="1100" err="1"/>
              <a:t>example</a:t>
            </a:r>
            <a:r>
              <a:rPr lang="it-IT" sz="1100"/>
              <a:t>:</a:t>
            </a:r>
            <a:r>
              <a:rPr lang="it-IT" sz="1100" b="1"/>
              <a:t> </a:t>
            </a:r>
            <a:r>
              <a:rPr lang="it-IT" sz="1100" b="0"/>
              <a:t>[1] </a:t>
            </a:r>
            <a:r>
              <a:rPr lang="it-IT" sz="1100"/>
              <a:t>)  </a:t>
            </a:r>
          </a:p>
          <a:p>
            <a:r>
              <a:rPr lang="it-IT" sz="1100"/>
              <a:t>(Last date of access, </a:t>
            </a:r>
            <a:r>
              <a:rPr lang="it-IT" sz="1100" err="1"/>
              <a:t>example</a:t>
            </a:r>
            <a:r>
              <a:rPr lang="it-IT" sz="1100"/>
              <a:t>: 21/12/2015)</a:t>
            </a:r>
            <a:endParaRPr lang="en-GB" sz="1100"/>
          </a:p>
        </p:txBody>
      </p:sp>
      <p:cxnSp>
        <p:nvCxnSpPr>
          <p:cNvPr id="10" name="Straight Connector 5">
            <a:extLst>
              <a:ext uri="{FF2B5EF4-FFF2-40B4-BE49-F238E27FC236}">
                <a16:creationId xmlns:a16="http://schemas.microsoft.com/office/drawing/2014/main" id="{9CCD7462-E12C-CDA3-D609-4AB679728A2E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98D8651D-3525-44E9-EF74-5AE1C96E2B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24/11/2025</a:t>
            </a:fld>
            <a:endParaRPr lang="en-GB"/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722F58FF-5AD5-CF97-4FEE-FB1F38CD9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‹Nr.›</a:t>
            </a:fld>
            <a:endParaRPr lang="en-GB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17912943-580F-7AC8-E0BF-45D08A6BEB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474613" y="6564113"/>
            <a:ext cx="28791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GB" err="1"/>
              <a:t>Griid</a:t>
            </a:r>
            <a:r>
              <a:rPr lang="en-GB"/>
              <a:t> Code Development / Optimus Syria</a:t>
            </a:r>
          </a:p>
        </p:txBody>
      </p:sp>
    </p:spTree>
    <p:extLst>
      <p:ext uri="{BB962C8B-B14F-4D97-AF65-F5344CB8AC3E}">
        <p14:creationId xmlns:p14="http://schemas.microsoft.com/office/powerpoint/2010/main" val="2410721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bliography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993033-AA4A-D955-AE39-E7F2A40C8A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err="1"/>
              <a:t>Bibliography</a:t>
            </a:r>
            <a:r>
              <a:rPr lang="de-DE"/>
              <a:t> – </a:t>
            </a:r>
            <a:r>
              <a:rPr lang="de-DE" err="1"/>
              <a:t>team</a:t>
            </a:r>
            <a:r>
              <a:rPr lang="de-DE"/>
              <a:t> </a:t>
            </a:r>
            <a:r>
              <a:rPr lang="de-DE" err="1"/>
              <a:t>name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38BDBB-4827-8B89-3EE0-5A3DD22172FC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>
            <a:normAutofit/>
          </a:bodyPr>
          <a:lstStyle>
            <a:lvl1pPr marL="0" indent="0">
              <a:buNone/>
              <a:defRPr sz="160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it-IT"/>
              <a:t>[1] </a:t>
            </a:r>
            <a:r>
              <a:rPr lang="en-GB"/>
              <a:t>“How HOMER Calculates Wind Turbine Power Output,” </a:t>
            </a:r>
            <a:r>
              <a:rPr lang="en-GB" i="1"/>
              <a:t>Homerenergy.com</a:t>
            </a:r>
            <a:r>
              <a:rPr lang="en-GB"/>
              <a:t>, 2017. https://www.homerenergy.com/products/pro/docs/3.15/how_homer_calculates_wind_turbine_power_output.html (accessed Aug. 25, 2025).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[2] …..</a:t>
            </a:r>
            <a:endParaRPr lang="it-IT"/>
          </a:p>
          <a:p>
            <a:pPr lvl="0"/>
            <a:endParaRPr lang="de-DE"/>
          </a:p>
        </p:txBody>
      </p:sp>
      <p:cxnSp>
        <p:nvCxnSpPr>
          <p:cNvPr id="6" name="Straight Arrow Connector 21">
            <a:extLst>
              <a:ext uri="{FF2B5EF4-FFF2-40B4-BE49-F238E27FC236}">
                <a16:creationId xmlns:a16="http://schemas.microsoft.com/office/drawing/2014/main" id="{9B5BA113-ABD0-9B33-1E2F-5863B083FE29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4994031" y="2734408"/>
            <a:ext cx="1245576" cy="183759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22">
            <a:extLst>
              <a:ext uri="{FF2B5EF4-FFF2-40B4-BE49-F238E27FC236}">
                <a16:creationId xmlns:a16="http://schemas.microsoft.com/office/drawing/2014/main" id="{59531AAE-8AA3-6039-F69E-EDD1AF57C810}"/>
              </a:ext>
            </a:extLst>
          </p:cNvPr>
          <p:cNvSpPr/>
          <p:nvPr userDrawn="1"/>
        </p:nvSpPr>
        <p:spPr>
          <a:xfrm>
            <a:off x="4475285" y="4572000"/>
            <a:ext cx="5969977" cy="167786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/>
              <a:t>The style </a:t>
            </a:r>
            <a:r>
              <a:rPr lang="it-IT" err="1"/>
              <a:t>chosen</a:t>
            </a:r>
            <a:r>
              <a:rPr lang="it-IT"/>
              <a:t> for </a:t>
            </a:r>
            <a:r>
              <a:rPr lang="it-IT" err="1"/>
              <a:t>citation</a:t>
            </a:r>
            <a:r>
              <a:rPr lang="it-IT"/>
              <a:t> </a:t>
            </a:r>
            <a:r>
              <a:rPr lang="it-IT" err="1"/>
              <a:t>is</a:t>
            </a:r>
            <a:r>
              <a:rPr lang="it-IT"/>
              <a:t> IEEE, so </a:t>
            </a:r>
            <a:r>
              <a:rPr lang="it-IT" err="1"/>
              <a:t>if</a:t>
            </a:r>
            <a:r>
              <a:rPr lang="it-IT"/>
              <a:t> </a:t>
            </a:r>
            <a:r>
              <a:rPr lang="it-IT" err="1"/>
              <a:t>you</a:t>
            </a:r>
            <a:r>
              <a:rPr lang="it-IT"/>
              <a:t> </a:t>
            </a:r>
            <a:r>
              <a:rPr lang="it-IT" err="1"/>
              <a:t>want</a:t>
            </a:r>
            <a:r>
              <a:rPr lang="it-IT"/>
              <a:t> to create </a:t>
            </a:r>
            <a:r>
              <a:rPr lang="it-IT" err="1"/>
              <a:t>your</a:t>
            </a:r>
            <a:r>
              <a:rPr lang="it-IT"/>
              <a:t> </a:t>
            </a:r>
            <a:r>
              <a:rPr lang="it-IT" err="1"/>
              <a:t>citation</a:t>
            </a:r>
            <a:r>
              <a:rPr lang="it-IT"/>
              <a:t> follow </a:t>
            </a:r>
            <a:r>
              <a:rPr lang="it-IT" err="1"/>
              <a:t>that</a:t>
            </a:r>
            <a:r>
              <a:rPr lang="it-IT"/>
              <a:t> style. </a:t>
            </a:r>
            <a:r>
              <a:rPr lang="it-IT" err="1"/>
              <a:t>If</a:t>
            </a:r>
            <a:r>
              <a:rPr lang="it-IT"/>
              <a:t> </a:t>
            </a:r>
            <a:r>
              <a:rPr lang="it-IT" err="1"/>
              <a:t>you</a:t>
            </a:r>
            <a:r>
              <a:rPr lang="it-IT"/>
              <a:t> </a:t>
            </a:r>
            <a:r>
              <a:rPr lang="it-IT" err="1"/>
              <a:t>want</a:t>
            </a:r>
            <a:r>
              <a:rPr lang="it-IT"/>
              <a:t> to create an IEEE </a:t>
            </a:r>
            <a:r>
              <a:rPr lang="it-IT" err="1"/>
              <a:t>citation</a:t>
            </a:r>
            <a:r>
              <a:rPr lang="it-IT"/>
              <a:t> from a website, </a:t>
            </a:r>
            <a:r>
              <a:rPr lang="it-IT" err="1"/>
              <a:t>you</a:t>
            </a:r>
            <a:r>
              <a:rPr lang="it-IT"/>
              <a:t> can use some free </a:t>
            </a:r>
            <a:r>
              <a:rPr lang="it-IT" err="1"/>
              <a:t>converters</a:t>
            </a:r>
            <a:r>
              <a:rPr lang="it-IT"/>
              <a:t> </a:t>
            </a:r>
            <a:r>
              <a:rPr lang="it-IT" err="1"/>
              <a:t>available</a:t>
            </a:r>
            <a:r>
              <a:rPr lang="it-IT"/>
              <a:t> on the internet, like:</a:t>
            </a:r>
          </a:p>
          <a:p>
            <a:pPr algn="ctr"/>
            <a:r>
              <a:rPr lang="en-GB" b="1">
                <a:hlinkClick r:id="rId2"/>
              </a:rPr>
              <a:t>https://www.mybib.com/tools/ieee-citation-generator</a:t>
            </a:r>
            <a:r>
              <a:rPr lang="en-GB" b="1"/>
              <a:t> </a:t>
            </a:r>
          </a:p>
        </p:txBody>
      </p:sp>
      <p:cxnSp>
        <p:nvCxnSpPr>
          <p:cNvPr id="4" name="Straight Connector 5">
            <a:extLst>
              <a:ext uri="{FF2B5EF4-FFF2-40B4-BE49-F238E27FC236}">
                <a16:creationId xmlns:a16="http://schemas.microsoft.com/office/drawing/2014/main" id="{7CC2DA80-2404-1A96-924E-A52A1DBAA341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7">
            <a:extLst>
              <a:ext uri="{FF2B5EF4-FFF2-40B4-BE49-F238E27FC236}">
                <a16:creationId xmlns:a16="http://schemas.microsoft.com/office/drawing/2014/main" id="{226F6F8F-D65D-4B43-5785-E89E617F8616}"/>
              </a:ext>
            </a:extLst>
          </p:cNvPr>
          <p:cNvSpPr/>
          <p:nvPr userDrawn="1"/>
        </p:nvSpPr>
        <p:spPr>
          <a:xfrm>
            <a:off x="908165" y="3299037"/>
            <a:ext cx="2603270" cy="140451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err="1"/>
              <a:t>This</a:t>
            </a:r>
            <a:r>
              <a:rPr lang="it-IT"/>
              <a:t> slide </a:t>
            </a:r>
            <a:r>
              <a:rPr lang="it-IT" err="1"/>
              <a:t>is</a:t>
            </a:r>
            <a:r>
              <a:rPr lang="it-IT"/>
              <a:t> </a:t>
            </a:r>
            <a:r>
              <a:rPr lang="it-IT" err="1"/>
              <a:t>only</a:t>
            </a:r>
            <a:r>
              <a:rPr lang="it-IT"/>
              <a:t> for </a:t>
            </a:r>
            <a:r>
              <a:rPr lang="it-IT" err="1"/>
              <a:t>explanation</a:t>
            </a:r>
            <a:r>
              <a:rPr lang="it-IT"/>
              <a:t>, </a:t>
            </a:r>
            <a:r>
              <a:rPr lang="it-IT" err="1"/>
              <a:t>dont´t</a:t>
            </a:r>
            <a:r>
              <a:rPr lang="it-IT"/>
              <a:t> use </a:t>
            </a:r>
            <a:r>
              <a:rPr lang="it-IT" err="1"/>
              <a:t>it!</a:t>
            </a:r>
            <a:endParaRPr lang="en-GB"/>
          </a:p>
        </p:txBody>
      </p:sp>
      <p:sp>
        <p:nvSpPr>
          <p:cNvPr id="11" name="Datumsplatzhalter 10">
            <a:extLst>
              <a:ext uri="{FF2B5EF4-FFF2-40B4-BE49-F238E27FC236}">
                <a16:creationId xmlns:a16="http://schemas.microsoft.com/office/drawing/2014/main" id="{376AEEC7-3E6C-8FE6-7104-34FC937946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24/11/2025</a:t>
            </a:fld>
            <a:endParaRPr lang="en-GB"/>
          </a:p>
        </p:txBody>
      </p:sp>
      <p:sp>
        <p:nvSpPr>
          <p:cNvPr id="13" name="Foliennummernplatzhalter 12">
            <a:extLst>
              <a:ext uri="{FF2B5EF4-FFF2-40B4-BE49-F238E27FC236}">
                <a16:creationId xmlns:a16="http://schemas.microsoft.com/office/drawing/2014/main" id="{44A0136B-0337-50A8-941C-6DC048DC68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‹Nr.›</a:t>
            </a:fld>
            <a:endParaRPr lang="en-GB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2EFB681C-08C7-CC13-3F14-D6E37E4D31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474613" y="6564113"/>
            <a:ext cx="28791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GB" err="1"/>
              <a:t>Griid</a:t>
            </a:r>
            <a:r>
              <a:rPr lang="en-GB"/>
              <a:t> Code Development / Optimus Syria</a:t>
            </a:r>
          </a:p>
        </p:txBody>
      </p:sp>
    </p:spTree>
    <p:extLst>
      <p:ext uri="{BB962C8B-B14F-4D97-AF65-F5344CB8AC3E}">
        <p14:creationId xmlns:p14="http://schemas.microsoft.com/office/powerpoint/2010/main" val="20964396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ibliograp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993033-AA4A-D955-AE39-E7F2A40C8A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err="1"/>
              <a:t>Bibliography</a:t>
            </a:r>
            <a:r>
              <a:rPr lang="de-DE"/>
              <a:t> – </a:t>
            </a:r>
            <a:r>
              <a:rPr lang="de-DE" err="1"/>
              <a:t>team</a:t>
            </a:r>
            <a:r>
              <a:rPr lang="de-DE"/>
              <a:t> </a:t>
            </a:r>
            <a:r>
              <a:rPr lang="de-DE" err="1"/>
              <a:t>name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38BDBB-4827-8B89-3EE0-5A3DD22172FC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>
            <a:normAutofit/>
          </a:bodyPr>
          <a:lstStyle>
            <a:lvl1pPr marL="0" indent="0">
              <a:buNone/>
              <a:defRPr sz="160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it-IT"/>
              <a:t>[1] </a:t>
            </a:r>
            <a:r>
              <a:rPr lang="en-GB"/>
              <a:t>“How HOMER Calculates Wind Turbine Power Output,” </a:t>
            </a:r>
            <a:r>
              <a:rPr lang="en-GB" i="1"/>
              <a:t>Homerenergy.com</a:t>
            </a:r>
            <a:r>
              <a:rPr lang="en-GB"/>
              <a:t>, 2017. https://www.homerenergy.com/products/pro/docs/3.15/how_homer_calculates_wind_turbine_power_output.html (accessed Aug. 25, 2025).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[2] …..</a:t>
            </a:r>
            <a:endParaRPr lang="it-IT"/>
          </a:p>
          <a:p>
            <a:pPr lvl="0"/>
            <a:endParaRPr lang="de-DE"/>
          </a:p>
        </p:txBody>
      </p:sp>
      <p:cxnSp>
        <p:nvCxnSpPr>
          <p:cNvPr id="4" name="Straight Connector 5">
            <a:extLst>
              <a:ext uri="{FF2B5EF4-FFF2-40B4-BE49-F238E27FC236}">
                <a16:creationId xmlns:a16="http://schemas.microsoft.com/office/drawing/2014/main" id="{7CC2DA80-2404-1A96-924E-A52A1DBAA341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79BDC2AF-40F8-8529-16FE-AE51A8BD44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24/11/2025</a:t>
            </a:fld>
            <a:endParaRPr lang="en-GB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7595A811-7A18-1583-7B9C-87A7CBB7F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‹Nr.›</a:t>
            </a:fld>
            <a:endParaRPr lang="en-GB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4D9DCA57-DD06-AC71-BA63-5EEB271001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474613" y="6564113"/>
            <a:ext cx="28791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GB" err="1"/>
              <a:t>Griid</a:t>
            </a:r>
            <a:r>
              <a:rPr lang="en-GB"/>
              <a:t> Code Development / Optimus Syria</a:t>
            </a:r>
          </a:p>
        </p:txBody>
      </p:sp>
    </p:spTree>
    <p:extLst>
      <p:ext uri="{BB962C8B-B14F-4D97-AF65-F5344CB8AC3E}">
        <p14:creationId xmlns:p14="http://schemas.microsoft.com/office/powerpoint/2010/main" val="12232809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013920-E451-6E8D-B0CB-C3FB9C0F70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7CFBA5-B73E-6B89-322D-7C32A35A12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BF8199-371A-141A-1CD7-D551EEEFDF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16092FF3-E2C2-B5C5-579F-21F140EB3A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24/11/2025</a:t>
            </a:fld>
            <a:endParaRPr lang="en-GB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E1BD0BA0-666C-E532-C68B-11386947BA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‹Nr.›</a:t>
            </a:fld>
            <a:endParaRPr lang="en-GB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3C3F959-2B9D-9EB1-44CA-0009FEF3A4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474613" y="6564113"/>
            <a:ext cx="28791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GB" err="1"/>
              <a:t>Griid</a:t>
            </a:r>
            <a:r>
              <a:rPr lang="en-GB"/>
              <a:t> Code Development / Optimus Syria</a:t>
            </a:r>
          </a:p>
        </p:txBody>
      </p:sp>
    </p:spTree>
    <p:extLst>
      <p:ext uri="{BB962C8B-B14F-4D97-AF65-F5344CB8AC3E}">
        <p14:creationId xmlns:p14="http://schemas.microsoft.com/office/powerpoint/2010/main" val="4423501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5BF7B7-87CF-1A3E-E33E-44DC6E0152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B21B8D-C5F5-5242-4069-B1546B4BC0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4D26CD-98BD-17E2-BE55-DBB74BBC64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3B8D60-279E-D76A-9222-12B704BAEB3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A1AF34B-F683-41AD-C71C-8E8C66CC4CC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10" name="Datumsplatzhalter 9">
            <a:extLst>
              <a:ext uri="{FF2B5EF4-FFF2-40B4-BE49-F238E27FC236}">
                <a16:creationId xmlns:a16="http://schemas.microsoft.com/office/drawing/2014/main" id="{4EB4231A-B976-E0CE-75F3-D34A6911E2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24/11/2025</a:t>
            </a:fld>
            <a:endParaRPr lang="en-GB"/>
          </a:p>
        </p:txBody>
      </p:sp>
      <p:sp>
        <p:nvSpPr>
          <p:cNvPr id="11" name="Fußzeilenplatzhalter 10">
            <a:extLst>
              <a:ext uri="{FF2B5EF4-FFF2-40B4-BE49-F238E27FC236}">
                <a16:creationId xmlns:a16="http://schemas.microsoft.com/office/drawing/2014/main" id="{2E601F58-36C8-D2D9-A619-7EE495853C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</a:p>
        </p:txBody>
      </p:sp>
      <p:sp>
        <p:nvSpPr>
          <p:cNvPr id="12" name="Foliennummernplatzhalter 11">
            <a:extLst>
              <a:ext uri="{FF2B5EF4-FFF2-40B4-BE49-F238E27FC236}">
                <a16:creationId xmlns:a16="http://schemas.microsoft.com/office/drawing/2014/main" id="{EBFB4D11-F600-12A5-E5C2-DCA390332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78975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AA9CAB1E-C3D8-B43B-64D5-963D13F3D8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24/11/2025</a:t>
            </a:fld>
            <a:endParaRPr lang="en-GB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3B3E84C0-2A5E-8136-84E3-1F57CD264A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79EE80A-8782-7800-16FF-963D026BC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3700991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94D20E-7D43-D4CD-1058-46300B8EE4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B6584A-B476-0EA1-C12B-07C273F70E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694232-1597-B186-D108-397BCF214D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63342531-5FA3-5F71-CEB1-CFCD86F170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24/11/2025</a:t>
            </a:fld>
            <a:endParaRPr lang="en-GB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0D108632-F456-C23D-6809-CF44E36A52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14F6375C-67FA-9BF2-A821-A5611C211C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4655915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E2DC87-27CE-5A07-9629-719DC91DE4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F65E744-3606-1D16-E7B2-58DAFC3E88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/>
              <a:t>Bild durch Klicken auf Symbol hinzufügen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A9C703-BF20-85AF-358A-01ADED33CF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0DAC50BC-A24B-779F-0533-7A27D611B1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24/11/2025</a:t>
            </a:fld>
            <a:endParaRPr lang="en-GB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2B06DBDC-0EA1-59AB-DB5D-AEE297E618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3EB43FC5-BB47-1A87-75C6-C0AFB5C723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26135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F44B09-72C5-4D15-0E4C-46764EB8C8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B470E9-1D3C-D5B3-7A54-66BD900997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0C34C088-08EA-3896-8F05-16D82C5114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24/11/2025</a:t>
            </a:fld>
            <a:endParaRPr lang="en-GB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08EA7E74-7B1F-8648-209E-BFE07FF1E4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62B97D1D-1741-1791-CBA3-FA5CA67CA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6871133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368A110-A33F-744D-89CB-FFCF49E08A8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DB6FACB-31E5-361F-D71D-18FCBA5503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05945ED5-EBD1-3567-F959-B92E831E51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24/11/2025</a:t>
            </a:fld>
            <a:endParaRPr lang="en-GB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CBB6A4D0-1BA6-C02F-BE18-391B96E98D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9412E4BF-484F-C87E-8228-534B62A6BC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7018986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st of team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8B5CAFF-79AF-87AE-7EAE-604CC93E76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458857" y="1978025"/>
            <a:ext cx="4894943" cy="4351338"/>
          </a:xfrm>
        </p:spPr>
        <p:txBody>
          <a:bodyPr>
            <a:normAutofit/>
          </a:bodyPr>
          <a:lstStyle>
            <a:lvl1pPr marL="514350" indent="-514350">
              <a:buFont typeface="+mj-lt"/>
              <a:buAutoNum type="arabicPeriod"/>
              <a:defRPr sz="2200"/>
            </a:lvl1pPr>
            <a:lvl2pPr marL="457200" indent="0">
              <a:buFont typeface="Arial" panose="020B0604020202020204" pitchFamily="34" charset="0"/>
              <a:buNone/>
              <a:defRPr sz="2200"/>
            </a:lvl2pPr>
          </a:lstStyle>
          <a:p>
            <a:pPr lvl="1"/>
            <a:r>
              <a:rPr lang="de-DE"/>
              <a:t>12. </a:t>
            </a:r>
            <a:r>
              <a:rPr lang="de-DE" err="1"/>
              <a:t>Machine</a:t>
            </a:r>
            <a:r>
              <a:rPr lang="de-DE"/>
              <a:t> </a:t>
            </a:r>
            <a:r>
              <a:rPr lang="de-DE" err="1"/>
              <a:t>Bed</a:t>
            </a:r>
            <a:r>
              <a:rPr lang="de-DE"/>
              <a:t> &amp; Yaw System  </a:t>
            </a:r>
          </a:p>
          <a:p>
            <a:pPr lvl="1"/>
            <a:r>
              <a:rPr lang="de-DE"/>
              <a:t>13. Tower  </a:t>
            </a:r>
          </a:p>
          <a:p>
            <a:pPr lvl="1"/>
            <a:r>
              <a:rPr lang="de-DE"/>
              <a:t>14. </a:t>
            </a:r>
            <a:r>
              <a:rPr lang="de-DE" err="1"/>
              <a:t>Foundation</a:t>
            </a:r>
            <a:r>
              <a:rPr lang="de-DE"/>
              <a:t>  </a:t>
            </a:r>
          </a:p>
          <a:p>
            <a:pPr lvl="1"/>
            <a:r>
              <a:rPr lang="de-DE"/>
              <a:t>15. Storage System </a:t>
            </a:r>
          </a:p>
          <a:p>
            <a:pPr lvl="1"/>
            <a:endParaRPr lang="de-DE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62E2414-A9F3-5C69-E3A8-481E091525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Teams</a:t>
            </a:r>
          </a:p>
        </p:txBody>
      </p:sp>
      <p:cxnSp>
        <p:nvCxnSpPr>
          <p:cNvPr id="9" name="Straight Connector 5">
            <a:extLst>
              <a:ext uri="{FF2B5EF4-FFF2-40B4-BE49-F238E27FC236}">
                <a16:creationId xmlns:a16="http://schemas.microsoft.com/office/drawing/2014/main" id="{66EB7C6A-45A8-A327-54B4-9E3A0BCAC0B4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D2466CB9-E665-36BA-2132-8519CA303C97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838200" y="1978025"/>
            <a:ext cx="4894943" cy="4351338"/>
          </a:xfrm>
        </p:spPr>
        <p:txBody>
          <a:bodyPr>
            <a:normAutofit/>
          </a:bodyPr>
          <a:lstStyle>
            <a:lvl1pPr marL="514350" indent="-514350">
              <a:buFont typeface="+mj-lt"/>
              <a:buAutoNum type="arabicPeriod"/>
              <a:defRPr sz="2200"/>
            </a:lvl1pPr>
            <a:lvl2pPr marL="457200" indent="0" algn="l">
              <a:buFont typeface="Arial" panose="020B0604020202020204" pitchFamily="34" charset="0"/>
              <a:buNone/>
              <a:defRPr sz="2200"/>
            </a:lvl2pPr>
          </a:lstStyle>
          <a:p>
            <a:pPr lvl="1"/>
            <a:r>
              <a:rPr lang="de-DE"/>
              <a:t>1.  </a:t>
            </a:r>
            <a:r>
              <a:rPr lang="de-DE" err="1"/>
              <a:t>Windfarm</a:t>
            </a:r>
            <a:r>
              <a:rPr lang="de-DE"/>
              <a:t> Project Development  </a:t>
            </a:r>
          </a:p>
          <a:p>
            <a:pPr lvl="1"/>
            <a:r>
              <a:rPr lang="de-DE"/>
              <a:t>2.  Loads and Dynamics  </a:t>
            </a:r>
          </a:p>
          <a:p>
            <a:pPr lvl="1"/>
            <a:r>
              <a:rPr lang="de-DE"/>
              <a:t>3.  Feedback Controller  </a:t>
            </a:r>
          </a:p>
          <a:p>
            <a:pPr lvl="1"/>
            <a:r>
              <a:rPr lang="de-DE"/>
              <a:t>4.  Lidar-</a:t>
            </a:r>
            <a:r>
              <a:rPr lang="de-DE" err="1"/>
              <a:t>Assisted</a:t>
            </a:r>
            <a:r>
              <a:rPr lang="de-DE"/>
              <a:t> Controller  </a:t>
            </a:r>
          </a:p>
          <a:p>
            <a:pPr lvl="1"/>
            <a:r>
              <a:rPr lang="de-DE"/>
              <a:t>5.  Rotor Blade </a:t>
            </a:r>
            <a:r>
              <a:rPr lang="de-DE" err="1"/>
              <a:t>Aerodynamics</a:t>
            </a:r>
            <a:r>
              <a:rPr lang="de-DE"/>
              <a:t>  </a:t>
            </a:r>
          </a:p>
          <a:p>
            <a:pPr lvl="1"/>
            <a:r>
              <a:rPr lang="de-DE"/>
              <a:t>6.  Rotor Blade </a:t>
            </a:r>
            <a:r>
              <a:rPr lang="de-DE" err="1"/>
              <a:t>Structures</a:t>
            </a:r>
            <a:r>
              <a:rPr lang="de-DE"/>
              <a:t>  </a:t>
            </a:r>
          </a:p>
          <a:p>
            <a:pPr lvl="1"/>
            <a:r>
              <a:rPr lang="de-DE"/>
              <a:t>7.  </a:t>
            </a:r>
            <a:r>
              <a:rPr lang="de-DE" err="1"/>
              <a:t>Electrical</a:t>
            </a:r>
            <a:r>
              <a:rPr lang="de-DE"/>
              <a:t> </a:t>
            </a:r>
            <a:r>
              <a:rPr lang="de-DE" err="1"/>
              <a:t>Drivetrain</a:t>
            </a:r>
            <a:r>
              <a:rPr lang="de-DE"/>
              <a:t> (EDT)  </a:t>
            </a:r>
          </a:p>
          <a:p>
            <a:pPr lvl="1"/>
            <a:r>
              <a:rPr lang="de-DE"/>
              <a:t>8.  </a:t>
            </a:r>
            <a:r>
              <a:rPr lang="de-DE" err="1"/>
              <a:t>Grid</a:t>
            </a:r>
            <a:r>
              <a:rPr lang="de-DE"/>
              <a:t> Code Development (GCD)  </a:t>
            </a:r>
          </a:p>
          <a:p>
            <a:pPr lvl="1"/>
            <a:r>
              <a:rPr lang="de-DE"/>
              <a:t>9.  Rotor Hub &amp; Pitch System  </a:t>
            </a:r>
          </a:p>
          <a:p>
            <a:pPr lvl="1"/>
            <a:r>
              <a:rPr lang="de-DE"/>
              <a:t>10. Rotor </a:t>
            </a:r>
            <a:r>
              <a:rPr lang="de-DE" err="1"/>
              <a:t>Bearing</a:t>
            </a:r>
            <a:r>
              <a:rPr lang="de-DE"/>
              <a:t> System  </a:t>
            </a:r>
          </a:p>
          <a:p>
            <a:pPr lvl="1"/>
            <a:r>
              <a:rPr lang="de-DE"/>
              <a:t>11. </a:t>
            </a:r>
            <a:r>
              <a:rPr lang="de-DE" err="1"/>
              <a:t>Gearbox</a:t>
            </a:r>
            <a:r>
              <a:rPr lang="de-DE"/>
              <a:t>, Brake, Coupling  </a:t>
            </a:r>
          </a:p>
          <a:p>
            <a:pPr lvl="1"/>
            <a:r>
              <a:rPr lang="de-DE"/>
              <a:t>						</a:t>
            </a:r>
          </a:p>
        </p:txBody>
      </p:sp>
      <p:sp>
        <p:nvSpPr>
          <p:cNvPr id="12" name="Datumsplatzhalter 11">
            <a:extLst>
              <a:ext uri="{FF2B5EF4-FFF2-40B4-BE49-F238E27FC236}">
                <a16:creationId xmlns:a16="http://schemas.microsoft.com/office/drawing/2014/main" id="{FD841E35-8D66-8DA2-B806-8C18E5D2806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24/11/2025</a:t>
            </a:fld>
            <a:endParaRPr lang="en-GB"/>
          </a:p>
        </p:txBody>
      </p:sp>
      <p:sp>
        <p:nvSpPr>
          <p:cNvPr id="16" name="Fußzeilenplatzhalter 15">
            <a:extLst>
              <a:ext uri="{FF2B5EF4-FFF2-40B4-BE49-F238E27FC236}">
                <a16:creationId xmlns:a16="http://schemas.microsoft.com/office/drawing/2014/main" id="{6C28938A-3748-78F8-3D01-B82DF87C9BE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Optimus Syria</a:t>
            </a:r>
          </a:p>
        </p:txBody>
      </p:sp>
      <p:sp>
        <p:nvSpPr>
          <p:cNvPr id="17" name="Foliennummernplatzhalter 16">
            <a:extLst>
              <a:ext uri="{FF2B5EF4-FFF2-40B4-BE49-F238E27FC236}">
                <a16:creationId xmlns:a16="http://schemas.microsoft.com/office/drawing/2014/main" id="{3A903679-8273-AC0E-AD57-A9C78EE236F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576141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 slide 1">
    <p:bg>
      <p:bgPr>
        <a:blipFill dpi="0" rotWithShape="1">
          <a:blip r:embed="rId2">
            <a:lum/>
          </a:blip>
          <a:srcRect/>
          <a:stretch>
            <a:fillRect l="-10000" r="-1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A7E6E28C-7B17-1432-D698-5D8867EE337B}"/>
              </a:ext>
            </a:extLst>
          </p:cNvPr>
          <p:cNvSpPr txBox="1">
            <a:spLocks/>
          </p:cNvSpPr>
          <p:nvPr userDrawn="1"/>
        </p:nvSpPr>
        <p:spPr>
          <a:xfrm>
            <a:off x="1412841" y="2281143"/>
            <a:ext cx="9144000" cy="91259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6600" b="1" i="0" u="none" strike="noStrike" kern="1200" cap="none" spc="0" normalizeH="0" baseline="0" noProof="0">
                <a:ln/>
                <a:solidFill>
                  <a:srgbClr val="156082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Optimus Syria</a:t>
            </a:r>
            <a:endParaRPr kumimoji="0" lang="en-GB" sz="6600" b="1" i="0" u="none" strike="noStrike" kern="1200" cap="none" spc="0" normalizeH="0" baseline="0" noProof="0">
              <a:ln/>
              <a:solidFill>
                <a:srgbClr val="156082"/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pic>
        <p:nvPicPr>
          <p:cNvPr id="9" name="Picture 8" descr="Hochschule Flensburg (Fachhochschule) – Wikipedia">
            <a:extLst>
              <a:ext uri="{FF2B5EF4-FFF2-40B4-BE49-F238E27FC236}">
                <a16:creationId xmlns:a16="http://schemas.microsoft.com/office/drawing/2014/main" id="{A98E8D30-71DB-C779-1E77-2B8D1F32463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577870" y="80932"/>
            <a:ext cx="2518129" cy="1672124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14" descr="A black background with blue text&#10;&#10;AI-generated content may be incorrect.">
            <a:extLst>
              <a:ext uri="{FF2B5EF4-FFF2-40B4-BE49-F238E27FC236}">
                <a16:creationId xmlns:a16="http://schemas.microsoft.com/office/drawing/2014/main" id="{7FC9E882-BB5D-1CC3-9AD4-1ADE555B839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095999" y="330186"/>
            <a:ext cx="3586922" cy="1040207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3EFF5A11-92DF-BC35-55CA-EECA202C55B3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rcRect l="4671"/>
          <a:stretch/>
        </p:blipFill>
        <p:spPr>
          <a:xfrm>
            <a:off x="135741" y="211147"/>
            <a:ext cx="3179298" cy="154190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2" name="Picture 6">
            <a:extLst>
              <a:ext uri="{FF2B5EF4-FFF2-40B4-BE49-F238E27FC236}">
                <a16:creationId xmlns:a16="http://schemas.microsoft.com/office/drawing/2014/main" id="{D0057AC6-E958-18E0-BF43-7A806C66C909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2029" y="191498"/>
            <a:ext cx="2355285" cy="215005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8" name="Free-form: Shape 13">
            <a:extLst>
              <a:ext uri="{FF2B5EF4-FFF2-40B4-BE49-F238E27FC236}">
                <a16:creationId xmlns:a16="http://schemas.microsoft.com/office/drawing/2014/main" id="{233C0D9D-B26B-1DCE-8493-626ABDD067F7}"/>
              </a:ext>
            </a:extLst>
          </p:cNvPr>
          <p:cNvSpPr/>
          <p:nvPr userDrawn="1"/>
        </p:nvSpPr>
        <p:spPr>
          <a:xfrm>
            <a:off x="-7749" y="5526425"/>
            <a:ext cx="12218376" cy="72825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rgbClr val="0F9ED5">
                  <a:lumMod val="40000"/>
                  <a:lumOff val="60000"/>
                </a:srgbClr>
              </a:gs>
              <a:gs pos="100000">
                <a:sysClr val="window" lastClr="FFFFFF"/>
              </a:gs>
            </a:gsLst>
            <a:lin ang="5400000" scaled="1"/>
          </a:gradFill>
          <a:ln w="19050" cap="flat" cmpd="sng" algn="ctr">
            <a:solidFill>
              <a:sysClr val="window" lastClr="FFFFFF"/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9" name="Free-form: Shape 13">
            <a:extLst>
              <a:ext uri="{FF2B5EF4-FFF2-40B4-BE49-F238E27FC236}">
                <a16:creationId xmlns:a16="http://schemas.microsoft.com/office/drawing/2014/main" id="{95CC7C89-8F0E-07BF-6D89-44A0358FDFC8}"/>
              </a:ext>
            </a:extLst>
          </p:cNvPr>
          <p:cNvSpPr/>
          <p:nvPr userDrawn="1"/>
        </p:nvSpPr>
        <p:spPr>
          <a:xfrm>
            <a:off x="0" y="5838824"/>
            <a:ext cx="12192000" cy="675673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rgbClr val="156082">
                  <a:lumMod val="5000"/>
                  <a:lumOff val="95000"/>
                </a:srgbClr>
              </a:gs>
              <a:gs pos="74000">
                <a:srgbClr val="156082">
                  <a:lumMod val="45000"/>
                  <a:lumOff val="55000"/>
                </a:srgbClr>
              </a:gs>
              <a:gs pos="83000">
                <a:srgbClr val="156082">
                  <a:lumMod val="45000"/>
                  <a:lumOff val="55000"/>
                </a:srgbClr>
              </a:gs>
              <a:gs pos="100000">
                <a:srgbClr val="156082">
                  <a:lumMod val="30000"/>
                  <a:lumOff val="70000"/>
                </a:srgbClr>
              </a:gs>
            </a:gsLst>
            <a:lin ang="5400000" scaled="1"/>
          </a:gradFill>
          <a:ln w="19050" cap="flat" cmpd="sng" algn="ctr">
            <a:noFill/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0" name="Free-form: Shape 13">
            <a:extLst>
              <a:ext uri="{FF2B5EF4-FFF2-40B4-BE49-F238E27FC236}">
                <a16:creationId xmlns:a16="http://schemas.microsoft.com/office/drawing/2014/main" id="{4FB94905-8FF2-701D-A980-9368DF7EB04F}"/>
              </a:ext>
            </a:extLst>
          </p:cNvPr>
          <p:cNvSpPr/>
          <p:nvPr userDrawn="1"/>
        </p:nvSpPr>
        <p:spPr>
          <a:xfrm>
            <a:off x="-7346" y="5928072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rgbClr val="0F9ED5">
                  <a:lumMod val="20000"/>
                  <a:lumOff val="80000"/>
                </a:srgbClr>
              </a:gs>
              <a:gs pos="50000">
                <a:sysClr val="window" lastClr="FFFFFF"/>
              </a:gs>
              <a:gs pos="100000">
                <a:srgbClr val="0F9ED5">
                  <a:lumMod val="20000"/>
                  <a:lumOff val="80000"/>
                </a:srgbClr>
              </a:gs>
            </a:gsLst>
            <a:lin ang="0" scaled="1"/>
            <a:tileRect/>
          </a:gradFill>
          <a:ln w="15875" cap="flat" cmpd="sng" algn="ctr">
            <a:solidFill>
              <a:srgbClr val="156082">
                <a:alpha val="0"/>
              </a:srgbClr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64AB9256-03E9-9046-0C0F-540CE5905E92}"/>
              </a:ext>
            </a:extLst>
          </p:cNvPr>
          <p:cNvSpPr/>
          <p:nvPr userDrawn="1"/>
        </p:nvSpPr>
        <p:spPr>
          <a:xfrm>
            <a:off x="-4172" y="6542492"/>
            <a:ext cx="12207494" cy="365126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2" name="Picture 18" descr="A white windmill with clouds in the background&#10;&#10;AI-generated content may be incorrect.">
            <a:extLst>
              <a:ext uri="{FF2B5EF4-FFF2-40B4-BE49-F238E27FC236}">
                <a16:creationId xmlns:a16="http://schemas.microsoft.com/office/drawing/2014/main" id="{9BDED722-8EE5-8B7F-02CA-CF3939A785CF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9950" y="5430021"/>
            <a:ext cx="1753782" cy="1313633"/>
          </a:xfrm>
          <a:prstGeom prst="rect">
            <a:avLst/>
          </a:prstGeom>
        </p:spPr>
      </p:pic>
      <p:sp>
        <p:nvSpPr>
          <p:cNvPr id="3" name="Rectangle 7">
            <a:extLst>
              <a:ext uri="{FF2B5EF4-FFF2-40B4-BE49-F238E27FC236}">
                <a16:creationId xmlns:a16="http://schemas.microsoft.com/office/drawing/2014/main" id="{A08F222C-E6B4-CB18-1940-4D03D41410C5}"/>
              </a:ext>
            </a:extLst>
          </p:cNvPr>
          <p:cNvSpPr/>
          <p:nvPr userDrawn="1"/>
        </p:nvSpPr>
        <p:spPr>
          <a:xfrm>
            <a:off x="8606553" y="4043001"/>
            <a:ext cx="2603270" cy="140451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err="1"/>
              <a:t>This</a:t>
            </a:r>
            <a:r>
              <a:rPr lang="it-IT"/>
              <a:t> slide </a:t>
            </a:r>
            <a:r>
              <a:rPr lang="it-IT" err="1"/>
              <a:t>is</a:t>
            </a:r>
            <a:r>
              <a:rPr lang="it-IT"/>
              <a:t> </a:t>
            </a:r>
            <a:r>
              <a:rPr lang="it-IT" err="1"/>
              <a:t>only</a:t>
            </a:r>
            <a:r>
              <a:rPr lang="it-IT"/>
              <a:t> for </a:t>
            </a:r>
            <a:r>
              <a:rPr lang="it-IT" err="1"/>
              <a:t>explanation</a:t>
            </a:r>
            <a:r>
              <a:rPr lang="it-IT"/>
              <a:t>, </a:t>
            </a:r>
            <a:r>
              <a:rPr lang="it-IT" err="1"/>
              <a:t>dont´t</a:t>
            </a:r>
            <a:r>
              <a:rPr lang="it-IT"/>
              <a:t> use </a:t>
            </a:r>
            <a:r>
              <a:rPr lang="it-IT" err="1"/>
              <a:t>it!</a:t>
            </a:r>
            <a:endParaRPr lang="en-GB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4248E6A6-5F2B-4404-D02B-D0186EA2675E}"/>
              </a:ext>
            </a:extLst>
          </p:cNvPr>
          <p:cNvSpPr txBox="1"/>
          <p:nvPr userDrawn="1"/>
        </p:nvSpPr>
        <p:spPr>
          <a:xfrm>
            <a:off x="3913526" y="4104491"/>
            <a:ext cx="4142630" cy="9961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it-IT" sz="1800" b="0" i="0" u="none" strike="noStrike" kern="1200" cap="none" spc="0" normalizeH="0" baseline="0" noProof="0">
                <a:ln>
                  <a:noFill/>
                </a:ln>
                <a:solidFill>
                  <a:srgbClr val="0E2841">
                    <a:lumMod val="90000"/>
                    <a:lumOff val="10000"/>
                  </a:srgbClr>
                </a:solidFill>
                <a:effectLst/>
                <a:uLnTx/>
                <a:uFillTx/>
                <a:latin typeface="Aptos (Textkörper)"/>
                <a:ea typeface="+mn-ea"/>
                <a:cs typeface="Times New Roman" panose="02020603050405020304" pitchFamily="18" charset="0"/>
              </a:rPr>
              <a:t>2st Week Kick Off Presentation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it-IT" sz="1800" b="0" i="0" u="none" strike="noStrike" kern="1200" cap="none" spc="0" normalizeH="0" baseline="0" noProof="0">
                <a:ln>
                  <a:noFill/>
                </a:ln>
                <a:solidFill>
                  <a:srgbClr val="0E2841">
                    <a:lumMod val="90000"/>
                    <a:lumOff val="10000"/>
                  </a:srgbClr>
                </a:solidFill>
                <a:effectLst/>
                <a:uLnTx/>
                <a:uFillTx/>
                <a:latin typeface="Aptos (Textkörper)"/>
                <a:ea typeface="+mn-ea"/>
                <a:cs typeface="Times New Roman" panose="02020603050405020304" pitchFamily="18" charset="0"/>
              </a:rPr>
              <a:t>Date: 7th  2025</a:t>
            </a:r>
          </a:p>
          <a:p>
            <a:endParaRPr lang="en-GB">
              <a:latin typeface="Aptos (Textkörper)"/>
            </a:endParaRPr>
          </a:p>
        </p:txBody>
      </p:sp>
    </p:spTree>
    <p:extLst>
      <p:ext uri="{BB962C8B-B14F-4D97-AF65-F5344CB8AC3E}">
        <p14:creationId xmlns:p14="http://schemas.microsoft.com/office/powerpoint/2010/main" val="382245685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slide 1">
    <p:bg>
      <p:bgPr>
        <a:blipFill dpi="0" rotWithShape="1">
          <a:blip r:embed="rId2">
            <a:lum/>
          </a:blip>
          <a:srcRect/>
          <a:stretch>
            <a:fillRect l="-10000" r="-1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A7E6E28C-7B17-1432-D698-5D8867EE337B}"/>
              </a:ext>
            </a:extLst>
          </p:cNvPr>
          <p:cNvSpPr txBox="1">
            <a:spLocks/>
          </p:cNvSpPr>
          <p:nvPr userDrawn="1"/>
        </p:nvSpPr>
        <p:spPr>
          <a:xfrm>
            <a:off x="1412841" y="2281143"/>
            <a:ext cx="9144000" cy="91259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6600" b="1" i="0" u="none" strike="noStrike" kern="1200" cap="none" spc="0" normalizeH="0" baseline="0" noProof="0" err="1">
                <a:ln/>
                <a:solidFill>
                  <a:srgbClr val="156082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Optimus</a:t>
            </a:r>
            <a:r>
              <a:rPr kumimoji="0" lang="it-IT" sz="6600" b="1" i="0" u="none" strike="noStrike" kern="1200" cap="none" spc="0" normalizeH="0" baseline="0" noProof="0">
                <a:ln/>
                <a:solidFill>
                  <a:srgbClr val="156082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Syria</a:t>
            </a:r>
            <a:endParaRPr kumimoji="0" lang="en-GB" sz="6600" b="1" i="0" u="none" strike="noStrike" kern="1200" cap="none" spc="0" normalizeH="0" baseline="0" noProof="0">
              <a:ln/>
              <a:solidFill>
                <a:srgbClr val="156082"/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pic>
        <p:nvPicPr>
          <p:cNvPr id="9" name="Picture 8" descr="Hochschule Flensburg (Fachhochschule) – Wikipedia">
            <a:extLst>
              <a:ext uri="{FF2B5EF4-FFF2-40B4-BE49-F238E27FC236}">
                <a16:creationId xmlns:a16="http://schemas.microsoft.com/office/drawing/2014/main" id="{A98E8D30-71DB-C779-1E77-2B8D1F32463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577870" y="80932"/>
            <a:ext cx="2518129" cy="1672124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14" descr="A black background with blue text&#10;&#10;AI-generated content may be incorrect.">
            <a:extLst>
              <a:ext uri="{FF2B5EF4-FFF2-40B4-BE49-F238E27FC236}">
                <a16:creationId xmlns:a16="http://schemas.microsoft.com/office/drawing/2014/main" id="{7FC9E882-BB5D-1CC3-9AD4-1ADE555B839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095999" y="330186"/>
            <a:ext cx="3586922" cy="1040207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3EFF5A11-92DF-BC35-55CA-EECA202C55B3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rcRect l="4671"/>
          <a:stretch/>
        </p:blipFill>
        <p:spPr>
          <a:xfrm>
            <a:off x="135741" y="211147"/>
            <a:ext cx="3179298" cy="154190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2" name="Picture 6">
            <a:extLst>
              <a:ext uri="{FF2B5EF4-FFF2-40B4-BE49-F238E27FC236}">
                <a16:creationId xmlns:a16="http://schemas.microsoft.com/office/drawing/2014/main" id="{D0057AC6-E958-18E0-BF43-7A806C66C909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2029" y="191498"/>
            <a:ext cx="2355285" cy="215005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8" name="Free-form: Shape 13">
            <a:extLst>
              <a:ext uri="{FF2B5EF4-FFF2-40B4-BE49-F238E27FC236}">
                <a16:creationId xmlns:a16="http://schemas.microsoft.com/office/drawing/2014/main" id="{233C0D9D-B26B-1DCE-8493-626ABDD067F7}"/>
              </a:ext>
            </a:extLst>
          </p:cNvPr>
          <p:cNvSpPr/>
          <p:nvPr userDrawn="1"/>
        </p:nvSpPr>
        <p:spPr>
          <a:xfrm>
            <a:off x="-7749" y="5526425"/>
            <a:ext cx="12218376" cy="72825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rgbClr val="0F9ED5">
                  <a:lumMod val="40000"/>
                  <a:lumOff val="60000"/>
                </a:srgbClr>
              </a:gs>
              <a:gs pos="100000">
                <a:sysClr val="window" lastClr="FFFFFF"/>
              </a:gs>
            </a:gsLst>
            <a:lin ang="5400000" scaled="1"/>
          </a:gradFill>
          <a:ln w="19050" cap="flat" cmpd="sng" algn="ctr">
            <a:solidFill>
              <a:sysClr val="window" lastClr="FFFFFF"/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9" name="Free-form: Shape 13">
            <a:extLst>
              <a:ext uri="{FF2B5EF4-FFF2-40B4-BE49-F238E27FC236}">
                <a16:creationId xmlns:a16="http://schemas.microsoft.com/office/drawing/2014/main" id="{95CC7C89-8F0E-07BF-6D89-44A0358FDFC8}"/>
              </a:ext>
            </a:extLst>
          </p:cNvPr>
          <p:cNvSpPr/>
          <p:nvPr userDrawn="1"/>
        </p:nvSpPr>
        <p:spPr>
          <a:xfrm>
            <a:off x="0" y="5838824"/>
            <a:ext cx="12192000" cy="675673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rgbClr val="156082">
                  <a:lumMod val="5000"/>
                  <a:lumOff val="95000"/>
                </a:srgbClr>
              </a:gs>
              <a:gs pos="74000">
                <a:srgbClr val="156082">
                  <a:lumMod val="45000"/>
                  <a:lumOff val="55000"/>
                </a:srgbClr>
              </a:gs>
              <a:gs pos="83000">
                <a:srgbClr val="156082">
                  <a:lumMod val="45000"/>
                  <a:lumOff val="55000"/>
                </a:srgbClr>
              </a:gs>
              <a:gs pos="100000">
                <a:srgbClr val="156082">
                  <a:lumMod val="30000"/>
                  <a:lumOff val="70000"/>
                </a:srgbClr>
              </a:gs>
            </a:gsLst>
            <a:lin ang="5400000" scaled="1"/>
          </a:gradFill>
          <a:ln w="19050" cap="flat" cmpd="sng" algn="ctr">
            <a:noFill/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0" name="Free-form: Shape 13">
            <a:extLst>
              <a:ext uri="{FF2B5EF4-FFF2-40B4-BE49-F238E27FC236}">
                <a16:creationId xmlns:a16="http://schemas.microsoft.com/office/drawing/2014/main" id="{4FB94905-8FF2-701D-A980-9368DF7EB04F}"/>
              </a:ext>
            </a:extLst>
          </p:cNvPr>
          <p:cNvSpPr/>
          <p:nvPr userDrawn="1"/>
        </p:nvSpPr>
        <p:spPr>
          <a:xfrm>
            <a:off x="-7346" y="5928072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rgbClr val="0F9ED5">
                  <a:lumMod val="20000"/>
                  <a:lumOff val="80000"/>
                </a:srgbClr>
              </a:gs>
              <a:gs pos="50000">
                <a:sysClr val="window" lastClr="FFFFFF"/>
              </a:gs>
              <a:gs pos="100000">
                <a:srgbClr val="0F9ED5">
                  <a:lumMod val="20000"/>
                  <a:lumOff val="80000"/>
                </a:srgbClr>
              </a:gs>
            </a:gsLst>
            <a:lin ang="0" scaled="1"/>
            <a:tileRect/>
          </a:gradFill>
          <a:ln w="15875" cap="flat" cmpd="sng" algn="ctr">
            <a:solidFill>
              <a:srgbClr val="156082">
                <a:alpha val="0"/>
              </a:srgbClr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64AB9256-03E9-9046-0C0F-540CE5905E92}"/>
              </a:ext>
            </a:extLst>
          </p:cNvPr>
          <p:cNvSpPr/>
          <p:nvPr userDrawn="1"/>
        </p:nvSpPr>
        <p:spPr>
          <a:xfrm>
            <a:off x="-4172" y="6542492"/>
            <a:ext cx="12207494" cy="365126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2" name="Picture 18" descr="A white windmill with clouds in the background&#10;&#10;AI-generated content may be incorrect.">
            <a:extLst>
              <a:ext uri="{FF2B5EF4-FFF2-40B4-BE49-F238E27FC236}">
                <a16:creationId xmlns:a16="http://schemas.microsoft.com/office/drawing/2014/main" id="{9BDED722-8EE5-8B7F-02CA-CF3939A785CF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9950" y="5430021"/>
            <a:ext cx="1753782" cy="1313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435806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oup starting slide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-form: Shape 13">
            <a:extLst>
              <a:ext uri="{FF2B5EF4-FFF2-40B4-BE49-F238E27FC236}">
                <a16:creationId xmlns:a16="http://schemas.microsoft.com/office/drawing/2014/main" id="{006CCD24-9C06-8926-5E3D-FFE059D5F3D2}"/>
              </a:ext>
            </a:extLst>
          </p:cNvPr>
          <p:cNvSpPr/>
          <p:nvPr userDrawn="1"/>
        </p:nvSpPr>
        <p:spPr>
          <a:xfrm>
            <a:off x="-7749" y="5526425"/>
            <a:ext cx="12218376" cy="72825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rgbClr val="0F9ED5">
                  <a:lumMod val="40000"/>
                  <a:lumOff val="60000"/>
                </a:srgbClr>
              </a:gs>
              <a:gs pos="100000">
                <a:sysClr val="window" lastClr="FFFFFF"/>
              </a:gs>
            </a:gsLst>
            <a:lin ang="5400000" scaled="1"/>
          </a:gradFill>
          <a:ln w="19050" cap="flat" cmpd="sng" algn="ctr">
            <a:solidFill>
              <a:sysClr val="window" lastClr="FFFFFF"/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4" name="Free-form: Shape 13">
            <a:extLst>
              <a:ext uri="{FF2B5EF4-FFF2-40B4-BE49-F238E27FC236}">
                <a16:creationId xmlns:a16="http://schemas.microsoft.com/office/drawing/2014/main" id="{1157507C-DF41-F2F7-53B7-B0DC0D568F3B}"/>
              </a:ext>
            </a:extLst>
          </p:cNvPr>
          <p:cNvSpPr/>
          <p:nvPr userDrawn="1"/>
        </p:nvSpPr>
        <p:spPr>
          <a:xfrm>
            <a:off x="0" y="5838824"/>
            <a:ext cx="12192000" cy="675673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rgbClr val="156082">
                  <a:lumMod val="5000"/>
                  <a:lumOff val="95000"/>
                </a:srgbClr>
              </a:gs>
              <a:gs pos="74000">
                <a:srgbClr val="156082">
                  <a:lumMod val="45000"/>
                  <a:lumOff val="55000"/>
                </a:srgbClr>
              </a:gs>
              <a:gs pos="83000">
                <a:srgbClr val="156082">
                  <a:lumMod val="45000"/>
                  <a:lumOff val="55000"/>
                </a:srgbClr>
              </a:gs>
              <a:gs pos="100000">
                <a:srgbClr val="156082">
                  <a:lumMod val="30000"/>
                  <a:lumOff val="70000"/>
                </a:srgbClr>
              </a:gs>
            </a:gsLst>
            <a:lin ang="5400000" scaled="1"/>
          </a:gradFill>
          <a:ln w="19050" cap="flat" cmpd="sng" algn="ctr">
            <a:noFill/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5" name="Free-form: Shape 13">
            <a:extLst>
              <a:ext uri="{FF2B5EF4-FFF2-40B4-BE49-F238E27FC236}">
                <a16:creationId xmlns:a16="http://schemas.microsoft.com/office/drawing/2014/main" id="{94DF4395-7D7A-F380-6320-D9BE1ED1DA6D}"/>
              </a:ext>
            </a:extLst>
          </p:cNvPr>
          <p:cNvSpPr/>
          <p:nvPr userDrawn="1"/>
        </p:nvSpPr>
        <p:spPr>
          <a:xfrm>
            <a:off x="-7346" y="5928072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rgbClr val="0F9ED5">
                  <a:lumMod val="20000"/>
                  <a:lumOff val="80000"/>
                </a:srgbClr>
              </a:gs>
              <a:gs pos="50000">
                <a:sysClr val="window" lastClr="FFFFFF"/>
              </a:gs>
              <a:gs pos="100000">
                <a:srgbClr val="0F9ED5">
                  <a:lumMod val="20000"/>
                  <a:lumOff val="80000"/>
                </a:srgbClr>
              </a:gs>
            </a:gsLst>
            <a:lin ang="0" scaled="1"/>
            <a:tileRect/>
          </a:gradFill>
          <a:ln w="15875" cap="flat" cmpd="sng" algn="ctr">
            <a:solidFill>
              <a:srgbClr val="156082">
                <a:alpha val="0"/>
              </a:srgbClr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27" name="Picture 8" descr="Hochschule Flensburg (Fachhochschule) – Wikipedia">
            <a:extLst>
              <a:ext uri="{FF2B5EF4-FFF2-40B4-BE49-F238E27FC236}">
                <a16:creationId xmlns:a16="http://schemas.microsoft.com/office/drawing/2014/main" id="{811EE0A2-7B7B-66E3-65D6-A7F1D9F140E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70439" y="264131"/>
            <a:ext cx="2518129" cy="1672124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14" descr="A black background with blue text&#10;&#10;AI-generated content may be incorrect.">
            <a:extLst>
              <a:ext uri="{FF2B5EF4-FFF2-40B4-BE49-F238E27FC236}">
                <a16:creationId xmlns:a16="http://schemas.microsoft.com/office/drawing/2014/main" id="{88A3D22E-A6EF-A83A-86D5-C96D877CA4B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445647" y="719916"/>
            <a:ext cx="3586922" cy="1040207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Grafik 28">
            <a:extLst>
              <a:ext uri="{FF2B5EF4-FFF2-40B4-BE49-F238E27FC236}">
                <a16:creationId xmlns:a16="http://schemas.microsoft.com/office/drawing/2014/main" id="{427A8DB5-3232-D63A-5CDF-0D3AD6450C3C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3825103" y="243054"/>
            <a:ext cx="3684008" cy="1703223"/>
          </a:xfrm>
          <a:prstGeom prst="rect">
            <a:avLst/>
          </a:prstGeom>
        </p:spPr>
      </p:pic>
      <p:sp>
        <p:nvSpPr>
          <p:cNvPr id="30" name="Title 1">
            <a:extLst>
              <a:ext uri="{FF2B5EF4-FFF2-40B4-BE49-F238E27FC236}">
                <a16:creationId xmlns:a16="http://schemas.microsoft.com/office/drawing/2014/main" id="{00FE6863-2F47-99AC-390A-A1BB2D1DD01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412841" y="2206093"/>
            <a:ext cx="9144000" cy="912598"/>
          </a:xfrm>
        </p:spPr>
        <p:txBody>
          <a:bodyPr>
            <a:noAutofit/>
          </a:bodyPr>
          <a:lstStyle>
            <a:lvl1pPr algn="ctr">
              <a:defRPr>
                <a:latin typeface="Aptos (Textkörper)"/>
              </a:defRPr>
            </a:lvl1pPr>
          </a:lstStyle>
          <a:p>
            <a:r>
              <a:rPr lang="it-IT" sz="4000"/>
              <a:t>Weekly report: Team X</a:t>
            </a:r>
            <a:endParaRPr lang="en-GB" sz="4000"/>
          </a:p>
        </p:txBody>
      </p:sp>
      <p:sp>
        <p:nvSpPr>
          <p:cNvPr id="31" name="Subtitle 2">
            <a:extLst>
              <a:ext uri="{FF2B5EF4-FFF2-40B4-BE49-F238E27FC236}">
                <a16:creationId xmlns:a16="http://schemas.microsoft.com/office/drawing/2014/main" id="{05E4BCC5-2CED-6F6C-22B8-AF74FB7ECFF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412841" y="3429000"/>
            <a:ext cx="9144000" cy="1143000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 algn="ctr">
              <a:buNone/>
              <a:defRPr sz="1400">
                <a:latin typeface="Aptos (Textkörper)"/>
              </a:defRPr>
            </a:lvl1pPr>
          </a:lstStyle>
          <a:p>
            <a:r>
              <a:rPr lang="it-IT" sz="2000"/>
              <a:t>Week </a:t>
            </a:r>
            <a:r>
              <a:rPr lang="it-IT" sz="2000" err="1"/>
              <a:t>number</a:t>
            </a:r>
            <a:r>
              <a:rPr lang="it-IT" sz="2000"/>
              <a:t>: X</a:t>
            </a:r>
          </a:p>
          <a:p>
            <a:r>
              <a:rPr lang="it-IT" sz="2000"/>
              <a:t>Date: DD/MM/20JJ</a:t>
            </a:r>
          </a:p>
          <a:p>
            <a:r>
              <a:rPr lang="it-IT" sz="2000"/>
              <a:t>Supervisor: X</a:t>
            </a:r>
          </a:p>
        </p:txBody>
      </p:sp>
      <p:sp>
        <p:nvSpPr>
          <p:cNvPr id="33" name="Isosceles Triangle 6">
            <a:extLst>
              <a:ext uri="{FF2B5EF4-FFF2-40B4-BE49-F238E27FC236}">
                <a16:creationId xmlns:a16="http://schemas.microsoft.com/office/drawing/2014/main" id="{8F14EFAA-BA4A-16CF-D530-1409613BCF5B}"/>
              </a:ext>
            </a:extLst>
          </p:cNvPr>
          <p:cNvSpPr/>
          <p:nvPr userDrawn="1"/>
        </p:nvSpPr>
        <p:spPr>
          <a:xfrm>
            <a:off x="1412841" y="3797919"/>
            <a:ext cx="1380683" cy="886192"/>
          </a:xfrm>
          <a:prstGeom prst="triangle">
            <a:avLst>
              <a:gd name="adj" fmla="val 50565"/>
            </a:avLst>
          </a:prstGeom>
          <a:ln w="571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4" name="Rectangle 7">
            <a:extLst>
              <a:ext uri="{FF2B5EF4-FFF2-40B4-BE49-F238E27FC236}">
                <a16:creationId xmlns:a16="http://schemas.microsoft.com/office/drawing/2014/main" id="{8CE1E011-6342-172C-03D6-BB39C24A4CCA}"/>
              </a:ext>
            </a:extLst>
          </p:cNvPr>
          <p:cNvSpPr/>
          <p:nvPr userDrawn="1"/>
        </p:nvSpPr>
        <p:spPr>
          <a:xfrm>
            <a:off x="354584" y="4714776"/>
            <a:ext cx="3512337" cy="950790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/>
              <a:t>First slide for groups</a:t>
            </a:r>
            <a:endParaRPr lang="en-GB"/>
          </a:p>
        </p:txBody>
      </p:sp>
      <p:sp>
        <p:nvSpPr>
          <p:cNvPr id="35" name="Rectangle 11">
            <a:extLst>
              <a:ext uri="{FF2B5EF4-FFF2-40B4-BE49-F238E27FC236}">
                <a16:creationId xmlns:a16="http://schemas.microsoft.com/office/drawing/2014/main" id="{6845F127-8728-66DF-03BE-17119A20BE05}"/>
              </a:ext>
            </a:extLst>
          </p:cNvPr>
          <p:cNvSpPr/>
          <p:nvPr userDrawn="1"/>
        </p:nvSpPr>
        <p:spPr>
          <a:xfrm>
            <a:off x="1860787" y="3750629"/>
            <a:ext cx="484789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GB" sz="7200" b="1" cap="none" spc="0">
                <a:ln w="0"/>
                <a:solidFill>
                  <a:schemeClr val="tx1"/>
                </a:solidFill>
              </a:rPr>
              <a:t>!</a:t>
            </a:r>
          </a:p>
        </p:txBody>
      </p:sp>
      <p:sp>
        <p:nvSpPr>
          <p:cNvPr id="36" name="Text Placeholder 2">
            <a:extLst>
              <a:ext uri="{FF2B5EF4-FFF2-40B4-BE49-F238E27FC236}">
                <a16:creationId xmlns:a16="http://schemas.microsoft.com/office/drawing/2014/main" id="{C16AED5E-219C-C34B-7790-17DE2532E623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3316826" y="4882309"/>
            <a:ext cx="5128821" cy="331717"/>
          </a:xfrm>
        </p:spPr>
        <p:txBody>
          <a:bodyPr anchor="b">
            <a:noAutofit/>
          </a:bodyPr>
          <a:lstStyle>
            <a:lvl1pPr marL="0" indent="0" algn="ctr">
              <a:buNone/>
              <a:defRPr sz="1400" b="0">
                <a:latin typeface="Aptos (Textkörper)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err="1"/>
              <a:t>Presented</a:t>
            </a:r>
            <a:r>
              <a:rPr lang="de-DE"/>
              <a:t> </a:t>
            </a:r>
            <a:r>
              <a:rPr lang="de-DE" err="1"/>
              <a:t>by</a:t>
            </a:r>
            <a:r>
              <a:rPr lang="de-DE"/>
              <a:t>: </a:t>
            </a:r>
            <a:r>
              <a:rPr lang="de-DE" err="1"/>
              <a:t>name</a:t>
            </a:r>
            <a:r>
              <a:rPr lang="de-DE"/>
              <a:t> </a:t>
            </a:r>
            <a:r>
              <a:rPr lang="de-DE" err="1"/>
              <a:t>of</a:t>
            </a:r>
            <a:r>
              <a:rPr lang="de-DE"/>
              <a:t> </a:t>
            </a:r>
            <a:r>
              <a:rPr lang="de-DE" err="1"/>
              <a:t>presenter</a:t>
            </a:r>
            <a:r>
              <a:rPr lang="de-DE"/>
              <a:t> / </a:t>
            </a:r>
            <a:r>
              <a:rPr lang="de-DE" err="1"/>
              <a:t>other</a:t>
            </a:r>
            <a:r>
              <a:rPr lang="de-DE"/>
              <a:t> </a:t>
            </a:r>
            <a:r>
              <a:rPr lang="de-DE" err="1"/>
              <a:t>group</a:t>
            </a:r>
            <a:r>
              <a:rPr lang="de-DE"/>
              <a:t> </a:t>
            </a:r>
            <a:r>
              <a:rPr lang="de-DE" err="1"/>
              <a:t>members</a:t>
            </a:r>
            <a:r>
              <a:rPr lang="de-DE"/>
              <a:t>…</a:t>
            </a:r>
          </a:p>
        </p:txBody>
      </p:sp>
      <p:sp>
        <p:nvSpPr>
          <p:cNvPr id="37" name="Rechteck 36">
            <a:extLst>
              <a:ext uri="{FF2B5EF4-FFF2-40B4-BE49-F238E27FC236}">
                <a16:creationId xmlns:a16="http://schemas.microsoft.com/office/drawing/2014/main" id="{64DF9F8D-C604-6899-2A9F-B743F135F77F}"/>
              </a:ext>
            </a:extLst>
          </p:cNvPr>
          <p:cNvSpPr/>
          <p:nvPr userDrawn="1"/>
        </p:nvSpPr>
        <p:spPr>
          <a:xfrm>
            <a:off x="-4172" y="6542492"/>
            <a:ext cx="12207494" cy="365126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26" name="Picture 18" descr="A white windmill with clouds in the background&#10;&#10;AI-generated content may be incorrect.">
            <a:extLst>
              <a:ext uri="{FF2B5EF4-FFF2-40B4-BE49-F238E27FC236}">
                <a16:creationId xmlns:a16="http://schemas.microsoft.com/office/drawing/2014/main" id="{B8218494-1E39-5AB1-96DD-936404956E57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9950" y="5430021"/>
            <a:ext cx="1753782" cy="1313633"/>
          </a:xfrm>
          <a:prstGeom prst="rect">
            <a:avLst/>
          </a:prstGeom>
        </p:spPr>
      </p:pic>
      <p:sp>
        <p:nvSpPr>
          <p:cNvPr id="5" name="Rectangle 7">
            <a:extLst>
              <a:ext uri="{FF2B5EF4-FFF2-40B4-BE49-F238E27FC236}">
                <a16:creationId xmlns:a16="http://schemas.microsoft.com/office/drawing/2014/main" id="{CA471AD5-5F65-3AF9-9ABB-E6F7475B2672}"/>
              </a:ext>
            </a:extLst>
          </p:cNvPr>
          <p:cNvSpPr/>
          <p:nvPr userDrawn="1"/>
        </p:nvSpPr>
        <p:spPr>
          <a:xfrm>
            <a:off x="8606553" y="4043001"/>
            <a:ext cx="2603270" cy="140451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err="1"/>
              <a:t>This</a:t>
            </a:r>
            <a:r>
              <a:rPr lang="it-IT"/>
              <a:t> slide </a:t>
            </a:r>
            <a:r>
              <a:rPr lang="it-IT" err="1"/>
              <a:t>is</a:t>
            </a:r>
            <a:r>
              <a:rPr lang="it-IT"/>
              <a:t> </a:t>
            </a:r>
            <a:r>
              <a:rPr lang="it-IT" err="1"/>
              <a:t>only</a:t>
            </a:r>
            <a:r>
              <a:rPr lang="it-IT"/>
              <a:t> for </a:t>
            </a:r>
            <a:r>
              <a:rPr lang="it-IT" err="1"/>
              <a:t>explanation</a:t>
            </a:r>
            <a:r>
              <a:rPr lang="it-IT"/>
              <a:t>, </a:t>
            </a:r>
            <a:r>
              <a:rPr lang="it-IT" err="1"/>
              <a:t>dont´t</a:t>
            </a:r>
            <a:r>
              <a:rPr lang="it-IT"/>
              <a:t> use </a:t>
            </a:r>
            <a:r>
              <a:rPr lang="it-IT" err="1"/>
              <a:t>it!</a:t>
            </a:r>
            <a:endParaRPr lang="en-GB"/>
          </a:p>
        </p:txBody>
      </p:sp>
      <p:sp>
        <p:nvSpPr>
          <p:cNvPr id="9" name="Datumsplatzhalter 8">
            <a:extLst>
              <a:ext uri="{FF2B5EF4-FFF2-40B4-BE49-F238E27FC236}">
                <a16:creationId xmlns:a16="http://schemas.microsoft.com/office/drawing/2014/main" id="{92481298-4C0F-EA65-5B6C-A8C699065050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24/11/2025</a:t>
            </a:fld>
            <a:endParaRPr lang="en-GB"/>
          </a:p>
        </p:txBody>
      </p:sp>
      <p:sp>
        <p:nvSpPr>
          <p:cNvPr id="10" name="Fußzeilenplatzhalter 9">
            <a:extLst>
              <a:ext uri="{FF2B5EF4-FFF2-40B4-BE49-F238E27FC236}">
                <a16:creationId xmlns:a16="http://schemas.microsoft.com/office/drawing/2014/main" id="{FE2B40EC-630A-E9C4-E03F-6B440732207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GB"/>
              <a:t>Optimus Syria</a:t>
            </a:r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B363FCB4-D064-121D-B878-2F160740580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9844284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oup starting slide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-form: Shape 13">
            <a:extLst>
              <a:ext uri="{FF2B5EF4-FFF2-40B4-BE49-F238E27FC236}">
                <a16:creationId xmlns:a16="http://schemas.microsoft.com/office/drawing/2014/main" id="{006CCD24-9C06-8926-5E3D-FFE059D5F3D2}"/>
              </a:ext>
            </a:extLst>
          </p:cNvPr>
          <p:cNvSpPr/>
          <p:nvPr userDrawn="1"/>
        </p:nvSpPr>
        <p:spPr>
          <a:xfrm>
            <a:off x="-7749" y="5526425"/>
            <a:ext cx="12218376" cy="72825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rgbClr val="0F9ED5">
                  <a:lumMod val="40000"/>
                  <a:lumOff val="60000"/>
                </a:srgbClr>
              </a:gs>
              <a:gs pos="100000">
                <a:sysClr val="window" lastClr="FFFFFF"/>
              </a:gs>
            </a:gsLst>
            <a:lin ang="5400000" scaled="1"/>
          </a:gradFill>
          <a:ln w="19050" cap="flat" cmpd="sng" algn="ctr">
            <a:solidFill>
              <a:sysClr val="window" lastClr="FFFFFF"/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4" name="Free-form: Shape 13">
            <a:extLst>
              <a:ext uri="{FF2B5EF4-FFF2-40B4-BE49-F238E27FC236}">
                <a16:creationId xmlns:a16="http://schemas.microsoft.com/office/drawing/2014/main" id="{1157507C-DF41-F2F7-53B7-B0DC0D568F3B}"/>
              </a:ext>
            </a:extLst>
          </p:cNvPr>
          <p:cNvSpPr/>
          <p:nvPr userDrawn="1"/>
        </p:nvSpPr>
        <p:spPr>
          <a:xfrm>
            <a:off x="0" y="5838824"/>
            <a:ext cx="12192000" cy="675673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rgbClr val="156082">
                  <a:lumMod val="5000"/>
                  <a:lumOff val="95000"/>
                </a:srgbClr>
              </a:gs>
              <a:gs pos="74000">
                <a:srgbClr val="156082">
                  <a:lumMod val="45000"/>
                  <a:lumOff val="55000"/>
                </a:srgbClr>
              </a:gs>
              <a:gs pos="83000">
                <a:srgbClr val="156082">
                  <a:lumMod val="45000"/>
                  <a:lumOff val="55000"/>
                </a:srgbClr>
              </a:gs>
              <a:gs pos="100000">
                <a:srgbClr val="156082">
                  <a:lumMod val="30000"/>
                  <a:lumOff val="70000"/>
                </a:srgbClr>
              </a:gs>
            </a:gsLst>
            <a:lin ang="5400000" scaled="1"/>
          </a:gradFill>
          <a:ln w="19050" cap="flat" cmpd="sng" algn="ctr">
            <a:noFill/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5" name="Free-form: Shape 13">
            <a:extLst>
              <a:ext uri="{FF2B5EF4-FFF2-40B4-BE49-F238E27FC236}">
                <a16:creationId xmlns:a16="http://schemas.microsoft.com/office/drawing/2014/main" id="{94DF4395-7D7A-F380-6320-D9BE1ED1DA6D}"/>
              </a:ext>
            </a:extLst>
          </p:cNvPr>
          <p:cNvSpPr/>
          <p:nvPr userDrawn="1"/>
        </p:nvSpPr>
        <p:spPr>
          <a:xfrm>
            <a:off x="-7346" y="5928072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rgbClr val="0F9ED5">
                  <a:lumMod val="20000"/>
                  <a:lumOff val="80000"/>
                </a:srgbClr>
              </a:gs>
              <a:gs pos="50000">
                <a:sysClr val="window" lastClr="FFFFFF"/>
              </a:gs>
              <a:gs pos="100000">
                <a:srgbClr val="0F9ED5">
                  <a:lumMod val="20000"/>
                  <a:lumOff val="80000"/>
                </a:srgbClr>
              </a:gs>
            </a:gsLst>
            <a:lin ang="0" scaled="1"/>
            <a:tileRect/>
          </a:gradFill>
          <a:ln w="15875" cap="flat" cmpd="sng" algn="ctr">
            <a:solidFill>
              <a:srgbClr val="156082">
                <a:alpha val="0"/>
              </a:srgbClr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27" name="Picture 8" descr="Hochschule Flensburg (Fachhochschule) – Wikipedia">
            <a:extLst>
              <a:ext uri="{FF2B5EF4-FFF2-40B4-BE49-F238E27FC236}">
                <a16:creationId xmlns:a16="http://schemas.microsoft.com/office/drawing/2014/main" id="{811EE0A2-7B7B-66E3-65D6-A7F1D9F140E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70439" y="264131"/>
            <a:ext cx="2518129" cy="1672124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14" descr="A black background with blue text&#10;&#10;AI-generated content may be incorrect.">
            <a:extLst>
              <a:ext uri="{FF2B5EF4-FFF2-40B4-BE49-F238E27FC236}">
                <a16:creationId xmlns:a16="http://schemas.microsoft.com/office/drawing/2014/main" id="{88A3D22E-A6EF-A83A-86D5-C96D877CA4B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445647" y="719916"/>
            <a:ext cx="3586922" cy="1040207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Grafik 28">
            <a:extLst>
              <a:ext uri="{FF2B5EF4-FFF2-40B4-BE49-F238E27FC236}">
                <a16:creationId xmlns:a16="http://schemas.microsoft.com/office/drawing/2014/main" id="{427A8DB5-3232-D63A-5CDF-0D3AD6450C3C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3825103" y="243054"/>
            <a:ext cx="3684008" cy="1703223"/>
          </a:xfrm>
          <a:prstGeom prst="rect">
            <a:avLst/>
          </a:prstGeom>
        </p:spPr>
      </p:pic>
      <p:sp>
        <p:nvSpPr>
          <p:cNvPr id="37" name="Rechteck 36">
            <a:extLst>
              <a:ext uri="{FF2B5EF4-FFF2-40B4-BE49-F238E27FC236}">
                <a16:creationId xmlns:a16="http://schemas.microsoft.com/office/drawing/2014/main" id="{64DF9F8D-C604-6899-2A9F-B743F135F77F}"/>
              </a:ext>
            </a:extLst>
          </p:cNvPr>
          <p:cNvSpPr/>
          <p:nvPr userDrawn="1"/>
        </p:nvSpPr>
        <p:spPr>
          <a:xfrm>
            <a:off x="-4172" y="6542492"/>
            <a:ext cx="12207494" cy="365126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26" name="Picture 18" descr="A white windmill with clouds in the background&#10;&#10;AI-generated content may be incorrect.">
            <a:extLst>
              <a:ext uri="{FF2B5EF4-FFF2-40B4-BE49-F238E27FC236}">
                <a16:creationId xmlns:a16="http://schemas.microsoft.com/office/drawing/2014/main" id="{B8218494-1E39-5AB1-96DD-936404956E57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9950" y="5430021"/>
            <a:ext cx="1753782" cy="1313633"/>
          </a:xfrm>
          <a:prstGeom prst="rect">
            <a:avLst/>
          </a:prstGeom>
        </p:spPr>
      </p:pic>
      <p:sp>
        <p:nvSpPr>
          <p:cNvPr id="9" name="Datumsplatzhalter 8">
            <a:extLst>
              <a:ext uri="{FF2B5EF4-FFF2-40B4-BE49-F238E27FC236}">
                <a16:creationId xmlns:a16="http://schemas.microsoft.com/office/drawing/2014/main" id="{92481298-4C0F-EA65-5B6C-A8C699065050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24/11/2025</a:t>
            </a:fld>
            <a:endParaRPr lang="en-GB"/>
          </a:p>
        </p:txBody>
      </p:sp>
      <p:sp>
        <p:nvSpPr>
          <p:cNvPr id="10" name="Fußzeilenplatzhalter 9">
            <a:extLst>
              <a:ext uri="{FF2B5EF4-FFF2-40B4-BE49-F238E27FC236}">
                <a16:creationId xmlns:a16="http://schemas.microsoft.com/office/drawing/2014/main" id="{FE2B40EC-630A-E9C4-E03F-6B440732207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GB"/>
              <a:t>Optimus Syria</a:t>
            </a:r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B363FCB4-D064-121D-B878-2F160740580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394131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8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1.xml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Relationship Id="rId5" Type="http://schemas.openxmlformats.org/officeDocument/2006/relationships/theme" Target="../theme/theme3.xml"/><Relationship Id="rId4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hteck 13">
            <a:extLst>
              <a:ext uri="{FF2B5EF4-FFF2-40B4-BE49-F238E27FC236}">
                <a16:creationId xmlns:a16="http://schemas.microsoft.com/office/drawing/2014/main" id="{CD36E4AE-BF2C-D504-0887-03D81D07CDC8}"/>
              </a:ext>
            </a:extLst>
          </p:cNvPr>
          <p:cNvSpPr/>
          <p:nvPr userDrawn="1"/>
        </p:nvSpPr>
        <p:spPr>
          <a:xfrm>
            <a:off x="-4172" y="6542492"/>
            <a:ext cx="12207494" cy="365126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Free-form: Shape 13">
            <a:extLst>
              <a:ext uri="{FF2B5EF4-FFF2-40B4-BE49-F238E27FC236}">
                <a16:creationId xmlns:a16="http://schemas.microsoft.com/office/drawing/2014/main" id="{7608A32D-44F3-01F2-D6ED-924DFF3CC333}"/>
              </a:ext>
            </a:extLst>
          </p:cNvPr>
          <p:cNvSpPr/>
          <p:nvPr/>
        </p:nvSpPr>
        <p:spPr>
          <a:xfrm rot="10800000">
            <a:off x="-35168" y="277945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20000"/>
                  <a:lumOff val="80000"/>
                </a:schemeClr>
              </a:gs>
              <a:gs pos="50000">
                <a:schemeClr val="bg1"/>
              </a:gs>
              <a:gs pos="100000">
                <a:schemeClr val="accent4">
                  <a:lumMod val="20000"/>
                  <a:lumOff val="80000"/>
                </a:schemeClr>
              </a:gs>
            </a:gsLst>
            <a:lin ang="0" scaled="1"/>
            <a:tileRect/>
          </a:gradFill>
          <a:ln w="15875">
            <a:solidFill>
              <a:schemeClr val="accent1">
                <a:alpha val="0"/>
              </a:schemeClr>
            </a:solidFill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6B4C36-B64B-F839-789E-0C40D5E60E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8" name="Free-form: Shape 13">
            <a:extLst>
              <a:ext uri="{FF2B5EF4-FFF2-40B4-BE49-F238E27FC236}">
                <a16:creationId xmlns:a16="http://schemas.microsoft.com/office/drawing/2014/main" id="{1DE142EE-E501-93E6-565D-AB4A5A647F0F}"/>
              </a:ext>
            </a:extLst>
          </p:cNvPr>
          <p:cNvSpPr/>
          <p:nvPr/>
        </p:nvSpPr>
        <p:spPr>
          <a:xfrm rot="10800000">
            <a:off x="-2090" y="-18190"/>
            <a:ext cx="12192000" cy="89882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Free-form: Shape 13">
            <a:extLst>
              <a:ext uri="{FF2B5EF4-FFF2-40B4-BE49-F238E27FC236}">
                <a16:creationId xmlns:a16="http://schemas.microsoft.com/office/drawing/2014/main" id="{776A7918-93DA-D7CE-97A3-DDF18B379B65}"/>
              </a:ext>
            </a:extLst>
          </p:cNvPr>
          <p:cNvSpPr/>
          <p:nvPr/>
        </p:nvSpPr>
        <p:spPr>
          <a:xfrm rot="10800000">
            <a:off x="-26376" y="-237830"/>
            <a:ext cx="12218376" cy="965187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chemeClr val="accent4">
                  <a:lumMod val="40000"/>
                  <a:lumOff val="6000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64827E-F028-4C94-EB63-600BCABCD1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474613" y="6564113"/>
            <a:ext cx="28791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GB" err="1"/>
              <a:t>Griid</a:t>
            </a:r>
            <a:r>
              <a:rPr lang="en-GB"/>
              <a:t> Code Development / Optimus Syria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B8DD39-3F07-862A-3C91-AC52452918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949570" y="6566803"/>
            <a:ext cx="92895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013F6232-4F06-48BA-8F69-BF531F607829}" type="slidenum">
              <a:rPr lang="en-GB" smtClean="0"/>
              <a:pPr/>
              <a:t>‹Nr.›</a:t>
            </a:fld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D593D3-E60D-CF97-AC8A-2B02D933B0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566803"/>
            <a:ext cx="11113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fld id="{02AEE8E4-D792-40D2-B8D4-0007E21A0CF8}" type="datetime1">
              <a:rPr lang="en-GB" smtClean="0"/>
              <a:t>24/11/2025</a:t>
            </a:fld>
            <a:endParaRPr lang="en-GB"/>
          </a:p>
        </p:txBody>
      </p:sp>
      <p:sp>
        <p:nvSpPr>
          <p:cNvPr id="11" name="Free-form: Shape 13">
            <a:extLst>
              <a:ext uri="{FF2B5EF4-FFF2-40B4-BE49-F238E27FC236}">
                <a16:creationId xmlns:a16="http://schemas.microsoft.com/office/drawing/2014/main" id="{1ABD3F4B-4853-EC8E-00EB-5109F86CE0F1}"/>
              </a:ext>
            </a:extLst>
          </p:cNvPr>
          <p:cNvSpPr/>
          <p:nvPr userDrawn="1"/>
        </p:nvSpPr>
        <p:spPr>
          <a:xfrm rot="10800000">
            <a:off x="-35168" y="277945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20000"/>
                  <a:lumOff val="80000"/>
                </a:schemeClr>
              </a:gs>
              <a:gs pos="50000">
                <a:schemeClr val="bg1"/>
              </a:gs>
              <a:gs pos="100000">
                <a:schemeClr val="accent4">
                  <a:lumMod val="20000"/>
                  <a:lumOff val="80000"/>
                </a:schemeClr>
              </a:gs>
            </a:gsLst>
            <a:lin ang="0" scaled="1"/>
            <a:tileRect/>
          </a:gradFill>
          <a:ln w="15875">
            <a:solidFill>
              <a:schemeClr val="accent1">
                <a:alpha val="0"/>
              </a:schemeClr>
            </a:solidFill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Free-form: Shape 13">
            <a:extLst>
              <a:ext uri="{FF2B5EF4-FFF2-40B4-BE49-F238E27FC236}">
                <a16:creationId xmlns:a16="http://schemas.microsoft.com/office/drawing/2014/main" id="{2BF40EC9-0D42-5E08-04BD-F330229C7518}"/>
              </a:ext>
            </a:extLst>
          </p:cNvPr>
          <p:cNvSpPr/>
          <p:nvPr userDrawn="1"/>
        </p:nvSpPr>
        <p:spPr>
          <a:xfrm rot="10800000">
            <a:off x="-2090" y="-18190"/>
            <a:ext cx="12192000" cy="89882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Free-form: Shape 13">
            <a:extLst>
              <a:ext uri="{FF2B5EF4-FFF2-40B4-BE49-F238E27FC236}">
                <a16:creationId xmlns:a16="http://schemas.microsoft.com/office/drawing/2014/main" id="{0BB1BAA4-B843-57F3-9FCE-C9585D332FAE}"/>
              </a:ext>
            </a:extLst>
          </p:cNvPr>
          <p:cNvSpPr/>
          <p:nvPr userDrawn="1"/>
        </p:nvSpPr>
        <p:spPr>
          <a:xfrm rot="10800000">
            <a:off x="-26376" y="-254312"/>
            <a:ext cx="12218376" cy="965187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chemeClr val="accent4">
                  <a:lumMod val="40000"/>
                  <a:lumOff val="6000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4A75E23-C68E-95B1-6539-4A187BBC4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531784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86" r:id="rId2"/>
    <p:sldLayoutId id="2147483674" r:id="rId3"/>
    <p:sldLayoutId id="2147483685" r:id="rId4"/>
    <p:sldLayoutId id="2147483684" r:id="rId5"/>
    <p:sldLayoutId id="2147483688" r:id="rId6"/>
    <p:sldLayoutId id="2147483666" r:id="rId7"/>
    <p:sldLayoutId id="2147483689" r:id="rId8"/>
    <p:sldLayoutId id="2147483662" r:id="rId9"/>
    <p:sldLayoutId id="2147483690" r:id="rId10"/>
    <p:sldLayoutId id="2147483664" r:id="rId11"/>
    <p:sldLayoutId id="2147483665" r:id="rId12"/>
    <p:sldLayoutId id="2147483667" r:id="rId13"/>
    <p:sldLayoutId id="2147483668" r:id="rId14"/>
    <p:sldLayoutId id="2147483669" r:id="rId15"/>
    <p:sldLayoutId id="2147483670" r:id="rId16"/>
    <p:sldLayoutId id="2147483671" r:id="rId17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hteck 13">
            <a:extLst>
              <a:ext uri="{FF2B5EF4-FFF2-40B4-BE49-F238E27FC236}">
                <a16:creationId xmlns:a16="http://schemas.microsoft.com/office/drawing/2014/main" id="{CD36E4AE-BF2C-D504-0887-03D81D07CDC8}"/>
              </a:ext>
            </a:extLst>
          </p:cNvPr>
          <p:cNvSpPr/>
          <p:nvPr userDrawn="1"/>
        </p:nvSpPr>
        <p:spPr>
          <a:xfrm>
            <a:off x="-4172" y="6542492"/>
            <a:ext cx="12207494" cy="365126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Free-form: Shape 13">
            <a:extLst>
              <a:ext uri="{FF2B5EF4-FFF2-40B4-BE49-F238E27FC236}">
                <a16:creationId xmlns:a16="http://schemas.microsoft.com/office/drawing/2014/main" id="{7608A32D-44F3-01F2-D6ED-924DFF3CC333}"/>
              </a:ext>
            </a:extLst>
          </p:cNvPr>
          <p:cNvSpPr/>
          <p:nvPr/>
        </p:nvSpPr>
        <p:spPr>
          <a:xfrm rot="10800000">
            <a:off x="-35168" y="277945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20000"/>
                  <a:lumOff val="80000"/>
                </a:schemeClr>
              </a:gs>
              <a:gs pos="50000">
                <a:schemeClr val="bg1"/>
              </a:gs>
              <a:gs pos="100000">
                <a:schemeClr val="accent4">
                  <a:lumMod val="20000"/>
                  <a:lumOff val="80000"/>
                </a:schemeClr>
              </a:gs>
            </a:gsLst>
            <a:lin ang="0" scaled="1"/>
            <a:tileRect/>
          </a:gradFill>
          <a:ln w="15875">
            <a:solidFill>
              <a:schemeClr val="accent1">
                <a:alpha val="0"/>
              </a:schemeClr>
            </a:solidFill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6B4C36-B64B-F839-789E-0C40D5E60E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8" name="Free-form: Shape 13">
            <a:extLst>
              <a:ext uri="{FF2B5EF4-FFF2-40B4-BE49-F238E27FC236}">
                <a16:creationId xmlns:a16="http://schemas.microsoft.com/office/drawing/2014/main" id="{1DE142EE-E501-93E6-565D-AB4A5A647F0F}"/>
              </a:ext>
            </a:extLst>
          </p:cNvPr>
          <p:cNvSpPr/>
          <p:nvPr/>
        </p:nvSpPr>
        <p:spPr>
          <a:xfrm rot="10800000">
            <a:off x="-2090" y="-18190"/>
            <a:ext cx="12192000" cy="89882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Free-form: Shape 13">
            <a:extLst>
              <a:ext uri="{FF2B5EF4-FFF2-40B4-BE49-F238E27FC236}">
                <a16:creationId xmlns:a16="http://schemas.microsoft.com/office/drawing/2014/main" id="{776A7918-93DA-D7CE-97A3-DDF18B379B65}"/>
              </a:ext>
            </a:extLst>
          </p:cNvPr>
          <p:cNvSpPr/>
          <p:nvPr/>
        </p:nvSpPr>
        <p:spPr>
          <a:xfrm rot="10800000">
            <a:off x="-26376" y="-237830"/>
            <a:ext cx="12218376" cy="965187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chemeClr val="accent4">
                  <a:lumMod val="40000"/>
                  <a:lumOff val="6000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64827E-F028-4C94-EB63-600BCABCD1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474613" y="6564113"/>
            <a:ext cx="28791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GB"/>
              <a:t>Team Name / Optimus Syria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B8DD39-3F07-862A-3C91-AC52452918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949570" y="6566803"/>
            <a:ext cx="92895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013F6232-4F06-48BA-8F69-BF531F607829}" type="slidenum">
              <a:rPr lang="en-GB" smtClean="0"/>
              <a:pPr/>
              <a:t>‹Nr.›</a:t>
            </a:fld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D593D3-E60D-CF97-AC8A-2B02D933B0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566803"/>
            <a:ext cx="11113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fld id="{02AEE8E4-D792-40D2-B8D4-0007E21A0CF8}" type="datetime1">
              <a:rPr lang="en-GB" smtClean="0"/>
              <a:t>24/11/2025</a:t>
            </a:fld>
            <a:endParaRPr lang="en-GB"/>
          </a:p>
        </p:txBody>
      </p:sp>
      <p:sp>
        <p:nvSpPr>
          <p:cNvPr id="11" name="Free-form: Shape 13">
            <a:extLst>
              <a:ext uri="{FF2B5EF4-FFF2-40B4-BE49-F238E27FC236}">
                <a16:creationId xmlns:a16="http://schemas.microsoft.com/office/drawing/2014/main" id="{1ABD3F4B-4853-EC8E-00EB-5109F86CE0F1}"/>
              </a:ext>
            </a:extLst>
          </p:cNvPr>
          <p:cNvSpPr/>
          <p:nvPr userDrawn="1"/>
        </p:nvSpPr>
        <p:spPr>
          <a:xfrm rot="10800000">
            <a:off x="-35168" y="277945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20000"/>
                  <a:lumOff val="80000"/>
                </a:schemeClr>
              </a:gs>
              <a:gs pos="50000">
                <a:schemeClr val="bg1"/>
              </a:gs>
              <a:gs pos="100000">
                <a:schemeClr val="accent4">
                  <a:lumMod val="20000"/>
                  <a:lumOff val="80000"/>
                </a:schemeClr>
              </a:gs>
            </a:gsLst>
            <a:lin ang="0" scaled="1"/>
            <a:tileRect/>
          </a:gradFill>
          <a:ln w="15875">
            <a:solidFill>
              <a:schemeClr val="accent1">
                <a:alpha val="0"/>
              </a:schemeClr>
            </a:solidFill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Free-form: Shape 13">
            <a:extLst>
              <a:ext uri="{FF2B5EF4-FFF2-40B4-BE49-F238E27FC236}">
                <a16:creationId xmlns:a16="http://schemas.microsoft.com/office/drawing/2014/main" id="{2BF40EC9-0D42-5E08-04BD-F330229C7518}"/>
              </a:ext>
            </a:extLst>
          </p:cNvPr>
          <p:cNvSpPr/>
          <p:nvPr userDrawn="1"/>
        </p:nvSpPr>
        <p:spPr>
          <a:xfrm rot="10800000">
            <a:off x="-2090" y="-18190"/>
            <a:ext cx="12192000" cy="89882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Free-form: Shape 13">
            <a:extLst>
              <a:ext uri="{FF2B5EF4-FFF2-40B4-BE49-F238E27FC236}">
                <a16:creationId xmlns:a16="http://schemas.microsoft.com/office/drawing/2014/main" id="{0BB1BAA4-B843-57F3-9FCE-C9585D332FAE}"/>
              </a:ext>
            </a:extLst>
          </p:cNvPr>
          <p:cNvSpPr/>
          <p:nvPr userDrawn="1"/>
        </p:nvSpPr>
        <p:spPr>
          <a:xfrm rot="10800000">
            <a:off x="-26376" y="-254312"/>
            <a:ext cx="12218376" cy="965187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chemeClr val="accent4">
                  <a:lumMod val="40000"/>
                  <a:lumOff val="6000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4A75E23-C68E-95B1-6539-4A187BBC4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339945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2" r:id="rId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65620995-1DFE-FB81-B1FD-1F43AD25E6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F9FFA78-25BC-8AF7-71C4-CCA91A9325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8CB32A29-5E71-00A9-66DA-1FED8EA8FA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474613" y="6564113"/>
            <a:ext cx="28791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GB"/>
              <a:t>Optimus Syria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75A1141D-8ADF-66F7-AB0C-CAA4E1B2CB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949570" y="6566803"/>
            <a:ext cx="92895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013F6232-4F06-48BA-8F69-BF531F607829}" type="slidenum">
              <a:rPr lang="en-GB" smtClean="0"/>
              <a:pPr/>
              <a:t>‹Nr.›</a:t>
            </a:fld>
            <a:endParaRPr lang="en-GB"/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07138566-A99B-8C60-010B-13E0F43C56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566803"/>
            <a:ext cx="11113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fld id="{02AEE8E4-D792-40D2-B8D4-0007E21A0CF8}" type="datetime1">
              <a:rPr lang="en-GB" smtClean="0"/>
              <a:t>24/11/2025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115578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3" r:id="rId2"/>
    <p:sldLayoutId id="2147483675" r:id="rId3"/>
    <p:sldLayoutId id="2147483678" r:id="rId4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6BE6549-3E86-5AE5-9E5E-148C592FC8CE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prstGeom prst="rect">
            <a:avLst/>
          </a:prstGeom>
        </p:spPr>
        <p:txBody>
          <a:bodyPr/>
          <a:lstStyle/>
          <a:p>
            <a:fld id="{E9760055-B4F0-4D03-A54C-8326910BC371}" type="datetime1">
              <a:rPr lang="en-GB" smtClean="0"/>
              <a:t>24/11/2025</a:t>
            </a:fld>
            <a:endParaRPr lang="en-GB"/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51D6649A-1E87-C9DD-E3C2-12FE7407BD35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GB"/>
              <a:t> Optimus Syria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300F9B30-73C2-F457-56BA-0324B85690FB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1</a:t>
            </a:fld>
            <a:endParaRPr lang="en-GB"/>
          </a:p>
        </p:txBody>
      </p:sp>
      <p:sp>
        <p:nvSpPr>
          <p:cNvPr id="26" name="Title 1">
            <a:extLst>
              <a:ext uri="{FF2B5EF4-FFF2-40B4-BE49-F238E27FC236}">
                <a16:creationId xmlns:a16="http://schemas.microsoft.com/office/drawing/2014/main" id="{9ACFA37C-C6C3-881E-9DEF-5A96ED2C1D15}"/>
              </a:ext>
            </a:extLst>
          </p:cNvPr>
          <p:cNvSpPr txBox="1">
            <a:spLocks/>
          </p:cNvSpPr>
          <p:nvPr/>
        </p:nvSpPr>
        <p:spPr>
          <a:xfrm>
            <a:off x="1565241" y="2358493"/>
            <a:ext cx="9144000" cy="91259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Aptos (Textkörper)"/>
                <a:ea typeface="+mj-ea"/>
                <a:cs typeface="+mj-cs"/>
              </a:defRPr>
            </a:lvl1pPr>
          </a:lstStyle>
          <a:p>
            <a:endParaRPr lang="en-GB" sz="4000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5103C8AC-ACFF-082C-E04A-301598446FCB}"/>
              </a:ext>
            </a:extLst>
          </p:cNvPr>
          <p:cNvSpPr txBox="1">
            <a:spLocks/>
          </p:cNvSpPr>
          <p:nvPr/>
        </p:nvSpPr>
        <p:spPr>
          <a:xfrm>
            <a:off x="1524000" y="2492563"/>
            <a:ext cx="9144000" cy="912598"/>
          </a:xfrm>
          <a:prstGeom prst="rect">
            <a:avLst/>
          </a:prstGeom>
        </p:spPr>
        <p:txBody>
          <a:bodyPr numCol="1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Aptos (Textkörper)"/>
                <a:ea typeface="+mj-ea"/>
                <a:cs typeface="+mj-cs"/>
              </a:defRPr>
            </a:lvl1pPr>
          </a:lstStyle>
          <a:p>
            <a:r>
              <a:rPr lang="it-IT" sz="4000"/>
              <a:t>Weekly report: </a:t>
            </a:r>
            <a:r>
              <a:rPr lang="it-IT" sz="4000" err="1"/>
              <a:t>Grid</a:t>
            </a:r>
            <a:r>
              <a:rPr lang="it-IT" sz="4000"/>
              <a:t> Code Development</a:t>
            </a:r>
            <a:endParaRPr lang="en-GB" sz="4000"/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C45C6A5A-D647-B958-532A-B6FD2180F534}"/>
              </a:ext>
            </a:extLst>
          </p:cNvPr>
          <p:cNvSpPr txBox="1"/>
          <p:nvPr/>
        </p:nvSpPr>
        <p:spPr>
          <a:xfrm>
            <a:off x="3591498" y="3539230"/>
            <a:ext cx="4786685" cy="129266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it-IT" sz="2000">
                <a:latin typeface="Aptos (Textkörper)"/>
              </a:rPr>
              <a:t>Week </a:t>
            </a:r>
            <a:r>
              <a:rPr lang="it-IT" sz="2000" err="1">
                <a:latin typeface="Aptos (Textkörper)"/>
              </a:rPr>
              <a:t>number</a:t>
            </a:r>
            <a:r>
              <a:rPr lang="it-IT" sz="2000">
                <a:latin typeface="Aptos (Textkörper)"/>
              </a:rPr>
              <a:t>: 8</a:t>
            </a:r>
          </a:p>
          <a:p>
            <a:pPr algn="ctr"/>
            <a:r>
              <a:rPr lang="it-IT" sz="2000">
                <a:latin typeface="Aptos (Textkörper)"/>
              </a:rPr>
              <a:t>Date: 25/11/2025</a:t>
            </a:r>
          </a:p>
          <a:p>
            <a:pPr algn="ctr"/>
            <a:r>
              <a:rPr lang="it-IT" sz="2000">
                <a:latin typeface="Aptos (Textkörper)"/>
              </a:rPr>
              <a:t>Supervisor: Prof. Ing. </a:t>
            </a:r>
            <a:r>
              <a:rPr lang="it-IT" sz="2000" err="1">
                <a:latin typeface="Aptos (Textkörper)"/>
              </a:rPr>
              <a:t>Saiju</a:t>
            </a:r>
            <a:r>
              <a:rPr lang="it-IT" sz="2000">
                <a:latin typeface="Aptos (Textkörper)"/>
              </a:rPr>
              <a:t> </a:t>
            </a:r>
          </a:p>
          <a:p>
            <a:endParaRPr lang="en-GB"/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33C000AB-BF1C-5055-7B6C-B6CC03EBAE85}"/>
              </a:ext>
            </a:extLst>
          </p:cNvPr>
          <p:cNvSpPr txBox="1">
            <a:spLocks/>
          </p:cNvSpPr>
          <p:nvPr/>
        </p:nvSpPr>
        <p:spPr>
          <a:xfrm>
            <a:off x="3420429" y="4789634"/>
            <a:ext cx="5128821" cy="331717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0" kern="1200">
                <a:solidFill>
                  <a:schemeClr val="tx1"/>
                </a:solidFill>
                <a:latin typeface="Aptos (Textkörper)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err="1"/>
              <a:t>Presented</a:t>
            </a:r>
            <a:r>
              <a:rPr lang="de-DE"/>
              <a:t> </a:t>
            </a:r>
            <a:r>
              <a:rPr lang="de-DE" err="1"/>
              <a:t>by</a:t>
            </a:r>
            <a:r>
              <a:rPr lang="de-DE"/>
              <a:t>: Josef Remberger / </a:t>
            </a:r>
            <a:r>
              <a:rPr lang="de-DE" sz="1400"/>
              <a:t>Vijay </a:t>
            </a:r>
            <a:r>
              <a:rPr lang="de-DE" sz="1400" err="1"/>
              <a:t>Simha</a:t>
            </a:r>
            <a:r>
              <a:rPr lang="de-DE" sz="1400"/>
              <a:t> Reddy </a:t>
            </a:r>
            <a:r>
              <a:rPr lang="de-DE" sz="1400" err="1"/>
              <a:t>Bogala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931599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BC8A5761-C58E-5FDF-F2C0-8788E28E8E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Milestones</a:t>
            </a:r>
          </a:p>
          <a:p>
            <a:r>
              <a:rPr lang="de-DE" err="1"/>
              <a:t>PowerFactory</a:t>
            </a:r>
            <a:r>
              <a:rPr lang="de-DE"/>
              <a:t> </a:t>
            </a:r>
            <a:r>
              <a:rPr lang="de-DE" err="1"/>
              <a:t>Calculations</a:t>
            </a:r>
            <a:endParaRPr lang="de-DE"/>
          </a:p>
          <a:p>
            <a:r>
              <a:rPr lang="de-DE" err="1"/>
              <a:t>PowerFactory</a:t>
            </a:r>
            <a:r>
              <a:rPr lang="de-DE"/>
              <a:t> </a:t>
            </a:r>
            <a:r>
              <a:rPr lang="de-DE" err="1"/>
              <a:t>Simulations</a:t>
            </a:r>
            <a:endParaRPr lang="de-DE"/>
          </a:p>
          <a:p>
            <a:r>
              <a:rPr lang="de-DE"/>
              <a:t>Outlook</a:t>
            </a:r>
            <a:endParaRPr lang="en-US"/>
          </a:p>
          <a:p>
            <a:endParaRPr lang="en-GB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E7B97233-25F0-AC70-89CB-32DC983F9A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List of contents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32F8E95-F853-D383-97C6-DACDAC8A45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24/11/2025</a:t>
            </a:fld>
            <a:endParaRPr lang="en-GB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99371BD-3289-37AA-010C-E60A7C4DEB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Grid Code Development / Optimus Syria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6B5AD07-F640-5D0C-F7E5-7D452038B5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2</a:t>
            </a:fld>
            <a:endParaRPr lang="en-GB"/>
          </a:p>
        </p:txBody>
      </p:sp>
      <p:sp>
        <p:nvSpPr>
          <p:cNvPr id="7" name="Textplatzhalter 16">
            <a:extLst>
              <a:ext uri="{FF2B5EF4-FFF2-40B4-BE49-F238E27FC236}">
                <a16:creationId xmlns:a16="http://schemas.microsoft.com/office/drawing/2014/main" id="{CEACD933-8F22-29A7-E9AC-5D793160E145}"/>
              </a:ext>
            </a:extLst>
          </p:cNvPr>
          <p:cNvSpPr txBox="1">
            <a:spLocks/>
          </p:cNvSpPr>
          <p:nvPr/>
        </p:nvSpPr>
        <p:spPr>
          <a:xfrm>
            <a:off x="2878528" y="6564113"/>
            <a:ext cx="5596085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de-DE" sz="1200" b="0" u="none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/>
              <a:t>Josef Remberger</a:t>
            </a:r>
          </a:p>
        </p:txBody>
      </p:sp>
    </p:spTree>
    <p:extLst>
      <p:ext uri="{BB962C8B-B14F-4D97-AF65-F5344CB8AC3E}">
        <p14:creationId xmlns:p14="http://schemas.microsoft.com/office/powerpoint/2010/main" val="26649312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772E82F-751C-9CDD-7F51-F8A868CFF6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1. Milestones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EF59BAB-43FB-D1E1-51A7-EAD15E6303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24/11/2025</a:t>
            </a:fld>
            <a:endParaRPr lang="en-GB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65B8928-1466-B0AB-173E-6A48832275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3</a:t>
            </a:fld>
            <a:endParaRPr lang="en-GB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FCCE7171-A413-C0C3-E8D9-C2A81930056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474613" y="6564113"/>
            <a:ext cx="2879187" cy="365125"/>
          </a:xfrm>
        </p:spPr>
        <p:txBody>
          <a:bodyPr/>
          <a:lstStyle/>
          <a:p>
            <a:r>
              <a:rPr lang="en-GB"/>
              <a:t>Grid Code Development / Optimus Syria</a:t>
            </a:r>
          </a:p>
        </p:txBody>
      </p:sp>
      <p:sp>
        <p:nvSpPr>
          <p:cNvPr id="9" name="Textplatzhalter 16">
            <a:extLst>
              <a:ext uri="{FF2B5EF4-FFF2-40B4-BE49-F238E27FC236}">
                <a16:creationId xmlns:a16="http://schemas.microsoft.com/office/drawing/2014/main" id="{16619651-CD3C-C0C4-0898-1C7F8C1F15A4}"/>
              </a:ext>
            </a:extLst>
          </p:cNvPr>
          <p:cNvSpPr txBox="1">
            <a:spLocks/>
          </p:cNvSpPr>
          <p:nvPr/>
        </p:nvSpPr>
        <p:spPr>
          <a:xfrm>
            <a:off x="2878528" y="6564113"/>
            <a:ext cx="5596085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de-DE" sz="1200" b="0" u="none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/>
              <a:t>Josef Remberger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74920889-891E-D00E-6D06-2019A0A158F2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2516021"/>
            <a:ext cx="10515600" cy="24666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753957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6">
            <a:extLst>
              <a:ext uri="{FF2B5EF4-FFF2-40B4-BE49-F238E27FC236}">
                <a16:creationId xmlns:a16="http://schemas.microsoft.com/office/drawing/2014/main" id="{2E69788C-3D63-655C-B160-44D540649D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2. </a:t>
            </a:r>
            <a:r>
              <a:rPr lang="en-GB" err="1"/>
              <a:t>PowerFactory</a:t>
            </a:r>
            <a:r>
              <a:rPr lang="en-GB"/>
              <a:t> Calculations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521D73C-0798-D64A-65F8-347CE6F02788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24/11/2025</a:t>
            </a:fld>
            <a:endParaRPr lang="en-GB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A34618D-9962-E5B2-2630-9F76D5D6602B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4</a:t>
            </a:fld>
            <a:endParaRPr lang="en-GB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A7B91BDE-CD1F-21C8-B76D-275F49DC50DB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sz="1400"/>
              <a:t>[1]</a:t>
            </a:r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46E64777-270B-BA9C-6314-17581151996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GB"/>
              <a:t>Grid Code Development / Optimus Syria</a:t>
            </a:r>
          </a:p>
        </p:txBody>
      </p:sp>
      <p:sp>
        <p:nvSpPr>
          <p:cNvPr id="2" name="Textplatzhalter 16">
            <a:extLst>
              <a:ext uri="{FF2B5EF4-FFF2-40B4-BE49-F238E27FC236}">
                <a16:creationId xmlns:a16="http://schemas.microsoft.com/office/drawing/2014/main" id="{75227E0F-51BD-2CEF-733A-7F1CF24D57B3}"/>
              </a:ext>
            </a:extLst>
          </p:cNvPr>
          <p:cNvSpPr txBox="1">
            <a:spLocks/>
          </p:cNvSpPr>
          <p:nvPr/>
        </p:nvSpPr>
        <p:spPr>
          <a:xfrm>
            <a:off x="2878528" y="6564113"/>
            <a:ext cx="5596085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de-DE" sz="1200" b="0" u="none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/>
              <a:t>Josef Remberger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Inhaltsplatzhalter 11">
                <a:extLst>
                  <a:ext uri="{FF2B5EF4-FFF2-40B4-BE49-F238E27FC236}">
                    <a16:creationId xmlns:a16="http://schemas.microsoft.com/office/drawing/2014/main" id="{C8666119-5CEB-A7BA-8D63-57CC80ED616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GB"/>
                  <a:t>Three-phase short circuit FRT</a:t>
                </a:r>
              </a:p>
              <a:p>
                <a:pPr marL="0" indent="0">
                  <a:buNone/>
                </a:pPr>
                <a:endParaRPr lang="en-GB"/>
              </a:p>
              <a:p>
                <a:pPr marL="800100" lvl="1" indent="-342900">
                  <a:buFontTx/>
                  <a:buChar char="-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𝑔𝑟𝑖𝑑</m:t>
                        </m:r>
                      </m:sub>
                    </m:sSub>
                    <m:r>
                      <a:rPr lang="de-DE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 ×(</m:t>
                        </m:r>
                        <m:sSup>
                          <m:sSupPr>
                            <m:ctrlPr>
                              <a:rPr lang="de-DE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sSub>
                              <m:sSubPr>
                                <m:ctrlPr>
                                  <a:rPr lang="de-DE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e-DE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  <m:sub>
                                <m:r>
                                  <a:rPr lang="de-DE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𝑔𝑟𝑖𝑑</m:t>
                                </m:r>
                              </m:sub>
                            </m:sSub>
                            <m:r>
                              <a:rPr lang="de-DE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de-DE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bSup>
                          <m:sSubSupPr>
                            <m:ctrlPr>
                              <a:rPr lang="de-DE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𝑚𝑎𝑥</m:t>
                            </m:r>
                          </m:sub>
                          <m:sup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"</m:t>
                            </m:r>
                          </m:sup>
                        </m:sSubSup>
                      </m:den>
                    </m:f>
                  </m:oMath>
                </a14:m>
                <a:endParaRPr lang="en-GB"/>
              </a:p>
              <a:p>
                <a:pPr marL="800100" lvl="1" indent="-342900">
                  <a:buFontTx/>
                  <a:buChar char="-"/>
                </a:pPr>
                <a:endParaRPr lang="en-GB"/>
              </a:p>
              <a:p>
                <a:pPr marL="800100" lvl="1" indent="-342900">
                  <a:buFontTx/>
                  <a:buChar char="-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𝑔𝑟𝑖𝑑</m:t>
                        </m:r>
                      </m:sub>
                    </m:sSub>
                    <m:r>
                      <a:rPr lang="de-DE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de-DE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𝑍</m:t>
                            </m:r>
                          </m:e>
                          <m:sub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𝑔𝑟𝑖𝑑</m:t>
                            </m:r>
                          </m:sub>
                        </m:sSub>
                      </m:num>
                      <m:den>
                        <m:rad>
                          <m:radPr>
                            <m:degHide m:val="on"/>
                            <m:ctrlPr>
                              <a:rPr lang="de-DE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1+(</m:t>
                            </m:r>
                            <m:sSup>
                              <m:sSupPr>
                                <m:ctrlPr>
                                  <a:rPr lang="de-DE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f>
                                  <m:fPr>
                                    <m:ctrlPr>
                                      <a:rPr lang="de-DE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de-DE" i="1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num>
                                  <m:den>
                                    <m:r>
                                      <a:rPr lang="de-DE" i="1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den>
                                </m:f>
                                <m:r>
                                  <a:rPr lang="de-DE" i="1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de-DE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</m:oMath>
                </a14:m>
                <a:r>
                  <a:rPr lang="en-GB"/>
                  <a:t>            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de-DE" i="1">
                            <a:latin typeface="Cambria Math" panose="02040503050406030204" pitchFamily="18" charset="0"/>
                          </a:rPr>
                          <m:t>𝑔𝑟𝑖𝑑</m:t>
                        </m:r>
                      </m:sub>
                    </m:sSub>
                    <m:r>
                      <a:rPr lang="de-DE" i="1">
                        <a:latin typeface="Cambria Math" panose="02040503050406030204" pitchFamily="18" charset="0"/>
                      </a:rPr>
                      <m:t>= </m:t>
                    </m:r>
                    <m:rad>
                      <m:radPr>
                        <m:degHide m:val="on"/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de-D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sSub>
                              <m:sSubPr>
                                <m:ctrlPr>
                                  <a:rPr lang="de-D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e-DE" i="1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de-DE" i="1">
                                    <a:latin typeface="Cambria Math" panose="02040503050406030204" pitchFamily="18" charset="0"/>
                                  </a:rPr>
                                  <m:t>𝑍</m:t>
                                </m:r>
                              </m:e>
                              <m:sub>
                                <m:r>
                                  <a:rPr lang="de-DE" i="1">
                                    <a:latin typeface="Cambria Math" panose="02040503050406030204" pitchFamily="18" charset="0"/>
                                  </a:rPr>
                                  <m:t>𝑔𝑟𝑖𝑑</m:t>
                                </m:r>
                              </m:sub>
                            </m:sSub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a:rPr lang="de-DE">
                        <a:latin typeface="Cambria Math" panose="02040503050406030204" pitchFamily="18" charset="0"/>
                      </a:rPr>
                      <m:t>− </m:t>
                    </m:r>
                    <m:rad>
                      <m:radPr>
                        <m:degHide m:val="on"/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de-D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de-D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e-DE" i="1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de-DE" i="1">
                                    <a:latin typeface="Cambria Math" panose="02040503050406030204" pitchFamily="18" charset="0"/>
                                  </a:rPr>
                                  <m:t>𝑔𝑟𝑖𝑑</m:t>
                                </m:r>
                              </m:sub>
                            </m:sSub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endParaRPr lang="en-GB"/>
              </a:p>
              <a:p>
                <a:pPr marL="800100" lvl="1" indent="-342900">
                  <a:buFontTx/>
                  <a:buChar char="-"/>
                </a:pPr>
                <a:endParaRPr lang="en-GB"/>
              </a:p>
              <a:p>
                <a:pPr marL="800100" lvl="1" indent="-342900">
                  <a:buFontTx/>
                  <a:buChar char="-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bar>
                          <m:bar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𝑍</m:t>
                            </m:r>
                          </m:e>
                        </m:bar>
                      </m:e>
                      <m:sub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𝑔𝑟𝑖𝑑</m:t>
                        </m:r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  <m:r>
                      <a:rPr lang="de-DE" b="0" i="1" smtClean="0">
                        <a:latin typeface="Cambria Math" panose="02040503050406030204" pitchFamily="18" charset="0"/>
                      </a:rPr>
                      <m:t>= </m:t>
                    </m:r>
                    <m:sSub>
                      <m:sSubPr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𝑔𝑟𝑖𝑑</m:t>
                        </m:r>
                      </m:sub>
                    </m:sSub>
                    <m:r>
                      <a:rPr lang="de-DE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𝑗</m:t>
                    </m:r>
                    <m:sSub>
                      <m:sSubPr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𝑔𝑟𝑖𝑑</m:t>
                        </m:r>
                      </m:sub>
                    </m:sSub>
                  </m:oMath>
                </a14:m>
                <a:endParaRPr lang="en-GB"/>
              </a:p>
              <a:p>
                <a:pPr marL="800100" lvl="1" indent="-342900">
                  <a:buFontTx/>
                  <a:buChar char="-"/>
                </a:pPr>
                <a:endParaRPr lang="en-GB"/>
              </a:p>
              <a:p>
                <a:pPr marL="800100" lvl="1" indent="-342900">
                  <a:buFontTx/>
                  <a:buChar char="-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bar>
                          <m:bar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𝑍</m:t>
                            </m:r>
                          </m:e>
                        </m:bar>
                      </m:e>
                      <m:sub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𝑓𝑎𝑢𝑙𝑡</m:t>
                        </m:r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  <m:r>
                      <a:rPr lang="de-DE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de-DE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𝑓𝑎𝑢𝑙𝑡</m:t>
                            </m:r>
                          </m:sub>
                        </m:sSub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de-D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 </m:t>
                        </m:r>
                        <m:sSub>
                          <m:sSubPr>
                            <m:ctrlPr>
                              <a:rPr lang="de-DE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bar>
                              <m:barPr>
                                <m:ctrlPr>
                                  <a:rPr lang="en-GB" i="1">
                                    <a:latin typeface="Cambria Math" panose="02040503050406030204" pitchFamily="18" charset="0"/>
                                  </a:rPr>
                                </m:ctrlPr>
                              </m:barPr>
                              <m:e>
                                <m:r>
                                  <a:rPr lang="de-DE" i="1">
                                    <a:latin typeface="Cambria Math" panose="02040503050406030204" pitchFamily="18" charset="0"/>
                                  </a:rPr>
                                  <m:t>𝑍</m:t>
                                </m:r>
                              </m:e>
                            </m:bar>
                          </m:e>
                          <m:sub>
                            <m:r>
                              <a:rPr lang="de-DE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𝑔𝑟𝑖𝑑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de-DE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𝑔𝑟𝑖𝑑</m:t>
                            </m:r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 − </m:t>
                            </m:r>
                            <m:sSub>
                              <m:sSubPr>
                                <m:ctrlPr>
                                  <a:rPr lang="de-DE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e-DE" i="1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  <m:sub>
                                <m:r>
                                  <a:rPr lang="de-DE" b="0" i="1" smtClean="0">
                                    <a:latin typeface="Cambria Math" panose="02040503050406030204" pitchFamily="18" charset="0"/>
                                  </a:rPr>
                                  <m:t>𝑓𝑎𝑢𝑙𝑡</m:t>
                                </m:r>
                              </m:sub>
                            </m:sSub>
                          </m:sub>
                        </m:sSub>
                      </m:den>
                    </m:f>
                  </m:oMath>
                </a14:m>
                <a:endParaRPr lang="en-GB"/>
              </a:p>
            </p:txBody>
          </p:sp>
        </mc:Choice>
        <mc:Fallback xmlns="">
          <p:sp>
            <p:nvSpPr>
              <p:cNvPr id="12" name="Inhaltsplatzhalter 11">
                <a:extLst>
                  <a:ext uri="{FF2B5EF4-FFF2-40B4-BE49-F238E27FC236}">
                    <a16:creationId xmlns:a16="http://schemas.microsoft.com/office/drawing/2014/main" id="{C8666119-5CEB-A7BA-8D63-57CC80ED616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96" t="-16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529985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6">
            <a:extLst>
              <a:ext uri="{FF2B5EF4-FFF2-40B4-BE49-F238E27FC236}">
                <a16:creationId xmlns:a16="http://schemas.microsoft.com/office/drawing/2014/main" id="{2ECE811F-FAA9-50ED-A66C-72D4DF6EBA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de-DE" sz="4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3. </a:t>
            </a:r>
            <a:r>
              <a:rPr lang="en-GB" err="1"/>
              <a:t>PowerFactory</a:t>
            </a:r>
            <a:r>
              <a:rPr lang="en-GB"/>
              <a:t> Simulations</a:t>
            </a:r>
            <a:endParaRPr lang="de-DE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23D24D1-37AA-2C97-807F-C357C163F9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90975-892A-460D-9B99-2E14471E45A4}" type="datetime1">
              <a:rPr lang="en-GB" smtClean="0"/>
              <a:t>24/11/2025</a:t>
            </a:fld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BC9269D-F4B4-3623-34EB-CD874953BD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6D213-0805-4C3E-849D-17C75FD348C3}" type="slidenum">
              <a:rPr lang="de-DE" smtClean="0"/>
              <a:t>5</a:t>
            </a:fld>
            <a:endParaRPr lang="de-D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281CBB1-BCCE-37CF-C84C-6FA6C11D4D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/>
              <a:t>Grid overview</a:t>
            </a:r>
          </a:p>
        </p:txBody>
      </p:sp>
      <p:pic>
        <p:nvPicPr>
          <p:cNvPr id="8" name="Inhaltsplatzhalter 9">
            <a:extLst>
              <a:ext uri="{FF2B5EF4-FFF2-40B4-BE49-F238E27FC236}">
                <a16:creationId xmlns:a16="http://schemas.microsoft.com/office/drawing/2014/main" id="{8A0C8223-D74E-781F-15CC-0A80B9E961F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886"/>
          <a:stretch/>
        </p:blipFill>
        <p:spPr>
          <a:xfrm>
            <a:off x="3008923" y="2172677"/>
            <a:ext cx="6832668" cy="4004286"/>
          </a:xfrm>
          <a:prstGeom prst="rect">
            <a:avLst/>
          </a:prstGeom>
        </p:spPr>
      </p:pic>
      <p:sp>
        <p:nvSpPr>
          <p:cNvPr id="11" name="Textfeld 8">
            <a:extLst>
              <a:ext uri="{FF2B5EF4-FFF2-40B4-BE49-F238E27FC236}">
                <a16:creationId xmlns:a16="http://schemas.microsoft.com/office/drawing/2014/main" id="{29C076FF-0CFB-ED00-1B05-8D784C337DBD}"/>
              </a:ext>
            </a:extLst>
          </p:cNvPr>
          <p:cNvSpPr txBox="1"/>
          <p:nvPr/>
        </p:nvSpPr>
        <p:spPr>
          <a:xfrm>
            <a:off x="1256296" y="6164141"/>
            <a:ext cx="6927122" cy="2616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100" err="1"/>
              <a:t>PowerFactory</a:t>
            </a:r>
            <a:r>
              <a:rPr lang="en-US" sz="1100"/>
              <a:t> Template Windfarm; (21/11/2025) </a:t>
            </a:r>
            <a:endParaRPr lang="en-GB" sz="1100"/>
          </a:p>
        </p:txBody>
      </p:sp>
      <p:sp>
        <p:nvSpPr>
          <p:cNvPr id="12" name="Fußzeilenplatzhalter 5">
            <a:extLst>
              <a:ext uri="{FF2B5EF4-FFF2-40B4-BE49-F238E27FC236}">
                <a16:creationId xmlns:a16="http://schemas.microsoft.com/office/drawing/2014/main" id="{19F2276F-A460-4B38-C662-8524037530A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474613" y="6564113"/>
            <a:ext cx="2879187" cy="365125"/>
          </a:xfrm>
        </p:spPr>
        <p:txBody>
          <a:bodyPr/>
          <a:lstStyle/>
          <a:p>
            <a:r>
              <a:rPr lang="en-GB"/>
              <a:t>Grid Code Development / Optimus Syria</a:t>
            </a:r>
          </a:p>
        </p:txBody>
      </p:sp>
      <p:sp>
        <p:nvSpPr>
          <p:cNvPr id="13" name="Textplatzhalter 16">
            <a:extLst>
              <a:ext uri="{FF2B5EF4-FFF2-40B4-BE49-F238E27FC236}">
                <a16:creationId xmlns:a16="http://schemas.microsoft.com/office/drawing/2014/main" id="{C053BCCF-EBED-3E23-2E47-1CE9CA64A1BC}"/>
              </a:ext>
            </a:extLst>
          </p:cNvPr>
          <p:cNvSpPr txBox="1">
            <a:spLocks/>
          </p:cNvSpPr>
          <p:nvPr/>
        </p:nvSpPr>
        <p:spPr>
          <a:xfrm>
            <a:off x="2878528" y="6564113"/>
            <a:ext cx="5596085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de-DE" sz="1200" b="0" u="none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/>
              <a:t>Josef Remberger</a:t>
            </a:r>
          </a:p>
        </p:txBody>
      </p:sp>
    </p:spTree>
    <p:extLst>
      <p:ext uri="{BB962C8B-B14F-4D97-AF65-F5344CB8AC3E}">
        <p14:creationId xmlns:p14="http://schemas.microsoft.com/office/powerpoint/2010/main" val="41921551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6">
            <a:extLst>
              <a:ext uri="{FF2B5EF4-FFF2-40B4-BE49-F238E27FC236}">
                <a16:creationId xmlns:a16="http://schemas.microsoft.com/office/drawing/2014/main" id="{2ECE811F-FAA9-50ED-A66C-72D4DF6EBA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de-DE" sz="4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3. </a:t>
            </a:r>
            <a:r>
              <a:rPr lang="en-GB" err="1"/>
              <a:t>PowerFactory</a:t>
            </a:r>
            <a:r>
              <a:rPr lang="en-GB"/>
              <a:t> Simulations</a:t>
            </a:r>
            <a:endParaRPr lang="de-DE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23D24D1-37AA-2C97-807F-C357C163F9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90975-892A-460D-9B99-2E14471E45A4}" type="datetime1">
              <a:rPr lang="en-GB" smtClean="0"/>
              <a:t>24/11/2025</a:t>
            </a:fld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BC9269D-F4B4-3623-34EB-CD874953BD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6D213-0805-4C3E-849D-17C75FD348C3}" type="slidenum">
              <a:rPr lang="de-DE" smtClean="0"/>
              <a:t>6</a:t>
            </a:fld>
            <a:endParaRPr lang="de-DE"/>
          </a:p>
        </p:txBody>
      </p:sp>
      <p:sp>
        <p:nvSpPr>
          <p:cNvPr id="14" name="Inhaltsplatzhalter 13">
            <a:extLst>
              <a:ext uri="{FF2B5EF4-FFF2-40B4-BE49-F238E27FC236}">
                <a16:creationId xmlns:a16="http://schemas.microsoft.com/office/drawing/2014/main" id="{447ABA35-F684-6944-0EF7-AD2CEB5F3A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/>
              <a:t>Short circuit event location</a:t>
            </a:r>
          </a:p>
        </p:txBody>
      </p:sp>
      <p:pic>
        <p:nvPicPr>
          <p:cNvPr id="15" name="Inhaltsplatzhalter 11">
            <a:extLst>
              <a:ext uri="{FF2B5EF4-FFF2-40B4-BE49-F238E27FC236}">
                <a16:creationId xmlns:a16="http://schemas.microsoft.com/office/drawing/2014/main" id="{DCD1684E-76B5-8E63-089B-A6649B7DA3F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1908"/>
          <a:stretch/>
        </p:blipFill>
        <p:spPr>
          <a:xfrm>
            <a:off x="2249926" y="2459771"/>
            <a:ext cx="6465322" cy="3717192"/>
          </a:xfrm>
          <a:prstGeom prst="rect">
            <a:avLst/>
          </a:prstGeom>
        </p:spPr>
      </p:pic>
      <p:sp>
        <p:nvSpPr>
          <p:cNvPr id="2" name="Textfeld 8">
            <a:extLst>
              <a:ext uri="{FF2B5EF4-FFF2-40B4-BE49-F238E27FC236}">
                <a16:creationId xmlns:a16="http://schemas.microsoft.com/office/drawing/2014/main" id="{3CD2A059-815C-8A8D-AB4D-D0438C6EE6D7}"/>
              </a:ext>
            </a:extLst>
          </p:cNvPr>
          <p:cNvSpPr txBox="1"/>
          <p:nvPr/>
        </p:nvSpPr>
        <p:spPr>
          <a:xfrm>
            <a:off x="3107402" y="6050290"/>
            <a:ext cx="6927122" cy="2616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100" err="1"/>
              <a:t>PowerFactory</a:t>
            </a:r>
            <a:r>
              <a:rPr lang="en-US" sz="1100"/>
              <a:t> fault location inside the PCC; (21/11/2025) </a:t>
            </a:r>
            <a:endParaRPr lang="en-GB" sz="1100"/>
          </a:p>
        </p:txBody>
      </p:sp>
      <p:sp>
        <p:nvSpPr>
          <p:cNvPr id="3" name="Fußzeilenplatzhalter 5">
            <a:extLst>
              <a:ext uri="{FF2B5EF4-FFF2-40B4-BE49-F238E27FC236}">
                <a16:creationId xmlns:a16="http://schemas.microsoft.com/office/drawing/2014/main" id="{16F7951A-EFBA-D277-1736-E532EBBE28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474613" y="6564113"/>
            <a:ext cx="2879187" cy="365125"/>
          </a:xfrm>
        </p:spPr>
        <p:txBody>
          <a:bodyPr/>
          <a:lstStyle/>
          <a:p>
            <a:r>
              <a:rPr lang="en-GB"/>
              <a:t>Grid Code Development / Optimus Syria</a:t>
            </a:r>
          </a:p>
        </p:txBody>
      </p:sp>
      <p:sp>
        <p:nvSpPr>
          <p:cNvPr id="8" name="Textplatzhalter 16">
            <a:extLst>
              <a:ext uri="{FF2B5EF4-FFF2-40B4-BE49-F238E27FC236}">
                <a16:creationId xmlns:a16="http://schemas.microsoft.com/office/drawing/2014/main" id="{27E7287D-57D2-FBE9-A901-2954BE590E0A}"/>
              </a:ext>
            </a:extLst>
          </p:cNvPr>
          <p:cNvSpPr txBox="1">
            <a:spLocks/>
          </p:cNvSpPr>
          <p:nvPr/>
        </p:nvSpPr>
        <p:spPr>
          <a:xfrm>
            <a:off x="2878528" y="6564113"/>
            <a:ext cx="5596085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de-DE" sz="1200" b="0" u="none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/>
              <a:t>Josef Remberger</a:t>
            </a:r>
          </a:p>
        </p:txBody>
      </p:sp>
    </p:spTree>
    <p:extLst>
      <p:ext uri="{BB962C8B-B14F-4D97-AF65-F5344CB8AC3E}">
        <p14:creationId xmlns:p14="http://schemas.microsoft.com/office/powerpoint/2010/main" val="32602490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6">
            <a:extLst>
              <a:ext uri="{FF2B5EF4-FFF2-40B4-BE49-F238E27FC236}">
                <a16:creationId xmlns:a16="http://schemas.microsoft.com/office/drawing/2014/main" id="{2ECE811F-FAA9-50ED-A66C-72D4DF6EBA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de-DE" sz="4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3. </a:t>
            </a:r>
            <a:r>
              <a:rPr lang="en-GB" err="1"/>
              <a:t>PowerFactory</a:t>
            </a:r>
            <a:r>
              <a:rPr lang="en-GB"/>
              <a:t> Simulations</a:t>
            </a:r>
            <a:endParaRPr lang="de-DE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23D24D1-37AA-2C97-807F-C357C163F9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90975-892A-460D-9B99-2E14471E45A4}" type="datetime1">
              <a:rPr lang="en-GB" smtClean="0"/>
              <a:t>24/11/2025</a:t>
            </a:fld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BC9269D-F4B4-3623-34EB-CD874953BD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6D213-0805-4C3E-849D-17C75FD348C3}" type="slidenum">
              <a:rPr lang="de-DE" smtClean="0"/>
              <a:t>7</a:t>
            </a:fld>
            <a:endParaRPr lang="de-DE"/>
          </a:p>
        </p:txBody>
      </p:sp>
      <p:sp>
        <p:nvSpPr>
          <p:cNvPr id="14" name="Inhaltsplatzhalter 13">
            <a:extLst>
              <a:ext uri="{FF2B5EF4-FFF2-40B4-BE49-F238E27FC236}">
                <a16:creationId xmlns:a16="http://schemas.microsoft.com/office/drawing/2014/main" id="{447ABA35-F684-6944-0EF7-AD2CEB5F3A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/>
              <a:t>Calculations based on our predefined LVRT behaviour 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F89C21E9-ED86-EB4F-6202-4488C4A702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14675" y="2344829"/>
            <a:ext cx="5962650" cy="38607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feld 10">
            <a:extLst>
              <a:ext uri="{FF2B5EF4-FFF2-40B4-BE49-F238E27FC236}">
                <a16:creationId xmlns:a16="http://schemas.microsoft.com/office/drawing/2014/main" id="{B53290AE-CCCE-EEF9-4394-BE1D029B7172}"/>
              </a:ext>
            </a:extLst>
          </p:cNvPr>
          <p:cNvSpPr txBox="1"/>
          <p:nvPr/>
        </p:nvSpPr>
        <p:spPr>
          <a:xfrm>
            <a:off x="3114675" y="6123215"/>
            <a:ext cx="632839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/>
              <a:t>Improved low voltage ride through </a:t>
            </a:r>
            <a:r>
              <a:rPr lang="en-US" sz="1100" err="1"/>
              <a:t>behaviour</a:t>
            </a:r>
            <a:r>
              <a:rPr lang="en-US" sz="1100"/>
              <a:t>; [2],[3] PETE and VDE-AR-N 4110:2017-02; (22/11/2025) </a:t>
            </a:r>
            <a:endParaRPr lang="en-GB" sz="1100"/>
          </a:p>
        </p:txBody>
      </p:sp>
      <p:sp>
        <p:nvSpPr>
          <p:cNvPr id="8" name="Textplatzhalter 8">
            <a:extLst>
              <a:ext uri="{FF2B5EF4-FFF2-40B4-BE49-F238E27FC236}">
                <a16:creationId xmlns:a16="http://schemas.microsoft.com/office/drawing/2014/main" id="{9F3D84BE-5CB9-0099-AA5B-B6FFEFACC760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749023" y="6216958"/>
            <a:ext cx="2248453" cy="3098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1400"/>
              <a:t>[2]; [3]</a:t>
            </a:r>
          </a:p>
        </p:txBody>
      </p:sp>
      <p:sp>
        <p:nvSpPr>
          <p:cNvPr id="9" name="Fußzeilenplatzhalter 5">
            <a:extLst>
              <a:ext uri="{FF2B5EF4-FFF2-40B4-BE49-F238E27FC236}">
                <a16:creationId xmlns:a16="http://schemas.microsoft.com/office/drawing/2014/main" id="{9EC6EDD7-2944-66A9-B951-121E5B00FF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474613" y="6564113"/>
            <a:ext cx="2879187" cy="365125"/>
          </a:xfrm>
        </p:spPr>
        <p:txBody>
          <a:bodyPr/>
          <a:lstStyle/>
          <a:p>
            <a:r>
              <a:rPr lang="en-GB"/>
              <a:t>Grid Code Development / Optimus Syria</a:t>
            </a:r>
          </a:p>
        </p:txBody>
      </p:sp>
      <p:sp>
        <p:nvSpPr>
          <p:cNvPr id="10" name="Textplatzhalter 16">
            <a:extLst>
              <a:ext uri="{FF2B5EF4-FFF2-40B4-BE49-F238E27FC236}">
                <a16:creationId xmlns:a16="http://schemas.microsoft.com/office/drawing/2014/main" id="{8792B610-55A3-A9DB-F9B2-DBAAE3EB5B7C}"/>
              </a:ext>
            </a:extLst>
          </p:cNvPr>
          <p:cNvSpPr txBox="1">
            <a:spLocks/>
          </p:cNvSpPr>
          <p:nvPr/>
        </p:nvSpPr>
        <p:spPr>
          <a:xfrm>
            <a:off x="2878528" y="6564113"/>
            <a:ext cx="5596085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de-DE" sz="1200" b="0" u="none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/>
              <a:t>Josef Remberger</a:t>
            </a:r>
          </a:p>
        </p:txBody>
      </p:sp>
    </p:spTree>
    <p:extLst>
      <p:ext uri="{BB962C8B-B14F-4D97-AF65-F5344CB8AC3E}">
        <p14:creationId xmlns:p14="http://schemas.microsoft.com/office/powerpoint/2010/main" val="39425303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6">
            <a:extLst>
              <a:ext uri="{FF2B5EF4-FFF2-40B4-BE49-F238E27FC236}">
                <a16:creationId xmlns:a16="http://schemas.microsoft.com/office/drawing/2014/main" id="{2ECE811F-FAA9-50ED-A66C-72D4DF6EBA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de-DE" sz="4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3. </a:t>
            </a:r>
            <a:r>
              <a:rPr lang="en-GB" err="1"/>
              <a:t>PowerFactory</a:t>
            </a:r>
            <a:r>
              <a:rPr lang="en-GB"/>
              <a:t> Simulations</a:t>
            </a:r>
            <a:endParaRPr lang="de-DE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23D24D1-37AA-2C97-807F-C357C163F9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90975-892A-460D-9B99-2E14471E45A4}" type="datetime1">
              <a:rPr lang="en-GB" smtClean="0"/>
              <a:t>24/11/2025</a:t>
            </a:fld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BC9269D-F4B4-3623-34EB-CD874953BD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6D213-0805-4C3E-849D-17C75FD348C3}" type="slidenum">
              <a:rPr lang="de-DE" smtClean="0"/>
              <a:t>8</a:t>
            </a:fld>
            <a:endParaRPr lang="de-DE"/>
          </a:p>
        </p:txBody>
      </p:sp>
      <p:sp>
        <p:nvSpPr>
          <p:cNvPr id="12" name="Inhaltsplatzhalter 11">
            <a:extLst>
              <a:ext uri="{FF2B5EF4-FFF2-40B4-BE49-F238E27FC236}">
                <a16:creationId xmlns:a16="http://schemas.microsoft.com/office/drawing/2014/main" id="{68A777A8-E5C4-8036-4069-8852E014F4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/>
              <a:t>LVRT: 100% drop / 150 </a:t>
            </a:r>
            <a:r>
              <a:rPr lang="en-GB" err="1"/>
              <a:t>ms</a:t>
            </a:r>
            <a:r>
              <a:rPr lang="en-GB"/>
              <a:t> </a:t>
            </a:r>
          </a:p>
        </p:txBody>
      </p:sp>
      <p:pic>
        <p:nvPicPr>
          <p:cNvPr id="13" name="Inhaltsplatzhalter 9">
            <a:extLst>
              <a:ext uri="{FF2B5EF4-FFF2-40B4-BE49-F238E27FC236}">
                <a16:creationId xmlns:a16="http://schemas.microsoft.com/office/drawing/2014/main" id="{8599FB59-5DFA-E368-72FF-EF2F5E1380D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2546"/>
          <a:stretch/>
        </p:blipFill>
        <p:spPr>
          <a:xfrm>
            <a:off x="3027538" y="2141538"/>
            <a:ext cx="6136924" cy="4240602"/>
          </a:xfrm>
          <a:prstGeom prst="rect">
            <a:avLst/>
          </a:prstGeom>
        </p:spPr>
      </p:pic>
      <p:sp>
        <p:nvSpPr>
          <p:cNvPr id="2" name="Textfeld 10">
            <a:extLst>
              <a:ext uri="{FF2B5EF4-FFF2-40B4-BE49-F238E27FC236}">
                <a16:creationId xmlns:a16="http://schemas.microsoft.com/office/drawing/2014/main" id="{9A81E88E-5206-9AD5-E321-CC23B941A3B0}"/>
              </a:ext>
            </a:extLst>
          </p:cNvPr>
          <p:cNvSpPr txBox="1"/>
          <p:nvPr/>
        </p:nvSpPr>
        <p:spPr>
          <a:xfrm>
            <a:off x="2931801" y="6362070"/>
            <a:ext cx="632839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/>
              <a:t>LVRT with 100% drop – simulations on different locations of the system; (22/11/2025) </a:t>
            </a:r>
            <a:endParaRPr lang="en-GB" sz="1100"/>
          </a:p>
        </p:txBody>
      </p:sp>
      <p:sp>
        <p:nvSpPr>
          <p:cNvPr id="3" name="Fußzeilenplatzhalter 5">
            <a:extLst>
              <a:ext uri="{FF2B5EF4-FFF2-40B4-BE49-F238E27FC236}">
                <a16:creationId xmlns:a16="http://schemas.microsoft.com/office/drawing/2014/main" id="{50F229AE-9175-3F8B-0763-10E89C6E186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474613" y="6564113"/>
            <a:ext cx="2879187" cy="365125"/>
          </a:xfrm>
        </p:spPr>
        <p:txBody>
          <a:bodyPr/>
          <a:lstStyle/>
          <a:p>
            <a:r>
              <a:rPr lang="en-GB"/>
              <a:t>Grid Code Development / Optimus Syria</a:t>
            </a:r>
          </a:p>
        </p:txBody>
      </p:sp>
      <p:sp>
        <p:nvSpPr>
          <p:cNvPr id="8" name="Textplatzhalter 16">
            <a:extLst>
              <a:ext uri="{FF2B5EF4-FFF2-40B4-BE49-F238E27FC236}">
                <a16:creationId xmlns:a16="http://schemas.microsoft.com/office/drawing/2014/main" id="{71B22699-B78C-7242-473E-A540F772B1F8}"/>
              </a:ext>
            </a:extLst>
          </p:cNvPr>
          <p:cNvSpPr txBox="1">
            <a:spLocks/>
          </p:cNvSpPr>
          <p:nvPr/>
        </p:nvSpPr>
        <p:spPr>
          <a:xfrm>
            <a:off x="2878528" y="6564113"/>
            <a:ext cx="5596085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de-DE" sz="1200" b="0" u="none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/>
              <a:t>Josef Remberger</a:t>
            </a:r>
          </a:p>
        </p:txBody>
      </p:sp>
    </p:spTree>
    <p:extLst>
      <p:ext uri="{BB962C8B-B14F-4D97-AF65-F5344CB8AC3E}">
        <p14:creationId xmlns:p14="http://schemas.microsoft.com/office/powerpoint/2010/main" val="39397068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6">
            <a:extLst>
              <a:ext uri="{FF2B5EF4-FFF2-40B4-BE49-F238E27FC236}">
                <a16:creationId xmlns:a16="http://schemas.microsoft.com/office/drawing/2014/main" id="{2ECE811F-FAA9-50ED-A66C-72D4DF6EBA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de-DE" sz="4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3. </a:t>
            </a:r>
            <a:r>
              <a:rPr lang="en-GB" err="1"/>
              <a:t>PowerFactory</a:t>
            </a:r>
            <a:r>
              <a:rPr lang="en-GB"/>
              <a:t> Simulations</a:t>
            </a:r>
            <a:endParaRPr lang="de-DE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23D24D1-37AA-2C97-807F-C357C163F9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90975-892A-460D-9B99-2E14471E45A4}" type="datetime1">
              <a:rPr lang="en-GB" smtClean="0"/>
              <a:t>24/11/2025</a:t>
            </a:fld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BC9269D-F4B4-3623-34EB-CD874953BD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6D213-0805-4C3E-849D-17C75FD348C3}" type="slidenum">
              <a:rPr lang="de-DE" smtClean="0"/>
              <a:t>9</a:t>
            </a:fld>
            <a:endParaRPr lang="de-DE"/>
          </a:p>
        </p:txBody>
      </p:sp>
      <p:sp>
        <p:nvSpPr>
          <p:cNvPr id="13" name="Inhaltsplatzhalter 12">
            <a:extLst>
              <a:ext uri="{FF2B5EF4-FFF2-40B4-BE49-F238E27FC236}">
                <a16:creationId xmlns:a16="http://schemas.microsoft.com/office/drawing/2014/main" id="{235F2682-47A5-9B7B-AA74-B0CA565AD0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/>
              <a:t>LVRT: 80% drop / 500 </a:t>
            </a:r>
            <a:r>
              <a:rPr lang="en-GB" err="1"/>
              <a:t>ms</a:t>
            </a:r>
            <a:endParaRPr lang="en-GB"/>
          </a:p>
        </p:txBody>
      </p:sp>
      <p:pic>
        <p:nvPicPr>
          <p:cNvPr id="14" name="Inhaltsplatzhalter 9">
            <a:extLst>
              <a:ext uri="{FF2B5EF4-FFF2-40B4-BE49-F238E27FC236}">
                <a16:creationId xmlns:a16="http://schemas.microsoft.com/office/drawing/2014/main" id="{7D21FCD6-0DC6-6161-C5F6-CD498FA9F09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825" b="-319"/>
          <a:stretch/>
        </p:blipFill>
        <p:spPr>
          <a:xfrm>
            <a:off x="3027000" y="2099694"/>
            <a:ext cx="6138000" cy="4272189"/>
          </a:xfrm>
          <a:prstGeom prst="rect">
            <a:avLst/>
          </a:prstGeom>
        </p:spPr>
      </p:pic>
      <p:sp>
        <p:nvSpPr>
          <p:cNvPr id="2" name="Textfeld 10">
            <a:extLst>
              <a:ext uri="{FF2B5EF4-FFF2-40B4-BE49-F238E27FC236}">
                <a16:creationId xmlns:a16="http://schemas.microsoft.com/office/drawing/2014/main" id="{8D88309C-975C-3ECA-D150-1F2C3E4F8DD8}"/>
              </a:ext>
            </a:extLst>
          </p:cNvPr>
          <p:cNvSpPr txBox="1"/>
          <p:nvPr/>
        </p:nvSpPr>
        <p:spPr>
          <a:xfrm>
            <a:off x="2931801" y="6362070"/>
            <a:ext cx="632839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/>
              <a:t>LVRT with 80% drop – simulations on different locations of the system; (22/11/2025) </a:t>
            </a:r>
            <a:endParaRPr lang="en-GB" sz="1100"/>
          </a:p>
        </p:txBody>
      </p:sp>
      <p:sp>
        <p:nvSpPr>
          <p:cNvPr id="3" name="Fußzeilenplatzhalter 5">
            <a:extLst>
              <a:ext uri="{FF2B5EF4-FFF2-40B4-BE49-F238E27FC236}">
                <a16:creationId xmlns:a16="http://schemas.microsoft.com/office/drawing/2014/main" id="{EB59947A-133C-92A7-DAB8-2639B01784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474613" y="6564113"/>
            <a:ext cx="2879187" cy="365125"/>
          </a:xfrm>
        </p:spPr>
        <p:txBody>
          <a:bodyPr/>
          <a:lstStyle/>
          <a:p>
            <a:r>
              <a:rPr lang="en-GB"/>
              <a:t>Grid Code Development / Optimus Syria</a:t>
            </a:r>
          </a:p>
        </p:txBody>
      </p:sp>
      <p:sp>
        <p:nvSpPr>
          <p:cNvPr id="8" name="Textplatzhalter 16">
            <a:extLst>
              <a:ext uri="{FF2B5EF4-FFF2-40B4-BE49-F238E27FC236}">
                <a16:creationId xmlns:a16="http://schemas.microsoft.com/office/drawing/2014/main" id="{253E5B8F-0E46-C138-E4D7-A3DD2432632D}"/>
              </a:ext>
            </a:extLst>
          </p:cNvPr>
          <p:cNvSpPr txBox="1">
            <a:spLocks/>
          </p:cNvSpPr>
          <p:nvPr/>
        </p:nvSpPr>
        <p:spPr>
          <a:xfrm>
            <a:off x="2878528" y="6564113"/>
            <a:ext cx="5596085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de-DE" sz="1200" b="0" u="none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/>
              <a:t>Josef Remberger</a:t>
            </a:r>
          </a:p>
        </p:txBody>
      </p:sp>
    </p:spTree>
    <p:extLst>
      <p:ext uri="{BB962C8B-B14F-4D97-AF65-F5344CB8AC3E}">
        <p14:creationId xmlns:p14="http://schemas.microsoft.com/office/powerpoint/2010/main" val="6484287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6">
            <a:extLst>
              <a:ext uri="{FF2B5EF4-FFF2-40B4-BE49-F238E27FC236}">
                <a16:creationId xmlns:a16="http://schemas.microsoft.com/office/drawing/2014/main" id="{2ECE811F-FAA9-50ED-A66C-72D4DF6EBA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de-DE" sz="4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3. </a:t>
            </a:r>
            <a:r>
              <a:rPr lang="en-GB" err="1"/>
              <a:t>PowerFactory</a:t>
            </a:r>
            <a:r>
              <a:rPr lang="en-GB"/>
              <a:t> Simulations</a:t>
            </a:r>
            <a:endParaRPr lang="de-DE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23D24D1-37AA-2C97-807F-C357C163F9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90975-892A-460D-9B99-2E14471E45A4}" type="datetime1">
              <a:rPr lang="en-GB" smtClean="0"/>
              <a:t>24/11/2025</a:t>
            </a:fld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BC9269D-F4B4-3623-34EB-CD874953BD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6D213-0805-4C3E-849D-17C75FD348C3}" type="slidenum">
              <a:rPr lang="de-DE" smtClean="0"/>
              <a:t>10</a:t>
            </a:fld>
            <a:endParaRPr lang="de-D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7932267-4914-8229-0816-3492F33790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/>
              <a:t>LVRT: 20% drop / 1000 </a:t>
            </a:r>
            <a:r>
              <a:rPr lang="en-GB" err="1"/>
              <a:t>ms</a:t>
            </a:r>
            <a:endParaRPr lang="en-GB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65C61D33-A060-0E5D-B04A-516C747FF24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2334"/>
          <a:stretch/>
        </p:blipFill>
        <p:spPr>
          <a:xfrm>
            <a:off x="3027000" y="2146952"/>
            <a:ext cx="6138000" cy="4244517"/>
          </a:xfrm>
          <a:prstGeom prst="rect">
            <a:avLst/>
          </a:prstGeom>
        </p:spPr>
      </p:pic>
      <p:sp>
        <p:nvSpPr>
          <p:cNvPr id="2" name="Textfeld 10">
            <a:extLst>
              <a:ext uri="{FF2B5EF4-FFF2-40B4-BE49-F238E27FC236}">
                <a16:creationId xmlns:a16="http://schemas.microsoft.com/office/drawing/2014/main" id="{CE6C638F-933C-4E26-5CE9-453889D30896}"/>
              </a:ext>
            </a:extLst>
          </p:cNvPr>
          <p:cNvSpPr txBox="1"/>
          <p:nvPr/>
        </p:nvSpPr>
        <p:spPr>
          <a:xfrm>
            <a:off x="2931801" y="6362070"/>
            <a:ext cx="632839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/>
              <a:t>LVRT with 20% drop – simulations on different locations of the system; (22/11/2025) </a:t>
            </a:r>
            <a:endParaRPr lang="en-GB" sz="1100"/>
          </a:p>
        </p:txBody>
      </p:sp>
      <p:sp>
        <p:nvSpPr>
          <p:cNvPr id="10" name="Fußzeilenplatzhalter 5">
            <a:extLst>
              <a:ext uri="{FF2B5EF4-FFF2-40B4-BE49-F238E27FC236}">
                <a16:creationId xmlns:a16="http://schemas.microsoft.com/office/drawing/2014/main" id="{F757C258-F3CA-9A01-B2A6-AB61CFC397E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474613" y="6564113"/>
            <a:ext cx="2879187" cy="365125"/>
          </a:xfrm>
        </p:spPr>
        <p:txBody>
          <a:bodyPr/>
          <a:lstStyle/>
          <a:p>
            <a:r>
              <a:rPr lang="en-GB"/>
              <a:t>Grid Code Development / Optimus Syria</a:t>
            </a:r>
          </a:p>
        </p:txBody>
      </p:sp>
      <p:sp>
        <p:nvSpPr>
          <p:cNvPr id="11" name="Textplatzhalter 16">
            <a:extLst>
              <a:ext uri="{FF2B5EF4-FFF2-40B4-BE49-F238E27FC236}">
                <a16:creationId xmlns:a16="http://schemas.microsoft.com/office/drawing/2014/main" id="{19366FDF-0C3B-FAF7-BC18-66A872F837DD}"/>
              </a:ext>
            </a:extLst>
          </p:cNvPr>
          <p:cNvSpPr txBox="1">
            <a:spLocks/>
          </p:cNvSpPr>
          <p:nvPr/>
        </p:nvSpPr>
        <p:spPr>
          <a:xfrm>
            <a:off x="2878528" y="6564113"/>
            <a:ext cx="5596085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de-DE" sz="1200" b="0" u="none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/>
              <a:t>Josef Remberger</a:t>
            </a:r>
          </a:p>
        </p:txBody>
      </p:sp>
    </p:spTree>
    <p:extLst>
      <p:ext uri="{BB962C8B-B14F-4D97-AF65-F5344CB8AC3E}">
        <p14:creationId xmlns:p14="http://schemas.microsoft.com/office/powerpoint/2010/main" val="3997528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A366B28-CA49-65E5-9894-6FC10C5DC2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4. Outlook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DAE6660-3C02-FE29-D496-DDE1BC1A19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/>
              <a:t>Simulation with a 5 MW Turbine class and different amount of turbines</a:t>
            </a:r>
          </a:p>
          <a:p>
            <a:r>
              <a:rPr lang="en-GB"/>
              <a:t>LVRT and HVRT</a:t>
            </a:r>
          </a:p>
          <a:p>
            <a:r>
              <a:rPr lang="en-GB"/>
              <a:t>Applying these calculations also to the current Syrian Grid Code</a:t>
            </a:r>
          </a:p>
          <a:p>
            <a:pPr marL="0" indent="0">
              <a:buNone/>
            </a:pPr>
            <a:r>
              <a:rPr lang="en-GB"/>
              <a:t> 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BC64376-DFB2-85D3-74B2-D458465CBB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24/11/2025</a:t>
            </a:fld>
            <a:endParaRPr lang="en-GB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4C2ABE5-A5F4-6C45-0144-47F9CEA543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11</a:t>
            </a:fld>
            <a:endParaRPr lang="en-GB"/>
          </a:p>
        </p:txBody>
      </p:sp>
      <p:sp>
        <p:nvSpPr>
          <p:cNvPr id="9" name="Fußzeilenplatzhalter 5">
            <a:extLst>
              <a:ext uri="{FF2B5EF4-FFF2-40B4-BE49-F238E27FC236}">
                <a16:creationId xmlns:a16="http://schemas.microsoft.com/office/drawing/2014/main" id="{3E980631-F8C9-3950-44C0-ABD001B561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474613" y="6564113"/>
            <a:ext cx="2879187" cy="365125"/>
          </a:xfrm>
        </p:spPr>
        <p:txBody>
          <a:bodyPr/>
          <a:lstStyle/>
          <a:p>
            <a:r>
              <a:rPr lang="en-GB"/>
              <a:t>Grid Code Development / Optimus Syria</a:t>
            </a:r>
          </a:p>
        </p:txBody>
      </p:sp>
      <p:sp>
        <p:nvSpPr>
          <p:cNvPr id="10" name="Textplatzhalter 16">
            <a:extLst>
              <a:ext uri="{FF2B5EF4-FFF2-40B4-BE49-F238E27FC236}">
                <a16:creationId xmlns:a16="http://schemas.microsoft.com/office/drawing/2014/main" id="{7EA2917D-A090-009B-EDFA-1BF5BB3EE959}"/>
              </a:ext>
            </a:extLst>
          </p:cNvPr>
          <p:cNvSpPr txBox="1">
            <a:spLocks/>
          </p:cNvSpPr>
          <p:nvPr/>
        </p:nvSpPr>
        <p:spPr>
          <a:xfrm>
            <a:off x="2878528" y="6564113"/>
            <a:ext cx="5596085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de-DE" sz="1200" b="0" u="none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/>
              <a:t>Josef Remberger</a:t>
            </a:r>
          </a:p>
        </p:txBody>
      </p:sp>
    </p:spTree>
    <p:extLst>
      <p:ext uri="{BB962C8B-B14F-4D97-AF65-F5344CB8AC3E}">
        <p14:creationId xmlns:p14="http://schemas.microsoft.com/office/powerpoint/2010/main" val="34835942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DCB6ED1-18E3-9640-3D93-84F8B0B150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err="1"/>
              <a:t>Bibliography</a:t>
            </a:r>
            <a:r>
              <a:rPr lang="de-DE"/>
              <a:t> – </a:t>
            </a:r>
            <a:r>
              <a:rPr lang="de-DE" err="1"/>
              <a:t>Grid</a:t>
            </a:r>
            <a:r>
              <a:rPr lang="de-DE"/>
              <a:t> Code Development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5C19340-9D16-A981-A772-1E4CF9E86436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>
            <a:normAutofit/>
          </a:bodyPr>
          <a:lstStyle>
            <a:lvl1pPr marL="0" indent="0">
              <a:buNone/>
              <a:defRPr sz="160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it-IT"/>
              <a:t>[1] </a:t>
            </a:r>
            <a:r>
              <a:rPr lang="en-GB"/>
              <a:t>Grid Integration-Power System Analysis Lecture, Marc </a:t>
            </a:r>
            <a:r>
              <a:rPr lang="en-GB" err="1"/>
              <a:t>Nottrott</a:t>
            </a:r>
            <a:r>
              <a:rPr lang="en-GB"/>
              <a:t>, 2025. (accessed Nov. 22, 2025).</a:t>
            </a:r>
          </a:p>
          <a:p>
            <a:pPr algn="l" rtl="0" fontAlgn="base"/>
            <a:r>
              <a:rPr lang="it-IT"/>
              <a:t>[2] </a:t>
            </a:r>
            <a:r>
              <a:rPr lang="en-GB"/>
              <a:t>SYRRIAN ARAB REPUBLIC / Ministry of Electricity / PETE / Transmission Grid Code, 2014 (accessed Nov. 22, 2025)</a:t>
            </a:r>
            <a:r>
              <a:rPr lang="en-US"/>
              <a:t>​</a:t>
            </a:r>
          </a:p>
          <a:p>
            <a:pPr algn="l" rtl="0" fontAlgn="base"/>
            <a:r>
              <a:rPr lang="en-GB"/>
              <a:t>[3] </a:t>
            </a:r>
            <a:r>
              <a:rPr lang="en-US"/>
              <a:t>“Summary of the draft VDE-AR-N 4110:2017-02” VDE, 2017. https://eepublicdownloads.entsoe.eu/clean-documents/cnc-active-library/Germany/summary-draft-4110-en.pdf (accessed Nov.22, 2025)</a:t>
            </a:r>
            <a:endParaRPr lang="en-GB"/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GB"/>
          </a:p>
          <a:p>
            <a:pPr lvl="0"/>
            <a:endParaRPr lang="de-DE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0D8ED35-2E13-75BD-2A2E-AC63747854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D83DB4-11DF-4DC9-9AFB-FDB45DBDB9C4}" type="datetime1">
              <a:rPr lang="en-GB" smtClean="0"/>
              <a:t>24/11/2025</a:t>
            </a:fld>
            <a:endParaRPr lang="en-GB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62673D2-F682-F630-F59F-C4FFF6A906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12</a:t>
            </a:fld>
            <a:endParaRPr lang="en-GB"/>
          </a:p>
        </p:txBody>
      </p:sp>
      <p:sp>
        <p:nvSpPr>
          <p:cNvPr id="3" name="Fußzeilenplatzhalter 5">
            <a:extLst>
              <a:ext uri="{FF2B5EF4-FFF2-40B4-BE49-F238E27FC236}">
                <a16:creationId xmlns:a16="http://schemas.microsoft.com/office/drawing/2014/main" id="{4F431C82-236A-05D2-7402-66B573F472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474613" y="6564113"/>
            <a:ext cx="2879187" cy="365125"/>
          </a:xfrm>
        </p:spPr>
        <p:txBody>
          <a:bodyPr/>
          <a:lstStyle/>
          <a:p>
            <a:r>
              <a:rPr lang="en-GB"/>
              <a:t>Grid Code Development / Optimus Syria</a:t>
            </a:r>
          </a:p>
        </p:txBody>
      </p:sp>
    </p:spTree>
    <p:extLst>
      <p:ext uri="{BB962C8B-B14F-4D97-AF65-F5344CB8AC3E}">
        <p14:creationId xmlns:p14="http://schemas.microsoft.com/office/powerpoint/2010/main" val="7612449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8ECEFA"/>
        </a:solidFill>
        <a:ln>
          <a:solidFill>
            <a:schemeClr val="bg1"/>
          </a:solidFill>
        </a:ln>
      </a:spPr>
      <a:bodyPr rtlCol="0" anchor="ctr"/>
      <a:lstStyle>
        <a:defPPr algn="ctr">
          <a:defRPr dirty="0"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defRPr sz="1200" dirty="0" smtClean="0">
            <a:solidFill>
              <a:schemeClr val="bg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Grid Code-Template.potx" id="{C4851253-06FE-4A6F-8FFF-D36998EFD417}" vid="{31D6BA52-6D61-41C1-9F78-91EE95D14E5D}"/>
    </a:ext>
  </a:extLst>
</a:theme>
</file>

<file path=ppt/theme/theme2.xml><?xml version="1.0" encoding="utf-8"?>
<a:theme xmlns:a="http://schemas.openxmlformats.org/drawingml/2006/main" name="1_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defRPr sz="1200" dirty="0" smtClean="0">
            <a:solidFill>
              <a:schemeClr val="bg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Grid Code-Template.potx" id="{C4851253-06FE-4A6F-8FFF-D36998EFD417}" vid="{109DA6D4-AF04-4B2C-B785-3DDDACD6DBF6}"/>
    </a:ext>
  </a:extLst>
</a:theme>
</file>

<file path=ppt/theme/theme3.xml><?xml version="1.0" encoding="utf-8"?>
<a:theme xmlns:a="http://schemas.openxmlformats.org/drawingml/2006/main" name="Benutzerdefiniertes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rid Code-Template.potx" id="{C4851253-06FE-4A6F-8FFF-D36998EFD417}" vid="{66097A27-5132-489B-912F-E1984D469948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5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  <wetp:taskpane dockstate="right" visibility="0" width="350" row="0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BCD039B6-C6AB-492A-94BF-C46AF895D2E7}">
  <we:reference id="WA200007130" version="1.0.0.1" store="en-US" storeType="omex"/>
  <we:alternateReferences>
    <we:reference id="WA200007130" version="1.0.0.1" store="en-US" storeType="omex"/>
  </we:alternateReferences>
  <we:properties/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73D784B2-E216-4A14-BE4B-F0CA301E2B20}">
  <we:reference id="WA200005566" version="3.0.0.3" store="en-US" storeType="omex"/>
  <we:alternateReferences>
    <we:reference id="WA200005566" version="3.0.0.3" store="en-US" storeType="omex"/>
  </we:alternateReferences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fa14e038-f945-4f95-9d7d-2a93662242ba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97529408ED8F9D45807E67D1DE03BA44" ma:contentTypeVersion="9" ma:contentTypeDescription="Ein neues Dokument erstellen." ma:contentTypeScope="" ma:versionID="4b2b97589b31a68f5263fd7b93c6e6c2">
  <xsd:schema xmlns:xsd="http://www.w3.org/2001/XMLSchema" xmlns:xs="http://www.w3.org/2001/XMLSchema" xmlns:p="http://schemas.microsoft.com/office/2006/metadata/properties" xmlns:ns3="fa14e038-f945-4f95-9d7d-2a93662242ba" targetNamespace="http://schemas.microsoft.com/office/2006/metadata/properties" ma:root="true" ma:fieldsID="3c91ade0476817ba0b2ddfcacb458831" ns3:_="">
    <xsd:import namespace="fa14e038-f945-4f95-9d7d-2a93662242ba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_activity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a14e038-f945-4f95-9d7d-2a93662242ba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  <xsd:element name="MediaServiceSystemTags" ma:index="13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660777D-BA33-4846-A3F4-94A28502EF1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4793350-8D6A-4A23-B620-A7B724A19FBA}">
  <ds:schemaRefs>
    <ds:schemaRef ds:uri="fa14e038-f945-4f95-9d7d-2a93662242ba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791D4DD7-FAE7-4271-ACC4-1D2FB76FC4A9}">
  <ds:schemaRefs>
    <ds:schemaRef ds:uri="fa14e038-f945-4f95-9d7d-2a93662242ba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Grid Code-Template Josef Remberger</Template>
  <TotalTime>0</TotalTime>
  <Words>464</Words>
  <Application>Microsoft Office PowerPoint</Application>
  <PresentationFormat>Breitbild</PresentationFormat>
  <Paragraphs>96</Paragraphs>
  <Slides>12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8</vt:i4>
      </vt:variant>
      <vt:variant>
        <vt:lpstr>Design</vt:lpstr>
      </vt:variant>
      <vt:variant>
        <vt:i4>3</vt:i4>
      </vt:variant>
      <vt:variant>
        <vt:lpstr>Folientitel</vt:lpstr>
      </vt:variant>
      <vt:variant>
        <vt:i4>12</vt:i4>
      </vt:variant>
    </vt:vector>
  </HeadingPairs>
  <TitlesOfParts>
    <vt:vector size="23" baseType="lpstr">
      <vt:lpstr>Aptos</vt:lpstr>
      <vt:lpstr>Aptos (Textkörper)</vt:lpstr>
      <vt:lpstr>Aptos Display</vt:lpstr>
      <vt:lpstr>Arial</vt:lpstr>
      <vt:lpstr>Calibri</vt:lpstr>
      <vt:lpstr>Calibri Light</vt:lpstr>
      <vt:lpstr>Cambria Math</vt:lpstr>
      <vt:lpstr>Times New Roman</vt:lpstr>
      <vt:lpstr>Office</vt:lpstr>
      <vt:lpstr>1_Office</vt:lpstr>
      <vt:lpstr>Benutzerdefiniertes Design</vt:lpstr>
      <vt:lpstr>PowerPoint-Präsentation</vt:lpstr>
      <vt:lpstr>List of contents</vt:lpstr>
      <vt:lpstr>1. Milestones</vt:lpstr>
      <vt:lpstr>2. PowerFactory Calculations</vt:lpstr>
      <vt:lpstr>3. PowerFactory Simulations</vt:lpstr>
      <vt:lpstr>3. PowerFactory Simulations</vt:lpstr>
      <vt:lpstr>3. PowerFactory Simulations</vt:lpstr>
      <vt:lpstr>3. PowerFactory Simulations</vt:lpstr>
      <vt:lpstr>3. PowerFactory Simulations</vt:lpstr>
      <vt:lpstr>3. PowerFactory Simulations</vt:lpstr>
      <vt:lpstr>4. Outlook</vt:lpstr>
      <vt:lpstr>Bibliography – Grid Code Development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Josef Remberger</dc:creator>
  <cp:lastModifiedBy>Josef Remberger</cp:lastModifiedBy>
  <cp:revision>2</cp:revision>
  <dcterms:created xsi:type="dcterms:W3CDTF">2025-10-17T13:38:21Z</dcterms:created>
  <dcterms:modified xsi:type="dcterms:W3CDTF">2025-11-24T10:05:35Z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0x01010097529408ED8F9D45807E67D1DE03BA44</vt:lpwstr>
  </property>
</Properties>
</file>