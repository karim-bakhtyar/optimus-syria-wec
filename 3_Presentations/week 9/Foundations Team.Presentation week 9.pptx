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4"/>
  </p:notesMasterIdLst>
  <p:handoutMasterIdLst>
    <p:handoutMasterId r:id="rId15"/>
  </p:handoutMasterIdLst>
  <p:sldIdLst>
    <p:sldId id="300" r:id="rId3"/>
    <p:sldId id="301" r:id="rId4"/>
    <p:sldId id="303" r:id="rId5"/>
    <p:sldId id="318" r:id="rId6"/>
    <p:sldId id="323" r:id="rId7"/>
    <p:sldId id="324" r:id="rId8"/>
    <p:sldId id="325" r:id="rId9"/>
    <p:sldId id="327" r:id="rId10"/>
    <p:sldId id="326" r:id="rId11"/>
    <p:sldId id="320" r:id="rId12"/>
    <p:sldId id="32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" id="{331BD3D6-B7F1-4148-BF99-E0643B5FA8FF}">
          <p14:sldIdLst/>
        </p14:section>
        <p14:section name="management team" id="{2B72163D-2949-4563-8835-B5A6BF3A1808}">
          <p14:sldIdLst/>
        </p14:section>
        <p14:section name="Project development team" id="{0165734E-D582-475F-8D8F-D8390D9A02F3}">
          <p14:sldIdLst/>
        </p14:section>
        <p14:section name="foundation team" id="{6CF20BCC-30C5-49D5-BB67-A7F7C47F67D3}">
          <p14:sldIdLst/>
        </p14:section>
        <p14:section name="loads &amp; dynamics team" id="{B2556EC8-272D-48A5-B94D-86DE413BDD53}">
          <p14:sldIdLst/>
        </p14:section>
        <p14:section name="tower structure team" id="{B080B7D5-51DE-4691-A612-847AD1AAFC82}">
          <p14:sldIdLst>
            <p14:sldId id="300"/>
            <p14:sldId id="301"/>
            <p14:sldId id="303"/>
            <p14:sldId id="318"/>
            <p14:sldId id="323"/>
            <p14:sldId id="324"/>
            <p14:sldId id="325"/>
            <p14:sldId id="327"/>
            <p14:sldId id="326"/>
            <p14:sldId id="320"/>
            <p14:sldId id="321"/>
          </p14:sldIdLst>
        </p14:section>
        <p14:section name="rotor blade design" id="{B146C9B3-C78A-4A61-AAEC-721247ABE854}">
          <p14:sldIdLst/>
        </p14:section>
        <p14:section name="Rotor blades structure" id="{B442706D-6274-49C9-A7D1-C313276DB185}">
          <p14:sldIdLst/>
        </p14:section>
        <p14:section name="rotor hub and pitch system" id="{08747EF3-CA38-42EE-A1AF-7484E45039CE}">
          <p14:sldIdLst/>
        </p14:section>
        <p14:section name="electrical drivetrain" id="{1A5D22D2-BE65-4E6F-884C-4B877022F03F}">
          <p14:sldIdLst/>
        </p14:section>
        <p14:section name="rotor bearing system team" id="{DB3BAE13-317B-46D5-BF13-1546F7D1D6D4}">
          <p14:sldIdLst/>
        </p14:section>
        <p14:section name="GBC team" id="{62FD1619-6AFB-4D97-A60C-6FD16F62286D}">
          <p14:sldIdLst/>
        </p14:section>
        <p14:section name="Machine bed &amp; yaw team" id="{2739FDC4-7BC0-4D24-A2DB-018568B325C8}">
          <p14:sldIdLst/>
        </p14:section>
        <p14:section name="feedback controller team" id="{6415024D-93AC-4C7E-84F4-D0225312DA45}">
          <p14:sldIdLst/>
        </p14:section>
        <p14:section name="grid code team" id="{FD3B8E82-6082-4521-B98B-5BAB918F1115}">
          <p14:sldIdLst/>
        </p14:section>
        <p14:section name="bibliography" id="{2ECB0A3B-7D16-4F98-AD6A-5308DF7BF078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DFFD"/>
    <a:srgbClr val="FFFFFF"/>
    <a:srgbClr val="8ECEFA"/>
    <a:srgbClr val="92C6E6"/>
    <a:srgbClr val="80D2F7"/>
    <a:srgbClr val="7ED1F7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>
        <p:scale>
          <a:sx n="80" d="100"/>
          <a:sy n="80" d="100"/>
        </p:scale>
        <p:origin x="9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22.11.2025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331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 userDrawn="1"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 and short, concise bullet points) </a:t>
            </a:r>
            <a:br>
              <a:rPr lang="it-IT" dirty="0"/>
            </a:b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topics</a:t>
            </a:r>
            <a:r>
              <a:rPr lang="it-IT" dirty="0"/>
              <a:t> for the 4 min </a:t>
            </a:r>
            <a:r>
              <a:rPr lang="it-IT" dirty="0" err="1"/>
              <a:t>timeslot</a:t>
            </a:r>
            <a:r>
              <a:rPr lang="it-IT" dirty="0"/>
              <a:t>!</a:t>
            </a:r>
            <a:endParaRPr lang="en-GB" dirty="0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8485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54527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 userDrawn="1"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 userDrawn="1"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[1], [2], [3] for </a:t>
            </a:r>
            <a:r>
              <a:rPr lang="it-IT" dirty="0" err="1"/>
              <a:t>everything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from a source (</a:t>
            </a:r>
            <a:r>
              <a:rPr lang="it-IT" dirty="0" err="1"/>
              <a:t>numbers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be the </a:t>
            </a:r>
            <a:r>
              <a:rPr lang="it-IT" dirty="0" err="1"/>
              <a:t>same</a:t>
            </a:r>
            <a:r>
              <a:rPr lang="it-IT" dirty="0"/>
              <a:t> like in the </a:t>
            </a:r>
            <a:r>
              <a:rPr lang="it-IT" dirty="0" err="1"/>
              <a:t>bibliography</a:t>
            </a:r>
            <a:r>
              <a:rPr lang="it-IT" dirty="0"/>
              <a:t>) (</a:t>
            </a:r>
            <a:r>
              <a:rPr lang="it-IT" dirty="0" err="1"/>
              <a:t>incl</a:t>
            </a:r>
            <a:r>
              <a:rPr lang="it-IT" dirty="0"/>
              <a:t>. pictures /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created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by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own</a:t>
            </a:r>
            <a:r>
              <a:rPr lang="it-IT" dirty="0"/>
              <a:t>, </a:t>
            </a:r>
            <a:r>
              <a:rPr lang="it-IT" dirty="0" err="1"/>
              <a:t>declare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thing</a:t>
            </a:r>
            <a:r>
              <a:rPr lang="it-IT" dirty="0"/>
              <a:t> </a:t>
            </a:r>
            <a:r>
              <a:rPr lang="it-IT" dirty="0" err="1"/>
              <a:t>you’ve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 ) [Style </a:t>
            </a:r>
            <a:r>
              <a:rPr lang="it-IT" dirty="0" err="1"/>
              <a:t>Aptos</a:t>
            </a:r>
            <a:r>
              <a:rPr lang="it-IT" dirty="0"/>
              <a:t>/14]</a:t>
            </a:r>
            <a:endParaRPr lang="en-GB" dirty="0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 userDrawn="1"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 userDrawn="1"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</a:p>
          <a:p>
            <a:pPr algn="ctr"/>
            <a:r>
              <a:rPr lang="it-IT" dirty="0"/>
              <a:t>an </a:t>
            </a:r>
            <a:r>
              <a:rPr lang="it-IT" dirty="0" err="1"/>
              <a:t>intial</a:t>
            </a:r>
            <a:r>
              <a:rPr lang="it-IT" dirty="0"/>
              <a:t> slide with </a:t>
            </a:r>
            <a:r>
              <a:rPr lang="it-IT" dirty="0" err="1"/>
              <a:t>all</a:t>
            </a:r>
            <a:r>
              <a:rPr lang="it-IT" dirty="0"/>
              <a:t> the tasks </a:t>
            </a:r>
            <a:r>
              <a:rPr lang="it-IT" dirty="0" err="1"/>
              <a:t>completed</a:t>
            </a:r>
            <a:r>
              <a:rPr lang="it-IT" dirty="0"/>
              <a:t> for the week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always</a:t>
            </a:r>
            <a:r>
              <a:rPr lang="it-IT" dirty="0"/>
              <a:t> be </a:t>
            </a:r>
            <a:r>
              <a:rPr lang="it-IT" dirty="0" err="1"/>
              <a:t>included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style, do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write</a:t>
            </a:r>
            <a:r>
              <a:rPr lang="it-IT" dirty="0"/>
              <a:t> more text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necessary</a:t>
            </a:r>
            <a:r>
              <a:rPr lang="it-IT" dirty="0"/>
              <a:t> (short, concise bullet points are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enough</a:t>
            </a:r>
            <a:r>
              <a:rPr lang="it-IT" dirty="0"/>
              <a:t>)</a:t>
            </a:r>
            <a:endParaRPr lang="en-GB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 userDrawn="1"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 userDrawn="1"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3039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43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 userDrawn="1"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BUT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use </a:t>
            </a:r>
            <a:r>
              <a:rPr lang="it-IT" dirty="0" err="1"/>
              <a:t>underpoints</a:t>
            </a:r>
            <a:r>
              <a:rPr lang="it-IT" dirty="0"/>
              <a:t> </a:t>
            </a:r>
            <a:r>
              <a:rPr lang="it-IT" dirty="0" err="1"/>
              <a:t>please</a:t>
            </a:r>
            <a:r>
              <a:rPr lang="it-IT" dirty="0"/>
              <a:t> with the i, ii, iii….</a:t>
            </a:r>
            <a:endParaRPr lang="en-GB" dirty="0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 userDrawn="1"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7326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9733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Add</a:t>
            </a:r>
            <a:r>
              <a:rPr lang="it-IT" sz="1400" dirty="0"/>
              <a:t> a link to the </a:t>
            </a:r>
            <a:r>
              <a:rPr lang="it-IT" sz="1400" dirty="0" err="1"/>
              <a:t>reference</a:t>
            </a:r>
            <a:r>
              <a:rPr lang="it-IT" sz="1400" dirty="0"/>
              <a:t> </a:t>
            </a:r>
            <a:r>
              <a:rPr lang="it-IT" sz="1400" dirty="0" err="1"/>
              <a:t>number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goes</a:t>
            </a:r>
            <a:r>
              <a:rPr lang="it-IT" sz="1400" dirty="0"/>
              <a:t> to the last slide: highlight the </a:t>
            </a:r>
            <a:r>
              <a:rPr lang="it-IT" sz="1400" dirty="0" err="1"/>
              <a:t>number</a:t>
            </a:r>
            <a:r>
              <a:rPr lang="it-IT" sz="1400" dirty="0"/>
              <a:t>-&gt;</a:t>
            </a:r>
            <a:r>
              <a:rPr lang="it-IT" sz="1400" dirty="0" err="1"/>
              <a:t>right</a:t>
            </a:r>
            <a:r>
              <a:rPr lang="it-IT" sz="1400" dirty="0"/>
              <a:t> click-&gt;</a:t>
            </a:r>
            <a:r>
              <a:rPr lang="it-IT" sz="1400" dirty="0" err="1"/>
              <a:t>select</a:t>
            </a:r>
            <a:r>
              <a:rPr lang="it-IT" sz="1400" dirty="0"/>
              <a:t> link-&gt;place in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document</a:t>
            </a:r>
            <a:r>
              <a:rPr lang="it-IT" sz="1400" dirty="0"/>
              <a:t>-&gt;</a:t>
            </a:r>
            <a:r>
              <a:rPr lang="it-IT" sz="1400" dirty="0" err="1"/>
              <a:t>select</a:t>
            </a:r>
            <a:r>
              <a:rPr lang="it-IT" sz="1400" dirty="0"/>
              <a:t> last slide</a:t>
            </a:r>
            <a:endParaRPr lang="en-GB" sz="14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22/11/2025</a:t>
            </a:fld>
            <a:endParaRPr lang="en-GB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6484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107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The style </a:t>
            </a:r>
            <a:r>
              <a:rPr lang="it-IT" dirty="0" err="1"/>
              <a:t>chosen</a:t>
            </a:r>
            <a:r>
              <a:rPr lang="it-IT" dirty="0"/>
              <a:t> for </a:t>
            </a:r>
            <a:r>
              <a:rPr lang="it-IT" dirty="0" err="1"/>
              <a:t>citation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IEEE, so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citation</a:t>
            </a:r>
            <a:r>
              <a:rPr lang="it-IT" dirty="0"/>
              <a:t> follow </a:t>
            </a:r>
            <a:r>
              <a:rPr lang="it-IT" dirty="0" err="1"/>
              <a:t>that</a:t>
            </a:r>
            <a:r>
              <a:rPr lang="it-IT" dirty="0"/>
              <a:t> style.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an IEEE </a:t>
            </a:r>
            <a:r>
              <a:rPr lang="it-IT" dirty="0" err="1"/>
              <a:t>citation</a:t>
            </a:r>
            <a:r>
              <a:rPr lang="it-IT" dirty="0"/>
              <a:t> from a website, </a:t>
            </a:r>
            <a:r>
              <a:rPr lang="it-IT" dirty="0" err="1"/>
              <a:t>you</a:t>
            </a:r>
            <a:r>
              <a:rPr lang="it-IT" dirty="0"/>
              <a:t> can use some free </a:t>
            </a:r>
            <a:r>
              <a:rPr lang="it-IT" dirty="0" err="1"/>
              <a:t>converters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on the internet, like:</a:t>
            </a:r>
          </a:p>
          <a:p>
            <a:pPr algn="ctr"/>
            <a:r>
              <a:rPr lang="en-GB" b="1" dirty="0">
                <a:hlinkClick r:id="rId2"/>
              </a:rPr>
              <a:t>https://www.mybib.com/tools/ieee-citation-generator</a:t>
            </a:r>
            <a:r>
              <a:rPr lang="en-GB" b="1" dirty="0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96439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23280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42350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3789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37009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46559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12613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68711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70189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5588F89-BF05-8BCF-9834-AE05DA2404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3077A87-075C-C9F1-CF08-7A350F77E61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C889B-2F55-2C2F-122E-E89ABE6A2D9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77DC7-CA1E-181B-77C7-99C60829ED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3E1ABD-9DAE-E035-8B0B-D41EFED3FC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62120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2B0D505-239D-592F-D28C-2537FD6A64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580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:a16="http://schemas.microsoft.com/office/drawing/2014/main" id="{8F14EFAA-BA4A-16CF-D530-1409613BCF5B}"/>
              </a:ext>
            </a:extLst>
          </p:cNvPr>
          <p:cNvSpPr/>
          <p:nvPr userDrawn="1"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CE1E011-6342-172C-03D6-BB39C24A4CCA}"/>
              </a:ext>
            </a:extLst>
          </p:cNvPr>
          <p:cNvSpPr/>
          <p:nvPr userDrawn="1"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First slide for groups</a:t>
            </a:r>
            <a:endParaRPr lang="en-GB" dirty="0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845F127-8728-66DF-03BE-17119A20BE05}"/>
              </a:ext>
            </a:extLst>
          </p:cNvPr>
          <p:cNvSpPr/>
          <p:nvPr userDrawn="1"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A471AD5-5F65-3AF9-9ABB-E6F7475B2672}"/>
              </a:ext>
            </a:extLst>
          </p:cNvPr>
          <p:cNvSpPr/>
          <p:nvPr userDrawn="1"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4428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5588F89-BF05-8BCF-9834-AE05DA2404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3077A87-075C-C9F1-CF08-7A350F77E61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C889B-2F55-2C2F-122E-E89ABE6A2D9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77DC7-CA1E-181B-77C7-99C60829ED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3E1ABD-9DAE-E035-8B0B-D41EFED3FC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7730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Team Name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22/11/2025</a:t>
            </a:fld>
            <a:endParaRPr lang="en-GB" dirty="0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 userDrawn="1"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 userDrawn="1"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 userDrawn="1"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317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63" r:id="rId2"/>
    <p:sldLayoutId id="2147483686" r:id="rId3"/>
    <p:sldLayoutId id="2147483674" r:id="rId4"/>
    <p:sldLayoutId id="2147483685" r:id="rId5"/>
    <p:sldLayoutId id="2147483684" r:id="rId6"/>
    <p:sldLayoutId id="2147483688" r:id="rId7"/>
    <p:sldLayoutId id="2147483666" r:id="rId8"/>
    <p:sldLayoutId id="2147483689" r:id="rId9"/>
    <p:sldLayoutId id="2147483662" r:id="rId10"/>
    <p:sldLayoutId id="2147483690" r:id="rId11"/>
    <p:sldLayoutId id="2147483664" r:id="rId12"/>
    <p:sldLayoutId id="2147483665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91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Optimus Syria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22/11/2025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155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76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26B2514-13D3-FEE4-A76A-25778AA0047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 b="1" dirty="0">
                <a:solidFill>
                  <a:schemeClr val="tx1"/>
                </a:solidFill>
              </a:rPr>
              <a:t>25/11/2025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b="1" dirty="0">
                <a:solidFill>
                  <a:schemeClr val="tx1"/>
                </a:solidFill>
              </a:rPr>
              <a:t>Foundations team/ Optimus Syria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E7ED1BF-5D66-636D-5730-97FE37F4481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86247" y="6564113"/>
            <a:ext cx="1918447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7FF1E788-369D-9A8F-8F84-AD852E9D2E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b="1" dirty="0">
                <a:latin typeface="Times New Roman" pitchFamily="18" charset="0"/>
                <a:cs typeface="Times New Roman" pitchFamily="18" charset="0"/>
              </a:rPr>
              <a:t>Weekly report: </a:t>
            </a:r>
            <a:r>
              <a:rPr lang="it-IT" b="1" dirty="0" err="1">
                <a:latin typeface="Times New Roman" pitchFamily="18" charset="0"/>
                <a:cs typeface="Times New Roman" pitchFamily="18" charset="0"/>
              </a:rPr>
              <a:t>Foundations</a:t>
            </a:r>
            <a:r>
              <a:rPr lang="it-IT" b="1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GB" b="1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77A63BB-08BE-619B-2533-3CC69CC19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2032000"/>
          </a:xfrm>
        </p:spPr>
        <p:txBody>
          <a:bodyPr>
            <a:normAutofit/>
          </a:bodyPr>
          <a:lstStyle/>
          <a:p>
            <a:r>
              <a:rPr lang="it-IT" sz="2000" b="1" dirty="0">
                <a:latin typeface="Times New Roman" pitchFamily="18" charset="0"/>
                <a:cs typeface="Times New Roman" pitchFamily="18" charset="0"/>
              </a:rPr>
              <a:t>Week number: 9</a:t>
            </a:r>
          </a:p>
          <a:p>
            <a:r>
              <a:rPr lang="it-IT" sz="2000" b="1" dirty="0">
                <a:latin typeface="Times New Roman" pitchFamily="18" charset="0"/>
                <a:cs typeface="Times New Roman" pitchFamily="18" charset="0"/>
              </a:rPr>
              <a:t>Date: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25</a:t>
            </a:r>
            <a:r>
              <a:rPr lang="it-IT" sz="2000" b="1" dirty="0">
                <a:latin typeface="Times New Roman" pitchFamily="18" charset="0"/>
                <a:cs typeface="Times New Roman" pitchFamily="18" charset="0"/>
              </a:rPr>
              <a:t>/11/2025</a:t>
            </a:r>
          </a:p>
          <a:p>
            <a:r>
              <a:rPr lang="it-IT" sz="2000" b="1" dirty="0">
                <a:latin typeface="Times New Roman" pitchFamily="18" charset="0"/>
                <a:cs typeface="Times New Roman" pitchFamily="18" charset="0"/>
              </a:rPr>
              <a:t>Supervisor:</a:t>
            </a:r>
            <a:r>
              <a:rPr lang="it-IT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de-DE" sz="2000" b="1" dirty="0">
                <a:latin typeface="Lato" panose="020B0604020202020204" pitchFamily="34" charset="0"/>
              </a:rPr>
              <a:t>Prof. Dr.-Ing. Torsten Faber</a:t>
            </a:r>
            <a:endParaRPr lang="en-GB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172911" y="4701104"/>
            <a:ext cx="7370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>
                <a:latin typeface="Times New Roman" pitchFamily="18" charset="0"/>
                <a:cs typeface="Times New Roman" pitchFamily="18" charset="0"/>
              </a:rPr>
              <a:t>Group </a:t>
            </a:r>
            <a:r>
              <a:rPr lang="de-DE" b="1" dirty="0" err="1">
                <a:latin typeface="Times New Roman" pitchFamily="18" charset="0"/>
                <a:cs typeface="Times New Roman" pitchFamily="18" charset="0"/>
              </a:rPr>
              <a:t>members</a:t>
            </a:r>
            <a:r>
              <a:rPr lang="de-DE" b="1" dirty="0">
                <a:latin typeface="Times New Roman" pitchFamily="18" charset="0"/>
                <a:cs typeface="Times New Roman" pitchFamily="18" charset="0"/>
              </a:rPr>
              <a:t> : </a:t>
            </a:r>
            <a:r>
              <a:rPr lang="de-DE" b="1" dirty="0"/>
              <a:t>Jehad </a:t>
            </a:r>
            <a:r>
              <a:rPr lang="de-DE" b="1" dirty="0" err="1"/>
              <a:t>Albaali</a:t>
            </a:r>
            <a:r>
              <a:rPr lang="de-DE" b="1" dirty="0"/>
              <a:t>- Amgad Gerges - Reda </a:t>
            </a:r>
            <a:r>
              <a:rPr lang="de-DE" b="1" dirty="0" err="1"/>
              <a:t>Deif</a:t>
            </a:r>
            <a:endParaRPr lang="de-DE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feld 12">
            <a:extLst>
              <a:ext uri="{FF2B5EF4-FFF2-40B4-BE49-F238E27FC236}">
                <a16:creationId xmlns:a16="http://schemas.microsoft.com/office/drawing/2014/main" id="{F1A690F4-D79D-8EBC-12DE-D491129BCFF6}"/>
              </a:ext>
            </a:extLst>
          </p:cNvPr>
          <p:cNvSpPr txBox="1"/>
          <p:nvPr/>
        </p:nvSpPr>
        <p:spPr>
          <a:xfrm>
            <a:off x="2047405" y="5070436"/>
            <a:ext cx="73706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presented </a:t>
            </a:r>
            <a:r>
              <a:rPr lang="de-DE" sz="1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</a:t>
            </a:r>
            <a:r>
              <a:rPr lang="de-DE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 Amgad Gerges</a:t>
            </a:r>
          </a:p>
        </p:txBody>
      </p:sp>
    </p:spTree>
    <p:extLst>
      <p:ext uri="{BB962C8B-B14F-4D97-AF65-F5344CB8AC3E}">
        <p14:creationId xmlns:p14="http://schemas.microsoft.com/office/powerpoint/2010/main" val="293011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21">
            <a:extLst>
              <a:ext uri="{FF2B5EF4-FFF2-40B4-BE49-F238E27FC236}">
                <a16:creationId xmlns:a16="http://schemas.microsoft.com/office/drawing/2014/main" id="{C01C5AA7-5821-01BD-1AC8-74837347C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de-DE" dirty="0"/>
          </a:p>
        </p:txBody>
      </p:sp>
      <p:sp>
        <p:nvSpPr>
          <p:cNvPr id="25" name="Foliennummernplatzhalter 24">
            <a:extLst>
              <a:ext uri="{FF2B5EF4-FFF2-40B4-BE49-F238E27FC236}">
                <a16:creationId xmlns:a16="http://schemas.microsoft.com/office/drawing/2014/main" id="{1F1D02DB-C1C0-0C64-772D-D708982E9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2</a:t>
            </a:fld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760505" y="1620370"/>
            <a:ext cx="8222130" cy="3030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/>
              <a:t> 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Check punching shear stress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Types of connection between Tower and foundation   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endParaRPr lang="en-GB" b="1" dirty="0"/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endParaRPr lang="en-US" b="1" dirty="0"/>
          </a:p>
        </p:txBody>
      </p:sp>
      <p:sp>
        <p:nvSpPr>
          <p:cNvPr id="10" name="Datumsplatzhalter 4">
            <a:extLst>
              <a:ext uri="{FF2B5EF4-FFF2-40B4-BE49-F238E27FC236}">
                <a16:creationId xmlns:a16="http://schemas.microsoft.com/office/drawing/2014/main" id="{626B2514-13D3-FEE4-A76A-25778AA00477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554103"/>
            <a:ext cx="111137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25</a:t>
            </a:r>
            <a:r>
              <a:rPr lang="en-GB" b="1" dirty="0">
                <a:solidFill>
                  <a:schemeClr val="tx1"/>
                </a:solidFill>
              </a:rPr>
              <a:t>/11/2025</a:t>
            </a:r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Foundations team/ Optimus Syria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Group members: </a:t>
            </a:r>
            <a:r>
              <a:rPr lang="de-DE" sz="1200" b="1" dirty="0"/>
              <a:t>Jehad </a:t>
            </a:r>
            <a:r>
              <a:rPr lang="de-DE" sz="1200" b="1" dirty="0" err="1"/>
              <a:t>Albaali</a:t>
            </a:r>
            <a:r>
              <a:rPr lang="de-DE" sz="1200" b="1" dirty="0"/>
              <a:t>- Amgad Gerges - Reda </a:t>
            </a:r>
            <a:r>
              <a:rPr lang="de-DE" sz="1200" b="1" dirty="0" err="1"/>
              <a:t>Deif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535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82D30E5-E8EB-4514-D402-7006892C79B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3</a:t>
            </a:fld>
            <a:endParaRPr lang="en-GB"/>
          </a:p>
        </p:txBody>
      </p:sp>
      <p:sp>
        <p:nvSpPr>
          <p:cNvPr id="8" name="Titel 4">
            <a:extLst>
              <a:ext uri="{FF2B5EF4-FFF2-40B4-BE49-F238E27FC236}">
                <a16:creationId xmlns:a16="http://schemas.microsoft.com/office/drawing/2014/main" id="{0B893F6D-288A-550A-C796-008FEA91A947}"/>
              </a:ext>
            </a:extLst>
          </p:cNvPr>
          <p:cNvSpPr txBox="1">
            <a:spLocks/>
          </p:cNvSpPr>
          <p:nvPr/>
        </p:nvSpPr>
        <p:spPr>
          <a:xfrm>
            <a:off x="764309" y="631689"/>
            <a:ext cx="105156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</a:pPr>
            <a:r>
              <a:rPr lang="en-GB" sz="2000" b="1" dirty="0">
                <a:solidFill>
                  <a:srgbClr val="FF0000"/>
                </a:solidFill>
              </a:rPr>
              <a:t>Concrete Dimensions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7" name="Datumsplatzhalter 4">
            <a:extLst>
              <a:ext uri="{FF2B5EF4-FFF2-40B4-BE49-F238E27FC236}">
                <a16:creationId xmlns:a16="http://schemas.microsoft.com/office/drawing/2014/main" id="{626B2514-13D3-FEE4-A76A-25778AA00477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</a:rPr>
              <a:t>25/11/2025</a:t>
            </a:r>
          </a:p>
        </p:txBody>
      </p:sp>
      <p:sp>
        <p:nvSpPr>
          <p:cNvPr id="18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Foundations team/ Optimus Syria</a:t>
            </a:r>
          </a:p>
        </p:txBody>
      </p:sp>
      <p:sp>
        <p:nvSpPr>
          <p:cNvPr id="19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Group </a:t>
            </a:r>
            <a:r>
              <a:rPr lang="de-DE" sz="1200" b="1" dirty="0" err="1">
                <a:latin typeface="Times New Roman" pitchFamily="18" charset="0"/>
                <a:cs typeface="Times New Roman" pitchFamily="18" charset="0"/>
              </a:rPr>
              <a:t>members</a:t>
            </a:r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de-DE" sz="1200" b="1" dirty="0"/>
              <a:t>Jehad </a:t>
            </a:r>
            <a:r>
              <a:rPr lang="de-DE" sz="1200" b="1" dirty="0" err="1"/>
              <a:t>Albaali</a:t>
            </a:r>
            <a:r>
              <a:rPr lang="de-DE" sz="1200" b="1" dirty="0"/>
              <a:t>- Amgad Gerges - Reda </a:t>
            </a:r>
            <a:r>
              <a:rPr lang="de-DE" sz="1200" b="1" dirty="0" err="1"/>
              <a:t>Deif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6D2BC3-7A77-427E-122F-070BF0C54EA8}"/>
              </a:ext>
            </a:extLst>
          </p:cNvPr>
          <p:cNvSpPr txBox="1"/>
          <p:nvPr/>
        </p:nvSpPr>
        <p:spPr>
          <a:xfrm>
            <a:off x="510308" y="2246069"/>
            <a:ext cx="4679759" cy="3056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Diameter of Base Plate (BP) </a:t>
            </a: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= 25 m </a:t>
            </a: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n-GB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Diameter of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Pedestal = 7 m </a:t>
            </a:r>
            <a:endParaRPr lang="en-GB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Height Pedestal = 1.5 m </a:t>
            </a:r>
            <a:endParaRPr lang="en-GB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Height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of Middle slab = </a:t>
            </a:r>
            <a:r>
              <a:rPr lang="en-GB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2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m 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Height of </a:t>
            </a:r>
            <a:r>
              <a:rPr lang="en-GB" dirty="0"/>
              <a:t>Frustum (HF) = 1.5 m </a:t>
            </a:r>
            <a:endParaRPr lang="en-GB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Height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of Edge slab (HE) = 0.5 m </a:t>
            </a:r>
            <a:endParaRPr lang="en-GB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432509-B769-A94B-4D8C-016547672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074" y="2053592"/>
            <a:ext cx="6873077" cy="356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198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855F6-C01F-6769-3652-D8A8070F7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21">
            <a:extLst>
              <a:ext uri="{FF2B5EF4-FFF2-40B4-BE49-F238E27FC236}">
                <a16:creationId xmlns:a16="http://schemas.microsoft.com/office/drawing/2014/main" id="{E613D211-BEA0-2E32-65D1-F88000B45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9130"/>
            <a:ext cx="1402080" cy="303762"/>
          </a:xfrm>
        </p:spPr>
        <p:txBody>
          <a:bodyPr>
            <a:normAutofit fontScale="90000"/>
          </a:bodyPr>
          <a:lstStyle/>
          <a:p>
            <a:r>
              <a:rPr lang="de-DE" sz="2000" dirty="0">
                <a:solidFill>
                  <a:srgbClr val="FF0000"/>
                </a:solidFill>
              </a:rPr>
              <a:t>Input </a:t>
            </a:r>
            <a:r>
              <a:rPr lang="de-DE" sz="2000" dirty="0" err="1">
                <a:solidFill>
                  <a:srgbClr val="FF0000"/>
                </a:solidFill>
              </a:rPr>
              <a:t>data</a:t>
            </a:r>
            <a:endParaRPr lang="de-DE" sz="2000" dirty="0">
              <a:solidFill>
                <a:srgbClr val="FF0000"/>
              </a:solidFill>
            </a:endParaRPr>
          </a:p>
        </p:txBody>
      </p:sp>
      <p:sp>
        <p:nvSpPr>
          <p:cNvPr id="25" name="Foliennummernplatzhalter 24">
            <a:extLst>
              <a:ext uri="{FF2B5EF4-FFF2-40B4-BE49-F238E27FC236}">
                <a16:creationId xmlns:a16="http://schemas.microsoft.com/office/drawing/2014/main" id="{1C9214F4-C5EE-8BCE-FE46-B988D1D34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4</a:t>
            </a:fld>
            <a:endParaRPr lang="en-GB" dirty="0"/>
          </a:p>
        </p:txBody>
      </p:sp>
      <p:sp>
        <p:nvSpPr>
          <p:cNvPr id="10" name="Datumsplatzhalter 4">
            <a:extLst>
              <a:ext uri="{FF2B5EF4-FFF2-40B4-BE49-F238E27FC236}">
                <a16:creationId xmlns:a16="http://schemas.microsoft.com/office/drawing/2014/main" id="{E7ADECB0-CB60-02B7-5EA8-AC2903B128A1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554103"/>
            <a:ext cx="111137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25</a:t>
            </a:r>
            <a:r>
              <a:rPr lang="en-GB" b="1" dirty="0">
                <a:solidFill>
                  <a:schemeClr val="tx1"/>
                </a:solidFill>
              </a:rPr>
              <a:t>/11/2025</a:t>
            </a:r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38C8C02D-7B39-4DC6-1528-F90940F9229F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Foundations team/ Optimus Syria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DCBBAC3-20F0-7C00-B583-D0B829E2B92D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Group members: </a:t>
            </a:r>
            <a:r>
              <a:rPr lang="de-DE" sz="1200" b="1" dirty="0"/>
              <a:t>Jehad </a:t>
            </a:r>
            <a:r>
              <a:rPr lang="de-DE" sz="1200" b="1" dirty="0" err="1"/>
              <a:t>Albaali</a:t>
            </a:r>
            <a:r>
              <a:rPr lang="de-DE" sz="1200" b="1" dirty="0"/>
              <a:t>- Amgad Gerges - Reda </a:t>
            </a:r>
            <a:r>
              <a:rPr lang="de-DE" sz="1200" b="1" dirty="0" err="1"/>
              <a:t>Deif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CE1172-1EBA-4027-B2D3-8F9413A14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908" y="1393593"/>
            <a:ext cx="7640002" cy="40708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84F076-5061-4802-B8BE-6E27827D56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3254" y="1499987"/>
            <a:ext cx="6085636" cy="4155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894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4F3F8-7FCA-C48B-1687-8E61C7435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869A2AC-C06E-229E-9510-CEB7B79C91D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5</a:t>
            </a:fld>
            <a:endParaRPr lang="en-GB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9E27D02-AFE5-EE72-7245-979026DFF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7" name="Datumsplatzhalter 4">
            <a:extLst>
              <a:ext uri="{FF2B5EF4-FFF2-40B4-BE49-F238E27FC236}">
                <a16:creationId xmlns:a16="http://schemas.microsoft.com/office/drawing/2014/main" id="{A63C02EA-6848-844A-A7E6-8E10BA8FB6BF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25</a:t>
            </a:r>
            <a:r>
              <a:rPr lang="en-GB" b="1" dirty="0">
                <a:solidFill>
                  <a:schemeClr val="tx1"/>
                </a:solidFill>
              </a:rPr>
              <a:t>/11/2025</a:t>
            </a:r>
          </a:p>
        </p:txBody>
      </p:sp>
      <p:sp>
        <p:nvSpPr>
          <p:cNvPr id="18" name="Fußzeilenplatzhalter 5">
            <a:extLst>
              <a:ext uri="{FF2B5EF4-FFF2-40B4-BE49-F238E27FC236}">
                <a16:creationId xmlns:a16="http://schemas.microsoft.com/office/drawing/2014/main" id="{8EBAC95E-AA1D-8862-0792-D9FBD9AB10A9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Foundations team/ Optimus Syria</a:t>
            </a:r>
          </a:p>
        </p:txBody>
      </p:sp>
      <p:sp>
        <p:nvSpPr>
          <p:cNvPr id="19" name="Textfeld 12">
            <a:extLst>
              <a:ext uri="{FF2B5EF4-FFF2-40B4-BE49-F238E27FC236}">
                <a16:creationId xmlns:a16="http://schemas.microsoft.com/office/drawing/2014/main" id="{7E17BBCC-CFA3-C433-AD5F-5CF92170D038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Group </a:t>
            </a:r>
            <a:r>
              <a:rPr lang="de-DE" sz="1200" b="1" dirty="0" err="1">
                <a:latin typeface="Times New Roman" pitchFamily="18" charset="0"/>
                <a:cs typeface="Times New Roman" pitchFamily="18" charset="0"/>
              </a:rPr>
              <a:t>members</a:t>
            </a:r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de-DE" sz="1200" b="1" dirty="0"/>
              <a:t>Jehad </a:t>
            </a:r>
            <a:r>
              <a:rPr lang="de-DE" sz="1200" b="1" dirty="0" err="1"/>
              <a:t>Albaali</a:t>
            </a:r>
            <a:r>
              <a:rPr lang="de-DE" sz="1200" b="1" dirty="0"/>
              <a:t>- Amgad Gerges - Reda </a:t>
            </a:r>
            <a:r>
              <a:rPr lang="de-DE" sz="1200" b="1" dirty="0" err="1"/>
              <a:t>Deif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itel 21">
            <a:extLst>
              <a:ext uri="{FF2B5EF4-FFF2-40B4-BE49-F238E27FC236}">
                <a16:creationId xmlns:a16="http://schemas.microsoft.com/office/drawing/2014/main" id="{4E43D925-0C1B-6F9B-8DF5-F0E937D56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98" y="885169"/>
            <a:ext cx="4137660" cy="571745"/>
          </a:xfrm>
        </p:spPr>
        <p:txBody>
          <a:bodyPr>
            <a:normAutofit fontScale="90000"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Check punching shear stress</a:t>
            </a:r>
            <a:br>
              <a:rPr lang="en-US" sz="2000" b="1" dirty="0"/>
            </a:br>
            <a:endParaRPr lang="de-DE" sz="2000" dirty="0">
              <a:solidFill>
                <a:srgbClr val="FF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4F8744B-94F8-D1EA-DA14-E8540C2072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36" t="29765" r="31422" b="36800"/>
          <a:stretch/>
        </p:blipFill>
        <p:spPr bwMode="auto">
          <a:xfrm>
            <a:off x="485479" y="1415556"/>
            <a:ext cx="5588109" cy="3183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09713B-7E85-1568-3B7E-417CED0367C9}"/>
              </a:ext>
            </a:extLst>
          </p:cNvPr>
          <p:cNvSpPr txBox="1"/>
          <p:nvPr/>
        </p:nvSpPr>
        <p:spPr>
          <a:xfrm>
            <a:off x="7277006" y="4829544"/>
            <a:ext cx="61363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Reference:</a:t>
            </a: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C0D110-D2C1-1588-8215-FBCD3447DE88}"/>
              </a:ext>
            </a:extLst>
          </p:cNvPr>
          <p:cNvSpPr txBox="1"/>
          <p:nvPr/>
        </p:nvSpPr>
        <p:spPr>
          <a:xfrm>
            <a:off x="8474613" y="4875711"/>
            <a:ext cx="37173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EN 1992 – Eurocode 2: Design of Concrete Structures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513277-002E-A282-76B4-F980FBD09F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0676" y="1597863"/>
            <a:ext cx="4042413" cy="323621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FC77A70-4E19-88D6-52F4-DC435E5BCD40}"/>
                  </a:ext>
                </a:extLst>
              </p:cNvPr>
              <p:cNvSpPr txBox="1"/>
              <p:nvPr/>
            </p:nvSpPr>
            <p:spPr>
              <a:xfrm>
                <a:off x="157107" y="5073801"/>
                <a:ext cx="6664304" cy="5606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1" i="0">
                              <a:latin typeface="Cambria Math" panose="02040503050406030204" pitchFamily="18" charset="0"/>
                            </a:rPr>
                            <m:t>𝐕</m:t>
                          </m:r>
                        </m:e>
                        <m:sub>
                          <m:r>
                            <a:rPr lang="en-GB" sz="2000" b="1" i="0">
                              <a:latin typeface="Cambria Math" panose="02040503050406030204" pitchFamily="18" charset="0"/>
                            </a:rPr>
                            <m:t>𝐑𝐝</m:t>
                          </m:r>
                          <m:r>
                            <a:rPr lang="en-GB" sz="2000" b="1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b="1" i="0">
                              <a:latin typeface="Cambria Math" panose="02040503050406030204" pitchFamily="18" charset="0"/>
                            </a:rPr>
                            <m:t>𝐜</m:t>
                          </m:r>
                        </m:sub>
                      </m:sSub>
                      <m:r>
                        <a:rPr lang="en-GB" sz="2000" b="1" i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GB" sz="20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20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000" i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GB" sz="2000" i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GB" sz="2000" i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0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000" i="0">
                          <a:latin typeface="Cambria Math" panose="02040503050406030204" pitchFamily="18" charset="0"/>
                        </a:rPr>
                        <m:t>32</m:t>
                      </m:r>
                      <m:sSup>
                        <m:sSup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  <m:r>
                                <a:rPr lang="en-GB" sz="2000" i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GB" sz="20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GB" sz="2000" i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GB" sz="2000" i="0">
                                  <a:latin typeface="Cambria Math" panose="02040503050406030204" pitchFamily="18" charset="0"/>
                                </a:rPr>
                                <m:t>00182</m:t>
                              </m:r>
                              <m:r>
                                <a:rPr lang="en-GB" sz="2000" i="0">
                                  <a:latin typeface="Cambria Math" panose="02040503050406030204" pitchFamily="18" charset="0"/>
                                </a:rPr>
                                <m:t> ∗ </m:t>
                              </m:r>
                              <m:r>
                                <a:rPr lang="en-GB" sz="2000" i="0"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  <m:r>
                                <a:rPr lang="en-GB" sz="2000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0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20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en-GB" sz="2000" i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GB" sz="2000" i="0">
                          <a:latin typeface="Cambria Math" panose="02040503050406030204" pitchFamily="18" charset="0"/>
                        </a:rPr>
                        <m:t>1000</m:t>
                      </m:r>
                      <m:r>
                        <a:rPr lang="en-GB" sz="2000" i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GB" sz="2000" i="0">
                          <a:latin typeface="Cambria Math" panose="02040503050406030204" pitchFamily="18" charset="0"/>
                        </a:rPr>
                        <m:t>1950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FC77A70-4E19-88D6-52F4-DC435E5BC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07" y="5073801"/>
                <a:ext cx="6664304" cy="5606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D79499-4FC7-E93B-ADA9-C7BA77A02D65}"/>
                  </a:ext>
                </a:extLst>
              </p:cNvPr>
              <p:cNvSpPr txBox="1"/>
              <p:nvPr/>
            </p:nvSpPr>
            <p:spPr>
              <a:xfrm>
                <a:off x="157107" y="5907089"/>
                <a:ext cx="2626492" cy="3940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>
                              <a:latin typeface="Cambria Math" panose="02040503050406030204" pitchFamily="18" charset="0"/>
                            </a:rPr>
                            <m:t>𝐕</m:t>
                          </m:r>
                        </m:e>
                        <m:sub>
                          <m:r>
                            <a:rPr lang="en-GB" b="1" i="0">
                              <a:latin typeface="Cambria Math" panose="02040503050406030204" pitchFamily="18" charset="0"/>
                            </a:rPr>
                            <m:t>𝐑𝐝</m:t>
                          </m:r>
                          <m:r>
                            <a:rPr lang="en-GB" b="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1" i="0">
                              <a:latin typeface="Cambria Math" panose="02040503050406030204" pitchFamily="18" charset="0"/>
                            </a:rPr>
                            <m:t>𝐜</m:t>
                          </m:r>
                        </m:sub>
                      </m:sSub>
                      <m:r>
                        <a:rPr lang="en-GB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54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type m:val="li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 b="0" i="0">
                              <a:latin typeface="Cambria Math" panose="02040503050406030204" pitchFamily="18" charset="0"/>
                            </a:rPr>
                            <m:t>N</m:t>
                          </m:r>
                        </m:num>
                        <m:den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b="0" i="0">
                                  <a:latin typeface="Cambria Math" panose="02040503050406030204" pitchFamily="18" charset="0"/>
                                </a:rPr>
                                <m:t>mm</m:t>
                              </m:r>
                            </m:e>
                            <m:sup>
                              <m:r>
                                <a:rPr lang="en-GB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D79499-4FC7-E93B-ADA9-C7BA77A02D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07" y="5907089"/>
                <a:ext cx="2626492" cy="394082"/>
              </a:xfrm>
              <a:prstGeom prst="rect">
                <a:avLst/>
              </a:prstGeom>
              <a:blipFill>
                <a:blip r:embed="rId5"/>
                <a:stretch>
                  <a:fillRect t="-106154" b="-1615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0E169F61-9F81-9272-991D-5C4C2A45A078}"/>
              </a:ext>
            </a:extLst>
          </p:cNvPr>
          <p:cNvSpPr/>
          <p:nvPr/>
        </p:nvSpPr>
        <p:spPr>
          <a:xfrm>
            <a:off x="276225" y="5819775"/>
            <a:ext cx="2626492" cy="56060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461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4F3F8-7FCA-C48B-1687-8E61C7435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869A2AC-C06E-229E-9510-CEB7B79C91D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6</a:t>
            </a:fld>
            <a:endParaRPr lang="en-GB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9E27D02-AFE5-EE72-7245-979026DFF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7" name="Datumsplatzhalter 4">
            <a:extLst>
              <a:ext uri="{FF2B5EF4-FFF2-40B4-BE49-F238E27FC236}">
                <a16:creationId xmlns:a16="http://schemas.microsoft.com/office/drawing/2014/main" id="{A63C02EA-6848-844A-A7E6-8E10BA8FB6BF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25</a:t>
            </a:r>
            <a:r>
              <a:rPr lang="en-GB" b="1" dirty="0">
                <a:solidFill>
                  <a:schemeClr val="tx1"/>
                </a:solidFill>
              </a:rPr>
              <a:t>/11/2025</a:t>
            </a:r>
          </a:p>
        </p:txBody>
      </p:sp>
      <p:sp>
        <p:nvSpPr>
          <p:cNvPr id="18" name="Fußzeilenplatzhalter 5">
            <a:extLst>
              <a:ext uri="{FF2B5EF4-FFF2-40B4-BE49-F238E27FC236}">
                <a16:creationId xmlns:a16="http://schemas.microsoft.com/office/drawing/2014/main" id="{8EBAC95E-AA1D-8862-0792-D9FBD9AB10A9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Foundations team/ Optimus Syria</a:t>
            </a:r>
          </a:p>
        </p:txBody>
      </p:sp>
      <p:sp>
        <p:nvSpPr>
          <p:cNvPr id="19" name="Textfeld 12">
            <a:extLst>
              <a:ext uri="{FF2B5EF4-FFF2-40B4-BE49-F238E27FC236}">
                <a16:creationId xmlns:a16="http://schemas.microsoft.com/office/drawing/2014/main" id="{7E17BBCC-CFA3-C433-AD5F-5CF92170D038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Group </a:t>
            </a:r>
            <a:r>
              <a:rPr lang="de-DE" sz="1200" b="1" dirty="0" err="1">
                <a:latin typeface="Times New Roman" pitchFamily="18" charset="0"/>
                <a:cs typeface="Times New Roman" pitchFamily="18" charset="0"/>
              </a:rPr>
              <a:t>members</a:t>
            </a:r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de-DE" sz="1200" b="1" dirty="0"/>
              <a:t>Jehad </a:t>
            </a:r>
            <a:r>
              <a:rPr lang="de-DE" sz="1200" b="1" dirty="0" err="1"/>
              <a:t>Albaali</a:t>
            </a:r>
            <a:r>
              <a:rPr lang="de-DE" sz="1200" b="1" dirty="0"/>
              <a:t>- Amgad Gerges - Reda </a:t>
            </a:r>
            <a:r>
              <a:rPr lang="de-DE" sz="1200" b="1" dirty="0" err="1"/>
              <a:t>Deif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itel 21">
            <a:extLst>
              <a:ext uri="{FF2B5EF4-FFF2-40B4-BE49-F238E27FC236}">
                <a16:creationId xmlns:a16="http://schemas.microsoft.com/office/drawing/2014/main" id="{4E43D925-0C1B-6F9B-8DF5-F0E937D56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072" y="1005874"/>
            <a:ext cx="4459941" cy="303762"/>
          </a:xfrm>
        </p:spPr>
        <p:txBody>
          <a:bodyPr>
            <a:normAutofit fontScale="90000"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Check punching shear stress</a:t>
            </a:r>
            <a:br>
              <a:rPr lang="en-US" sz="2000" b="1" dirty="0"/>
            </a:br>
            <a:endParaRPr lang="en-GB" sz="20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70A62CA-7321-BAA0-A8FB-1CA6EC36C1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14" t="35392" r="36651" b="39653"/>
          <a:stretch/>
        </p:blipFill>
        <p:spPr bwMode="auto">
          <a:xfrm>
            <a:off x="945900" y="1562778"/>
            <a:ext cx="4706224" cy="2567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D2F05F1-E35C-83C9-E6F9-729E50178B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2029" y="1641635"/>
            <a:ext cx="4438858" cy="212008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3BEACC-11AD-99C6-82EC-045DD6BE7F20}"/>
              </a:ext>
            </a:extLst>
          </p:cNvPr>
          <p:cNvSpPr txBox="1"/>
          <p:nvPr/>
        </p:nvSpPr>
        <p:spPr>
          <a:xfrm>
            <a:off x="6702029" y="4048499"/>
            <a:ext cx="61363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Reference : 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072886-6BD5-315B-9491-5C6B3BC2CAF2}"/>
              </a:ext>
            </a:extLst>
          </p:cNvPr>
          <p:cNvSpPr txBox="1"/>
          <p:nvPr/>
        </p:nvSpPr>
        <p:spPr>
          <a:xfrm>
            <a:off x="7931523" y="4129809"/>
            <a:ext cx="46257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200" b="0" i="0" u="none" strike="noStrike" baseline="0" dirty="0">
                <a:latin typeface="ArialMT"/>
              </a:rPr>
              <a:t>Concrete grades according to</a:t>
            </a:r>
            <a:r>
              <a:rPr lang="en-GB" sz="1200" dirty="0">
                <a:latin typeface="ArialMT"/>
              </a:rPr>
              <a:t> </a:t>
            </a:r>
            <a:r>
              <a:rPr lang="en-GB" sz="1200" b="0" i="0" u="none" strike="noStrike" baseline="0" dirty="0">
                <a:latin typeface="ArialMT"/>
              </a:rPr>
              <a:t>EC 2 and DIN 1045-1 (2008)</a:t>
            </a:r>
            <a:endParaRPr lang="en-GB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FB0886-589D-866E-24E8-DE7FA35D9902}"/>
              </a:ext>
            </a:extLst>
          </p:cNvPr>
          <p:cNvSpPr txBox="1"/>
          <p:nvPr/>
        </p:nvSpPr>
        <p:spPr>
          <a:xfrm>
            <a:off x="8024445" y="4417831"/>
            <a:ext cx="39175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EN 1992 – Eurocode 2: Design of Concrete Structures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E23A27C-3263-982B-4726-1767416ECCEB}"/>
                  </a:ext>
                </a:extLst>
              </p:cNvPr>
              <p:cNvSpPr txBox="1"/>
              <p:nvPr/>
            </p:nvSpPr>
            <p:spPr>
              <a:xfrm>
                <a:off x="-91831" y="4308929"/>
                <a:ext cx="4964906" cy="6774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b>
                          <m:r>
                            <a:rPr lang="en-GB" b="1" i="0">
                              <a:latin typeface="Cambria Math" panose="02040503050406030204" pitchFamily="18" charset="0"/>
                            </a:rPr>
                            <m:t>𝐩𝐮</m:t>
                          </m:r>
                        </m:sub>
                      </m:sSub>
                      <m:r>
                        <a:rPr lang="en-GB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0">
                              <a:latin typeface="Cambria Math" panose="02040503050406030204" pitchFamily="18" charset="0"/>
                            </a:rPr>
                            <m:t>31</m:t>
                          </m:r>
                          <m:r>
                            <a:rPr lang="en-GB" b="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0">
                              <a:latin typeface="Cambria Math" panose="02040503050406030204" pitchFamily="18" charset="0"/>
                            </a:rPr>
                            <m:t>734</m:t>
                          </m:r>
                          <m:r>
                            <a:rPr lang="en-GB" b="0" i="0">
                              <a:latin typeface="Cambria Math" panose="02040503050406030204" pitchFamily="18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en-GB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GB" b="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GB" b="0" i="0">
                              <a:latin typeface="Cambria Math" panose="02040503050406030204" pitchFamily="18" charset="0"/>
                            </a:rPr>
                            <m:t>47</m:t>
                          </m:r>
                          <m:r>
                            <a:rPr lang="en-GB" b="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0">
                              <a:latin typeface="Cambria Math" panose="02040503050406030204" pitchFamily="18" charset="0"/>
                            </a:rPr>
                            <m:t>123</m:t>
                          </m:r>
                          <m:r>
                            <a:rPr lang="en-GB" b="0" i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GB" b="0" i="0">
                              <a:latin typeface="Cambria Math" panose="02040503050406030204" pitchFamily="18" charset="0"/>
                            </a:rPr>
                            <m:t>1950</m:t>
                          </m:r>
                        </m:den>
                      </m:f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34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type m:val="lin"/>
                          <m:ctrlPr>
                            <a:rPr lang="en-GB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 b="0" i="0">
                              <a:latin typeface="Cambria Math" panose="02040503050406030204" pitchFamily="18" charset="0"/>
                            </a:rPr>
                            <m:t>N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b="0" i="0">
                                  <a:latin typeface="Cambria Math" panose="02040503050406030204" pitchFamily="18" charset="0"/>
                                </a:rPr>
                                <m:t>mm</m:t>
                              </m:r>
                            </m:e>
                            <m:sup>
                              <m:r>
                                <a:rPr lang="en-GB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E23A27C-3263-982B-4726-1767416EC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1831" y="4308929"/>
                <a:ext cx="4964906" cy="6774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4DFE8FC-CC54-0398-ABF9-4D0AF7402FA7}"/>
                  </a:ext>
                </a:extLst>
              </p:cNvPr>
              <p:cNvSpPr txBox="1"/>
              <p:nvPr/>
            </p:nvSpPr>
            <p:spPr>
              <a:xfrm>
                <a:off x="264862" y="5274526"/>
                <a:ext cx="3369415" cy="427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1"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b>
                          <m:r>
                            <a:rPr lang="en-GB" sz="2000" b="1" i="0">
                              <a:latin typeface="Cambria Math" panose="02040503050406030204" pitchFamily="18" charset="0"/>
                            </a:rPr>
                            <m:t>𝐩𝐮</m:t>
                          </m:r>
                        </m:sub>
                      </m:sSub>
                      <m:r>
                        <a:rPr lang="en-GB" sz="2000" b="0" i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1" i="0">
                              <a:latin typeface="Cambria Math" panose="02040503050406030204" pitchFamily="18" charset="0"/>
                            </a:rPr>
                            <m:t>𝐕</m:t>
                          </m:r>
                        </m:e>
                        <m:sub>
                          <m:r>
                            <a:rPr lang="en-GB" sz="2000" b="1" i="0">
                              <a:latin typeface="Cambria Math" panose="02040503050406030204" pitchFamily="18" charset="0"/>
                            </a:rPr>
                            <m:t>𝐑𝐝</m:t>
                          </m:r>
                          <m:r>
                            <a:rPr lang="en-GB" sz="2000" b="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b="1" i="0">
                              <a:latin typeface="Cambria Math" panose="02040503050406030204" pitchFamily="18" charset="0"/>
                            </a:rPr>
                            <m:t>𝐜</m:t>
                          </m:r>
                        </m:sub>
                      </m:sSub>
                      <m:r>
                        <a:rPr lang="en-GB" sz="2000" b="0" i="0"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GB" sz="2000" b="1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𝐬𝐚𝐟𝐞</m:t>
                      </m:r>
                      <m:r>
                        <a:rPr lang="en-GB" sz="2000" b="0" i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4DFE8FC-CC54-0398-ABF9-4D0AF7402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862" y="5274526"/>
                <a:ext cx="3369415" cy="427618"/>
              </a:xfrm>
              <a:prstGeom prst="rect">
                <a:avLst/>
              </a:prstGeom>
              <a:blipFill>
                <a:blip r:embed="rId5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3974F50F-635D-DF69-0708-426D20EA450A}"/>
              </a:ext>
            </a:extLst>
          </p:cNvPr>
          <p:cNvSpPr/>
          <p:nvPr/>
        </p:nvSpPr>
        <p:spPr>
          <a:xfrm>
            <a:off x="672520" y="5220002"/>
            <a:ext cx="2626492" cy="56060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9874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CC4E4-FF18-05C8-8521-802DF5076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CBC4037-3713-5AA3-C99C-2CA7EFB16E7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7</a:t>
            </a:fld>
            <a:endParaRPr lang="en-GB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BD155A5-67BF-E16B-001F-7B01EC616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7" name="Datumsplatzhalter 4">
            <a:extLst>
              <a:ext uri="{FF2B5EF4-FFF2-40B4-BE49-F238E27FC236}">
                <a16:creationId xmlns:a16="http://schemas.microsoft.com/office/drawing/2014/main" id="{DE611B64-1566-A19B-E579-8F9334C4B956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25</a:t>
            </a:r>
            <a:r>
              <a:rPr lang="en-GB" b="1" dirty="0">
                <a:solidFill>
                  <a:schemeClr val="tx1"/>
                </a:solidFill>
              </a:rPr>
              <a:t>/11/2025</a:t>
            </a:r>
          </a:p>
        </p:txBody>
      </p:sp>
      <p:sp>
        <p:nvSpPr>
          <p:cNvPr id="18" name="Fußzeilenplatzhalter 5">
            <a:extLst>
              <a:ext uri="{FF2B5EF4-FFF2-40B4-BE49-F238E27FC236}">
                <a16:creationId xmlns:a16="http://schemas.microsoft.com/office/drawing/2014/main" id="{8F1E856C-7561-247F-97F8-A8DA9641C9B5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Foundations team/ Optimus Syria</a:t>
            </a:r>
          </a:p>
        </p:txBody>
      </p:sp>
      <p:sp>
        <p:nvSpPr>
          <p:cNvPr id="19" name="Textfeld 12">
            <a:extLst>
              <a:ext uri="{FF2B5EF4-FFF2-40B4-BE49-F238E27FC236}">
                <a16:creationId xmlns:a16="http://schemas.microsoft.com/office/drawing/2014/main" id="{1591BAD5-82A0-433D-E451-31ADC94A557A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Group </a:t>
            </a:r>
            <a:r>
              <a:rPr lang="de-DE" sz="1200" b="1" dirty="0" err="1">
                <a:latin typeface="Times New Roman" pitchFamily="18" charset="0"/>
                <a:cs typeface="Times New Roman" pitchFamily="18" charset="0"/>
              </a:rPr>
              <a:t>members</a:t>
            </a:r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de-DE" sz="1200" b="1" dirty="0"/>
              <a:t>Jehad </a:t>
            </a:r>
            <a:r>
              <a:rPr lang="de-DE" sz="1200" b="1" dirty="0" err="1"/>
              <a:t>Albaali</a:t>
            </a:r>
            <a:r>
              <a:rPr lang="de-DE" sz="1200" b="1" dirty="0"/>
              <a:t>- Amgad Gerges - Reda </a:t>
            </a:r>
            <a:r>
              <a:rPr lang="de-DE" sz="1200" b="1" dirty="0" err="1"/>
              <a:t>Deif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84231B-C2D6-3567-0BE4-CACEEA5ABF52}"/>
              </a:ext>
            </a:extLst>
          </p:cNvPr>
          <p:cNvSpPr txBox="1"/>
          <p:nvPr/>
        </p:nvSpPr>
        <p:spPr>
          <a:xfrm>
            <a:off x="701040" y="823154"/>
            <a:ext cx="6141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Types of connection between Tower and foundation</a:t>
            </a:r>
            <a:r>
              <a:rPr lang="ar-EG" b="1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   </a:t>
            </a:r>
          </a:p>
          <a:p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B98B11-5C3B-DBFB-5ED7-642589144A32}"/>
              </a:ext>
            </a:extLst>
          </p:cNvPr>
          <p:cNvSpPr txBox="1"/>
          <p:nvPr/>
        </p:nvSpPr>
        <p:spPr>
          <a:xfrm>
            <a:off x="430877" y="1595334"/>
            <a:ext cx="614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00206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Anchor cage</a:t>
            </a:r>
            <a:r>
              <a:rPr lang="ar-EG" b="1" dirty="0">
                <a:solidFill>
                  <a:srgbClr val="00206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GB" b="1" dirty="0">
                <a:solidFill>
                  <a:srgbClr val="00206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System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4E8327-65BC-2B67-9110-CD77BBC2E4C7}"/>
              </a:ext>
            </a:extLst>
          </p:cNvPr>
          <p:cNvSpPr txBox="1"/>
          <p:nvPr/>
        </p:nvSpPr>
        <p:spPr>
          <a:xfrm>
            <a:off x="355022" y="1864019"/>
            <a:ext cx="11160703" cy="1123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A large group of anchor bolts is connected to two steel rings (upper and lower),</a:t>
            </a:r>
            <a:r>
              <a:rPr lang="en-GB" dirty="0"/>
              <a:t>These bolts are </a:t>
            </a:r>
            <a:r>
              <a:rPr lang="en-GB" b="1" dirty="0"/>
              <a:t>pre-tensioned</a:t>
            </a:r>
            <a:r>
              <a:rPr lang="en-GB" dirty="0"/>
              <a:t> to resist tensile forces</a:t>
            </a: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.</a:t>
            </a:r>
            <a:r>
              <a:rPr lang="ar-EG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ar-EG" dirty="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95E950-F55D-279B-0552-BACB20930B53}"/>
              </a:ext>
            </a:extLst>
          </p:cNvPr>
          <p:cNvSpPr txBox="1"/>
          <p:nvPr/>
        </p:nvSpPr>
        <p:spPr>
          <a:xfrm>
            <a:off x="355022" y="2987275"/>
            <a:ext cx="10825596" cy="2785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GB" b="1" dirty="0"/>
              <a:t>Advantages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b="1" dirty="0"/>
              <a:t>Active system: </a:t>
            </a:r>
            <a:r>
              <a:rPr lang="en-GB" dirty="0"/>
              <a:t>Pre-tensioned bolts directly transfer tensile forces without relying on concrete cracking.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b="1" dirty="0"/>
              <a:t>Clear and predictable load path: </a:t>
            </a:r>
            <a:r>
              <a:rPr lang="en-GB" dirty="0"/>
              <a:t>bolts carry tension, slab reinforcement carries bending.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b="1" dirty="0"/>
              <a:t>Easy inspection and maintenance: </a:t>
            </a:r>
            <a:r>
              <a:rPr lang="en-GB" dirty="0"/>
              <a:t>since bolts and flange are accessible</a:t>
            </a:r>
            <a:endParaRPr lang="ar-EG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b="1" dirty="0"/>
              <a:t>Simple installation and alignment</a:t>
            </a:r>
            <a:r>
              <a:rPr lang="ar-EG" b="1" dirty="0"/>
              <a:t> </a:t>
            </a:r>
            <a:r>
              <a:rPr lang="en-GB" b="1" dirty="0"/>
              <a:t>with tower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95332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E69C1-CC0D-4820-88EF-541036CC6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8A81D95-7D05-ABFB-C51E-DCBDCCB86CE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8</a:t>
            </a:fld>
            <a:endParaRPr lang="en-GB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898DEC3-8B66-C81B-56CE-28A30FD1D2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7" name="Datumsplatzhalter 4">
            <a:extLst>
              <a:ext uri="{FF2B5EF4-FFF2-40B4-BE49-F238E27FC236}">
                <a16:creationId xmlns:a16="http://schemas.microsoft.com/office/drawing/2014/main" id="{6EE9EE8C-E344-26D2-BA49-10D434728598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25</a:t>
            </a:r>
            <a:r>
              <a:rPr lang="en-GB" b="1" dirty="0">
                <a:solidFill>
                  <a:schemeClr val="tx1"/>
                </a:solidFill>
              </a:rPr>
              <a:t>/11/2025</a:t>
            </a:r>
          </a:p>
        </p:txBody>
      </p:sp>
      <p:sp>
        <p:nvSpPr>
          <p:cNvPr id="18" name="Fußzeilenplatzhalter 5">
            <a:extLst>
              <a:ext uri="{FF2B5EF4-FFF2-40B4-BE49-F238E27FC236}">
                <a16:creationId xmlns:a16="http://schemas.microsoft.com/office/drawing/2014/main" id="{D0FCB0D5-A8B2-93B6-D17A-53EAE6C5EB07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Foundations team/ Optimus Syria</a:t>
            </a:r>
          </a:p>
        </p:txBody>
      </p:sp>
      <p:sp>
        <p:nvSpPr>
          <p:cNvPr id="19" name="Textfeld 12">
            <a:extLst>
              <a:ext uri="{FF2B5EF4-FFF2-40B4-BE49-F238E27FC236}">
                <a16:creationId xmlns:a16="http://schemas.microsoft.com/office/drawing/2014/main" id="{70E2966F-8CE7-4D1A-88F6-04AF5F2443AB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Group </a:t>
            </a:r>
            <a:r>
              <a:rPr lang="de-DE" sz="1200" b="1" dirty="0" err="1">
                <a:latin typeface="Times New Roman" pitchFamily="18" charset="0"/>
                <a:cs typeface="Times New Roman" pitchFamily="18" charset="0"/>
              </a:rPr>
              <a:t>members</a:t>
            </a:r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de-DE" sz="1200" b="1" dirty="0"/>
              <a:t>Jehad </a:t>
            </a:r>
            <a:r>
              <a:rPr lang="de-DE" sz="1200" b="1" dirty="0" err="1"/>
              <a:t>Albaali</a:t>
            </a:r>
            <a:r>
              <a:rPr lang="de-DE" sz="1200" b="1" dirty="0"/>
              <a:t>- Amgad Gerges - Reda </a:t>
            </a:r>
            <a:r>
              <a:rPr lang="de-DE" sz="1200" b="1" dirty="0" err="1"/>
              <a:t>Deif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02F186-56A4-04D7-0F34-2C4ABDEB48BD}"/>
              </a:ext>
            </a:extLst>
          </p:cNvPr>
          <p:cNvSpPr txBox="1"/>
          <p:nvPr/>
        </p:nvSpPr>
        <p:spPr>
          <a:xfrm>
            <a:off x="701040" y="823154"/>
            <a:ext cx="6141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Types of connection between Tower and foundation   </a:t>
            </a:r>
          </a:p>
          <a:p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0512CB-FA11-B05C-6504-3BADD89E4031}"/>
              </a:ext>
            </a:extLst>
          </p:cNvPr>
          <p:cNvSpPr txBox="1"/>
          <p:nvPr/>
        </p:nvSpPr>
        <p:spPr>
          <a:xfrm>
            <a:off x="278350" y="1582156"/>
            <a:ext cx="614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00206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Anchor cage</a:t>
            </a:r>
            <a:r>
              <a:rPr lang="ar-EG" b="1" dirty="0">
                <a:solidFill>
                  <a:srgbClr val="00206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GB" b="1" dirty="0">
                <a:solidFill>
                  <a:srgbClr val="00206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D3C3A3-EFCB-40D7-55AB-E8EF3A0830F5}"/>
              </a:ext>
            </a:extLst>
          </p:cNvPr>
          <p:cNvSpPr txBox="1"/>
          <p:nvPr/>
        </p:nvSpPr>
        <p:spPr>
          <a:xfrm>
            <a:off x="278351" y="2064158"/>
            <a:ext cx="5690700" cy="2129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Disadvantages</a:t>
            </a:r>
            <a:endParaRPr lang="ar-EG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Requires perfect bolt alignment and accurate pre-tensioning.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Risk of bolt fatigue or corrosion over time.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More components → more maintenance.</a:t>
            </a:r>
          </a:p>
        </p:txBody>
      </p:sp>
      <p:pic>
        <p:nvPicPr>
          <p:cNvPr id="12" name="Picture 11" descr="Several men in safety vests working on a construction site&#10;&#10;AI-generated content may be incorrect.">
            <a:extLst>
              <a:ext uri="{FF2B5EF4-FFF2-40B4-BE49-F238E27FC236}">
                <a16:creationId xmlns:a16="http://schemas.microsoft.com/office/drawing/2014/main" id="{DBF753D6-225B-479B-C7C0-2046179343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66822"/>
            <a:ext cx="5690699" cy="4268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491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3C15E-8A5B-7FB8-FB69-B1BD590E7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FFF246F-E073-3D1A-A08F-7CFAC37439B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9</a:t>
            </a:fld>
            <a:endParaRPr lang="en-GB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1370474-0097-5E3F-1FC5-DF939749A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7" name="Datumsplatzhalter 4">
            <a:extLst>
              <a:ext uri="{FF2B5EF4-FFF2-40B4-BE49-F238E27FC236}">
                <a16:creationId xmlns:a16="http://schemas.microsoft.com/office/drawing/2014/main" id="{4E3461C0-F318-EEBB-F1A2-352B18B2DD6E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25</a:t>
            </a:r>
            <a:r>
              <a:rPr lang="en-GB" b="1" dirty="0">
                <a:solidFill>
                  <a:schemeClr val="tx1"/>
                </a:solidFill>
              </a:rPr>
              <a:t>/11/2025</a:t>
            </a:r>
          </a:p>
        </p:txBody>
      </p:sp>
      <p:sp>
        <p:nvSpPr>
          <p:cNvPr id="18" name="Fußzeilenplatzhalter 5">
            <a:extLst>
              <a:ext uri="{FF2B5EF4-FFF2-40B4-BE49-F238E27FC236}">
                <a16:creationId xmlns:a16="http://schemas.microsoft.com/office/drawing/2014/main" id="{E746802D-62E6-3108-B699-1E77F188B665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Foundations team/ Optimus Syria</a:t>
            </a:r>
          </a:p>
        </p:txBody>
      </p:sp>
      <p:sp>
        <p:nvSpPr>
          <p:cNvPr id="19" name="Textfeld 12">
            <a:extLst>
              <a:ext uri="{FF2B5EF4-FFF2-40B4-BE49-F238E27FC236}">
                <a16:creationId xmlns:a16="http://schemas.microsoft.com/office/drawing/2014/main" id="{BF8AE8EB-70C4-F7AC-8454-E0F314F2E7B6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Group </a:t>
            </a:r>
            <a:r>
              <a:rPr lang="de-DE" sz="1200" b="1" dirty="0" err="1">
                <a:latin typeface="Times New Roman" pitchFamily="18" charset="0"/>
                <a:cs typeface="Times New Roman" pitchFamily="18" charset="0"/>
              </a:rPr>
              <a:t>members</a:t>
            </a:r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de-DE" sz="1200" b="1" dirty="0"/>
              <a:t>Jehad </a:t>
            </a:r>
            <a:r>
              <a:rPr lang="de-DE" sz="1200" b="1" dirty="0" err="1"/>
              <a:t>Albaali</a:t>
            </a:r>
            <a:r>
              <a:rPr lang="de-DE" sz="1200" b="1" dirty="0"/>
              <a:t>- Amgad Gerges - Reda </a:t>
            </a:r>
            <a:r>
              <a:rPr lang="de-DE" sz="1200" b="1" dirty="0" err="1"/>
              <a:t>Deif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C1840A-6326-A30A-85E9-63FF11C53384}"/>
              </a:ext>
            </a:extLst>
          </p:cNvPr>
          <p:cNvSpPr txBox="1"/>
          <p:nvPr/>
        </p:nvSpPr>
        <p:spPr>
          <a:xfrm>
            <a:off x="701040" y="823154"/>
            <a:ext cx="6141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Types of connection between Tower and foundation   </a:t>
            </a:r>
          </a:p>
          <a:p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C4E527-60E6-200E-6119-1840BABFFDCD}"/>
              </a:ext>
            </a:extLst>
          </p:cNvPr>
          <p:cNvSpPr txBox="1"/>
          <p:nvPr/>
        </p:nvSpPr>
        <p:spPr>
          <a:xfrm>
            <a:off x="230852" y="1491211"/>
            <a:ext cx="614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00206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Embedded Ring System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DF86BC-1E11-625F-B477-81249D92E038}"/>
              </a:ext>
            </a:extLst>
          </p:cNvPr>
          <p:cNvSpPr txBox="1"/>
          <p:nvPr/>
        </p:nvSpPr>
        <p:spPr>
          <a:xfrm>
            <a:off x="30553" y="1944564"/>
            <a:ext cx="7322747" cy="88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A steel ring section with holes for reinforcement is embedded 1.5–2 m into the concrete foundation as part of the tower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41B5A3-8D12-5ED2-ECA9-FFC7CB794638}"/>
              </a:ext>
            </a:extLst>
          </p:cNvPr>
          <p:cNvSpPr txBox="1"/>
          <p:nvPr/>
        </p:nvSpPr>
        <p:spPr>
          <a:xfrm>
            <a:off x="331210" y="3061018"/>
            <a:ext cx="5941003" cy="1575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Advantages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</a:rPr>
              <a:t>No anchor bolts → eliminates bolt fatigue issues.</a:t>
            </a:r>
            <a:endParaRPr lang="en-GB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Provides very rigid connection.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Simple external geometry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94894D-14E4-803D-8F92-D49BEC38645A}"/>
              </a:ext>
            </a:extLst>
          </p:cNvPr>
          <p:cNvSpPr txBox="1"/>
          <p:nvPr/>
        </p:nvSpPr>
        <p:spPr>
          <a:xfrm>
            <a:off x="355022" y="4738311"/>
            <a:ext cx="9284278" cy="171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b="1" dirty="0"/>
              <a:t>Disadvantages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Passive system → tensile forces require concrete cracking to activate reinforcement.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Hard to inspect or repair if any defect occurs because the steel is embedded.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Requires very high-quality concrete work around the steel section</a:t>
            </a:r>
          </a:p>
        </p:txBody>
      </p:sp>
      <p:pic>
        <p:nvPicPr>
          <p:cNvPr id="23" name="Picture 22" descr="A large round structure with pipes&#10;&#10;AI-generated content may be incorrect.">
            <a:extLst>
              <a:ext uri="{FF2B5EF4-FFF2-40B4-BE49-F238E27FC236}">
                <a16:creationId xmlns:a16="http://schemas.microsoft.com/office/drawing/2014/main" id="{FA4BBA0B-C0F3-DC4E-49C7-DECAE3272B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4351" y="2471788"/>
            <a:ext cx="4809897" cy="267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879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D197D-C61E-9E99-5440-0F4C4956D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E1A1705-D077-0689-C7D3-7F85EA14BC4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10</a:t>
            </a:fld>
            <a:endParaRPr lang="en-GB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6EA8708-B323-EBA9-F020-BCEDBA55B4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7" name="Datumsplatzhalter 4">
            <a:extLst>
              <a:ext uri="{FF2B5EF4-FFF2-40B4-BE49-F238E27FC236}">
                <a16:creationId xmlns:a16="http://schemas.microsoft.com/office/drawing/2014/main" id="{2AE6B5D7-00B9-C809-BE88-93A6020E7464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25</a:t>
            </a:r>
            <a:r>
              <a:rPr lang="en-GB" b="1" dirty="0">
                <a:solidFill>
                  <a:schemeClr val="tx1"/>
                </a:solidFill>
              </a:rPr>
              <a:t>/11/2025</a:t>
            </a:r>
          </a:p>
        </p:txBody>
      </p:sp>
      <p:sp>
        <p:nvSpPr>
          <p:cNvPr id="18" name="Fußzeilenplatzhalter 5">
            <a:extLst>
              <a:ext uri="{FF2B5EF4-FFF2-40B4-BE49-F238E27FC236}">
                <a16:creationId xmlns:a16="http://schemas.microsoft.com/office/drawing/2014/main" id="{84554BFC-7FDF-A86B-41C7-D17A875F3245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Foundations team/ Optimus Syria</a:t>
            </a:r>
          </a:p>
        </p:txBody>
      </p:sp>
      <p:sp>
        <p:nvSpPr>
          <p:cNvPr id="19" name="Textfeld 12">
            <a:extLst>
              <a:ext uri="{FF2B5EF4-FFF2-40B4-BE49-F238E27FC236}">
                <a16:creationId xmlns:a16="http://schemas.microsoft.com/office/drawing/2014/main" id="{9E7B97A4-6905-F01C-C5CF-7924371263F5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Group </a:t>
            </a:r>
            <a:r>
              <a:rPr lang="de-DE" sz="1200" b="1" dirty="0" err="1">
                <a:latin typeface="Times New Roman" pitchFamily="18" charset="0"/>
                <a:cs typeface="Times New Roman" pitchFamily="18" charset="0"/>
              </a:rPr>
              <a:t>members</a:t>
            </a:r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de-DE" sz="1200" b="1" dirty="0"/>
              <a:t>Jehad </a:t>
            </a:r>
            <a:r>
              <a:rPr lang="de-DE" sz="1200" b="1" dirty="0" err="1"/>
              <a:t>Albaali</a:t>
            </a:r>
            <a:r>
              <a:rPr lang="de-DE" sz="1200" b="1" dirty="0"/>
              <a:t>- Amgad Gerges - Reda </a:t>
            </a:r>
            <a:r>
              <a:rPr lang="de-DE" sz="1200" b="1" dirty="0" err="1"/>
              <a:t>Deif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FA130D-2858-A90E-ED0B-F24E1E8F1B0B}"/>
              </a:ext>
            </a:extLst>
          </p:cNvPr>
          <p:cNvSpPr txBox="1"/>
          <p:nvPr/>
        </p:nvSpPr>
        <p:spPr>
          <a:xfrm>
            <a:off x="701040" y="823154"/>
            <a:ext cx="614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Time Schedule Planning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47AF87-3B4A-443F-A510-13F583469123}"/>
              </a:ext>
            </a:extLst>
          </p:cNvPr>
          <p:cNvSpPr txBox="1"/>
          <p:nvPr/>
        </p:nvSpPr>
        <p:spPr>
          <a:xfrm>
            <a:off x="378339" y="1764943"/>
            <a:ext cx="10642085" cy="4554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sz="2800" b="1" dirty="0"/>
              <a:t>Week 1-2:</a:t>
            </a:r>
            <a:r>
              <a:rPr lang="de-DE" sz="2800" dirty="0"/>
              <a:t> Data Collection &amp; Project Kick-off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sz="2800" b="1" dirty="0"/>
              <a:t>Week 3-4:</a:t>
            </a:r>
            <a:r>
              <a:rPr lang="de-DE" sz="2800" dirty="0"/>
              <a:t> </a:t>
            </a:r>
            <a:r>
              <a:rPr lang="de-DE" sz="2800" dirty="0" err="1"/>
              <a:t>Geotechnical</a:t>
            </a:r>
            <a:r>
              <a:rPr lang="de-DE" sz="2800" dirty="0"/>
              <a:t> Analysis &amp; </a:t>
            </a:r>
            <a:r>
              <a:rPr lang="de-DE" sz="2800" dirty="0" err="1"/>
              <a:t>Conceptual</a:t>
            </a:r>
            <a:r>
              <a:rPr lang="de-DE" sz="2800" dirty="0"/>
              <a:t> Design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sz="2800" b="1" dirty="0">
                <a:solidFill>
                  <a:schemeClr val="bg2">
                    <a:lumMod val="10000"/>
                  </a:schemeClr>
                </a:solidFill>
              </a:rPr>
              <a:t>Week 5-7:</a:t>
            </a:r>
            <a:r>
              <a:rPr lang="de-DE" sz="28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de-DE" sz="2800" dirty="0" err="1">
                <a:solidFill>
                  <a:schemeClr val="bg2">
                    <a:lumMod val="10000"/>
                  </a:schemeClr>
                </a:solidFill>
              </a:rPr>
              <a:t>Detailed</a:t>
            </a:r>
            <a:r>
              <a:rPr lang="de-DE" sz="28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de-DE" sz="2800" dirty="0">
                <a:solidFill>
                  <a:schemeClr val="bg2">
                    <a:lumMod val="10000"/>
                  </a:schemeClr>
                </a:solidFill>
              </a:rPr>
              <a:t>Design</a:t>
            </a:r>
            <a:r>
              <a:rPr lang="de-DE" sz="28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de-DE" sz="2800" dirty="0">
                <a:solidFill>
                  <a:schemeClr val="bg2">
                    <a:lumMod val="10000"/>
                  </a:schemeClr>
                </a:solidFill>
              </a:rPr>
              <a:t>&amp;</a:t>
            </a:r>
            <a:r>
              <a:rPr lang="de-DE" sz="28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de-DE" sz="2800" dirty="0" err="1">
                <a:solidFill>
                  <a:schemeClr val="bg2">
                    <a:lumMod val="10000"/>
                  </a:schemeClr>
                </a:solidFill>
              </a:rPr>
              <a:t>Verification</a:t>
            </a:r>
            <a:r>
              <a:rPr lang="de-DE" sz="2800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endParaRPr lang="ar-SA" sz="2800" dirty="0">
              <a:solidFill>
                <a:schemeClr val="bg2">
                  <a:lumMod val="10000"/>
                </a:schemeClr>
              </a:solidFill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sz="2800" b="1" dirty="0"/>
              <a:t>Week 8-9:</a:t>
            </a:r>
            <a:r>
              <a:rPr lang="de-DE" sz="2800" dirty="0"/>
              <a:t> </a:t>
            </a:r>
            <a:r>
              <a:rPr lang="de-DE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Structural</a:t>
            </a:r>
            <a:r>
              <a:rPr lang="de-DE" sz="2800" b="1" dirty="0">
                <a:solidFill>
                  <a:srgbClr val="FF0000"/>
                </a:solidFill>
              </a:rPr>
              <a:t> </a:t>
            </a:r>
            <a:r>
              <a:rPr lang="de-DE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Design (</a:t>
            </a:r>
            <a:r>
              <a:rPr lang="de-DE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Rebar</a:t>
            </a:r>
            <a:r>
              <a:rPr lang="de-DE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&amp; Shear)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sz="2800" b="1" dirty="0"/>
              <a:t>Week 10 : </a:t>
            </a:r>
            <a:r>
              <a:rPr lang="de-DE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Design </a:t>
            </a:r>
            <a:r>
              <a:rPr lang="de-DE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connection</a:t>
            </a:r>
            <a:r>
              <a:rPr lang="de-DE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de-DE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between</a:t>
            </a:r>
            <a:r>
              <a:rPr lang="de-DE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Tower and </a:t>
            </a:r>
            <a:r>
              <a:rPr lang="de-DE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Foundation</a:t>
            </a:r>
            <a:r>
              <a:rPr lang="de-DE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sz="2800" b="1" dirty="0"/>
              <a:t>11:</a:t>
            </a:r>
            <a:r>
              <a:rPr lang="de-DE" sz="2800" dirty="0"/>
              <a:t> </a:t>
            </a:r>
            <a:r>
              <a:rPr lang="de-DE" sz="2800" b="1" dirty="0">
                <a:solidFill>
                  <a:srgbClr val="FF0000"/>
                </a:solidFill>
              </a:rPr>
              <a:t>Final </a:t>
            </a:r>
            <a:r>
              <a:rPr lang="de-DE" sz="2800" b="1" dirty="0" err="1">
                <a:solidFill>
                  <a:srgbClr val="FF0000"/>
                </a:solidFill>
              </a:rPr>
              <a:t>Drawings</a:t>
            </a:r>
            <a:r>
              <a:rPr lang="de-DE" sz="2800" b="1" dirty="0">
                <a:solidFill>
                  <a:srgbClr val="FF0000"/>
                </a:solidFill>
              </a:rPr>
              <a:t> &amp; </a:t>
            </a:r>
            <a:r>
              <a:rPr lang="de-DE" sz="2800" b="1" dirty="0" err="1">
                <a:solidFill>
                  <a:srgbClr val="FF0000"/>
                </a:solidFill>
              </a:rPr>
              <a:t>Documentation</a:t>
            </a:r>
            <a:endParaRPr lang="de-DE" sz="2800" b="1" dirty="0">
              <a:solidFill>
                <a:srgbClr val="FF0000"/>
              </a:solidFill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sz="2800" b="1" dirty="0"/>
              <a:t>Week 12:</a:t>
            </a:r>
            <a:r>
              <a:rPr lang="de-DE" sz="2800" dirty="0"/>
              <a:t> Final Review &amp; Submission</a:t>
            </a:r>
          </a:p>
        </p:txBody>
      </p:sp>
    </p:spTree>
    <p:extLst>
      <p:ext uri="{BB962C8B-B14F-4D97-AF65-F5344CB8AC3E}">
        <p14:creationId xmlns:p14="http://schemas.microsoft.com/office/powerpoint/2010/main" val="1936989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E3D0A-C704-F121-9F4A-41F5835FA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E7DDDC6-C8B9-C58E-DDC6-F54FDE2D29D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11</a:t>
            </a:fld>
            <a:endParaRPr lang="en-GB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FBC6C56-EB19-7480-D5FA-25DAB6E54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7" name="Datumsplatzhalter 4">
            <a:extLst>
              <a:ext uri="{FF2B5EF4-FFF2-40B4-BE49-F238E27FC236}">
                <a16:creationId xmlns:a16="http://schemas.microsoft.com/office/drawing/2014/main" id="{57737309-601F-9126-6ADE-A77C268650FF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25</a:t>
            </a:r>
            <a:r>
              <a:rPr lang="en-GB" b="1" dirty="0">
                <a:solidFill>
                  <a:schemeClr val="tx1"/>
                </a:solidFill>
              </a:rPr>
              <a:t>/11/2025</a:t>
            </a:r>
          </a:p>
        </p:txBody>
      </p:sp>
      <p:sp>
        <p:nvSpPr>
          <p:cNvPr id="18" name="Fußzeilenplatzhalter 5">
            <a:extLst>
              <a:ext uri="{FF2B5EF4-FFF2-40B4-BE49-F238E27FC236}">
                <a16:creationId xmlns:a16="http://schemas.microsoft.com/office/drawing/2014/main" id="{F000B7E9-079E-A132-AFA4-547559A6A37F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Foundations team/ Optimus Syria</a:t>
            </a:r>
          </a:p>
        </p:txBody>
      </p:sp>
      <p:sp>
        <p:nvSpPr>
          <p:cNvPr id="19" name="Textfeld 12">
            <a:extLst>
              <a:ext uri="{FF2B5EF4-FFF2-40B4-BE49-F238E27FC236}">
                <a16:creationId xmlns:a16="http://schemas.microsoft.com/office/drawing/2014/main" id="{BFAFF01E-50B3-33EC-9274-55A1BAAB97D7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Group </a:t>
            </a:r>
            <a:r>
              <a:rPr lang="de-DE" sz="1200" b="1" dirty="0" err="1">
                <a:latin typeface="Times New Roman" pitchFamily="18" charset="0"/>
                <a:cs typeface="Times New Roman" pitchFamily="18" charset="0"/>
              </a:rPr>
              <a:t>members</a:t>
            </a:r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de-DE" sz="1200" b="1" dirty="0"/>
              <a:t>Jehad </a:t>
            </a:r>
            <a:r>
              <a:rPr lang="de-DE" sz="1200" b="1" dirty="0" err="1"/>
              <a:t>Albaali</a:t>
            </a:r>
            <a:r>
              <a:rPr lang="de-DE" sz="1200" b="1" dirty="0"/>
              <a:t>- Amgad Gerges - Reda </a:t>
            </a:r>
            <a:r>
              <a:rPr lang="de-DE" sz="1200" b="1" dirty="0" err="1"/>
              <a:t>Deif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5D8453-DAF7-142E-9EB9-54EA8C53EF20}"/>
              </a:ext>
            </a:extLst>
          </p:cNvPr>
          <p:cNvSpPr txBox="1"/>
          <p:nvPr/>
        </p:nvSpPr>
        <p:spPr>
          <a:xfrm>
            <a:off x="701040" y="823154"/>
            <a:ext cx="614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Next Tasks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9B2E79-6A53-F934-C671-D7D4BCC00A77}"/>
              </a:ext>
            </a:extLst>
          </p:cNvPr>
          <p:cNvSpPr txBox="1"/>
          <p:nvPr/>
        </p:nvSpPr>
        <p:spPr>
          <a:xfrm>
            <a:off x="270002" y="1370463"/>
            <a:ext cx="7564744" cy="675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de-DE" b="1" dirty="0" err="1"/>
              <a:t>Choose</a:t>
            </a:r>
            <a:r>
              <a:rPr lang="de-DE" b="1" dirty="0"/>
              <a:t> and Design </a:t>
            </a:r>
            <a:r>
              <a:rPr lang="de-DE" b="1" dirty="0" err="1"/>
              <a:t>connection</a:t>
            </a:r>
            <a:r>
              <a:rPr lang="de-DE" b="1" dirty="0"/>
              <a:t> </a:t>
            </a:r>
            <a:r>
              <a:rPr lang="de-DE" b="1" dirty="0" err="1"/>
              <a:t>between</a:t>
            </a:r>
            <a:r>
              <a:rPr lang="de-DE" b="1" dirty="0"/>
              <a:t> Tower and </a:t>
            </a:r>
            <a:r>
              <a:rPr lang="de-DE" b="1" dirty="0" err="1"/>
              <a:t>Foundation</a:t>
            </a:r>
            <a:r>
              <a:rPr lang="de-DE" b="1" dirty="0"/>
              <a:t> 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607304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nagment team" id="{49CF8F14-4D36-410B-8FD7-EF9AC5FC0265}" vid="{E0BCDBF3-E95D-42DF-9CFA-5A341A93A409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nagment team" id="{49CF8F14-4D36-410B-8FD7-EF9AC5FC0265}" vid="{B7A59B36-2137-465F-86DC-E5A6887FF7C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Managment team</Template>
  <TotalTime>1333</TotalTime>
  <Words>632</Words>
  <Application>Microsoft Office PowerPoint</Application>
  <PresentationFormat>Widescreen</PresentationFormat>
  <Paragraphs>107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5" baseType="lpstr">
      <vt:lpstr>Aptos</vt:lpstr>
      <vt:lpstr>Aptos (Textkörper)</vt:lpstr>
      <vt:lpstr>Aptos Display</vt:lpstr>
      <vt:lpstr>Arial</vt:lpstr>
      <vt:lpstr>ArialMT</vt:lpstr>
      <vt:lpstr>Calibri</vt:lpstr>
      <vt:lpstr>Calibri Light</vt:lpstr>
      <vt:lpstr>Cambria Math</vt:lpstr>
      <vt:lpstr>Lato</vt:lpstr>
      <vt:lpstr>Tahoma</vt:lpstr>
      <vt:lpstr>Times New Roman</vt:lpstr>
      <vt:lpstr>Wingdings</vt:lpstr>
      <vt:lpstr>Office</vt:lpstr>
      <vt:lpstr>Benutzerdefiniertes Design</vt:lpstr>
      <vt:lpstr>Weekly report: Foundations </vt:lpstr>
      <vt:lpstr>List of contents</vt:lpstr>
      <vt:lpstr>PowerPoint Presentation</vt:lpstr>
      <vt:lpstr>Input data</vt:lpstr>
      <vt:lpstr>Check punching shear stress </vt:lpstr>
      <vt:lpstr>Check punching shear stress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List of contents</dc:title>
  <dc:creator>Bakhtiar Sabir</dc:creator>
  <cp:lastModifiedBy>20170235</cp:lastModifiedBy>
  <cp:revision>76</cp:revision>
  <dcterms:created xsi:type="dcterms:W3CDTF">2025-09-29T10:47:20Z</dcterms:created>
  <dcterms:modified xsi:type="dcterms:W3CDTF">2025-11-23T10:26:29Z</dcterms:modified>
</cp:coreProperties>
</file>