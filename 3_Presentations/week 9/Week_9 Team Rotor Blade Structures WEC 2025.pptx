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3"/>
  </p:notesMasterIdLst>
  <p:handoutMasterIdLst>
    <p:handoutMasterId r:id="rId34"/>
  </p:handoutMasterIdLst>
  <p:sldIdLst>
    <p:sldId id="263" r:id="rId3"/>
    <p:sldId id="265" r:id="rId4"/>
    <p:sldId id="271" r:id="rId5"/>
    <p:sldId id="273" r:id="rId6"/>
    <p:sldId id="279" r:id="rId7"/>
    <p:sldId id="292" r:id="rId8"/>
    <p:sldId id="295" r:id="rId9"/>
    <p:sldId id="308" r:id="rId10"/>
    <p:sldId id="309" r:id="rId11"/>
    <p:sldId id="310" r:id="rId12"/>
    <p:sldId id="293" r:id="rId13"/>
    <p:sldId id="299" r:id="rId14"/>
    <p:sldId id="301" r:id="rId15"/>
    <p:sldId id="311" r:id="rId16"/>
    <p:sldId id="315" r:id="rId17"/>
    <p:sldId id="312" r:id="rId18"/>
    <p:sldId id="316" r:id="rId19"/>
    <p:sldId id="313" r:id="rId20"/>
    <p:sldId id="314" r:id="rId21"/>
    <p:sldId id="317" r:id="rId22"/>
    <p:sldId id="318" r:id="rId23"/>
    <p:sldId id="320" r:id="rId24"/>
    <p:sldId id="319" r:id="rId25"/>
    <p:sldId id="302" r:id="rId26"/>
    <p:sldId id="303" r:id="rId27"/>
    <p:sldId id="304" r:id="rId28"/>
    <p:sldId id="306" r:id="rId29"/>
    <p:sldId id="305" r:id="rId30"/>
    <p:sldId id="307" r:id="rId31"/>
    <p:sldId id="2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279"/>
            <p14:sldId id="292"/>
            <p14:sldId id="295"/>
            <p14:sldId id="308"/>
            <p14:sldId id="309"/>
            <p14:sldId id="310"/>
            <p14:sldId id="293"/>
            <p14:sldId id="299"/>
            <p14:sldId id="301"/>
            <p14:sldId id="311"/>
            <p14:sldId id="315"/>
            <p14:sldId id="312"/>
            <p14:sldId id="316"/>
            <p14:sldId id="313"/>
            <p14:sldId id="314"/>
            <p14:sldId id="317"/>
            <p14:sldId id="318"/>
            <p14:sldId id="320"/>
            <p14:sldId id="319"/>
            <p14:sldId id="302"/>
            <p14:sldId id="303"/>
            <p14:sldId id="304"/>
            <p14:sldId id="306"/>
            <p14:sldId id="305"/>
            <p14:sldId id="307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8BA"/>
    <a:srgbClr val="FFFF99"/>
    <a:srgbClr val="FFFFFF"/>
    <a:srgbClr val="8ECEFA"/>
    <a:srgbClr val="92C6E6"/>
    <a:srgbClr val="80D2F7"/>
    <a:srgbClr val="7ED1F7"/>
    <a:srgbClr val="A1DFFD"/>
    <a:srgbClr val="C0F5FF"/>
    <a:srgbClr val="3C9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Bhima Babu Masare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FF0000"/>
                </a:solidFill>
              </a:rPr>
              <a:t>770246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- 9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25.11.2025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-</a:t>
            </a:r>
            <a:endParaRPr lang="en-US" sz="2200" dirty="0"/>
          </a:p>
          <a:p>
            <a:pPr marL="457200" lvl="1" indent="0">
              <a:buNone/>
            </a:pPr>
            <a:r>
              <a:rPr lang="de-DE" sz="2200" dirty="0"/>
              <a:t>3.1 About Spar Caps</a:t>
            </a:r>
          </a:p>
          <a:p>
            <a:pPr marL="1085850" lvl="3" indent="0">
              <a:buNone/>
            </a:pPr>
            <a:r>
              <a:rPr lang="en-US" sz="2000" dirty="0"/>
              <a:t>3.1.1 Types of Spar Caps</a:t>
            </a:r>
          </a:p>
          <a:p>
            <a:pPr marL="1085850" lvl="3" indent="0">
              <a:buNone/>
            </a:pPr>
            <a:r>
              <a:rPr lang="en-US" sz="2000" dirty="0"/>
              <a:t>3.1.2 Types of Bending Moments on Spar Caps</a:t>
            </a:r>
          </a:p>
          <a:p>
            <a:pPr marL="1085850" lvl="3" indent="0">
              <a:buNone/>
            </a:pPr>
            <a:r>
              <a:rPr lang="en-US" sz="2000" dirty="0"/>
              <a:t>3.1.3 Bending Stresses &amp; Stiffness of Spar Caps</a:t>
            </a:r>
          </a:p>
          <a:p>
            <a:pPr marL="1085850" lvl="3" indent="0">
              <a:buNone/>
            </a:pPr>
            <a:r>
              <a:rPr lang="en-US" sz="2000" dirty="0"/>
              <a:t>3.1.4 Blade Design using NuMAD</a:t>
            </a:r>
          </a:p>
          <a:p>
            <a:pPr marL="1085850" lvl="3" indent="0">
              <a:buNone/>
            </a:pPr>
            <a:r>
              <a:rPr lang="en-US" sz="2000" dirty="0"/>
              <a:t>3.1.5 Developing the Blade of </a:t>
            </a:r>
            <a:r>
              <a:rPr lang="en-US" sz="2000" dirty="0">
                <a:solidFill>
                  <a:srgbClr val="FF0000"/>
                </a:solidFill>
              </a:rPr>
              <a:t>WEC 2025 Optimus Syria</a:t>
            </a:r>
            <a:r>
              <a:rPr lang="en-US" sz="2000" dirty="0"/>
              <a:t> in NuMAD (</a:t>
            </a:r>
            <a:r>
              <a:rPr lang="en-US" sz="2000" i="1" dirty="0">
                <a:solidFill>
                  <a:srgbClr val="FF0000"/>
                </a:solidFill>
              </a:rPr>
              <a:t>Test 1</a:t>
            </a:r>
            <a:r>
              <a:rPr lang="en-US" sz="2000" dirty="0"/>
              <a:t>)</a:t>
            </a:r>
          </a:p>
          <a:p>
            <a:pPr marL="1085850" lvl="3" indent="0">
              <a:buNone/>
            </a:pPr>
            <a:r>
              <a:rPr lang="en-US" sz="2000" dirty="0"/>
              <a:t>3.1.6 Bending Stress Analysis on Spar Caps (</a:t>
            </a:r>
            <a:r>
              <a:rPr lang="en-US" sz="2000" dirty="0">
                <a:solidFill>
                  <a:srgbClr val="FF0000"/>
                </a:solidFill>
              </a:rPr>
              <a:t>updated results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Bhima Babu Masare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November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A144F-605C-049C-04DF-6D6B030F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6" y="1854583"/>
            <a:ext cx="11556367" cy="338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43328" y="3850107"/>
            <a:ext cx="8430855" cy="61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01374"/>
              </p:ext>
            </p:extLst>
          </p:nvPr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5253789" y="505117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E4D62-9E7A-B0F5-F11D-8412FBF449B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About </a:t>
            </a:r>
            <a:r>
              <a:rPr lang="en-US" sz="2400" b="1" dirty="0">
                <a:solidFill>
                  <a:sysClr val="windowText" lastClr="000000"/>
                </a:solidFill>
              </a:rPr>
              <a:t>Spar Caps -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r>
              <a:rPr lang="en-US" sz="2200" dirty="0">
                <a:solidFill>
                  <a:sysClr val="windowText" lastClr="000000"/>
                </a:solidFill>
              </a:rPr>
              <a:t>The main structural component (backbone) of a wind turbine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They are long, thick beams that run along the length of the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Located on the top (suction side) and bottom (pressure side) of the blade's main spar, or internal box beam.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Their primary job is to give the blade its stiffness and strength.</a:t>
            </a:r>
          </a:p>
        </p:txBody>
      </p:sp>
      <p:pic>
        <p:nvPicPr>
          <p:cNvPr id="7" name="Picture 6" descr="Diagram of a shear web and shear web">
            <a:extLst>
              <a:ext uri="{FF2B5EF4-FFF2-40B4-BE49-F238E27FC236}">
                <a16:creationId xmlns:a16="http://schemas.microsoft.com/office/drawing/2014/main" id="{FEDE3D7D-9C7D-08B9-3436-0A544473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098" y="3850106"/>
            <a:ext cx="6352941" cy="21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701DA1-C5FB-B805-0570-318690908411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Impact of Process Technology on Properties of Large-Scale Wind Turbine Blade Composite Spar Cap by </a:t>
            </a:r>
            <a:r>
              <a:rPr lang="en-US" sz="1400" i="1" dirty="0" err="1"/>
              <a:t>Yuanrong</a:t>
            </a:r>
            <a:r>
              <a:rPr lang="en-US" sz="1400" i="1" dirty="0"/>
              <a:t> Sun, </a:t>
            </a:r>
            <a:r>
              <a:rPr lang="en-US" sz="1400" i="1" dirty="0" err="1"/>
              <a:t>Congli</a:t>
            </a:r>
            <a:r>
              <a:rPr lang="en-US" sz="1400" i="1" dirty="0"/>
              <a:t> Hu, </a:t>
            </a:r>
            <a:r>
              <a:rPr lang="en-US" sz="1400" i="1" dirty="0" err="1"/>
              <a:t>Jianbo</a:t>
            </a:r>
            <a:r>
              <a:rPr lang="en-US" sz="1400" i="1" dirty="0"/>
              <a:t> Li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A1035-FBC0-D8CA-9F54-6A77ADD40D65}"/>
              </a:ext>
            </a:extLst>
          </p:cNvPr>
          <p:cNvSpPr txBox="1"/>
          <p:nvPr/>
        </p:nvSpPr>
        <p:spPr>
          <a:xfrm>
            <a:off x="8969419" y="4776217"/>
            <a:ext cx="226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Structures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D0F1-302C-CDD5-0439-E5303397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7A81D-1B05-EBDF-CA72-1288BA6D68C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44A34ED-CE6D-783F-7125-FB8C565711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3F7CF-FAF6-37AF-C5BE-08A7ACB3DD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89D29D0-70F0-6A95-457F-F5F620E631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7CD04-6992-8A9B-46DD-A0C192DF2AF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408383-E5C8-1AA5-0D73-05AFDFCCCD95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21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most common and conventional design.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two caps are connected by one or more vertical shear webs, forming a strong, hollow "box beam" that runs down the length of the blade.</a:t>
            </a:r>
          </a:p>
        </p:txBody>
      </p:sp>
    </p:spTree>
    <p:extLst>
      <p:ext uri="{BB962C8B-B14F-4D97-AF65-F5344CB8AC3E}">
        <p14:creationId xmlns:p14="http://schemas.microsoft.com/office/powerpoint/2010/main" val="117962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7A99-AFA5-97EB-440D-97C031FD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74BC1-F3EA-82D3-9105-3A38DEB1A3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CE0D35A-76F1-CDCA-7A44-286BFC6539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CFD5B40-6669-9FBC-6CD1-0C1334BB25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D52B9D0-8DD2-E97B-0EDF-F0B7E0A8FE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AE961-2397-49AF-62B8-35B5C54BEFD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31BE92-0090-5517-AC2D-A092AAA462E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873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E2C1F-976A-F0DC-F69B-EA17C7771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501" y="2230635"/>
            <a:ext cx="6613095" cy="38036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6AC87-3651-8A32-600D-AA6A68BB8FD4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Multi-disciplinary constraint optimization of wind turbines by </a:t>
            </a:r>
            <a:r>
              <a:rPr lang="it-IT" sz="1400" i="1" dirty="0"/>
              <a:t>Carlo Luigi Bottasso, Filippo Campagnolo, Alessandro Croce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516D9-3E37-03E8-A0F1-66B3DDFC5B02}"/>
              </a:ext>
            </a:extLst>
          </p:cNvPr>
          <p:cNvSpPr txBox="1"/>
          <p:nvPr/>
        </p:nvSpPr>
        <p:spPr>
          <a:xfrm>
            <a:off x="8549978" y="3224498"/>
            <a:ext cx="2981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Box Spar Caps,</a:t>
            </a:r>
          </a:p>
          <a:p>
            <a:pPr algn="l"/>
            <a:r>
              <a:rPr lang="en-US" sz="1400" b="1" i="1" dirty="0"/>
              <a:t>A: </a:t>
            </a:r>
            <a:r>
              <a:rPr lang="en-US" sz="1400" i="1" dirty="0"/>
              <a:t>three cell with shear webs &amp; spar caps,</a:t>
            </a:r>
          </a:p>
          <a:p>
            <a:pPr algn="l"/>
            <a:r>
              <a:rPr lang="en-US" sz="1400" b="1" i="1" dirty="0"/>
              <a:t>B: </a:t>
            </a:r>
            <a:r>
              <a:rPr lang="en-US" sz="1400" i="1" dirty="0"/>
              <a:t>three cell box type, with single inter-web capping,</a:t>
            </a:r>
          </a:p>
          <a:p>
            <a:pPr algn="l"/>
            <a:r>
              <a:rPr lang="en-US" sz="1400" b="1" i="1" dirty="0"/>
              <a:t>C: </a:t>
            </a:r>
            <a:r>
              <a:rPr lang="en-US" sz="1400" i="1" dirty="0"/>
              <a:t>three cell, with single capping extending fore and aft of the shear webs.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62571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FA3C-DE58-1A8D-965E-E6CD9E2C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BF6EB0-C0AB-AE2C-D656-EF51F1A9DE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6AF08F1-8C42-B57C-7105-A81ED2E6FB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D238F5D-0380-2F30-4EF0-D14BF17399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62903C3-149C-3AA7-9B68-EEBD87834D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835A5-631C-BBF0-9A68-55069759E2E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2B68C3-45FE-2309-49F3-A5C0E40EDD23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914246" cy="5060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a. Box Spar Design –</a:t>
            </a:r>
            <a:endParaRPr lang="en-IN" sz="2200" b="1" dirty="0">
              <a:solidFill>
                <a:sysClr val="windowText" lastClr="000000"/>
              </a:solidFill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	1. Main Features related to </a:t>
            </a:r>
            <a:r>
              <a:rPr lang="en-IN" sz="2200" b="1" i="1" dirty="0">
                <a:solidFill>
                  <a:srgbClr val="FF0000"/>
                </a:solidFill>
              </a:rPr>
              <a:t>Structural Aspects</a:t>
            </a:r>
            <a:r>
              <a:rPr lang="en-IN" sz="2200" b="1" dirty="0">
                <a:solidFill>
                  <a:sysClr val="windowText" lastClr="000000"/>
                </a:solidFill>
              </a:rPr>
              <a:t>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Box Girder Flanges – </a:t>
            </a:r>
            <a:r>
              <a:rPr lang="en-US" sz="2200" dirty="0">
                <a:solidFill>
                  <a:sysClr val="windowText" lastClr="000000"/>
                </a:solidFill>
              </a:rPr>
              <a:t>The spar caps function as the upper &amp; lower flanges of a closed-cell box beam.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Double Shear Web Integration – </a:t>
            </a:r>
            <a:r>
              <a:rPr lang="en-US" sz="2200" dirty="0">
                <a:solidFill>
                  <a:sysClr val="windowText" lastClr="000000"/>
                </a:solidFill>
              </a:rPr>
              <a:t>Each cap is bonded to two vertical shear webs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Closed-Cell Topology – </a:t>
            </a:r>
            <a:r>
              <a:rPr lang="en-US" sz="2200" dirty="0">
                <a:solidFill>
                  <a:sysClr val="windowText" lastClr="000000"/>
                </a:solidFill>
              </a:rPr>
              <a:t>The assembly forms a hollow, closed loop, providing exceptional torsional rigidity.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Decoupled Structure – </a:t>
            </a:r>
            <a:r>
              <a:rPr lang="en-US" sz="2200" dirty="0">
                <a:solidFill>
                  <a:sysClr val="windowText" lastClr="000000"/>
                </a:solidFill>
              </a:rPr>
              <a:t>The spar caps are part of an independent internal skeleton, separating the load-bearing function from the aerodynamic skin.</a:t>
            </a:r>
          </a:p>
        </p:txBody>
      </p:sp>
    </p:spTree>
    <p:extLst>
      <p:ext uri="{BB962C8B-B14F-4D97-AF65-F5344CB8AC3E}">
        <p14:creationId xmlns:p14="http://schemas.microsoft.com/office/powerpoint/2010/main" val="373471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A062-996F-BB9A-A9E7-7203E2EA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15329-3C53-9B1E-CF17-C8781BACAE4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01F3BE9-FA8E-0868-0AD3-901567489A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1082CE-86AC-0DD8-A662-B7D79809A5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80F1778-DC5C-4AFF-816B-C86287A3AB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3ECED-CBE8-77BF-0D3B-C6DE3781EA8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1CE705-DA3A-80CA-C0EE-A5C88B1F57BA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894996" cy="5060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	2. Main Features related to </a:t>
            </a:r>
            <a:r>
              <a:rPr lang="en-IN" sz="2200" b="1" i="1" dirty="0">
                <a:solidFill>
                  <a:srgbClr val="FF0000"/>
                </a:solidFill>
              </a:rPr>
              <a:t>Mechanical Aspects</a:t>
            </a:r>
            <a:r>
              <a:rPr lang="en-IN" sz="2200" b="1" dirty="0">
                <a:solidFill>
                  <a:sysClr val="windowText" lastClr="000000"/>
                </a:solidFill>
              </a:rPr>
              <a:t>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b="1" dirty="0">
                <a:solidFill>
                  <a:sysClr val="windowText" lastClr="000000"/>
                </a:solidFill>
              </a:rPr>
              <a:t> Moment Resistance – </a:t>
            </a:r>
            <a:r>
              <a:rPr lang="en-US" sz="2200" dirty="0">
                <a:solidFill>
                  <a:sysClr val="windowText" lastClr="000000"/>
                </a:solidFill>
              </a:rPr>
              <a:t>Specifically designed to absorb high 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 moments (forces pushing the blade back).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Buckling Stability – </a:t>
            </a:r>
            <a:r>
              <a:rPr lang="en-US" sz="2200" dirty="0">
                <a:solidFill>
                  <a:sysClr val="windowText" lastClr="000000"/>
                </a:solidFill>
              </a:rPr>
              <a:t>The box configuration stabilizes the caps against panel buckling.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High Moment of Inertia –</a:t>
            </a:r>
            <a:r>
              <a:rPr lang="en-US" sz="2200" dirty="0">
                <a:solidFill>
                  <a:sysClr val="windowText" lastClr="000000"/>
                </a:solidFill>
              </a:rPr>
              <a:t> The caps are spaced far apart to maximize the area moment of inertia, reducing material usage for the same stiffness.</a:t>
            </a:r>
          </a:p>
        </p:txBody>
      </p:sp>
    </p:spTree>
    <p:extLst>
      <p:ext uri="{BB962C8B-B14F-4D97-AF65-F5344CB8AC3E}">
        <p14:creationId xmlns:p14="http://schemas.microsoft.com/office/powerpoint/2010/main" val="399586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46A1-B44B-841A-9BB3-18F69FAD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58372E-67C0-FD50-3846-4819256F2D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EAFF8E-87EB-FD11-4AAE-A3BB435EE0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F7D959D-599B-ECFC-3712-0C7821D51C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5EF6D19-F69B-2BC0-6D33-4382AD2C0C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EE076-0692-8BCA-87DF-0AD4221BD23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90FDA5-3621-036B-D95C-2B98322C69D6}"/>
              </a:ext>
            </a:extLst>
          </p:cNvPr>
          <p:cNvSpPr txBox="1">
            <a:spLocks/>
          </p:cNvSpPr>
          <p:nvPr/>
        </p:nvSpPr>
        <p:spPr>
          <a:xfrm>
            <a:off x="838199" y="1282566"/>
            <a:ext cx="10981623" cy="5060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	3. Main Features related to </a:t>
            </a:r>
            <a:r>
              <a:rPr lang="en-IN" sz="2200" b="1" i="1" dirty="0">
                <a:solidFill>
                  <a:srgbClr val="FF0000"/>
                </a:solidFill>
              </a:rPr>
              <a:t>Material </a:t>
            </a:r>
            <a:r>
              <a:rPr lang="en-IN" sz="2200" b="1" i="1" dirty="0"/>
              <a:t>&amp;</a:t>
            </a:r>
            <a:r>
              <a:rPr lang="en-IN" sz="2200" b="1" i="1" dirty="0">
                <a:solidFill>
                  <a:srgbClr val="FF0000"/>
                </a:solidFill>
              </a:rPr>
              <a:t> Manufacturing Aspects</a:t>
            </a:r>
            <a:r>
              <a:rPr lang="en-IN" sz="2200" b="1" dirty="0">
                <a:solidFill>
                  <a:sysClr val="windowText" lastClr="000000"/>
                </a:solidFill>
              </a:rPr>
              <a:t>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Unidirectional (UD) Reinforcement – </a:t>
            </a:r>
            <a:r>
              <a:rPr lang="en-US" sz="2200" dirty="0">
                <a:solidFill>
                  <a:sysClr val="windowText" lastClr="000000"/>
                </a:solidFill>
              </a:rPr>
              <a:t>Composed almost exclusively of 0° oriented fibers (e.g., Carbon or Glass) to maximize axial stiffness.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Constant or Tapered Width – </a:t>
            </a:r>
            <a:r>
              <a:rPr lang="en-US" sz="2200" dirty="0">
                <a:solidFill>
                  <a:sysClr val="windowText" lastClr="000000"/>
                </a:solidFill>
              </a:rPr>
              <a:t>Often feature a controlled width to accommodate the bond lines for both shear webs.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Adhesive Interfaces –</a:t>
            </a:r>
            <a:r>
              <a:rPr lang="en-US" sz="2200" dirty="0">
                <a:solidFill>
                  <a:sysClr val="windowText" lastClr="000000"/>
                </a:solidFill>
              </a:rPr>
              <a:t> Feature critical bond lines on both the inner surface (to shear webs) and outer surface (to the blade shell).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6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B2E-6538-E024-A88C-8767372C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612ECD-BC25-80E0-6850-A6113CBCFE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A892027-F50D-CF95-20BD-EB94212CD4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F97AAC-A255-044D-B1F6-455E80ACFA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4AAEC7-351E-6489-E166-A7BC4ECC79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34DAF-4D38-FB4C-A7F4-E1F2BAF2AEB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142F8D-C30C-F18A-8593-5D53241BAA9F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Primary Bending -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  <a:endParaRPr lang="en-IN" sz="24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Secondary Bending: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9A62D-0ABD-DA41-3194-C8DDE6CD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3116605"/>
            <a:ext cx="6923272" cy="212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E9D42D-E436-603E-4BDA-E18602DA83F2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Lecture Scripts from Prof. Dr. Francesco </a:t>
            </a:r>
            <a:r>
              <a:rPr lang="en-US" sz="1400" i="1" dirty="0" err="1"/>
              <a:t>Previtali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5E4D3-3F0D-FA82-7702-4808877E0482}"/>
              </a:ext>
            </a:extLst>
          </p:cNvPr>
          <p:cNvSpPr txBox="1"/>
          <p:nvPr/>
        </p:nvSpPr>
        <p:spPr>
          <a:xfrm>
            <a:off x="7949201" y="4024716"/>
            <a:ext cx="350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3 – </a:t>
            </a:r>
            <a:r>
              <a:rPr lang="en-US" sz="1400" i="1" dirty="0"/>
              <a:t>Bending Moments on Spar Caps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51546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1560-22F7-28D5-52D2-947ACFEC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1DD7A2-2533-0714-7728-AA5EAE4B36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0BB8D5-1892-31B7-9D3A-B8D4DEF5EC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C32190-EC5D-ADBC-9A87-18C306A343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B9B89E2-0773-5D19-1CB2-78A0396E6C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899EE-9883-2568-31A4-86DAF9B8B14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6AABB4-95A2-6520-2E68-26D17ECDBC8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740992" cy="2846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&amp; Stiffness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Stiffness (</a:t>
            </a:r>
            <a:r>
              <a:rPr lang="en-IN" sz="2200" dirty="0">
                <a:solidFill>
                  <a:sysClr val="windowText" lastClr="000000"/>
                </a:solidFill>
              </a:rPr>
              <a:t>also called </a:t>
            </a:r>
            <a:r>
              <a:rPr lang="en-IN" sz="2200" b="1" dirty="0">
                <a:solidFill>
                  <a:srgbClr val="FF0000"/>
                </a:solidFill>
              </a:rPr>
              <a:t>Flexural Rigidity</a:t>
            </a:r>
            <a:r>
              <a:rPr lang="en-IN" sz="2200" b="1" dirty="0">
                <a:solidFill>
                  <a:sysClr val="windowText" lastClr="000000"/>
                </a:solidFill>
              </a:rPr>
              <a:t>)  - </a:t>
            </a:r>
            <a:endParaRPr lang="en-IN" sz="2200" b="1" i="1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spar cap's fundamental resistance to bending.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It's the most important property for preventing the blade from deflecting too much and striking the tower.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NOT the same as strength (which is resistance to breaking).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Stiffness is resistance to bending.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/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𝑩𝒆𝒏𝒅𝒊𝒏𝒈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𝑺𝒕𝒊𝒇𝒇𝒏𝒆𝒔𝒔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IN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blipFill>
                <a:blip r:embed="rId2"/>
                <a:stretch>
                  <a:fillRect l="-2265" t="-1786" r="-1294" b="-339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73080EC-959C-B26D-42FB-6A0A09F12F25}"/>
              </a:ext>
            </a:extLst>
          </p:cNvPr>
          <p:cNvSpPr txBox="1"/>
          <p:nvPr/>
        </p:nvSpPr>
        <p:spPr>
          <a:xfrm>
            <a:off x="5230898" y="4298890"/>
            <a:ext cx="67954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/>
              <a:t>here,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i="1" dirty="0"/>
              <a:t> = Young's Modulus (Material Stiffness),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/>
              <a:t> = Second Moment of Area (Shape Stiffness)</a:t>
            </a:r>
            <a:endParaRPr lang="en-IN" sz="2200" i="1" dirty="0"/>
          </a:p>
        </p:txBody>
      </p:sp>
    </p:spTree>
    <p:extLst>
      <p:ext uri="{BB962C8B-B14F-4D97-AF65-F5344CB8AC3E}">
        <p14:creationId xmlns:p14="http://schemas.microsoft.com/office/powerpoint/2010/main" val="268406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B13A-737A-2655-EAFC-4170212B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05F20D-BDA8-B709-843B-5BA84CDBE21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F0E11D-5CE8-E695-B7A1-7E1FF09AEC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7A2398-742B-B00A-3700-9E8BB89A1D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4045182-78D1-281B-FB53-10D766256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7DCC1-5393-4B4A-5743-D6C11BF833A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980C6D-8941-70C1-FC14-9CFE163B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&amp; Stiffness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Bending Stress - 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1. Maximum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tensile (pulling) stress experienced by the spar cap during its rotation.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suction side (top) spar cap when the blade is hit by a strong gust of wind, causing it to bend backward (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bending).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2. Minimum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compressive (pushing) stress experienced by the spar cap.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pressure side (bottom) spar cap during that same strong gust of wind.</a:t>
            </a:r>
          </a:p>
        </p:txBody>
      </p:sp>
    </p:spTree>
    <p:extLst>
      <p:ext uri="{BB962C8B-B14F-4D97-AF65-F5344CB8AC3E}">
        <p14:creationId xmlns:p14="http://schemas.microsoft.com/office/powerpoint/2010/main" val="2443003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C5F7-A6E6-DFD9-A8FD-864D9896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3A38B-DEE9-27EB-88E0-939D5535584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511C15-DE06-256C-A37D-AA7A0D5EEC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A1D475-2D86-201F-A172-BF21630989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162DAA4-4ECD-971E-6EBD-E67DF874C9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DCA38-76C1-7A02-1AD1-019B2DD1584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C11360-C2B3-08D0-6338-4116461E3F37}"/>
              </a:ext>
            </a:extLst>
          </p:cNvPr>
          <p:cNvSpPr txBox="1">
            <a:spLocks/>
          </p:cNvSpPr>
          <p:nvPr/>
        </p:nvSpPr>
        <p:spPr>
          <a:xfrm>
            <a:off x="838200" y="127895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And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What is it: </a:t>
            </a:r>
            <a:r>
              <a:rPr lang="en-US" sz="2200" dirty="0">
                <a:solidFill>
                  <a:sysClr val="windowText" lastClr="000000"/>
                </a:solidFill>
              </a:rPr>
              <a:t>An open-source, MATLAB-based software tool developed by Sandia National Laboratories.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Purpose:</a:t>
            </a:r>
            <a:r>
              <a:rPr lang="en-US" sz="2200" dirty="0">
                <a:solidFill>
                  <a:sysClr val="windowText" lastClr="000000"/>
                </a:solidFill>
              </a:rPr>
              <a:t> A specialized pre-processor for 3D modeling and structural design of wind turbine blades.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Core Function: </a:t>
            </a:r>
            <a:r>
              <a:rPr lang="en-US" sz="2200" dirty="0">
                <a:solidFill>
                  <a:sysClr val="windowText" lastClr="000000"/>
                </a:solidFill>
              </a:rPr>
              <a:t>Bridges the gap between aerodynamic design (airfoils/chord/twist) and structural analysis (FEA).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Key Output: </a:t>
            </a:r>
            <a:r>
              <a:rPr lang="en-US" sz="2200" dirty="0">
                <a:solidFill>
                  <a:sysClr val="windowText" lastClr="000000"/>
                </a:solidFill>
              </a:rPr>
              <a:t>Generates high-fidelity finite element models (ANSYS) and input files for aeroelastic codes (OpenFAST).</a:t>
            </a:r>
          </a:p>
        </p:txBody>
      </p:sp>
    </p:spTree>
    <p:extLst>
      <p:ext uri="{BB962C8B-B14F-4D97-AF65-F5344CB8AC3E}">
        <p14:creationId xmlns:p14="http://schemas.microsoft.com/office/powerpoint/2010/main" val="424959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7D4F-8AFF-41A2-86A5-113DB175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C6007-8ECA-302F-E1ED-1E5E86D564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84D7DF9-8EB9-6019-8660-F519460A17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805F11-E5C8-BE34-A92A-9ECA8D7C3E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8938A5-FAE6-4C76-4699-9D4330888D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0792A-ABBF-CE22-6007-9AEBE5D8CC65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BCAA9A-E46E-E2DF-C607-26A810994BB8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271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</a:t>
            </a:r>
            <a:r>
              <a:rPr lang="en-US" sz="2200" b="1" i="1" dirty="0"/>
              <a:t>And</a:t>
            </a:r>
            <a:r>
              <a:rPr lang="en-US" sz="2200" b="1" i="1" dirty="0">
                <a:solidFill>
                  <a:srgbClr val="FF0000"/>
                </a:solidFill>
              </a:rPr>
              <a:t>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1 – </a:t>
            </a:r>
            <a:r>
              <a:rPr lang="en-US" sz="2200" b="1" dirty="0">
                <a:solidFill>
                  <a:srgbClr val="FF0000"/>
                </a:solidFill>
              </a:rPr>
              <a:t>Geometry Definition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2 – </a:t>
            </a:r>
            <a:r>
              <a:rPr lang="en-US" sz="2200" b="1" dirty="0">
                <a:solidFill>
                  <a:srgbClr val="FF0000"/>
                </a:solidFill>
              </a:rPr>
              <a:t>Material &amp; Composite Definition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3 – </a:t>
            </a:r>
            <a:r>
              <a:rPr lang="en-US" sz="2200" b="1" dirty="0">
                <a:solidFill>
                  <a:srgbClr val="FF0000"/>
                </a:solidFill>
              </a:rPr>
              <a:t>Internal Structural Layout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4 – </a:t>
            </a:r>
            <a:r>
              <a:rPr lang="en-US" sz="2200" b="1" dirty="0">
                <a:solidFill>
                  <a:srgbClr val="FF0000"/>
                </a:solidFill>
              </a:rPr>
              <a:t>Mesh Generation &amp; FEA Export</a:t>
            </a:r>
          </a:p>
        </p:txBody>
      </p:sp>
    </p:spTree>
    <p:extLst>
      <p:ext uri="{BB962C8B-B14F-4D97-AF65-F5344CB8AC3E}">
        <p14:creationId xmlns:p14="http://schemas.microsoft.com/office/powerpoint/2010/main" val="2187058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2A9E-081B-DDA4-B4E2-BD443AF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B48111-FD59-B873-5383-2C354ACF09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D4EF74F-3DED-BAFB-80D8-AA4D439762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09CC30-88A6-CDB1-A836-1737B1D9C3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2AD4E7A-4619-A838-FDE1-75BB5813F4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AE7FB-39AB-21A5-F381-B2A5A30DE2D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99FF1-6BC1-B73C-6F92-BF33B1D0D1F4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478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And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Step 1 – </a:t>
            </a:r>
            <a:r>
              <a:rPr lang="en-US" sz="2200" b="1" dirty="0">
                <a:solidFill>
                  <a:srgbClr val="FF0000"/>
                </a:solidFill>
              </a:rPr>
              <a:t>Geometry Definition </a:t>
            </a:r>
            <a:r>
              <a:rPr lang="en-US" sz="2200" b="1" dirty="0"/>
              <a:t>–</a:t>
            </a:r>
          </a:p>
          <a:p>
            <a:pPr lvl="2"/>
            <a:r>
              <a:rPr lang="en-US" sz="2200" b="1" dirty="0"/>
              <a:t>Airfoil Import: </a:t>
            </a:r>
            <a:r>
              <a:rPr lang="en-US" sz="2200" dirty="0"/>
              <a:t>Import standardized airfoil coordinates (e.g., NACA, DU series) for different spanwise stations.</a:t>
            </a:r>
          </a:p>
          <a:p>
            <a:pPr lvl="2"/>
            <a:r>
              <a:rPr lang="en-US" sz="2200" b="1" dirty="0"/>
              <a:t>Planform Inputs: </a:t>
            </a:r>
            <a:r>
              <a:rPr lang="en-US" sz="2200" dirty="0"/>
              <a:t>Define spanwise distributions for Chord, Twist, and Relative Thickness.</a:t>
            </a:r>
          </a:p>
          <a:p>
            <a:pPr lvl="2"/>
            <a:r>
              <a:rPr lang="en-US" sz="2200" b="1" dirty="0"/>
              <a:t>Axis Alignment: </a:t>
            </a:r>
            <a:r>
              <a:rPr lang="en-US" sz="2200" dirty="0"/>
              <a:t>Set the Pitch Axis and Pre-bend/Sweep curves to define the blade's 3D path.</a:t>
            </a:r>
          </a:p>
          <a:p>
            <a:pPr lvl="2"/>
            <a:r>
              <a:rPr lang="en-US" sz="2200" b="1" dirty="0"/>
              <a:t>Lofting:</a:t>
            </a:r>
            <a:r>
              <a:rPr lang="en-US" sz="2200" dirty="0"/>
              <a:t> NuMAD automatically creates the outer skin surface (OML - Outer Mold Line) by interpolating between defined stations.</a:t>
            </a: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26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6137-2610-CAB6-E2A1-7735D958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29D398-A76C-3311-4E26-BD35E2EE87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3B1DA7B-F684-18F7-A031-F78EC8390A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A0FD95-A07A-2857-B896-B27E059E4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6BD623D-F63B-4FA9-2EF0-845E1B27B6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76AD3-052F-C6CC-8FA8-C944D0FDEE1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8BF9A6-B0E5-D6FA-8D65-D5C2159DAC25}"/>
              </a:ext>
            </a:extLst>
          </p:cNvPr>
          <p:cNvSpPr txBox="1">
            <a:spLocks/>
          </p:cNvSpPr>
          <p:nvPr/>
        </p:nvSpPr>
        <p:spPr>
          <a:xfrm>
            <a:off x="838200" y="1278956"/>
            <a:ext cx="10740992" cy="4911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And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Step 2 – </a:t>
            </a:r>
            <a:r>
              <a:rPr lang="en-US" sz="2200" b="1" dirty="0">
                <a:solidFill>
                  <a:srgbClr val="FF0000"/>
                </a:solidFill>
              </a:rPr>
              <a:t>Material &amp; Composite Definition </a:t>
            </a:r>
            <a:r>
              <a:rPr lang="en-US" sz="2200" b="1" dirty="0"/>
              <a:t>–</a:t>
            </a:r>
          </a:p>
          <a:p>
            <a:pPr lvl="2"/>
            <a:r>
              <a:rPr lang="en-US" sz="2200" b="1" dirty="0"/>
              <a:t>Isotropic &amp; Orthotropic:</a:t>
            </a:r>
            <a:r>
              <a:rPr lang="en-US" sz="2200" dirty="0"/>
              <a:t> Define base materials (e.g., fiberglass, carbon fiber, balsa wood, foam, epoxy).</a:t>
            </a:r>
          </a:p>
          <a:p>
            <a:pPr lvl="2"/>
            <a:r>
              <a:rPr lang="en-US" sz="2200" b="1" dirty="0"/>
              <a:t>Composite Stacks:</a:t>
            </a:r>
            <a:r>
              <a:rPr lang="en-US" sz="2200" dirty="0"/>
              <a:t> Create "blocks" or "stacks" of materials representing the layup (e.g., [0, +45, -45, 90] degree plies).</a:t>
            </a:r>
          </a:p>
          <a:p>
            <a:pPr lvl="2"/>
            <a:r>
              <a:rPr lang="en-US" sz="2200" b="1" dirty="0"/>
              <a:t>Material Database: </a:t>
            </a:r>
            <a:r>
              <a:rPr lang="en-US" sz="2200" dirty="0"/>
              <a:t>NuMAD manages a library of material properties (E1, E2, Density, Nu12) ensuring consistency across the design.</a:t>
            </a:r>
          </a:p>
          <a:p>
            <a:pPr lvl="2"/>
            <a:r>
              <a:rPr lang="en-US" sz="2200" b="1" dirty="0"/>
              <a:t>Layer Thickness: </a:t>
            </a:r>
            <a:r>
              <a:rPr lang="en-US" sz="2200" dirty="0"/>
              <a:t>precise control over individual ply thickness and total laminate depth.</a:t>
            </a:r>
          </a:p>
          <a:p>
            <a:pPr marL="0" indent="0">
              <a:buNone/>
            </a:pP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610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388B-841E-A394-F446-B135A07F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082506-C5B4-9521-A0BF-7B3CB8BBC0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8A1F113-6139-671E-5612-F78C84731D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B926959-69DB-7368-F8F0-20C9A809112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FCF89C7-E84E-5696-4D44-3B88B91BA3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7940D-04D6-318B-68AD-FA6D859E334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C60900-2B0F-FBFC-A484-244563F45DEF}"/>
              </a:ext>
            </a:extLst>
          </p:cNvPr>
          <p:cNvSpPr txBox="1">
            <a:spLocks/>
          </p:cNvSpPr>
          <p:nvPr/>
        </p:nvSpPr>
        <p:spPr>
          <a:xfrm>
            <a:off x="838200" y="1278956"/>
            <a:ext cx="10740992" cy="4996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And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Step 3 – </a:t>
            </a:r>
            <a:r>
              <a:rPr lang="en-US" sz="2200" b="1" dirty="0">
                <a:solidFill>
                  <a:srgbClr val="FF0000"/>
                </a:solidFill>
              </a:rPr>
              <a:t>Internal Structural Layout </a:t>
            </a:r>
            <a:r>
              <a:rPr lang="en-US" sz="2200" b="1" dirty="0"/>
              <a:t>–</a:t>
            </a:r>
          </a:p>
          <a:p>
            <a:pPr lvl="2"/>
            <a:r>
              <a:rPr lang="en-US" sz="2200" b="1" dirty="0"/>
              <a:t>Component Placement: </a:t>
            </a:r>
            <a:r>
              <a:rPr lang="en-US" sz="2200" dirty="0"/>
              <a:t>Define regions for Spar Caps, Leading Edge (LE) panels, &amp; Trailing Edge (TE) reinforcement.</a:t>
            </a:r>
          </a:p>
          <a:p>
            <a:pPr lvl="2"/>
            <a:r>
              <a:rPr lang="en-US" sz="2200" b="1" dirty="0"/>
              <a:t>Shear Webs:</a:t>
            </a:r>
            <a:r>
              <a:rPr lang="en-US" sz="2200" dirty="0"/>
              <a:t> Insert and position shear webs (vertical stiffeners) relative to the chord line.</a:t>
            </a:r>
          </a:p>
          <a:p>
            <a:pPr lvl="2"/>
            <a:r>
              <a:rPr lang="en-US" sz="2200" b="1" dirty="0"/>
              <a:t>Material Assignment: </a:t>
            </a:r>
            <a:r>
              <a:rPr lang="en-US" sz="2200" dirty="0"/>
              <a:t>Assign specific composite stacks to different regions (e.g., Unidirectional Carbon for Spar Caps, Biaxial Glass for Shear Webs).</a:t>
            </a:r>
          </a:p>
          <a:p>
            <a:pPr lvl="2"/>
            <a:r>
              <a:rPr lang="en-US" sz="2200" b="1" dirty="0"/>
              <a:t>Transitions:</a:t>
            </a:r>
            <a:r>
              <a:rPr lang="en-US" sz="2200" dirty="0"/>
              <a:t> Manage material drop-offs and transitions along the span (tapering thickness).</a:t>
            </a: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106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6905-BFD7-AD12-CB3F-CE2E6A7C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729598-4150-1118-9F68-1BC6089CB9F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811734F-293B-FD37-A1E2-1C13A1DB31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A1E8394-51FF-4C74-CC7D-CDBDB275EE2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3C400B9-CADF-D7C4-6575-5F3EE6CA6F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A6272-5C88-5AB8-1882-A64D4642B0AA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C8CD1F-2E00-F1B7-746C-7B861FCD4AB4}"/>
              </a:ext>
            </a:extLst>
          </p:cNvPr>
          <p:cNvSpPr txBox="1">
            <a:spLocks/>
          </p:cNvSpPr>
          <p:nvPr/>
        </p:nvSpPr>
        <p:spPr>
          <a:xfrm>
            <a:off x="838200" y="1278956"/>
            <a:ext cx="10740992" cy="5141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And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Step 4 – </a:t>
            </a:r>
            <a:r>
              <a:rPr lang="en-US" sz="2200" b="1" dirty="0">
                <a:solidFill>
                  <a:srgbClr val="FF0000"/>
                </a:solidFill>
              </a:rPr>
              <a:t>Mesh Generation </a:t>
            </a:r>
            <a:r>
              <a:rPr lang="en-US" sz="2200" b="1" dirty="0"/>
              <a:t>&amp;</a:t>
            </a:r>
            <a:r>
              <a:rPr lang="en-US" sz="2200" b="1" dirty="0">
                <a:solidFill>
                  <a:srgbClr val="FF0000"/>
                </a:solidFill>
              </a:rPr>
              <a:t> FEA Export </a:t>
            </a:r>
            <a:r>
              <a:rPr lang="en-US" sz="2200" b="1" dirty="0"/>
              <a:t>–</a:t>
            </a:r>
          </a:p>
          <a:p>
            <a:pPr lvl="2"/>
            <a:r>
              <a:rPr lang="en-US" sz="2200" b="1" dirty="0"/>
              <a:t>Shell Meshing: </a:t>
            </a:r>
            <a:r>
              <a:rPr lang="en-US" sz="2200" dirty="0"/>
              <a:t>NuMAD discretizes the geometry into shell elements suitable for FEA.</a:t>
            </a:r>
          </a:p>
          <a:p>
            <a:pPr lvl="2"/>
            <a:r>
              <a:rPr lang="en-US" sz="2200" b="1" dirty="0"/>
              <a:t>ANSYS Integration: </a:t>
            </a:r>
            <a:r>
              <a:rPr lang="en-US" sz="2200" dirty="0"/>
              <a:t>Automatically generates APDL (ANSYS Parametric Design Language) scripts to build the full model in ANSYS.</a:t>
            </a:r>
          </a:p>
          <a:p>
            <a:pPr lvl="2"/>
            <a:r>
              <a:rPr lang="en-US" sz="2200" b="1" dirty="0"/>
              <a:t>Sectional Properties:</a:t>
            </a:r>
            <a:r>
              <a:rPr lang="en-US" sz="2200" dirty="0"/>
              <a:t> Computes beam properties (Stiffness EI, Mass per length) for use in OpenFAST/</a:t>
            </a:r>
            <a:r>
              <a:rPr lang="en-US" sz="2200" dirty="0" err="1"/>
              <a:t>BModes</a:t>
            </a:r>
            <a:r>
              <a:rPr lang="en-US" sz="2200" dirty="0"/>
              <a:t>.</a:t>
            </a:r>
          </a:p>
          <a:p>
            <a:pPr lvl="2"/>
            <a:r>
              <a:rPr lang="en-US" sz="2200" b="1" dirty="0"/>
              <a:t>Fidelity Control:</a:t>
            </a:r>
            <a:r>
              <a:rPr lang="en-US" sz="2200" dirty="0"/>
              <a:t> User controls mesh density and element type for computational efficiency.</a:t>
            </a: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33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6242-C090-EB59-EDEC-503EFE28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5F53A-DA2C-E47E-B70E-11A2A091FE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25CA8E-F399-8076-B8AD-1DC1D7C66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B3D76E-CB4C-AB75-965C-FC0EFA60EF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DC3C754-3F60-EB2F-766C-5EAFB3F31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5FDE5-D8FF-CFCB-CF69-289F340FC6C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FD1495-89F5-C0A6-51D9-4AB5B4ECD793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5015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a. Airfoils –</a:t>
            </a:r>
          </a:p>
          <a:p>
            <a:pPr marL="800100" lvl="2" indent="0">
              <a:buNone/>
            </a:pPr>
            <a:r>
              <a:rPr lang="en-US" sz="1400" b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01 – </a:t>
            </a:r>
            <a:r>
              <a:rPr lang="en-US" sz="2200" i="1" dirty="0">
                <a:solidFill>
                  <a:sysClr val="windowText" lastClr="000000"/>
                </a:solidFill>
              </a:rPr>
              <a:t>Circular Airfoil (D = 3.45 m)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02 – </a:t>
            </a:r>
            <a:r>
              <a:rPr lang="en-US" sz="2200" i="1" dirty="0"/>
              <a:t>Circular Airfoil (D = 3.0 m) 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03 – </a:t>
            </a:r>
            <a:r>
              <a:rPr lang="en-US" sz="2200" i="1" dirty="0">
                <a:solidFill>
                  <a:sysClr val="windowText" lastClr="000000"/>
                </a:solidFill>
              </a:rPr>
              <a:t>D60_V5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04 – </a:t>
            </a:r>
            <a:r>
              <a:rPr lang="en-US" sz="2200" i="1" dirty="0">
                <a:solidFill>
                  <a:sysClr val="windowText" lastClr="000000"/>
                </a:solidFill>
              </a:rPr>
              <a:t>DU408B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05 – </a:t>
            </a:r>
            <a:r>
              <a:rPr lang="en-US" sz="2200" i="1" dirty="0">
                <a:solidFill>
                  <a:sysClr val="windowText" lastClr="000000"/>
                </a:solidFill>
              </a:rPr>
              <a:t>DU35_A17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06 – </a:t>
            </a:r>
            <a:r>
              <a:rPr lang="en-US" sz="2200" i="1" dirty="0">
                <a:solidFill>
                  <a:sysClr val="windowText" lastClr="000000"/>
                </a:solidFill>
              </a:rPr>
              <a:t>DU30_A17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07 – </a:t>
            </a:r>
            <a:r>
              <a:rPr lang="en-US" sz="2200" i="1" dirty="0">
                <a:solidFill>
                  <a:sysClr val="windowText" lastClr="000000"/>
                </a:solidFill>
              </a:rPr>
              <a:t>DU25_A17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08 – </a:t>
            </a:r>
            <a:r>
              <a:rPr lang="en-US" sz="2200" i="1" dirty="0">
                <a:solidFill>
                  <a:sysClr val="windowText" lastClr="000000"/>
                </a:solidFill>
              </a:rPr>
              <a:t>DU21_A17</a:t>
            </a:r>
            <a:endParaRPr lang="en-US" sz="2200" b="1" i="1" dirty="0">
              <a:solidFill>
                <a:sysClr val="windowText" lastClr="000000"/>
              </a:solidFill>
            </a:endParaRP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09 – </a:t>
            </a:r>
            <a:r>
              <a:rPr lang="en-US" sz="2200" i="1" dirty="0">
                <a:solidFill>
                  <a:sysClr val="windowText" lastClr="000000"/>
                </a:solidFill>
              </a:rPr>
              <a:t>NACA 63(3)-618</a:t>
            </a:r>
          </a:p>
          <a:p>
            <a:pPr marL="800100" lvl="2" indent="0">
              <a:buNone/>
            </a:pPr>
            <a:r>
              <a:rPr lang="en-US" sz="2200" b="1" i="1" dirty="0">
                <a:solidFill>
                  <a:sysClr val="windowText" lastClr="000000"/>
                </a:solidFill>
              </a:rPr>
              <a:t>	</a:t>
            </a:r>
            <a:r>
              <a:rPr lang="en-US" sz="2200" b="1" dirty="0">
                <a:solidFill>
                  <a:sysClr val="windowText" lastClr="000000"/>
                </a:solidFill>
              </a:rPr>
              <a:t>Node 10 – </a:t>
            </a:r>
            <a:r>
              <a:rPr lang="en-US" sz="2200" i="1" dirty="0">
                <a:solidFill>
                  <a:sysClr val="windowText" lastClr="000000"/>
                </a:solidFill>
              </a:rPr>
              <a:t>NACA 63(3)-618</a:t>
            </a:r>
          </a:p>
        </p:txBody>
      </p:sp>
    </p:spTree>
    <p:extLst>
      <p:ext uri="{BB962C8B-B14F-4D97-AF65-F5344CB8AC3E}">
        <p14:creationId xmlns:p14="http://schemas.microsoft.com/office/powerpoint/2010/main" val="639709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EB43-49C8-D124-8894-73EEE0E6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F97C7-C20C-A915-42A1-B18344AFC1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7C9F09C-3B5E-605F-98D6-E97F71BBF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AB23D7-532A-7186-C96C-86183E782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1BFBF40-71ED-871D-FAD7-4559A23451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7E73-3AD8-26D2-CB52-496A96B466A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596490-7F9D-0ABA-2A59-302DC372408C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b. Blade Geometry Details –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6B0AC8-732E-D7C9-849A-34E66B07D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154082"/>
              </p:ext>
            </p:extLst>
          </p:nvPr>
        </p:nvGraphicFramePr>
        <p:xfrm>
          <a:off x="2766000" y="2146433"/>
          <a:ext cx="6660000" cy="4278757"/>
        </p:xfrm>
        <a:graphic>
          <a:graphicData uri="http://schemas.openxmlformats.org/drawingml/2006/table">
            <a:tbl>
              <a:tblPr firstRow="1" bandRow="1"/>
              <a:tblGrid>
                <a:gridCol w="1116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NACA 63_(3)-618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NACA 63_(3)-618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72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6C12-DA71-F55F-2A4A-4C548957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230EB-4FF9-2CE1-2832-7E0946F47F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94F7228-5E8A-4894-6EF3-F25D393B6D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7E2E2E-B8E1-A3DC-E2A7-3ECFEF8378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E9089B6-B8A9-BCA6-8A5D-7C534DFD40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DDFF9-23F0-9C60-DCD6-7C5E682DC16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D43BE2-E21C-5F8A-D76A-EA9BB275E10F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73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c. ‘</a:t>
            </a:r>
            <a:r>
              <a:rPr lang="en-US" sz="2200" b="1" i="1" dirty="0">
                <a:solidFill>
                  <a:srgbClr val="FF0000"/>
                </a:solidFill>
              </a:rPr>
              <a:t>Blade Span</a:t>
            </a:r>
            <a:r>
              <a:rPr lang="en-US" sz="2200" b="1" dirty="0">
                <a:solidFill>
                  <a:sysClr val="windowText" lastClr="000000"/>
                </a:solidFill>
              </a:rPr>
              <a:t>’ VS ‘</a:t>
            </a:r>
            <a:r>
              <a:rPr lang="en-US" sz="2200" b="1" i="1" dirty="0">
                <a:solidFill>
                  <a:srgbClr val="FF0000"/>
                </a:solidFill>
              </a:rPr>
              <a:t>Chord Distribution</a:t>
            </a:r>
            <a:r>
              <a:rPr lang="en-US" sz="2200" b="1" dirty="0">
                <a:solidFill>
                  <a:sysClr val="windowText" lastClr="000000"/>
                </a:solidFill>
              </a:rPr>
              <a:t>’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E2AF4-800D-73C2-AAD7-9BBFAFBF0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000" y="2340120"/>
            <a:ext cx="11376000" cy="33986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7819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A395-01F1-FA7C-7F33-4E6F4E51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12AAC0-FB29-EB21-EFFC-B44ECBE8E5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24/11/2025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D09E771-1122-5FCC-5A36-2F64C32E09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378C52-9419-F720-D504-3DEEC86472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6D67A5B-F663-04C3-44F2-26DB2776ED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B474-9D01-7ABA-72C4-DF2DB54C7A5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21C9CB-5B23-3D73-6C43-F47B78BC1D1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d. Blade Model in NuMAD – (</a:t>
            </a:r>
            <a:r>
              <a:rPr lang="en-US" sz="2200" b="1" i="1" dirty="0">
                <a:solidFill>
                  <a:srgbClr val="FF0000"/>
                </a:solidFill>
              </a:rPr>
              <a:t>Test 1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0F576-0B60-9C09-B70F-064FCC907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809" y="2242686"/>
            <a:ext cx="6187519" cy="41234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76006-64FA-5D0A-6913-17AB10AF7767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4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77457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3661-CFCD-E321-E248-E5BFC2AF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337691-F6A9-9F61-303E-322856D6755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88BB23F-1AC8-358F-E401-6B7358DBB7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1287632-3C1B-20B7-4D74-291E57E8B5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991FB4B-A0D9-FD44-0AD8-C0BFB9D95D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B6A25-87F8-152A-9AA1-7E91FD17809F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C43C4D-3203-31B9-08C5-B0FC1EAE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Input Tables – (</a:t>
            </a:r>
            <a:r>
              <a:rPr lang="en-IN" sz="2200" i="1" dirty="0">
                <a:solidFill>
                  <a:srgbClr val="FF0000"/>
                </a:solidFill>
              </a:rPr>
              <a:t>from WEC Shakthi 2024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loads.csv:</a:t>
            </a:r>
            <a:r>
              <a:rPr lang="en-IN" sz="2200" dirty="0">
                <a:solidFill>
                  <a:sysClr val="windowText" lastClr="000000"/>
                </a:solidFill>
              </a:rPr>
              <a:t> spanwise position &amp; </a:t>
            </a:r>
            <a:r>
              <a:rPr lang="en-IN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IN" sz="2200" dirty="0">
                <a:solidFill>
                  <a:sysClr val="windowText" lastClr="000000"/>
                </a:solidFill>
              </a:rPr>
              <a:t> bending moments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thickness.csv: </a:t>
            </a:r>
            <a:r>
              <a:rPr lang="en-IN" sz="2200" dirty="0">
                <a:solidFill>
                  <a:sysClr val="windowText" lastClr="000000"/>
                </a:solidFill>
              </a:rPr>
              <a:t>blade thickness (distance between spar caps)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Material Properties –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Glass Fiber:  </a:t>
            </a:r>
            <a:r>
              <a:rPr lang="en-IN" sz="2200" dirty="0">
                <a:solidFill>
                  <a:sysClr val="windowText" lastClr="000000"/>
                </a:solidFill>
              </a:rPr>
              <a:t>E = 43 </a:t>
            </a:r>
            <a:r>
              <a:rPr lang="en-IN" sz="2200" dirty="0" err="1">
                <a:solidFill>
                  <a:sysClr val="windowText" lastClr="000000"/>
                </a:solidFill>
              </a:rPr>
              <a:t>GPa</a:t>
            </a:r>
            <a:r>
              <a:rPr lang="en-IN" sz="2200" dirty="0">
                <a:solidFill>
                  <a:sysClr val="windowText" lastClr="000000"/>
                </a:solidFill>
              </a:rPr>
              <a:t>, </a:t>
            </a:r>
            <a:r>
              <a:rPr lang="el-GR" sz="2200" dirty="0">
                <a:solidFill>
                  <a:sysClr val="windowText" lastClr="000000"/>
                </a:solidFill>
              </a:rPr>
              <a:t>σ_</a:t>
            </a:r>
            <a:r>
              <a:rPr lang="en-IN" sz="2200" dirty="0">
                <a:solidFill>
                  <a:sysClr val="windowText" lastClr="000000"/>
                </a:solidFill>
              </a:rPr>
              <a:t>max = 750 MPa, </a:t>
            </a:r>
            <a:r>
              <a:rPr lang="el-GR" sz="2200" dirty="0">
                <a:solidFill>
                  <a:sysClr val="windowText" lastClr="000000"/>
                </a:solidFill>
              </a:rPr>
              <a:t>ρ = 1930 </a:t>
            </a:r>
            <a:r>
              <a:rPr lang="en-IN" sz="2200" dirty="0">
                <a:solidFill>
                  <a:sysClr val="windowText" lastClr="000000"/>
                </a:solidFill>
              </a:rPr>
              <a:t>kg/m³, SF = 1.6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76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2CCD-2298-1800-5246-D03BE647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C6D628-7061-5413-8CF7-1E76542441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45DF780-011E-848E-9785-7633B05A89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1D5976-8C26-5B81-B471-8537DF0195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769B088-0AEB-5FE1-42CF-61FCBF38F3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CFA1-7E32-87AF-0AFC-60FAA3B070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A7A24D-9077-CC0E-31EB-254185F270C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dirty="0">
                <a:solidFill>
                  <a:srgbClr val="FF0000"/>
                </a:solidFill>
              </a:rPr>
              <a:t>updated code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c.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</a:t>
            </a:r>
            <a:r>
              <a:rPr lang="en-IN" sz="2200" b="1" dirty="0">
                <a:solidFill>
                  <a:srgbClr val="FF0000"/>
                </a:solidFill>
              </a:rPr>
              <a:t>Maximum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&amp;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dirty="0">
                <a:solidFill>
                  <a:srgbClr val="FF0000"/>
                </a:solidFill>
              </a:rPr>
              <a:t>Minimum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i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d.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 Bending Stiffness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for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</a:t>
            </a:r>
            <a:r>
              <a:rPr lang="en-IN" sz="2200" b="1" dirty="0"/>
              <a:t>&amp;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i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21B4-48DB-1EFC-E4A7-89DCDD27D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156" y="2887467"/>
            <a:ext cx="11697687" cy="32767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810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54FD-9E0A-384B-E67E-A2C5857C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F0012-D49C-6CC9-A64F-FA42915DCB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08573-2FA0-6C81-E29E-6145F67C3D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99A3B82-F79C-E116-5DD1-0EC881FC6C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541233F-70D1-4CD9-9AEB-8A2EE70D4C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31143-3532-3511-3A60-81F8333808A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 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43E786-B44A-5A89-465B-A075F3B4440D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e.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Maximum Stress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dirty="0">
                <a:solidFill>
                  <a:sysClr val="windowText" lastClr="000000"/>
                </a:solidFill>
              </a:rPr>
              <a:t>) 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B6201-E863-A242-FD0F-303186243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1355" y="2295856"/>
            <a:ext cx="6569289" cy="41234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7493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11CA-B28D-7393-4407-93AAE8B8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D7433E-9A3C-BCAB-5903-966AAD90D35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42AE6FD-AC15-2B8A-E41E-DE360AE97C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5427B4-1ABC-E8AE-868F-C5B2CF1921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B2BD68E-31B5-842B-B31D-AC395D64D9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C6008-7DEA-BFAE-FC83-2458118F143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75BD5D-A08B-1546-98CB-C079115BFB9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f.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Minimum Stress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dirty="0">
                <a:solidFill>
                  <a:sysClr val="windowText" lastClr="000000"/>
                </a:solidFill>
              </a:rPr>
              <a:t>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dirty="0">
                <a:solidFill>
                  <a:sysClr val="windowText" lastClr="000000"/>
                </a:solidFill>
              </a:rPr>
              <a:t>) 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74905-2E6B-9217-58E7-5D4C9C238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9683" y="2233563"/>
            <a:ext cx="6312633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2183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75A7-E1E8-85E4-4E04-D942389F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9FDEC-DA64-13F5-2729-0D9C687A779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337850D-1669-D590-AEFB-4E614EABC6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A356D0-BA0E-7E01-FC00-9CBD2BFFC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F5B5364-6EA2-7485-0A5B-22E6782ED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64B3C-D03A-5313-7664-120C9B4A738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511D7-69B3-FCF1-3E98-BB9711255E9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02012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g.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 </a:t>
            </a:r>
            <a:r>
              <a:rPr lang="en-IN" sz="2200" b="1" dirty="0"/>
              <a:t>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A83E5-5482-9CDE-06B5-0B83499C7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6251" y="2239860"/>
            <a:ext cx="6379497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355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DEF4-A57D-317C-C606-9BBD4BAA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C1073-B260-E651-6FF1-A793B20FAB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D3D864-99AC-FC78-725C-33C5445096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F713C8-7940-6F5C-C824-DD3D01F898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861F49E-0122-D146-4139-EFD8173300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BEC0-CFFB-2901-1C7C-76D8B5ACFA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Last Week</a:t>
            </a:r>
            <a:r>
              <a:rPr lang="en-IN" sz="2800" b="1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5D4B76-764E-FFC1-0A3E-27850E79442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14525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3.1.6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h.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>
                <a:solidFill>
                  <a:srgbClr val="FF0000"/>
                </a:solidFill>
              </a:rPr>
              <a:t>Edgewise Bending </a:t>
            </a:r>
            <a:r>
              <a:rPr lang="en-IN" sz="2200" b="1" dirty="0"/>
              <a:t>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04B56-34CA-8F78-BF4F-B544E752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3265" y="2239860"/>
            <a:ext cx="6445469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6910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1597</TotalTime>
  <Words>2634</Words>
  <Application>Microsoft Office PowerPoint</Application>
  <PresentationFormat>Widescreen</PresentationFormat>
  <Paragraphs>374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257</cp:revision>
  <dcterms:created xsi:type="dcterms:W3CDTF">2025-10-05T16:20:08Z</dcterms:created>
  <dcterms:modified xsi:type="dcterms:W3CDTF">2025-11-24T00:50:05Z</dcterms:modified>
</cp:coreProperties>
</file>