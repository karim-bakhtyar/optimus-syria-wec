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Lst>
  <p:notesMasterIdLst>
    <p:notesMasterId r:id="rId17"/>
  </p:notesMasterIdLst>
  <p:sldIdLst>
    <p:sldId id="257" r:id="rId3"/>
    <p:sldId id="259" r:id="rId4"/>
    <p:sldId id="261" r:id="rId5"/>
    <p:sldId id="291" r:id="rId6"/>
    <p:sldId id="297" r:id="rId7"/>
    <p:sldId id="292" r:id="rId8"/>
    <p:sldId id="295" r:id="rId9"/>
    <p:sldId id="293" r:id="rId10"/>
    <p:sldId id="296" r:id="rId11"/>
    <p:sldId id="298" r:id="rId12"/>
    <p:sldId id="299" r:id="rId13"/>
    <p:sldId id="300" r:id="rId14"/>
    <p:sldId id="264" r:id="rId15"/>
    <p:sldId id="29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CE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25" autoAdjust="0"/>
    <p:restoredTop sz="96247" autoAdjust="0"/>
  </p:normalViewPr>
  <p:slideViewPr>
    <p:cSldViewPr snapToGrid="0">
      <p:cViewPr varScale="1">
        <p:scale>
          <a:sx n="106" d="100"/>
          <a:sy n="106" d="100"/>
        </p:scale>
        <p:origin x="90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93C7D5-49C9-4310-99B0-74BF8F98F62E}" type="datetimeFigureOut">
              <a:rPr lang="en-US" smtClean="0"/>
              <a:t>11/24/2025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834A5A-C299-4527-A106-DBD1B2885A9E}" type="slidenum">
              <a:rPr lang="en-US" smtClean="0"/>
              <a:t>‹#›</a:t>
            </a:fld>
            <a:endParaRPr lang="en-US"/>
          </a:p>
        </p:txBody>
      </p:sp>
    </p:spTree>
    <p:extLst>
      <p:ext uri="{BB962C8B-B14F-4D97-AF65-F5344CB8AC3E}">
        <p14:creationId xmlns:p14="http://schemas.microsoft.com/office/powerpoint/2010/main" val="1785361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6834A5A-C299-4527-A106-DBD1B2885A9E}" type="slidenum">
              <a:rPr lang="en-US" smtClean="0"/>
              <a:t>2</a:t>
            </a:fld>
            <a:endParaRPr lang="en-US"/>
          </a:p>
        </p:txBody>
      </p:sp>
    </p:spTree>
    <p:extLst>
      <p:ext uri="{BB962C8B-B14F-4D97-AF65-F5344CB8AC3E}">
        <p14:creationId xmlns:p14="http://schemas.microsoft.com/office/powerpoint/2010/main" val="41607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www.mybib.com/tools/ieee-citation-generator"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List of teams">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B5CAFF-79AF-87AE-7EAE-604CC93E7647}"/>
              </a:ext>
            </a:extLst>
          </p:cNvPr>
          <p:cNvSpPr>
            <a:spLocks noGrp="1"/>
          </p:cNvSpPr>
          <p:nvPr>
            <p:ph idx="1" hasCustomPrompt="1"/>
          </p:nvPr>
        </p:nvSpPr>
        <p:spPr>
          <a:xfrm>
            <a:off x="6458857" y="1978025"/>
            <a:ext cx="4894943" cy="4351338"/>
          </a:xfrm>
        </p:spPr>
        <p:txBody>
          <a:bodyPr>
            <a:normAutofit/>
          </a:bodyPr>
          <a:lstStyle>
            <a:lvl1pPr marL="514350" indent="-514350">
              <a:buFont typeface="+mj-lt"/>
              <a:buAutoNum type="arabicPeriod"/>
              <a:defRPr sz="2200"/>
            </a:lvl1pPr>
            <a:lvl2pPr marL="457200" indent="0">
              <a:buFont typeface="Arial" panose="020B0604020202020204" pitchFamily="34" charset="0"/>
              <a:buNone/>
              <a:defRPr sz="2200"/>
            </a:lvl2pPr>
          </a:lstStyle>
          <a:p>
            <a:pPr lvl="1"/>
            <a:r>
              <a:rPr lang="de-DE" dirty="0"/>
              <a:t>12. </a:t>
            </a:r>
            <a:r>
              <a:rPr lang="de-DE" dirty="0" err="1"/>
              <a:t>Machine</a:t>
            </a:r>
            <a:r>
              <a:rPr lang="de-DE" dirty="0"/>
              <a:t> </a:t>
            </a:r>
            <a:r>
              <a:rPr lang="de-DE" dirty="0" err="1"/>
              <a:t>Bed</a:t>
            </a:r>
            <a:r>
              <a:rPr lang="de-DE" dirty="0"/>
              <a:t> &amp; Yaw System  </a:t>
            </a:r>
          </a:p>
          <a:p>
            <a:pPr lvl="1"/>
            <a:r>
              <a:rPr lang="de-DE" dirty="0"/>
              <a:t>13. Tower  </a:t>
            </a:r>
          </a:p>
          <a:p>
            <a:pPr lvl="1"/>
            <a:r>
              <a:rPr lang="de-DE" dirty="0"/>
              <a:t>14. </a:t>
            </a:r>
            <a:r>
              <a:rPr lang="de-DE" dirty="0" err="1"/>
              <a:t>Foundation</a:t>
            </a:r>
            <a:r>
              <a:rPr lang="de-DE" dirty="0"/>
              <a:t>  </a:t>
            </a:r>
          </a:p>
          <a:p>
            <a:pPr lvl="1"/>
            <a:r>
              <a:rPr lang="de-DE" dirty="0"/>
              <a:t>15. Storage System </a:t>
            </a:r>
          </a:p>
          <a:p>
            <a:pPr lvl="1"/>
            <a:endParaRPr lang="de-DE" dirty="0"/>
          </a:p>
        </p:txBody>
      </p:sp>
      <p:sp>
        <p:nvSpPr>
          <p:cNvPr id="8" name="Title 1">
            <a:extLst>
              <a:ext uri="{FF2B5EF4-FFF2-40B4-BE49-F238E27FC236}">
                <a16:creationId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en-GB" dirty="0"/>
              <a:t>Teams</a:t>
            </a:r>
          </a:p>
        </p:txBody>
      </p:sp>
      <p:cxnSp>
        <p:nvCxnSpPr>
          <p:cNvPr id="9" name="Straight Connector 5">
            <a:extLst>
              <a:ext uri="{FF2B5EF4-FFF2-40B4-BE49-F238E27FC236}">
                <a16:creationId xmlns:a16="http://schemas.microsoft.com/office/drawing/2014/main" id="{66EB7C6A-45A8-A327-54B4-9E3A0BCAC0B4}"/>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Content Placeholder 2">
            <a:extLst>
              <a:ext uri="{FF2B5EF4-FFF2-40B4-BE49-F238E27FC236}">
                <a16:creationId xmlns:a16="http://schemas.microsoft.com/office/drawing/2014/main" id="{D2466CB9-E665-36BA-2132-8519CA303C97}"/>
              </a:ext>
            </a:extLst>
          </p:cNvPr>
          <p:cNvSpPr>
            <a:spLocks noGrp="1"/>
          </p:cNvSpPr>
          <p:nvPr>
            <p:ph idx="13" hasCustomPrompt="1"/>
          </p:nvPr>
        </p:nvSpPr>
        <p:spPr>
          <a:xfrm>
            <a:off x="838200" y="1978025"/>
            <a:ext cx="4894943" cy="4351338"/>
          </a:xfrm>
        </p:spPr>
        <p:txBody>
          <a:bodyPr>
            <a:normAutofit/>
          </a:bodyPr>
          <a:lstStyle>
            <a:lvl1pPr marL="514350" indent="-514350">
              <a:buFont typeface="+mj-lt"/>
              <a:buAutoNum type="arabicPeriod"/>
              <a:defRPr sz="2200"/>
            </a:lvl1pPr>
            <a:lvl2pPr marL="457200" indent="0" algn="l">
              <a:buFont typeface="Arial" panose="020B0604020202020204" pitchFamily="34" charset="0"/>
              <a:buNone/>
              <a:defRPr sz="2200"/>
            </a:lvl2pPr>
          </a:lstStyle>
          <a:p>
            <a:pPr lvl="1"/>
            <a:r>
              <a:rPr lang="de-DE" dirty="0"/>
              <a:t>1.  </a:t>
            </a:r>
            <a:r>
              <a:rPr lang="de-DE" dirty="0" err="1"/>
              <a:t>Windfarm</a:t>
            </a:r>
            <a:r>
              <a:rPr lang="de-DE" dirty="0"/>
              <a:t> Project Development  </a:t>
            </a:r>
          </a:p>
          <a:p>
            <a:pPr lvl="1"/>
            <a:r>
              <a:rPr lang="de-DE" dirty="0"/>
              <a:t>2.  Loads and Dynamics  </a:t>
            </a:r>
          </a:p>
          <a:p>
            <a:pPr lvl="1"/>
            <a:r>
              <a:rPr lang="de-DE" dirty="0"/>
              <a:t>3.  Feedback Controller  </a:t>
            </a:r>
          </a:p>
          <a:p>
            <a:pPr lvl="1"/>
            <a:r>
              <a:rPr lang="de-DE" dirty="0"/>
              <a:t>4.  Lidar-</a:t>
            </a:r>
            <a:r>
              <a:rPr lang="de-DE" dirty="0" err="1"/>
              <a:t>Assisted</a:t>
            </a:r>
            <a:r>
              <a:rPr lang="de-DE" dirty="0"/>
              <a:t> Controller  </a:t>
            </a:r>
          </a:p>
          <a:p>
            <a:pPr lvl="1"/>
            <a:r>
              <a:rPr lang="de-DE" dirty="0"/>
              <a:t>5.  Rotor Blade </a:t>
            </a:r>
            <a:r>
              <a:rPr lang="de-DE" dirty="0" err="1"/>
              <a:t>Aerodynamics</a:t>
            </a:r>
            <a:r>
              <a:rPr lang="de-DE" dirty="0"/>
              <a:t>  </a:t>
            </a:r>
          </a:p>
          <a:p>
            <a:pPr lvl="1"/>
            <a:r>
              <a:rPr lang="de-DE" dirty="0"/>
              <a:t>6.  Rotor Blade </a:t>
            </a:r>
            <a:r>
              <a:rPr lang="de-DE" dirty="0" err="1"/>
              <a:t>Structures</a:t>
            </a:r>
            <a:r>
              <a:rPr lang="de-DE" dirty="0"/>
              <a:t>  </a:t>
            </a:r>
          </a:p>
          <a:p>
            <a:pPr lvl="1"/>
            <a:r>
              <a:rPr lang="de-DE" dirty="0"/>
              <a:t>7.  </a:t>
            </a:r>
            <a:r>
              <a:rPr lang="de-DE" dirty="0" err="1"/>
              <a:t>Electrical</a:t>
            </a:r>
            <a:r>
              <a:rPr lang="de-DE" dirty="0"/>
              <a:t> </a:t>
            </a:r>
            <a:r>
              <a:rPr lang="de-DE" dirty="0" err="1"/>
              <a:t>Drivetrain</a:t>
            </a:r>
            <a:r>
              <a:rPr lang="de-DE" dirty="0"/>
              <a:t> (EDT)  </a:t>
            </a:r>
          </a:p>
          <a:p>
            <a:pPr lvl="1"/>
            <a:r>
              <a:rPr lang="de-DE" dirty="0"/>
              <a:t>8.  </a:t>
            </a:r>
            <a:r>
              <a:rPr lang="de-DE" dirty="0" err="1"/>
              <a:t>Grid</a:t>
            </a:r>
            <a:r>
              <a:rPr lang="de-DE" dirty="0"/>
              <a:t> Code Development (GCD)  </a:t>
            </a:r>
          </a:p>
          <a:p>
            <a:pPr lvl="1"/>
            <a:r>
              <a:rPr lang="de-DE" dirty="0"/>
              <a:t>9.  Rotor Hub &amp; Pitch System  </a:t>
            </a:r>
          </a:p>
          <a:p>
            <a:pPr lvl="1"/>
            <a:r>
              <a:rPr lang="de-DE" dirty="0"/>
              <a:t>10. Rotor </a:t>
            </a:r>
            <a:r>
              <a:rPr lang="de-DE" dirty="0" err="1"/>
              <a:t>Bearing</a:t>
            </a:r>
            <a:r>
              <a:rPr lang="de-DE" dirty="0"/>
              <a:t> System  </a:t>
            </a:r>
          </a:p>
          <a:p>
            <a:pPr lvl="1"/>
            <a:r>
              <a:rPr lang="de-DE" dirty="0"/>
              <a:t>11. </a:t>
            </a:r>
            <a:r>
              <a:rPr lang="de-DE" dirty="0" err="1"/>
              <a:t>Gearbox</a:t>
            </a:r>
            <a:r>
              <a:rPr lang="de-DE" dirty="0"/>
              <a:t>, Brake, Coupling  </a:t>
            </a:r>
          </a:p>
          <a:p>
            <a:pPr lvl="1"/>
            <a:r>
              <a:rPr lang="de-DE" dirty="0"/>
              <a:t>						</a:t>
            </a:r>
          </a:p>
        </p:txBody>
      </p:sp>
      <p:sp>
        <p:nvSpPr>
          <p:cNvPr id="12" name="Datumsplatzhalter 11">
            <a:extLst>
              <a:ext uri="{FF2B5EF4-FFF2-40B4-BE49-F238E27FC236}">
                <a16:creationId xmlns:a16="http://schemas.microsoft.com/office/drawing/2014/main" id="{FD841E35-8D66-8DA2-B806-8C18E5D28063}"/>
              </a:ext>
            </a:extLst>
          </p:cNvPr>
          <p:cNvSpPr>
            <a:spLocks noGrp="1"/>
          </p:cNvSpPr>
          <p:nvPr>
            <p:ph type="dt" sz="half" idx="14"/>
          </p:nvPr>
        </p:nvSpPr>
        <p:spPr/>
        <p:txBody>
          <a:bodyPr/>
          <a:lstStyle/>
          <a:p>
            <a:r>
              <a:rPr lang="en-US"/>
              <a:t>25/11/2025</a:t>
            </a:r>
          </a:p>
        </p:txBody>
      </p:sp>
      <p:sp>
        <p:nvSpPr>
          <p:cNvPr id="16" name="Fußzeilenplatzhalter 15">
            <a:extLst>
              <a:ext uri="{FF2B5EF4-FFF2-40B4-BE49-F238E27FC236}">
                <a16:creationId xmlns:a16="http://schemas.microsoft.com/office/drawing/2014/main" id="{6C28938A-3748-78F8-3D01-B82DF87C9BE6}"/>
              </a:ext>
            </a:extLst>
          </p:cNvPr>
          <p:cNvSpPr>
            <a:spLocks noGrp="1"/>
          </p:cNvSpPr>
          <p:nvPr>
            <p:ph type="ftr" sz="quarter" idx="15"/>
          </p:nvPr>
        </p:nvSpPr>
        <p:spPr/>
        <p:txBody>
          <a:bodyPr/>
          <a:lstStyle/>
          <a:p>
            <a:r>
              <a:rPr lang="sv-SE"/>
              <a:t>Feedback &amp; Lidar Controller  / Optimus Syria</a:t>
            </a:r>
            <a:endParaRPr lang="en-US"/>
          </a:p>
        </p:txBody>
      </p:sp>
      <p:sp>
        <p:nvSpPr>
          <p:cNvPr id="17" name="Foliennummernplatzhalter 16">
            <a:extLst>
              <a:ext uri="{FF2B5EF4-FFF2-40B4-BE49-F238E27FC236}">
                <a16:creationId xmlns:a16="http://schemas.microsoft.com/office/drawing/2014/main" id="{3A903679-8273-AC0E-AD57-A9C78EE236F1}"/>
              </a:ext>
            </a:extLst>
          </p:cNvPr>
          <p:cNvSpPr>
            <a:spLocks noGrp="1"/>
          </p:cNvSpPr>
          <p:nvPr>
            <p:ph type="sldNum" sz="quarter" idx="16"/>
          </p:nvPr>
        </p:nvSpPr>
        <p:spPr/>
        <p:txBody>
          <a:bodyPr/>
          <a:lstStyle/>
          <a:p>
            <a:fld id="{3A84E93A-72FE-4BB6-A500-FB6DD421822B}" type="slidenum">
              <a:rPr lang="en-US" smtClean="0"/>
              <a:t>‹#›</a:t>
            </a:fld>
            <a:endParaRPr lang="en-US"/>
          </a:p>
        </p:txBody>
      </p:sp>
    </p:spTree>
    <p:extLst>
      <p:ext uri="{BB962C8B-B14F-4D97-AF65-F5344CB8AC3E}">
        <p14:creationId xmlns:p14="http://schemas.microsoft.com/office/powerpoint/2010/main" val="408704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st of contents (Explana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B5CAFF-79AF-87AE-7EAE-604CC93E7647}"/>
              </a:ext>
            </a:extLst>
          </p:cNvPr>
          <p:cNvSpPr>
            <a:spLocks noGrp="1"/>
          </p:cNvSpPr>
          <p:nvPr>
            <p:ph idx="1" hasCustomPrompt="1"/>
          </p:nvPr>
        </p:nvSpPr>
        <p:spPr>
          <a:xfrm>
            <a:off x="838200" y="1825625"/>
            <a:ext cx="10515600" cy="4351338"/>
          </a:xfrm>
        </p:spPr>
        <p:txBody>
          <a:bodyPr/>
          <a:lstStyle>
            <a:lvl1pPr marL="514350" indent="-514350">
              <a:buFont typeface="+mj-lt"/>
              <a:buAutoNum type="arabicPeriod"/>
              <a:defRPr sz="2200"/>
            </a:lvl1pPr>
            <a:lvl2pPr marL="971550" indent="-514350">
              <a:buFont typeface="+mj-lt"/>
              <a:buAutoNum type="romanLcPeriod"/>
              <a:defRPr sz="2000"/>
            </a:lvl2pPr>
          </a:lstStyle>
          <a:p>
            <a:pPr lvl="0"/>
            <a:r>
              <a:rPr lang="de-DE" dirty="0"/>
              <a:t>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r>
              <a:rPr lang="de-DE" dirty="0"/>
              <a:t>   (</a:t>
            </a:r>
            <a:r>
              <a:rPr lang="de-DE" dirty="0" err="1"/>
              <a:t>Aptos</a:t>
            </a:r>
            <a:r>
              <a:rPr lang="de-DE" dirty="0"/>
              <a:t>, 22)</a:t>
            </a:r>
          </a:p>
          <a:p>
            <a:pPr lvl="1"/>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r>
              <a:rPr lang="de-DE" dirty="0"/>
              <a:t>  (</a:t>
            </a:r>
            <a:r>
              <a:rPr lang="de-DE" dirty="0" err="1"/>
              <a:t>Aptos</a:t>
            </a:r>
            <a:r>
              <a:rPr lang="de-DE" dirty="0"/>
              <a:t>, 20)</a:t>
            </a:r>
          </a:p>
          <a:p>
            <a:pPr lvl="0"/>
            <a:r>
              <a:rPr lang="de-DE" dirty="0"/>
              <a:t>X</a:t>
            </a:r>
          </a:p>
          <a:p>
            <a:pPr lvl="1"/>
            <a:endParaRPr lang="de-DE" dirty="0"/>
          </a:p>
        </p:txBody>
      </p:sp>
      <p:sp>
        <p:nvSpPr>
          <p:cNvPr id="8" name="Title 1">
            <a:extLst>
              <a:ext uri="{FF2B5EF4-FFF2-40B4-BE49-F238E27FC236}">
                <a16:creationId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de-DE" dirty="0"/>
              <a:t>List </a:t>
            </a:r>
            <a:r>
              <a:rPr lang="de-DE" dirty="0" err="1"/>
              <a:t>of</a:t>
            </a:r>
            <a:r>
              <a:rPr lang="de-DE" dirty="0"/>
              <a:t> </a:t>
            </a:r>
            <a:r>
              <a:rPr lang="de-DE" dirty="0" err="1"/>
              <a:t>contents</a:t>
            </a:r>
            <a:endParaRPr lang="en-GB" dirty="0"/>
          </a:p>
        </p:txBody>
      </p:sp>
      <p:cxnSp>
        <p:nvCxnSpPr>
          <p:cNvPr id="9" name="Straight Connector 5">
            <a:extLst>
              <a:ext uri="{FF2B5EF4-FFF2-40B4-BE49-F238E27FC236}">
                <a16:creationId xmlns:a16="http://schemas.microsoft.com/office/drawing/2014/main" id="{66EB7C6A-45A8-A327-54B4-9E3A0BCAC0B4}"/>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2" name="Isosceles Triangle 6">
            <a:extLst>
              <a:ext uri="{FF2B5EF4-FFF2-40B4-BE49-F238E27FC236}">
                <a16:creationId xmlns:a16="http://schemas.microsoft.com/office/drawing/2014/main" id="{170C5CF7-7129-6BD6-B815-EAF32508EFB5}"/>
              </a:ext>
            </a:extLst>
          </p:cNvPr>
          <p:cNvSpPr/>
          <p:nvPr/>
        </p:nvSpPr>
        <p:spPr>
          <a:xfrm>
            <a:off x="5218873" y="2853022"/>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13" name="Rectangle 7">
            <a:extLst>
              <a:ext uri="{FF2B5EF4-FFF2-40B4-BE49-F238E27FC236}">
                <a16:creationId xmlns:a16="http://schemas.microsoft.com/office/drawing/2014/main" id="{C7BE5E88-0734-5426-D3DF-C7901A7359D4}"/>
              </a:ext>
            </a:extLst>
          </p:cNvPr>
          <p:cNvSpPr/>
          <p:nvPr/>
        </p:nvSpPr>
        <p:spPr>
          <a:xfrm>
            <a:off x="4025317" y="4094711"/>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a:t>
            </a:r>
            <a:r>
              <a:rPr lang="it-IT" dirty="0" err="1"/>
              <a:t>is</a:t>
            </a:r>
            <a:r>
              <a:rPr lang="it-IT" dirty="0"/>
              <a:t> an </a:t>
            </a:r>
            <a:r>
              <a:rPr lang="it-IT" dirty="0" err="1"/>
              <a:t>example</a:t>
            </a:r>
            <a:r>
              <a:rPr lang="it-IT" dirty="0"/>
              <a:t> </a:t>
            </a:r>
            <a:r>
              <a:rPr lang="it-IT" b="1" dirty="0"/>
              <a:t>BUT</a:t>
            </a:r>
            <a:br>
              <a:rPr lang="it-IT" dirty="0"/>
            </a:br>
            <a:r>
              <a:rPr lang="it-IT" dirty="0"/>
              <a:t>use the </a:t>
            </a:r>
            <a:r>
              <a:rPr lang="it-IT" dirty="0" err="1"/>
              <a:t>same</a:t>
            </a:r>
            <a:r>
              <a:rPr lang="it-IT" dirty="0"/>
              <a:t> style and short, concise bullet points) </a:t>
            </a:r>
            <a:br>
              <a:rPr lang="it-IT" dirty="0"/>
            </a:br>
            <a:r>
              <a:rPr lang="it-IT" dirty="0" err="1"/>
              <a:t>Only</a:t>
            </a:r>
            <a:r>
              <a:rPr lang="it-IT" dirty="0"/>
              <a:t> </a:t>
            </a:r>
            <a:r>
              <a:rPr lang="it-IT" dirty="0" err="1"/>
              <a:t>topics</a:t>
            </a:r>
            <a:r>
              <a:rPr lang="it-IT" dirty="0"/>
              <a:t> for the 4 min </a:t>
            </a:r>
            <a:r>
              <a:rPr lang="it-IT" dirty="0" err="1"/>
              <a:t>timeslot</a:t>
            </a:r>
            <a:r>
              <a:rPr lang="it-IT" dirty="0"/>
              <a:t>!</a:t>
            </a:r>
            <a:endParaRPr lang="en-GB" dirty="0"/>
          </a:p>
        </p:txBody>
      </p:sp>
      <p:sp>
        <p:nvSpPr>
          <p:cNvPr id="14" name="Rectangle 11">
            <a:extLst>
              <a:ext uri="{FF2B5EF4-FFF2-40B4-BE49-F238E27FC236}">
                <a16:creationId xmlns:a16="http://schemas.microsoft.com/office/drawing/2014/main" id="{11100C08-BD4D-E3E4-CE88-2FD7DF2770C3}"/>
              </a:ext>
            </a:extLst>
          </p:cNvPr>
          <p:cNvSpPr/>
          <p:nvPr/>
        </p:nvSpPr>
        <p:spPr>
          <a:xfrm>
            <a:off x="5727842" y="3001184"/>
            <a:ext cx="542886"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2" name="Rectangle 7">
            <a:extLst>
              <a:ext uri="{FF2B5EF4-FFF2-40B4-BE49-F238E27FC236}">
                <a16:creationId xmlns:a16="http://schemas.microsoft.com/office/drawing/2014/main" id="{65B86036-57A0-C8C5-C8BB-699A37ABA2A8}"/>
              </a:ext>
            </a:extLst>
          </p:cNvPr>
          <p:cNvSpPr/>
          <p:nvPr/>
        </p:nvSpPr>
        <p:spPr>
          <a:xfrm>
            <a:off x="908165" y="3299037"/>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0" name="Datumsplatzhalter 9">
            <a:extLst>
              <a:ext uri="{FF2B5EF4-FFF2-40B4-BE49-F238E27FC236}">
                <a16:creationId xmlns:a16="http://schemas.microsoft.com/office/drawing/2014/main" id="{64195E91-DEC0-2198-8D7F-F5D7511FB319}"/>
              </a:ext>
            </a:extLst>
          </p:cNvPr>
          <p:cNvSpPr>
            <a:spLocks noGrp="1"/>
          </p:cNvSpPr>
          <p:nvPr>
            <p:ph type="dt" sz="half" idx="15"/>
          </p:nvPr>
        </p:nvSpPr>
        <p:spPr/>
        <p:txBody>
          <a:bodyPr/>
          <a:lstStyle/>
          <a:p>
            <a:r>
              <a:rPr lang="en-US"/>
              <a:t>25/11/2025</a:t>
            </a:r>
          </a:p>
        </p:txBody>
      </p:sp>
      <p:sp>
        <p:nvSpPr>
          <p:cNvPr id="11" name="Fußzeilenplatzhalter 10">
            <a:extLst>
              <a:ext uri="{FF2B5EF4-FFF2-40B4-BE49-F238E27FC236}">
                <a16:creationId xmlns:a16="http://schemas.microsoft.com/office/drawing/2014/main" id="{0EC107A6-E0D9-69FD-44BC-CFD5F05D7C83}"/>
              </a:ext>
            </a:extLst>
          </p:cNvPr>
          <p:cNvSpPr>
            <a:spLocks noGrp="1"/>
          </p:cNvSpPr>
          <p:nvPr>
            <p:ph type="ftr" sz="quarter" idx="16"/>
          </p:nvPr>
        </p:nvSpPr>
        <p:spPr/>
        <p:txBody>
          <a:bodyPr/>
          <a:lstStyle/>
          <a:p>
            <a:r>
              <a:rPr lang="sv-SE"/>
              <a:t>Feedback &amp; Lidar Controller  / Optimus Syria</a:t>
            </a:r>
            <a:endParaRPr lang="en-US"/>
          </a:p>
        </p:txBody>
      </p:sp>
      <p:sp>
        <p:nvSpPr>
          <p:cNvPr id="15" name="Foliennummernplatzhalter 14">
            <a:extLst>
              <a:ext uri="{FF2B5EF4-FFF2-40B4-BE49-F238E27FC236}">
                <a16:creationId xmlns:a16="http://schemas.microsoft.com/office/drawing/2014/main" id="{8CC2EBC5-DD43-6B7E-A5D7-5CD5B0E30A5C}"/>
              </a:ext>
            </a:extLst>
          </p:cNvPr>
          <p:cNvSpPr>
            <a:spLocks noGrp="1"/>
          </p:cNvSpPr>
          <p:nvPr>
            <p:ph type="sldNum" sz="quarter" idx="17"/>
          </p:nvPr>
        </p:nvSpPr>
        <p:spPr/>
        <p:txBody>
          <a:bodyPr/>
          <a:lstStyle/>
          <a:p>
            <a:fld id="{3A84E93A-72FE-4BB6-A500-FB6DD421822B}" type="slidenum">
              <a:rPr lang="en-US" smtClean="0"/>
              <a:t>‹#›</a:t>
            </a:fld>
            <a:endParaRPr lang="en-US"/>
          </a:p>
        </p:txBody>
      </p:sp>
      <p:sp>
        <p:nvSpPr>
          <p:cNvPr id="17" name="Textplatzhalter 16">
            <a:extLst>
              <a:ext uri="{FF2B5EF4-FFF2-40B4-BE49-F238E27FC236}">
                <a16:creationId xmlns:a16="http://schemas.microsoft.com/office/drawing/2014/main" id="{E7DFBCC3-CC46-17B2-DF15-92940A3865D7}"/>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2335032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List of contents">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B5CAFF-79AF-87AE-7EAE-604CC93E7647}"/>
              </a:ext>
            </a:extLst>
          </p:cNvPr>
          <p:cNvSpPr>
            <a:spLocks noGrp="1"/>
          </p:cNvSpPr>
          <p:nvPr>
            <p:ph idx="1" hasCustomPrompt="1"/>
          </p:nvPr>
        </p:nvSpPr>
        <p:spPr>
          <a:xfrm>
            <a:off x="838200" y="1825625"/>
            <a:ext cx="10515600" cy="4351338"/>
          </a:xfrm>
        </p:spPr>
        <p:txBody>
          <a:bodyPr/>
          <a:lstStyle>
            <a:lvl1pPr marL="514350" indent="-514350">
              <a:buFont typeface="+mj-lt"/>
              <a:buAutoNum type="arabicPeriod"/>
              <a:defRPr sz="2200"/>
            </a:lvl1pPr>
            <a:lvl2pPr marL="971550" indent="-514350">
              <a:buFont typeface="+mj-lt"/>
              <a:buAutoNum type="romanLcPeriod"/>
              <a:defRPr sz="2000"/>
            </a:lvl2pPr>
          </a:lstStyle>
          <a:p>
            <a:pPr lvl="0"/>
            <a:r>
              <a:rPr lang="de-DE" dirty="0"/>
              <a:t>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endParaRPr lang="de-DE" dirty="0"/>
          </a:p>
          <a:p>
            <a:pPr lvl="1"/>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endParaRPr lang="de-DE" dirty="0"/>
          </a:p>
          <a:p>
            <a:pPr lvl="0"/>
            <a:r>
              <a:rPr lang="de-DE" dirty="0"/>
              <a:t>X</a:t>
            </a:r>
          </a:p>
          <a:p>
            <a:pPr lvl="1"/>
            <a:endParaRPr lang="de-DE" dirty="0"/>
          </a:p>
        </p:txBody>
      </p:sp>
      <p:sp>
        <p:nvSpPr>
          <p:cNvPr id="8" name="Title 1">
            <a:extLst>
              <a:ext uri="{FF2B5EF4-FFF2-40B4-BE49-F238E27FC236}">
                <a16:creationId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de-DE" dirty="0"/>
              <a:t>List </a:t>
            </a:r>
            <a:r>
              <a:rPr lang="de-DE" dirty="0" err="1"/>
              <a:t>of</a:t>
            </a:r>
            <a:r>
              <a:rPr lang="de-DE" dirty="0"/>
              <a:t> </a:t>
            </a:r>
            <a:r>
              <a:rPr lang="de-DE" dirty="0" err="1"/>
              <a:t>contents</a:t>
            </a:r>
            <a:endParaRPr lang="en-GB" dirty="0"/>
          </a:p>
        </p:txBody>
      </p:sp>
      <p:cxnSp>
        <p:nvCxnSpPr>
          <p:cNvPr id="9" name="Straight Connector 5">
            <a:extLst>
              <a:ext uri="{FF2B5EF4-FFF2-40B4-BE49-F238E27FC236}">
                <a16:creationId xmlns:a16="http://schemas.microsoft.com/office/drawing/2014/main" id="{66EB7C6A-45A8-A327-54B4-9E3A0BCAC0B4}"/>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Datumsplatzhalter 10">
            <a:extLst>
              <a:ext uri="{FF2B5EF4-FFF2-40B4-BE49-F238E27FC236}">
                <a16:creationId xmlns:a16="http://schemas.microsoft.com/office/drawing/2014/main" id="{8F6D1F16-A947-CEE2-C58A-50217E9017C7}"/>
              </a:ext>
            </a:extLst>
          </p:cNvPr>
          <p:cNvSpPr>
            <a:spLocks noGrp="1"/>
          </p:cNvSpPr>
          <p:nvPr>
            <p:ph type="dt" sz="half" idx="10"/>
          </p:nvPr>
        </p:nvSpPr>
        <p:spPr/>
        <p:txBody>
          <a:bodyPr/>
          <a:lstStyle/>
          <a:p>
            <a:r>
              <a:rPr lang="en-US"/>
              <a:t>25/11/2025</a:t>
            </a:r>
          </a:p>
        </p:txBody>
      </p:sp>
      <p:sp>
        <p:nvSpPr>
          <p:cNvPr id="12" name="Fußzeilenplatzhalter 11">
            <a:extLst>
              <a:ext uri="{FF2B5EF4-FFF2-40B4-BE49-F238E27FC236}">
                <a16:creationId xmlns:a16="http://schemas.microsoft.com/office/drawing/2014/main" id="{873EF994-6CA7-B763-F215-A7D1723E216C}"/>
              </a:ext>
            </a:extLst>
          </p:cNvPr>
          <p:cNvSpPr>
            <a:spLocks noGrp="1"/>
          </p:cNvSpPr>
          <p:nvPr>
            <p:ph type="ftr" sz="quarter" idx="11"/>
          </p:nvPr>
        </p:nvSpPr>
        <p:spPr/>
        <p:txBody>
          <a:bodyPr/>
          <a:lstStyle/>
          <a:p>
            <a:r>
              <a:rPr lang="sv-SE"/>
              <a:t>Feedback &amp; Lidar Controller  / Optimus Syria</a:t>
            </a:r>
            <a:endParaRPr lang="en-US"/>
          </a:p>
        </p:txBody>
      </p:sp>
      <p:sp>
        <p:nvSpPr>
          <p:cNvPr id="13" name="Foliennummernplatzhalter 12">
            <a:extLst>
              <a:ext uri="{FF2B5EF4-FFF2-40B4-BE49-F238E27FC236}">
                <a16:creationId xmlns:a16="http://schemas.microsoft.com/office/drawing/2014/main" id="{67F2F56B-9E4F-A460-92A9-87055C42B86E}"/>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4" name="Textplatzhalter 16">
            <a:extLst>
              <a:ext uri="{FF2B5EF4-FFF2-40B4-BE49-F238E27FC236}">
                <a16:creationId xmlns:a16="http://schemas.microsoft.com/office/drawing/2014/main" id="{3A8B7922-CD64-E421-B5E5-B7BA56CBCB0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266624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xtslide (Explana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 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r>
              <a:rPr lang="de-DE" dirty="0"/>
              <a:t>   </a:t>
            </a:r>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r>
              <a:rPr lang="de-DE" dirty="0"/>
              <a:t> (</a:t>
            </a:r>
            <a:r>
              <a:rPr lang="de-DE" dirty="0" err="1"/>
              <a:t>Aptos</a:t>
            </a:r>
            <a:r>
              <a:rPr lang="de-DE" dirty="0"/>
              <a:t>, 22)</a:t>
            </a:r>
          </a:p>
          <a:p>
            <a:pPr marL="971550" marR="0" lvl="1" indent="-514350" algn="l" defTabSz="914400" rtl="0" eaLnBrk="1" fontAlgn="auto" latinLnBrk="0" hangingPunct="1">
              <a:lnSpc>
                <a:spcPct val="90000"/>
              </a:lnSpc>
              <a:spcBef>
                <a:spcPts val="500"/>
              </a:spcBef>
              <a:spcAft>
                <a:spcPts val="0"/>
              </a:spcAft>
              <a:buClrTx/>
              <a:buSzTx/>
              <a:buFont typeface="+mj-lt"/>
              <a:buAutoNum type="romanLcPeriod"/>
              <a:tabLst/>
              <a:defRPr/>
            </a:pPr>
            <a:r>
              <a:rPr lang="de-DE" dirty="0" err="1"/>
              <a:t>efgh</a:t>
            </a:r>
            <a:r>
              <a:rPr lang="de-DE" dirty="0"/>
              <a:t> (</a:t>
            </a:r>
            <a:r>
              <a:rPr lang="de-DE" dirty="0" err="1"/>
              <a:t>Aptos</a:t>
            </a:r>
            <a:r>
              <a:rPr lang="de-DE" dirty="0"/>
              <a:t>, 20)</a:t>
            </a:r>
          </a:p>
          <a:p>
            <a:pPr lvl="1"/>
            <a:endParaRPr lang="de-DE" dirty="0"/>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Isosceles Triangle 6">
            <a:extLst>
              <a:ext uri="{FF2B5EF4-FFF2-40B4-BE49-F238E27FC236}">
                <a16:creationId xmlns:a16="http://schemas.microsoft.com/office/drawing/2014/main" id="{3272B118-64EE-99BB-8728-CE26B185DCFC}"/>
              </a:ext>
            </a:extLst>
          </p:cNvPr>
          <p:cNvSpPr/>
          <p:nvPr/>
        </p:nvSpPr>
        <p:spPr>
          <a:xfrm>
            <a:off x="8353959" y="1690688"/>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9" name="Rectangle 7">
            <a:extLst>
              <a:ext uri="{FF2B5EF4-FFF2-40B4-BE49-F238E27FC236}">
                <a16:creationId xmlns:a16="http://schemas.microsoft.com/office/drawing/2014/main" id="{CCA8528F-A469-ED70-E9CA-F25798C1A305}"/>
              </a:ext>
            </a:extLst>
          </p:cNvPr>
          <p:cNvSpPr/>
          <p:nvPr/>
        </p:nvSpPr>
        <p:spPr>
          <a:xfrm>
            <a:off x="2209800" y="3095720"/>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t>Use [1], [2], [3] for </a:t>
            </a:r>
            <a:r>
              <a:rPr lang="it-IT" dirty="0" err="1"/>
              <a:t>everything</a:t>
            </a:r>
            <a:r>
              <a:rPr lang="it-IT" dirty="0"/>
              <a:t> </a:t>
            </a:r>
            <a:r>
              <a:rPr lang="it-IT" dirty="0" err="1"/>
              <a:t>you</a:t>
            </a:r>
            <a:r>
              <a:rPr lang="it-IT" dirty="0"/>
              <a:t> </a:t>
            </a:r>
            <a:r>
              <a:rPr lang="it-IT" dirty="0" err="1"/>
              <a:t>have</a:t>
            </a:r>
            <a:r>
              <a:rPr lang="it-IT" dirty="0"/>
              <a:t> from a source (</a:t>
            </a:r>
            <a:r>
              <a:rPr lang="it-IT" dirty="0" err="1"/>
              <a:t>numbers</a:t>
            </a:r>
            <a:r>
              <a:rPr lang="it-IT" dirty="0"/>
              <a:t> </a:t>
            </a:r>
            <a:r>
              <a:rPr lang="it-IT" dirty="0" err="1"/>
              <a:t>should</a:t>
            </a:r>
            <a:r>
              <a:rPr lang="it-IT" dirty="0"/>
              <a:t> be the </a:t>
            </a:r>
            <a:r>
              <a:rPr lang="it-IT" dirty="0" err="1"/>
              <a:t>same</a:t>
            </a:r>
            <a:r>
              <a:rPr lang="it-IT" dirty="0"/>
              <a:t> like in the </a:t>
            </a:r>
            <a:r>
              <a:rPr lang="it-IT" dirty="0" err="1"/>
              <a:t>bibliography</a:t>
            </a:r>
            <a:r>
              <a:rPr lang="it-IT" dirty="0"/>
              <a:t>) (</a:t>
            </a:r>
            <a:r>
              <a:rPr lang="it-IT" dirty="0" err="1"/>
              <a:t>incl</a:t>
            </a:r>
            <a:r>
              <a:rPr lang="it-IT" dirty="0"/>
              <a:t>. pictures / </a:t>
            </a:r>
            <a:r>
              <a:rPr lang="it-IT" dirty="0" err="1"/>
              <a:t>if</a:t>
            </a:r>
            <a:r>
              <a:rPr lang="it-IT" dirty="0"/>
              <a:t> </a:t>
            </a:r>
            <a:r>
              <a:rPr lang="it-IT" dirty="0" err="1"/>
              <a:t>you</a:t>
            </a:r>
            <a:r>
              <a:rPr lang="it-IT" dirty="0"/>
              <a:t> </a:t>
            </a:r>
            <a:r>
              <a:rPr lang="it-IT" dirty="0" err="1"/>
              <a:t>created</a:t>
            </a:r>
            <a:r>
              <a:rPr lang="it-IT" dirty="0"/>
              <a:t> </a:t>
            </a:r>
            <a:r>
              <a:rPr lang="it-IT" dirty="0" err="1"/>
              <a:t>them</a:t>
            </a:r>
            <a:r>
              <a:rPr lang="it-IT" dirty="0"/>
              <a:t> by </a:t>
            </a:r>
            <a:r>
              <a:rPr lang="it-IT" dirty="0" err="1"/>
              <a:t>your</a:t>
            </a:r>
            <a:r>
              <a:rPr lang="it-IT" dirty="0"/>
              <a:t> </a:t>
            </a:r>
            <a:r>
              <a:rPr lang="it-IT" dirty="0" err="1"/>
              <a:t>own</a:t>
            </a:r>
            <a:r>
              <a:rPr lang="it-IT" dirty="0"/>
              <a:t>, </a:t>
            </a:r>
            <a:r>
              <a:rPr lang="it-IT" dirty="0" err="1"/>
              <a:t>declare</a:t>
            </a:r>
            <a:r>
              <a:rPr lang="it-IT" dirty="0"/>
              <a:t> </a:t>
            </a:r>
            <a:r>
              <a:rPr lang="it-IT" dirty="0" err="1"/>
              <a:t>them</a:t>
            </a:r>
            <a:r>
              <a:rPr lang="it-IT" dirty="0"/>
              <a:t> </a:t>
            </a:r>
            <a:r>
              <a:rPr lang="it-IT" dirty="0" err="1"/>
              <a:t>as</a:t>
            </a:r>
            <a:r>
              <a:rPr lang="it-IT" dirty="0"/>
              <a:t> a </a:t>
            </a:r>
            <a:r>
              <a:rPr lang="it-IT" dirty="0" err="1"/>
              <a:t>thing</a:t>
            </a:r>
            <a:r>
              <a:rPr lang="it-IT" dirty="0"/>
              <a:t> </a:t>
            </a:r>
            <a:r>
              <a:rPr lang="it-IT" dirty="0" err="1"/>
              <a:t>you’ve</a:t>
            </a:r>
            <a:r>
              <a:rPr lang="it-IT" dirty="0"/>
              <a:t> </a:t>
            </a:r>
            <a:r>
              <a:rPr lang="it-IT" dirty="0" err="1"/>
              <a:t>done</a:t>
            </a:r>
            <a:r>
              <a:rPr lang="it-IT" dirty="0"/>
              <a:t> ) [Style </a:t>
            </a:r>
            <a:r>
              <a:rPr lang="it-IT" dirty="0" err="1"/>
              <a:t>Aptos</a:t>
            </a:r>
            <a:r>
              <a:rPr lang="it-IT" dirty="0"/>
              <a:t>/14]</a:t>
            </a:r>
            <a:endParaRPr lang="en-GB" dirty="0"/>
          </a:p>
        </p:txBody>
      </p:sp>
      <p:sp>
        <p:nvSpPr>
          <p:cNvPr id="10" name="Rectangle 11">
            <a:extLst>
              <a:ext uri="{FF2B5EF4-FFF2-40B4-BE49-F238E27FC236}">
                <a16:creationId xmlns:a16="http://schemas.microsoft.com/office/drawing/2014/main" id="{E1F8C099-06EF-7661-9A3C-60FE5CD4C5D5}"/>
              </a:ext>
            </a:extLst>
          </p:cNvPr>
          <p:cNvSpPr/>
          <p:nvPr/>
        </p:nvSpPr>
        <p:spPr>
          <a:xfrm>
            <a:off x="8862928" y="1838850"/>
            <a:ext cx="542886"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11" name="Rectangle 7">
            <a:extLst>
              <a:ext uri="{FF2B5EF4-FFF2-40B4-BE49-F238E27FC236}">
                <a16:creationId xmlns:a16="http://schemas.microsoft.com/office/drawing/2014/main" id="{6E31FDF0-C963-BED4-C97E-FF9F67C07D21}"/>
              </a:ext>
            </a:extLst>
          </p:cNvPr>
          <p:cNvSpPr/>
          <p:nvPr/>
        </p:nvSpPr>
        <p:spPr>
          <a:xfrm>
            <a:off x="7312803" y="3084777"/>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a:t>
            </a:r>
            <a:r>
              <a:rPr lang="it-IT" dirty="0" err="1"/>
              <a:t>is</a:t>
            </a:r>
            <a:r>
              <a:rPr lang="it-IT" dirty="0"/>
              <a:t> an </a:t>
            </a:r>
            <a:r>
              <a:rPr lang="it-IT" dirty="0" err="1"/>
              <a:t>example</a:t>
            </a:r>
            <a:r>
              <a:rPr lang="it-IT" dirty="0"/>
              <a:t> </a:t>
            </a:r>
            <a:r>
              <a:rPr lang="it-IT" b="1" dirty="0"/>
              <a:t>BUT</a:t>
            </a:r>
          </a:p>
          <a:p>
            <a:pPr algn="ctr"/>
            <a:r>
              <a:rPr lang="it-IT" dirty="0"/>
              <a:t>an </a:t>
            </a:r>
            <a:r>
              <a:rPr lang="it-IT" dirty="0" err="1"/>
              <a:t>intial</a:t>
            </a:r>
            <a:r>
              <a:rPr lang="it-IT" dirty="0"/>
              <a:t> slide with </a:t>
            </a:r>
            <a:r>
              <a:rPr lang="it-IT" dirty="0" err="1"/>
              <a:t>all</a:t>
            </a:r>
            <a:r>
              <a:rPr lang="it-IT" dirty="0"/>
              <a:t> the tasks </a:t>
            </a:r>
            <a:r>
              <a:rPr lang="it-IT" dirty="0" err="1"/>
              <a:t>completed</a:t>
            </a:r>
            <a:r>
              <a:rPr lang="it-IT" dirty="0"/>
              <a:t> for the week </a:t>
            </a:r>
            <a:r>
              <a:rPr lang="it-IT" dirty="0" err="1"/>
              <a:t>should</a:t>
            </a:r>
            <a:r>
              <a:rPr lang="it-IT" dirty="0"/>
              <a:t> </a:t>
            </a:r>
            <a:r>
              <a:rPr lang="it-IT" dirty="0" err="1"/>
              <a:t>always</a:t>
            </a:r>
            <a:r>
              <a:rPr lang="it-IT" dirty="0"/>
              <a:t> be </a:t>
            </a:r>
            <a:r>
              <a:rPr lang="it-IT" dirty="0" err="1"/>
              <a:t>included</a:t>
            </a:r>
            <a:br>
              <a:rPr lang="it-IT" dirty="0"/>
            </a:br>
            <a:r>
              <a:rPr lang="it-IT" dirty="0"/>
              <a:t>Use the </a:t>
            </a:r>
            <a:r>
              <a:rPr lang="it-IT" dirty="0" err="1"/>
              <a:t>same</a:t>
            </a:r>
            <a:r>
              <a:rPr lang="it-IT" dirty="0"/>
              <a:t> style, do </a:t>
            </a:r>
            <a:r>
              <a:rPr lang="it-IT" dirty="0" err="1"/>
              <a:t>not</a:t>
            </a:r>
            <a:r>
              <a:rPr lang="it-IT" dirty="0"/>
              <a:t> </a:t>
            </a:r>
            <a:r>
              <a:rPr lang="it-IT" dirty="0" err="1"/>
              <a:t>write</a:t>
            </a:r>
            <a:r>
              <a:rPr lang="it-IT" dirty="0"/>
              <a:t> more text </a:t>
            </a:r>
            <a:r>
              <a:rPr lang="it-IT" dirty="0" err="1"/>
              <a:t>than</a:t>
            </a:r>
            <a:r>
              <a:rPr lang="it-IT" dirty="0"/>
              <a:t> </a:t>
            </a:r>
            <a:r>
              <a:rPr lang="it-IT" dirty="0" err="1"/>
              <a:t>necessary</a:t>
            </a:r>
            <a:r>
              <a:rPr lang="it-IT" dirty="0"/>
              <a:t> (short, concise bullet points are </a:t>
            </a:r>
            <a:r>
              <a:rPr lang="it-IT" dirty="0" err="1"/>
              <a:t>often</a:t>
            </a:r>
            <a:r>
              <a:rPr lang="it-IT" dirty="0"/>
              <a:t> </a:t>
            </a:r>
            <a:r>
              <a:rPr lang="it-IT" dirty="0" err="1"/>
              <a:t>enough</a:t>
            </a:r>
            <a:r>
              <a:rPr lang="it-IT" dirty="0"/>
              <a:t>)</a:t>
            </a:r>
            <a:endParaRPr lang="en-GB" dirty="0"/>
          </a:p>
        </p:txBody>
      </p:sp>
      <p:sp>
        <p:nvSpPr>
          <p:cNvPr id="12" name="Textfeld 11">
            <a:extLst>
              <a:ext uri="{FF2B5EF4-FFF2-40B4-BE49-F238E27FC236}">
                <a16:creationId xmlns:a16="http://schemas.microsoft.com/office/drawing/2014/main" id="{5BA9FE0F-4438-A90E-178E-370DFB88F067}"/>
              </a:ext>
            </a:extLst>
          </p:cNvPr>
          <p:cNvSpPr txBox="1"/>
          <p:nvPr/>
        </p:nvSpPr>
        <p:spPr>
          <a:xfrm>
            <a:off x="812800" y="6219031"/>
            <a:ext cx="2120901" cy="307777"/>
          </a:xfrm>
          <a:prstGeom prst="rect">
            <a:avLst/>
          </a:prstGeom>
          <a:noFill/>
        </p:spPr>
        <p:txBody>
          <a:bodyPr wrap="square" rtlCol="0">
            <a:spAutoFit/>
          </a:bodyPr>
          <a:lstStyle/>
          <a:p>
            <a:r>
              <a:rPr lang="de-DE" sz="1400" dirty="0"/>
              <a:t>[1], [2]….</a:t>
            </a:r>
          </a:p>
        </p:txBody>
      </p:sp>
      <p:cxnSp>
        <p:nvCxnSpPr>
          <p:cNvPr id="13" name="Straight Arrow Connector 21">
            <a:extLst>
              <a:ext uri="{FF2B5EF4-FFF2-40B4-BE49-F238E27FC236}">
                <a16:creationId xmlns:a16="http://schemas.microsoft.com/office/drawing/2014/main" id="{C9F1C9AE-6377-666B-8F06-CF0B8B317160}"/>
              </a:ext>
            </a:extLst>
          </p:cNvPr>
          <p:cNvCxnSpPr>
            <a:cxnSpLocks/>
          </p:cNvCxnSpPr>
          <p:nvPr/>
        </p:nvCxnSpPr>
        <p:spPr>
          <a:xfrm flipH="1">
            <a:off x="1502229" y="4898571"/>
            <a:ext cx="1487714" cy="131838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7">
            <a:extLst>
              <a:ext uri="{FF2B5EF4-FFF2-40B4-BE49-F238E27FC236}">
                <a16:creationId xmlns:a16="http://schemas.microsoft.com/office/drawing/2014/main" id="{8C56F642-24B4-9889-6DFF-DDDACEFB7E68}"/>
              </a:ext>
            </a:extLst>
          </p:cNvPr>
          <p:cNvSpPr/>
          <p:nvPr/>
        </p:nvSpPr>
        <p:spPr>
          <a:xfrm>
            <a:off x="5256400" y="1634301"/>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5" name="Datumsplatzhalter 14">
            <a:extLst>
              <a:ext uri="{FF2B5EF4-FFF2-40B4-BE49-F238E27FC236}">
                <a16:creationId xmlns:a16="http://schemas.microsoft.com/office/drawing/2014/main" id="{F5B6D5E1-3173-F7DB-AFEA-577613F3A0E2}"/>
              </a:ext>
            </a:extLst>
          </p:cNvPr>
          <p:cNvSpPr>
            <a:spLocks noGrp="1"/>
          </p:cNvSpPr>
          <p:nvPr>
            <p:ph type="dt" sz="half" idx="10"/>
          </p:nvPr>
        </p:nvSpPr>
        <p:spPr/>
        <p:txBody>
          <a:bodyPr/>
          <a:lstStyle/>
          <a:p>
            <a:r>
              <a:rPr lang="en-US"/>
              <a:t>25/11/2025</a:t>
            </a:r>
          </a:p>
        </p:txBody>
      </p:sp>
      <p:sp>
        <p:nvSpPr>
          <p:cNvPr id="16" name="Fußzeilenplatzhalter 15">
            <a:extLst>
              <a:ext uri="{FF2B5EF4-FFF2-40B4-BE49-F238E27FC236}">
                <a16:creationId xmlns:a16="http://schemas.microsoft.com/office/drawing/2014/main" id="{4201E827-9609-58AA-70BC-996E2AD05F8D}"/>
              </a:ext>
            </a:extLst>
          </p:cNvPr>
          <p:cNvSpPr>
            <a:spLocks noGrp="1"/>
          </p:cNvSpPr>
          <p:nvPr>
            <p:ph type="ftr" sz="quarter" idx="11"/>
          </p:nvPr>
        </p:nvSpPr>
        <p:spPr/>
        <p:txBody>
          <a:bodyPr/>
          <a:lstStyle/>
          <a:p>
            <a:r>
              <a:rPr lang="sv-SE"/>
              <a:t>Feedback &amp; Lidar Controller  / Optimus Syria</a:t>
            </a:r>
            <a:endParaRPr lang="en-US"/>
          </a:p>
        </p:txBody>
      </p:sp>
      <p:sp>
        <p:nvSpPr>
          <p:cNvPr id="17" name="Foliennummernplatzhalter 16">
            <a:extLst>
              <a:ext uri="{FF2B5EF4-FFF2-40B4-BE49-F238E27FC236}">
                <a16:creationId xmlns:a16="http://schemas.microsoft.com/office/drawing/2014/main" id="{DE013F6E-0CEE-85C3-4AD1-ADEED88F5D1E}"/>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8" name="Textplatzhalter 16">
            <a:extLst>
              <a:ext uri="{FF2B5EF4-FFF2-40B4-BE49-F238E27FC236}">
                <a16:creationId xmlns:a16="http://schemas.microsoft.com/office/drawing/2014/main" id="{4C7AB516-D061-772D-6849-99EBB4468916}"/>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765741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ext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 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r>
              <a:rPr lang="de-DE" dirty="0"/>
              <a:t>   </a:t>
            </a:r>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endParaRPr lang="de-DE" dirty="0"/>
          </a:p>
          <a:p>
            <a:pPr lvl="1"/>
            <a:r>
              <a:rPr lang="de-DE" dirty="0" err="1"/>
              <a:t>efgh</a:t>
            </a:r>
            <a:endParaRPr lang="de-DE" dirty="0"/>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Textplatzhalter 16">
            <a:extLst>
              <a:ext uri="{FF2B5EF4-FFF2-40B4-BE49-F238E27FC236}">
                <a16:creationId xmlns:a16="http://schemas.microsoft.com/office/drawing/2014/main" id="{479D6A9B-7716-D398-EE18-2F2D6AC11B70}"/>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
        <p:nvSpPr>
          <p:cNvPr id="9" name="Datumsplatzhalter 8">
            <a:extLst>
              <a:ext uri="{FF2B5EF4-FFF2-40B4-BE49-F238E27FC236}">
                <a16:creationId xmlns:a16="http://schemas.microsoft.com/office/drawing/2014/main" id="{45BE17EA-55E6-D579-4D1F-7901F944C6AA}"/>
              </a:ext>
            </a:extLst>
          </p:cNvPr>
          <p:cNvSpPr>
            <a:spLocks noGrp="1"/>
          </p:cNvSpPr>
          <p:nvPr>
            <p:ph type="dt" sz="half" idx="19"/>
          </p:nvPr>
        </p:nvSpPr>
        <p:spPr/>
        <p:txBody>
          <a:bodyPr/>
          <a:lstStyle/>
          <a:p>
            <a:r>
              <a:rPr lang="en-US"/>
              <a:t>25/11/2025</a:t>
            </a:r>
          </a:p>
        </p:txBody>
      </p:sp>
      <p:sp>
        <p:nvSpPr>
          <p:cNvPr id="10" name="Fußzeilenplatzhalter 9">
            <a:extLst>
              <a:ext uri="{FF2B5EF4-FFF2-40B4-BE49-F238E27FC236}">
                <a16:creationId xmlns:a16="http://schemas.microsoft.com/office/drawing/2014/main" id="{810CEF70-3482-4FC0-A3A4-7FB408C94A42}"/>
              </a:ext>
            </a:extLst>
          </p:cNvPr>
          <p:cNvSpPr>
            <a:spLocks noGrp="1"/>
          </p:cNvSpPr>
          <p:nvPr>
            <p:ph type="ftr" sz="quarter" idx="20"/>
          </p:nvPr>
        </p:nvSpPr>
        <p:spPr/>
        <p:txBody>
          <a:bodyPr/>
          <a:lstStyle/>
          <a:p>
            <a:r>
              <a:rPr lang="sv-SE"/>
              <a:t>Feedback &amp; Lidar Controller  / Optimus Syria</a:t>
            </a:r>
            <a:endParaRPr lang="en-US"/>
          </a:p>
        </p:txBody>
      </p:sp>
      <p:sp>
        <p:nvSpPr>
          <p:cNvPr id="11" name="Foliennummernplatzhalter 10">
            <a:extLst>
              <a:ext uri="{FF2B5EF4-FFF2-40B4-BE49-F238E27FC236}">
                <a16:creationId xmlns:a16="http://schemas.microsoft.com/office/drawing/2014/main" id="{4879E7A9-C563-396E-C6B6-B45497D433BD}"/>
              </a:ext>
            </a:extLst>
          </p:cNvPr>
          <p:cNvSpPr>
            <a:spLocks noGrp="1"/>
          </p:cNvSpPr>
          <p:nvPr>
            <p:ph type="sldNum" sz="quarter" idx="21"/>
          </p:nvPr>
        </p:nvSpPr>
        <p:spPr/>
        <p:txBody>
          <a:bodyPr/>
          <a:lstStyle/>
          <a:p>
            <a:fld id="{3A84E93A-72FE-4BB6-A500-FB6DD421822B}" type="slidenum">
              <a:rPr lang="en-US" smtClean="0"/>
              <a:t>‹#›</a:t>
            </a:fld>
            <a:endParaRPr lang="en-US"/>
          </a:p>
        </p:txBody>
      </p:sp>
      <p:sp>
        <p:nvSpPr>
          <p:cNvPr id="5" name="Textplatzhalter 4">
            <a:extLst>
              <a:ext uri="{FF2B5EF4-FFF2-40B4-BE49-F238E27FC236}">
                <a16:creationId xmlns:a16="http://schemas.microsoft.com/office/drawing/2014/main" id="{9AB8CDF8-03C0-DF20-0ABC-80A78BDABFB2}"/>
              </a:ext>
            </a:extLst>
          </p:cNvPr>
          <p:cNvSpPr>
            <a:spLocks noGrp="1"/>
          </p:cNvSpPr>
          <p:nvPr>
            <p:ph type="body" sz="quarter" idx="22" hasCustomPrompt="1"/>
          </p:nvPr>
        </p:nvSpPr>
        <p:spPr>
          <a:xfrm>
            <a:off x="749023" y="6216958"/>
            <a:ext cx="2248453" cy="309850"/>
          </a:xfrm>
        </p:spPr>
        <p:txBody>
          <a:bodyPr/>
          <a:lstStyle>
            <a:lvl2pPr marL="457200" indent="0">
              <a:buNone/>
              <a:defRPr/>
            </a:lvl2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ptos" panose="02110004020202020204"/>
                <a:ea typeface="+mn-ea"/>
                <a:cs typeface="+mn-cs"/>
              </a:rPr>
              <a:t>[1], [2]….</a:t>
            </a:r>
          </a:p>
          <a:p>
            <a:pPr lvl="1"/>
            <a:endParaRPr lang="en-GB" dirty="0"/>
          </a:p>
        </p:txBody>
      </p:sp>
    </p:spTree>
    <p:extLst>
      <p:ext uri="{BB962C8B-B14F-4D97-AF65-F5344CB8AC3E}">
        <p14:creationId xmlns:p14="http://schemas.microsoft.com/office/powerpoint/2010/main" val="2249233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ubitem (Explana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1-i. </a:t>
            </a:r>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endParaRPr lang="de-DE" dirty="0"/>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r>
              <a:rPr lang="de-DE" dirty="0"/>
              <a:t> (</a:t>
            </a:r>
            <a:r>
              <a:rPr lang="de-DE" dirty="0" err="1"/>
              <a:t>Aptos</a:t>
            </a:r>
            <a:r>
              <a:rPr lang="de-DE" dirty="0"/>
              <a:t> 22)</a:t>
            </a:r>
          </a:p>
          <a:p>
            <a:pPr lvl="1"/>
            <a:r>
              <a:rPr lang="de-DE" dirty="0" err="1"/>
              <a:t>efgh</a:t>
            </a:r>
            <a:r>
              <a:rPr lang="de-DE" dirty="0"/>
              <a:t> (</a:t>
            </a:r>
            <a:r>
              <a:rPr lang="de-DE" dirty="0" err="1"/>
              <a:t>Aptos</a:t>
            </a:r>
            <a:r>
              <a:rPr lang="de-DE" dirty="0"/>
              <a:t> 20)</a:t>
            </a:r>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Isosceles Triangle 6">
            <a:extLst>
              <a:ext uri="{FF2B5EF4-FFF2-40B4-BE49-F238E27FC236}">
                <a16:creationId xmlns:a16="http://schemas.microsoft.com/office/drawing/2014/main" id="{703A19AF-E449-D353-12E1-A3DAF32E3EAB}"/>
              </a:ext>
            </a:extLst>
          </p:cNvPr>
          <p:cNvSpPr/>
          <p:nvPr/>
        </p:nvSpPr>
        <p:spPr>
          <a:xfrm>
            <a:off x="5218873" y="2853022"/>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12" name="Rectangle 7">
            <a:extLst>
              <a:ext uri="{FF2B5EF4-FFF2-40B4-BE49-F238E27FC236}">
                <a16:creationId xmlns:a16="http://schemas.microsoft.com/office/drawing/2014/main" id="{650D751B-3D4C-8864-D7F4-6EC8348A31EE}"/>
              </a:ext>
            </a:extLst>
          </p:cNvPr>
          <p:cNvSpPr/>
          <p:nvPr/>
        </p:nvSpPr>
        <p:spPr>
          <a:xfrm>
            <a:off x="4025317" y="4094711"/>
            <a:ext cx="3933255" cy="1298198"/>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a:t>
            </a:r>
            <a:r>
              <a:rPr lang="it-IT" dirty="0" err="1"/>
              <a:t>is</a:t>
            </a:r>
            <a:r>
              <a:rPr lang="it-IT" dirty="0"/>
              <a:t> an </a:t>
            </a:r>
            <a:r>
              <a:rPr lang="it-IT" dirty="0" err="1"/>
              <a:t>example</a:t>
            </a:r>
            <a:r>
              <a:rPr lang="it-IT" dirty="0"/>
              <a:t> BUT </a:t>
            </a:r>
            <a:r>
              <a:rPr lang="it-IT" dirty="0" err="1"/>
              <a:t>if</a:t>
            </a:r>
            <a:r>
              <a:rPr lang="it-IT" dirty="0"/>
              <a:t> </a:t>
            </a:r>
            <a:r>
              <a:rPr lang="it-IT" dirty="0" err="1"/>
              <a:t>you</a:t>
            </a:r>
            <a:r>
              <a:rPr lang="it-IT" dirty="0"/>
              <a:t> use </a:t>
            </a:r>
            <a:r>
              <a:rPr lang="it-IT" dirty="0" err="1"/>
              <a:t>underpoints</a:t>
            </a:r>
            <a:r>
              <a:rPr lang="it-IT" dirty="0"/>
              <a:t> </a:t>
            </a:r>
            <a:r>
              <a:rPr lang="it-IT" dirty="0" err="1"/>
              <a:t>please</a:t>
            </a:r>
            <a:r>
              <a:rPr lang="it-IT" dirty="0"/>
              <a:t> with the i, ii, iii….</a:t>
            </a:r>
            <a:endParaRPr lang="en-GB" dirty="0"/>
          </a:p>
        </p:txBody>
      </p:sp>
      <p:sp>
        <p:nvSpPr>
          <p:cNvPr id="13" name="Rectangle 11">
            <a:extLst>
              <a:ext uri="{FF2B5EF4-FFF2-40B4-BE49-F238E27FC236}">
                <a16:creationId xmlns:a16="http://schemas.microsoft.com/office/drawing/2014/main" id="{9BDEC9EB-F30A-F42A-26C3-F9AE08765705}"/>
              </a:ext>
            </a:extLst>
          </p:cNvPr>
          <p:cNvSpPr/>
          <p:nvPr/>
        </p:nvSpPr>
        <p:spPr>
          <a:xfrm>
            <a:off x="5727842" y="3001184"/>
            <a:ext cx="542886"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8" name="Rectangle 7">
            <a:extLst>
              <a:ext uri="{FF2B5EF4-FFF2-40B4-BE49-F238E27FC236}">
                <a16:creationId xmlns:a16="http://schemas.microsoft.com/office/drawing/2014/main" id="{454BA2A1-6BBA-CA7A-578A-6529C5AD3CFE}"/>
              </a:ext>
            </a:extLst>
          </p:cNvPr>
          <p:cNvSpPr/>
          <p:nvPr/>
        </p:nvSpPr>
        <p:spPr>
          <a:xfrm>
            <a:off x="927758" y="2796999"/>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9" name="Datumsplatzhalter 8">
            <a:extLst>
              <a:ext uri="{FF2B5EF4-FFF2-40B4-BE49-F238E27FC236}">
                <a16:creationId xmlns:a16="http://schemas.microsoft.com/office/drawing/2014/main" id="{19E5AF50-94A3-4308-3B68-BAD76E7A7B09}"/>
              </a:ext>
            </a:extLst>
          </p:cNvPr>
          <p:cNvSpPr>
            <a:spLocks noGrp="1"/>
          </p:cNvSpPr>
          <p:nvPr>
            <p:ph type="dt" sz="half" idx="10"/>
          </p:nvPr>
        </p:nvSpPr>
        <p:spPr/>
        <p:txBody>
          <a:bodyPr/>
          <a:lstStyle/>
          <a:p>
            <a:r>
              <a:rPr lang="en-US"/>
              <a:t>25/11/2025</a:t>
            </a:r>
          </a:p>
        </p:txBody>
      </p:sp>
      <p:sp>
        <p:nvSpPr>
          <p:cNvPr id="10" name="Fußzeilenplatzhalter 9">
            <a:extLst>
              <a:ext uri="{FF2B5EF4-FFF2-40B4-BE49-F238E27FC236}">
                <a16:creationId xmlns:a16="http://schemas.microsoft.com/office/drawing/2014/main" id="{9798D87B-B794-AD8A-40F1-DEA4D547F712}"/>
              </a:ext>
            </a:extLst>
          </p:cNvPr>
          <p:cNvSpPr>
            <a:spLocks noGrp="1"/>
          </p:cNvSpPr>
          <p:nvPr>
            <p:ph type="ftr" sz="quarter" idx="11"/>
          </p:nvPr>
        </p:nvSpPr>
        <p:spPr/>
        <p:txBody>
          <a:bodyPr/>
          <a:lstStyle/>
          <a:p>
            <a:r>
              <a:rPr lang="sv-SE"/>
              <a:t>Feedback &amp; Lidar Controller  / Optimus Syria</a:t>
            </a:r>
            <a:endParaRPr lang="en-US"/>
          </a:p>
        </p:txBody>
      </p:sp>
      <p:sp>
        <p:nvSpPr>
          <p:cNvPr id="14" name="Foliennummernplatzhalter 13">
            <a:extLst>
              <a:ext uri="{FF2B5EF4-FFF2-40B4-BE49-F238E27FC236}">
                <a16:creationId xmlns:a16="http://schemas.microsoft.com/office/drawing/2014/main" id="{5E6253E5-E305-7986-3017-8FAC6F34DD9C}"/>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5" name="Textplatzhalter 16">
            <a:extLst>
              <a:ext uri="{FF2B5EF4-FFF2-40B4-BE49-F238E27FC236}">
                <a16:creationId xmlns:a16="http://schemas.microsoft.com/office/drawing/2014/main" id="{7E202380-1BD6-7A10-C51A-497A42391B9C}"/>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366636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Subite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1-i. </a:t>
            </a:r>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endParaRPr lang="de-DE" dirty="0"/>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endParaRPr lang="de-DE" dirty="0"/>
          </a:p>
          <a:p>
            <a:pPr lvl="1"/>
            <a:r>
              <a:rPr lang="de-DE" dirty="0" err="1"/>
              <a:t>efgh</a:t>
            </a:r>
            <a:endParaRPr lang="de-DE" dirty="0"/>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Datumsplatzhalter 7">
            <a:extLst>
              <a:ext uri="{FF2B5EF4-FFF2-40B4-BE49-F238E27FC236}">
                <a16:creationId xmlns:a16="http://schemas.microsoft.com/office/drawing/2014/main" id="{5228F91E-E7AD-B275-5A60-89428222DD8C}"/>
              </a:ext>
            </a:extLst>
          </p:cNvPr>
          <p:cNvSpPr>
            <a:spLocks noGrp="1"/>
          </p:cNvSpPr>
          <p:nvPr>
            <p:ph type="dt" sz="half" idx="10"/>
          </p:nvPr>
        </p:nvSpPr>
        <p:spPr/>
        <p:txBody>
          <a:bodyPr/>
          <a:lstStyle/>
          <a:p>
            <a:r>
              <a:rPr lang="en-US"/>
              <a:t>25/11/2025</a:t>
            </a:r>
          </a:p>
        </p:txBody>
      </p:sp>
      <p:sp>
        <p:nvSpPr>
          <p:cNvPr id="9" name="Fußzeilenplatzhalter 8">
            <a:extLst>
              <a:ext uri="{FF2B5EF4-FFF2-40B4-BE49-F238E27FC236}">
                <a16:creationId xmlns:a16="http://schemas.microsoft.com/office/drawing/2014/main" id="{8F4F81C7-2C44-8CF8-2928-655E74DC8F30}"/>
              </a:ext>
            </a:extLst>
          </p:cNvPr>
          <p:cNvSpPr>
            <a:spLocks noGrp="1"/>
          </p:cNvSpPr>
          <p:nvPr>
            <p:ph type="ftr" sz="quarter" idx="11"/>
          </p:nvPr>
        </p:nvSpPr>
        <p:spPr/>
        <p:txBody>
          <a:bodyPr/>
          <a:lstStyle/>
          <a:p>
            <a:r>
              <a:rPr lang="sv-SE"/>
              <a:t>Feedback &amp; Lidar Controller  / Optimus Syria</a:t>
            </a:r>
            <a:endParaRPr lang="en-US"/>
          </a:p>
        </p:txBody>
      </p:sp>
      <p:sp>
        <p:nvSpPr>
          <p:cNvPr id="10" name="Foliennummernplatzhalter 9">
            <a:extLst>
              <a:ext uri="{FF2B5EF4-FFF2-40B4-BE49-F238E27FC236}">
                <a16:creationId xmlns:a16="http://schemas.microsoft.com/office/drawing/2014/main" id="{260D8F3F-3088-D685-66AD-D2110FD402DA}"/>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1" name="Textplatzhalter 16">
            <a:extLst>
              <a:ext uri="{FF2B5EF4-FFF2-40B4-BE49-F238E27FC236}">
                <a16:creationId xmlns:a16="http://schemas.microsoft.com/office/drawing/2014/main" id="{29BD9540-0DAC-F607-0D84-145CAF084DCB}"/>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
        <p:nvSpPr>
          <p:cNvPr id="4" name="Textplatzhalter 4">
            <a:extLst>
              <a:ext uri="{FF2B5EF4-FFF2-40B4-BE49-F238E27FC236}">
                <a16:creationId xmlns:a16="http://schemas.microsoft.com/office/drawing/2014/main" id="{9943038B-A8F9-48D6-0A29-94D4AA659F65}"/>
              </a:ext>
            </a:extLst>
          </p:cNvPr>
          <p:cNvSpPr>
            <a:spLocks noGrp="1"/>
          </p:cNvSpPr>
          <p:nvPr>
            <p:ph type="body" sz="quarter" idx="22" hasCustomPrompt="1"/>
          </p:nvPr>
        </p:nvSpPr>
        <p:spPr>
          <a:xfrm>
            <a:off x="749023" y="6216958"/>
            <a:ext cx="2248453" cy="309850"/>
          </a:xfrm>
        </p:spPr>
        <p:txBody>
          <a:bodyPr/>
          <a:lstStyle>
            <a:lvl2pPr marL="457200" indent="0">
              <a:buNone/>
              <a:defRPr/>
            </a:lvl2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ptos" panose="02110004020202020204"/>
                <a:ea typeface="+mn-ea"/>
                <a:cs typeface="+mn-cs"/>
              </a:rPr>
              <a:t>[1], [2]….</a:t>
            </a:r>
          </a:p>
          <a:p>
            <a:pPr lvl="1"/>
            <a:endParaRPr lang="en-GB" dirty="0"/>
          </a:p>
        </p:txBody>
      </p:sp>
    </p:spTree>
    <p:extLst>
      <p:ext uri="{BB962C8B-B14F-4D97-AF65-F5344CB8AC3E}">
        <p14:creationId xmlns:p14="http://schemas.microsoft.com/office/powerpoint/2010/main" val="845341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raph Slide (Explan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7C287-18A0-EB82-8A27-F94CA3880D06}"/>
              </a:ext>
            </a:extLst>
          </p:cNvPr>
          <p:cNvSpPr>
            <a:spLocks noGrp="1"/>
          </p:cNvSpPr>
          <p:nvPr>
            <p:ph type="title" hasCustomPrompt="1"/>
          </p:nvPr>
        </p:nvSpPr>
        <p:spPr/>
        <p:txBody>
          <a:bodyPr/>
          <a:lstStyle>
            <a:lvl1pPr>
              <a:defRPr/>
            </a:lvl1pPr>
          </a:lstStyle>
          <a:p>
            <a:r>
              <a:rPr lang="de-DE" dirty="0"/>
              <a:t>X. Graph</a:t>
            </a:r>
            <a:endParaRPr lang="en-GB" dirty="0"/>
          </a:p>
        </p:txBody>
      </p:sp>
      <p:pic>
        <p:nvPicPr>
          <p:cNvPr id="6" name="Picture 2" descr="How HOMER Calculates Wind Turbine Power Output">
            <a:extLst>
              <a:ext uri="{FF2B5EF4-FFF2-40B4-BE49-F238E27FC236}">
                <a16:creationId xmlns:a16="http://schemas.microsoft.com/office/drawing/2014/main" id="{002A61B1-6859-B9E0-5E8D-876C02B28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724" y="1939999"/>
            <a:ext cx="5429250" cy="30670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2">
            <a:extLst>
              <a:ext uri="{FF2B5EF4-FFF2-40B4-BE49-F238E27FC236}">
                <a16:creationId xmlns:a16="http://schemas.microsoft.com/office/drawing/2014/main" id="{70DEEB4B-BB48-7BA1-DC37-D3F70525E158}"/>
              </a:ext>
            </a:extLst>
          </p:cNvPr>
          <p:cNvSpPr txBox="1"/>
          <p:nvPr/>
        </p:nvSpPr>
        <p:spPr>
          <a:xfrm>
            <a:off x="764619" y="5102669"/>
            <a:ext cx="5187461" cy="600164"/>
          </a:xfrm>
          <a:prstGeom prst="rect">
            <a:avLst/>
          </a:prstGeom>
          <a:noFill/>
        </p:spPr>
        <p:txBody>
          <a:bodyPr wrap="square" rtlCol="0">
            <a:spAutoFit/>
          </a:bodyPr>
          <a:lstStyle/>
          <a:p>
            <a:r>
              <a:rPr lang="it-IT" sz="1100" dirty="0"/>
              <a:t>(</a:t>
            </a:r>
            <a:r>
              <a:rPr lang="it-IT" sz="1100" dirty="0" err="1"/>
              <a:t>Description</a:t>
            </a:r>
            <a:r>
              <a:rPr lang="it-IT" sz="1100" dirty="0"/>
              <a:t> of the </a:t>
            </a:r>
            <a:r>
              <a:rPr lang="it-IT" sz="1100" dirty="0" err="1"/>
              <a:t>graph</a:t>
            </a:r>
            <a:r>
              <a:rPr lang="it-IT" sz="1100" dirty="0"/>
              <a:t>, </a:t>
            </a:r>
            <a:r>
              <a:rPr lang="it-IT" sz="1100" dirty="0" err="1"/>
              <a:t>example</a:t>
            </a:r>
            <a:r>
              <a:rPr lang="it-IT" sz="1100" dirty="0"/>
              <a:t>: </a:t>
            </a:r>
            <a:r>
              <a:rPr lang="it-IT" sz="1100" i="1" dirty="0"/>
              <a:t>power curve power over wind speed</a:t>
            </a:r>
            <a:r>
              <a:rPr lang="it-IT" sz="1100" dirty="0"/>
              <a:t> )</a:t>
            </a:r>
          </a:p>
          <a:p>
            <a:r>
              <a:rPr lang="it-IT" sz="1100" dirty="0"/>
              <a:t>(</a:t>
            </a:r>
            <a:r>
              <a:rPr lang="it-IT" sz="1100" dirty="0" err="1"/>
              <a:t>Citation</a:t>
            </a:r>
            <a:r>
              <a:rPr lang="it-IT" sz="1100" dirty="0"/>
              <a:t> of the sources, </a:t>
            </a:r>
            <a:r>
              <a:rPr lang="it-IT" sz="1100" dirty="0" err="1"/>
              <a:t>example</a:t>
            </a:r>
            <a:r>
              <a:rPr lang="it-IT" sz="1100" dirty="0"/>
              <a:t>:</a:t>
            </a:r>
            <a:r>
              <a:rPr lang="it-IT" sz="1100" b="1" dirty="0"/>
              <a:t> </a:t>
            </a:r>
            <a:r>
              <a:rPr lang="it-IT" sz="1100" b="0" dirty="0"/>
              <a:t>[1] </a:t>
            </a:r>
            <a:r>
              <a:rPr lang="it-IT" sz="1100" dirty="0"/>
              <a:t>)  </a:t>
            </a:r>
          </a:p>
          <a:p>
            <a:r>
              <a:rPr lang="it-IT" sz="1100" dirty="0"/>
              <a:t>(Last date of access, </a:t>
            </a:r>
            <a:r>
              <a:rPr lang="it-IT" sz="1100" dirty="0" err="1"/>
              <a:t>example</a:t>
            </a:r>
            <a:r>
              <a:rPr lang="it-IT" sz="1100" dirty="0"/>
              <a:t>: 21/12/2015)</a:t>
            </a:r>
            <a:endParaRPr lang="en-GB" sz="1100" dirty="0"/>
          </a:p>
        </p:txBody>
      </p:sp>
      <p:cxnSp>
        <p:nvCxnSpPr>
          <p:cNvPr id="8" name="Connector: Elbow 6">
            <a:extLst>
              <a:ext uri="{FF2B5EF4-FFF2-40B4-BE49-F238E27FC236}">
                <a16:creationId xmlns:a16="http://schemas.microsoft.com/office/drawing/2014/main" id="{7A01EE56-12C5-DD96-C172-C145A0ED64CB}"/>
              </a:ext>
            </a:extLst>
          </p:cNvPr>
          <p:cNvCxnSpPr>
            <a:cxnSpLocks/>
          </p:cNvCxnSpPr>
          <p:nvPr/>
        </p:nvCxnSpPr>
        <p:spPr>
          <a:xfrm rot="10800000" flipV="1">
            <a:off x="3791371" y="4238699"/>
            <a:ext cx="4563205" cy="1222134"/>
          </a:xfrm>
          <a:prstGeom prst="bent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Oval 15">
            <a:extLst>
              <a:ext uri="{FF2B5EF4-FFF2-40B4-BE49-F238E27FC236}">
                <a16:creationId xmlns:a16="http://schemas.microsoft.com/office/drawing/2014/main" id="{EE3D1715-661B-80A0-F167-264ACC369A68}"/>
              </a:ext>
            </a:extLst>
          </p:cNvPr>
          <p:cNvSpPr/>
          <p:nvPr/>
        </p:nvSpPr>
        <p:spPr>
          <a:xfrm>
            <a:off x="7796637" y="3405202"/>
            <a:ext cx="3922209" cy="2011693"/>
          </a:xfrm>
          <a:prstGeom prst="ellipse">
            <a:avLst/>
          </a:prstGeom>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it-IT" sz="1400" dirty="0" err="1"/>
              <a:t>Add</a:t>
            </a:r>
            <a:r>
              <a:rPr lang="it-IT" sz="1400" dirty="0"/>
              <a:t> a link to the </a:t>
            </a:r>
            <a:r>
              <a:rPr lang="it-IT" sz="1400" dirty="0" err="1"/>
              <a:t>reference</a:t>
            </a:r>
            <a:r>
              <a:rPr lang="it-IT" sz="1400" dirty="0"/>
              <a:t> </a:t>
            </a:r>
            <a:r>
              <a:rPr lang="it-IT" sz="1400" dirty="0" err="1"/>
              <a:t>number</a:t>
            </a:r>
            <a:r>
              <a:rPr lang="it-IT" sz="1400" dirty="0"/>
              <a:t> </a:t>
            </a:r>
            <a:r>
              <a:rPr lang="it-IT" sz="1400" dirty="0" err="1"/>
              <a:t>that</a:t>
            </a:r>
            <a:r>
              <a:rPr lang="it-IT" sz="1400" dirty="0"/>
              <a:t> </a:t>
            </a:r>
            <a:r>
              <a:rPr lang="it-IT" sz="1400" dirty="0" err="1"/>
              <a:t>goes</a:t>
            </a:r>
            <a:r>
              <a:rPr lang="it-IT" sz="1400" dirty="0"/>
              <a:t> to the last slide: highlight the </a:t>
            </a:r>
            <a:r>
              <a:rPr lang="it-IT" sz="1400" dirty="0" err="1"/>
              <a:t>number</a:t>
            </a:r>
            <a:r>
              <a:rPr lang="it-IT" sz="1400" dirty="0"/>
              <a:t>-&gt;</a:t>
            </a:r>
            <a:r>
              <a:rPr lang="it-IT" sz="1400" dirty="0" err="1"/>
              <a:t>right</a:t>
            </a:r>
            <a:r>
              <a:rPr lang="it-IT" sz="1400" dirty="0"/>
              <a:t> click-&gt;</a:t>
            </a:r>
            <a:r>
              <a:rPr lang="it-IT" sz="1400" dirty="0" err="1"/>
              <a:t>select</a:t>
            </a:r>
            <a:r>
              <a:rPr lang="it-IT" sz="1400" dirty="0"/>
              <a:t> link-&gt;place in </a:t>
            </a:r>
            <a:r>
              <a:rPr lang="it-IT" sz="1400" dirty="0" err="1"/>
              <a:t>this</a:t>
            </a:r>
            <a:r>
              <a:rPr lang="it-IT" sz="1400" dirty="0"/>
              <a:t> </a:t>
            </a:r>
            <a:r>
              <a:rPr lang="it-IT" sz="1400" dirty="0" err="1"/>
              <a:t>document</a:t>
            </a:r>
            <a:r>
              <a:rPr lang="it-IT" sz="1400" dirty="0"/>
              <a:t>-&gt;</a:t>
            </a:r>
            <a:r>
              <a:rPr lang="it-IT" sz="1400" dirty="0" err="1"/>
              <a:t>select</a:t>
            </a:r>
            <a:r>
              <a:rPr lang="it-IT" sz="1400" dirty="0"/>
              <a:t> last slide</a:t>
            </a:r>
            <a:endParaRPr lang="en-GB" sz="1400" dirty="0"/>
          </a:p>
        </p:txBody>
      </p:sp>
      <p:cxnSp>
        <p:nvCxnSpPr>
          <p:cNvPr id="10" name="Straight Connector 5">
            <a:extLst>
              <a:ext uri="{FF2B5EF4-FFF2-40B4-BE49-F238E27FC236}">
                <a16:creationId xmlns:a16="http://schemas.microsoft.com/office/drawing/2014/main" id="{9CCD7462-E12C-CDA3-D609-4AB679728A2E}"/>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Rectangle 7">
            <a:extLst>
              <a:ext uri="{FF2B5EF4-FFF2-40B4-BE49-F238E27FC236}">
                <a16:creationId xmlns:a16="http://schemas.microsoft.com/office/drawing/2014/main" id="{A1188C36-D6CB-FA53-013E-FC56AD427952}"/>
              </a:ext>
            </a:extLst>
          </p:cNvPr>
          <p:cNvSpPr/>
          <p:nvPr/>
        </p:nvSpPr>
        <p:spPr>
          <a:xfrm>
            <a:off x="6495002" y="1875014"/>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2" name="Datumsplatzhalter 11">
            <a:extLst>
              <a:ext uri="{FF2B5EF4-FFF2-40B4-BE49-F238E27FC236}">
                <a16:creationId xmlns:a16="http://schemas.microsoft.com/office/drawing/2014/main" id="{749D4654-CB69-04EA-986A-2264B7AF439E}"/>
              </a:ext>
            </a:extLst>
          </p:cNvPr>
          <p:cNvSpPr>
            <a:spLocks noGrp="1"/>
          </p:cNvSpPr>
          <p:nvPr>
            <p:ph type="dt" sz="half" idx="10"/>
          </p:nvPr>
        </p:nvSpPr>
        <p:spPr/>
        <p:txBody>
          <a:bodyPr/>
          <a:lstStyle/>
          <a:p>
            <a:r>
              <a:rPr lang="en-US"/>
              <a:t>25/11/2025</a:t>
            </a:r>
          </a:p>
        </p:txBody>
      </p:sp>
      <p:sp>
        <p:nvSpPr>
          <p:cNvPr id="13" name="Fußzeilenplatzhalter 12">
            <a:extLst>
              <a:ext uri="{FF2B5EF4-FFF2-40B4-BE49-F238E27FC236}">
                <a16:creationId xmlns:a16="http://schemas.microsoft.com/office/drawing/2014/main" id="{FC28337D-790B-E06F-0074-04AA48B925B2}"/>
              </a:ext>
            </a:extLst>
          </p:cNvPr>
          <p:cNvSpPr>
            <a:spLocks noGrp="1"/>
          </p:cNvSpPr>
          <p:nvPr>
            <p:ph type="ftr" sz="quarter" idx="11"/>
          </p:nvPr>
        </p:nvSpPr>
        <p:spPr/>
        <p:txBody>
          <a:bodyPr/>
          <a:lstStyle/>
          <a:p>
            <a:r>
              <a:rPr lang="sv-SE"/>
              <a:t>Feedback &amp; Lidar Controller  / Optimus Syria</a:t>
            </a:r>
            <a:endParaRPr lang="en-US"/>
          </a:p>
        </p:txBody>
      </p:sp>
      <p:sp>
        <p:nvSpPr>
          <p:cNvPr id="14" name="Foliennummernplatzhalter 13">
            <a:extLst>
              <a:ext uri="{FF2B5EF4-FFF2-40B4-BE49-F238E27FC236}">
                <a16:creationId xmlns:a16="http://schemas.microsoft.com/office/drawing/2014/main" id="{A2A63292-0139-33E2-79E8-D1F485A4CC93}"/>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5" name="Textplatzhalter 16">
            <a:extLst>
              <a:ext uri="{FF2B5EF4-FFF2-40B4-BE49-F238E27FC236}">
                <a16:creationId xmlns:a16="http://schemas.microsoft.com/office/drawing/2014/main" id="{596BA109-7562-188F-19E6-BAFF28DC5C78}"/>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79461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raph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7C287-18A0-EB82-8A27-F94CA3880D06}"/>
              </a:ext>
            </a:extLst>
          </p:cNvPr>
          <p:cNvSpPr>
            <a:spLocks noGrp="1"/>
          </p:cNvSpPr>
          <p:nvPr>
            <p:ph type="title" hasCustomPrompt="1"/>
          </p:nvPr>
        </p:nvSpPr>
        <p:spPr/>
        <p:txBody>
          <a:bodyPr/>
          <a:lstStyle>
            <a:lvl1pPr>
              <a:defRPr/>
            </a:lvl1pPr>
          </a:lstStyle>
          <a:p>
            <a:r>
              <a:rPr lang="de-DE" dirty="0"/>
              <a:t>X. Graph</a:t>
            </a:r>
            <a:endParaRPr lang="en-GB" dirty="0"/>
          </a:p>
        </p:txBody>
      </p:sp>
      <p:pic>
        <p:nvPicPr>
          <p:cNvPr id="6" name="Picture 2" descr="How HOMER Calculates Wind Turbine Power Output">
            <a:extLst>
              <a:ext uri="{FF2B5EF4-FFF2-40B4-BE49-F238E27FC236}">
                <a16:creationId xmlns:a16="http://schemas.microsoft.com/office/drawing/2014/main" id="{002A61B1-6859-B9E0-5E8D-876C02B28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724" y="1939999"/>
            <a:ext cx="5429250" cy="30670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2">
            <a:extLst>
              <a:ext uri="{FF2B5EF4-FFF2-40B4-BE49-F238E27FC236}">
                <a16:creationId xmlns:a16="http://schemas.microsoft.com/office/drawing/2014/main" id="{70DEEB4B-BB48-7BA1-DC37-D3F70525E158}"/>
              </a:ext>
            </a:extLst>
          </p:cNvPr>
          <p:cNvSpPr txBox="1"/>
          <p:nvPr/>
        </p:nvSpPr>
        <p:spPr>
          <a:xfrm>
            <a:off x="764619" y="5102669"/>
            <a:ext cx="5187461" cy="600164"/>
          </a:xfrm>
          <a:prstGeom prst="rect">
            <a:avLst/>
          </a:prstGeom>
          <a:noFill/>
        </p:spPr>
        <p:txBody>
          <a:bodyPr wrap="square" rtlCol="0">
            <a:spAutoFit/>
          </a:bodyPr>
          <a:lstStyle/>
          <a:p>
            <a:r>
              <a:rPr lang="it-IT" sz="1100" dirty="0"/>
              <a:t>(</a:t>
            </a:r>
            <a:r>
              <a:rPr lang="it-IT" sz="1100" dirty="0" err="1"/>
              <a:t>Description</a:t>
            </a:r>
            <a:r>
              <a:rPr lang="it-IT" sz="1100" dirty="0"/>
              <a:t> of the </a:t>
            </a:r>
            <a:r>
              <a:rPr lang="it-IT" sz="1100" dirty="0" err="1"/>
              <a:t>graph</a:t>
            </a:r>
            <a:r>
              <a:rPr lang="it-IT" sz="1100" dirty="0"/>
              <a:t>, </a:t>
            </a:r>
            <a:r>
              <a:rPr lang="it-IT" sz="1100" dirty="0" err="1"/>
              <a:t>example</a:t>
            </a:r>
            <a:r>
              <a:rPr lang="it-IT" sz="1100" dirty="0"/>
              <a:t>: </a:t>
            </a:r>
            <a:r>
              <a:rPr lang="it-IT" sz="1100" i="1" dirty="0"/>
              <a:t>power curve power over wind speed</a:t>
            </a:r>
            <a:r>
              <a:rPr lang="it-IT" sz="1100" dirty="0"/>
              <a:t> )</a:t>
            </a:r>
          </a:p>
          <a:p>
            <a:r>
              <a:rPr lang="it-IT" sz="1100" dirty="0"/>
              <a:t>(</a:t>
            </a:r>
            <a:r>
              <a:rPr lang="it-IT" sz="1100" dirty="0" err="1"/>
              <a:t>Citation</a:t>
            </a:r>
            <a:r>
              <a:rPr lang="it-IT" sz="1100" dirty="0"/>
              <a:t> of the sources, </a:t>
            </a:r>
            <a:r>
              <a:rPr lang="it-IT" sz="1100" dirty="0" err="1"/>
              <a:t>example</a:t>
            </a:r>
            <a:r>
              <a:rPr lang="it-IT" sz="1100" dirty="0"/>
              <a:t>:</a:t>
            </a:r>
            <a:r>
              <a:rPr lang="it-IT" sz="1100" b="1" dirty="0"/>
              <a:t> </a:t>
            </a:r>
            <a:r>
              <a:rPr lang="it-IT" sz="1100" b="0" dirty="0"/>
              <a:t>[1] </a:t>
            </a:r>
            <a:r>
              <a:rPr lang="it-IT" sz="1100" dirty="0"/>
              <a:t>)  </a:t>
            </a:r>
          </a:p>
          <a:p>
            <a:r>
              <a:rPr lang="it-IT" sz="1100" dirty="0"/>
              <a:t>(Last date of access, </a:t>
            </a:r>
            <a:r>
              <a:rPr lang="it-IT" sz="1100" dirty="0" err="1"/>
              <a:t>example</a:t>
            </a:r>
            <a:r>
              <a:rPr lang="it-IT" sz="1100" dirty="0"/>
              <a:t>: 21/12/2015)</a:t>
            </a:r>
            <a:endParaRPr lang="en-GB" sz="1100" dirty="0"/>
          </a:p>
        </p:txBody>
      </p:sp>
      <p:cxnSp>
        <p:nvCxnSpPr>
          <p:cNvPr id="10" name="Straight Connector 5">
            <a:extLst>
              <a:ext uri="{FF2B5EF4-FFF2-40B4-BE49-F238E27FC236}">
                <a16:creationId xmlns:a16="http://schemas.microsoft.com/office/drawing/2014/main" id="{9CCD7462-E12C-CDA3-D609-4AB679728A2E}"/>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Datumsplatzhalter 7">
            <a:extLst>
              <a:ext uri="{FF2B5EF4-FFF2-40B4-BE49-F238E27FC236}">
                <a16:creationId xmlns:a16="http://schemas.microsoft.com/office/drawing/2014/main" id="{98D8651D-3525-44E9-EF74-5AE1C96E2B5E}"/>
              </a:ext>
            </a:extLst>
          </p:cNvPr>
          <p:cNvSpPr>
            <a:spLocks noGrp="1"/>
          </p:cNvSpPr>
          <p:nvPr>
            <p:ph type="dt" sz="half" idx="10"/>
          </p:nvPr>
        </p:nvSpPr>
        <p:spPr/>
        <p:txBody>
          <a:bodyPr/>
          <a:lstStyle/>
          <a:p>
            <a:r>
              <a:rPr lang="en-US"/>
              <a:t>25/11/2025</a:t>
            </a:r>
          </a:p>
        </p:txBody>
      </p:sp>
      <p:sp>
        <p:nvSpPr>
          <p:cNvPr id="9" name="Fußzeilenplatzhalter 8">
            <a:extLst>
              <a:ext uri="{FF2B5EF4-FFF2-40B4-BE49-F238E27FC236}">
                <a16:creationId xmlns:a16="http://schemas.microsoft.com/office/drawing/2014/main" id="{FC35C132-0CB8-F9A6-EC6C-F3AC1F1B3137}"/>
              </a:ext>
            </a:extLst>
          </p:cNvPr>
          <p:cNvSpPr>
            <a:spLocks noGrp="1"/>
          </p:cNvSpPr>
          <p:nvPr>
            <p:ph type="ftr" sz="quarter" idx="11"/>
          </p:nvPr>
        </p:nvSpPr>
        <p:spPr/>
        <p:txBody>
          <a:bodyPr/>
          <a:lstStyle/>
          <a:p>
            <a:r>
              <a:rPr lang="sv-SE"/>
              <a:t>Feedback &amp; Lidar Controller  / Optimus Syria</a:t>
            </a:r>
            <a:endParaRPr lang="en-US"/>
          </a:p>
        </p:txBody>
      </p:sp>
      <p:sp>
        <p:nvSpPr>
          <p:cNvPr id="11" name="Foliennummernplatzhalter 10">
            <a:extLst>
              <a:ext uri="{FF2B5EF4-FFF2-40B4-BE49-F238E27FC236}">
                <a16:creationId xmlns:a16="http://schemas.microsoft.com/office/drawing/2014/main" id="{722F58FF-5AD5-CF97-4FEE-FB1F38CD9A18}"/>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2" name="Textplatzhalter 16">
            <a:extLst>
              <a:ext uri="{FF2B5EF4-FFF2-40B4-BE49-F238E27FC236}">
                <a16:creationId xmlns:a16="http://schemas.microsoft.com/office/drawing/2014/main" id="{DC21B0DD-4D97-871C-E587-F10AD55D8BD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724660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ibliography (Explan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3033-AA4A-D955-AE39-E7F2A40C8A47}"/>
              </a:ext>
            </a:extLst>
          </p:cNvPr>
          <p:cNvSpPr>
            <a:spLocks noGrp="1"/>
          </p:cNvSpPr>
          <p:nvPr>
            <p:ph type="title" hasCustomPrompt="1"/>
          </p:nvPr>
        </p:nvSpPr>
        <p:spPr/>
        <p:txBody>
          <a:bodyPr/>
          <a:lstStyle>
            <a:lvl1pPr>
              <a:defRPr/>
            </a:lvl1pPr>
          </a:lstStyle>
          <a:p>
            <a:r>
              <a:rPr lang="de-DE" dirty="0" err="1"/>
              <a:t>Bibliography</a:t>
            </a:r>
            <a:r>
              <a:rPr lang="de-DE" dirty="0"/>
              <a:t> – </a:t>
            </a:r>
            <a:r>
              <a:rPr lang="de-DE" dirty="0" err="1"/>
              <a:t>team</a:t>
            </a:r>
            <a:r>
              <a:rPr lang="de-DE" dirty="0"/>
              <a:t> </a:t>
            </a:r>
            <a:r>
              <a:rPr lang="de-DE" dirty="0" err="1"/>
              <a:t>name</a:t>
            </a:r>
            <a:endParaRPr lang="en-GB" dirty="0"/>
          </a:p>
        </p:txBody>
      </p:sp>
      <p:sp>
        <p:nvSpPr>
          <p:cNvPr id="3" name="Content Placeholder 2">
            <a:extLst>
              <a:ext uri="{FF2B5EF4-FFF2-40B4-BE49-F238E27FC236}">
                <a16:creationId xmlns:a16="http://schemas.microsoft.com/office/drawing/2014/main" id="{7638BDBB-4827-8B89-3EE0-5A3DD22172FC}"/>
              </a:ext>
            </a:extLst>
          </p:cNvPr>
          <p:cNvSpPr>
            <a:spLocks noGrp="1"/>
          </p:cNvSpPr>
          <p:nvPr>
            <p:ph idx="1" hasCustomPrompt="1"/>
          </p:nvPr>
        </p:nvSpPr>
        <p:spPr/>
        <p:txBody>
          <a:bodyPr>
            <a:normAutofit/>
          </a:bodyPr>
          <a:lstStyle>
            <a:lvl1pPr marL="0" indent="0">
              <a:buNone/>
              <a:defRPr sz="16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dirty="0"/>
              <a:t>[1] </a:t>
            </a:r>
            <a:r>
              <a:rPr lang="en-GB" dirty="0"/>
              <a:t>“How HOMER Calculates Wind Turbine Power Output,” </a:t>
            </a:r>
            <a:r>
              <a:rPr lang="en-GB" i="1" dirty="0"/>
              <a:t>Homerenergy.com</a:t>
            </a:r>
            <a:r>
              <a:rPr lang="en-GB" dirty="0"/>
              <a:t>, 2017. https://www.homerenergy.com/products/pro/docs/3.15/how_homer_calculates_wind_turbine_power_output.html (accessed Aug. 25,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[2] …..</a:t>
            </a:r>
            <a:endParaRPr lang="it-IT" dirty="0"/>
          </a:p>
          <a:p>
            <a:pPr lvl="0"/>
            <a:endParaRPr lang="de-DE" dirty="0"/>
          </a:p>
        </p:txBody>
      </p:sp>
      <p:cxnSp>
        <p:nvCxnSpPr>
          <p:cNvPr id="6" name="Straight Arrow Connector 21">
            <a:extLst>
              <a:ext uri="{FF2B5EF4-FFF2-40B4-BE49-F238E27FC236}">
                <a16:creationId xmlns:a16="http://schemas.microsoft.com/office/drawing/2014/main" id="{9B5BA113-ABD0-9B33-1E2F-5863B083FE29}"/>
              </a:ext>
            </a:extLst>
          </p:cNvPr>
          <p:cNvCxnSpPr>
            <a:cxnSpLocks/>
          </p:cNvCxnSpPr>
          <p:nvPr/>
        </p:nvCxnSpPr>
        <p:spPr>
          <a:xfrm flipH="1" flipV="1">
            <a:off x="4994031" y="2734408"/>
            <a:ext cx="1245576" cy="1837592"/>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59531AAE-8AA3-6039-F69E-EDD1AF57C810}"/>
              </a:ext>
            </a:extLst>
          </p:cNvPr>
          <p:cNvSpPr/>
          <p:nvPr/>
        </p:nvSpPr>
        <p:spPr>
          <a:xfrm>
            <a:off x="4475285" y="4572000"/>
            <a:ext cx="5969977" cy="167786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t>The style </a:t>
            </a:r>
            <a:r>
              <a:rPr lang="it-IT" dirty="0" err="1"/>
              <a:t>chosen</a:t>
            </a:r>
            <a:r>
              <a:rPr lang="it-IT" dirty="0"/>
              <a:t> for </a:t>
            </a:r>
            <a:r>
              <a:rPr lang="it-IT" dirty="0" err="1"/>
              <a:t>citation</a:t>
            </a:r>
            <a:r>
              <a:rPr lang="it-IT" dirty="0"/>
              <a:t> </a:t>
            </a:r>
            <a:r>
              <a:rPr lang="it-IT" dirty="0" err="1"/>
              <a:t>is</a:t>
            </a:r>
            <a:r>
              <a:rPr lang="it-IT" dirty="0"/>
              <a:t> IEEE, so </a:t>
            </a:r>
            <a:r>
              <a:rPr lang="it-IT" dirty="0" err="1"/>
              <a:t>if</a:t>
            </a:r>
            <a:r>
              <a:rPr lang="it-IT" dirty="0"/>
              <a:t> </a:t>
            </a:r>
            <a:r>
              <a:rPr lang="it-IT" dirty="0" err="1"/>
              <a:t>you</a:t>
            </a:r>
            <a:r>
              <a:rPr lang="it-IT" dirty="0"/>
              <a:t> </a:t>
            </a:r>
            <a:r>
              <a:rPr lang="it-IT" dirty="0" err="1"/>
              <a:t>want</a:t>
            </a:r>
            <a:r>
              <a:rPr lang="it-IT" dirty="0"/>
              <a:t> to create </a:t>
            </a:r>
            <a:r>
              <a:rPr lang="it-IT" dirty="0" err="1"/>
              <a:t>your</a:t>
            </a:r>
            <a:r>
              <a:rPr lang="it-IT" dirty="0"/>
              <a:t> </a:t>
            </a:r>
            <a:r>
              <a:rPr lang="it-IT" dirty="0" err="1"/>
              <a:t>citation</a:t>
            </a:r>
            <a:r>
              <a:rPr lang="it-IT" dirty="0"/>
              <a:t> follow </a:t>
            </a:r>
            <a:r>
              <a:rPr lang="it-IT" dirty="0" err="1"/>
              <a:t>that</a:t>
            </a:r>
            <a:r>
              <a:rPr lang="it-IT" dirty="0"/>
              <a:t> style. </a:t>
            </a:r>
            <a:r>
              <a:rPr lang="it-IT" dirty="0" err="1"/>
              <a:t>If</a:t>
            </a:r>
            <a:r>
              <a:rPr lang="it-IT" dirty="0"/>
              <a:t> </a:t>
            </a:r>
            <a:r>
              <a:rPr lang="it-IT" dirty="0" err="1"/>
              <a:t>you</a:t>
            </a:r>
            <a:r>
              <a:rPr lang="it-IT" dirty="0"/>
              <a:t> </a:t>
            </a:r>
            <a:r>
              <a:rPr lang="it-IT" dirty="0" err="1"/>
              <a:t>want</a:t>
            </a:r>
            <a:r>
              <a:rPr lang="it-IT" dirty="0"/>
              <a:t> to create an IEEE </a:t>
            </a:r>
            <a:r>
              <a:rPr lang="it-IT" dirty="0" err="1"/>
              <a:t>citation</a:t>
            </a:r>
            <a:r>
              <a:rPr lang="it-IT" dirty="0"/>
              <a:t> from a website, </a:t>
            </a:r>
            <a:r>
              <a:rPr lang="it-IT" dirty="0" err="1"/>
              <a:t>you</a:t>
            </a:r>
            <a:r>
              <a:rPr lang="it-IT" dirty="0"/>
              <a:t> can use some free </a:t>
            </a:r>
            <a:r>
              <a:rPr lang="it-IT" dirty="0" err="1"/>
              <a:t>converters</a:t>
            </a:r>
            <a:r>
              <a:rPr lang="it-IT" dirty="0"/>
              <a:t> </a:t>
            </a:r>
            <a:r>
              <a:rPr lang="it-IT" dirty="0" err="1"/>
              <a:t>available</a:t>
            </a:r>
            <a:r>
              <a:rPr lang="it-IT" dirty="0"/>
              <a:t> on the internet, like:</a:t>
            </a:r>
          </a:p>
          <a:p>
            <a:pPr algn="ctr"/>
            <a:r>
              <a:rPr lang="en-GB" b="1" dirty="0">
                <a:hlinkClick r:id="rId2"/>
              </a:rPr>
              <a:t>https://www.mybib.com/tools/ieee-citation-generator</a:t>
            </a:r>
            <a:r>
              <a:rPr lang="en-GB" b="1" dirty="0"/>
              <a:t> </a:t>
            </a:r>
          </a:p>
        </p:txBody>
      </p:sp>
      <p:cxnSp>
        <p:nvCxnSpPr>
          <p:cNvPr id="4" name="Straight Connector 5">
            <a:extLst>
              <a:ext uri="{FF2B5EF4-FFF2-40B4-BE49-F238E27FC236}">
                <a16:creationId xmlns:a16="http://schemas.microsoft.com/office/drawing/2014/main" id="{7CC2DA80-2404-1A96-924E-A52A1DBAA341}"/>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0" name="Rectangle 7">
            <a:extLst>
              <a:ext uri="{FF2B5EF4-FFF2-40B4-BE49-F238E27FC236}">
                <a16:creationId xmlns:a16="http://schemas.microsoft.com/office/drawing/2014/main" id="{226F6F8F-D65D-4B43-5785-E89E617F8616}"/>
              </a:ext>
            </a:extLst>
          </p:cNvPr>
          <p:cNvSpPr/>
          <p:nvPr/>
        </p:nvSpPr>
        <p:spPr>
          <a:xfrm>
            <a:off x="908165" y="3299037"/>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1" name="Datumsplatzhalter 10">
            <a:extLst>
              <a:ext uri="{FF2B5EF4-FFF2-40B4-BE49-F238E27FC236}">
                <a16:creationId xmlns:a16="http://schemas.microsoft.com/office/drawing/2014/main" id="{376AEEC7-3E6C-8FE6-7104-34FC937946F1}"/>
              </a:ext>
            </a:extLst>
          </p:cNvPr>
          <p:cNvSpPr>
            <a:spLocks noGrp="1"/>
          </p:cNvSpPr>
          <p:nvPr>
            <p:ph type="dt" sz="half" idx="10"/>
          </p:nvPr>
        </p:nvSpPr>
        <p:spPr/>
        <p:txBody>
          <a:bodyPr/>
          <a:lstStyle/>
          <a:p>
            <a:r>
              <a:rPr lang="en-US"/>
              <a:t>25/11/2025</a:t>
            </a:r>
          </a:p>
        </p:txBody>
      </p:sp>
      <p:sp>
        <p:nvSpPr>
          <p:cNvPr id="12" name="Fußzeilenplatzhalter 11">
            <a:extLst>
              <a:ext uri="{FF2B5EF4-FFF2-40B4-BE49-F238E27FC236}">
                <a16:creationId xmlns:a16="http://schemas.microsoft.com/office/drawing/2014/main" id="{527D13C7-4982-3CF9-E6C0-8109C888A5C4}"/>
              </a:ext>
            </a:extLst>
          </p:cNvPr>
          <p:cNvSpPr>
            <a:spLocks noGrp="1"/>
          </p:cNvSpPr>
          <p:nvPr>
            <p:ph type="ftr" sz="quarter" idx="11"/>
          </p:nvPr>
        </p:nvSpPr>
        <p:spPr/>
        <p:txBody>
          <a:bodyPr/>
          <a:lstStyle/>
          <a:p>
            <a:r>
              <a:rPr lang="sv-SE"/>
              <a:t>Feedback &amp; Lidar Controller  / Optimus Syria</a:t>
            </a:r>
            <a:endParaRPr lang="en-US"/>
          </a:p>
        </p:txBody>
      </p:sp>
      <p:sp>
        <p:nvSpPr>
          <p:cNvPr id="13" name="Foliennummernplatzhalter 12">
            <a:extLst>
              <a:ext uri="{FF2B5EF4-FFF2-40B4-BE49-F238E27FC236}">
                <a16:creationId xmlns:a16="http://schemas.microsoft.com/office/drawing/2014/main" id="{44A0136B-0337-50A8-941C-6DC048DC6892}"/>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4" name="Textplatzhalter 16">
            <a:extLst>
              <a:ext uri="{FF2B5EF4-FFF2-40B4-BE49-F238E27FC236}">
                <a16:creationId xmlns:a16="http://schemas.microsoft.com/office/drawing/2014/main" id="{A21B8924-2541-A57C-7990-899E2DC11FD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4943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Bibliograph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3033-AA4A-D955-AE39-E7F2A40C8A47}"/>
              </a:ext>
            </a:extLst>
          </p:cNvPr>
          <p:cNvSpPr>
            <a:spLocks noGrp="1"/>
          </p:cNvSpPr>
          <p:nvPr>
            <p:ph type="title" hasCustomPrompt="1"/>
          </p:nvPr>
        </p:nvSpPr>
        <p:spPr/>
        <p:txBody>
          <a:bodyPr/>
          <a:lstStyle>
            <a:lvl1pPr>
              <a:defRPr/>
            </a:lvl1pPr>
          </a:lstStyle>
          <a:p>
            <a:r>
              <a:rPr lang="de-DE" dirty="0" err="1"/>
              <a:t>Bibliography</a:t>
            </a:r>
            <a:r>
              <a:rPr lang="de-DE" dirty="0"/>
              <a:t> – </a:t>
            </a:r>
            <a:r>
              <a:rPr lang="de-DE" dirty="0" err="1"/>
              <a:t>team</a:t>
            </a:r>
            <a:r>
              <a:rPr lang="de-DE" dirty="0"/>
              <a:t> </a:t>
            </a:r>
            <a:r>
              <a:rPr lang="de-DE" dirty="0" err="1"/>
              <a:t>name</a:t>
            </a:r>
            <a:endParaRPr lang="en-GB" dirty="0"/>
          </a:p>
        </p:txBody>
      </p:sp>
      <p:sp>
        <p:nvSpPr>
          <p:cNvPr id="3" name="Content Placeholder 2">
            <a:extLst>
              <a:ext uri="{FF2B5EF4-FFF2-40B4-BE49-F238E27FC236}">
                <a16:creationId xmlns:a16="http://schemas.microsoft.com/office/drawing/2014/main" id="{7638BDBB-4827-8B89-3EE0-5A3DD22172FC}"/>
              </a:ext>
            </a:extLst>
          </p:cNvPr>
          <p:cNvSpPr>
            <a:spLocks noGrp="1"/>
          </p:cNvSpPr>
          <p:nvPr>
            <p:ph idx="1" hasCustomPrompt="1"/>
          </p:nvPr>
        </p:nvSpPr>
        <p:spPr/>
        <p:txBody>
          <a:bodyPr>
            <a:normAutofit/>
          </a:bodyPr>
          <a:lstStyle>
            <a:lvl1pPr marL="0" indent="0">
              <a:buNone/>
              <a:defRPr sz="16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dirty="0"/>
              <a:t>[1] </a:t>
            </a:r>
            <a:r>
              <a:rPr lang="en-GB" dirty="0"/>
              <a:t>“How HOMER Calculates Wind Turbine Power Output,” </a:t>
            </a:r>
            <a:r>
              <a:rPr lang="en-GB" i="1" dirty="0"/>
              <a:t>Homerenergy.com</a:t>
            </a:r>
            <a:r>
              <a:rPr lang="en-GB" dirty="0"/>
              <a:t>, 2017. https://www.homerenergy.com/products/pro/docs/3.15/how_homer_calculates_wind_turbine_power_output.html (accessed Aug. 25,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[2] …..</a:t>
            </a:r>
            <a:endParaRPr lang="it-IT" dirty="0"/>
          </a:p>
          <a:p>
            <a:pPr lvl="0"/>
            <a:endParaRPr lang="de-DE" dirty="0"/>
          </a:p>
        </p:txBody>
      </p:sp>
      <p:cxnSp>
        <p:nvCxnSpPr>
          <p:cNvPr id="4" name="Straight Connector 5">
            <a:extLst>
              <a:ext uri="{FF2B5EF4-FFF2-40B4-BE49-F238E27FC236}">
                <a16:creationId xmlns:a16="http://schemas.microsoft.com/office/drawing/2014/main" id="{7CC2DA80-2404-1A96-924E-A52A1DBAA341}"/>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6" name="Datumsplatzhalter 5">
            <a:extLst>
              <a:ext uri="{FF2B5EF4-FFF2-40B4-BE49-F238E27FC236}">
                <a16:creationId xmlns:a16="http://schemas.microsoft.com/office/drawing/2014/main" id="{79BDC2AF-40F8-8529-16FE-AE51A8BD447C}"/>
              </a:ext>
            </a:extLst>
          </p:cNvPr>
          <p:cNvSpPr>
            <a:spLocks noGrp="1"/>
          </p:cNvSpPr>
          <p:nvPr>
            <p:ph type="dt" sz="half" idx="10"/>
          </p:nvPr>
        </p:nvSpPr>
        <p:spPr/>
        <p:txBody>
          <a:bodyPr/>
          <a:lstStyle/>
          <a:p>
            <a:r>
              <a:rPr lang="en-US"/>
              <a:t>25/11/2025</a:t>
            </a:r>
          </a:p>
        </p:txBody>
      </p:sp>
      <p:sp>
        <p:nvSpPr>
          <p:cNvPr id="9" name="Fußzeilenplatzhalter 8">
            <a:extLst>
              <a:ext uri="{FF2B5EF4-FFF2-40B4-BE49-F238E27FC236}">
                <a16:creationId xmlns:a16="http://schemas.microsoft.com/office/drawing/2014/main" id="{3A36B392-F5AC-41D8-5903-3EE036BA8CB9}"/>
              </a:ext>
            </a:extLst>
          </p:cNvPr>
          <p:cNvSpPr>
            <a:spLocks noGrp="1"/>
          </p:cNvSpPr>
          <p:nvPr>
            <p:ph type="ftr" sz="quarter" idx="11"/>
          </p:nvPr>
        </p:nvSpPr>
        <p:spPr/>
        <p:txBody>
          <a:bodyPr/>
          <a:lstStyle/>
          <a:p>
            <a:r>
              <a:rPr lang="sv-SE"/>
              <a:t>Feedback &amp; Lidar Controller  / Optimus Syria</a:t>
            </a:r>
            <a:endParaRPr lang="en-US"/>
          </a:p>
        </p:txBody>
      </p:sp>
      <p:sp>
        <p:nvSpPr>
          <p:cNvPr id="10" name="Foliennummernplatzhalter 9">
            <a:extLst>
              <a:ext uri="{FF2B5EF4-FFF2-40B4-BE49-F238E27FC236}">
                <a16:creationId xmlns:a16="http://schemas.microsoft.com/office/drawing/2014/main" id="{7595A811-7A18-1583-7B9C-87A7CBB7F159}"/>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1" name="Textplatzhalter 16">
            <a:extLst>
              <a:ext uri="{FF2B5EF4-FFF2-40B4-BE49-F238E27FC236}">
                <a16:creationId xmlns:a16="http://schemas.microsoft.com/office/drawing/2014/main" id="{5E735FEA-D591-2E8E-B9B4-2A6BAFE00D4F}"/>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450291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3920-E451-6E8D-B0CB-C3FB9C0F70B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47CFBA5-B73E-6B89-322D-7C32A35A121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4BF8199-371A-141A-1CD7-D551EEEFDFB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Datumsplatzhalter 7">
            <a:extLst>
              <a:ext uri="{FF2B5EF4-FFF2-40B4-BE49-F238E27FC236}">
                <a16:creationId xmlns:a16="http://schemas.microsoft.com/office/drawing/2014/main" id="{16092FF3-E2C2-B5C5-579F-21F140EB3AA1}"/>
              </a:ext>
            </a:extLst>
          </p:cNvPr>
          <p:cNvSpPr>
            <a:spLocks noGrp="1"/>
          </p:cNvSpPr>
          <p:nvPr>
            <p:ph type="dt" sz="half" idx="10"/>
          </p:nvPr>
        </p:nvSpPr>
        <p:spPr/>
        <p:txBody>
          <a:bodyPr/>
          <a:lstStyle/>
          <a:p>
            <a:r>
              <a:rPr lang="en-US"/>
              <a:t>25/11/2025</a:t>
            </a:r>
          </a:p>
        </p:txBody>
      </p:sp>
      <p:sp>
        <p:nvSpPr>
          <p:cNvPr id="9" name="Fußzeilenplatzhalter 8">
            <a:extLst>
              <a:ext uri="{FF2B5EF4-FFF2-40B4-BE49-F238E27FC236}">
                <a16:creationId xmlns:a16="http://schemas.microsoft.com/office/drawing/2014/main" id="{85AD0AE9-D3B7-2239-8DBB-350367E7DC59}"/>
              </a:ext>
            </a:extLst>
          </p:cNvPr>
          <p:cNvSpPr>
            <a:spLocks noGrp="1"/>
          </p:cNvSpPr>
          <p:nvPr>
            <p:ph type="ftr" sz="quarter" idx="11"/>
          </p:nvPr>
        </p:nvSpPr>
        <p:spPr/>
        <p:txBody>
          <a:bodyPr/>
          <a:lstStyle/>
          <a:p>
            <a:r>
              <a:rPr lang="sv-SE"/>
              <a:t>Feedback &amp; Lidar Controller  / Optimus Syria</a:t>
            </a:r>
            <a:endParaRPr lang="en-US"/>
          </a:p>
        </p:txBody>
      </p:sp>
      <p:sp>
        <p:nvSpPr>
          <p:cNvPr id="10" name="Foliennummernplatzhalter 9">
            <a:extLst>
              <a:ext uri="{FF2B5EF4-FFF2-40B4-BE49-F238E27FC236}">
                <a16:creationId xmlns:a16="http://schemas.microsoft.com/office/drawing/2014/main" id="{E1BD0BA0-666C-E532-C68B-11386947BA13}"/>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1" name="Textplatzhalter 16">
            <a:extLst>
              <a:ext uri="{FF2B5EF4-FFF2-40B4-BE49-F238E27FC236}">
                <a16:creationId xmlns:a16="http://schemas.microsoft.com/office/drawing/2014/main" id="{027E2607-9D4B-3DD5-A6A2-FC3CB80BCC1F}"/>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232093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F7B7-87CF-1A3E-E33E-44DC6E0152F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84B21B8D-C5F5-5242-4069-B1546B4BC0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74D26CD-98BD-17E2-BE55-DBB74BBC64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63B8D60-279E-D76A-9222-12B704BAEB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A1AF34B-F683-41AD-C71C-8E8C66CC4CC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Datumsplatzhalter 9">
            <a:extLst>
              <a:ext uri="{FF2B5EF4-FFF2-40B4-BE49-F238E27FC236}">
                <a16:creationId xmlns:a16="http://schemas.microsoft.com/office/drawing/2014/main" id="{4EB4231A-B976-E0CE-75F3-D34A6911E251}"/>
              </a:ext>
            </a:extLst>
          </p:cNvPr>
          <p:cNvSpPr>
            <a:spLocks noGrp="1"/>
          </p:cNvSpPr>
          <p:nvPr>
            <p:ph type="dt" sz="half" idx="10"/>
          </p:nvPr>
        </p:nvSpPr>
        <p:spPr/>
        <p:txBody>
          <a:bodyPr/>
          <a:lstStyle/>
          <a:p>
            <a:r>
              <a:rPr lang="en-US"/>
              <a:t>25/11/2025</a:t>
            </a:r>
          </a:p>
        </p:txBody>
      </p:sp>
      <p:sp>
        <p:nvSpPr>
          <p:cNvPr id="11" name="Fußzeilenplatzhalter 10">
            <a:extLst>
              <a:ext uri="{FF2B5EF4-FFF2-40B4-BE49-F238E27FC236}">
                <a16:creationId xmlns:a16="http://schemas.microsoft.com/office/drawing/2014/main" id="{2E601F58-36C8-D2D9-A619-7EE495853C62}"/>
              </a:ext>
            </a:extLst>
          </p:cNvPr>
          <p:cNvSpPr>
            <a:spLocks noGrp="1"/>
          </p:cNvSpPr>
          <p:nvPr>
            <p:ph type="ftr" sz="quarter" idx="11"/>
          </p:nvPr>
        </p:nvSpPr>
        <p:spPr/>
        <p:txBody>
          <a:bodyPr/>
          <a:lstStyle/>
          <a:p>
            <a:r>
              <a:rPr lang="sv-SE"/>
              <a:t>Feedback &amp; Lidar Controller  / Optimus Syria</a:t>
            </a:r>
            <a:endParaRPr lang="en-US"/>
          </a:p>
        </p:txBody>
      </p:sp>
      <p:sp>
        <p:nvSpPr>
          <p:cNvPr id="12" name="Foliennummernplatzhalter 11">
            <a:extLst>
              <a:ext uri="{FF2B5EF4-FFF2-40B4-BE49-F238E27FC236}">
                <a16:creationId xmlns:a16="http://schemas.microsoft.com/office/drawing/2014/main" id="{EBFB4D11-F600-12A5-E5C2-DCA390332C8E}"/>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3" name="Textplatzhalter 16">
            <a:extLst>
              <a:ext uri="{FF2B5EF4-FFF2-40B4-BE49-F238E27FC236}">
                <a16:creationId xmlns:a16="http://schemas.microsoft.com/office/drawing/2014/main" id="{39AFE95F-2805-F887-3AF4-313C835B1731}"/>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3778992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er">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AA9CAB1E-C3D8-B43B-64D5-963D13F3D840}"/>
              </a:ext>
            </a:extLst>
          </p:cNvPr>
          <p:cNvSpPr>
            <a:spLocks noGrp="1"/>
          </p:cNvSpPr>
          <p:nvPr>
            <p:ph type="dt" sz="half" idx="10"/>
          </p:nvPr>
        </p:nvSpPr>
        <p:spPr/>
        <p:txBody>
          <a:bodyPr/>
          <a:lstStyle/>
          <a:p>
            <a:r>
              <a:rPr lang="en-US"/>
              <a:t>25/11/2025</a:t>
            </a:r>
          </a:p>
        </p:txBody>
      </p:sp>
      <p:sp>
        <p:nvSpPr>
          <p:cNvPr id="6" name="Fußzeilenplatzhalter 5">
            <a:extLst>
              <a:ext uri="{FF2B5EF4-FFF2-40B4-BE49-F238E27FC236}">
                <a16:creationId xmlns:a16="http://schemas.microsoft.com/office/drawing/2014/main" id="{3B3E84C0-2A5E-8136-84E3-1F57CD264AF4}"/>
              </a:ext>
            </a:extLst>
          </p:cNvPr>
          <p:cNvSpPr>
            <a:spLocks noGrp="1"/>
          </p:cNvSpPr>
          <p:nvPr>
            <p:ph type="ftr" sz="quarter" idx="11"/>
          </p:nvPr>
        </p:nvSpPr>
        <p:spPr/>
        <p:txBody>
          <a:bodyPr/>
          <a:lstStyle/>
          <a:p>
            <a:r>
              <a:rPr lang="sv-SE"/>
              <a:t>Feedback &amp; Lidar Controller  / Optimus Syria</a:t>
            </a:r>
            <a:endParaRPr lang="en-US"/>
          </a:p>
        </p:txBody>
      </p:sp>
      <p:sp>
        <p:nvSpPr>
          <p:cNvPr id="7" name="Foliennummernplatzhalter 6">
            <a:extLst>
              <a:ext uri="{FF2B5EF4-FFF2-40B4-BE49-F238E27FC236}">
                <a16:creationId xmlns:a16="http://schemas.microsoft.com/office/drawing/2014/main" id="{279EE80A-8782-7800-16FF-963D026BCCF5}"/>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8" name="Textplatzhalter 16">
            <a:extLst>
              <a:ext uri="{FF2B5EF4-FFF2-40B4-BE49-F238E27FC236}">
                <a16:creationId xmlns:a16="http://schemas.microsoft.com/office/drawing/2014/main" id="{CFBF4831-0820-F79B-E15A-914A0E578D4E}"/>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8880533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nhalt mit 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4D20E-7D43-D4CD-1058-46300B8EE4F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EB6584A-B476-0EA1-C12B-07C273F70E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1694232-1597-B186-D108-397BCF214D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umsplatzhalter 7">
            <a:extLst>
              <a:ext uri="{FF2B5EF4-FFF2-40B4-BE49-F238E27FC236}">
                <a16:creationId xmlns:a16="http://schemas.microsoft.com/office/drawing/2014/main" id="{63342531-5FA3-5F71-CEB1-CFCD86F1701F}"/>
              </a:ext>
            </a:extLst>
          </p:cNvPr>
          <p:cNvSpPr>
            <a:spLocks noGrp="1"/>
          </p:cNvSpPr>
          <p:nvPr>
            <p:ph type="dt" sz="half" idx="10"/>
          </p:nvPr>
        </p:nvSpPr>
        <p:spPr/>
        <p:txBody>
          <a:bodyPr/>
          <a:lstStyle/>
          <a:p>
            <a:r>
              <a:rPr lang="en-US"/>
              <a:t>25/11/2025</a:t>
            </a:r>
          </a:p>
        </p:txBody>
      </p:sp>
      <p:sp>
        <p:nvSpPr>
          <p:cNvPr id="9" name="Fußzeilenplatzhalter 8">
            <a:extLst>
              <a:ext uri="{FF2B5EF4-FFF2-40B4-BE49-F238E27FC236}">
                <a16:creationId xmlns:a16="http://schemas.microsoft.com/office/drawing/2014/main" id="{0D108632-F456-C23D-6809-CF44E36A522C}"/>
              </a:ext>
            </a:extLst>
          </p:cNvPr>
          <p:cNvSpPr>
            <a:spLocks noGrp="1"/>
          </p:cNvSpPr>
          <p:nvPr>
            <p:ph type="ftr" sz="quarter" idx="11"/>
          </p:nvPr>
        </p:nvSpPr>
        <p:spPr/>
        <p:txBody>
          <a:bodyPr/>
          <a:lstStyle/>
          <a:p>
            <a:r>
              <a:rPr lang="sv-SE"/>
              <a:t>Feedback &amp; Lidar Controller  / Optimus Syria</a:t>
            </a:r>
            <a:endParaRPr lang="en-US"/>
          </a:p>
        </p:txBody>
      </p:sp>
      <p:sp>
        <p:nvSpPr>
          <p:cNvPr id="10" name="Foliennummernplatzhalter 9">
            <a:extLst>
              <a:ext uri="{FF2B5EF4-FFF2-40B4-BE49-F238E27FC236}">
                <a16:creationId xmlns:a16="http://schemas.microsoft.com/office/drawing/2014/main" id="{14F6375C-67FA-9BF2-A821-A5611C211C9C}"/>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1" name="Textplatzhalter 16">
            <a:extLst>
              <a:ext uri="{FF2B5EF4-FFF2-40B4-BE49-F238E27FC236}">
                <a16:creationId xmlns:a16="http://schemas.microsoft.com/office/drawing/2014/main" id="{6E6CFA6E-C964-BB71-3D6D-D966EE46607E}"/>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611413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ild mit 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2DC87-27CE-5A07-9629-719DC91DE4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F65E744-3606-1D16-E7B2-58DAFC3E88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EEA9C703-BF20-85AF-358A-01ADED33CF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umsplatzhalter 7">
            <a:extLst>
              <a:ext uri="{FF2B5EF4-FFF2-40B4-BE49-F238E27FC236}">
                <a16:creationId xmlns:a16="http://schemas.microsoft.com/office/drawing/2014/main" id="{0DAC50BC-A24B-779F-0533-7A27D611B159}"/>
              </a:ext>
            </a:extLst>
          </p:cNvPr>
          <p:cNvSpPr>
            <a:spLocks noGrp="1"/>
          </p:cNvSpPr>
          <p:nvPr>
            <p:ph type="dt" sz="half" idx="10"/>
          </p:nvPr>
        </p:nvSpPr>
        <p:spPr/>
        <p:txBody>
          <a:bodyPr/>
          <a:lstStyle/>
          <a:p>
            <a:r>
              <a:rPr lang="en-US"/>
              <a:t>25/11/2025</a:t>
            </a:r>
          </a:p>
        </p:txBody>
      </p:sp>
      <p:sp>
        <p:nvSpPr>
          <p:cNvPr id="9" name="Fußzeilenplatzhalter 8">
            <a:extLst>
              <a:ext uri="{FF2B5EF4-FFF2-40B4-BE49-F238E27FC236}">
                <a16:creationId xmlns:a16="http://schemas.microsoft.com/office/drawing/2014/main" id="{2B06DBDC-0EA1-59AB-DB5D-AEE297E61849}"/>
              </a:ext>
            </a:extLst>
          </p:cNvPr>
          <p:cNvSpPr>
            <a:spLocks noGrp="1"/>
          </p:cNvSpPr>
          <p:nvPr>
            <p:ph type="ftr" sz="quarter" idx="11"/>
          </p:nvPr>
        </p:nvSpPr>
        <p:spPr/>
        <p:txBody>
          <a:bodyPr/>
          <a:lstStyle/>
          <a:p>
            <a:r>
              <a:rPr lang="sv-SE"/>
              <a:t>Feedback &amp; Lidar Controller  / Optimus Syria</a:t>
            </a:r>
            <a:endParaRPr lang="en-US"/>
          </a:p>
        </p:txBody>
      </p:sp>
      <p:sp>
        <p:nvSpPr>
          <p:cNvPr id="10" name="Foliennummernplatzhalter 9">
            <a:extLst>
              <a:ext uri="{FF2B5EF4-FFF2-40B4-BE49-F238E27FC236}">
                <a16:creationId xmlns:a16="http://schemas.microsoft.com/office/drawing/2014/main" id="{3EB43FC5-BB47-1A87-75C6-C0AFB5C7235F}"/>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1" name="Textplatzhalter 16">
            <a:extLst>
              <a:ext uri="{FF2B5EF4-FFF2-40B4-BE49-F238E27FC236}">
                <a16:creationId xmlns:a16="http://schemas.microsoft.com/office/drawing/2014/main" id="{680B36F8-3A7C-6F05-A0AB-F3F43BA0922B}"/>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209988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el und vertikaler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44B09-72C5-4D15-0E4C-46764EB8C8D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91B470E9-1D3C-D5B3-7A54-66BD9009970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umsplatzhalter 6">
            <a:extLst>
              <a:ext uri="{FF2B5EF4-FFF2-40B4-BE49-F238E27FC236}">
                <a16:creationId xmlns:a16="http://schemas.microsoft.com/office/drawing/2014/main" id="{0C34C088-08EA-3896-8F05-16D82C511456}"/>
              </a:ext>
            </a:extLst>
          </p:cNvPr>
          <p:cNvSpPr>
            <a:spLocks noGrp="1"/>
          </p:cNvSpPr>
          <p:nvPr>
            <p:ph type="dt" sz="half" idx="10"/>
          </p:nvPr>
        </p:nvSpPr>
        <p:spPr/>
        <p:txBody>
          <a:bodyPr/>
          <a:lstStyle/>
          <a:p>
            <a:r>
              <a:rPr lang="en-US"/>
              <a:t>25/11/2025</a:t>
            </a:r>
          </a:p>
        </p:txBody>
      </p:sp>
      <p:sp>
        <p:nvSpPr>
          <p:cNvPr id="8" name="Fußzeilenplatzhalter 7">
            <a:extLst>
              <a:ext uri="{FF2B5EF4-FFF2-40B4-BE49-F238E27FC236}">
                <a16:creationId xmlns:a16="http://schemas.microsoft.com/office/drawing/2014/main" id="{08EA7E74-7B1F-8648-209E-BFE07FF1E458}"/>
              </a:ext>
            </a:extLst>
          </p:cNvPr>
          <p:cNvSpPr>
            <a:spLocks noGrp="1"/>
          </p:cNvSpPr>
          <p:nvPr>
            <p:ph type="ftr" sz="quarter" idx="11"/>
          </p:nvPr>
        </p:nvSpPr>
        <p:spPr/>
        <p:txBody>
          <a:bodyPr/>
          <a:lstStyle/>
          <a:p>
            <a:r>
              <a:rPr lang="sv-SE"/>
              <a:t>Feedback &amp; Lidar Controller  / Optimus Syria</a:t>
            </a:r>
            <a:endParaRPr lang="en-US"/>
          </a:p>
        </p:txBody>
      </p:sp>
      <p:sp>
        <p:nvSpPr>
          <p:cNvPr id="9" name="Foliennummernplatzhalter 8">
            <a:extLst>
              <a:ext uri="{FF2B5EF4-FFF2-40B4-BE49-F238E27FC236}">
                <a16:creationId xmlns:a16="http://schemas.microsoft.com/office/drawing/2014/main" id="{62B97D1D-1741-1791-CBA3-FA5CA67CA7DB}"/>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0" name="Textplatzhalter 16">
            <a:extLst>
              <a:ext uri="{FF2B5EF4-FFF2-40B4-BE49-F238E27FC236}">
                <a16:creationId xmlns:a16="http://schemas.microsoft.com/office/drawing/2014/main" id="{6A2FA29E-F5F4-39E0-E0C6-CACC20E04F15}"/>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5552020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Vertikaler Titel u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68A110-A33F-744D-89CB-FFCF49E08A8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DB6FACB-31E5-361F-D71D-18FCBA5503E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umsplatzhalter 6">
            <a:extLst>
              <a:ext uri="{FF2B5EF4-FFF2-40B4-BE49-F238E27FC236}">
                <a16:creationId xmlns:a16="http://schemas.microsoft.com/office/drawing/2014/main" id="{05945ED5-EBD1-3567-F959-B92E831E5149}"/>
              </a:ext>
            </a:extLst>
          </p:cNvPr>
          <p:cNvSpPr>
            <a:spLocks noGrp="1"/>
          </p:cNvSpPr>
          <p:nvPr>
            <p:ph type="dt" sz="half" idx="10"/>
          </p:nvPr>
        </p:nvSpPr>
        <p:spPr/>
        <p:txBody>
          <a:bodyPr/>
          <a:lstStyle/>
          <a:p>
            <a:r>
              <a:rPr lang="en-US"/>
              <a:t>25/11/2025</a:t>
            </a:r>
          </a:p>
        </p:txBody>
      </p:sp>
      <p:sp>
        <p:nvSpPr>
          <p:cNvPr id="8" name="Fußzeilenplatzhalter 7">
            <a:extLst>
              <a:ext uri="{FF2B5EF4-FFF2-40B4-BE49-F238E27FC236}">
                <a16:creationId xmlns:a16="http://schemas.microsoft.com/office/drawing/2014/main" id="{CBB6A4D0-1BA6-C02F-BE18-391B96E98DE3}"/>
              </a:ext>
            </a:extLst>
          </p:cNvPr>
          <p:cNvSpPr>
            <a:spLocks noGrp="1"/>
          </p:cNvSpPr>
          <p:nvPr>
            <p:ph type="ftr" sz="quarter" idx="11"/>
          </p:nvPr>
        </p:nvSpPr>
        <p:spPr/>
        <p:txBody>
          <a:bodyPr/>
          <a:lstStyle/>
          <a:p>
            <a:r>
              <a:rPr lang="sv-SE"/>
              <a:t>Feedback &amp; Lidar Controller  / Optimus Syria</a:t>
            </a:r>
            <a:endParaRPr lang="en-US"/>
          </a:p>
        </p:txBody>
      </p:sp>
      <p:sp>
        <p:nvSpPr>
          <p:cNvPr id="9" name="Foliennummernplatzhalter 8">
            <a:extLst>
              <a:ext uri="{FF2B5EF4-FFF2-40B4-BE49-F238E27FC236}">
                <a16:creationId xmlns:a16="http://schemas.microsoft.com/office/drawing/2014/main" id="{9412E4BF-484F-C87E-8228-534B62A6BCEA}"/>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0" name="Textplatzhalter 16">
            <a:extLst>
              <a:ext uri="{FF2B5EF4-FFF2-40B4-BE49-F238E27FC236}">
                <a16:creationId xmlns:a16="http://schemas.microsoft.com/office/drawing/2014/main" id="{A24C13F3-9C79-1E9F-ED48-61D2AD9586E3}"/>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2207005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8792-EDF0-A005-2CE2-24C261AC645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CB3DE22-B4B9-EA44-EF61-D733C53BE7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FD83C22-FDA0-3E63-68DD-4A6E7DD4C181}"/>
              </a:ext>
            </a:extLst>
          </p:cNvPr>
          <p:cNvSpPr>
            <a:spLocks noGrp="1"/>
          </p:cNvSpPr>
          <p:nvPr>
            <p:ph type="dt" sz="half" idx="10"/>
          </p:nvPr>
        </p:nvSpPr>
        <p:spPr/>
        <p:txBody>
          <a:bodyPr/>
          <a:lstStyle/>
          <a:p>
            <a:r>
              <a:rPr lang="en-US"/>
              <a:t>25/11/2025</a:t>
            </a:r>
          </a:p>
        </p:txBody>
      </p:sp>
      <p:sp>
        <p:nvSpPr>
          <p:cNvPr id="5" name="Footer Placeholder 4">
            <a:extLst>
              <a:ext uri="{FF2B5EF4-FFF2-40B4-BE49-F238E27FC236}">
                <a16:creationId xmlns:a16="http://schemas.microsoft.com/office/drawing/2014/main" id="{38D04B19-AF55-A977-1451-9DC5DC1FE3D7}"/>
              </a:ext>
            </a:extLst>
          </p:cNvPr>
          <p:cNvSpPr>
            <a:spLocks noGrp="1"/>
          </p:cNvSpPr>
          <p:nvPr>
            <p:ph type="ftr" sz="quarter" idx="11"/>
          </p:nvPr>
        </p:nvSpPr>
        <p:spPr/>
        <p:txBody>
          <a:bodyPr/>
          <a:lstStyle/>
          <a:p>
            <a:r>
              <a:rPr lang="sv-SE"/>
              <a:t>Feedback &amp; Lidar Controller  / Optimus Syria</a:t>
            </a:r>
            <a:endParaRPr lang="en-US"/>
          </a:p>
        </p:txBody>
      </p:sp>
      <p:sp>
        <p:nvSpPr>
          <p:cNvPr id="6" name="Slide Number Placeholder 5">
            <a:extLst>
              <a:ext uri="{FF2B5EF4-FFF2-40B4-BE49-F238E27FC236}">
                <a16:creationId xmlns:a16="http://schemas.microsoft.com/office/drawing/2014/main" id="{879D61A8-50FB-0E57-BC6B-11987F025692}"/>
              </a:ext>
            </a:extLst>
          </p:cNvPr>
          <p:cNvSpPr>
            <a:spLocks noGrp="1"/>
          </p:cNvSpPr>
          <p:nvPr>
            <p:ph type="sldNum" sz="quarter" idx="12"/>
          </p:nvPr>
        </p:nvSpPr>
        <p:spPr/>
        <p:txBody>
          <a:bodyPr/>
          <a:lstStyle/>
          <a:p>
            <a:fld id="{3A84E93A-72FE-4BB6-A500-FB6DD421822B}" type="slidenum">
              <a:rPr lang="en-US" smtClean="0"/>
              <a:t>‹#›</a:t>
            </a:fld>
            <a:endParaRPr lang="en-US"/>
          </a:p>
        </p:txBody>
      </p:sp>
    </p:spTree>
    <p:extLst>
      <p:ext uri="{BB962C8B-B14F-4D97-AF65-F5344CB8AC3E}">
        <p14:creationId xmlns:p14="http://schemas.microsoft.com/office/powerpoint/2010/main" val="13087888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el slide 1">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7E6E28C-7B17-1432-D698-5D8867EE337B}"/>
              </a:ext>
            </a:extLst>
          </p:cNvPr>
          <p:cNvSpPr txBox="1">
            <a:spLocks/>
          </p:cNvSpPr>
          <p:nvPr/>
        </p:nvSpPr>
        <p:spPr>
          <a:xfrm>
            <a:off x="1412841" y="2281143"/>
            <a:ext cx="9144000" cy="912598"/>
          </a:xfrm>
          <a:prstGeom prst="rect">
            <a:avLst/>
          </a:prstGeom>
        </p:spPr>
        <p:txBody>
          <a:bodyPr vert="horz" lIns="91440" tIns="45720" rIns="91440" bIns="45720" rtlCol="0" anchor="b">
            <a:noAutofit/>
            <a:scene3d>
              <a:camera prst="orthographicFront"/>
              <a:lightRig rig="harsh" dir="t"/>
            </a:scene3d>
            <a:sp3d extrusionH="57150" prstMaterial="matte">
              <a:bevelT w="63500" h="12700" prst="angle"/>
              <a:contourClr>
                <a:schemeClr val="bg1">
                  <a:lumMod val="65000"/>
                </a:schemeClr>
              </a:contourClr>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it-IT" sz="6600" b="1" i="0" u="none" strike="noStrike" kern="1200" cap="none" spc="0" normalizeH="0" baseline="0" noProof="0">
                <a:ln/>
                <a:solidFill>
                  <a:srgbClr val="156082"/>
                </a:solidFill>
                <a:effectLst/>
                <a:uLnTx/>
                <a:uFillTx/>
                <a:latin typeface="Times New Roman" panose="02020603050405020304" pitchFamily="18" charset="0"/>
                <a:ea typeface="+mj-ea"/>
                <a:cs typeface="Times New Roman" panose="02020603050405020304" pitchFamily="18" charset="0"/>
              </a:rPr>
              <a:t>Optimus Syria</a:t>
            </a:r>
            <a:endParaRPr kumimoji="0" lang="en-GB" sz="6600" b="1" i="0" u="none" strike="noStrike" kern="1200" cap="none" spc="0" normalizeH="0" baseline="0" noProof="0" dirty="0">
              <a:ln/>
              <a:solidFill>
                <a:srgbClr val="156082"/>
              </a:solidFill>
              <a:effectLst/>
              <a:uLnTx/>
              <a:uFillTx/>
              <a:latin typeface="Times New Roman" panose="02020603050405020304" pitchFamily="18" charset="0"/>
              <a:ea typeface="+mj-ea"/>
              <a:cs typeface="Times New Roman" panose="02020603050405020304" pitchFamily="18" charset="0"/>
            </a:endParaRPr>
          </a:p>
        </p:txBody>
      </p:sp>
      <p:pic>
        <p:nvPicPr>
          <p:cNvPr id="9" name="Picture 8" descr="Hochschule Flensburg (Fachhochschule) – Wikipedia">
            <a:extLst>
              <a:ext uri="{FF2B5EF4-FFF2-40B4-BE49-F238E27FC236}">
                <a16:creationId xmlns:a16="http://schemas.microsoft.com/office/drawing/2014/main" id="{A98E8D30-71DB-C779-1E77-2B8D1F32463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77870" y="80932"/>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10" name="Picture 14" descr="A black background with blue text&#10;&#10;AI-generated content may be incorrect.">
            <a:extLst>
              <a:ext uri="{FF2B5EF4-FFF2-40B4-BE49-F238E27FC236}">
                <a16:creationId xmlns:a16="http://schemas.microsoft.com/office/drawing/2014/main" id="{7FC9E882-BB5D-1CC3-9AD4-1ADE555B839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95999" y="33018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11" name="Grafik 10">
            <a:extLst>
              <a:ext uri="{FF2B5EF4-FFF2-40B4-BE49-F238E27FC236}">
                <a16:creationId xmlns:a16="http://schemas.microsoft.com/office/drawing/2014/main" id="{3EFF5A11-92DF-BC35-55CA-EECA202C55B3}"/>
              </a:ext>
            </a:extLst>
          </p:cNvPr>
          <p:cNvPicPr>
            <a:picLocks noChangeAspect="1"/>
          </p:cNvPicPr>
          <p:nvPr/>
        </p:nvPicPr>
        <p:blipFill>
          <a:blip r:embed="rId5"/>
          <a:srcRect l="4671"/>
          <a:stretch/>
        </p:blipFill>
        <p:spPr>
          <a:xfrm>
            <a:off x="135741" y="211147"/>
            <a:ext cx="3179298" cy="1541909"/>
          </a:xfrm>
          <a:prstGeom prst="rect">
            <a:avLst/>
          </a:prstGeom>
          <a:ln>
            <a:noFill/>
          </a:ln>
          <a:effectLst>
            <a:softEdge rad="112500"/>
          </a:effectLst>
        </p:spPr>
      </p:pic>
      <p:pic>
        <p:nvPicPr>
          <p:cNvPr id="12" name="Picture 6">
            <a:extLst>
              <a:ext uri="{FF2B5EF4-FFF2-40B4-BE49-F238E27FC236}">
                <a16:creationId xmlns:a16="http://schemas.microsoft.com/office/drawing/2014/main" id="{D0057AC6-E958-18E0-BF43-7A806C66C9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42029" y="191498"/>
            <a:ext cx="2355285" cy="2150053"/>
          </a:xfrm>
          <a:prstGeom prst="rect">
            <a:avLst/>
          </a:prstGeom>
          <a:ln>
            <a:noFill/>
          </a:ln>
          <a:effectLst>
            <a:softEdge rad="112500"/>
          </a:effectLst>
        </p:spPr>
      </p:pic>
      <p:sp>
        <p:nvSpPr>
          <p:cNvPr id="18" name="Free-form: Shape 13">
            <a:extLst>
              <a:ext uri="{FF2B5EF4-FFF2-40B4-BE49-F238E27FC236}">
                <a16:creationId xmlns:a16="http://schemas.microsoft.com/office/drawing/2014/main" id="{233C0D9D-B26B-1DCE-8493-626ABDD067F7}"/>
              </a:ext>
            </a:extLst>
          </p:cNvPr>
          <p:cNvSpPr/>
          <p:nvPr/>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3">
            <a:extLst>
              <a:ext uri="{FF2B5EF4-FFF2-40B4-BE49-F238E27FC236}">
                <a16:creationId xmlns:a16="http://schemas.microsoft.com/office/drawing/2014/main" id="{95CC7C89-8F0E-07BF-6D89-44A0358FDFC8}"/>
              </a:ext>
            </a:extLst>
          </p:cNvPr>
          <p:cNvSpPr/>
          <p:nvPr/>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3">
            <a:extLst>
              <a:ext uri="{FF2B5EF4-FFF2-40B4-BE49-F238E27FC236}">
                <a16:creationId xmlns:a16="http://schemas.microsoft.com/office/drawing/2014/main" id="{4FB94905-8FF2-701D-A980-9368DF7EB04F}"/>
              </a:ext>
            </a:extLst>
          </p:cNvPr>
          <p:cNvSpPr/>
          <p:nvPr/>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4" name="Textplatzhalter 13">
            <a:extLst>
              <a:ext uri="{FF2B5EF4-FFF2-40B4-BE49-F238E27FC236}">
                <a16:creationId xmlns:a16="http://schemas.microsoft.com/office/drawing/2014/main" id="{62B0D505-239D-592F-D28C-2537FD6A646E}"/>
              </a:ext>
            </a:extLst>
          </p:cNvPr>
          <p:cNvSpPr>
            <a:spLocks noGrp="1"/>
          </p:cNvSpPr>
          <p:nvPr>
            <p:ph type="body" sz="quarter" idx="13" hasCustomPrompt="1"/>
          </p:nvPr>
        </p:nvSpPr>
        <p:spPr>
          <a:xfrm>
            <a:off x="4192399" y="4130862"/>
            <a:ext cx="3822700" cy="1646695"/>
          </a:xfrm>
        </p:spPr>
        <p:txBody>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1800" b="0" i="0" u="none" strike="noStrike" kern="1200" cap="none" spc="0" normalizeH="0" baseline="0" noProof="0" dirty="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1st Week Kick Off Presentation</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1800" b="0" i="0" u="none" strike="noStrike" kern="1200" cap="none" spc="0" normalizeH="0" baseline="0" noProof="0" dirty="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Date: </a:t>
            </a:r>
            <a:r>
              <a:rPr kumimoji="0" lang="it-IT" sz="1800" b="0" i="0" u="none" strike="noStrike" kern="1200" cap="none" spc="0" normalizeH="0" baseline="0" noProof="0" dirty="0" err="1">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th</a:t>
            </a:r>
            <a:r>
              <a:rPr kumimoji="0" lang="it-IT" sz="1800" b="0" i="0" u="none" strike="noStrike" kern="1200" cap="none" spc="0" normalizeH="0" baseline="0" noProof="0" dirty="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  202X</a:t>
            </a:r>
          </a:p>
          <a:p>
            <a:pPr lvl="4"/>
            <a:endParaRPr lang="de-DE" dirty="0"/>
          </a:p>
        </p:txBody>
      </p:sp>
      <p:sp>
        <p:nvSpPr>
          <p:cNvPr id="15" name="Rechteck 14">
            <a:extLst>
              <a:ext uri="{FF2B5EF4-FFF2-40B4-BE49-F238E27FC236}">
                <a16:creationId xmlns:a16="http://schemas.microsoft.com/office/drawing/2014/main" id="{64AB9256-03E9-9046-0C0F-540CE5905E92}"/>
              </a:ext>
            </a:extLst>
          </p:cNvPr>
          <p:cNvSpPr/>
          <p:nvPr/>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 name="Picture 18" descr="A white windmill with clouds in the background&#10;&#10;AI-generated content may be incorrect.">
            <a:extLst>
              <a:ext uri="{FF2B5EF4-FFF2-40B4-BE49-F238E27FC236}">
                <a16:creationId xmlns:a16="http://schemas.microsoft.com/office/drawing/2014/main" id="{9BDED722-8EE5-8B7F-02CA-CF3939A785C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79950" y="5430021"/>
            <a:ext cx="1753782" cy="1313633"/>
          </a:xfrm>
          <a:prstGeom prst="rect">
            <a:avLst/>
          </a:prstGeom>
        </p:spPr>
      </p:pic>
    </p:spTree>
    <p:extLst>
      <p:ext uri="{BB962C8B-B14F-4D97-AF65-F5344CB8AC3E}">
        <p14:creationId xmlns:p14="http://schemas.microsoft.com/office/powerpoint/2010/main" val="3802491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oup starting slide (Explanation)">
    <p:spTree>
      <p:nvGrpSpPr>
        <p:cNvPr id="1" name=""/>
        <p:cNvGrpSpPr/>
        <p:nvPr/>
      </p:nvGrpSpPr>
      <p:grpSpPr>
        <a:xfrm>
          <a:off x="0" y="0"/>
          <a:ext cx="0" cy="0"/>
          <a:chOff x="0" y="0"/>
          <a:chExt cx="0" cy="0"/>
        </a:xfrm>
      </p:grpSpPr>
      <p:sp>
        <p:nvSpPr>
          <p:cNvPr id="23" name="Free-form: Shape 13">
            <a:extLst>
              <a:ext uri="{FF2B5EF4-FFF2-40B4-BE49-F238E27FC236}">
                <a16:creationId xmlns:a16="http://schemas.microsoft.com/office/drawing/2014/main" id="{006CCD24-9C06-8926-5E3D-FFE059D5F3D2}"/>
              </a:ext>
            </a:extLst>
          </p:cNvPr>
          <p:cNvSpPr/>
          <p:nvPr/>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13">
            <a:extLst>
              <a:ext uri="{FF2B5EF4-FFF2-40B4-BE49-F238E27FC236}">
                <a16:creationId xmlns:a16="http://schemas.microsoft.com/office/drawing/2014/main" id="{1157507C-DF41-F2F7-53B7-B0DC0D568F3B}"/>
              </a:ext>
            </a:extLst>
          </p:cNvPr>
          <p:cNvSpPr/>
          <p:nvPr/>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13">
            <a:extLst>
              <a:ext uri="{FF2B5EF4-FFF2-40B4-BE49-F238E27FC236}">
                <a16:creationId xmlns:a16="http://schemas.microsoft.com/office/drawing/2014/main" id="{94DF4395-7D7A-F380-6320-D9BE1ED1DA6D}"/>
              </a:ext>
            </a:extLst>
          </p:cNvPr>
          <p:cNvSpPr/>
          <p:nvPr/>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7" name="Picture 8" descr="Hochschule Flensburg (Fachhochschule) – Wikipedia">
            <a:extLst>
              <a:ext uri="{FF2B5EF4-FFF2-40B4-BE49-F238E27FC236}">
                <a16:creationId xmlns:a16="http://schemas.microsoft.com/office/drawing/2014/main" id="{811EE0A2-7B7B-66E3-65D6-A7F1D9F140E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0439" y="264131"/>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8" name="Picture 14" descr="A black background with blue text&#10;&#10;AI-generated content may be incorrect.">
            <a:extLst>
              <a:ext uri="{FF2B5EF4-FFF2-40B4-BE49-F238E27FC236}">
                <a16:creationId xmlns:a16="http://schemas.microsoft.com/office/drawing/2014/main" id="{88A3D22E-A6EF-A83A-86D5-C96D877CA4B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445647" y="71991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9" name="Grafik 28">
            <a:extLst>
              <a:ext uri="{FF2B5EF4-FFF2-40B4-BE49-F238E27FC236}">
                <a16:creationId xmlns:a16="http://schemas.microsoft.com/office/drawing/2014/main" id="{427A8DB5-3232-D63A-5CDF-0D3AD6450C3C}"/>
              </a:ext>
            </a:extLst>
          </p:cNvPr>
          <p:cNvPicPr>
            <a:picLocks noChangeAspect="1"/>
          </p:cNvPicPr>
          <p:nvPr/>
        </p:nvPicPr>
        <p:blipFill>
          <a:blip r:embed="rId4"/>
          <a:stretch>
            <a:fillRect/>
          </a:stretch>
        </p:blipFill>
        <p:spPr>
          <a:xfrm>
            <a:off x="3825103" y="243054"/>
            <a:ext cx="3684008" cy="1703223"/>
          </a:xfrm>
          <a:prstGeom prst="rect">
            <a:avLst/>
          </a:prstGeom>
        </p:spPr>
      </p:pic>
      <p:sp>
        <p:nvSpPr>
          <p:cNvPr id="30" name="Title 1">
            <a:extLst>
              <a:ext uri="{FF2B5EF4-FFF2-40B4-BE49-F238E27FC236}">
                <a16:creationId xmlns:a16="http://schemas.microsoft.com/office/drawing/2014/main" id="{00FE6863-2F47-99AC-390A-A1BB2D1DD014}"/>
              </a:ext>
            </a:extLst>
          </p:cNvPr>
          <p:cNvSpPr>
            <a:spLocks noGrp="1"/>
          </p:cNvSpPr>
          <p:nvPr>
            <p:ph type="ctrTitle" hasCustomPrompt="1"/>
          </p:nvPr>
        </p:nvSpPr>
        <p:spPr>
          <a:xfrm>
            <a:off x="1412841" y="2206093"/>
            <a:ext cx="9144000" cy="912598"/>
          </a:xfrm>
        </p:spPr>
        <p:txBody>
          <a:bodyPr>
            <a:noAutofit/>
          </a:bodyPr>
          <a:lstStyle>
            <a:lvl1pPr algn="ctr">
              <a:defRPr>
                <a:latin typeface="Aptos (Textkörper)"/>
              </a:defRPr>
            </a:lvl1pPr>
          </a:lstStyle>
          <a:p>
            <a:r>
              <a:rPr lang="it-IT" sz="4000" dirty="0"/>
              <a:t>Weekly report: Team X</a:t>
            </a:r>
            <a:endParaRPr lang="en-GB" sz="4000" dirty="0"/>
          </a:p>
        </p:txBody>
      </p:sp>
      <p:sp>
        <p:nvSpPr>
          <p:cNvPr id="31" name="Subtitle 2">
            <a:extLst>
              <a:ext uri="{FF2B5EF4-FFF2-40B4-BE49-F238E27FC236}">
                <a16:creationId xmlns:a16="http://schemas.microsoft.com/office/drawing/2014/main" id="{05E4BCC5-2CED-6F6C-22B8-AF74FB7ECFF3}"/>
              </a:ext>
            </a:extLst>
          </p:cNvPr>
          <p:cNvSpPr>
            <a:spLocks noGrp="1"/>
          </p:cNvSpPr>
          <p:nvPr>
            <p:ph type="subTitle" idx="1" hasCustomPrompt="1"/>
          </p:nvPr>
        </p:nvSpPr>
        <p:spPr>
          <a:xfrm>
            <a:off x="1412841" y="3429000"/>
            <a:ext cx="9144000" cy="1143000"/>
          </a:xfrm>
        </p:spPr>
        <p:txBody>
          <a:bodyPr vert="horz" lIns="91440" tIns="45720" rIns="91440" bIns="45720" rtlCol="0" anchor="t">
            <a:normAutofit/>
          </a:bodyPr>
          <a:lstStyle>
            <a:lvl1pPr marL="0" indent="0" algn="ctr">
              <a:buNone/>
              <a:defRPr sz="1400">
                <a:latin typeface="Aptos (Textkörper)"/>
              </a:defRPr>
            </a:lvl1pPr>
          </a:lstStyle>
          <a:p>
            <a:r>
              <a:rPr lang="it-IT" sz="2000" dirty="0"/>
              <a:t>Week </a:t>
            </a:r>
            <a:r>
              <a:rPr lang="it-IT" sz="2000" dirty="0" err="1"/>
              <a:t>number</a:t>
            </a:r>
            <a:r>
              <a:rPr lang="it-IT" sz="2000" dirty="0"/>
              <a:t>: X</a:t>
            </a:r>
          </a:p>
          <a:p>
            <a:r>
              <a:rPr lang="it-IT" sz="2000" dirty="0"/>
              <a:t>Date: DD/MM/20JJ</a:t>
            </a:r>
          </a:p>
          <a:p>
            <a:r>
              <a:rPr lang="it-IT" sz="2000" dirty="0"/>
              <a:t>Supervisor: X</a:t>
            </a:r>
          </a:p>
        </p:txBody>
      </p:sp>
      <p:sp>
        <p:nvSpPr>
          <p:cNvPr id="33" name="Isosceles Triangle 6">
            <a:extLst>
              <a:ext uri="{FF2B5EF4-FFF2-40B4-BE49-F238E27FC236}">
                <a16:creationId xmlns:a16="http://schemas.microsoft.com/office/drawing/2014/main" id="{8F14EFAA-BA4A-16CF-D530-1409613BCF5B}"/>
              </a:ext>
            </a:extLst>
          </p:cNvPr>
          <p:cNvSpPr/>
          <p:nvPr/>
        </p:nvSpPr>
        <p:spPr>
          <a:xfrm>
            <a:off x="1412841" y="3797919"/>
            <a:ext cx="1380683" cy="886192"/>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34" name="Rectangle 7">
            <a:extLst>
              <a:ext uri="{FF2B5EF4-FFF2-40B4-BE49-F238E27FC236}">
                <a16:creationId xmlns:a16="http://schemas.microsoft.com/office/drawing/2014/main" id="{8CE1E011-6342-172C-03D6-BB39C24A4CCA}"/>
              </a:ext>
            </a:extLst>
          </p:cNvPr>
          <p:cNvSpPr/>
          <p:nvPr/>
        </p:nvSpPr>
        <p:spPr>
          <a:xfrm>
            <a:off x="354584" y="4714776"/>
            <a:ext cx="3512337" cy="95079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t>First slide for groups</a:t>
            </a:r>
            <a:endParaRPr lang="en-GB" dirty="0"/>
          </a:p>
        </p:txBody>
      </p:sp>
      <p:sp>
        <p:nvSpPr>
          <p:cNvPr id="35" name="Rectangle 11">
            <a:extLst>
              <a:ext uri="{FF2B5EF4-FFF2-40B4-BE49-F238E27FC236}">
                <a16:creationId xmlns:a16="http://schemas.microsoft.com/office/drawing/2014/main" id="{6845F127-8728-66DF-03BE-17119A20BE05}"/>
              </a:ext>
            </a:extLst>
          </p:cNvPr>
          <p:cNvSpPr/>
          <p:nvPr/>
        </p:nvSpPr>
        <p:spPr>
          <a:xfrm>
            <a:off x="1860787" y="3750629"/>
            <a:ext cx="484789"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36" name="Text Placeholder 2">
            <a:extLst>
              <a:ext uri="{FF2B5EF4-FFF2-40B4-BE49-F238E27FC236}">
                <a16:creationId xmlns:a16="http://schemas.microsoft.com/office/drawing/2014/main" id="{C16AED5E-219C-C34B-7790-17DE2532E623}"/>
              </a:ext>
            </a:extLst>
          </p:cNvPr>
          <p:cNvSpPr>
            <a:spLocks noGrp="1"/>
          </p:cNvSpPr>
          <p:nvPr>
            <p:ph type="body" idx="10" hasCustomPrompt="1"/>
          </p:nvPr>
        </p:nvSpPr>
        <p:spPr>
          <a:xfrm>
            <a:off x="3316826" y="4882309"/>
            <a:ext cx="5128821" cy="331717"/>
          </a:xfrm>
        </p:spPr>
        <p:txBody>
          <a:bodyPr anchor="b">
            <a:noAutofit/>
          </a:bodyPr>
          <a:lstStyle>
            <a:lvl1pPr marL="0" indent="0" algn="ctr">
              <a:buNone/>
              <a:defRPr sz="1400" b="0">
                <a:latin typeface="Aptos (Textkörpe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Group </a:t>
            </a:r>
            <a:r>
              <a:rPr lang="de-DE" dirty="0" err="1"/>
              <a:t>members</a:t>
            </a:r>
            <a:r>
              <a:rPr lang="de-DE" dirty="0"/>
              <a:t>: </a:t>
            </a:r>
          </a:p>
        </p:txBody>
      </p:sp>
      <p:sp>
        <p:nvSpPr>
          <p:cNvPr id="37" name="Rechteck 36">
            <a:extLst>
              <a:ext uri="{FF2B5EF4-FFF2-40B4-BE49-F238E27FC236}">
                <a16:creationId xmlns:a16="http://schemas.microsoft.com/office/drawing/2014/main" id="{64DF9F8D-C604-6899-2A9F-B743F135F77F}"/>
              </a:ext>
            </a:extLst>
          </p:cNvPr>
          <p:cNvSpPr/>
          <p:nvPr/>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6" name="Picture 18" descr="A white windmill with clouds in the background&#10;&#10;AI-generated content may be incorrect.">
            <a:extLst>
              <a:ext uri="{FF2B5EF4-FFF2-40B4-BE49-F238E27FC236}">
                <a16:creationId xmlns:a16="http://schemas.microsoft.com/office/drawing/2014/main" id="{B8218494-1E39-5AB1-96DD-936404956E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79950" y="5430021"/>
            <a:ext cx="1753782" cy="1313633"/>
          </a:xfrm>
          <a:prstGeom prst="rect">
            <a:avLst/>
          </a:prstGeom>
        </p:spPr>
      </p:pic>
      <p:sp>
        <p:nvSpPr>
          <p:cNvPr id="5" name="Rectangle 7">
            <a:extLst>
              <a:ext uri="{FF2B5EF4-FFF2-40B4-BE49-F238E27FC236}">
                <a16:creationId xmlns:a16="http://schemas.microsoft.com/office/drawing/2014/main" id="{CA471AD5-5F65-3AF9-9ABB-E6F7475B2672}"/>
              </a:ext>
            </a:extLst>
          </p:cNvPr>
          <p:cNvSpPr/>
          <p:nvPr/>
        </p:nvSpPr>
        <p:spPr>
          <a:xfrm>
            <a:off x="8606553" y="4043001"/>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9" name="Datumsplatzhalter 8">
            <a:extLst>
              <a:ext uri="{FF2B5EF4-FFF2-40B4-BE49-F238E27FC236}">
                <a16:creationId xmlns:a16="http://schemas.microsoft.com/office/drawing/2014/main" id="{92481298-4C0F-EA65-5B6C-A8C699065050}"/>
              </a:ext>
            </a:extLst>
          </p:cNvPr>
          <p:cNvSpPr>
            <a:spLocks noGrp="1"/>
          </p:cNvSpPr>
          <p:nvPr>
            <p:ph type="dt" sz="half" idx="11"/>
          </p:nvPr>
        </p:nvSpPr>
        <p:spPr/>
        <p:txBody>
          <a:bodyPr/>
          <a:lstStyle/>
          <a:p>
            <a:r>
              <a:rPr lang="en-US"/>
              <a:t>25/11/2025</a:t>
            </a:r>
            <a:endParaRPr lang="en-GB" dirty="0"/>
          </a:p>
        </p:txBody>
      </p:sp>
      <p:sp>
        <p:nvSpPr>
          <p:cNvPr id="10" name="Fußzeilenplatzhalter 9">
            <a:extLst>
              <a:ext uri="{FF2B5EF4-FFF2-40B4-BE49-F238E27FC236}">
                <a16:creationId xmlns:a16="http://schemas.microsoft.com/office/drawing/2014/main" id="{FE2B40EC-630A-E9C4-E03F-6B4407322076}"/>
              </a:ext>
            </a:extLst>
          </p:cNvPr>
          <p:cNvSpPr>
            <a:spLocks noGrp="1"/>
          </p:cNvSpPr>
          <p:nvPr>
            <p:ph type="ftr" sz="quarter" idx="12"/>
          </p:nvPr>
        </p:nvSpPr>
        <p:spPr/>
        <p:txBody>
          <a:bodyPr/>
          <a:lstStyle/>
          <a:p>
            <a:r>
              <a:rPr lang="sv-SE"/>
              <a:t>Feedback &amp; Lidar Controller  / Optimus Syria</a:t>
            </a:r>
            <a:endParaRPr lang="en-GB" dirty="0"/>
          </a:p>
        </p:txBody>
      </p:sp>
      <p:sp>
        <p:nvSpPr>
          <p:cNvPr id="11" name="Foliennummernplatzhalter 10">
            <a:extLst>
              <a:ext uri="{FF2B5EF4-FFF2-40B4-BE49-F238E27FC236}">
                <a16:creationId xmlns:a16="http://schemas.microsoft.com/office/drawing/2014/main" id="{B363FCB4-D064-121D-B878-2F1607405806}"/>
              </a:ext>
            </a:extLst>
          </p:cNvPr>
          <p:cNvSpPr>
            <a:spLocks noGrp="1"/>
          </p:cNvSpPr>
          <p:nvPr>
            <p:ph type="sldNum" sz="quarter" idx="13"/>
          </p:nvPr>
        </p:nvSpPr>
        <p:spPr/>
        <p:txBody>
          <a:bodyPr/>
          <a:lstStyle/>
          <a:p>
            <a:fld id="{013F6232-4F06-48BA-8F69-BF531F607829}" type="slidenum">
              <a:rPr lang="en-GB" smtClean="0"/>
              <a:pPr/>
              <a:t>‹#›</a:t>
            </a:fld>
            <a:endParaRPr lang="en-GB" dirty="0"/>
          </a:p>
        </p:txBody>
      </p:sp>
    </p:spTree>
    <p:extLst>
      <p:ext uri="{BB962C8B-B14F-4D97-AF65-F5344CB8AC3E}">
        <p14:creationId xmlns:p14="http://schemas.microsoft.com/office/powerpoint/2010/main" val="13619560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oup starting slide">
    <p:spTree>
      <p:nvGrpSpPr>
        <p:cNvPr id="1" name=""/>
        <p:cNvGrpSpPr/>
        <p:nvPr/>
      </p:nvGrpSpPr>
      <p:grpSpPr>
        <a:xfrm>
          <a:off x="0" y="0"/>
          <a:ext cx="0" cy="0"/>
          <a:chOff x="0" y="0"/>
          <a:chExt cx="0" cy="0"/>
        </a:xfrm>
      </p:grpSpPr>
      <p:sp>
        <p:nvSpPr>
          <p:cNvPr id="23" name="Free-form: Shape 13">
            <a:extLst>
              <a:ext uri="{FF2B5EF4-FFF2-40B4-BE49-F238E27FC236}">
                <a16:creationId xmlns:a16="http://schemas.microsoft.com/office/drawing/2014/main" id="{006CCD24-9C06-8926-5E3D-FFE059D5F3D2}"/>
              </a:ext>
            </a:extLst>
          </p:cNvPr>
          <p:cNvSpPr/>
          <p:nvPr/>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13">
            <a:extLst>
              <a:ext uri="{FF2B5EF4-FFF2-40B4-BE49-F238E27FC236}">
                <a16:creationId xmlns:a16="http://schemas.microsoft.com/office/drawing/2014/main" id="{1157507C-DF41-F2F7-53B7-B0DC0D568F3B}"/>
              </a:ext>
            </a:extLst>
          </p:cNvPr>
          <p:cNvSpPr/>
          <p:nvPr/>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13">
            <a:extLst>
              <a:ext uri="{FF2B5EF4-FFF2-40B4-BE49-F238E27FC236}">
                <a16:creationId xmlns:a16="http://schemas.microsoft.com/office/drawing/2014/main" id="{94DF4395-7D7A-F380-6320-D9BE1ED1DA6D}"/>
              </a:ext>
            </a:extLst>
          </p:cNvPr>
          <p:cNvSpPr/>
          <p:nvPr/>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7" name="Picture 8" descr="Hochschule Flensburg (Fachhochschule) – Wikipedia">
            <a:extLst>
              <a:ext uri="{FF2B5EF4-FFF2-40B4-BE49-F238E27FC236}">
                <a16:creationId xmlns:a16="http://schemas.microsoft.com/office/drawing/2014/main" id="{811EE0A2-7B7B-66E3-65D6-A7F1D9F140E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0439" y="264131"/>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8" name="Picture 14" descr="A black background with blue text&#10;&#10;AI-generated content may be incorrect.">
            <a:extLst>
              <a:ext uri="{FF2B5EF4-FFF2-40B4-BE49-F238E27FC236}">
                <a16:creationId xmlns:a16="http://schemas.microsoft.com/office/drawing/2014/main" id="{88A3D22E-A6EF-A83A-86D5-C96D877CA4B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445647" y="71991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9" name="Grafik 28">
            <a:extLst>
              <a:ext uri="{FF2B5EF4-FFF2-40B4-BE49-F238E27FC236}">
                <a16:creationId xmlns:a16="http://schemas.microsoft.com/office/drawing/2014/main" id="{427A8DB5-3232-D63A-5CDF-0D3AD6450C3C}"/>
              </a:ext>
            </a:extLst>
          </p:cNvPr>
          <p:cNvPicPr>
            <a:picLocks noChangeAspect="1"/>
          </p:cNvPicPr>
          <p:nvPr/>
        </p:nvPicPr>
        <p:blipFill>
          <a:blip r:embed="rId4"/>
          <a:stretch>
            <a:fillRect/>
          </a:stretch>
        </p:blipFill>
        <p:spPr>
          <a:xfrm>
            <a:off x="3825103" y="243054"/>
            <a:ext cx="3684008" cy="1703223"/>
          </a:xfrm>
          <a:prstGeom prst="rect">
            <a:avLst/>
          </a:prstGeom>
        </p:spPr>
      </p:pic>
      <p:sp>
        <p:nvSpPr>
          <p:cNvPr id="30" name="Title 1">
            <a:extLst>
              <a:ext uri="{FF2B5EF4-FFF2-40B4-BE49-F238E27FC236}">
                <a16:creationId xmlns:a16="http://schemas.microsoft.com/office/drawing/2014/main" id="{00FE6863-2F47-99AC-390A-A1BB2D1DD014}"/>
              </a:ext>
            </a:extLst>
          </p:cNvPr>
          <p:cNvSpPr>
            <a:spLocks noGrp="1"/>
          </p:cNvSpPr>
          <p:nvPr>
            <p:ph type="ctrTitle" hasCustomPrompt="1"/>
          </p:nvPr>
        </p:nvSpPr>
        <p:spPr>
          <a:xfrm>
            <a:off x="1412841" y="2206093"/>
            <a:ext cx="9144000" cy="912598"/>
          </a:xfrm>
        </p:spPr>
        <p:txBody>
          <a:bodyPr>
            <a:noAutofit/>
          </a:bodyPr>
          <a:lstStyle>
            <a:lvl1pPr algn="ctr">
              <a:defRPr>
                <a:latin typeface="Aptos (Textkörper)"/>
              </a:defRPr>
            </a:lvl1pPr>
          </a:lstStyle>
          <a:p>
            <a:r>
              <a:rPr lang="it-IT" sz="4000" dirty="0"/>
              <a:t>Weekly report: Team X</a:t>
            </a:r>
            <a:endParaRPr lang="en-GB" sz="4000" dirty="0"/>
          </a:p>
        </p:txBody>
      </p:sp>
      <p:sp>
        <p:nvSpPr>
          <p:cNvPr id="31" name="Subtitle 2">
            <a:extLst>
              <a:ext uri="{FF2B5EF4-FFF2-40B4-BE49-F238E27FC236}">
                <a16:creationId xmlns:a16="http://schemas.microsoft.com/office/drawing/2014/main" id="{05E4BCC5-2CED-6F6C-22B8-AF74FB7ECFF3}"/>
              </a:ext>
            </a:extLst>
          </p:cNvPr>
          <p:cNvSpPr>
            <a:spLocks noGrp="1" noRot="1" noMove="1" noResize="1" noEditPoints="1" noAdjustHandles="1" noChangeArrowheads="1" noChangeShapeType="1"/>
          </p:cNvSpPr>
          <p:nvPr>
            <p:ph type="subTitle" idx="1" hasCustomPrompt="1"/>
          </p:nvPr>
        </p:nvSpPr>
        <p:spPr>
          <a:xfrm>
            <a:off x="1412841" y="3429000"/>
            <a:ext cx="9144000" cy="1143000"/>
          </a:xfrm>
        </p:spPr>
        <p:txBody>
          <a:bodyPr vert="horz" lIns="91440" tIns="45720" rIns="91440" bIns="45720" rtlCol="0" anchor="t">
            <a:normAutofit/>
          </a:bodyPr>
          <a:lstStyle>
            <a:lvl1pPr marL="0" indent="0" algn="ctr">
              <a:buNone/>
              <a:defRPr sz="1400">
                <a:latin typeface="Aptos (Textkörper)"/>
              </a:defRPr>
            </a:lvl1pPr>
          </a:lstStyle>
          <a:p>
            <a:r>
              <a:rPr lang="it-IT" sz="2000" dirty="0"/>
              <a:t>Week </a:t>
            </a:r>
            <a:r>
              <a:rPr lang="it-IT" sz="2000" dirty="0" err="1"/>
              <a:t>number</a:t>
            </a:r>
            <a:r>
              <a:rPr lang="it-IT" sz="2000" dirty="0"/>
              <a:t>: X</a:t>
            </a:r>
          </a:p>
          <a:p>
            <a:r>
              <a:rPr lang="it-IT" sz="2000" dirty="0"/>
              <a:t>Date: DD/MM/20JJ</a:t>
            </a:r>
          </a:p>
          <a:p>
            <a:r>
              <a:rPr lang="it-IT" sz="2000" dirty="0"/>
              <a:t>Supervisor: X</a:t>
            </a:r>
          </a:p>
        </p:txBody>
      </p:sp>
      <p:sp>
        <p:nvSpPr>
          <p:cNvPr id="4" name="Text Placeholder 2">
            <a:extLst>
              <a:ext uri="{FF2B5EF4-FFF2-40B4-BE49-F238E27FC236}">
                <a16:creationId xmlns:a16="http://schemas.microsoft.com/office/drawing/2014/main" id="{05588F89-BF05-8BCF-9834-AE05DA2404B4}"/>
              </a:ext>
            </a:extLst>
          </p:cNvPr>
          <p:cNvSpPr>
            <a:spLocks noGrp="1" noRot="1" noMove="1" noResize="1" noEditPoints="1" noAdjustHandles="1" noChangeArrowheads="1" noChangeShapeType="1"/>
          </p:cNvSpPr>
          <p:nvPr>
            <p:ph type="body" idx="10" hasCustomPrompt="1"/>
          </p:nvPr>
        </p:nvSpPr>
        <p:spPr>
          <a:xfrm>
            <a:off x="3316826" y="4882309"/>
            <a:ext cx="5128821" cy="331717"/>
          </a:xfrm>
        </p:spPr>
        <p:txBody>
          <a:bodyPr anchor="b">
            <a:noAutofit/>
          </a:bodyPr>
          <a:lstStyle>
            <a:lvl1pPr marL="0" indent="0" algn="ctr">
              <a:buNone/>
              <a:defRPr sz="1400" b="0">
                <a:latin typeface="Aptos (Textkörpe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Group </a:t>
            </a:r>
            <a:r>
              <a:rPr lang="de-DE" dirty="0" err="1"/>
              <a:t>members</a:t>
            </a:r>
            <a:r>
              <a:rPr lang="de-DE" dirty="0"/>
              <a:t>: </a:t>
            </a:r>
          </a:p>
        </p:txBody>
      </p:sp>
      <p:sp>
        <p:nvSpPr>
          <p:cNvPr id="9" name="Rechteck 8">
            <a:extLst>
              <a:ext uri="{FF2B5EF4-FFF2-40B4-BE49-F238E27FC236}">
                <a16:creationId xmlns:a16="http://schemas.microsoft.com/office/drawing/2014/main" id="{83077A87-075C-C9F1-CF08-7A350F77E612}"/>
              </a:ext>
            </a:extLst>
          </p:cNvPr>
          <p:cNvSpPr/>
          <p:nvPr/>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6" name="Picture 18" descr="A white windmill with clouds in the background&#10;&#10;AI-generated content may be incorrect.">
            <a:extLst>
              <a:ext uri="{FF2B5EF4-FFF2-40B4-BE49-F238E27FC236}">
                <a16:creationId xmlns:a16="http://schemas.microsoft.com/office/drawing/2014/main" id="{B8218494-1E39-5AB1-96DD-936404956E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79950" y="5430021"/>
            <a:ext cx="1753782" cy="1313633"/>
          </a:xfrm>
          <a:prstGeom prst="rect">
            <a:avLst/>
          </a:prstGeom>
        </p:spPr>
      </p:pic>
      <p:sp>
        <p:nvSpPr>
          <p:cNvPr id="5" name="Datumsplatzhalter 4">
            <a:extLst>
              <a:ext uri="{FF2B5EF4-FFF2-40B4-BE49-F238E27FC236}">
                <a16:creationId xmlns:a16="http://schemas.microsoft.com/office/drawing/2014/main" id="{DB3C889B-2F55-2C2F-122E-E89ABE6A2D95}"/>
              </a:ext>
            </a:extLst>
          </p:cNvPr>
          <p:cNvSpPr>
            <a:spLocks noGrp="1"/>
          </p:cNvSpPr>
          <p:nvPr>
            <p:ph type="dt" sz="half" idx="11"/>
          </p:nvPr>
        </p:nvSpPr>
        <p:spPr/>
        <p:txBody>
          <a:bodyPr/>
          <a:lstStyle/>
          <a:p>
            <a:r>
              <a:rPr lang="en-US"/>
              <a:t>25/11/2025</a:t>
            </a:r>
            <a:endParaRPr lang="en-GB" dirty="0"/>
          </a:p>
        </p:txBody>
      </p:sp>
      <p:sp>
        <p:nvSpPr>
          <p:cNvPr id="6" name="Fußzeilenplatzhalter 5">
            <a:extLst>
              <a:ext uri="{FF2B5EF4-FFF2-40B4-BE49-F238E27FC236}">
                <a16:creationId xmlns:a16="http://schemas.microsoft.com/office/drawing/2014/main" id="{E2877DC7-CA1E-181B-77C7-99C60829ED57}"/>
              </a:ext>
            </a:extLst>
          </p:cNvPr>
          <p:cNvSpPr>
            <a:spLocks noGrp="1"/>
          </p:cNvSpPr>
          <p:nvPr>
            <p:ph type="ftr" sz="quarter" idx="12"/>
          </p:nvPr>
        </p:nvSpPr>
        <p:spPr/>
        <p:txBody>
          <a:bodyPr/>
          <a:lstStyle/>
          <a:p>
            <a:r>
              <a:rPr lang="sv-SE"/>
              <a:t>Feedback &amp; Lidar Controller  / Optimus Syria</a:t>
            </a:r>
            <a:endParaRPr lang="en-GB" dirty="0"/>
          </a:p>
        </p:txBody>
      </p:sp>
      <p:sp>
        <p:nvSpPr>
          <p:cNvPr id="7" name="Foliennummernplatzhalter 6">
            <a:extLst>
              <a:ext uri="{FF2B5EF4-FFF2-40B4-BE49-F238E27FC236}">
                <a16:creationId xmlns:a16="http://schemas.microsoft.com/office/drawing/2014/main" id="{043E1ABD-9DAE-E035-8B0B-D41EFED3FC86}"/>
              </a:ext>
            </a:extLst>
          </p:cNvPr>
          <p:cNvSpPr>
            <a:spLocks noGrp="1"/>
          </p:cNvSpPr>
          <p:nvPr>
            <p:ph type="sldNum" sz="quarter" idx="13"/>
          </p:nvPr>
        </p:nvSpPr>
        <p:spPr/>
        <p:txBody>
          <a:bodyPr/>
          <a:lstStyle/>
          <a:p>
            <a:fld id="{013F6232-4F06-48BA-8F69-BF531F607829}" type="slidenum">
              <a:rPr lang="en-GB" smtClean="0"/>
              <a:pPr/>
              <a:t>‹#›</a:t>
            </a:fld>
            <a:endParaRPr lang="en-GB" dirty="0"/>
          </a:p>
        </p:txBody>
      </p:sp>
    </p:spTree>
    <p:extLst>
      <p:ext uri="{BB962C8B-B14F-4D97-AF65-F5344CB8AC3E}">
        <p14:creationId xmlns:p14="http://schemas.microsoft.com/office/powerpoint/2010/main" val="3535209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CD36E4AE-BF2C-D504-0887-03D81D07CDC8}"/>
              </a:ext>
            </a:extLst>
          </p:cNvPr>
          <p:cNvSpPr/>
          <p:nvPr/>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Free-form: Shape 13">
            <a:extLst>
              <a:ext uri="{FF2B5EF4-FFF2-40B4-BE49-F238E27FC236}">
                <a16:creationId xmlns:a16="http://schemas.microsoft.com/office/drawing/2014/main" id="{7608A32D-44F3-01F2-D6ED-924DFF3CC333}"/>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 Placeholder 2">
            <a:extLst>
              <a:ext uri="{FF2B5EF4-FFF2-40B4-BE49-F238E27FC236}">
                <a16:creationId xmlns:a16="http://schemas.microsoft.com/office/drawing/2014/main" id="{476B4C36-B64B-F839-789E-0C40D5E60E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8" name="Free-form: Shape 13">
            <a:extLst>
              <a:ext uri="{FF2B5EF4-FFF2-40B4-BE49-F238E27FC236}">
                <a16:creationId xmlns:a16="http://schemas.microsoft.com/office/drawing/2014/main" id="{1DE142EE-E501-93E6-565D-AB4A5A647F0F}"/>
              </a:ext>
            </a:extLst>
          </p:cNvPr>
          <p:cNvSpPr/>
          <p:nvPr/>
        </p:nvSpPr>
        <p:spPr>
          <a:xfrm rot="10800000">
            <a:off x="-2090" y="-18190"/>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776A7918-93DA-D7CE-97A3-DDF18B379B65}"/>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F164827E-F028-4C94-EB63-600BCABCD15C}"/>
              </a:ext>
            </a:extLst>
          </p:cNvPr>
          <p:cNvSpPr>
            <a:spLocks noGrp="1"/>
          </p:cNvSpPr>
          <p:nvPr>
            <p:ph type="ftr" sz="quarter" idx="3"/>
          </p:nvPr>
        </p:nvSpPr>
        <p:spPr>
          <a:xfrm>
            <a:off x="8474613" y="6564113"/>
            <a:ext cx="2879187" cy="365125"/>
          </a:xfrm>
          <a:prstGeom prst="rect">
            <a:avLst/>
          </a:prstGeom>
        </p:spPr>
        <p:txBody>
          <a:bodyPr vert="horz" lIns="91440" tIns="45720" rIns="91440" bIns="45720" rtlCol="0" anchor="ctr"/>
          <a:lstStyle>
            <a:lvl1pPr algn="r">
              <a:defRPr sz="1200">
                <a:solidFill>
                  <a:schemeClr val="bg1"/>
                </a:solidFill>
              </a:defRPr>
            </a:lvl1pPr>
          </a:lstStyle>
          <a:p>
            <a:r>
              <a:rPr lang="sv-SE"/>
              <a:t>Feedback &amp; Lidar Controller  / Optimus Syria</a:t>
            </a:r>
            <a:endParaRPr lang="en-US"/>
          </a:p>
        </p:txBody>
      </p:sp>
      <p:sp>
        <p:nvSpPr>
          <p:cNvPr id="6" name="Slide Number Placeholder 5">
            <a:extLst>
              <a:ext uri="{FF2B5EF4-FFF2-40B4-BE49-F238E27FC236}">
                <a16:creationId xmlns:a16="http://schemas.microsoft.com/office/drawing/2014/main" id="{00B8DD39-3F07-862A-3C91-AC524529184A}"/>
              </a:ext>
            </a:extLst>
          </p:cNvPr>
          <p:cNvSpPr>
            <a:spLocks noGrp="1"/>
          </p:cNvSpPr>
          <p:nvPr>
            <p:ph type="sldNum" sz="quarter" idx="4"/>
          </p:nvPr>
        </p:nvSpPr>
        <p:spPr>
          <a:xfrm>
            <a:off x="1949570" y="6566803"/>
            <a:ext cx="928958" cy="365125"/>
          </a:xfrm>
          <a:prstGeom prst="rect">
            <a:avLst/>
          </a:prstGeom>
        </p:spPr>
        <p:txBody>
          <a:bodyPr vert="horz" lIns="91440" tIns="45720" rIns="91440" bIns="45720" rtlCol="0" anchor="ctr"/>
          <a:lstStyle>
            <a:lvl1pPr algn="ctr">
              <a:defRPr sz="1200">
                <a:solidFill>
                  <a:schemeClr val="bg1"/>
                </a:solidFill>
              </a:defRPr>
            </a:lvl1pPr>
          </a:lstStyle>
          <a:p>
            <a:fld id="{3A84E93A-72FE-4BB6-A500-FB6DD421822B}" type="slidenum">
              <a:rPr lang="en-US" smtClean="0"/>
              <a:t>‹#›</a:t>
            </a:fld>
            <a:endParaRPr lang="en-US"/>
          </a:p>
        </p:txBody>
      </p:sp>
      <p:sp>
        <p:nvSpPr>
          <p:cNvPr id="4" name="Date Placeholder 3">
            <a:extLst>
              <a:ext uri="{FF2B5EF4-FFF2-40B4-BE49-F238E27FC236}">
                <a16:creationId xmlns:a16="http://schemas.microsoft.com/office/drawing/2014/main" id="{A6D593D3-E60D-CF97-AC8A-2B02D933B02F}"/>
              </a:ext>
            </a:extLst>
          </p:cNvPr>
          <p:cNvSpPr>
            <a:spLocks noGrp="1"/>
          </p:cNvSpPr>
          <p:nvPr>
            <p:ph type="dt" sz="half" idx="2"/>
          </p:nvPr>
        </p:nvSpPr>
        <p:spPr>
          <a:xfrm>
            <a:off x="838200" y="6566803"/>
            <a:ext cx="1111370" cy="365125"/>
          </a:xfrm>
          <a:prstGeom prst="rect">
            <a:avLst/>
          </a:prstGeom>
        </p:spPr>
        <p:txBody>
          <a:bodyPr vert="horz" lIns="91440" tIns="45720" rIns="91440" bIns="45720" rtlCol="0" anchor="ctr"/>
          <a:lstStyle>
            <a:lvl1pPr algn="l">
              <a:defRPr sz="1200">
                <a:solidFill>
                  <a:schemeClr val="bg1"/>
                </a:solidFill>
              </a:defRPr>
            </a:lvl1pPr>
          </a:lstStyle>
          <a:p>
            <a:r>
              <a:rPr lang="en-US"/>
              <a:t>25/11/2025</a:t>
            </a:r>
          </a:p>
        </p:txBody>
      </p:sp>
      <p:sp>
        <p:nvSpPr>
          <p:cNvPr id="11" name="Free-form: Shape 13">
            <a:extLst>
              <a:ext uri="{FF2B5EF4-FFF2-40B4-BE49-F238E27FC236}">
                <a16:creationId xmlns:a16="http://schemas.microsoft.com/office/drawing/2014/main" id="{1ABD3F4B-4853-EC8E-00EB-5109F86CE0F1}"/>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Free-form: Shape 13">
            <a:extLst>
              <a:ext uri="{FF2B5EF4-FFF2-40B4-BE49-F238E27FC236}">
                <a16:creationId xmlns:a16="http://schemas.microsoft.com/office/drawing/2014/main" id="{2BF40EC9-0D42-5E08-04BD-F330229C7518}"/>
              </a:ext>
            </a:extLst>
          </p:cNvPr>
          <p:cNvSpPr/>
          <p:nvPr/>
        </p:nvSpPr>
        <p:spPr>
          <a:xfrm rot="10800000">
            <a:off x="-2090" y="-18190"/>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Shape 13">
            <a:extLst>
              <a:ext uri="{FF2B5EF4-FFF2-40B4-BE49-F238E27FC236}">
                <a16:creationId xmlns:a16="http://schemas.microsoft.com/office/drawing/2014/main" id="{0BB1BAA4-B843-57F3-9FCE-C9585D332FAE}"/>
              </a:ext>
            </a:extLst>
          </p:cNvPr>
          <p:cNvSpPr/>
          <p:nvPr/>
        </p:nvSpPr>
        <p:spPr>
          <a:xfrm rot="10800000">
            <a:off x="-26376" y="-254312"/>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74A75E23-C68E-95B1-6539-4A187BBC42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endParaRPr lang="en-GB" dirty="0"/>
          </a:p>
        </p:txBody>
      </p:sp>
    </p:spTree>
    <p:extLst>
      <p:ext uri="{BB962C8B-B14F-4D97-AF65-F5344CB8AC3E}">
        <p14:creationId xmlns:p14="http://schemas.microsoft.com/office/powerpoint/2010/main" val="24445989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5620995-1DFE-FB81-B1FD-1F43AD25E6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BF9FFA78-25BC-8AF7-71C4-CCA91A9325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ooter Placeholder 4">
            <a:extLst>
              <a:ext uri="{FF2B5EF4-FFF2-40B4-BE49-F238E27FC236}">
                <a16:creationId xmlns:a16="http://schemas.microsoft.com/office/drawing/2014/main" id="{8CB32A29-5E71-00A9-66DA-1FED8EA8FAF3}"/>
              </a:ext>
            </a:extLst>
          </p:cNvPr>
          <p:cNvSpPr>
            <a:spLocks noGrp="1"/>
          </p:cNvSpPr>
          <p:nvPr>
            <p:ph type="ftr" sz="quarter" idx="3"/>
          </p:nvPr>
        </p:nvSpPr>
        <p:spPr>
          <a:xfrm>
            <a:off x="8474613" y="6564113"/>
            <a:ext cx="2879187" cy="365125"/>
          </a:xfrm>
          <a:prstGeom prst="rect">
            <a:avLst/>
          </a:prstGeom>
        </p:spPr>
        <p:txBody>
          <a:bodyPr vert="horz" lIns="91440" tIns="45720" rIns="91440" bIns="45720" rtlCol="0" anchor="ctr"/>
          <a:lstStyle>
            <a:lvl1pPr algn="r">
              <a:defRPr sz="1200">
                <a:solidFill>
                  <a:schemeClr val="bg1"/>
                </a:solidFill>
              </a:defRPr>
            </a:lvl1pPr>
          </a:lstStyle>
          <a:p>
            <a:r>
              <a:rPr lang="sv-SE"/>
              <a:t>Feedback &amp; Lidar Controller  / Optimus Syria</a:t>
            </a:r>
            <a:endParaRPr lang="en-GB" dirty="0"/>
          </a:p>
        </p:txBody>
      </p:sp>
      <p:sp>
        <p:nvSpPr>
          <p:cNvPr id="8" name="Slide Number Placeholder 5">
            <a:extLst>
              <a:ext uri="{FF2B5EF4-FFF2-40B4-BE49-F238E27FC236}">
                <a16:creationId xmlns:a16="http://schemas.microsoft.com/office/drawing/2014/main" id="{75A1141D-8ADF-66F7-AB0C-CAA4E1B2CB82}"/>
              </a:ext>
            </a:extLst>
          </p:cNvPr>
          <p:cNvSpPr>
            <a:spLocks noGrp="1"/>
          </p:cNvSpPr>
          <p:nvPr>
            <p:ph type="sldNum" sz="quarter" idx="4"/>
          </p:nvPr>
        </p:nvSpPr>
        <p:spPr>
          <a:xfrm>
            <a:off x="1949570" y="6566803"/>
            <a:ext cx="928958" cy="365125"/>
          </a:xfrm>
          <a:prstGeom prst="rect">
            <a:avLst/>
          </a:prstGeom>
        </p:spPr>
        <p:txBody>
          <a:bodyPr vert="horz" lIns="91440" tIns="45720" rIns="91440" bIns="45720" rtlCol="0" anchor="ctr"/>
          <a:lstStyle>
            <a:lvl1pPr algn="ctr">
              <a:defRPr sz="1200">
                <a:solidFill>
                  <a:schemeClr val="bg1"/>
                </a:solidFill>
              </a:defRPr>
            </a:lvl1pPr>
          </a:lstStyle>
          <a:p>
            <a:fld id="{013F6232-4F06-48BA-8F69-BF531F607829}" type="slidenum">
              <a:rPr lang="en-GB" smtClean="0"/>
              <a:pPr/>
              <a:t>‹#›</a:t>
            </a:fld>
            <a:endParaRPr lang="en-GB" dirty="0"/>
          </a:p>
        </p:txBody>
      </p:sp>
      <p:sp>
        <p:nvSpPr>
          <p:cNvPr id="9" name="Date Placeholder 3">
            <a:extLst>
              <a:ext uri="{FF2B5EF4-FFF2-40B4-BE49-F238E27FC236}">
                <a16:creationId xmlns:a16="http://schemas.microsoft.com/office/drawing/2014/main" id="{07138566-A99B-8C60-010B-13E0F43C5657}"/>
              </a:ext>
            </a:extLst>
          </p:cNvPr>
          <p:cNvSpPr>
            <a:spLocks noGrp="1"/>
          </p:cNvSpPr>
          <p:nvPr>
            <p:ph type="dt" sz="half" idx="2"/>
          </p:nvPr>
        </p:nvSpPr>
        <p:spPr>
          <a:xfrm>
            <a:off x="838200" y="6566803"/>
            <a:ext cx="1111370" cy="365125"/>
          </a:xfrm>
          <a:prstGeom prst="rect">
            <a:avLst/>
          </a:prstGeom>
        </p:spPr>
        <p:txBody>
          <a:bodyPr vert="horz" lIns="91440" tIns="45720" rIns="91440" bIns="45720" rtlCol="0" anchor="ctr"/>
          <a:lstStyle>
            <a:lvl1pPr algn="l">
              <a:defRPr sz="1200">
                <a:solidFill>
                  <a:schemeClr val="bg1"/>
                </a:solidFill>
              </a:defRPr>
            </a:lvl1pPr>
          </a:lstStyle>
          <a:p>
            <a:r>
              <a:rPr lang="en-US"/>
              <a:t>25/11/2025</a:t>
            </a:r>
            <a:endParaRPr lang="en-GB" dirty="0"/>
          </a:p>
        </p:txBody>
      </p:sp>
    </p:spTree>
    <p:extLst>
      <p:ext uri="{BB962C8B-B14F-4D97-AF65-F5344CB8AC3E}">
        <p14:creationId xmlns:p14="http://schemas.microsoft.com/office/powerpoint/2010/main" val="1145194317"/>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13D3613-1229-23C4-BBAC-0C4D5D5524C8}"/>
              </a:ext>
            </a:extLst>
          </p:cNvPr>
          <p:cNvSpPr>
            <a:spLocks noGrp="1"/>
          </p:cNvSpPr>
          <p:nvPr>
            <p:ph type="ctrTitle"/>
          </p:nvPr>
        </p:nvSpPr>
        <p:spPr>
          <a:xfrm>
            <a:off x="0" y="2276908"/>
            <a:ext cx="12192000" cy="912598"/>
          </a:xfrm>
        </p:spPr>
        <p:txBody>
          <a:bodyPr/>
          <a:lstStyle/>
          <a:p>
            <a:r>
              <a:rPr lang="en-US" noProof="0" dirty="0"/>
              <a:t>Weekly report: Feedback &amp; Lidar – Assisted Controller</a:t>
            </a:r>
          </a:p>
        </p:txBody>
      </p:sp>
      <p:sp>
        <p:nvSpPr>
          <p:cNvPr id="9" name="Subtitle 8">
            <a:extLst>
              <a:ext uri="{FF2B5EF4-FFF2-40B4-BE49-F238E27FC236}">
                <a16:creationId xmlns:a16="http://schemas.microsoft.com/office/drawing/2014/main" id="{811943A6-016A-175F-ED49-9090C8C3091D}"/>
              </a:ext>
            </a:extLst>
          </p:cNvPr>
          <p:cNvSpPr>
            <a:spLocks noGrp="1"/>
          </p:cNvSpPr>
          <p:nvPr>
            <p:ph type="subTitle" idx="1"/>
          </p:nvPr>
        </p:nvSpPr>
        <p:spPr/>
        <p:txBody>
          <a:bodyPr>
            <a:noAutofit/>
          </a:bodyPr>
          <a:lstStyle/>
          <a:p>
            <a:r>
              <a:rPr lang="en-US" sz="2000" noProof="0" dirty="0"/>
              <a:t>Week number: 09</a:t>
            </a:r>
          </a:p>
          <a:p>
            <a:r>
              <a:rPr lang="en-US" sz="2000" noProof="0" dirty="0"/>
              <a:t>Date: 25/11/2025</a:t>
            </a:r>
          </a:p>
          <a:p>
            <a:r>
              <a:rPr lang="en-US" sz="2000" noProof="0" dirty="0"/>
              <a:t>Supervisor: Prof. Dr.-Ing. David Schlipf</a:t>
            </a:r>
          </a:p>
          <a:p>
            <a:endParaRPr lang="en-US" sz="2000" noProof="0" dirty="0"/>
          </a:p>
        </p:txBody>
      </p:sp>
      <p:sp>
        <p:nvSpPr>
          <p:cNvPr id="10" name="Text Placeholder 9">
            <a:extLst>
              <a:ext uri="{FF2B5EF4-FFF2-40B4-BE49-F238E27FC236}">
                <a16:creationId xmlns:a16="http://schemas.microsoft.com/office/drawing/2014/main" id="{31D66077-75E8-B72F-9B4E-64E062858EC5}"/>
              </a:ext>
            </a:extLst>
          </p:cNvPr>
          <p:cNvSpPr>
            <a:spLocks noGrp="1"/>
          </p:cNvSpPr>
          <p:nvPr>
            <p:ph type="body" idx="10"/>
          </p:nvPr>
        </p:nvSpPr>
        <p:spPr>
          <a:xfrm>
            <a:off x="2982755" y="4653709"/>
            <a:ext cx="6226490" cy="758312"/>
          </a:xfrm>
        </p:spPr>
        <p:txBody>
          <a:bodyPr/>
          <a:lstStyle/>
          <a:p>
            <a:r>
              <a:rPr lang="en-US" noProof="0" dirty="0"/>
              <a:t>Group members: Mirza Dincer, </a:t>
            </a:r>
            <a:r>
              <a:rPr lang="en-US" dirty="0"/>
              <a:t>Saurabh</a:t>
            </a:r>
            <a:r>
              <a:rPr lang="tr-TR" dirty="0"/>
              <a:t> </a:t>
            </a:r>
            <a:r>
              <a:rPr lang="en-US" noProof="0" dirty="0"/>
              <a:t>Pankaj Jha, Midhun </a:t>
            </a:r>
            <a:r>
              <a:rPr lang="en-US" noProof="0" dirty="0" err="1"/>
              <a:t>Kanichattu</a:t>
            </a:r>
            <a:r>
              <a:rPr lang="en-US" noProof="0" dirty="0"/>
              <a:t> Venu</a:t>
            </a:r>
          </a:p>
          <a:p>
            <a:r>
              <a:rPr lang="en-US" noProof="0" dirty="0"/>
              <a:t>Presenter:</a:t>
            </a:r>
            <a:r>
              <a:rPr lang="tr-TR" noProof="0" dirty="0"/>
              <a:t> </a:t>
            </a:r>
            <a:r>
              <a:rPr lang="en-US" dirty="0"/>
              <a:t>Saurabh</a:t>
            </a:r>
            <a:r>
              <a:rPr lang="tr-TR" dirty="0"/>
              <a:t> </a:t>
            </a:r>
            <a:r>
              <a:rPr lang="en-US" dirty="0"/>
              <a:t>Pankaj Jha</a:t>
            </a:r>
            <a:endParaRPr lang="en-US" noProof="0" dirty="0"/>
          </a:p>
        </p:txBody>
      </p:sp>
      <p:sp>
        <p:nvSpPr>
          <p:cNvPr id="5" name="Date Placeholder 4">
            <a:extLst>
              <a:ext uri="{FF2B5EF4-FFF2-40B4-BE49-F238E27FC236}">
                <a16:creationId xmlns:a16="http://schemas.microsoft.com/office/drawing/2014/main" id="{6CD51974-AA80-93E7-DE29-6B240912C06D}"/>
              </a:ext>
            </a:extLst>
          </p:cNvPr>
          <p:cNvSpPr>
            <a:spLocks noGrp="1"/>
          </p:cNvSpPr>
          <p:nvPr>
            <p:ph type="dt" sz="half" idx="11"/>
          </p:nvPr>
        </p:nvSpPr>
        <p:spPr/>
        <p:txBody>
          <a:bodyPr/>
          <a:lstStyle/>
          <a:p>
            <a:r>
              <a:rPr lang="en-US" noProof="0"/>
              <a:t>25/11/2025</a:t>
            </a:r>
            <a:endParaRPr lang="en-US" noProof="0" dirty="0"/>
          </a:p>
        </p:txBody>
      </p:sp>
      <p:sp>
        <p:nvSpPr>
          <p:cNvPr id="7" name="Slide Number Placeholder 6">
            <a:extLst>
              <a:ext uri="{FF2B5EF4-FFF2-40B4-BE49-F238E27FC236}">
                <a16:creationId xmlns:a16="http://schemas.microsoft.com/office/drawing/2014/main" id="{B451378A-4F01-6B30-CC0C-0D06C211A4C6}"/>
              </a:ext>
            </a:extLst>
          </p:cNvPr>
          <p:cNvSpPr>
            <a:spLocks noGrp="1"/>
          </p:cNvSpPr>
          <p:nvPr>
            <p:ph type="sldNum" sz="quarter" idx="13"/>
          </p:nvPr>
        </p:nvSpPr>
        <p:spPr/>
        <p:txBody>
          <a:bodyPr/>
          <a:lstStyle/>
          <a:p>
            <a:fld id="{013F6232-4F06-48BA-8F69-BF531F607829}" type="slidenum">
              <a:rPr lang="en-US" noProof="0" smtClean="0"/>
              <a:pPr/>
              <a:t>1</a:t>
            </a:fld>
            <a:endParaRPr lang="en-US" noProof="0" dirty="0"/>
          </a:p>
        </p:txBody>
      </p:sp>
      <p:sp>
        <p:nvSpPr>
          <p:cNvPr id="2" name="Footer Placeholder 1">
            <a:extLst>
              <a:ext uri="{FF2B5EF4-FFF2-40B4-BE49-F238E27FC236}">
                <a16:creationId xmlns:a16="http://schemas.microsoft.com/office/drawing/2014/main" id="{01D90F1C-B0AB-81E1-63B6-F10AE37370C6}"/>
              </a:ext>
            </a:extLst>
          </p:cNvPr>
          <p:cNvSpPr>
            <a:spLocks noGrp="1"/>
          </p:cNvSpPr>
          <p:nvPr>
            <p:ph type="ftr" sz="quarter" idx="12"/>
          </p:nvPr>
        </p:nvSpPr>
        <p:spPr>
          <a:xfrm>
            <a:off x="8474613" y="6566803"/>
            <a:ext cx="3055971" cy="365125"/>
          </a:xfrm>
        </p:spPr>
        <p:txBody>
          <a:bodyPr/>
          <a:lstStyle/>
          <a:p>
            <a:r>
              <a:rPr lang="en-US" noProof="0" dirty="0"/>
              <a:t>Feedback &amp; Lidar Controller  / Optimus Syria</a:t>
            </a:r>
          </a:p>
        </p:txBody>
      </p:sp>
    </p:spTree>
    <p:extLst>
      <p:ext uri="{BB962C8B-B14F-4D97-AF65-F5344CB8AC3E}">
        <p14:creationId xmlns:p14="http://schemas.microsoft.com/office/powerpoint/2010/main" val="1114542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C396C42-5C8A-4DF6-469E-AA02488B5D67}"/>
              </a:ext>
            </a:extLst>
          </p:cNvPr>
          <p:cNvSpPr>
            <a:spLocks noGrp="1"/>
          </p:cNvSpPr>
          <p:nvPr>
            <p:ph idx="1"/>
          </p:nvPr>
        </p:nvSpPr>
        <p:spPr/>
        <p:txBody>
          <a:bodyPr/>
          <a:lstStyle/>
          <a:p>
            <a:r>
              <a:rPr lang="en-US" noProof="0" dirty="0"/>
              <a:t>Tasks of the Week</a:t>
            </a:r>
          </a:p>
          <a:p>
            <a:r>
              <a:rPr lang="en-US" noProof="0" dirty="0"/>
              <a:t>Torque Controller</a:t>
            </a:r>
          </a:p>
          <a:p>
            <a:r>
              <a:rPr lang="en-US" noProof="0" dirty="0"/>
              <a:t>Torque Controller in ROSCO</a:t>
            </a:r>
          </a:p>
          <a:p>
            <a:r>
              <a:rPr lang="en-US" noProof="0" dirty="0"/>
              <a:t>Torque Controller of Optimus</a:t>
            </a:r>
          </a:p>
          <a:p>
            <a:r>
              <a:rPr lang="en-US" noProof="0" dirty="0"/>
              <a:t>Lidar-Assisted Controller effects on loads.</a:t>
            </a:r>
          </a:p>
          <a:p>
            <a:r>
              <a:rPr lang="en-US" noProof="0" dirty="0"/>
              <a:t>Coherence for Lidar-assisted Controller</a:t>
            </a:r>
          </a:p>
        </p:txBody>
      </p:sp>
      <p:sp>
        <p:nvSpPr>
          <p:cNvPr id="5" name="Title 4">
            <a:extLst>
              <a:ext uri="{FF2B5EF4-FFF2-40B4-BE49-F238E27FC236}">
                <a16:creationId xmlns:a16="http://schemas.microsoft.com/office/drawing/2014/main" id="{FAE0BEDA-D340-0E86-7B6A-D958296C78E0}"/>
              </a:ext>
            </a:extLst>
          </p:cNvPr>
          <p:cNvSpPr>
            <a:spLocks noGrp="1"/>
          </p:cNvSpPr>
          <p:nvPr>
            <p:ph type="title"/>
          </p:nvPr>
        </p:nvSpPr>
        <p:spPr/>
        <p:txBody>
          <a:bodyPr/>
          <a:lstStyle/>
          <a:p>
            <a:r>
              <a:rPr lang="en-US" noProof="0" dirty="0"/>
              <a:t>List of Contents</a:t>
            </a:r>
          </a:p>
        </p:txBody>
      </p:sp>
      <p:sp>
        <p:nvSpPr>
          <p:cNvPr id="7" name="Text Placeholder 6">
            <a:extLst>
              <a:ext uri="{FF2B5EF4-FFF2-40B4-BE49-F238E27FC236}">
                <a16:creationId xmlns:a16="http://schemas.microsoft.com/office/drawing/2014/main" id="{CAF26A6A-DC19-EFAF-AC42-F8701A3F5C4F}"/>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
        <p:nvSpPr>
          <p:cNvPr id="4" name="Date Placeholder 3">
            <a:extLst>
              <a:ext uri="{FF2B5EF4-FFF2-40B4-BE49-F238E27FC236}">
                <a16:creationId xmlns:a16="http://schemas.microsoft.com/office/drawing/2014/main" id="{6E1A55B5-D29A-D64C-52F3-986289E5F9A0}"/>
              </a:ext>
            </a:extLst>
          </p:cNvPr>
          <p:cNvSpPr>
            <a:spLocks noGrp="1"/>
          </p:cNvSpPr>
          <p:nvPr>
            <p:ph type="dt" sz="half" idx="10"/>
          </p:nvPr>
        </p:nvSpPr>
        <p:spPr/>
        <p:txBody>
          <a:bodyPr/>
          <a:lstStyle/>
          <a:p>
            <a:r>
              <a:rPr lang="en-US" noProof="0"/>
              <a:t>25/11/2025</a:t>
            </a:r>
            <a:endParaRPr lang="en-US" noProof="0" dirty="0"/>
          </a:p>
        </p:txBody>
      </p:sp>
      <p:sp>
        <p:nvSpPr>
          <p:cNvPr id="8" name="Slide Number Placeholder 7">
            <a:extLst>
              <a:ext uri="{FF2B5EF4-FFF2-40B4-BE49-F238E27FC236}">
                <a16:creationId xmlns:a16="http://schemas.microsoft.com/office/drawing/2014/main" id="{8B052D8F-1675-605E-CB1B-9CD5E63E869A}"/>
              </a:ext>
            </a:extLst>
          </p:cNvPr>
          <p:cNvSpPr>
            <a:spLocks noGrp="1"/>
          </p:cNvSpPr>
          <p:nvPr>
            <p:ph type="sldNum" sz="quarter" idx="12"/>
          </p:nvPr>
        </p:nvSpPr>
        <p:spPr/>
        <p:txBody>
          <a:bodyPr/>
          <a:lstStyle/>
          <a:p>
            <a:fld id="{3A84E93A-72FE-4BB6-A500-FB6DD421822B}" type="slidenum">
              <a:rPr lang="en-US" noProof="0" smtClean="0"/>
              <a:t>2</a:t>
            </a:fld>
            <a:endParaRPr lang="en-US" noProof="0" dirty="0"/>
          </a:p>
        </p:txBody>
      </p:sp>
      <p:sp>
        <p:nvSpPr>
          <p:cNvPr id="9" name="Footer Placeholder 8">
            <a:extLst>
              <a:ext uri="{FF2B5EF4-FFF2-40B4-BE49-F238E27FC236}">
                <a16:creationId xmlns:a16="http://schemas.microsoft.com/office/drawing/2014/main" id="{40B39CA5-143A-78A6-B398-AAF845BF2576}"/>
              </a:ext>
            </a:extLst>
          </p:cNvPr>
          <p:cNvSpPr>
            <a:spLocks noGrp="1"/>
          </p:cNvSpPr>
          <p:nvPr>
            <p:ph type="ftr" sz="quarter" idx="11"/>
          </p:nvPr>
        </p:nvSpPr>
        <p:spPr>
          <a:xfrm>
            <a:off x="8483757" y="6564113"/>
            <a:ext cx="3165698" cy="365125"/>
          </a:xfrm>
        </p:spPr>
        <p:txBody>
          <a:bodyPr/>
          <a:lstStyle/>
          <a:p>
            <a:r>
              <a:rPr lang="en-US" noProof="0" dirty="0"/>
              <a:t>Feedback &amp; Lidar Controller  / Optimus Syria</a:t>
            </a:r>
          </a:p>
        </p:txBody>
      </p:sp>
    </p:spTree>
    <p:extLst>
      <p:ext uri="{BB962C8B-B14F-4D97-AF65-F5344CB8AC3E}">
        <p14:creationId xmlns:p14="http://schemas.microsoft.com/office/powerpoint/2010/main" val="2657761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D1F737-C9E5-D61C-802C-D8AA46A86F36}"/>
              </a:ext>
            </a:extLst>
          </p:cNvPr>
          <p:cNvSpPr>
            <a:spLocks noGrp="1"/>
          </p:cNvSpPr>
          <p:nvPr>
            <p:ph type="title"/>
          </p:nvPr>
        </p:nvSpPr>
        <p:spPr/>
        <p:txBody>
          <a:bodyPr/>
          <a:lstStyle/>
          <a:p>
            <a:r>
              <a:rPr lang="en-US" noProof="0" dirty="0"/>
              <a:t>Tasks of the Week</a:t>
            </a:r>
          </a:p>
        </p:txBody>
      </p:sp>
      <p:sp>
        <p:nvSpPr>
          <p:cNvPr id="6" name="Content Placeholder 5">
            <a:extLst>
              <a:ext uri="{FF2B5EF4-FFF2-40B4-BE49-F238E27FC236}">
                <a16:creationId xmlns:a16="http://schemas.microsoft.com/office/drawing/2014/main" id="{18ECE80E-4A9A-B819-E481-DA6D7AC2FACD}"/>
              </a:ext>
            </a:extLst>
          </p:cNvPr>
          <p:cNvSpPr>
            <a:spLocks noGrp="1"/>
          </p:cNvSpPr>
          <p:nvPr>
            <p:ph idx="1"/>
          </p:nvPr>
        </p:nvSpPr>
        <p:spPr>
          <a:xfrm>
            <a:off x="838200" y="1825625"/>
            <a:ext cx="10802112" cy="4351338"/>
          </a:xfrm>
        </p:spPr>
        <p:txBody>
          <a:bodyPr>
            <a:normAutofit/>
          </a:bodyPr>
          <a:lstStyle/>
          <a:p>
            <a:pPr fontAlgn="base"/>
            <a:r>
              <a:rPr lang="en-US" noProof="0" dirty="0"/>
              <a:t>Calculating theoretical values for torque controller.</a:t>
            </a:r>
          </a:p>
          <a:p>
            <a:pPr fontAlgn="base"/>
            <a:endParaRPr lang="en-US" noProof="0" dirty="0"/>
          </a:p>
          <a:p>
            <a:pPr eaLnBrk="0" fontAlgn="base" hangingPunct="0">
              <a:lnSpc>
                <a:spcPct val="100000"/>
              </a:lnSpc>
              <a:spcBef>
                <a:spcPct val="0"/>
              </a:spcBef>
              <a:spcAft>
                <a:spcPct val="0"/>
              </a:spcAft>
            </a:pPr>
            <a:r>
              <a:rPr lang="en-US" noProof="0" dirty="0"/>
              <a:t>Understanding coherence to calculate how well lidar system measures.</a:t>
            </a:r>
          </a:p>
          <a:p>
            <a:pPr marL="0" lvl="0" indent="0" eaLnBrk="0" fontAlgn="base" hangingPunct="0">
              <a:lnSpc>
                <a:spcPct val="100000"/>
              </a:lnSpc>
              <a:spcBef>
                <a:spcPct val="0"/>
              </a:spcBef>
              <a:spcAft>
                <a:spcPct val="0"/>
              </a:spcAft>
              <a:buNone/>
            </a:pPr>
            <a:endParaRPr lang="en-US" noProof="0" dirty="0"/>
          </a:p>
          <a:p>
            <a:pPr marL="0" lvl="0" indent="0" eaLnBrk="0" fontAlgn="base" hangingPunct="0">
              <a:lnSpc>
                <a:spcPct val="100000"/>
              </a:lnSpc>
              <a:spcBef>
                <a:spcPct val="0"/>
              </a:spcBef>
              <a:spcAft>
                <a:spcPct val="0"/>
              </a:spcAft>
              <a:buNone/>
            </a:pPr>
            <a:endParaRPr lang="en-US" noProof="0" dirty="0"/>
          </a:p>
        </p:txBody>
      </p:sp>
      <p:sp>
        <p:nvSpPr>
          <p:cNvPr id="7" name="Text Placeholder 6">
            <a:extLst>
              <a:ext uri="{FF2B5EF4-FFF2-40B4-BE49-F238E27FC236}">
                <a16:creationId xmlns:a16="http://schemas.microsoft.com/office/drawing/2014/main" id="{DC22DFD0-8551-3A05-D2F0-A2FEDE79CBF4}"/>
              </a:ext>
            </a:extLst>
          </p:cNvPr>
          <p:cNvSpPr>
            <a:spLocks noGrp="1"/>
          </p:cNvSpPr>
          <p:nvPr>
            <p:ph type="body" sz="quarter" idx="18"/>
          </p:nvPr>
        </p:nvSpPr>
        <p:spPr/>
        <p:txBody>
          <a:bodyPr>
            <a:normAutofit/>
          </a:bodyPr>
          <a:lstStyle/>
          <a:p>
            <a:r>
              <a:rPr lang="en-US" dirty="0"/>
              <a:t>Saurabh</a:t>
            </a:r>
            <a:r>
              <a:rPr lang="tr-TR" dirty="0"/>
              <a:t> </a:t>
            </a:r>
            <a:r>
              <a:rPr lang="en-US" dirty="0"/>
              <a:t>Pankaj Jha</a:t>
            </a:r>
            <a:endParaRPr lang="en-US" noProof="0" dirty="0"/>
          </a:p>
        </p:txBody>
      </p:sp>
      <p:sp>
        <p:nvSpPr>
          <p:cNvPr id="10" name="Date Placeholder 9">
            <a:extLst>
              <a:ext uri="{FF2B5EF4-FFF2-40B4-BE49-F238E27FC236}">
                <a16:creationId xmlns:a16="http://schemas.microsoft.com/office/drawing/2014/main" id="{3189547C-E522-4813-C302-A8977F7E7964}"/>
              </a:ext>
            </a:extLst>
          </p:cNvPr>
          <p:cNvSpPr>
            <a:spLocks noGrp="1"/>
          </p:cNvSpPr>
          <p:nvPr>
            <p:ph type="dt" sz="half" idx="19"/>
          </p:nvPr>
        </p:nvSpPr>
        <p:spPr/>
        <p:txBody>
          <a:bodyPr/>
          <a:lstStyle/>
          <a:p>
            <a:r>
              <a:rPr lang="en-US" noProof="0"/>
              <a:t>25/11/2025</a:t>
            </a:r>
            <a:endParaRPr lang="en-US" noProof="0" dirty="0"/>
          </a:p>
        </p:txBody>
      </p:sp>
      <p:sp>
        <p:nvSpPr>
          <p:cNvPr id="11" name="Slide Number Placeholder 10">
            <a:extLst>
              <a:ext uri="{FF2B5EF4-FFF2-40B4-BE49-F238E27FC236}">
                <a16:creationId xmlns:a16="http://schemas.microsoft.com/office/drawing/2014/main" id="{F804BE1C-7C80-B8F9-3A23-EBD96702EECE}"/>
              </a:ext>
            </a:extLst>
          </p:cNvPr>
          <p:cNvSpPr>
            <a:spLocks noGrp="1"/>
          </p:cNvSpPr>
          <p:nvPr>
            <p:ph type="sldNum" sz="quarter" idx="21"/>
          </p:nvPr>
        </p:nvSpPr>
        <p:spPr/>
        <p:txBody>
          <a:bodyPr/>
          <a:lstStyle/>
          <a:p>
            <a:fld id="{3A84E93A-72FE-4BB6-A500-FB6DD421822B}" type="slidenum">
              <a:rPr lang="en-US" noProof="0" smtClean="0"/>
              <a:t>3</a:t>
            </a:fld>
            <a:endParaRPr lang="en-US" noProof="0" dirty="0"/>
          </a:p>
        </p:txBody>
      </p:sp>
      <p:sp>
        <p:nvSpPr>
          <p:cNvPr id="12" name="Footer Placeholder 11">
            <a:extLst>
              <a:ext uri="{FF2B5EF4-FFF2-40B4-BE49-F238E27FC236}">
                <a16:creationId xmlns:a16="http://schemas.microsoft.com/office/drawing/2014/main" id="{32FC9593-3854-FCA1-E2BE-010AAED06C6C}"/>
              </a:ext>
            </a:extLst>
          </p:cNvPr>
          <p:cNvSpPr>
            <a:spLocks noGrp="1"/>
          </p:cNvSpPr>
          <p:nvPr>
            <p:ph type="ftr" sz="quarter" idx="20"/>
          </p:nvPr>
        </p:nvSpPr>
        <p:spPr>
          <a:xfrm>
            <a:off x="8483757" y="6564113"/>
            <a:ext cx="3165699" cy="365125"/>
          </a:xfrm>
        </p:spPr>
        <p:txBody>
          <a:bodyPr/>
          <a:lstStyle/>
          <a:p>
            <a:r>
              <a:rPr lang="en-US" noProof="0" dirty="0"/>
              <a:t>Feedback &amp; Lidar Controller  / Optimus Syria</a:t>
            </a:r>
          </a:p>
        </p:txBody>
      </p:sp>
    </p:spTree>
    <p:extLst>
      <p:ext uri="{BB962C8B-B14F-4D97-AF65-F5344CB8AC3E}">
        <p14:creationId xmlns:p14="http://schemas.microsoft.com/office/powerpoint/2010/main" val="3245172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46DA6-700A-1D3F-10E3-F7D2D3A4AC34}"/>
              </a:ext>
            </a:extLst>
          </p:cNvPr>
          <p:cNvSpPr>
            <a:spLocks noGrp="1"/>
          </p:cNvSpPr>
          <p:nvPr>
            <p:ph type="title"/>
          </p:nvPr>
        </p:nvSpPr>
        <p:spPr/>
        <p:txBody>
          <a:bodyPr/>
          <a:lstStyle/>
          <a:p>
            <a:r>
              <a:rPr lang="en-US" noProof="0" dirty="0"/>
              <a:t>Torque Controller</a:t>
            </a:r>
          </a:p>
        </p:txBody>
      </p:sp>
      <p:sp>
        <p:nvSpPr>
          <p:cNvPr id="3" name="Content Placeholder 2">
            <a:extLst>
              <a:ext uri="{FF2B5EF4-FFF2-40B4-BE49-F238E27FC236}">
                <a16:creationId xmlns:a16="http://schemas.microsoft.com/office/drawing/2014/main" id="{5574FA85-942A-D219-7E8D-DBD88AE4BECC}"/>
              </a:ext>
            </a:extLst>
          </p:cNvPr>
          <p:cNvSpPr>
            <a:spLocks noGrp="1"/>
          </p:cNvSpPr>
          <p:nvPr>
            <p:ph idx="1"/>
          </p:nvPr>
        </p:nvSpPr>
        <p:spPr>
          <a:xfrm>
            <a:off x="838200" y="1825625"/>
            <a:ext cx="10515600" cy="1952985"/>
          </a:xfrm>
        </p:spPr>
        <p:txBody>
          <a:bodyPr/>
          <a:lstStyle/>
          <a:p>
            <a:r>
              <a:rPr lang="en-US" noProof="0" dirty="0"/>
              <a:t>Torque controller aims to maximize aerodynamic power in region 2 and maintains the rated power constant in region 3.</a:t>
            </a:r>
          </a:p>
          <a:p>
            <a:endParaRPr lang="en-US" noProof="0" dirty="0"/>
          </a:p>
          <a:p>
            <a:r>
              <a:rPr lang="en-US" noProof="0" dirty="0"/>
              <a:t>It adjusts generator torque based on the generator speed, thus a relation between generator torque and generator speed is needed.</a:t>
            </a:r>
          </a:p>
          <a:p>
            <a:endParaRPr lang="en-US" noProof="0" dirty="0"/>
          </a:p>
          <a:p>
            <a:endParaRPr lang="en-US" noProof="0" dirty="0"/>
          </a:p>
        </p:txBody>
      </p:sp>
      <p:sp>
        <p:nvSpPr>
          <p:cNvPr id="4" name="Text Placeholder 3">
            <a:extLst>
              <a:ext uri="{FF2B5EF4-FFF2-40B4-BE49-F238E27FC236}">
                <a16:creationId xmlns:a16="http://schemas.microsoft.com/office/drawing/2014/main" id="{603575E8-3517-8870-334E-3E72C535F6EC}"/>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
        <p:nvSpPr>
          <p:cNvPr id="5" name="Date Placeholder 4">
            <a:extLst>
              <a:ext uri="{FF2B5EF4-FFF2-40B4-BE49-F238E27FC236}">
                <a16:creationId xmlns:a16="http://schemas.microsoft.com/office/drawing/2014/main" id="{D394A23F-3BE6-8F9C-034B-EF940DD67A9E}"/>
              </a:ext>
            </a:extLst>
          </p:cNvPr>
          <p:cNvSpPr>
            <a:spLocks noGrp="1"/>
          </p:cNvSpPr>
          <p:nvPr>
            <p:ph type="dt" sz="half" idx="19"/>
          </p:nvPr>
        </p:nvSpPr>
        <p:spPr/>
        <p:txBody>
          <a:bodyPr/>
          <a:lstStyle/>
          <a:p>
            <a:r>
              <a:rPr lang="en-US" noProof="0"/>
              <a:t>25/11/2025</a:t>
            </a:r>
            <a:endParaRPr lang="en-US" noProof="0" dirty="0"/>
          </a:p>
        </p:txBody>
      </p:sp>
      <p:sp>
        <p:nvSpPr>
          <p:cNvPr id="6" name="Footer Placeholder 5">
            <a:extLst>
              <a:ext uri="{FF2B5EF4-FFF2-40B4-BE49-F238E27FC236}">
                <a16:creationId xmlns:a16="http://schemas.microsoft.com/office/drawing/2014/main" id="{10F0EE38-BC6A-9383-0FC9-F8FBF1A83687}"/>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0008BD8B-ECC3-C2FD-3311-3A464CB55621}"/>
              </a:ext>
            </a:extLst>
          </p:cNvPr>
          <p:cNvSpPr>
            <a:spLocks noGrp="1"/>
          </p:cNvSpPr>
          <p:nvPr>
            <p:ph type="sldNum" sz="quarter" idx="21"/>
          </p:nvPr>
        </p:nvSpPr>
        <p:spPr/>
        <p:txBody>
          <a:bodyPr/>
          <a:lstStyle/>
          <a:p>
            <a:fld id="{3A84E93A-72FE-4BB6-A500-FB6DD421822B}" type="slidenum">
              <a:rPr lang="en-US" noProof="0" smtClean="0"/>
              <a:t>4</a:t>
            </a:fld>
            <a:endParaRPr lang="en-US" noProof="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E9D6B9F-0F85-8853-2D14-D136ADFB7DDB}"/>
                  </a:ext>
                </a:extLst>
              </p:cNvPr>
              <p:cNvSpPr txBox="1"/>
              <p:nvPr/>
            </p:nvSpPr>
            <p:spPr>
              <a:xfrm>
                <a:off x="2878527" y="3865803"/>
                <a:ext cx="6137564" cy="11805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200" i="1" noProof="0" smtClean="0">
                              <a:latin typeface="Cambria Math" panose="02040503050406030204" pitchFamily="18" charset="0"/>
                            </a:rPr>
                          </m:ctrlPr>
                        </m:sSubPr>
                        <m:e>
                          <m:r>
                            <a:rPr lang="en-US" sz="2200" i="1" noProof="0">
                              <a:latin typeface="Cambria Math" panose="02040503050406030204" pitchFamily="18" charset="0"/>
                            </a:rPr>
                            <m:t>𝑀</m:t>
                          </m:r>
                        </m:e>
                        <m:sub>
                          <m:r>
                            <a:rPr lang="en-US" sz="2200" i="1" noProof="0">
                              <a:latin typeface="Cambria Math" panose="02040503050406030204" pitchFamily="18" charset="0"/>
                            </a:rPr>
                            <m:t>𝐺</m:t>
                          </m:r>
                        </m:sub>
                      </m:sSub>
                      <m:r>
                        <a:rPr lang="en-US" sz="2200" i="0" noProof="0">
                          <a:latin typeface="Cambria Math" panose="02040503050406030204" pitchFamily="18" charset="0"/>
                        </a:rPr>
                        <m:t>=</m:t>
                      </m:r>
                      <m:limLow>
                        <m:limLowPr>
                          <m:ctrlPr>
                            <a:rPr lang="en-US" sz="2200" i="1" noProof="0">
                              <a:latin typeface="Cambria Math" panose="02040503050406030204" pitchFamily="18" charset="0"/>
                            </a:rPr>
                          </m:ctrlPr>
                        </m:limLowPr>
                        <m:e>
                          <m:groupChr>
                            <m:groupChrPr>
                              <m:chr m:val="⏟"/>
                              <m:ctrlPr>
                                <a:rPr lang="en-US" sz="2200" i="1" noProof="0">
                                  <a:latin typeface="Cambria Math" panose="02040503050406030204" pitchFamily="18" charset="0"/>
                                </a:rPr>
                              </m:ctrlPr>
                            </m:groupChrPr>
                            <m:e>
                              <m:f>
                                <m:fPr>
                                  <m:ctrlPr>
                                    <a:rPr lang="en-US" sz="2200" i="1" noProof="0">
                                      <a:latin typeface="Cambria Math" panose="02040503050406030204" pitchFamily="18" charset="0"/>
                                    </a:rPr>
                                  </m:ctrlPr>
                                </m:fPr>
                                <m:num>
                                  <m:r>
                                    <a:rPr lang="en-US" sz="2200" i="0" noProof="0">
                                      <a:latin typeface="Cambria Math" panose="02040503050406030204" pitchFamily="18" charset="0"/>
                                    </a:rPr>
                                    <m:t>1</m:t>
                                  </m:r>
                                </m:num>
                                <m:den>
                                  <m:r>
                                    <a:rPr lang="en-US" sz="2200" i="0" noProof="0">
                                      <a:latin typeface="Cambria Math" panose="02040503050406030204" pitchFamily="18" charset="0"/>
                                    </a:rPr>
                                    <m:t>2</m:t>
                                  </m:r>
                                </m:den>
                              </m:f>
                              <m:r>
                                <m:rPr>
                                  <m:sty m:val="p"/>
                                </m:rPr>
                                <a:rPr lang="en-US" sz="2200" i="0" noProof="0">
                                  <a:latin typeface="Cambria Math" panose="02040503050406030204" pitchFamily="18" charset="0"/>
                                </a:rPr>
                                <m:t>ρπ</m:t>
                              </m:r>
                              <m:sSup>
                                <m:sSupPr>
                                  <m:ctrlPr>
                                    <a:rPr lang="en-US" sz="2200" i="1" noProof="0">
                                      <a:latin typeface="Cambria Math" panose="02040503050406030204" pitchFamily="18" charset="0"/>
                                    </a:rPr>
                                  </m:ctrlPr>
                                </m:sSupPr>
                                <m:e>
                                  <m:r>
                                    <a:rPr lang="en-US" sz="2200" i="1" noProof="0">
                                      <a:latin typeface="Cambria Math" panose="02040503050406030204" pitchFamily="18" charset="0"/>
                                    </a:rPr>
                                    <m:t>𝑅</m:t>
                                  </m:r>
                                </m:e>
                                <m:sup>
                                  <m:r>
                                    <a:rPr lang="en-US" sz="2200" i="0" noProof="0">
                                      <a:latin typeface="Cambria Math" panose="02040503050406030204" pitchFamily="18" charset="0"/>
                                    </a:rPr>
                                    <m:t>5</m:t>
                                  </m:r>
                                </m:sup>
                              </m:sSup>
                              <m:f>
                                <m:fPr>
                                  <m:ctrlPr>
                                    <a:rPr lang="en-US" sz="2200" i="1" noProof="0">
                                      <a:latin typeface="Cambria Math" panose="02040503050406030204" pitchFamily="18" charset="0"/>
                                    </a:rPr>
                                  </m:ctrlPr>
                                </m:fPr>
                                <m:num>
                                  <m:sSub>
                                    <m:sSubPr>
                                      <m:ctrlPr>
                                        <a:rPr lang="en-US" sz="2200" i="1" noProof="0">
                                          <a:latin typeface="Cambria Math" panose="02040503050406030204" pitchFamily="18" charset="0"/>
                                        </a:rPr>
                                      </m:ctrlPr>
                                    </m:sSubPr>
                                    <m:e>
                                      <m:r>
                                        <a:rPr lang="en-US" sz="2200" i="1" noProof="0">
                                          <a:latin typeface="Cambria Math" panose="02040503050406030204" pitchFamily="18" charset="0"/>
                                        </a:rPr>
                                        <m:t>𝑐</m:t>
                                      </m:r>
                                    </m:e>
                                    <m:sub>
                                      <m:r>
                                        <a:rPr lang="en-US" sz="2200" i="1" noProof="0">
                                          <a:latin typeface="Cambria Math" panose="02040503050406030204" pitchFamily="18" charset="0"/>
                                        </a:rPr>
                                        <m:t>𝑃</m:t>
                                      </m:r>
                                      <m:r>
                                        <a:rPr lang="en-US" sz="2200" i="0" noProof="0">
                                          <a:latin typeface="Cambria Math" panose="02040503050406030204" pitchFamily="18" charset="0"/>
                                        </a:rPr>
                                        <m:t>,</m:t>
                                      </m:r>
                                      <m:r>
                                        <m:rPr>
                                          <m:nor/>
                                        </m:rPr>
                                        <a:rPr lang="en-US" sz="2200" b="0" i="1" noProof="0">
                                          <a:latin typeface="Cambria Math" panose="02040503050406030204" pitchFamily="18" charset="0"/>
                                        </a:rPr>
                                        <m:t>opt</m:t>
                                      </m:r>
                                    </m:sub>
                                  </m:sSub>
                                </m:num>
                                <m:den>
                                  <m:sSubSup>
                                    <m:sSubSupPr>
                                      <m:ctrlPr>
                                        <a:rPr lang="en-US" sz="2200" b="0" i="1" noProof="0">
                                          <a:latin typeface="Cambria Math" panose="02040503050406030204" pitchFamily="18" charset="0"/>
                                        </a:rPr>
                                      </m:ctrlPr>
                                    </m:sSubSupPr>
                                    <m:e>
                                      <m:r>
                                        <m:rPr>
                                          <m:sty m:val="p"/>
                                        </m:rPr>
                                        <a:rPr lang="en-US" sz="2200" b="0" i="0" noProof="0">
                                          <a:latin typeface="Cambria Math" panose="02040503050406030204" pitchFamily="18" charset="0"/>
                                        </a:rPr>
                                        <m:t>λ</m:t>
                                      </m:r>
                                    </m:e>
                                    <m:sub>
                                      <m:r>
                                        <m:rPr>
                                          <m:nor/>
                                        </m:rPr>
                                        <a:rPr lang="en-US" sz="2200" b="0" i="1" noProof="0">
                                          <a:latin typeface="Cambria Math" panose="02040503050406030204" pitchFamily="18" charset="0"/>
                                        </a:rPr>
                                        <m:t>opt</m:t>
                                      </m:r>
                                    </m:sub>
                                    <m:sup>
                                      <m:r>
                                        <a:rPr lang="en-US" sz="2200" b="0" i="0" noProof="0">
                                          <a:latin typeface="Cambria Math" panose="02040503050406030204" pitchFamily="18" charset="0"/>
                                        </a:rPr>
                                        <m:t>3</m:t>
                                      </m:r>
                                    </m:sup>
                                  </m:sSubSup>
                                  <m:sSubSup>
                                    <m:sSubSupPr>
                                      <m:ctrlPr>
                                        <a:rPr lang="en-US" sz="2200" b="0" i="1" noProof="0">
                                          <a:latin typeface="Cambria Math" panose="02040503050406030204" pitchFamily="18" charset="0"/>
                                        </a:rPr>
                                      </m:ctrlPr>
                                    </m:sSubSupPr>
                                    <m:e>
                                      <m:r>
                                        <a:rPr lang="en-US" sz="2200" b="0" i="1" noProof="0" smtClean="0">
                                          <a:latin typeface="Cambria Math" panose="02040503050406030204" pitchFamily="18" charset="0"/>
                                        </a:rPr>
                                        <m:t> </m:t>
                                      </m:r>
                                      <m:r>
                                        <a:rPr lang="en-US" sz="2200" b="0" i="1" noProof="0">
                                          <a:latin typeface="Cambria Math" panose="02040503050406030204" pitchFamily="18" charset="0"/>
                                        </a:rPr>
                                        <m:t>𝑟</m:t>
                                      </m:r>
                                    </m:e>
                                    <m:sub>
                                      <m:r>
                                        <m:rPr>
                                          <m:nor/>
                                        </m:rPr>
                                        <a:rPr lang="en-US" sz="2200" b="0" i="1" noProof="0">
                                          <a:latin typeface="Cambria Math" panose="02040503050406030204" pitchFamily="18" charset="0"/>
                                        </a:rPr>
                                        <m:t>GB</m:t>
                                      </m:r>
                                    </m:sub>
                                    <m:sup>
                                      <m:r>
                                        <a:rPr lang="en-US" sz="2200" b="0" i="0" noProof="0">
                                          <a:latin typeface="Cambria Math" panose="02040503050406030204" pitchFamily="18" charset="0"/>
                                        </a:rPr>
                                        <m:t>3</m:t>
                                      </m:r>
                                    </m:sup>
                                  </m:sSubSup>
                                </m:den>
                              </m:f>
                            </m:e>
                          </m:groupChr>
                        </m:e>
                        <m:lim>
                          <m:r>
                            <a:rPr lang="en-US" sz="2200" b="0" i="1" noProof="0">
                              <a:latin typeface="Cambria Math" panose="02040503050406030204" pitchFamily="18" charset="0"/>
                            </a:rPr>
                            <m:t>𝑘</m:t>
                          </m:r>
                        </m:lim>
                      </m:limLow>
                      <m:r>
                        <a:rPr lang="en-US" sz="2200" b="0" i="0" noProof="0">
                          <a:latin typeface="Cambria Math" panose="02040503050406030204" pitchFamily="18" charset="0"/>
                        </a:rPr>
                        <m:t> </m:t>
                      </m:r>
                      <m:sSubSup>
                        <m:sSubSupPr>
                          <m:ctrlPr>
                            <a:rPr lang="en-US" sz="2200" b="0" i="1" noProof="0">
                              <a:latin typeface="Cambria Math" panose="02040503050406030204" pitchFamily="18" charset="0"/>
                            </a:rPr>
                          </m:ctrlPr>
                        </m:sSubSupPr>
                        <m:e>
                          <m:r>
                            <m:rPr>
                              <m:sty m:val="p"/>
                            </m:rPr>
                            <a:rPr lang="en-US" sz="2200" b="0" i="0" noProof="0">
                              <a:latin typeface="Cambria Math" panose="02040503050406030204" pitchFamily="18" charset="0"/>
                            </a:rPr>
                            <m:t>Ω</m:t>
                          </m:r>
                        </m:e>
                        <m:sub>
                          <m:r>
                            <a:rPr lang="en-US" sz="2200" b="0" i="1" noProof="0">
                              <a:latin typeface="Cambria Math" panose="02040503050406030204" pitchFamily="18" charset="0"/>
                            </a:rPr>
                            <m:t>𝐺</m:t>
                          </m:r>
                        </m:sub>
                        <m:sup>
                          <m:r>
                            <a:rPr lang="en-US" sz="2200" b="0" i="0" noProof="0">
                              <a:latin typeface="Cambria Math" panose="02040503050406030204" pitchFamily="18" charset="0"/>
                            </a:rPr>
                            <m:t>2</m:t>
                          </m:r>
                        </m:sup>
                      </m:sSubSup>
                    </m:oMath>
                  </m:oMathPara>
                </a14:m>
                <a:endParaRPr lang="en-US" sz="2200" noProof="0" dirty="0"/>
              </a:p>
            </p:txBody>
          </p:sp>
        </mc:Choice>
        <mc:Fallback xmlns="">
          <p:sp>
            <p:nvSpPr>
              <p:cNvPr id="10" name="TextBox 9">
                <a:extLst>
                  <a:ext uri="{FF2B5EF4-FFF2-40B4-BE49-F238E27FC236}">
                    <a16:creationId xmlns:a16="http://schemas.microsoft.com/office/drawing/2014/main" id="{BE9D6B9F-0F85-8853-2D14-D136ADFB7DDB}"/>
                  </a:ext>
                </a:extLst>
              </p:cNvPr>
              <p:cNvSpPr txBox="1">
                <a:spLocks noRot="1" noChangeAspect="1" noMove="1" noResize="1" noEditPoints="1" noAdjustHandles="1" noChangeArrowheads="1" noChangeShapeType="1" noTextEdit="1"/>
              </p:cNvSpPr>
              <p:nvPr/>
            </p:nvSpPr>
            <p:spPr>
              <a:xfrm>
                <a:off x="2878527" y="3865803"/>
                <a:ext cx="6137564" cy="1180516"/>
              </a:xfrm>
              <a:prstGeom prst="rect">
                <a:avLst/>
              </a:prstGeom>
              <a:blipFill>
                <a:blip r:embed="rId2"/>
                <a:stretch>
                  <a:fillRect/>
                </a:stretch>
              </a:blipFill>
            </p:spPr>
            <p:txBody>
              <a:bodyPr/>
              <a:lstStyle/>
              <a:p>
                <a:r>
                  <a:rPr lang="en-US">
                    <a:noFill/>
                  </a:rPr>
                  <a:t> </a:t>
                </a:r>
              </a:p>
            </p:txBody>
          </p:sp>
        </mc:Fallback>
      </mc:AlternateContent>
      <p:sp>
        <p:nvSpPr>
          <p:cNvPr id="11" name="Text Placeholder 7">
            <a:extLst>
              <a:ext uri="{FF2B5EF4-FFF2-40B4-BE49-F238E27FC236}">
                <a16:creationId xmlns:a16="http://schemas.microsoft.com/office/drawing/2014/main" id="{96F147A7-894E-08F2-F9E1-F1040464B5CC}"/>
              </a:ext>
            </a:extLst>
          </p:cNvPr>
          <p:cNvSpPr>
            <a:spLocks noGrp="1"/>
          </p:cNvSpPr>
          <p:nvPr>
            <p:ph type="body" sz="quarter" idx="22"/>
          </p:nvPr>
        </p:nvSpPr>
        <p:spPr>
          <a:xfrm>
            <a:off x="749023" y="6216958"/>
            <a:ext cx="2248453" cy="309850"/>
          </a:xfrm>
        </p:spPr>
        <p:txBody>
          <a:bodyPr>
            <a:normAutofit fontScale="62500" lnSpcReduction="20000"/>
          </a:bodyPr>
          <a:lstStyle/>
          <a:p>
            <a:pPr marL="0" indent="0">
              <a:buNone/>
            </a:pPr>
            <a:r>
              <a:rPr lang="en-US" noProof="0" dirty="0"/>
              <a:t>[1]</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AAAE258-7F65-5F7B-1842-06927C18E282}"/>
                  </a:ext>
                </a:extLst>
              </p:cNvPr>
              <p:cNvSpPr txBox="1"/>
              <p:nvPr/>
            </p:nvSpPr>
            <p:spPr>
              <a:xfrm>
                <a:off x="2893412" y="5296404"/>
                <a:ext cx="6143624" cy="4489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i="1" noProof="0" smtClean="0">
                              <a:latin typeface="Cambria Math" panose="02040503050406030204" pitchFamily="18" charset="0"/>
                            </a:rPr>
                          </m:ctrlPr>
                        </m:dPr>
                        <m:e>
                          <m:r>
                            <a:rPr lang="en-US" i="1" noProof="0">
                              <a:latin typeface="Cambria Math" panose="02040503050406030204" pitchFamily="18" charset="0"/>
                            </a:rPr>
                            <m:t>𝑅</m:t>
                          </m:r>
                          <m:r>
                            <a:rPr lang="en-US" i="0" noProof="0">
                              <a:latin typeface="Cambria Math" panose="02040503050406030204" pitchFamily="18" charset="0"/>
                            </a:rPr>
                            <m:t>=80 </m:t>
                          </m:r>
                          <m:r>
                            <m:rPr>
                              <m:nor/>
                            </m:rPr>
                            <a:rPr lang="en-US" b="0" i="1" noProof="0">
                              <a:latin typeface="Cambria Math" panose="02040503050406030204" pitchFamily="18" charset="0"/>
                            </a:rPr>
                            <m:t>m</m:t>
                          </m:r>
                          <m:r>
                            <a:rPr lang="en-US" b="0" i="0" noProof="0">
                              <a:latin typeface="Cambria Math" panose="02040503050406030204" pitchFamily="18" charset="0"/>
                            </a:rPr>
                            <m:t> </m:t>
                          </m:r>
                          <m:sSub>
                            <m:sSubPr>
                              <m:ctrlPr>
                                <a:rPr lang="en-US" b="0" i="1" noProof="0">
                                  <a:latin typeface="Cambria Math" panose="02040503050406030204" pitchFamily="18" charset="0"/>
                                </a:rPr>
                              </m:ctrlPr>
                            </m:sSubPr>
                            <m:e>
                              <m:r>
                                <a:rPr lang="en-US" b="0" i="1" noProof="0">
                                  <a:latin typeface="Cambria Math" panose="02040503050406030204" pitchFamily="18" charset="0"/>
                                </a:rPr>
                                <m:t>𝑐</m:t>
                              </m:r>
                            </m:e>
                            <m:sub>
                              <m:r>
                                <a:rPr lang="en-US" b="0" i="1" noProof="0">
                                  <a:latin typeface="Cambria Math" panose="02040503050406030204" pitchFamily="18" charset="0"/>
                                </a:rPr>
                                <m:t>𝑃</m:t>
                              </m:r>
                              <m:r>
                                <a:rPr lang="en-US" b="0" i="0" noProof="0">
                                  <a:latin typeface="Cambria Math" panose="02040503050406030204" pitchFamily="18" charset="0"/>
                                </a:rPr>
                                <m:t>,</m:t>
                              </m:r>
                              <m:r>
                                <m:rPr>
                                  <m:nor/>
                                </m:rPr>
                                <a:rPr lang="en-US" b="0" i="1" noProof="0">
                                  <a:latin typeface="Cambria Math" panose="02040503050406030204" pitchFamily="18" charset="0"/>
                                </a:rPr>
                                <m:t>opt</m:t>
                              </m:r>
                            </m:sub>
                          </m:sSub>
                          <m:r>
                            <a:rPr lang="en-US" b="0" i="0" noProof="0">
                              <a:latin typeface="Cambria Math" panose="02040503050406030204" pitchFamily="18" charset="0"/>
                            </a:rPr>
                            <m:t>=0.45</m:t>
                          </m:r>
                          <m:r>
                            <a:rPr lang="en-US" b="0" i="0" noProof="0" smtClean="0">
                              <a:latin typeface="Cambria Math" panose="02040503050406030204" pitchFamily="18" charset="0"/>
                            </a:rPr>
                            <m:t>∗</m:t>
                          </m:r>
                          <m:r>
                            <a:rPr lang="en-US" b="0" i="0" noProof="0">
                              <a:latin typeface="Cambria Math" panose="02040503050406030204" pitchFamily="18" charset="0"/>
                            </a:rPr>
                            <m:t> </m:t>
                          </m:r>
                          <m:sSub>
                            <m:sSubPr>
                              <m:ctrlPr>
                                <a:rPr lang="en-US" b="0" i="1" noProof="0">
                                  <a:latin typeface="Cambria Math" panose="02040503050406030204" pitchFamily="18" charset="0"/>
                                </a:rPr>
                              </m:ctrlPr>
                            </m:sSubPr>
                            <m:e>
                              <m:r>
                                <m:rPr>
                                  <m:sty m:val="p"/>
                                </m:rPr>
                                <a:rPr lang="en-US" b="0" i="0" noProof="0">
                                  <a:latin typeface="Cambria Math" panose="02040503050406030204" pitchFamily="18" charset="0"/>
                                </a:rPr>
                                <m:t>λ</m:t>
                              </m:r>
                            </m:e>
                            <m:sub>
                              <m:r>
                                <m:rPr>
                                  <m:nor/>
                                </m:rPr>
                                <a:rPr lang="en-US" b="0" i="1" noProof="0">
                                  <a:latin typeface="Cambria Math" panose="02040503050406030204" pitchFamily="18" charset="0"/>
                                </a:rPr>
                                <m:t>opt</m:t>
                              </m:r>
                            </m:sub>
                          </m:sSub>
                          <m:r>
                            <a:rPr lang="en-US" b="0" i="0" noProof="0">
                              <a:latin typeface="Cambria Math" panose="02040503050406030204" pitchFamily="18" charset="0"/>
                            </a:rPr>
                            <m:t>=8.5 </m:t>
                          </m:r>
                          <m:sSub>
                            <m:sSubPr>
                              <m:ctrlPr>
                                <a:rPr lang="en-US" b="0" i="1" noProof="0">
                                  <a:latin typeface="Cambria Math" panose="02040503050406030204" pitchFamily="18" charset="0"/>
                                </a:rPr>
                              </m:ctrlPr>
                            </m:sSubPr>
                            <m:e>
                              <m:r>
                                <a:rPr lang="en-US" b="0" i="1" noProof="0">
                                  <a:latin typeface="Cambria Math" panose="02040503050406030204" pitchFamily="18" charset="0"/>
                                </a:rPr>
                                <m:t>𝑟</m:t>
                              </m:r>
                            </m:e>
                            <m:sub>
                              <m:r>
                                <m:rPr>
                                  <m:nor/>
                                </m:rPr>
                                <a:rPr lang="en-US" b="0" i="1" noProof="0">
                                  <a:latin typeface="Cambria Math" panose="02040503050406030204" pitchFamily="18" charset="0"/>
                                </a:rPr>
                                <m:t>GB</m:t>
                              </m:r>
                            </m:sub>
                          </m:sSub>
                          <m:r>
                            <a:rPr lang="en-US" b="0" i="0" noProof="0">
                              <a:latin typeface="Cambria Math" panose="02040503050406030204" pitchFamily="18" charset="0"/>
                            </a:rPr>
                            <m:t>=120</m:t>
                          </m:r>
                        </m:e>
                      </m:d>
                    </m:oMath>
                  </m:oMathPara>
                </a14:m>
                <a:endParaRPr lang="en-US" noProof="0" dirty="0"/>
              </a:p>
            </p:txBody>
          </p:sp>
        </mc:Choice>
        <mc:Fallback xmlns="">
          <p:sp>
            <p:nvSpPr>
              <p:cNvPr id="15" name="TextBox 14">
                <a:extLst>
                  <a:ext uri="{FF2B5EF4-FFF2-40B4-BE49-F238E27FC236}">
                    <a16:creationId xmlns:a16="http://schemas.microsoft.com/office/drawing/2014/main" id="{8AAAE258-7F65-5F7B-1842-06927C18E282}"/>
                  </a:ext>
                </a:extLst>
              </p:cNvPr>
              <p:cNvSpPr txBox="1">
                <a:spLocks noRot="1" noChangeAspect="1" noMove="1" noResize="1" noEditPoints="1" noAdjustHandles="1" noChangeArrowheads="1" noChangeShapeType="1" noTextEdit="1"/>
              </p:cNvSpPr>
              <p:nvPr/>
            </p:nvSpPr>
            <p:spPr>
              <a:xfrm>
                <a:off x="2893412" y="5296404"/>
                <a:ext cx="6143624" cy="448969"/>
              </a:xfrm>
              <a:prstGeom prst="rect">
                <a:avLst/>
              </a:prstGeom>
              <a:blipFill>
                <a:blip r:embed="rId3"/>
                <a:stretch>
                  <a:fillRect t="-1370" b="-12329"/>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7C8993B5-B959-5101-7B1C-90D2D1721C4F}"/>
              </a:ext>
            </a:extLst>
          </p:cNvPr>
          <p:cNvSpPr txBox="1"/>
          <p:nvPr/>
        </p:nvSpPr>
        <p:spPr>
          <a:xfrm>
            <a:off x="749023" y="5847626"/>
            <a:ext cx="2040327" cy="369332"/>
          </a:xfrm>
          <a:prstGeom prst="rect">
            <a:avLst/>
          </a:prstGeom>
          <a:noFill/>
        </p:spPr>
        <p:txBody>
          <a:bodyPr wrap="square" rtlCol="0">
            <a:spAutoFit/>
          </a:bodyPr>
          <a:lstStyle/>
          <a:p>
            <a:pPr algn="l"/>
            <a:r>
              <a:rPr lang="en-US" noProof="0" dirty="0"/>
              <a:t>* Not finalized</a:t>
            </a:r>
          </a:p>
        </p:txBody>
      </p:sp>
      <p:sp>
        <p:nvSpPr>
          <p:cNvPr id="8" name="TextBox 7">
            <a:extLst>
              <a:ext uri="{FF2B5EF4-FFF2-40B4-BE49-F238E27FC236}">
                <a16:creationId xmlns:a16="http://schemas.microsoft.com/office/drawing/2014/main" id="{04DA8F9E-2F7A-8867-DF57-102CE1E570CF}"/>
              </a:ext>
            </a:extLst>
          </p:cNvPr>
          <p:cNvSpPr txBox="1"/>
          <p:nvPr/>
        </p:nvSpPr>
        <p:spPr>
          <a:xfrm>
            <a:off x="749024" y="5333238"/>
            <a:ext cx="2248452" cy="369332"/>
          </a:xfrm>
          <a:prstGeom prst="rect">
            <a:avLst/>
          </a:prstGeom>
          <a:noFill/>
        </p:spPr>
        <p:txBody>
          <a:bodyPr wrap="square" rtlCol="0">
            <a:spAutoFit/>
          </a:bodyPr>
          <a:lstStyle/>
          <a:p>
            <a:pPr algn="l"/>
            <a:r>
              <a:rPr lang="en-US" noProof="0" dirty="0"/>
              <a:t>Values for Optimus:</a:t>
            </a:r>
          </a:p>
        </p:txBody>
      </p:sp>
    </p:spTree>
    <p:extLst>
      <p:ext uri="{BB962C8B-B14F-4D97-AF65-F5344CB8AC3E}">
        <p14:creationId xmlns:p14="http://schemas.microsoft.com/office/powerpoint/2010/main" val="2342059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95B14-C000-7944-624C-31D307FD6361}"/>
              </a:ext>
            </a:extLst>
          </p:cNvPr>
          <p:cNvSpPr>
            <a:spLocks noGrp="1"/>
          </p:cNvSpPr>
          <p:nvPr>
            <p:ph type="title"/>
          </p:nvPr>
        </p:nvSpPr>
        <p:spPr/>
        <p:txBody>
          <a:bodyPr/>
          <a:lstStyle/>
          <a:p>
            <a:r>
              <a:rPr lang="en-US" noProof="0" dirty="0"/>
              <a:t>Torque Controller</a:t>
            </a:r>
          </a:p>
        </p:txBody>
      </p:sp>
      <p:sp>
        <p:nvSpPr>
          <p:cNvPr id="4" name="Text Placeholder 3">
            <a:extLst>
              <a:ext uri="{FF2B5EF4-FFF2-40B4-BE49-F238E27FC236}">
                <a16:creationId xmlns:a16="http://schemas.microsoft.com/office/drawing/2014/main" id="{7E82773F-A187-DC78-60CA-7695FB433E50}"/>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
        <p:nvSpPr>
          <p:cNvPr id="5" name="Date Placeholder 4">
            <a:extLst>
              <a:ext uri="{FF2B5EF4-FFF2-40B4-BE49-F238E27FC236}">
                <a16:creationId xmlns:a16="http://schemas.microsoft.com/office/drawing/2014/main" id="{60A51241-3B75-B9E6-5C7C-1894FE65B939}"/>
              </a:ext>
            </a:extLst>
          </p:cNvPr>
          <p:cNvSpPr>
            <a:spLocks noGrp="1"/>
          </p:cNvSpPr>
          <p:nvPr>
            <p:ph type="dt" sz="half" idx="19"/>
          </p:nvPr>
        </p:nvSpPr>
        <p:spPr/>
        <p:txBody>
          <a:bodyPr/>
          <a:lstStyle/>
          <a:p>
            <a:r>
              <a:rPr lang="en-US" noProof="0"/>
              <a:t>25/11/2025</a:t>
            </a:r>
            <a:endParaRPr lang="en-US" noProof="0" dirty="0"/>
          </a:p>
        </p:txBody>
      </p:sp>
      <p:sp>
        <p:nvSpPr>
          <p:cNvPr id="6" name="Footer Placeholder 5">
            <a:extLst>
              <a:ext uri="{FF2B5EF4-FFF2-40B4-BE49-F238E27FC236}">
                <a16:creationId xmlns:a16="http://schemas.microsoft.com/office/drawing/2014/main" id="{E209F813-284C-88E6-6578-088AED26FD55}"/>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1FFF312F-C53B-5B72-84A0-E4A06BC1E788}"/>
              </a:ext>
            </a:extLst>
          </p:cNvPr>
          <p:cNvSpPr>
            <a:spLocks noGrp="1"/>
          </p:cNvSpPr>
          <p:nvPr>
            <p:ph type="sldNum" sz="quarter" idx="21"/>
          </p:nvPr>
        </p:nvSpPr>
        <p:spPr/>
        <p:txBody>
          <a:bodyPr/>
          <a:lstStyle/>
          <a:p>
            <a:fld id="{3A84E93A-72FE-4BB6-A500-FB6DD421822B}" type="slidenum">
              <a:rPr lang="en-US" noProof="0" smtClean="0"/>
              <a:t>5</a:t>
            </a:fld>
            <a:endParaRPr lang="en-US" noProof="0" dirty="0"/>
          </a:p>
        </p:txBody>
      </p:sp>
      <p:pic>
        <p:nvPicPr>
          <p:cNvPr id="10" name="Picture 9">
            <a:extLst>
              <a:ext uri="{FF2B5EF4-FFF2-40B4-BE49-F238E27FC236}">
                <a16:creationId xmlns:a16="http://schemas.microsoft.com/office/drawing/2014/main" id="{6CFF2FA3-89A4-4CC8-D10A-A32BA06B913A}"/>
              </a:ext>
            </a:extLst>
          </p:cNvPr>
          <p:cNvPicPr>
            <a:picLocks noChangeAspect="1"/>
          </p:cNvPicPr>
          <p:nvPr/>
        </p:nvPicPr>
        <p:blipFill>
          <a:blip r:embed="rId2"/>
          <a:stretch>
            <a:fillRect/>
          </a:stretch>
        </p:blipFill>
        <p:spPr>
          <a:xfrm>
            <a:off x="581079" y="1047090"/>
            <a:ext cx="10436287" cy="5190966"/>
          </a:xfrm>
          <a:prstGeom prst="rect">
            <a:avLst/>
          </a:prstGeom>
        </p:spPr>
      </p:pic>
      <p:sp>
        <p:nvSpPr>
          <p:cNvPr id="11" name="TextBox 10">
            <a:extLst>
              <a:ext uri="{FF2B5EF4-FFF2-40B4-BE49-F238E27FC236}">
                <a16:creationId xmlns:a16="http://schemas.microsoft.com/office/drawing/2014/main" id="{03F851BE-3B1D-7FE1-14DE-1D0799DE9C9E}"/>
              </a:ext>
            </a:extLst>
          </p:cNvPr>
          <p:cNvSpPr txBox="1"/>
          <p:nvPr/>
        </p:nvSpPr>
        <p:spPr>
          <a:xfrm>
            <a:off x="4204057" y="6240747"/>
            <a:ext cx="3783885" cy="276999"/>
          </a:xfrm>
          <a:prstGeom prst="rect">
            <a:avLst/>
          </a:prstGeom>
          <a:noFill/>
        </p:spPr>
        <p:txBody>
          <a:bodyPr wrap="square" rtlCol="0">
            <a:spAutoFit/>
          </a:bodyPr>
          <a:lstStyle/>
          <a:p>
            <a:r>
              <a:rPr lang="en-US" sz="1200" noProof="0" dirty="0"/>
              <a:t>Figure 1:</a:t>
            </a:r>
            <a:r>
              <a:rPr lang="tr-TR" sz="1200" noProof="0" dirty="0"/>
              <a:t> </a:t>
            </a:r>
            <a:r>
              <a:rPr lang="tr-TR" sz="1200" noProof="0" dirty="0" err="1"/>
              <a:t>Theoretical</a:t>
            </a:r>
            <a:r>
              <a:rPr lang="tr-TR" sz="1200" noProof="0" dirty="0"/>
              <a:t> kOmega^2 </a:t>
            </a:r>
            <a:r>
              <a:rPr lang="tr-TR" sz="1200" noProof="0" dirty="0" err="1"/>
              <a:t>for</a:t>
            </a:r>
            <a:r>
              <a:rPr lang="tr-TR" sz="1200" noProof="0" dirty="0"/>
              <a:t> </a:t>
            </a:r>
            <a:r>
              <a:rPr lang="tr-TR" sz="1200" noProof="0" dirty="0" err="1"/>
              <a:t>optimus</a:t>
            </a:r>
            <a:endParaRPr lang="en-US" sz="1200" noProof="0" dirty="0"/>
          </a:p>
        </p:txBody>
      </p:sp>
    </p:spTree>
    <p:extLst>
      <p:ext uri="{BB962C8B-B14F-4D97-AF65-F5344CB8AC3E}">
        <p14:creationId xmlns:p14="http://schemas.microsoft.com/office/powerpoint/2010/main" val="3022263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767D4-DDA3-0861-260C-0F02F4D84547}"/>
              </a:ext>
            </a:extLst>
          </p:cNvPr>
          <p:cNvSpPr>
            <a:spLocks noGrp="1"/>
          </p:cNvSpPr>
          <p:nvPr>
            <p:ph type="title"/>
          </p:nvPr>
        </p:nvSpPr>
        <p:spPr/>
        <p:txBody>
          <a:bodyPr/>
          <a:lstStyle/>
          <a:p>
            <a:r>
              <a:rPr lang="en-US" noProof="0" dirty="0"/>
              <a:t>Torque Controller in ROSCO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9269D1-8809-60C4-A2D6-D00A64740855}"/>
                  </a:ext>
                </a:extLst>
              </p:cNvPr>
              <p:cNvSpPr>
                <a:spLocks noGrp="1"/>
              </p:cNvSpPr>
              <p:nvPr>
                <p:ph idx="1"/>
              </p:nvPr>
            </p:nvSpPr>
            <p:spPr>
              <a:xfrm>
                <a:off x="838200" y="1690688"/>
                <a:ext cx="10515600" cy="4351338"/>
              </a:xfrm>
            </p:spPr>
            <p:txBody>
              <a:bodyPr>
                <a:normAutofit lnSpcReduction="10000"/>
              </a:bodyPr>
              <a:lstStyle/>
              <a:p>
                <a:r>
                  <a:rPr lang="en-US" noProof="0" dirty="0"/>
                  <a:t>Torque controller logic in ROSCO depends on the state of the turbine.</a:t>
                </a:r>
              </a:p>
              <a:p>
                <a:endParaRPr lang="en-US" noProof="0" dirty="0"/>
              </a:p>
              <a:p>
                <a:r>
                  <a:rPr lang="en-US" noProof="0" dirty="0"/>
                  <a:t>In region 1.5, controller to keep the rotor at cut-in speed towards the </a:t>
                </a:r>
                <a:r>
                  <a:rPr lang="en-US" noProof="0" dirty="0" err="1"/>
                  <a:t>Cp,max</a:t>
                </a:r>
                <a:r>
                  <a:rPr lang="en-US" noProof="0" dirty="0"/>
                  <a:t> operational curve by PI controller</a:t>
                </a:r>
              </a:p>
              <a:p>
                <a:endParaRPr lang="en-US" noProof="0" dirty="0"/>
              </a:p>
              <a:p>
                <a:r>
                  <a:rPr lang="en-US" noProof="0" dirty="0"/>
                  <a:t>In region 2, </a:t>
                </a:r>
                <a:r>
                  <a:rPr lang="en-US" noProof="0" dirty="0" err="1"/>
                  <a:t>Cp,max</a:t>
                </a:r>
                <a:r>
                  <a:rPr lang="en-US" noProof="0" dirty="0"/>
                  <a:t> tracking using </a:t>
                </a:r>
                <a14:m>
                  <m:oMath xmlns:m="http://schemas.openxmlformats.org/officeDocument/2006/math">
                    <m:sSub>
                      <m:sSubPr>
                        <m:ctrlPr>
                          <a:rPr lang="en-US" i="1" noProof="0" smtClean="0">
                            <a:latin typeface="Cambria Math" panose="02040503050406030204" pitchFamily="18" charset="0"/>
                          </a:rPr>
                        </m:ctrlPr>
                      </m:sSubPr>
                      <m:e>
                        <m:r>
                          <a:rPr lang="en-US" i="1" noProof="0">
                            <a:latin typeface="Cambria Math" panose="02040503050406030204" pitchFamily="18" charset="0"/>
                          </a:rPr>
                          <m:t>𝑀</m:t>
                        </m:r>
                      </m:e>
                      <m:sub>
                        <m:r>
                          <a:rPr lang="en-US" i="1" noProof="0">
                            <a:latin typeface="Cambria Math" panose="02040503050406030204" pitchFamily="18" charset="0"/>
                          </a:rPr>
                          <m:t>𝐺</m:t>
                        </m:r>
                      </m:sub>
                    </m:sSub>
                    <m:r>
                      <a:rPr lang="en-US" i="1" noProof="0">
                        <a:latin typeface="Cambria Math" panose="02040503050406030204" pitchFamily="18" charset="0"/>
                      </a:rPr>
                      <m:t>=</m:t>
                    </m:r>
                    <m:r>
                      <a:rPr lang="en-US" i="1" noProof="0">
                        <a:latin typeface="Cambria Math" panose="02040503050406030204" pitchFamily="18" charset="0"/>
                      </a:rPr>
                      <m:t>𝑘</m:t>
                    </m:r>
                    <m:r>
                      <a:rPr lang="en-US" i="1" noProof="0">
                        <a:latin typeface="Cambria Math" panose="02040503050406030204" pitchFamily="18" charset="0"/>
                      </a:rPr>
                      <m:t> </m:t>
                    </m:r>
                    <m:sSubSup>
                      <m:sSubSupPr>
                        <m:ctrlPr>
                          <a:rPr lang="en-US" i="1" noProof="0" smtClean="0">
                            <a:latin typeface="Cambria Math" panose="02040503050406030204" pitchFamily="18" charset="0"/>
                          </a:rPr>
                        </m:ctrlPr>
                      </m:sSubSupPr>
                      <m:e>
                        <m:r>
                          <m:rPr>
                            <m:sty m:val="p"/>
                          </m:rPr>
                          <a:rPr lang="en-US" noProof="0">
                            <a:latin typeface="Cambria Math" panose="02040503050406030204" pitchFamily="18" charset="0"/>
                          </a:rPr>
                          <m:t>Ω</m:t>
                        </m:r>
                      </m:e>
                      <m:sub>
                        <m:r>
                          <a:rPr lang="en-US" i="1" noProof="0">
                            <a:latin typeface="Cambria Math" panose="02040503050406030204" pitchFamily="18" charset="0"/>
                          </a:rPr>
                          <m:t>𝐺</m:t>
                        </m:r>
                      </m:sub>
                      <m:sup>
                        <m:r>
                          <a:rPr lang="en-US" i="1" noProof="0">
                            <a:latin typeface="Cambria Math" panose="02040503050406030204" pitchFamily="18" charset="0"/>
                          </a:rPr>
                          <m:t>2</m:t>
                        </m:r>
                      </m:sup>
                    </m:sSubSup>
                  </m:oMath>
                </a14:m>
                <a:r>
                  <a:rPr lang="en-US" noProof="0" dirty="0"/>
                  <a:t>.</a:t>
                </a:r>
              </a:p>
              <a:p>
                <a:endParaRPr lang="en-US" noProof="0" dirty="0"/>
              </a:p>
              <a:p>
                <a:r>
                  <a:rPr lang="en-US" noProof="0" dirty="0"/>
                  <a:t>In region 2.5, transition between below and above-rated operating conditions using PI controller.</a:t>
                </a:r>
              </a:p>
              <a:p>
                <a:endParaRPr lang="en-US" noProof="0" dirty="0"/>
              </a:p>
              <a:p>
                <a:r>
                  <a:rPr lang="en-US" noProof="0" dirty="0"/>
                  <a:t>In Region 3, Keeping the power constant with pitch and torque control.</a:t>
                </a:r>
              </a:p>
              <a:p>
                <a:endParaRPr lang="en-US" noProof="0" dirty="0"/>
              </a:p>
              <a:p>
                <a:endParaRPr lang="en-US" noProof="0" dirty="0"/>
              </a:p>
              <a:p>
                <a:pPr marL="0" indent="0">
                  <a:buNone/>
                </a:pPr>
                <a:endParaRPr lang="en-US" noProof="0" dirty="0"/>
              </a:p>
            </p:txBody>
          </p:sp>
        </mc:Choice>
        <mc:Fallback xmlns="">
          <p:sp>
            <p:nvSpPr>
              <p:cNvPr id="3" name="Content Placeholder 2">
                <a:extLst>
                  <a:ext uri="{FF2B5EF4-FFF2-40B4-BE49-F238E27FC236}">
                    <a16:creationId xmlns:a16="http://schemas.microsoft.com/office/drawing/2014/main" id="{BD9269D1-8809-60C4-A2D6-D00A64740855}"/>
                  </a:ext>
                </a:extLst>
              </p:cNvPr>
              <p:cNvSpPr>
                <a:spLocks noGrp="1" noRot="1" noChangeAspect="1" noMove="1" noResize="1" noEditPoints="1" noAdjustHandles="1" noChangeArrowheads="1" noChangeShapeType="1" noTextEdit="1"/>
              </p:cNvSpPr>
              <p:nvPr>
                <p:ph idx="1"/>
              </p:nvPr>
            </p:nvSpPr>
            <p:spPr>
              <a:xfrm>
                <a:off x="838200" y="1690688"/>
                <a:ext cx="10515600" cy="4351338"/>
              </a:xfrm>
              <a:blipFill>
                <a:blip r:embed="rId2"/>
                <a:stretch>
                  <a:fillRect l="-696" t="-2101"/>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442447E3-1EF7-DA6D-76E2-CA0537AF31AA}"/>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
        <p:nvSpPr>
          <p:cNvPr id="5" name="Date Placeholder 4">
            <a:extLst>
              <a:ext uri="{FF2B5EF4-FFF2-40B4-BE49-F238E27FC236}">
                <a16:creationId xmlns:a16="http://schemas.microsoft.com/office/drawing/2014/main" id="{7E475138-4119-01E6-9CBC-055CF5D27EFE}"/>
              </a:ext>
            </a:extLst>
          </p:cNvPr>
          <p:cNvSpPr>
            <a:spLocks noGrp="1"/>
          </p:cNvSpPr>
          <p:nvPr>
            <p:ph type="dt" sz="half" idx="19"/>
          </p:nvPr>
        </p:nvSpPr>
        <p:spPr/>
        <p:txBody>
          <a:bodyPr/>
          <a:lstStyle/>
          <a:p>
            <a:r>
              <a:rPr lang="en-US" noProof="0"/>
              <a:t>25/11/2025</a:t>
            </a:r>
            <a:endParaRPr lang="en-US" noProof="0" dirty="0"/>
          </a:p>
        </p:txBody>
      </p:sp>
      <p:sp>
        <p:nvSpPr>
          <p:cNvPr id="6" name="Footer Placeholder 5">
            <a:extLst>
              <a:ext uri="{FF2B5EF4-FFF2-40B4-BE49-F238E27FC236}">
                <a16:creationId xmlns:a16="http://schemas.microsoft.com/office/drawing/2014/main" id="{6F3F555E-EDC2-94FB-7E4E-6ABFEE1B0C07}"/>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2B558748-7A31-E721-AEE2-6700A387A315}"/>
              </a:ext>
            </a:extLst>
          </p:cNvPr>
          <p:cNvSpPr>
            <a:spLocks noGrp="1"/>
          </p:cNvSpPr>
          <p:nvPr>
            <p:ph type="sldNum" sz="quarter" idx="21"/>
          </p:nvPr>
        </p:nvSpPr>
        <p:spPr/>
        <p:txBody>
          <a:bodyPr/>
          <a:lstStyle/>
          <a:p>
            <a:fld id="{3A84E93A-72FE-4BB6-A500-FB6DD421822B}" type="slidenum">
              <a:rPr lang="en-US" noProof="0" smtClean="0"/>
              <a:t>6</a:t>
            </a:fld>
            <a:endParaRPr lang="en-US" noProof="0" dirty="0"/>
          </a:p>
        </p:txBody>
      </p:sp>
    </p:spTree>
    <p:extLst>
      <p:ext uri="{BB962C8B-B14F-4D97-AF65-F5344CB8AC3E}">
        <p14:creationId xmlns:p14="http://schemas.microsoft.com/office/powerpoint/2010/main" val="3165325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CBC6D-AB61-ACC9-5FF1-9375A6E9A3BF}"/>
              </a:ext>
            </a:extLst>
          </p:cNvPr>
          <p:cNvSpPr>
            <a:spLocks noGrp="1"/>
          </p:cNvSpPr>
          <p:nvPr>
            <p:ph type="title"/>
          </p:nvPr>
        </p:nvSpPr>
        <p:spPr/>
        <p:txBody>
          <a:bodyPr/>
          <a:lstStyle/>
          <a:p>
            <a:r>
              <a:rPr lang="en-US" noProof="0" dirty="0"/>
              <a:t>Torque Controller in ROSCO</a:t>
            </a:r>
          </a:p>
        </p:txBody>
      </p:sp>
      <p:sp>
        <p:nvSpPr>
          <p:cNvPr id="3" name="Content Placeholder 2">
            <a:extLst>
              <a:ext uri="{FF2B5EF4-FFF2-40B4-BE49-F238E27FC236}">
                <a16:creationId xmlns:a16="http://schemas.microsoft.com/office/drawing/2014/main" id="{D149D40E-18A7-A1C4-75ED-AA5D27D4558B}"/>
              </a:ext>
            </a:extLst>
          </p:cNvPr>
          <p:cNvSpPr>
            <a:spLocks noGrp="1"/>
          </p:cNvSpPr>
          <p:nvPr>
            <p:ph idx="1"/>
          </p:nvPr>
        </p:nvSpPr>
        <p:spPr>
          <a:xfrm>
            <a:off x="838200" y="1511299"/>
            <a:ext cx="10515600" cy="4665663"/>
          </a:xfrm>
        </p:spPr>
        <p:txBody>
          <a:bodyPr>
            <a:normAutofit fontScale="77500" lnSpcReduction="20000"/>
          </a:bodyPr>
          <a:lstStyle/>
          <a:p>
            <a:r>
              <a:rPr lang="en-US" b="1" noProof="0" dirty="0"/>
              <a:t>Inputs</a:t>
            </a:r>
          </a:p>
          <a:p>
            <a:pPr>
              <a:buFont typeface="Wingdings" panose="05000000000000000000" pitchFamily="2" charset="2"/>
              <a:buChar char="Ø"/>
            </a:pPr>
            <a:r>
              <a:rPr lang="en-US" noProof="0" dirty="0"/>
              <a:t>Generator efficiency mechanical power -&gt; electrical power</a:t>
            </a:r>
          </a:p>
          <a:p>
            <a:pPr>
              <a:buFont typeface="Wingdings" panose="05000000000000000000" pitchFamily="2" charset="2"/>
              <a:buChar char="Ø"/>
            </a:pPr>
            <a:r>
              <a:rPr lang="en-US" noProof="0" dirty="0"/>
              <a:t>Above rated generator torque PI control saturation, [Nm]</a:t>
            </a:r>
          </a:p>
          <a:p>
            <a:pPr>
              <a:buFont typeface="Wingdings" panose="05000000000000000000" pitchFamily="2" charset="2"/>
              <a:buChar char="Ø"/>
            </a:pPr>
            <a:r>
              <a:rPr lang="en-US" noProof="0" dirty="0"/>
              <a:t>Maximum torque rate (in absolute value) in torque controller, [Nm/s].</a:t>
            </a:r>
          </a:p>
          <a:p>
            <a:pPr>
              <a:buFont typeface="Wingdings" panose="05000000000000000000" pitchFamily="2" charset="2"/>
              <a:buChar char="Ø"/>
            </a:pPr>
            <a:r>
              <a:rPr lang="en-US" noProof="0" dirty="0"/>
              <a:t>Maximum generator torque in Region 3 (HSS side), [Nm].</a:t>
            </a:r>
          </a:p>
          <a:p>
            <a:pPr>
              <a:buFont typeface="Wingdings" panose="05000000000000000000" pitchFamily="2" charset="2"/>
              <a:buChar char="Ø"/>
            </a:pPr>
            <a:r>
              <a:rPr lang="en-US" noProof="0" dirty="0"/>
              <a:t>Minimum generator torque (HSS side), [Nm].</a:t>
            </a:r>
          </a:p>
          <a:p>
            <a:pPr>
              <a:buFont typeface="Wingdings" panose="05000000000000000000" pitchFamily="2" charset="2"/>
              <a:buChar char="Ø"/>
            </a:pPr>
            <a:r>
              <a:rPr lang="en-US" noProof="0" dirty="0"/>
              <a:t>Minimum generator speed [rad/s]</a:t>
            </a:r>
          </a:p>
          <a:p>
            <a:pPr>
              <a:buFont typeface="Wingdings" panose="05000000000000000000" pitchFamily="2" charset="2"/>
              <a:buChar char="Ø"/>
            </a:pPr>
            <a:r>
              <a:rPr lang="en-US" noProof="0" dirty="0"/>
              <a:t>Generator torque constant in Region 2 (HSS side), k value, [Nm/(rad/s)^2]</a:t>
            </a:r>
          </a:p>
          <a:p>
            <a:pPr>
              <a:buFont typeface="Wingdings" panose="05000000000000000000" pitchFamily="2" charset="2"/>
              <a:buChar char="Ø"/>
            </a:pPr>
            <a:r>
              <a:rPr lang="en-US" noProof="0" dirty="0"/>
              <a:t>Wind turbine rated power [W]</a:t>
            </a:r>
          </a:p>
          <a:p>
            <a:pPr>
              <a:buFont typeface="Wingdings" panose="05000000000000000000" pitchFamily="2" charset="2"/>
              <a:buChar char="Ø"/>
            </a:pPr>
            <a:r>
              <a:rPr lang="en-US" noProof="0" dirty="0"/>
              <a:t>Rated torque, [Nm].</a:t>
            </a:r>
          </a:p>
          <a:p>
            <a:pPr>
              <a:buFont typeface="Wingdings" panose="05000000000000000000" pitchFamily="2" charset="2"/>
              <a:buChar char="Ø"/>
            </a:pPr>
            <a:r>
              <a:rPr lang="en-US" noProof="0" dirty="0"/>
              <a:t>Rated generator speed [rad/s]</a:t>
            </a:r>
          </a:p>
          <a:p>
            <a:pPr>
              <a:buFont typeface="Wingdings" panose="05000000000000000000" pitchFamily="2" charset="2"/>
              <a:buChar char="Ø"/>
            </a:pPr>
            <a:r>
              <a:rPr lang="en-US" noProof="0" dirty="0"/>
              <a:t>Number of generator PI torque controller gains</a:t>
            </a:r>
          </a:p>
          <a:p>
            <a:pPr>
              <a:buFont typeface="Wingdings" panose="05000000000000000000" pitchFamily="2" charset="2"/>
              <a:buChar char="Ø"/>
            </a:pPr>
            <a:r>
              <a:rPr lang="en-US" noProof="0" dirty="0"/>
              <a:t>Proportional gain for generator PI torque controller [-]</a:t>
            </a:r>
          </a:p>
          <a:p>
            <a:pPr>
              <a:buFont typeface="Wingdings" panose="05000000000000000000" pitchFamily="2" charset="2"/>
              <a:buChar char="Ø"/>
            </a:pPr>
            <a:r>
              <a:rPr lang="en-US" noProof="0" dirty="0"/>
              <a:t>Integral gain for generator PI torque controller [s]</a:t>
            </a:r>
          </a:p>
          <a:p>
            <a:pPr>
              <a:buFont typeface="Wingdings" panose="05000000000000000000" pitchFamily="2" charset="2"/>
              <a:buChar char="Ø"/>
            </a:pPr>
            <a:r>
              <a:rPr lang="en-US" noProof="0" dirty="0"/>
              <a:t>Power-maximizing region 2 tip-speed-ratio [rad]</a:t>
            </a:r>
          </a:p>
        </p:txBody>
      </p:sp>
      <p:sp>
        <p:nvSpPr>
          <p:cNvPr id="4" name="Text Placeholder 3">
            <a:extLst>
              <a:ext uri="{FF2B5EF4-FFF2-40B4-BE49-F238E27FC236}">
                <a16:creationId xmlns:a16="http://schemas.microsoft.com/office/drawing/2014/main" id="{190D031A-05AB-80DA-B89A-44212E3265BE}"/>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
        <p:nvSpPr>
          <p:cNvPr id="5" name="Date Placeholder 4">
            <a:extLst>
              <a:ext uri="{FF2B5EF4-FFF2-40B4-BE49-F238E27FC236}">
                <a16:creationId xmlns:a16="http://schemas.microsoft.com/office/drawing/2014/main" id="{FB791F9F-DFB8-FE77-4DB7-8F9A4B46AB70}"/>
              </a:ext>
            </a:extLst>
          </p:cNvPr>
          <p:cNvSpPr>
            <a:spLocks noGrp="1"/>
          </p:cNvSpPr>
          <p:nvPr>
            <p:ph type="dt" sz="half" idx="19"/>
          </p:nvPr>
        </p:nvSpPr>
        <p:spPr/>
        <p:txBody>
          <a:bodyPr/>
          <a:lstStyle/>
          <a:p>
            <a:r>
              <a:rPr lang="en-US" noProof="0"/>
              <a:t>25/11/2025</a:t>
            </a:r>
            <a:endParaRPr lang="en-US" noProof="0" dirty="0"/>
          </a:p>
        </p:txBody>
      </p:sp>
      <p:sp>
        <p:nvSpPr>
          <p:cNvPr id="6" name="Footer Placeholder 5">
            <a:extLst>
              <a:ext uri="{FF2B5EF4-FFF2-40B4-BE49-F238E27FC236}">
                <a16:creationId xmlns:a16="http://schemas.microsoft.com/office/drawing/2014/main" id="{D6BD8B68-B3FD-D018-17AF-F518B4D151E7}"/>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8AED2B54-D565-6EE7-4CD3-B2F26F28E42E}"/>
              </a:ext>
            </a:extLst>
          </p:cNvPr>
          <p:cNvSpPr>
            <a:spLocks noGrp="1"/>
          </p:cNvSpPr>
          <p:nvPr>
            <p:ph type="sldNum" sz="quarter" idx="21"/>
          </p:nvPr>
        </p:nvSpPr>
        <p:spPr/>
        <p:txBody>
          <a:bodyPr/>
          <a:lstStyle/>
          <a:p>
            <a:fld id="{3A84E93A-72FE-4BB6-A500-FB6DD421822B}" type="slidenum">
              <a:rPr lang="en-US" noProof="0" smtClean="0"/>
              <a:t>7</a:t>
            </a:fld>
            <a:endParaRPr lang="en-US" noProof="0" dirty="0"/>
          </a:p>
        </p:txBody>
      </p:sp>
    </p:spTree>
    <p:extLst>
      <p:ext uri="{BB962C8B-B14F-4D97-AF65-F5344CB8AC3E}">
        <p14:creationId xmlns:p14="http://schemas.microsoft.com/office/powerpoint/2010/main" val="339999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D2707-BFC1-B5D0-5001-59FE85A9C6EF}"/>
              </a:ext>
            </a:extLst>
          </p:cNvPr>
          <p:cNvSpPr>
            <a:spLocks noGrp="1"/>
          </p:cNvSpPr>
          <p:nvPr>
            <p:ph type="title"/>
          </p:nvPr>
        </p:nvSpPr>
        <p:spPr>
          <a:xfrm>
            <a:off x="838200" y="365125"/>
            <a:ext cx="10515600" cy="1325563"/>
          </a:xfrm>
        </p:spPr>
        <p:txBody>
          <a:bodyPr anchor="ctr">
            <a:normAutofit/>
          </a:bodyPr>
          <a:lstStyle/>
          <a:p>
            <a:r>
              <a:rPr lang="en-US" noProof="0" dirty="0"/>
              <a:t>Torque Controller for Optimus</a:t>
            </a:r>
          </a:p>
        </p:txBody>
      </p:sp>
      <p:sp>
        <p:nvSpPr>
          <p:cNvPr id="15" name="Text Placeholder 3">
            <a:extLst>
              <a:ext uri="{FF2B5EF4-FFF2-40B4-BE49-F238E27FC236}">
                <a16:creationId xmlns:a16="http://schemas.microsoft.com/office/drawing/2014/main" id="{30591B40-13B2-CCC9-5EEE-BBCE91EE29A3}"/>
              </a:ext>
            </a:extLst>
          </p:cNvPr>
          <p:cNvSpPr>
            <a:spLocks noGrp="1"/>
          </p:cNvSpPr>
          <p:nvPr>
            <p:ph type="body" sz="quarter" idx="18"/>
          </p:nvPr>
        </p:nvSpPr>
        <p:spPr>
          <a:xfrm>
            <a:off x="2878527" y="6564113"/>
            <a:ext cx="5596085" cy="365125"/>
          </a:xfrm>
        </p:spPr>
        <p:txBody>
          <a:bodyPr/>
          <a:lstStyle/>
          <a:p>
            <a:r>
              <a:rPr lang="en-US" dirty="0"/>
              <a:t>Saurabh</a:t>
            </a:r>
            <a:r>
              <a:rPr lang="tr-TR" dirty="0"/>
              <a:t> </a:t>
            </a:r>
            <a:r>
              <a:rPr lang="en-US" dirty="0"/>
              <a:t>Pankaj Jha</a:t>
            </a:r>
            <a:endParaRPr lang="en-US" noProof="0" dirty="0"/>
          </a:p>
        </p:txBody>
      </p:sp>
      <p:sp>
        <p:nvSpPr>
          <p:cNvPr id="5" name="Date Placeholder 4">
            <a:extLst>
              <a:ext uri="{FF2B5EF4-FFF2-40B4-BE49-F238E27FC236}">
                <a16:creationId xmlns:a16="http://schemas.microsoft.com/office/drawing/2014/main" id="{E2A10107-9F07-95C5-E336-5FCED138E217}"/>
              </a:ext>
            </a:extLst>
          </p:cNvPr>
          <p:cNvSpPr>
            <a:spLocks noGrp="1"/>
          </p:cNvSpPr>
          <p:nvPr>
            <p:ph type="dt" sz="half" idx="19"/>
          </p:nvPr>
        </p:nvSpPr>
        <p:spPr>
          <a:xfrm>
            <a:off x="838200" y="6566803"/>
            <a:ext cx="1111370" cy="365125"/>
          </a:xfrm>
        </p:spPr>
        <p:txBody>
          <a:bodyPr anchor="ctr">
            <a:normAutofit/>
          </a:bodyPr>
          <a:lstStyle/>
          <a:p>
            <a:pPr>
              <a:spcAft>
                <a:spcPts val="600"/>
              </a:spcAft>
            </a:pPr>
            <a:r>
              <a:rPr lang="en-US" noProof="0"/>
              <a:t>25/11/2025</a:t>
            </a:r>
            <a:endParaRPr lang="en-US" noProof="0" dirty="0"/>
          </a:p>
        </p:txBody>
      </p:sp>
      <p:sp>
        <p:nvSpPr>
          <p:cNvPr id="6" name="Footer Placeholder 5">
            <a:extLst>
              <a:ext uri="{FF2B5EF4-FFF2-40B4-BE49-F238E27FC236}">
                <a16:creationId xmlns:a16="http://schemas.microsoft.com/office/drawing/2014/main" id="{E742FCA6-8C60-403B-C920-8E5A21AB5E68}"/>
              </a:ext>
            </a:extLst>
          </p:cNvPr>
          <p:cNvSpPr>
            <a:spLocks noGrp="1"/>
          </p:cNvSpPr>
          <p:nvPr>
            <p:ph type="ftr" sz="quarter" idx="20"/>
          </p:nvPr>
        </p:nvSpPr>
        <p:spPr>
          <a:xfrm>
            <a:off x="8483757" y="6564113"/>
            <a:ext cx="3165698" cy="365125"/>
          </a:xfrm>
        </p:spPr>
        <p:txBody>
          <a:bodyPr anchor="ctr">
            <a:normAutofit/>
          </a:bodyPr>
          <a:lstStyle/>
          <a:p>
            <a:pPr>
              <a:spcAft>
                <a:spcPts val="600"/>
              </a:spcAft>
            </a:pPr>
            <a:r>
              <a:rPr lang="en-US" noProof="0" dirty="0"/>
              <a:t>Feedback &amp; Lidar Controller  / Optimus Syria</a:t>
            </a:r>
          </a:p>
        </p:txBody>
      </p:sp>
      <p:sp>
        <p:nvSpPr>
          <p:cNvPr id="7" name="Slide Number Placeholder 6">
            <a:extLst>
              <a:ext uri="{FF2B5EF4-FFF2-40B4-BE49-F238E27FC236}">
                <a16:creationId xmlns:a16="http://schemas.microsoft.com/office/drawing/2014/main" id="{829F1A82-4B69-3685-844A-6668678E5C84}"/>
              </a:ext>
            </a:extLst>
          </p:cNvPr>
          <p:cNvSpPr>
            <a:spLocks noGrp="1"/>
          </p:cNvSpPr>
          <p:nvPr>
            <p:ph type="sldNum" sz="quarter" idx="21"/>
          </p:nvPr>
        </p:nvSpPr>
        <p:spPr>
          <a:xfrm>
            <a:off x="1949570" y="6566803"/>
            <a:ext cx="928958" cy="365125"/>
          </a:xfrm>
        </p:spPr>
        <p:txBody>
          <a:bodyPr anchor="ctr">
            <a:normAutofit/>
          </a:bodyPr>
          <a:lstStyle/>
          <a:p>
            <a:pPr>
              <a:spcAft>
                <a:spcPts val="600"/>
              </a:spcAft>
            </a:pPr>
            <a:fld id="{3A84E93A-72FE-4BB6-A500-FB6DD421822B}" type="slidenum">
              <a:rPr lang="en-US" noProof="0" smtClean="0"/>
              <a:pPr>
                <a:spcAft>
                  <a:spcPts val="600"/>
                </a:spcAft>
              </a:pPr>
              <a:t>8</a:t>
            </a:fld>
            <a:endParaRPr lang="en-US" noProof="0" dirty="0"/>
          </a:p>
        </p:txBody>
      </p:sp>
      <p:sp>
        <p:nvSpPr>
          <p:cNvPr id="12" name="TextBox 11">
            <a:extLst>
              <a:ext uri="{FF2B5EF4-FFF2-40B4-BE49-F238E27FC236}">
                <a16:creationId xmlns:a16="http://schemas.microsoft.com/office/drawing/2014/main" id="{C0F1F98B-66A6-7162-E1B7-3EAC575F375E}"/>
              </a:ext>
            </a:extLst>
          </p:cNvPr>
          <p:cNvSpPr txBox="1"/>
          <p:nvPr/>
        </p:nvSpPr>
        <p:spPr>
          <a:xfrm>
            <a:off x="4204057" y="6240747"/>
            <a:ext cx="3783885" cy="276999"/>
          </a:xfrm>
          <a:prstGeom prst="rect">
            <a:avLst/>
          </a:prstGeom>
          <a:noFill/>
        </p:spPr>
        <p:txBody>
          <a:bodyPr wrap="square" rtlCol="0">
            <a:spAutoFit/>
          </a:bodyPr>
          <a:lstStyle/>
          <a:p>
            <a:r>
              <a:rPr lang="en-US" sz="1200" noProof="0" dirty="0"/>
              <a:t>Figure 2:</a:t>
            </a:r>
            <a:r>
              <a:rPr lang="tr-TR" sz="1200" noProof="0" dirty="0"/>
              <a:t> </a:t>
            </a:r>
            <a:r>
              <a:rPr lang="tr-TR" sz="1200" noProof="0" dirty="0" err="1"/>
              <a:t>Theoretical</a:t>
            </a:r>
            <a:r>
              <a:rPr lang="tr-TR" sz="1200" noProof="0" dirty="0"/>
              <a:t> </a:t>
            </a:r>
            <a:r>
              <a:rPr lang="tr-TR" sz="1200" noProof="0" dirty="0" err="1"/>
              <a:t>Torque</a:t>
            </a:r>
            <a:r>
              <a:rPr lang="tr-TR" sz="1200" noProof="0" dirty="0"/>
              <a:t> </a:t>
            </a:r>
            <a:r>
              <a:rPr lang="tr-TR" sz="1200" noProof="0" dirty="0" err="1"/>
              <a:t>controller</a:t>
            </a:r>
            <a:r>
              <a:rPr lang="tr-TR" sz="1200" noProof="0" dirty="0"/>
              <a:t> </a:t>
            </a:r>
            <a:r>
              <a:rPr lang="tr-TR" sz="1200" noProof="0" dirty="0" err="1"/>
              <a:t>for</a:t>
            </a:r>
            <a:r>
              <a:rPr lang="tr-TR" sz="1200" noProof="0" dirty="0"/>
              <a:t> </a:t>
            </a:r>
            <a:r>
              <a:rPr lang="tr-TR" sz="1200" noProof="0" dirty="0" err="1"/>
              <a:t>optimus</a:t>
            </a:r>
            <a:r>
              <a:rPr lang="tr-TR" sz="1200" noProof="0" dirty="0"/>
              <a:t> </a:t>
            </a:r>
            <a:endParaRPr lang="en-US" sz="1200" noProof="0" dirty="0"/>
          </a:p>
        </p:txBody>
      </p:sp>
      <p:pic>
        <p:nvPicPr>
          <p:cNvPr id="18" name="Picture 17">
            <a:extLst>
              <a:ext uri="{FF2B5EF4-FFF2-40B4-BE49-F238E27FC236}">
                <a16:creationId xmlns:a16="http://schemas.microsoft.com/office/drawing/2014/main" id="{DF8AF92C-9741-C212-DD88-BAFD745CD5F2}"/>
              </a:ext>
            </a:extLst>
          </p:cNvPr>
          <p:cNvPicPr>
            <a:picLocks noChangeAspect="1"/>
          </p:cNvPicPr>
          <p:nvPr/>
        </p:nvPicPr>
        <p:blipFill>
          <a:blip r:embed="rId2"/>
          <a:stretch>
            <a:fillRect/>
          </a:stretch>
        </p:blipFill>
        <p:spPr>
          <a:xfrm>
            <a:off x="581079" y="1047090"/>
            <a:ext cx="10436287" cy="5190966"/>
          </a:xfrm>
          <a:prstGeom prst="rect">
            <a:avLst/>
          </a:prstGeom>
        </p:spPr>
      </p:pic>
    </p:spTree>
    <p:extLst>
      <p:ext uri="{BB962C8B-B14F-4D97-AF65-F5344CB8AC3E}">
        <p14:creationId xmlns:p14="http://schemas.microsoft.com/office/powerpoint/2010/main" val="3105236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FAA2E-B969-8003-276E-0556EC3A8EB6}"/>
              </a:ext>
            </a:extLst>
          </p:cNvPr>
          <p:cNvSpPr>
            <a:spLocks noGrp="1"/>
          </p:cNvSpPr>
          <p:nvPr>
            <p:ph type="title"/>
          </p:nvPr>
        </p:nvSpPr>
        <p:spPr/>
        <p:txBody>
          <a:bodyPr/>
          <a:lstStyle/>
          <a:p>
            <a:r>
              <a:rPr lang="en-US" noProof="0" dirty="0"/>
              <a:t>Lidar-Assisted Controller effects on loads. </a:t>
            </a:r>
          </a:p>
        </p:txBody>
      </p:sp>
      <p:sp>
        <p:nvSpPr>
          <p:cNvPr id="3" name="Content Placeholder 2">
            <a:extLst>
              <a:ext uri="{FF2B5EF4-FFF2-40B4-BE49-F238E27FC236}">
                <a16:creationId xmlns:a16="http://schemas.microsoft.com/office/drawing/2014/main" id="{4749E114-D9B4-B818-8EBE-2774B3F57C0B}"/>
              </a:ext>
            </a:extLst>
          </p:cNvPr>
          <p:cNvSpPr>
            <a:spLocks noGrp="1"/>
          </p:cNvSpPr>
          <p:nvPr>
            <p:ph idx="1"/>
          </p:nvPr>
        </p:nvSpPr>
        <p:spPr/>
        <p:txBody>
          <a:bodyPr/>
          <a:lstStyle/>
          <a:p>
            <a:r>
              <a:rPr lang="en-US" noProof="0" dirty="0"/>
              <a:t>Measures the incoming wind</a:t>
            </a:r>
          </a:p>
          <a:p>
            <a:r>
              <a:rPr lang="en-US" noProof="0" dirty="0"/>
              <a:t>Turning incoming wind speed signal to a rotor effective wind speed signal.</a:t>
            </a:r>
          </a:p>
          <a:p>
            <a:r>
              <a:rPr lang="en-US" noProof="0" dirty="0"/>
              <a:t>By rotor effective wind speed, pitch angle output from pitch controller will be adjusted.</a:t>
            </a:r>
          </a:p>
          <a:p>
            <a:r>
              <a:rPr lang="en-US" noProof="0" dirty="0"/>
              <a:t>As a result, blade pitch angle will be already set for incoming wind speed, unlike with the only feedback controller.</a:t>
            </a:r>
          </a:p>
          <a:p>
            <a:r>
              <a:rPr lang="en-US" noProof="0" dirty="0"/>
              <a:t>When blade pitch angle aligns with the wind speed, turbine can stand the gusts in more efficient way because wind will not push wind turbine as much, which will result in</a:t>
            </a:r>
            <a:r>
              <a:rPr lang="tr-TR" noProof="0" dirty="0"/>
              <a:t> a</a:t>
            </a:r>
            <a:r>
              <a:rPr lang="en-US" noProof="0" dirty="0"/>
              <a:t> less tower base moment.</a:t>
            </a:r>
          </a:p>
        </p:txBody>
      </p:sp>
      <p:sp>
        <p:nvSpPr>
          <p:cNvPr id="4" name="Text Placeholder 3">
            <a:extLst>
              <a:ext uri="{FF2B5EF4-FFF2-40B4-BE49-F238E27FC236}">
                <a16:creationId xmlns:a16="http://schemas.microsoft.com/office/drawing/2014/main" id="{9B3B9EA3-EF6D-83D6-0F76-F4B8AEA39089}"/>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
        <p:nvSpPr>
          <p:cNvPr id="5" name="Date Placeholder 4">
            <a:extLst>
              <a:ext uri="{FF2B5EF4-FFF2-40B4-BE49-F238E27FC236}">
                <a16:creationId xmlns:a16="http://schemas.microsoft.com/office/drawing/2014/main" id="{AFB19BC3-10AF-1816-236E-76AE71391A66}"/>
              </a:ext>
            </a:extLst>
          </p:cNvPr>
          <p:cNvSpPr>
            <a:spLocks noGrp="1"/>
          </p:cNvSpPr>
          <p:nvPr>
            <p:ph type="dt" sz="half" idx="19"/>
          </p:nvPr>
        </p:nvSpPr>
        <p:spPr/>
        <p:txBody>
          <a:bodyPr/>
          <a:lstStyle/>
          <a:p>
            <a:r>
              <a:rPr lang="en-US" noProof="0"/>
              <a:t>25/11/2025</a:t>
            </a:r>
            <a:endParaRPr lang="en-US" noProof="0" dirty="0"/>
          </a:p>
        </p:txBody>
      </p:sp>
      <p:sp>
        <p:nvSpPr>
          <p:cNvPr id="6" name="Footer Placeholder 5">
            <a:extLst>
              <a:ext uri="{FF2B5EF4-FFF2-40B4-BE49-F238E27FC236}">
                <a16:creationId xmlns:a16="http://schemas.microsoft.com/office/drawing/2014/main" id="{12801F70-EE00-66C3-A436-BF98CBCC2CD7}"/>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AC6A3585-8F19-120F-8CBF-CBC2AA65F50F}"/>
              </a:ext>
            </a:extLst>
          </p:cNvPr>
          <p:cNvSpPr>
            <a:spLocks noGrp="1"/>
          </p:cNvSpPr>
          <p:nvPr>
            <p:ph type="sldNum" sz="quarter" idx="21"/>
          </p:nvPr>
        </p:nvSpPr>
        <p:spPr/>
        <p:txBody>
          <a:bodyPr/>
          <a:lstStyle/>
          <a:p>
            <a:fld id="{3A84E93A-72FE-4BB6-A500-FB6DD421822B}" type="slidenum">
              <a:rPr lang="en-US" noProof="0" smtClean="0"/>
              <a:t>9</a:t>
            </a:fld>
            <a:endParaRPr lang="en-US" noProof="0" dirty="0"/>
          </a:p>
        </p:txBody>
      </p:sp>
    </p:spTree>
    <p:extLst>
      <p:ext uri="{BB962C8B-B14F-4D97-AF65-F5344CB8AC3E}">
        <p14:creationId xmlns:p14="http://schemas.microsoft.com/office/powerpoint/2010/main" val="1379158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C272C-03E4-3A29-B0B8-9BD37C6C4A00}"/>
              </a:ext>
            </a:extLst>
          </p:cNvPr>
          <p:cNvSpPr>
            <a:spLocks noGrp="1"/>
          </p:cNvSpPr>
          <p:nvPr>
            <p:ph type="title"/>
          </p:nvPr>
        </p:nvSpPr>
        <p:spPr/>
        <p:txBody>
          <a:bodyPr/>
          <a:lstStyle/>
          <a:p>
            <a:r>
              <a:rPr lang="en-US" noProof="0" dirty="0"/>
              <a:t>Lidar-Assisted Controller effects on loads. </a:t>
            </a:r>
          </a:p>
        </p:txBody>
      </p:sp>
      <p:sp>
        <p:nvSpPr>
          <p:cNvPr id="4" name="Text Placeholder 3">
            <a:extLst>
              <a:ext uri="{FF2B5EF4-FFF2-40B4-BE49-F238E27FC236}">
                <a16:creationId xmlns:a16="http://schemas.microsoft.com/office/drawing/2014/main" id="{E077BAA3-E9F4-4408-B1D1-868AF69A230D}"/>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
        <p:nvSpPr>
          <p:cNvPr id="5" name="Date Placeholder 4">
            <a:extLst>
              <a:ext uri="{FF2B5EF4-FFF2-40B4-BE49-F238E27FC236}">
                <a16:creationId xmlns:a16="http://schemas.microsoft.com/office/drawing/2014/main" id="{F62DFB02-AF92-9064-CB7D-4A4371507B81}"/>
              </a:ext>
            </a:extLst>
          </p:cNvPr>
          <p:cNvSpPr>
            <a:spLocks noGrp="1"/>
          </p:cNvSpPr>
          <p:nvPr>
            <p:ph type="dt" sz="half" idx="19"/>
          </p:nvPr>
        </p:nvSpPr>
        <p:spPr/>
        <p:txBody>
          <a:bodyPr/>
          <a:lstStyle/>
          <a:p>
            <a:r>
              <a:rPr lang="en-US" noProof="0"/>
              <a:t>25/11/2025</a:t>
            </a:r>
            <a:endParaRPr lang="en-US" noProof="0" dirty="0"/>
          </a:p>
        </p:txBody>
      </p:sp>
      <p:sp>
        <p:nvSpPr>
          <p:cNvPr id="6" name="Footer Placeholder 5">
            <a:extLst>
              <a:ext uri="{FF2B5EF4-FFF2-40B4-BE49-F238E27FC236}">
                <a16:creationId xmlns:a16="http://schemas.microsoft.com/office/drawing/2014/main" id="{81E546B3-9F1C-65B1-4F7A-CA2755880513}"/>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639F36D7-C6BF-7CB4-F4AA-414CD79F6CBA}"/>
              </a:ext>
            </a:extLst>
          </p:cNvPr>
          <p:cNvSpPr>
            <a:spLocks noGrp="1"/>
          </p:cNvSpPr>
          <p:nvPr>
            <p:ph type="sldNum" sz="quarter" idx="21"/>
          </p:nvPr>
        </p:nvSpPr>
        <p:spPr/>
        <p:txBody>
          <a:bodyPr/>
          <a:lstStyle/>
          <a:p>
            <a:fld id="{3A84E93A-72FE-4BB6-A500-FB6DD421822B}" type="slidenum">
              <a:rPr lang="en-US" noProof="0" smtClean="0"/>
              <a:t>10</a:t>
            </a:fld>
            <a:endParaRPr lang="en-US" noProof="0" dirty="0"/>
          </a:p>
        </p:txBody>
      </p:sp>
      <p:pic>
        <p:nvPicPr>
          <p:cNvPr id="10" name="Picture 9">
            <a:extLst>
              <a:ext uri="{FF2B5EF4-FFF2-40B4-BE49-F238E27FC236}">
                <a16:creationId xmlns:a16="http://schemas.microsoft.com/office/drawing/2014/main" id="{DBB7E6DC-F293-E57F-7C95-1081BD837880}"/>
              </a:ext>
            </a:extLst>
          </p:cNvPr>
          <p:cNvPicPr>
            <a:picLocks noChangeAspect="1"/>
          </p:cNvPicPr>
          <p:nvPr/>
        </p:nvPicPr>
        <p:blipFill>
          <a:blip r:embed="rId2"/>
          <a:stretch>
            <a:fillRect/>
          </a:stretch>
        </p:blipFill>
        <p:spPr>
          <a:xfrm>
            <a:off x="581079" y="1047090"/>
            <a:ext cx="10436287" cy="5190966"/>
          </a:xfrm>
          <a:prstGeom prst="rect">
            <a:avLst/>
          </a:prstGeom>
        </p:spPr>
      </p:pic>
      <p:sp>
        <p:nvSpPr>
          <p:cNvPr id="11" name="TextBox 10">
            <a:extLst>
              <a:ext uri="{FF2B5EF4-FFF2-40B4-BE49-F238E27FC236}">
                <a16:creationId xmlns:a16="http://schemas.microsoft.com/office/drawing/2014/main" id="{8BD9FAB9-F5BB-C5D4-501F-64B41E55CFBC}"/>
              </a:ext>
            </a:extLst>
          </p:cNvPr>
          <p:cNvSpPr txBox="1"/>
          <p:nvPr/>
        </p:nvSpPr>
        <p:spPr>
          <a:xfrm>
            <a:off x="3960722" y="6237237"/>
            <a:ext cx="4270555" cy="276999"/>
          </a:xfrm>
          <a:prstGeom prst="rect">
            <a:avLst/>
          </a:prstGeom>
          <a:noFill/>
        </p:spPr>
        <p:txBody>
          <a:bodyPr wrap="square" rtlCol="0">
            <a:spAutoFit/>
          </a:bodyPr>
          <a:lstStyle/>
          <a:p>
            <a:r>
              <a:rPr lang="en-US" sz="1200" noProof="0" dirty="0"/>
              <a:t>Figure 3:</a:t>
            </a:r>
            <a:r>
              <a:rPr lang="tr-TR" sz="1200" noProof="0" dirty="0"/>
              <a:t> </a:t>
            </a:r>
            <a:r>
              <a:rPr lang="tr-TR" sz="1200" noProof="0" dirty="0" err="1"/>
              <a:t>Example</a:t>
            </a:r>
            <a:r>
              <a:rPr lang="tr-TR" sz="1200" noProof="0" dirty="0"/>
              <a:t> </a:t>
            </a:r>
            <a:r>
              <a:rPr lang="tr-TR" sz="1200" noProof="0" dirty="0" err="1"/>
              <a:t>simulation</a:t>
            </a:r>
            <a:r>
              <a:rPr lang="tr-TR" sz="1200" noProof="0" dirty="0"/>
              <a:t> </a:t>
            </a:r>
            <a:r>
              <a:rPr lang="tr-TR" sz="1200" noProof="0" dirty="0" err="1"/>
              <a:t>for</a:t>
            </a:r>
            <a:r>
              <a:rPr lang="tr-TR" sz="1200" noProof="0" dirty="0"/>
              <a:t> </a:t>
            </a:r>
            <a:r>
              <a:rPr lang="en-US" sz="1200" dirty="0"/>
              <a:t>Lidar-assisted Controller</a:t>
            </a:r>
            <a:r>
              <a:rPr lang="tr-TR" sz="1200" noProof="0" dirty="0"/>
              <a:t> </a:t>
            </a:r>
            <a:endParaRPr lang="en-US" sz="1200" noProof="0" dirty="0"/>
          </a:p>
        </p:txBody>
      </p:sp>
    </p:spTree>
    <p:extLst>
      <p:ext uri="{BB962C8B-B14F-4D97-AF65-F5344CB8AC3E}">
        <p14:creationId xmlns:p14="http://schemas.microsoft.com/office/powerpoint/2010/main" val="1825614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C90B1B-8627-A8DC-B09E-5F456B4E7765}"/>
              </a:ext>
            </a:extLst>
          </p:cNvPr>
          <p:cNvSpPr>
            <a:spLocks noGrp="1"/>
          </p:cNvSpPr>
          <p:nvPr>
            <p:ph idx="1"/>
          </p:nvPr>
        </p:nvSpPr>
        <p:spPr>
          <a:xfrm>
            <a:off x="838200" y="1406525"/>
            <a:ext cx="10515600" cy="5937250"/>
          </a:xfrm>
        </p:spPr>
        <p:txBody>
          <a:bodyPr>
            <a:noAutofit/>
          </a:bodyPr>
          <a:lstStyle/>
          <a:p>
            <a:pPr marL="0" indent="0">
              <a:buNone/>
            </a:pPr>
            <a:r>
              <a:rPr lang="en-US" b="1" noProof="0" dirty="0"/>
              <a:t>What is coherence?</a:t>
            </a:r>
          </a:p>
          <a:p>
            <a:pPr>
              <a:buFont typeface="Arial" panose="020B0604020202020204" pitchFamily="34" charset="0"/>
              <a:buChar char="•"/>
            </a:pPr>
            <a:r>
              <a:rPr lang="en-US" sz="1800" noProof="0" dirty="0"/>
              <a:t>Coherence quantifies the spatial correlation of wind fluctuations between two points in the frequency domain.</a:t>
            </a:r>
          </a:p>
          <a:p>
            <a:pPr>
              <a:buFont typeface="Arial" panose="020B0604020202020204" pitchFamily="34" charset="0"/>
              <a:buChar char="•"/>
            </a:pPr>
            <a:r>
              <a:rPr lang="en-US" sz="1800" noProof="0" dirty="0"/>
              <a:t>It describes how much the wind at different parts of the rotor moves together</a:t>
            </a:r>
          </a:p>
          <a:p>
            <a:pPr>
              <a:buFont typeface="Arial" panose="020B0604020202020204" pitchFamily="34" charset="0"/>
              <a:buChar char="•"/>
            </a:pPr>
            <a:r>
              <a:rPr lang="en-US" sz="1800" noProof="0" dirty="0"/>
              <a:t>It shows how well lidar system measurement is where 0 indicates no correlation and 1 represents perfect correlation</a:t>
            </a:r>
          </a:p>
          <a:p>
            <a:pPr>
              <a:buFont typeface="Arial" panose="020B0604020202020204" pitchFamily="34" charset="0"/>
              <a:buChar char="•"/>
            </a:pPr>
            <a:r>
              <a:rPr lang="en-US" sz="1800" noProof="0" dirty="0"/>
              <a:t>IEC Kaimal model provides standard coherence specifications for wind turbine design and validation per IEC 61400-1</a:t>
            </a:r>
          </a:p>
          <a:p>
            <a:pPr>
              <a:buFont typeface="Arial" panose="020B0604020202020204" pitchFamily="34" charset="0"/>
              <a:buChar char="•"/>
            </a:pPr>
            <a:r>
              <a:rPr lang="en-US" sz="1800" noProof="0" dirty="0"/>
              <a:t>Role in Wind Turbine Control</a:t>
            </a:r>
          </a:p>
          <a:p>
            <a:pPr lvl="1"/>
            <a:r>
              <a:rPr lang="en-US" sz="1800" noProof="0" dirty="0"/>
              <a:t>Load Prediction:  Accurate modeling of blade and tower loads requires knowledge of how wind speed fluctuations are correlated across the rotor disk.</a:t>
            </a:r>
          </a:p>
          <a:p>
            <a:pPr lvl="1"/>
            <a:r>
              <a:rPr lang="en-US" sz="1800" noProof="0" dirty="0"/>
              <a:t>Wind Field Generation: Turbulence models (e.g., Kaimal) use coherence functions to generate spatially correlated wind fields for simulation</a:t>
            </a:r>
          </a:p>
          <a:p>
            <a:pPr lvl="1"/>
            <a:r>
              <a:rPr lang="en-US" sz="1800" noProof="0" dirty="0"/>
              <a:t>Lidar-Assisted Control: Coherence between the rotor-effective wind speed and lidar measurements affects the performance of feedforward controllers.</a:t>
            </a:r>
            <a:br>
              <a:rPr lang="en-US" sz="1800" noProof="0" dirty="0"/>
            </a:br>
            <a:endParaRPr lang="en-US" sz="1800" noProof="0" dirty="0"/>
          </a:p>
          <a:p>
            <a:endParaRPr lang="en-US" noProof="0" dirty="0"/>
          </a:p>
        </p:txBody>
      </p:sp>
      <p:sp>
        <p:nvSpPr>
          <p:cNvPr id="3" name="Title 2">
            <a:extLst>
              <a:ext uri="{FF2B5EF4-FFF2-40B4-BE49-F238E27FC236}">
                <a16:creationId xmlns:a16="http://schemas.microsoft.com/office/drawing/2014/main" id="{0A6942C9-A254-4CB1-3DC1-191A7EA46540}"/>
              </a:ext>
            </a:extLst>
          </p:cNvPr>
          <p:cNvSpPr>
            <a:spLocks noGrp="1"/>
          </p:cNvSpPr>
          <p:nvPr>
            <p:ph type="title"/>
          </p:nvPr>
        </p:nvSpPr>
        <p:spPr>
          <a:xfrm>
            <a:off x="838200" y="365125"/>
            <a:ext cx="11353800" cy="1325563"/>
          </a:xfrm>
        </p:spPr>
        <p:txBody>
          <a:bodyPr>
            <a:normAutofit/>
          </a:bodyPr>
          <a:lstStyle/>
          <a:p>
            <a:r>
              <a:rPr lang="en-US" noProof="0" dirty="0"/>
              <a:t>Coherence for Lidar-assisted Controller</a:t>
            </a:r>
          </a:p>
        </p:txBody>
      </p:sp>
      <p:sp>
        <p:nvSpPr>
          <p:cNvPr id="4" name="Date Placeholder 3">
            <a:extLst>
              <a:ext uri="{FF2B5EF4-FFF2-40B4-BE49-F238E27FC236}">
                <a16:creationId xmlns:a16="http://schemas.microsoft.com/office/drawing/2014/main" id="{98BAF0ED-C73B-4653-5F63-E4854CDC5FCD}"/>
              </a:ext>
            </a:extLst>
          </p:cNvPr>
          <p:cNvSpPr>
            <a:spLocks noGrp="1"/>
          </p:cNvSpPr>
          <p:nvPr>
            <p:ph type="dt" sz="half" idx="10"/>
          </p:nvPr>
        </p:nvSpPr>
        <p:spPr/>
        <p:txBody>
          <a:bodyPr/>
          <a:lstStyle/>
          <a:p>
            <a:r>
              <a:rPr lang="en-US" noProof="0"/>
              <a:t>25/11/2025</a:t>
            </a:r>
            <a:endParaRPr lang="en-US" noProof="0" dirty="0"/>
          </a:p>
        </p:txBody>
      </p:sp>
      <p:sp>
        <p:nvSpPr>
          <p:cNvPr id="5" name="Footer Placeholder 4">
            <a:extLst>
              <a:ext uri="{FF2B5EF4-FFF2-40B4-BE49-F238E27FC236}">
                <a16:creationId xmlns:a16="http://schemas.microsoft.com/office/drawing/2014/main" id="{7E4835E7-9236-5110-29CB-4E9A8728B2B8}"/>
              </a:ext>
            </a:extLst>
          </p:cNvPr>
          <p:cNvSpPr>
            <a:spLocks noGrp="1"/>
          </p:cNvSpPr>
          <p:nvPr>
            <p:ph type="ftr" sz="quarter" idx="11"/>
          </p:nvPr>
        </p:nvSpPr>
        <p:spPr>
          <a:xfrm>
            <a:off x="8483757" y="6564113"/>
            <a:ext cx="3165698" cy="365125"/>
          </a:xfrm>
        </p:spPr>
        <p:txBody>
          <a:bodyPr/>
          <a:lstStyle/>
          <a:p>
            <a:r>
              <a:rPr lang="en-US" noProof="0" dirty="0"/>
              <a:t>Feedback &amp; Lidar Controller  / Optimus Syria</a:t>
            </a:r>
          </a:p>
        </p:txBody>
      </p:sp>
      <p:sp>
        <p:nvSpPr>
          <p:cNvPr id="6" name="Slide Number Placeholder 5">
            <a:extLst>
              <a:ext uri="{FF2B5EF4-FFF2-40B4-BE49-F238E27FC236}">
                <a16:creationId xmlns:a16="http://schemas.microsoft.com/office/drawing/2014/main" id="{BE5D1B8A-DB89-BA0F-5FE5-ABD04CE8B84E}"/>
              </a:ext>
            </a:extLst>
          </p:cNvPr>
          <p:cNvSpPr>
            <a:spLocks noGrp="1"/>
          </p:cNvSpPr>
          <p:nvPr>
            <p:ph type="sldNum" sz="quarter" idx="12"/>
          </p:nvPr>
        </p:nvSpPr>
        <p:spPr/>
        <p:txBody>
          <a:bodyPr/>
          <a:lstStyle/>
          <a:p>
            <a:fld id="{3A84E93A-72FE-4BB6-A500-FB6DD421822B}" type="slidenum">
              <a:rPr lang="en-US" noProof="0" smtClean="0"/>
              <a:t>11</a:t>
            </a:fld>
            <a:endParaRPr lang="en-US" noProof="0" dirty="0"/>
          </a:p>
        </p:txBody>
      </p:sp>
      <p:sp>
        <p:nvSpPr>
          <p:cNvPr id="7" name="Text Placeholder 6">
            <a:extLst>
              <a:ext uri="{FF2B5EF4-FFF2-40B4-BE49-F238E27FC236}">
                <a16:creationId xmlns:a16="http://schemas.microsoft.com/office/drawing/2014/main" id="{69FAB39E-9177-F7CF-11A1-78FBC2A9B25C}"/>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Tree>
    <p:extLst>
      <p:ext uri="{BB962C8B-B14F-4D97-AF65-F5344CB8AC3E}">
        <p14:creationId xmlns:p14="http://schemas.microsoft.com/office/powerpoint/2010/main" val="534176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6AD7F-A1C1-853E-E7F7-65D5D8FDC328}"/>
              </a:ext>
            </a:extLst>
          </p:cNvPr>
          <p:cNvSpPr>
            <a:spLocks noGrp="1"/>
          </p:cNvSpPr>
          <p:nvPr>
            <p:ph type="title"/>
          </p:nvPr>
        </p:nvSpPr>
        <p:spPr/>
        <p:txBody>
          <a:bodyPr/>
          <a:lstStyle/>
          <a:p>
            <a:r>
              <a:rPr lang="en-US" noProof="0" dirty="0"/>
              <a:t>Coherence for Lidar-assisted Controller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945F06-5805-770F-20C6-90CB9CE355B0}"/>
                  </a:ext>
                </a:extLst>
              </p:cNvPr>
              <p:cNvSpPr>
                <a:spLocks noGrp="1"/>
              </p:cNvSpPr>
              <p:nvPr>
                <p:ph idx="1"/>
              </p:nvPr>
            </p:nvSpPr>
            <p:spPr/>
            <p:txBody>
              <a:bodyPr/>
              <a:lstStyle/>
              <a:p>
                <a:r>
                  <a:rPr lang="en-US" noProof="0" dirty="0"/>
                  <a:t>The coherence function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𝛾</m:t>
                        </m:r>
                      </m:e>
                      <m:sub>
                        <m:r>
                          <a:rPr lang="en-US" i="1" noProof="0" smtClean="0">
                            <a:latin typeface="Cambria Math" panose="02040503050406030204" pitchFamily="18" charset="0"/>
                          </a:rPr>
                          <m:t>𝑖𝑗</m:t>
                        </m:r>
                      </m:sub>
                    </m:sSub>
                    <m:d>
                      <m:dPr>
                        <m:ctrlPr>
                          <a:rPr lang="en-US" i="1" noProof="0" smtClean="0">
                            <a:latin typeface="Cambria Math" panose="02040503050406030204" pitchFamily="18" charset="0"/>
                          </a:rPr>
                        </m:ctrlPr>
                      </m:dPr>
                      <m:e>
                        <m:r>
                          <a:rPr lang="en-US" i="1" noProof="0" smtClean="0">
                            <a:latin typeface="Cambria Math" panose="02040503050406030204" pitchFamily="18" charset="0"/>
                          </a:rPr>
                          <m:t>𝑓</m:t>
                        </m:r>
                      </m:e>
                    </m:d>
                  </m:oMath>
                </a14:m>
                <a:r>
                  <a:rPr lang="en-US" noProof="0" dirty="0"/>
                  <a:t> between points </a:t>
                </a:r>
                <a14:m>
                  <m:oMath xmlns:m="http://schemas.openxmlformats.org/officeDocument/2006/math">
                    <m:r>
                      <a:rPr lang="en-US" i="1" noProof="0" smtClean="0">
                        <a:latin typeface="Cambria Math" panose="02040503050406030204" pitchFamily="18" charset="0"/>
                      </a:rPr>
                      <m:t>𝑖</m:t>
                    </m:r>
                  </m:oMath>
                </a14:m>
                <a:r>
                  <a:rPr lang="en-US" noProof="0" dirty="0"/>
                  <a:t> and </a:t>
                </a:r>
                <a14:m>
                  <m:oMath xmlns:m="http://schemas.openxmlformats.org/officeDocument/2006/math">
                    <m:r>
                      <a:rPr lang="en-US" i="1" noProof="0" smtClean="0">
                        <a:latin typeface="Cambria Math" panose="02040503050406030204" pitchFamily="18" charset="0"/>
                      </a:rPr>
                      <m:t>𝑗</m:t>
                    </m:r>
                  </m:oMath>
                </a14:m>
                <a:r>
                  <a:rPr lang="en-US" noProof="0" dirty="0"/>
                  <a:t> at frequency </a:t>
                </a:r>
                <a14:m>
                  <m:oMath xmlns:m="http://schemas.openxmlformats.org/officeDocument/2006/math">
                    <m:r>
                      <a:rPr lang="en-US" i="1" noProof="0" smtClean="0">
                        <a:latin typeface="Cambria Math" panose="02040503050406030204" pitchFamily="18" charset="0"/>
                      </a:rPr>
                      <m:t>𝑓</m:t>
                    </m:r>
                  </m:oMath>
                </a14:m>
                <a:r>
                  <a:rPr lang="en-US" noProof="0" dirty="0"/>
                  <a:t> is defined by the cross-spectral density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𝑆</m:t>
                        </m:r>
                      </m:e>
                      <m:sub>
                        <m:r>
                          <a:rPr lang="en-US" i="1" noProof="0" smtClean="0">
                            <a:latin typeface="Cambria Math" panose="02040503050406030204" pitchFamily="18" charset="0"/>
                          </a:rPr>
                          <m:t>𝑖𝑗</m:t>
                        </m:r>
                      </m:sub>
                    </m:sSub>
                    <m:d>
                      <m:dPr>
                        <m:ctrlPr>
                          <a:rPr lang="en-US" i="1" noProof="0" smtClean="0">
                            <a:latin typeface="Cambria Math" panose="02040503050406030204" pitchFamily="18" charset="0"/>
                          </a:rPr>
                        </m:ctrlPr>
                      </m:dPr>
                      <m:e>
                        <m:r>
                          <a:rPr lang="en-US" i="1" noProof="0" smtClean="0">
                            <a:latin typeface="Cambria Math" panose="02040503050406030204" pitchFamily="18" charset="0"/>
                          </a:rPr>
                          <m:t>𝑓</m:t>
                        </m:r>
                      </m:e>
                    </m:d>
                  </m:oMath>
                </a14:m>
                <a:r>
                  <a:rPr lang="en-US" noProof="0" dirty="0"/>
                  <a:t> normalized by the power spectral densities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𝑆</m:t>
                        </m:r>
                      </m:e>
                      <m:sub>
                        <m:r>
                          <a:rPr lang="en-US" i="1" noProof="0" smtClean="0">
                            <a:latin typeface="Cambria Math" panose="02040503050406030204" pitchFamily="18" charset="0"/>
                          </a:rPr>
                          <m:t>𝑖𝑖</m:t>
                        </m:r>
                      </m:sub>
                    </m:sSub>
                    <m:d>
                      <m:dPr>
                        <m:ctrlPr>
                          <a:rPr lang="en-US" i="1" noProof="0" smtClean="0">
                            <a:latin typeface="Cambria Math" panose="02040503050406030204" pitchFamily="18" charset="0"/>
                          </a:rPr>
                        </m:ctrlPr>
                      </m:dPr>
                      <m:e>
                        <m:r>
                          <a:rPr lang="en-US" i="1" noProof="0" smtClean="0">
                            <a:latin typeface="Cambria Math" panose="02040503050406030204" pitchFamily="18" charset="0"/>
                          </a:rPr>
                          <m:t>𝑓</m:t>
                        </m:r>
                      </m:e>
                    </m:d>
                  </m:oMath>
                </a14:m>
                <a:r>
                  <a:rPr lang="en-US" noProof="0" dirty="0"/>
                  <a:t> and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𝑆</m:t>
                        </m:r>
                      </m:e>
                      <m:sub>
                        <m:r>
                          <a:rPr lang="en-US" i="1" noProof="0" smtClean="0">
                            <a:latin typeface="Cambria Math" panose="02040503050406030204" pitchFamily="18" charset="0"/>
                          </a:rPr>
                          <m:t>𝑗𝑗</m:t>
                        </m:r>
                      </m:sub>
                    </m:sSub>
                    <m:d>
                      <m:dPr>
                        <m:ctrlPr>
                          <a:rPr lang="en-US" i="1" noProof="0" smtClean="0">
                            <a:latin typeface="Cambria Math" panose="02040503050406030204" pitchFamily="18" charset="0"/>
                          </a:rPr>
                        </m:ctrlPr>
                      </m:dPr>
                      <m:e>
                        <m:r>
                          <a:rPr lang="en-US" i="1" noProof="0" smtClean="0">
                            <a:latin typeface="Cambria Math" panose="02040503050406030204" pitchFamily="18" charset="0"/>
                          </a:rPr>
                          <m:t>𝑓</m:t>
                        </m:r>
                      </m:e>
                    </m:d>
                  </m:oMath>
                </a14:m>
                <a:r>
                  <a:rPr lang="en-US" noProof="0" dirty="0"/>
                  <a:t>:</a:t>
                </a:r>
              </a:p>
              <a:p>
                <a:pPr marL="0" indent="0">
                  <a:buNone/>
                </a:pPr>
                <a:br>
                  <a:rPr lang="en-US" i="1" noProof="0" dirty="0">
                    <a:latin typeface="KaTeX_Math"/>
                  </a:rPr>
                </a:br>
                <a:r>
                  <a:rPr lang="en-US" i="1" noProof="0" dirty="0">
                    <a:latin typeface="KaTeX_Math"/>
                  </a:rPr>
                  <a:t>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𝛾</m:t>
                        </m:r>
                      </m:e>
                      <m:sub>
                        <m:r>
                          <a:rPr lang="en-US" i="1" noProof="0" smtClean="0">
                            <a:latin typeface="Cambria Math" panose="02040503050406030204" pitchFamily="18" charset="0"/>
                          </a:rPr>
                          <m:t>𝑖𝑗</m:t>
                        </m:r>
                      </m:sub>
                    </m:sSub>
                    <m:d>
                      <m:dPr>
                        <m:ctrlPr>
                          <a:rPr lang="en-US" i="1" noProof="0" smtClean="0">
                            <a:latin typeface="Cambria Math" panose="02040503050406030204" pitchFamily="18" charset="0"/>
                          </a:rPr>
                        </m:ctrlPr>
                      </m:dPr>
                      <m:e>
                        <m:r>
                          <a:rPr lang="en-US" i="1" noProof="0" smtClean="0">
                            <a:latin typeface="Cambria Math" panose="02040503050406030204" pitchFamily="18" charset="0"/>
                          </a:rPr>
                          <m:t>𝑓</m:t>
                        </m:r>
                      </m:e>
                    </m:d>
                  </m:oMath>
                </a14:m>
                <a:r>
                  <a:rPr lang="en-US" noProof="0" dirty="0"/>
                  <a:t>     =       </a:t>
                </a:r>
                <a14:m>
                  <m:oMath xmlns:m="http://schemas.openxmlformats.org/officeDocument/2006/math">
                    <m:sSup>
                      <m:sSupPr>
                        <m:ctrlPr>
                          <a:rPr lang="en-US" i="1" noProof="0" smtClean="0">
                            <a:latin typeface="Cambria Math" panose="02040503050406030204" pitchFamily="18" charset="0"/>
                          </a:rPr>
                        </m:ctrlPr>
                      </m:sSupPr>
                      <m:e>
                        <m:d>
                          <m:dPr>
                            <m:begChr m:val="|"/>
                            <m:endChr m:val="|"/>
                            <m:ctrlPr>
                              <a:rPr lang="en-US" i="1" noProof="0" smtClean="0">
                                <a:latin typeface="Cambria Math" panose="02040503050406030204" pitchFamily="18" charset="0"/>
                              </a:rPr>
                            </m:ctrlPr>
                          </m:dPr>
                          <m:e>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𝑆</m:t>
                                </m:r>
                              </m:e>
                              <m:sub>
                                <m:r>
                                  <a:rPr lang="en-US" i="1" noProof="0" smtClean="0">
                                    <a:latin typeface="Cambria Math" panose="02040503050406030204" pitchFamily="18" charset="0"/>
                                  </a:rPr>
                                  <m:t>𝑖𝑗</m:t>
                                </m:r>
                              </m:sub>
                            </m:sSub>
                            <m:d>
                              <m:dPr>
                                <m:ctrlPr>
                                  <a:rPr lang="en-US" i="1" noProof="0" smtClean="0">
                                    <a:latin typeface="Cambria Math" panose="02040503050406030204" pitchFamily="18" charset="0"/>
                                  </a:rPr>
                                </m:ctrlPr>
                              </m:dPr>
                              <m:e>
                                <m:r>
                                  <a:rPr lang="en-US" i="1" noProof="0" smtClean="0">
                                    <a:latin typeface="Cambria Math" panose="02040503050406030204" pitchFamily="18" charset="0"/>
                                  </a:rPr>
                                  <m:t>𝑓</m:t>
                                </m:r>
                              </m:e>
                            </m:d>
                            <m:r>
                              <m:rPr>
                                <m:nor/>
                              </m:rPr>
                              <a:rPr lang="en-US" noProof="0" smtClean="0"/>
                              <m:t> </m:t>
                            </m:r>
                          </m:e>
                        </m:d>
                      </m:e>
                      <m:sup>
                        <m:r>
                          <a:rPr lang="en-US" i="1" noProof="0" smtClean="0">
                            <a:latin typeface="Cambria Math" panose="02040503050406030204" pitchFamily="18" charset="0"/>
                          </a:rPr>
                          <m:t>2</m:t>
                        </m:r>
                      </m:sup>
                    </m:sSup>
                  </m:oMath>
                </a14:m>
                <a:r>
                  <a:rPr lang="en-US" noProof="0" dirty="0">
                    <a:latin typeface="KaTeX_Main"/>
                  </a:rPr>
                  <a:t> /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𝑆</m:t>
                        </m:r>
                      </m:e>
                      <m:sub>
                        <m:r>
                          <a:rPr lang="en-US" i="1" noProof="0" smtClean="0">
                            <a:latin typeface="Cambria Math" panose="02040503050406030204" pitchFamily="18" charset="0"/>
                          </a:rPr>
                          <m:t>𝑖𝑖</m:t>
                        </m:r>
                      </m:sub>
                    </m:sSub>
                    <m:d>
                      <m:dPr>
                        <m:ctrlPr>
                          <a:rPr lang="en-US" i="1" noProof="0" smtClean="0">
                            <a:latin typeface="Cambria Math" panose="02040503050406030204" pitchFamily="18" charset="0"/>
                          </a:rPr>
                        </m:ctrlPr>
                      </m:dPr>
                      <m:e>
                        <m:r>
                          <a:rPr lang="en-US" i="1" noProof="0" smtClean="0">
                            <a:latin typeface="Cambria Math" panose="02040503050406030204" pitchFamily="18" charset="0"/>
                          </a:rPr>
                          <m:t>𝑓</m:t>
                        </m:r>
                      </m:e>
                    </m:d>
                  </m:oMath>
                </a14:m>
                <a:r>
                  <a:rPr lang="en-US" noProof="0" dirty="0"/>
                  <a:t>  .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𝑆</m:t>
                        </m:r>
                      </m:e>
                      <m:sub>
                        <m:r>
                          <a:rPr lang="en-US" i="1" noProof="0" smtClean="0">
                            <a:latin typeface="Cambria Math" panose="02040503050406030204" pitchFamily="18" charset="0"/>
                          </a:rPr>
                          <m:t>𝑗𝑗</m:t>
                        </m:r>
                      </m:sub>
                    </m:sSub>
                    <m:d>
                      <m:dPr>
                        <m:ctrlPr>
                          <a:rPr lang="en-US" i="1" noProof="0" smtClean="0">
                            <a:latin typeface="Cambria Math" panose="02040503050406030204" pitchFamily="18" charset="0"/>
                          </a:rPr>
                        </m:ctrlPr>
                      </m:dPr>
                      <m:e>
                        <m:r>
                          <a:rPr lang="en-US" i="1" noProof="0" smtClean="0">
                            <a:latin typeface="Cambria Math" panose="02040503050406030204" pitchFamily="18" charset="0"/>
                          </a:rPr>
                          <m:t>𝑓</m:t>
                        </m:r>
                      </m:e>
                    </m:d>
                  </m:oMath>
                </a14:m>
                <a:br>
                  <a:rPr lang="en-US" noProof="0" dirty="0">
                    <a:latin typeface="KaTeX_Main"/>
                  </a:rPr>
                </a:br>
                <a:r>
                  <a:rPr lang="en-US" noProof="0" dirty="0">
                    <a:latin typeface="KaTeX_Main"/>
                  </a:rPr>
                  <a:t> </a:t>
                </a:r>
              </a:p>
              <a:p>
                <a:r>
                  <a:rPr lang="en-US" i="1" noProof="0" dirty="0" err="1"/>
                  <a:t>S</a:t>
                </a:r>
                <a:r>
                  <a:rPr lang="en-US" i="1" baseline="-25000" noProof="0" dirty="0" err="1"/>
                  <a:t>ij</a:t>
                </a:r>
                <a:r>
                  <a:rPr lang="en-US" noProof="0" dirty="0"/>
                  <a:t>(</a:t>
                </a:r>
                <a:r>
                  <a:rPr lang="en-US" i="1" noProof="0" dirty="0"/>
                  <a:t>f</a:t>
                </a:r>
                <a:r>
                  <a:rPr lang="en-US" noProof="0" dirty="0"/>
                  <a:t>) is the cross power spectral density between signals at points </a:t>
                </a:r>
                <a14:m>
                  <m:oMath xmlns:m="http://schemas.openxmlformats.org/officeDocument/2006/math">
                    <m:r>
                      <a:rPr lang="en-US" i="1" noProof="0" smtClean="0">
                        <a:latin typeface="Cambria Math" panose="02040503050406030204" pitchFamily="18" charset="0"/>
                      </a:rPr>
                      <m:t>𝑖</m:t>
                    </m:r>
                  </m:oMath>
                </a14:m>
                <a:r>
                  <a:rPr lang="en-US" noProof="0" dirty="0"/>
                  <a:t> and </a:t>
                </a:r>
                <a14:m>
                  <m:oMath xmlns:m="http://schemas.openxmlformats.org/officeDocument/2006/math">
                    <m:r>
                      <a:rPr lang="en-US" i="1" noProof="0" smtClean="0">
                        <a:latin typeface="Cambria Math" panose="02040503050406030204" pitchFamily="18" charset="0"/>
                      </a:rPr>
                      <m:t>𝑗</m:t>
                    </m:r>
                  </m:oMath>
                </a14:m>
                <a:r>
                  <a:rPr lang="en-US" noProof="0" dirty="0"/>
                  <a:t>.</a:t>
                </a:r>
              </a:p>
              <a:p>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𝑆</m:t>
                        </m:r>
                      </m:e>
                      <m:sub>
                        <m:r>
                          <a:rPr lang="en-US" i="1" noProof="0" smtClean="0">
                            <a:latin typeface="Cambria Math" panose="02040503050406030204" pitchFamily="18" charset="0"/>
                          </a:rPr>
                          <m:t>𝑖𝑖</m:t>
                        </m:r>
                      </m:sub>
                    </m:sSub>
                    <m:d>
                      <m:dPr>
                        <m:ctrlPr>
                          <a:rPr lang="en-US" i="1" noProof="0" smtClean="0">
                            <a:latin typeface="Cambria Math" panose="02040503050406030204" pitchFamily="18" charset="0"/>
                          </a:rPr>
                        </m:ctrlPr>
                      </m:dPr>
                      <m:e>
                        <m:r>
                          <a:rPr lang="en-US" i="1" noProof="0" smtClean="0">
                            <a:latin typeface="Cambria Math" panose="02040503050406030204" pitchFamily="18" charset="0"/>
                          </a:rPr>
                          <m:t>𝑓</m:t>
                        </m:r>
                      </m:e>
                    </m:d>
                  </m:oMath>
                </a14:m>
                <a:r>
                  <a:rPr lang="en-US" noProof="0" dirty="0"/>
                  <a:t>, </a:t>
                </a:r>
                <a14:m>
                  <m:oMath xmlns:m="http://schemas.openxmlformats.org/officeDocument/2006/math">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𝑆</m:t>
                        </m:r>
                      </m:e>
                      <m:sub>
                        <m:r>
                          <a:rPr lang="en-US" i="1" noProof="0" smtClean="0">
                            <a:latin typeface="Cambria Math" panose="02040503050406030204" pitchFamily="18" charset="0"/>
                          </a:rPr>
                          <m:t>𝑗𝑗</m:t>
                        </m:r>
                      </m:sub>
                    </m:sSub>
                    <m:d>
                      <m:dPr>
                        <m:ctrlPr>
                          <a:rPr lang="en-US" i="1" noProof="0" smtClean="0">
                            <a:latin typeface="Cambria Math" panose="02040503050406030204" pitchFamily="18" charset="0"/>
                          </a:rPr>
                        </m:ctrlPr>
                      </m:dPr>
                      <m:e>
                        <m:r>
                          <a:rPr lang="en-US" i="1" noProof="0" smtClean="0">
                            <a:latin typeface="Cambria Math" panose="02040503050406030204" pitchFamily="18" charset="0"/>
                          </a:rPr>
                          <m:t>𝑓</m:t>
                        </m:r>
                      </m:e>
                    </m:d>
                  </m:oMath>
                </a14:m>
                <a:r>
                  <a:rPr lang="en-US" noProof="0" dirty="0"/>
                  <a:t> are the auto power spectral densities at points </a:t>
                </a:r>
                <a14:m>
                  <m:oMath xmlns:m="http://schemas.openxmlformats.org/officeDocument/2006/math">
                    <m:r>
                      <a:rPr lang="en-US" i="1" noProof="0" smtClean="0">
                        <a:latin typeface="Cambria Math" panose="02040503050406030204" pitchFamily="18" charset="0"/>
                      </a:rPr>
                      <m:t>𝑖</m:t>
                    </m:r>
                  </m:oMath>
                </a14:m>
                <a:r>
                  <a:rPr lang="en-US" noProof="0" dirty="0"/>
                  <a:t> and </a:t>
                </a:r>
                <a14:m>
                  <m:oMath xmlns:m="http://schemas.openxmlformats.org/officeDocument/2006/math">
                    <m:r>
                      <a:rPr lang="en-US" i="1" noProof="0" smtClean="0">
                        <a:latin typeface="Cambria Math" panose="02040503050406030204" pitchFamily="18" charset="0"/>
                      </a:rPr>
                      <m:t>𝑗</m:t>
                    </m:r>
                  </m:oMath>
                </a14:m>
                <a:r>
                  <a:rPr lang="en-US" noProof="0" dirty="0"/>
                  <a:t>.</a:t>
                </a:r>
              </a:p>
              <a:p>
                <a:r>
                  <a:rPr lang="en-US" b="1" noProof="0" dirty="0"/>
                  <a:t>High coherence </a:t>
                </a:r>
                <a:r>
                  <a:rPr lang="en-US" noProof="0" dirty="0"/>
                  <a:t>→ pitch control can adjust aggressively</a:t>
                </a:r>
              </a:p>
              <a:p>
                <a:r>
                  <a:rPr lang="en-US" b="1" noProof="0" dirty="0"/>
                  <a:t>Low coherence </a:t>
                </a:r>
                <a:r>
                  <a:rPr lang="en-US" noProof="0" dirty="0"/>
                  <a:t>→ pitch control must be careful to avoid fighting local differences</a:t>
                </a:r>
              </a:p>
              <a:p>
                <a:endParaRPr lang="en-US" noProof="0" dirty="0"/>
              </a:p>
              <a:p>
                <a:endParaRPr lang="en-US" noProof="0" dirty="0"/>
              </a:p>
            </p:txBody>
          </p:sp>
        </mc:Choice>
        <mc:Fallback xmlns="">
          <p:sp>
            <p:nvSpPr>
              <p:cNvPr id="3" name="Content Placeholder 2">
                <a:extLst>
                  <a:ext uri="{FF2B5EF4-FFF2-40B4-BE49-F238E27FC236}">
                    <a16:creationId xmlns:a16="http://schemas.microsoft.com/office/drawing/2014/main" id="{C2945F06-5805-770F-20C6-90CB9CE355B0}"/>
                  </a:ext>
                </a:extLst>
              </p:cNvPr>
              <p:cNvSpPr>
                <a:spLocks noGrp="1" noRot="1" noChangeAspect="1" noMove="1" noResize="1" noEditPoints="1" noAdjustHandles="1" noChangeArrowheads="1" noChangeShapeType="1" noTextEdit="1"/>
              </p:cNvSpPr>
              <p:nvPr>
                <p:ph idx="1"/>
              </p:nvPr>
            </p:nvSpPr>
            <p:spPr>
              <a:blipFill>
                <a:blip r:embed="rId2"/>
                <a:stretch>
                  <a:fillRect l="-696" t="-1261"/>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1B3C6C8F-DCC4-5AE8-A6A5-A3EE0179CEB5}"/>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
        <p:nvSpPr>
          <p:cNvPr id="5" name="Date Placeholder 4">
            <a:extLst>
              <a:ext uri="{FF2B5EF4-FFF2-40B4-BE49-F238E27FC236}">
                <a16:creationId xmlns:a16="http://schemas.microsoft.com/office/drawing/2014/main" id="{28DDDCA0-C3F2-7888-6C60-0295E846A10F}"/>
              </a:ext>
            </a:extLst>
          </p:cNvPr>
          <p:cNvSpPr>
            <a:spLocks noGrp="1"/>
          </p:cNvSpPr>
          <p:nvPr>
            <p:ph type="dt" sz="half" idx="19"/>
          </p:nvPr>
        </p:nvSpPr>
        <p:spPr/>
        <p:txBody>
          <a:bodyPr/>
          <a:lstStyle/>
          <a:p>
            <a:r>
              <a:rPr lang="en-US" noProof="0"/>
              <a:t>25/11/2025</a:t>
            </a:r>
            <a:endParaRPr lang="en-US" noProof="0" dirty="0"/>
          </a:p>
        </p:txBody>
      </p:sp>
      <p:sp>
        <p:nvSpPr>
          <p:cNvPr id="6" name="Footer Placeholder 5">
            <a:extLst>
              <a:ext uri="{FF2B5EF4-FFF2-40B4-BE49-F238E27FC236}">
                <a16:creationId xmlns:a16="http://schemas.microsoft.com/office/drawing/2014/main" id="{B2A1A58F-4B86-3D25-F7C3-E0C398400A9D}"/>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7A353587-D81B-A863-DE25-18DEF79ADCE8}"/>
              </a:ext>
            </a:extLst>
          </p:cNvPr>
          <p:cNvSpPr>
            <a:spLocks noGrp="1"/>
          </p:cNvSpPr>
          <p:nvPr>
            <p:ph type="sldNum" sz="quarter" idx="21"/>
          </p:nvPr>
        </p:nvSpPr>
        <p:spPr/>
        <p:txBody>
          <a:bodyPr/>
          <a:lstStyle/>
          <a:p>
            <a:fld id="{3A84E93A-72FE-4BB6-A500-FB6DD421822B}" type="slidenum">
              <a:rPr lang="en-US" noProof="0" smtClean="0"/>
              <a:t>12</a:t>
            </a:fld>
            <a:endParaRPr lang="en-US" noProof="0" dirty="0"/>
          </a:p>
        </p:txBody>
      </p:sp>
    </p:spTree>
    <p:extLst>
      <p:ext uri="{BB962C8B-B14F-4D97-AF65-F5344CB8AC3E}">
        <p14:creationId xmlns:p14="http://schemas.microsoft.com/office/powerpoint/2010/main" val="125886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4FF05-E4FA-0C0D-C7B9-03579DF81D4E}"/>
              </a:ext>
            </a:extLst>
          </p:cNvPr>
          <p:cNvSpPr>
            <a:spLocks noGrp="1"/>
          </p:cNvSpPr>
          <p:nvPr>
            <p:ph type="title"/>
          </p:nvPr>
        </p:nvSpPr>
        <p:spPr/>
        <p:txBody>
          <a:bodyPr/>
          <a:lstStyle/>
          <a:p>
            <a:r>
              <a:rPr lang="en-US" noProof="0" dirty="0"/>
              <a:t>Conclusion</a:t>
            </a:r>
          </a:p>
        </p:txBody>
      </p:sp>
      <p:sp>
        <p:nvSpPr>
          <p:cNvPr id="5" name="Content Placeholder 4">
            <a:extLst>
              <a:ext uri="{FF2B5EF4-FFF2-40B4-BE49-F238E27FC236}">
                <a16:creationId xmlns:a16="http://schemas.microsoft.com/office/drawing/2014/main" id="{73B4F11E-0379-23D5-BA8E-334FB43B28E0}"/>
              </a:ext>
            </a:extLst>
          </p:cNvPr>
          <p:cNvSpPr>
            <a:spLocks noGrp="1"/>
          </p:cNvSpPr>
          <p:nvPr>
            <p:ph idx="1"/>
          </p:nvPr>
        </p:nvSpPr>
        <p:spPr/>
        <p:txBody>
          <a:bodyPr>
            <a:normAutofit/>
          </a:bodyPr>
          <a:lstStyle/>
          <a:p>
            <a:r>
              <a:rPr lang="en-US" noProof="0" dirty="0"/>
              <a:t>Theoretical torque controller is ready to be applied to </a:t>
            </a:r>
            <a:r>
              <a:rPr lang="en-US" noProof="0" dirty="0" err="1"/>
              <a:t>optimus</a:t>
            </a:r>
            <a:r>
              <a:rPr lang="en-US" noProof="0" dirty="0"/>
              <a:t> turbine.</a:t>
            </a:r>
          </a:p>
          <a:p>
            <a:endParaRPr lang="en-US" noProof="0" dirty="0"/>
          </a:p>
          <a:p>
            <a:r>
              <a:rPr lang="en-US" noProof="0" dirty="0"/>
              <a:t>Understand how coherence value shows the performance of lidar system. Lidar-assisted controller will be adjusted to get better coherence.</a:t>
            </a:r>
          </a:p>
          <a:p>
            <a:pPr marL="0" indent="0">
              <a:buNone/>
            </a:pPr>
            <a:endParaRPr lang="en-US" noProof="0" dirty="0"/>
          </a:p>
          <a:p>
            <a:pPr fontAlgn="base"/>
            <a:r>
              <a:rPr lang="en-US" b="1" noProof="0" dirty="0"/>
              <a:t>Next weeks:</a:t>
            </a:r>
          </a:p>
          <a:p>
            <a:pPr fontAlgn="base"/>
            <a:r>
              <a:rPr lang="en-US" noProof="0" dirty="0"/>
              <a:t>Apply torque controller to Optimus turbine if it is possible, then optimize the values</a:t>
            </a:r>
          </a:p>
          <a:p>
            <a:pPr fontAlgn="base"/>
            <a:r>
              <a:rPr lang="en-US" noProof="0" dirty="0"/>
              <a:t>Run turbulent wind simulations with IEA 3.4 MW, in order to understand how to adjust lidar-assisted controller get better coherence.</a:t>
            </a:r>
          </a:p>
          <a:p>
            <a:endParaRPr lang="en-US" b="1" noProof="0" dirty="0"/>
          </a:p>
        </p:txBody>
      </p:sp>
      <p:sp>
        <p:nvSpPr>
          <p:cNvPr id="4" name="Text Placeholder 3">
            <a:extLst>
              <a:ext uri="{FF2B5EF4-FFF2-40B4-BE49-F238E27FC236}">
                <a16:creationId xmlns:a16="http://schemas.microsoft.com/office/drawing/2014/main" id="{FA257715-04AD-1733-D6EE-3ED2075EF0C5}"/>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
        <p:nvSpPr>
          <p:cNvPr id="8" name="Date Placeholder 7">
            <a:extLst>
              <a:ext uri="{FF2B5EF4-FFF2-40B4-BE49-F238E27FC236}">
                <a16:creationId xmlns:a16="http://schemas.microsoft.com/office/drawing/2014/main" id="{6E55E15D-A89A-0E88-0C10-DCC57A700420}"/>
              </a:ext>
            </a:extLst>
          </p:cNvPr>
          <p:cNvSpPr>
            <a:spLocks noGrp="1"/>
          </p:cNvSpPr>
          <p:nvPr>
            <p:ph type="dt" sz="half" idx="19"/>
          </p:nvPr>
        </p:nvSpPr>
        <p:spPr/>
        <p:txBody>
          <a:bodyPr/>
          <a:lstStyle/>
          <a:p>
            <a:r>
              <a:rPr lang="en-US" noProof="0"/>
              <a:t>25/11/2025</a:t>
            </a:r>
            <a:endParaRPr lang="en-US" noProof="0" dirty="0"/>
          </a:p>
        </p:txBody>
      </p:sp>
      <p:sp>
        <p:nvSpPr>
          <p:cNvPr id="10" name="Footer Placeholder 9">
            <a:extLst>
              <a:ext uri="{FF2B5EF4-FFF2-40B4-BE49-F238E27FC236}">
                <a16:creationId xmlns:a16="http://schemas.microsoft.com/office/drawing/2014/main" id="{D4600388-DD13-10AE-D6E8-C3B2B3F89809}"/>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9" name="Slide Number Placeholder 8">
            <a:extLst>
              <a:ext uri="{FF2B5EF4-FFF2-40B4-BE49-F238E27FC236}">
                <a16:creationId xmlns:a16="http://schemas.microsoft.com/office/drawing/2014/main" id="{6820AAE9-4FCB-81C8-9E6C-E44698F413FA}"/>
              </a:ext>
            </a:extLst>
          </p:cNvPr>
          <p:cNvSpPr>
            <a:spLocks noGrp="1"/>
          </p:cNvSpPr>
          <p:nvPr>
            <p:ph type="sldNum" sz="quarter" idx="21"/>
          </p:nvPr>
        </p:nvSpPr>
        <p:spPr/>
        <p:txBody>
          <a:bodyPr/>
          <a:lstStyle/>
          <a:p>
            <a:fld id="{3A84E93A-72FE-4BB6-A500-FB6DD421822B}" type="slidenum">
              <a:rPr lang="en-US" noProof="0" smtClean="0"/>
              <a:t>13</a:t>
            </a:fld>
            <a:endParaRPr lang="en-US" noProof="0" dirty="0"/>
          </a:p>
        </p:txBody>
      </p:sp>
    </p:spTree>
    <p:extLst>
      <p:ext uri="{BB962C8B-B14F-4D97-AF65-F5344CB8AC3E}">
        <p14:creationId xmlns:p14="http://schemas.microsoft.com/office/powerpoint/2010/main" val="2223650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err="1"/>
              <a:t>Biblography</a:t>
            </a:r>
            <a:r>
              <a:rPr lang="en-US" noProof="0" dirty="0"/>
              <a:t> </a:t>
            </a:r>
          </a:p>
        </p:txBody>
      </p:sp>
      <p:sp>
        <p:nvSpPr>
          <p:cNvPr id="4" name="Date Placeholder 3"/>
          <p:cNvSpPr>
            <a:spLocks noGrp="1"/>
          </p:cNvSpPr>
          <p:nvPr>
            <p:ph type="dt" sz="half" idx="10"/>
          </p:nvPr>
        </p:nvSpPr>
        <p:spPr/>
        <p:txBody>
          <a:bodyPr/>
          <a:lstStyle/>
          <a:p>
            <a:r>
              <a:rPr lang="en-US" noProof="0"/>
              <a:t>25/11/2025</a:t>
            </a:r>
            <a:endParaRPr lang="en-US" noProof="0" dirty="0"/>
          </a:p>
        </p:txBody>
      </p:sp>
      <p:sp>
        <p:nvSpPr>
          <p:cNvPr id="6" name="Slide Number Placeholder 5"/>
          <p:cNvSpPr>
            <a:spLocks noGrp="1"/>
          </p:cNvSpPr>
          <p:nvPr>
            <p:ph type="sldNum" sz="quarter" idx="12"/>
          </p:nvPr>
        </p:nvSpPr>
        <p:spPr/>
        <p:txBody>
          <a:bodyPr/>
          <a:lstStyle/>
          <a:p>
            <a:fld id="{013F6232-4F06-48BA-8F69-BF531F607829}" type="slidenum">
              <a:rPr lang="en-US" noProof="0" smtClean="0"/>
              <a:pPr/>
              <a:t>14</a:t>
            </a:fld>
            <a:endParaRPr lang="en-US" noProof="0" dirty="0"/>
          </a:p>
        </p:txBody>
      </p:sp>
      <p:sp>
        <p:nvSpPr>
          <p:cNvPr id="9" name="Text Placeholder 8">
            <a:extLst>
              <a:ext uri="{FF2B5EF4-FFF2-40B4-BE49-F238E27FC236}">
                <a16:creationId xmlns:a16="http://schemas.microsoft.com/office/drawing/2014/main" id="{CBAA63EF-07A4-B8A9-5F4A-67D1EE8E6BD0}"/>
              </a:ext>
            </a:extLst>
          </p:cNvPr>
          <p:cNvSpPr>
            <a:spLocks noGrp="1"/>
          </p:cNvSpPr>
          <p:nvPr>
            <p:ph type="body" sz="quarter" idx="18"/>
          </p:nvPr>
        </p:nvSpPr>
        <p:spPr/>
        <p:txBody>
          <a:bodyPr/>
          <a:lstStyle/>
          <a:p>
            <a:r>
              <a:rPr lang="en-US" dirty="0"/>
              <a:t>Saurabh</a:t>
            </a:r>
            <a:r>
              <a:rPr lang="tr-TR" dirty="0"/>
              <a:t> </a:t>
            </a:r>
            <a:r>
              <a:rPr lang="en-US" dirty="0"/>
              <a:t>Pankaj Jha</a:t>
            </a:r>
            <a:endParaRPr lang="en-US" noProof="0" dirty="0"/>
          </a:p>
        </p:txBody>
      </p:sp>
      <p:sp>
        <p:nvSpPr>
          <p:cNvPr id="11" name="Footer Placeholder 5">
            <a:extLst>
              <a:ext uri="{FF2B5EF4-FFF2-40B4-BE49-F238E27FC236}">
                <a16:creationId xmlns:a16="http://schemas.microsoft.com/office/drawing/2014/main" id="{06D7C134-F599-F3C8-D2EE-3F01D112F344}"/>
              </a:ext>
            </a:extLst>
          </p:cNvPr>
          <p:cNvSpPr>
            <a:spLocks noGrp="1"/>
          </p:cNvSpPr>
          <p:nvPr>
            <p:ph type="ftr" sz="quarter" idx="11"/>
          </p:nvPr>
        </p:nvSpPr>
        <p:spPr>
          <a:xfrm>
            <a:off x="8483757" y="6564113"/>
            <a:ext cx="3165698" cy="365125"/>
          </a:xfrm>
        </p:spPr>
        <p:txBody>
          <a:bodyPr/>
          <a:lstStyle/>
          <a:p>
            <a:r>
              <a:rPr lang="en-US" noProof="0" dirty="0"/>
              <a:t>Feedback &amp; Lidar Controller  / Optimus Syria</a:t>
            </a:r>
          </a:p>
        </p:txBody>
      </p:sp>
      <p:sp>
        <p:nvSpPr>
          <p:cNvPr id="13" name="Rectangle 2">
            <a:extLst>
              <a:ext uri="{FF2B5EF4-FFF2-40B4-BE49-F238E27FC236}">
                <a16:creationId xmlns:a16="http://schemas.microsoft.com/office/drawing/2014/main" id="{B94B39AC-2823-5055-28A5-B1E3CF0ECAD8}"/>
              </a:ext>
            </a:extLst>
          </p:cNvPr>
          <p:cNvSpPr>
            <a:spLocks noGrp="1" noChangeArrowheads="1"/>
          </p:cNvSpPr>
          <p:nvPr>
            <p:ph idx="1"/>
          </p:nvPr>
        </p:nvSpPr>
        <p:spPr bwMode="auto">
          <a:xfrm>
            <a:off x="838200" y="1552189"/>
            <a:ext cx="10515600"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lvl="0" algn="just" eaLnBrk="0" fontAlgn="base" hangingPunct="0">
              <a:lnSpc>
                <a:spcPct val="100000"/>
              </a:lnSpc>
              <a:spcBef>
                <a:spcPct val="0"/>
              </a:spcBef>
              <a:spcAft>
                <a:spcPct val="0"/>
              </a:spcAft>
            </a:pPr>
            <a:r>
              <a:rPr lang="en-US" sz="1800" noProof="0" dirty="0">
                <a:latin typeface="Arial" panose="020B0604020202020204" pitchFamily="34" charset="0"/>
              </a:rPr>
              <a:t>[1] </a:t>
            </a:r>
            <a:r>
              <a:rPr lang="en-US" sz="1800" noProof="0" dirty="0"/>
              <a:t>D. Schlipf, "Lidar-Assisted Control for Wind Turbines I," Class Lecture, Topic: "Controller Design for Wind Turbines and Wind Farms," Wind Energy Engineering Master, Hochschule Flensburg, Flensburg, Germany, [17/11/2025].</a:t>
            </a:r>
            <a:endParaRPr kumimoji="0" lang="en-US" sz="1800" b="0" i="0" u="none" strike="noStrike" cap="none" normalizeH="0" baseline="0" noProof="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sz="1800" noProof="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noProof="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noProof="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8072816"/>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200" dirty="0" smtClean="0">
            <a:solidFill>
              <a:schemeClr val="bg1"/>
            </a:solidFill>
          </a:defRPr>
        </a:defPPr>
      </a:lstStyle>
    </a:txDef>
  </a:objectDefaults>
  <a:extraClrSchemeLst/>
  <a:extLst>
    <a:ext uri="{05A4C25C-085E-4340-85A3-A5531E510DB2}">
      <thm15:themeFamily xmlns:thm15="http://schemas.microsoft.com/office/thememl/2012/main" name="Theme1" id="{E7258755-3B8A-428F-9B71-020BDB6F6014}" vid="{2CB19E59-5F41-4D40-98BC-C6D4E668C96F}"/>
    </a:ext>
  </a:ext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3" id="{489382AE-0E20-4DDB-AC58-6881343BCB06}" vid="{BC3BCC29-301C-4D70-A384-97DBC337907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7728</TotalTime>
  <Words>1055</Words>
  <Application>Microsoft Office PowerPoint</Application>
  <PresentationFormat>Widescreen</PresentationFormat>
  <Paragraphs>149</Paragraphs>
  <Slides>14</Slides>
  <Notes>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14</vt:i4>
      </vt:variant>
    </vt:vector>
  </HeadingPairs>
  <TitlesOfParts>
    <vt:vector size="27" baseType="lpstr">
      <vt:lpstr>Aptos</vt:lpstr>
      <vt:lpstr>Aptos (Textkörper)</vt:lpstr>
      <vt:lpstr>Aptos Display</vt:lpstr>
      <vt:lpstr>Arial</vt:lpstr>
      <vt:lpstr>Calibri</vt:lpstr>
      <vt:lpstr>Calibri Light</vt:lpstr>
      <vt:lpstr>Cambria Math</vt:lpstr>
      <vt:lpstr>KaTeX_Main</vt:lpstr>
      <vt:lpstr>KaTeX_Math</vt:lpstr>
      <vt:lpstr>Times New Roman</vt:lpstr>
      <vt:lpstr>Wingdings</vt:lpstr>
      <vt:lpstr>Theme1</vt:lpstr>
      <vt:lpstr>Benutzerdefiniertes Design</vt:lpstr>
      <vt:lpstr>Weekly report: Feedback &amp; Lidar – Assisted Controller</vt:lpstr>
      <vt:lpstr>List of Contents</vt:lpstr>
      <vt:lpstr>Tasks of the Week</vt:lpstr>
      <vt:lpstr>Torque Controller</vt:lpstr>
      <vt:lpstr>Torque Controller</vt:lpstr>
      <vt:lpstr>Torque Controller in ROSCO</vt:lpstr>
      <vt:lpstr>Torque Controller in ROSCO</vt:lpstr>
      <vt:lpstr>Torque Controller for Optimus</vt:lpstr>
      <vt:lpstr>Lidar-Assisted Controller effects on loads. </vt:lpstr>
      <vt:lpstr>Lidar-Assisted Controller effects on loads. </vt:lpstr>
      <vt:lpstr>Coherence for Lidar-assisted Controller</vt:lpstr>
      <vt:lpstr>Coherence for Lidar-assisted Controller</vt:lpstr>
      <vt:lpstr>Conclusion</vt:lpstr>
      <vt:lpstr>Biblography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Mirza Dincer</dc:creator>
  <cp:lastModifiedBy>Mirza Dincer</cp:lastModifiedBy>
  <cp:revision>133</cp:revision>
  <dcterms:created xsi:type="dcterms:W3CDTF">2025-10-04T12:59:06Z</dcterms:created>
  <dcterms:modified xsi:type="dcterms:W3CDTF">2025-11-24T12:27:29Z</dcterms:modified>
</cp:coreProperties>
</file>