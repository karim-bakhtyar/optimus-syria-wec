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12"/>
  </p:notesMasterIdLst>
  <p:sldIdLst>
    <p:sldId id="256" r:id="rId4"/>
    <p:sldId id="259" r:id="rId5"/>
    <p:sldId id="279" r:id="rId6"/>
    <p:sldId id="280" r:id="rId7"/>
    <p:sldId id="268" r:id="rId8"/>
    <p:sldId id="281" r:id="rId9"/>
    <p:sldId id="27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79"/>
            <p14:sldId id="280"/>
            <p14:sldId id="268"/>
            <p14:sldId id="281"/>
            <p14:sldId id="277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2200F-F298-C18F-8EF2-2EC0415B195D}" v="107" dt="2025-11-24T16:40:09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4" autoAdjust="0"/>
    <p:restoredTop sz="80528" autoAdjust="0"/>
  </p:normalViewPr>
  <p:slideViewPr>
    <p:cSldViewPr snapToGrid="0">
      <p:cViewPr varScale="1">
        <p:scale>
          <a:sx n="69" d="100"/>
          <a:sy n="69" d="100"/>
        </p:scale>
        <p:origin x="14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678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0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3567-945C-EAF4-1018-813BBC5C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601874-15A5-189E-3377-14F24866B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31E68A-55E6-D4F6-EA6B-FB20BDA53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D41BD7-F59F-F392-1DAA-14B4E0670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755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460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works ??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21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958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673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7331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306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550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202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3370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7692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078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7826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12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3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sti.gov/biblio/184788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dpi.com/1996-1073/14/9/2556?utm_source" TargetMode="External"/><Relationship Id="rId4" Type="http://schemas.openxmlformats.org/officeDocument/2006/relationships/hyperlink" Target="https://www.nrel.gov/docs/fy21osti/78347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</a:t>
            </a:r>
            <a:r>
              <a:rPr lang="en-US" altLang="it-IT" sz="4000" dirty="0"/>
              <a:t>Storage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dirty="0"/>
              <a:t>9th week – </a:t>
            </a:r>
            <a:r>
              <a:rPr lang="ar-EG" altLang="it-IT" sz="2000" dirty="0">
                <a:cs typeface="Arial"/>
              </a:rPr>
              <a:t>10</a:t>
            </a:r>
            <a:r>
              <a:rPr lang="it-IT" sz="2000" dirty="0"/>
              <a:t>th Presentation</a:t>
            </a:r>
          </a:p>
          <a:p>
            <a:r>
              <a:rPr lang="it-IT" sz="2000" dirty="0"/>
              <a:t>Date: </a:t>
            </a:r>
            <a:r>
              <a:rPr lang="ar-EG" altLang="it-IT" sz="2000" dirty="0"/>
              <a:t>25</a:t>
            </a:r>
            <a:r>
              <a:rPr lang="en-US" altLang="it-IT" sz="2000" dirty="0"/>
              <a:t> </a:t>
            </a:r>
            <a:r>
              <a:rPr lang="it-IT" sz="2000" dirty="0"/>
              <a:t>/</a:t>
            </a:r>
            <a:r>
              <a:rPr lang="en-US" altLang="it-IT" sz="2000" dirty="0"/>
              <a:t>11</a:t>
            </a:r>
            <a:r>
              <a:rPr lang="it-IT" sz="2000" dirty="0"/>
              <a:t>/2025</a:t>
            </a:r>
          </a:p>
          <a:p>
            <a:r>
              <a:rPr lang="it-IT" sz="2000" dirty="0"/>
              <a:t>Supervisor: Dr. </a:t>
            </a:r>
            <a:r>
              <a:rPr lang="en-US" sz="2000" dirty="0"/>
              <a:t>Laurence </a:t>
            </a:r>
            <a:r>
              <a:rPr lang="en-US" sz="2000" dirty="0" err="1"/>
              <a:t>Alhrshy</a:t>
            </a:r>
            <a:endParaRPr lang="en-GB" sz="2000" dirty="0"/>
          </a:p>
        </p:txBody>
      </p:sp>
      <p:pic>
        <p:nvPicPr>
          <p:cNvPr id="8" name="Picture 8" descr="Hochschule Flensburg (Fachhochschule)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2454216" y="460966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</a:t>
            </a:r>
            <a:r>
              <a:rPr lang="ar-EG" dirty="0"/>
              <a:t> :</a:t>
            </a:r>
            <a:r>
              <a:rPr lang="en-US" altLang="de-DE" dirty="0"/>
              <a:t>Mohamed Ahmed</a:t>
            </a:r>
          </a:p>
        </p:txBody>
      </p:sp>
      <p:sp>
        <p:nvSpPr>
          <p:cNvPr id="34" name="Free-form: Shape 13"/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/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/>
          <p:cNvSpPr/>
          <p:nvPr/>
        </p:nvSpPr>
        <p:spPr>
          <a:xfrm>
            <a:off x="31410" y="5935177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698" y="5340555"/>
            <a:ext cx="1753782" cy="13136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77213" y="6492562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9979" y="6552895"/>
            <a:ext cx="973343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25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370557" y="1444973"/>
            <a:ext cx="11332845" cy="40119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800" dirty="0">
                <a:solidFill>
                  <a:srgbClr val="FF0000"/>
                </a:solidFill>
              </a:rPr>
              <a:t>Content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ar-EG" dirty="0"/>
            </a:br>
            <a:endParaRPr lang="it-IT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Application Scenarios of Energy Storage</a:t>
            </a:r>
            <a:endParaRPr lang="ar-EG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 Benefits from Energy Storage</a:t>
            </a:r>
            <a:endParaRPr lang="ar-EG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Energy Storage Simulation Workflow</a:t>
            </a:r>
            <a:endParaRPr lang="ar-EG" sz="18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References</a:t>
            </a:r>
          </a:p>
          <a:p>
            <a:endParaRPr lang="it-IT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25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BD0EF25-9C31-465D-A782-00E58F9E1039}"/>
              </a:ext>
            </a:extLst>
          </p:cNvPr>
          <p:cNvSpPr txBox="1">
            <a:spLocks/>
          </p:cNvSpPr>
          <p:nvPr/>
        </p:nvSpPr>
        <p:spPr>
          <a:xfrm>
            <a:off x="2877213" y="6492562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Advantages of Wind Energy | Avaada">
            <a:extLst>
              <a:ext uri="{FF2B5EF4-FFF2-40B4-BE49-F238E27FC236}">
                <a16:creationId xmlns:a16="http://schemas.microsoft.com/office/drawing/2014/main" id="{9D9AFD5D-E77B-4277-BE85-9743483CC8F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464" y="1969731"/>
            <a:ext cx="6196979" cy="348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ABC005-122F-40ED-BE0F-9183EFAF1C3A}"/>
              </a:ext>
            </a:extLst>
          </p:cNvPr>
          <p:cNvSpPr txBox="1"/>
          <p:nvPr/>
        </p:nvSpPr>
        <p:spPr>
          <a:xfrm>
            <a:off x="5998403" y="5480303"/>
            <a:ext cx="6144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avaada.com/advantages-of-wind-energy/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35" y="417316"/>
            <a:ext cx="10860065" cy="741016"/>
          </a:xfrm>
        </p:spPr>
        <p:txBody>
          <a:bodyPr>
            <a:normAutofit/>
          </a:bodyPr>
          <a:lstStyle/>
          <a:p>
            <a:r>
              <a:rPr lang="en-GB" b="1" dirty="0"/>
              <a:t>Application Scenarios of Energy Storage</a:t>
            </a:r>
            <a:endParaRPr lang="de-DE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EC22C-C79A-443D-941E-52C75CEB0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735" y="1178449"/>
            <a:ext cx="5880968" cy="517596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Steadying Power Infeed</a:t>
            </a:r>
            <a:r>
              <a:rPr lang="en-GB" dirty="0"/>
              <a:t>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Fast Frequency Response (FFR).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Synthetic / Continuous Inertia Provision.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Low Voltage Ride Through (LVRT).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Power System Stabilization (PSS).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Reduction of Mechanical Loads &amp; Stress.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Support for Emergency Braking &amp; Ramp Control.</a:t>
            </a:r>
            <a:endParaRPr lang="ar-EG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EC1D65-9D7D-4C41-B651-FC8915DA0A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835" y="1467035"/>
            <a:ext cx="5582425" cy="3493867"/>
          </a:xfr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0CE86B-BA1B-4A2C-B63B-D3995EEF3E63}"/>
              </a:ext>
            </a:extLst>
          </p:cNvPr>
          <p:cNvCxnSpPr/>
          <p:nvPr/>
        </p:nvCxnSpPr>
        <p:spPr>
          <a:xfrm>
            <a:off x="484418" y="1140565"/>
            <a:ext cx="11312929" cy="198328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492B8-E6AB-4E0F-8279-910A7FDA3ABF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57DED-CB21-4913-A6EE-23CCB0DB26B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3658246-FF2B-4F5F-B6FD-4F30B360AD84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25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  <p:extLst>
      <p:ext uri="{BB962C8B-B14F-4D97-AF65-F5344CB8AC3E}">
        <p14:creationId xmlns:p14="http://schemas.microsoft.com/office/powerpoint/2010/main" val="140398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0465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22" y="670438"/>
            <a:ext cx="11479045" cy="52104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Benefits from Energy Storage</a:t>
            </a:r>
            <a:endParaRPr lang="de-DE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0CE86B-BA1B-4A2C-B63B-D3995EEF3E63}"/>
              </a:ext>
            </a:extLst>
          </p:cNvPr>
          <p:cNvCxnSpPr/>
          <p:nvPr/>
        </p:nvCxnSpPr>
        <p:spPr>
          <a:xfrm>
            <a:off x="463541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492B8-E6AB-4E0F-8279-910A7FDA3ABF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57DED-CB21-4913-A6EE-23CCB0DB26B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3658246-FF2B-4F5F-B6FD-4F30B360AD84}"/>
              </a:ext>
            </a:extLst>
          </p:cNvPr>
          <p:cNvSpPr txBox="1"/>
          <p:nvPr/>
        </p:nvSpPr>
        <p:spPr>
          <a:xfrm>
            <a:off x="1029979" y="6552895"/>
            <a:ext cx="973343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25/11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EC22C-C79A-443D-941E-52C75CEB0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980" y="1699851"/>
            <a:ext cx="9528143" cy="3583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More stable and reliable electricity 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Fewer blackouts and faster frequency recovery 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Cheaper energy in the long term 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More renewable energy penetration </a:t>
            </a:r>
            <a:endParaRPr lang="ar-EG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7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235" y="1313359"/>
            <a:ext cx="7346419" cy="5130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The model represents a coordinated Energy Management System for a wind-battery-grid configuration.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It simulates the overall control strategy for managing generated wind power.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Power flow decisions are made based on real-time system conditions.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The system integrates wind generation, grid </a:t>
            </a:r>
            <a:r>
              <a:rPr lang="en-GB" sz="2400" err="1"/>
              <a:t>behavior</a:t>
            </a:r>
            <a:r>
              <a:rPr lang="en-GB" sz="2400" dirty="0"/>
              <a:t>, and battery state into a unified control framework.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A central control logic dynamically regulates power allocation.</a:t>
            </a:r>
            <a:br>
              <a:rPr lang="it-IT" b="1" dirty="0"/>
            </a:br>
            <a:endParaRPr lang="it-IT" b="1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62997" y="917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700" b="1" dirty="0"/>
              <a:t>Energy Storage Simulation Workflow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25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A337B-045C-41B2-8D8D-2AF0B3EACE06}"/>
              </a:ext>
            </a:extLst>
          </p:cNvPr>
          <p:cNvSpPr txBox="1"/>
          <p:nvPr/>
        </p:nvSpPr>
        <p:spPr>
          <a:xfrm>
            <a:off x="7912915" y="4690474"/>
            <a:ext cx="2892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Source: Own creation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6FF5B5-C1C2-4689-99BA-7FBEC53F31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654" y="2011323"/>
            <a:ext cx="4750419" cy="265199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69C9-BE6A-8846-A2B4-0C011EAE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DA65D10-2E02-4056-7BC5-4501C2CF51D4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3679F6B9-B47A-B45E-EB3C-8780C8001AD8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25C642A-54C2-6F01-7102-17CF1D101ECD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8F522F-AE5D-7031-E5CF-9B93754280D2}"/>
              </a:ext>
            </a:extLst>
          </p:cNvPr>
          <p:cNvSpPr txBox="1"/>
          <p:nvPr/>
        </p:nvSpPr>
        <p:spPr>
          <a:xfrm>
            <a:off x="2235" y="1313359"/>
            <a:ext cx="7346419" cy="5130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742950" lvl="1" indent="-285750">
              <a:spcBef>
                <a:spcPts val="1000"/>
              </a:spcBef>
              <a:buFont typeface="Arial,Sans-Serif" panose="020B0604020202020204" pitchFamily="34" charset="0"/>
              <a:buChar char="•"/>
            </a:pPr>
            <a:r>
              <a:rPr lang="en-GB" sz="2000" dirty="0"/>
              <a:t>The model ensures intelligent routing of energy between storage and grid.</a:t>
            </a:r>
            <a:endParaRPr lang="en-US" sz="2000" dirty="0"/>
          </a:p>
          <a:p>
            <a:pPr marL="742950" lvl="1" indent="-285750">
              <a:spcBef>
                <a:spcPts val="1000"/>
              </a:spcBef>
              <a:buFont typeface="Arial,Sans-Serif" panose="020B0604020202020204" pitchFamily="34" charset="0"/>
              <a:buChar char="•"/>
            </a:pPr>
            <a:r>
              <a:rPr lang="en-GB" sz="2000" dirty="0"/>
              <a:t>Operational constraints and grid requirements are continuously considered.</a:t>
            </a:r>
            <a:endParaRPr lang="en-GB" dirty="0"/>
          </a:p>
          <a:p>
            <a:pPr marL="742950" lvl="1" indent="-285750">
              <a:spcBef>
                <a:spcPts val="1000"/>
              </a:spcBef>
              <a:buFont typeface="Arial,Sans-Serif" panose="020B0604020202020204" pitchFamily="34" charset="0"/>
              <a:buChar char="•"/>
            </a:pPr>
            <a:r>
              <a:rPr lang="en-GB" sz="2000" dirty="0"/>
              <a:t>The system enhances reliability and operational flexibility.</a:t>
            </a:r>
            <a:endParaRPr lang="en-US" sz="2000" dirty="0"/>
          </a:p>
          <a:p>
            <a:pPr marL="742950" lvl="1" indent="-285750">
              <a:spcBef>
                <a:spcPts val="1000"/>
              </a:spcBef>
              <a:buFont typeface="Arial,Sans-Serif" panose="020B0604020202020204" pitchFamily="34" charset="0"/>
              <a:buChar char="•"/>
            </a:pPr>
            <a:r>
              <a:rPr lang="en-GB" sz="2000" dirty="0"/>
              <a:t>Energy efficiency is maximized while preventing overcharging or grid instability.</a:t>
            </a:r>
            <a:endParaRPr lang="en-US" sz="2000" dirty="0"/>
          </a:p>
          <a:p>
            <a:pPr marL="742950" lvl="1" indent="-285750">
              <a:spcBef>
                <a:spcPts val="1000"/>
              </a:spcBef>
              <a:buFont typeface="Arial,Sans-Serif" panose="020B0604020202020204" pitchFamily="34" charset="0"/>
              <a:buChar char="•"/>
            </a:pPr>
            <a:r>
              <a:rPr lang="en-GB" sz="2000" dirty="0"/>
              <a:t>The model reflects realistic smart-grid energy management </a:t>
            </a:r>
            <a:r>
              <a:rPr lang="en-GB" sz="2000" dirty="0" err="1"/>
              <a:t>behavior</a:t>
            </a:r>
            <a:br>
              <a:rPr lang="it-IT" b="1" dirty="0"/>
            </a:br>
            <a:endParaRPr lang="it-IT" b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B9C4949-ED74-91FB-7EC7-ADC5D857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97" y="917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700" b="1" dirty="0"/>
              <a:t>Energy Storage Simulation Workflow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80E83B0-491A-F5C7-FC73-661CB9C1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47C546-80B0-4554-E396-585C9578510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CEB50D89-B5A1-5639-516C-A720EE2A152B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7DB87D-4567-7682-0A4E-BF43A92753D0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DF6CDC-5F8F-1D10-E782-4A292FB77016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E77BE7-DB62-C6AB-9C61-ADAB973C8805}"/>
              </a:ext>
            </a:extLst>
          </p:cNvPr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F130315F-25F4-2375-14C9-83D8CDF4A60A}"/>
              </a:ext>
            </a:extLst>
          </p:cNvPr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25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A54768-9D28-6F4B-8886-17321553E8CD}"/>
              </a:ext>
            </a:extLst>
          </p:cNvPr>
          <p:cNvSpPr txBox="1"/>
          <p:nvPr/>
        </p:nvSpPr>
        <p:spPr>
          <a:xfrm>
            <a:off x="7912915" y="4690474"/>
            <a:ext cx="2892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Source: Own creation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6D3BA9-7E50-3D86-AC48-61906FFFD4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654" y="1531159"/>
            <a:ext cx="4813049" cy="3153030"/>
          </a:xfrm>
        </p:spPr>
      </p:pic>
    </p:spTree>
    <p:extLst>
      <p:ext uri="{BB962C8B-B14F-4D97-AF65-F5344CB8AC3E}">
        <p14:creationId xmlns:p14="http://schemas.microsoft.com/office/powerpoint/2010/main" val="301776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Next Presentation</a:t>
            </a:r>
            <a:endParaRPr lang="en-US" sz="2400" b="1" dirty="0">
              <a:sym typeface="+mn-ea"/>
            </a:endParaRP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7CCE0A0-B4E2-481B-8241-7A2C5B516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28" y="1361681"/>
            <a:ext cx="8573167" cy="359699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/>
              <a:t>Cable Calculations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Converter Calculations</a:t>
            </a:r>
            <a:endParaRPr lang="en-US" sz="2000" b="1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6" name="TextBox 14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25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3EA7592-B30A-4269-831A-2CC2800ED94A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97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98230" y="1408172"/>
            <a:ext cx="11239919" cy="25107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1800" dirty="0">
                <a:hlinkClick r:id="rId3"/>
              </a:rPr>
              <a:t>https://www.osti.gov/biblio/1847886</a:t>
            </a:r>
            <a:endParaRPr lang="ar-EG" sz="1800" dirty="0"/>
          </a:p>
          <a:p>
            <a:pPr marL="457200" indent="-457200">
              <a:buAutoNum type="arabicPeriod"/>
            </a:pPr>
            <a:r>
              <a:rPr lang="en-US" sz="1800" dirty="0">
                <a:hlinkClick r:id="rId4"/>
              </a:rPr>
              <a:t>https://www.nrel.gov/docs/fy21osti/78347.pdf</a:t>
            </a:r>
            <a:endParaRPr lang="ar-EG" sz="1800" dirty="0"/>
          </a:p>
          <a:p>
            <a:pPr marL="457200" indent="-457200">
              <a:buFontTx/>
              <a:buAutoNum type="arabicPeriod"/>
            </a:pPr>
            <a:r>
              <a:rPr lang="en-GB" dirty="0">
                <a:ea typeface="+mn-lt"/>
                <a:cs typeface="+mn-lt"/>
                <a:hlinkClick r:id="rId5"/>
              </a:rPr>
              <a:t>https://www.mdpi.com/1996-1073/14/9/2556?utm_source</a:t>
            </a:r>
            <a:endParaRPr lang="en-GB" dirty="0"/>
          </a:p>
          <a:p>
            <a:pPr marL="457200" indent="-457200">
              <a:buAutoNum type="arabicPeriod"/>
            </a:pPr>
            <a:endParaRPr lang="en-GB" sz="1800" dirty="0"/>
          </a:p>
          <a:p>
            <a:endParaRPr lang="ar-EG" dirty="0"/>
          </a:p>
          <a:p>
            <a:pPr>
              <a:lnSpc>
                <a:spcPct val="200000"/>
              </a:lnSpc>
            </a:pPr>
            <a:endParaRPr lang="ar-EG" dirty="0"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98230" y="370993"/>
            <a:ext cx="10036690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References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0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53492" y="6580056"/>
            <a:ext cx="438631" cy="2588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9549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726" y="6552895"/>
            <a:ext cx="98296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it-IT" sz="1200" dirty="0">
                <a:solidFill>
                  <a:schemeClr val="bg1"/>
                </a:solidFill>
              </a:rPr>
              <a:t>25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ar-EG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322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503</Words>
  <Application>Microsoft Office PowerPoint</Application>
  <PresentationFormat>Widescreen</PresentationFormat>
  <Paragraphs>118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Office Theme</vt:lpstr>
      <vt:lpstr>Custom Design</vt:lpstr>
      <vt:lpstr>1_Office Theme</vt:lpstr>
      <vt:lpstr>Weekly report: Storage System</vt:lpstr>
      <vt:lpstr>PowerPoint Presentation</vt:lpstr>
      <vt:lpstr>Application Scenarios of Energy Storage</vt:lpstr>
      <vt:lpstr>Benefits from Energy Storage</vt:lpstr>
      <vt:lpstr>Energy Storage Simulation Workflow</vt:lpstr>
      <vt:lpstr>Energy Storage Simulation Workflow</vt:lpstr>
      <vt:lpstr>Next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mohamed Alywa</cp:lastModifiedBy>
  <cp:revision>138</cp:revision>
  <dcterms:created xsi:type="dcterms:W3CDTF">2025-07-21T13:11:00Z</dcterms:created>
  <dcterms:modified xsi:type="dcterms:W3CDTF">2025-11-24T16:40:23Z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2F57D44E6381456FBAA078C14AE94E08_13</vt:lpwstr>
  </property>
  <property fmtid="{D5CDD505-2E9C-101B-9397-08002B2CF9AE}" pid="3" name="KSOProductBuildVer">
    <vt:lpwstr>1033-12.2.0.23131</vt:lpwstr>
  </property>
</Properties>
</file>