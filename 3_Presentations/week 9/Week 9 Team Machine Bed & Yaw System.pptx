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handoutMasterIdLst>
    <p:handoutMasterId r:id="rId15"/>
  </p:handoutMasterIdLst>
  <p:sldIdLst>
    <p:sldId id="263" r:id="rId3"/>
    <p:sldId id="285" r:id="rId4"/>
    <p:sldId id="315" r:id="rId5"/>
    <p:sldId id="316" r:id="rId6"/>
    <p:sldId id="308" r:id="rId7"/>
    <p:sldId id="291" r:id="rId8"/>
    <p:sldId id="309" r:id="rId9"/>
    <p:sldId id="314" r:id="rId10"/>
    <p:sldId id="312" r:id="rId11"/>
    <p:sldId id="310" r:id="rId12"/>
    <p:sldId id="31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85"/>
            <p14:sldId id="315"/>
            <p14:sldId id="316"/>
            <p14:sldId id="308"/>
            <p14:sldId id="291"/>
            <p14:sldId id="309"/>
            <p14:sldId id="314"/>
            <p14:sldId id="312"/>
            <p14:sldId id="310"/>
            <p14:sldId id="313"/>
          </p14:sldIdLst>
        </p14:section>
        <p14:section name="Title, main slides" id="{B26F6679-C236-4D3D-BC2F-CAE5ED400718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21.11.2025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product-catalogue.pdf" TargetMode="External"/><Relationship Id="rId2" Type="http://schemas.openxmlformats.org/officeDocument/2006/relationships/hyperlink" Target="https://www.svendborg-brakes.com/products/hydraulic-brakes/active-brakes/bsac-120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6678" y="2216406"/>
            <a:ext cx="9718641" cy="912598"/>
          </a:xfrm>
        </p:spPr>
        <p:txBody>
          <a:bodyPr/>
          <a:lstStyle/>
          <a:p>
            <a:r>
              <a:rPr lang="en-GB" sz="4000" dirty="0"/>
              <a:t>Weekly report: Machine Bed &amp; Yaw System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475992" y="4582639"/>
            <a:ext cx="7240015" cy="365125"/>
          </a:xfrm>
        </p:spPr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Abbas, </a:t>
            </a:r>
            <a:r>
              <a:rPr lang="en-GB" dirty="0" err="1"/>
              <a:t>Luksh</a:t>
            </a:r>
            <a:r>
              <a:rPr lang="en-GB" dirty="0"/>
              <a:t> Chawla, Sathishkumar Venkatachalam, Shrihari G Kadam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25/11/2025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802836" y="6566802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Machine Bed &amp; Yaw System/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20553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No - 9</a:t>
            </a:r>
          </a:p>
          <a:p>
            <a:r>
              <a:rPr lang="it-IT" sz="2000" dirty="0"/>
              <a:t>Date: 25.11.2025</a:t>
            </a:r>
          </a:p>
          <a:p>
            <a:r>
              <a:rPr lang="it-IT" sz="2000" dirty="0"/>
              <a:t>Supervisor: Prof. Peter Quell</a:t>
            </a: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08376D06-4672-9EF6-7B17-FCFA47C3FDDF}"/>
              </a:ext>
            </a:extLst>
          </p:cNvPr>
          <p:cNvSpPr txBox="1">
            <a:spLocks/>
          </p:cNvSpPr>
          <p:nvPr/>
        </p:nvSpPr>
        <p:spPr>
          <a:xfrm>
            <a:off x="2517233" y="5089851"/>
            <a:ext cx="7240015" cy="3651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Presented by –  </a:t>
            </a:r>
            <a:r>
              <a:rPr lang="en-GB" dirty="0"/>
              <a:t>Shoukat Abbas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5D8C-3E5B-E602-A935-521A15813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C580E-2809-B049-3D67-5D7769A1B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04143C-9BB0-DF67-AD4B-795FC4CF9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0ED4E-7AD5-F9DB-3A70-EE05E34F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2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FCB104A-0713-9C47-0F5D-96E287DF59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3D5F662-FC69-5BA9-74AF-843D9516E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328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" panose="020B0004020202020204" pitchFamily="34" charset="0"/>
              </a:rPr>
              <a:t>Contents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2" name="Text Box 1">
            <a:extLst>
              <a:ext uri="{FF2B5EF4-FFF2-40B4-BE49-F238E27FC236}">
                <a16:creationId xmlns:a16="http://schemas.microsoft.com/office/drawing/2014/main" id="{74C8A896-5872-DF50-1F93-F0340A0A5B2E}"/>
              </a:ext>
            </a:extLst>
          </p:cNvPr>
          <p:cNvSpPr txBox="1"/>
          <p:nvPr/>
        </p:nvSpPr>
        <p:spPr>
          <a:xfrm>
            <a:off x="1814195" y="1679531"/>
            <a:ext cx="4281805" cy="408678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Yaw Bearing Finalization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Yaw Brake finalization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Yaw Brake CAD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Number of brake callipers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Brake </a:t>
            </a:r>
            <a:r>
              <a:rPr lang="en-IN" altLang="en-GB" dirty="0" err="1"/>
              <a:t>Caliper</a:t>
            </a:r>
            <a:r>
              <a:rPr lang="en-IN" altLang="en-GB" dirty="0"/>
              <a:t> Selection</a:t>
            </a:r>
          </a:p>
          <a:p>
            <a:endParaRPr lang="en-IN" alt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70743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EAAE-BA35-A8A2-25C5-DD12271A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9983F-38B4-BEAB-5B92-A13758AC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BE329-24E5-1CA5-6F29-488AA9E7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76FAC-A587-5ADC-8AB6-2786487A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AEB46C-8D4C-77DA-D4ED-E81CA97C6D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A82073-D53B-4D6B-A04A-11E1C6BC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latin typeface="Aptos" panose="020B0004020202020204" pitchFamily="34" charset="0"/>
                <a:cs typeface="Times New Roman" panose="02020603050405020304" pitchFamily="18" charset="0"/>
                <a:sym typeface="+mn-ea"/>
              </a:rPr>
              <a:t>Yaw Bearing 2D Drawing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1498" y="1041330"/>
            <a:ext cx="11360502" cy="1279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Double-row four-point bearing with External Gears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F2F589-5179-0FB6-4E0A-8BFA5E31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31" y="2119023"/>
            <a:ext cx="4950819" cy="3804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7C9C9E-4396-D348-B3B6-493819A0A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225"/>
          <a:stretch>
            <a:fillRect/>
          </a:stretch>
        </p:blipFill>
        <p:spPr>
          <a:xfrm>
            <a:off x="6861110" y="2107347"/>
            <a:ext cx="4111690" cy="381588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C749008-89A7-7B5A-9BC8-7C0FF5E57ACF}"/>
              </a:ext>
            </a:extLst>
          </p:cNvPr>
          <p:cNvSpPr txBox="1"/>
          <p:nvPr/>
        </p:nvSpPr>
        <p:spPr>
          <a:xfrm>
            <a:off x="8117632" y="6059007"/>
            <a:ext cx="19127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Teeth Profile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C61AC0-53CC-0834-B692-337B1ED7A59F}"/>
              </a:ext>
            </a:extLst>
          </p:cNvPr>
          <p:cNvSpPr txBox="1"/>
          <p:nvPr/>
        </p:nvSpPr>
        <p:spPr>
          <a:xfrm>
            <a:off x="1440323" y="6059007"/>
            <a:ext cx="322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2D drawing from own 3D part</a:t>
            </a:r>
          </a:p>
        </p:txBody>
      </p:sp>
    </p:spTree>
    <p:extLst>
      <p:ext uri="{BB962C8B-B14F-4D97-AF65-F5344CB8AC3E}">
        <p14:creationId xmlns:p14="http://schemas.microsoft.com/office/powerpoint/2010/main" val="9968189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837-D0A8-9473-D329-97844BA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7C539C-E88F-524D-F12D-B989452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18/11/2025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62ECA-2223-DDFB-0160-FFEF721D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FEAF8B-B5BF-11F6-E77B-A9C96920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F77C54-941F-05B0-B686-B6E9A99C2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EF60FA-DEFE-899A-8E9C-75BDAC7C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6" y="318474"/>
            <a:ext cx="11700587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4000" b="1" dirty="0">
                <a:sym typeface="+mn-ea"/>
              </a:rPr>
              <a:t>Yaw Bearing 3D Model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6AEC78-BA89-A576-D53A-EFD8CA74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06" y="1434327"/>
            <a:ext cx="3855028" cy="34318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1B3869B-CD87-F932-5D98-D4816A180C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682"/>
          <a:stretch>
            <a:fillRect/>
          </a:stretch>
        </p:blipFill>
        <p:spPr>
          <a:xfrm>
            <a:off x="4215951" y="1558704"/>
            <a:ext cx="3855029" cy="31441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09C61B-C697-5146-6163-EC9D4B030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588" y="1644037"/>
            <a:ext cx="3875313" cy="386646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96787C-255E-97D1-91ED-97B63A445387}"/>
              </a:ext>
            </a:extLst>
          </p:cNvPr>
          <p:cNvSpPr txBox="1"/>
          <p:nvPr/>
        </p:nvSpPr>
        <p:spPr>
          <a:xfrm>
            <a:off x="1583350" y="5325837"/>
            <a:ext cx="220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Top 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94EAA6-5651-571B-FAF9-4DACBEF6BE1F}"/>
              </a:ext>
            </a:extLst>
          </p:cNvPr>
          <p:cNvSpPr txBox="1"/>
          <p:nvPr/>
        </p:nvSpPr>
        <p:spPr>
          <a:xfrm>
            <a:off x="4796682" y="5288023"/>
            <a:ext cx="2324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Tooth profile close-up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0A397B-157E-A207-FC3B-E120344CA903}"/>
              </a:ext>
            </a:extLst>
          </p:cNvPr>
          <p:cNvSpPr txBox="1"/>
          <p:nvPr/>
        </p:nvSpPr>
        <p:spPr>
          <a:xfrm>
            <a:off x="8984546" y="5325837"/>
            <a:ext cx="2324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Cross-sectioned view</a:t>
            </a:r>
          </a:p>
        </p:txBody>
      </p:sp>
    </p:spTree>
    <p:extLst>
      <p:ext uri="{BB962C8B-B14F-4D97-AF65-F5344CB8AC3E}">
        <p14:creationId xmlns:p14="http://schemas.microsoft.com/office/powerpoint/2010/main" val="162527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6EAAE-BA35-A8A2-25C5-DD12271A1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B9983F-38B4-BEAB-5B92-A13758AC8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BBE329-24E5-1CA5-6F29-488AA9E7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76FAC-A587-5ADC-8AB6-2786487A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4AEB46C-8D4C-77DA-D4ED-E81CA97C6D3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A82073-D53B-4D6B-A04A-11E1C6BC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Yaw</a:t>
            </a:r>
            <a:r>
              <a:rPr lang="en-IN" altLang="en-GB" sz="4000" b="1" dirty="0"/>
              <a:t> Brake Finalization</a:t>
            </a:r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 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31498" y="1041330"/>
            <a:ext cx="11360502" cy="1279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000" dirty="0"/>
          </a:p>
          <a:p>
            <a:pPr>
              <a:lnSpc>
                <a:spcPct val="150000"/>
              </a:lnSpc>
            </a:pPr>
            <a:r>
              <a:rPr lang="en-IN" sz="2000" b="1" dirty="0"/>
              <a:t>Yaw brake disk </a:t>
            </a:r>
          </a:p>
          <a:p>
            <a:pPr>
              <a:lnSpc>
                <a:spcPct val="150000"/>
              </a:lnSpc>
            </a:pP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749008-89A7-7B5A-9BC8-7C0FF5E57ACF}"/>
              </a:ext>
            </a:extLst>
          </p:cNvPr>
          <p:cNvSpPr txBox="1"/>
          <p:nvPr/>
        </p:nvSpPr>
        <p:spPr>
          <a:xfrm>
            <a:off x="7820261" y="6059007"/>
            <a:ext cx="22673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Isometric view 2D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C61AC0-53CC-0834-B692-337B1ED7A59F}"/>
              </a:ext>
            </a:extLst>
          </p:cNvPr>
          <p:cNvSpPr txBox="1"/>
          <p:nvPr/>
        </p:nvSpPr>
        <p:spPr>
          <a:xfrm>
            <a:off x="1440323" y="6059007"/>
            <a:ext cx="32259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2D drawing from own 3D part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EF88D0-02D6-244F-42C6-3BA4025FA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6" r="6425"/>
          <a:stretch>
            <a:fillRect/>
          </a:stretch>
        </p:blipFill>
        <p:spPr>
          <a:xfrm>
            <a:off x="1219200" y="2073945"/>
            <a:ext cx="3794449" cy="37427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7F1CB-0A47-859F-65C1-8C04336D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2" t="5404"/>
          <a:stretch>
            <a:fillRect/>
          </a:stretch>
        </p:blipFill>
        <p:spPr>
          <a:xfrm>
            <a:off x="5764718" y="2073945"/>
            <a:ext cx="6051918" cy="374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47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8EEC-B589-6321-A79E-CB8F8825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49EF7-09DF-03A6-8BF9-B41DB809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EDAACE-52AF-503D-7C3F-7ED30E0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528EF-3689-DAE2-7E4A-B1638DD3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B5BC06-0622-E7B0-071C-2158743C72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979C3CC-5284-0057-A097-F7E5E2E8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95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US" sz="4000" b="1" dirty="0">
                <a:cs typeface="Times New Roman" panose="02020603050405020304" pitchFamily="18" charset="0"/>
                <a:sym typeface="+mn-ea"/>
              </a:rPr>
              <a:t>Yaw</a:t>
            </a:r>
            <a:r>
              <a:rPr lang="en-IN" altLang="en-GB" sz="4000" b="1" dirty="0"/>
              <a:t> Brake CAD Model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9C1CF2-C17E-2FDB-5046-0E2A9B791436}"/>
              </a:ext>
            </a:extLst>
          </p:cNvPr>
          <p:cNvSpPr txBox="1"/>
          <p:nvPr/>
        </p:nvSpPr>
        <p:spPr>
          <a:xfrm>
            <a:off x="2701983" y="6051471"/>
            <a:ext cx="15138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Top view CAD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55741-129B-8DF6-64D2-A7A3C3F7BF67}"/>
              </a:ext>
            </a:extLst>
          </p:cNvPr>
          <p:cNvSpPr txBox="1"/>
          <p:nvPr/>
        </p:nvSpPr>
        <p:spPr>
          <a:xfrm>
            <a:off x="7762874" y="6042056"/>
            <a:ext cx="22061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GB" dirty="0"/>
              <a:t>Cross-section view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8BB6E7-B45A-9964-4BD5-634A375CF10E}"/>
              </a:ext>
            </a:extLst>
          </p:cNvPr>
          <p:cNvSpPr txBox="1"/>
          <p:nvPr/>
        </p:nvSpPr>
        <p:spPr>
          <a:xfrm>
            <a:off x="838200" y="1461433"/>
            <a:ext cx="6924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altLang="en-GB" sz="2000" dirty="0"/>
              <a:t>Holes are aligned with the Yaw Bearing.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alt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EEE20C-01AA-F728-4A77-9E0F30F9F4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89" t="3538" r="4273"/>
          <a:stretch>
            <a:fillRect/>
          </a:stretch>
        </p:blipFill>
        <p:spPr>
          <a:xfrm>
            <a:off x="1545771" y="2102691"/>
            <a:ext cx="3826306" cy="3778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C4789B-3F1E-5135-16C2-5C08DCE7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42" t="5264"/>
          <a:stretch>
            <a:fillRect/>
          </a:stretch>
        </p:blipFill>
        <p:spPr>
          <a:xfrm>
            <a:off x="7195002" y="1401984"/>
            <a:ext cx="3341849" cy="4649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CF837-D0A8-9473-D329-97844BA5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7C539C-E88F-524D-F12D-B9894520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762ECA-2223-DDFB-0160-FFEF721D7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FEAF8B-B5BF-11F6-E77B-A9C96920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01F77C54-941F-05B0-B686-B6E9A99C25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8EF60FA-DEFE-899A-8E9C-75BDAC7C8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6" y="318474"/>
            <a:ext cx="1170058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cs typeface="Times New Roman" panose="02020603050405020304" pitchFamily="18" charset="0"/>
                <a:sym typeface="+mn-ea"/>
              </a:rPr>
              <a:t>Motor brake Yaw Torque calculation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96787C-255E-97D1-91ED-97B63A445387}"/>
              </a:ext>
            </a:extLst>
          </p:cNvPr>
          <p:cNvSpPr txBox="1"/>
          <p:nvPr/>
        </p:nvSpPr>
        <p:spPr>
          <a:xfrm>
            <a:off x="838200" y="1555911"/>
            <a:ext cx="10862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Calculation motor brake yaw torque:</a:t>
            </a:r>
          </a:p>
          <a:p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C41AF9-71DF-C602-6E93-631ECC03A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130" y="2136888"/>
            <a:ext cx="5772956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742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89201-5AA6-A072-3A56-0E18C350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0294714-EA2A-E3E8-AE00-7924CED92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C59FD0-FECE-6B2D-F015-055F50AD2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879E2C-C811-A3B5-101A-807A23AC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AE999B7-DAFD-C424-06FD-D02E08585FC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040426-1FAE-DBFC-7085-B6524D67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06" y="318474"/>
            <a:ext cx="11700587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cs typeface="Times New Roman" panose="02020603050405020304" pitchFamily="18" charset="0"/>
                <a:sym typeface="+mn-ea"/>
              </a:rPr>
              <a:t>Number of brake </a:t>
            </a:r>
            <a:r>
              <a:rPr lang="en-IN" sz="4000" b="1" dirty="0" err="1">
                <a:cs typeface="Times New Roman" panose="02020603050405020304" pitchFamily="18" charset="0"/>
                <a:sym typeface="+mn-ea"/>
              </a:rPr>
              <a:t>Calipers</a:t>
            </a:r>
            <a:r>
              <a:rPr lang="en-IN" sz="4000" b="1" dirty="0">
                <a:cs typeface="Times New Roman" panose="02020603050405020304" pitchFamily="18" charset="0"/>
                <a:sym typeface="+mn-ea"/>
              </a:rPr>
              <a:t> calculation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975DBE-AF16-826D-C64B-E8F18AA46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914" y="1594643"/>
            <a:ext cx="5227774" cy="10183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BEC663-2F26-9589-1313-5829BBE3C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174" y="1389070"/>
            <a:ext cx="2448267" cy="18100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65BD98B-F999-ABC6-DBCC-7882AF835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174" y="3429000"/>
            <a:ext cx="1581371" cy="37152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AE02FA-E401-26DA-EBB9-61C909C5E8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2954"/>
          <a:stretch>
            <a:fillRect/>
          </a:stretch>
        </p:blipFill>
        <p:spPr>
          <a:xfrm>
            <a:off x="1202914" y="3199073"/>
            <a:ext cx="6567496" cy="277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7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8EEC-B589-6321-A79E-CB8F8825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C49EF7-09DF-03A6-8BF9-B41DB8090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EDAACE-52AF-503D-7C3F-7ED30E02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50898" y="6564112"/>
            <a:ext cx="3236167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8528EF-3689-DAE2-7E4A-B1638DD34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14B5BC06-0622-E7B0-071C-2158743C72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 err="1"/>
              <a:t>Shoukat</a:t>
            </a:r>
            <a:r>
              <a:rPr lang="en-GB" dirty="0"/>
              <a:t> Abbas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60AA31-782F-49C7-4800-0509FD0C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900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Brake Calipers selection</a:t>
            </a:r>
            <a:endParaRPr lang="en-US" sz="4000" b="1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F0C294-9C64-BB8C-8BE2-54541D18B4E5}"/>
              </a:ext>
            </a:extLst>
          </p:cNvPr>
          <p:cNvSpPr txBox="1"/>
          <p:nvPr/>
        </p:nvSpPr>
        <p:spPr>
          <a:xfrm>
            <a:off x="749584" y="1402084"/>
            <a:ext cx="111722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BSAB 120 brake from Svendborg Company.</a:t>
            </a:r>
            <a:br>
              <a:rPr lang="en-US" sz="2000" dirty="0"/>
            </a:br>
            <a:br>
              <a:rPr lang="en-US" sz="2000" dirty="0"/>
            </a:b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389459" y="6028636"/>
            <a:ext cx="361133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IN" sz="1400" b="1" i="1" dirty="0">
                <a:solidFill>
                  <a:prstClr val="black"/>
                </a:solidFill>
              </a:rPr>
              <a:t>Source: </a:t>
            </a:r>
            <a:r>
              <a:rPr lang="en-IN" sz="1400" i="1" dirty="0">
                <a:solidFill>
                  <a:prstClr val="black"/>
                </a:solidFill>
              </a:rPr>
              <a:t>Svendborg-brakes/hydraulic-brakes</a:t>
            </a:r>
          </a:p>
        </p:txBody>
      </p:sp>
      <p:pic>
        <p:nvPicPr>
          <p:cNvPr id="13" name="Picture 12" descr="An orange machine with holes&#10;&#10;AI-generated content may be incorrect.">
            <a:extLst>
              <a:ext uri="{FF2B5EF4-FFF2-40B4-BE49-F238E27FC236}">
                <a16:creationId xmlns:a16="http://schemas.microsoft.com/office/drawing/2014/main" id="{2C267A8F-790E-08F3-D28A-1EF1CF13F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81" t="19931" r="21441" b="10137"/>
          <a:stretch>
            <a:fillRect/>
          </a:stretch>
        </p:blipFill>
        <p:spPr>
          <a:xfrm>
            <a:off x="7794618" y="2170405"/>
            <a:ext cx="3299480" cy="241585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36EF734-42E9-5DBE-4BB8-4FE9F9542D11}"/>
              </a:ext>
            </a:extLst>
          </p:cNvPr>
          <p:cNvSpPr txBox="1"/>
          <p:nvPr/>
        </p:nvSpPr>
        <p:spPr>
          <a:xfrm>
            <a:off x="8628724" y="4956902"/>
            <a:ext cx="22766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400" i="1" dirty="0">
                <a:solidFill>
                  <a:prstClr val="black"/>
                </a:solidFill>
              </a:rPr>
              <a:t>Svendborg BSAB120</a:t>
            </a:r>
            <a:endParaRPr lang="en-IN" sz="1400" i="1" dirty="0">
              <a:solidFill>
                <a:prstClr val="black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37C7BA2-32D7-400E-D1B1-1BDADCD4D937}"/>
              </a:ext>
            </a:extLst>
          </p:cNvPr>
          <p:cNvSpPr txBox="1"/>
          <p:nvPr/>
        </p:nvSpPr>
        <p:spPr>
          <a:xfrm>
            <a:off x="10905393" y="5997859"/>
            <a:ext cx="896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hlinkClick r:id="rId3" action="ppaction://hlinksldjump"/>
              </a:rPr>
              <a:t>[1]</a:t>
            </a:r>
            <a:r>
              <a:rPr lang="en-IN" sz="1800" dirty="0"/>
              <a:t>, </a:t>
            </a:r>
            <a:r>
              <a:rPr lang="en-IN" sz="1800" dirty="0">
                <a:hlinkClick r:id="rId3" action="ppaction://hlinksldjump"/>
              </a:rPr>
              <a:t>[2] 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CDE2A6-01F8-F9DF-73A0-D22CB7B153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5020"/>
          <a:stretch>
            <a:fillRect/>
          </a:stretch>
        </p:blipFill>
        <p:spPr>
          <a:xfrm>
            <a:off x="399350" y="2704204"/>
            <a:ext cx="6567496" cy="144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21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674E5-EA3C-DF73-0F68-250666FD8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EF45EB5-2CE9-428B-8728-9BDFF32BD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25/11/2025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33F572-5B6D-309F-27BD-C7105859F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74613" y="6564113"/>
            <a:ext cx="3225975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Bed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1AB53-3CE5-5714-38EA-C13DEC96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10</a:t>
            </a:fld>
            <a:endParaRPr lang="de-DE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BFDD505-E63B-3CE9-E5F5-A2E0C5DDB2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</a:p>
        </p:txBody>
      </p:sp>
      <p:sp>
        <p:nvSpPr>
          <p:cNvPr id="1048661" name="Title 1">
            <a:extLst>
              <a:ext uri="{FF2B5EF4-FFF2-40B4-BE49-F238E27FC236}">
                <a16:creationId xmlns:a16="http://schemas.microsoft.com/office/drawing/2014/main" id="{5A22A91E-DECF-F37B-11BF-28FD0B77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069" y="355794"/>
            <a:ext cx="11905861" cy="1325563"/>
          </a:xfrm>
        </p:spPr>
        <p:txBody>
          <a:bodyPr>
            <a:normAutofit/>
          </a:bodyPr>
          <a:lstStyle/>
          <a:p>
            <a:pPr algn="ctr"/>
            <a:r>
              <a:rPr lang="en-IN" altLang="en-GB" sz="3600" b="1" dirty="0">
                <a:sym typeface="+mn-ea"/>
              </a:rPr>
              <a:t>Yaw Brake Disk and Brake </a:t>
            </a:r>
            <a:r>
              <a:rPr lang="en-IN" altLang="en-GB" sz="3600" b="1" dirty="0" err="1">
                <a:sym typeface="+mn-ea"/>
              </a:rPr>
              <a:t>Calipers</a:t>
            </a:r>
            <a:endParaRPr lang="en-US" sz="3600" dirty="0">
              <a:cs typeface="Times New Roman" panose="02020603050405020304" pitchFamily="18" charset="0"/>
            </a:endParaRP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3985356-D77C-3AB9-6293-61F08F51DAD1}"/>
              </a:ext>
            </a:extLst>
          </p:cNvPr>
          <p:cNvSpPr txBox="1">
            <a:spLocks/>
          </p:cNvSpPr>
          <p:nvPr/>
        </p:nvSpPr>
        <p:spPr>
          <a:xfrm>
            <a:off x="645215" y="1261607"/>
            <a:ext cx="11712495" cy="71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200" b="1" dirty="0">
                <a:cs typeface="Times New Roman" panose="02020603050405020304" pitchFamily="18" charset="0"/>
              </a:rPr>
              <a:t>Yaw brake Svendborg BSAB 120 - Specification</a:t>
            </a:r>
            <a:endParaRPr lang="de-DE" sz="2200" b="1" dirty="0"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2016DD2-E470-9386-4431-22EB80F2D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4335"/>
            <a:ext cx="4511315" cy="3848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/>
              <a:t>Brake Pad: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Pad width:</a:t>
            </a:r>
            <a:r>
              <a:rPr lang="en-US" sz="2000" dirty="0"/>
              <a:t> 138 mm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Pad area (organic):</a:t>
            </a:r>
            <a:r>
              <a:rPr lang="en-US" sz="2000" dirty="0"/>
              <a:t> 50,000 mm²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Maximum pad wear (organic):</a:t>
            </a:r>
            <a:r>
              <a:rPr lang="en-US" sz="2000" dirty="0"/>
              <a:t> 7 mm (pad thickness = 14 mm)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Nominal friction coefficient:</a:t>
            </a:r>
            <a:r>
              <a:rPr lang="en-US" sz="2000" dirty="0"/>
              <a:t> µ = 0.4</a:t>
            </a:r>
          </a:p>
          <a:p>
            <a:endParaRPr lang="en-IN" sz="2400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9634E8E-0105-A763-A5F5-500C0FE00433}"/>
              </a:ext>
            </a:extLst>
          </p:cNvPr>
          <p:cNvSpPr txBox="1">
            <a:spLocks/>
          </p:cNvSpPr>
          <p:nvPr/>
        </p:nvSpPr>
        <p:spPr>
          <a:xfrm>
            <a:off x="6196532" y="1917922"/>
            <a:ext cx="6443517" cy="4582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IN" sz="2000" b="1" dirty="0"/>
              <a:t>Hydraulic Characteristics:</a:t>
            </a:r>
          </a:p>
          <a:p>
            <a:r>
              <a:rPr lang="en-IN" sz="2000" dirty="0"/>
              <a:t>Total piston area (each </a:t>
            </a:r>
            <a:r>
              <a:rPr lang="en-IN" sz="2000" dirty="0" err="1"/>
              <a:t>caliper</a:t>
            </a:r>
            <a:r>
              <a:rPr lang="en-IN" sz="2000" dirty="0"/>
              <a:t>): 678.6 cm²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000" b="1" dirty="0"/>
              <a:t>Hydraulic Volume:</a:t>
            </a:r>
          </a:p>
          <a:p>
            <a:r>
              <a:rPr lang="en-IN" sz="2000" dirty="0"/>
              <a:t>Volume per </a:t>
            </a:r>
            <a:r>
              <a:rPr lang="en-IN" sz="2000" dirty="0" err="1"/>
              <a:t>caliper</a:t>
            </a:r>
            <a:r>
              <a:rPr lang="en-IN" sz="2000" dirty="0"/>
              <a:t> at 1 mm stroke: 67.8 cm³</a:t>
            </a:r>
          </a:p>
          <a:p>
            <a:r>
              <a:rPr lang="en-IN" sz="2000" dirty="0"/>
              <a:t>Volume per </a:t>
            </a:r>
            <a:r>
              <a:rPr lang="en-IN" sz="2000" dirty="0" err="1"/>
              <a:t>caliper</a:t>
            </a:r>
            <a:r>
              <a:rPr lang="en-IN" sz="2000" dirty="0"/>
              <a:t> at 3 mm stroke: 203.5 cm³</a:t>
            </a:r>
          </a:p>
          <a:p>
            <a:pPr>
              <a:buFont typeface="Arial" panose="020B0604020202020204" pitchFamily="34" charset="0"/>
              <a:buNone/>
            </a:pPr>
            <a:r>
              <a:rPr lang="en-IN" sz="2000" b="1" dirty="0"/>
              <a:t>Operating Pressure:</a:t>
            </a:r>
          </a:p>
          <a:p>
            <a:r>
              <a:rPr lang="en-IN" sz="2000" dirty="0"/>
              <a:t>Maximum operating pressure: 16 MPa</a:t>
            </a:r>
          </a:p>
          <a:p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1B6A95-5E92-76CF-E69A-A8B46D40EAC0}"/>
              </a:ext>
            </a:extLst>
          </p:cNvPr>
          <p:cNvSpPr txBox="1"/>
          <p:nvPr/>
        </p:nvSpPr>
        <p:spPr>
          <a:xfrm>
            <a:off x="838200" y="5103950"/>
            <a:ext cx="94314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Operating Conditions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General temperature range:</a:t>
            </a:r>
            <a:r>
              <a:rPr lang="en-IN" sz="2000" dirty="0"/>
              <a:t> –20°C to +70°C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/>
              <a:t>Wind turbine temperature range:</a:t>
            </a:r>
            <a:r>
              <a:rPr lang="en-IN" sz="2000" dirty="0"/>
              <a:t> –40°C to +60°C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7A7E4-0CB1-78DF-DDFA-BE81EB8AF392}"/>
              </a:ext>
            </a:extLst>
          </p:cNvPr>
          <p:cNvSpPr txBox="1"/>
          <p:nvPr/>
        </p:nvSpPr>
        <p:spPr>
          <a:xfrm>
            <a:off x="10905393" y="5997859"/>
            <a:ext cx="8968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hlinkClick r:id="rId2" action="ppaction://hlinksldjump"/>
              </a:rPr>
              <a:t>[1]</a:t>
            </a:r>
            <a:r>
              <a:rPr lang="en-IN" sz="1800" dirty="0"/>
              <a:t>, </a:t>
            </a:r>
            <a:r>
              <a:rPr lang="en-IN" sz="1800" dirty="0">
                <a:hlinkClick r:id="rId2" action="ppaction://hlinksldjump"/>
              </a:rPr>
              <a:t>[2]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64F9B-64FD-635C-167D-0A4E7458B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5142"/>
            <a:ext cx="10515600" cy="1411691"/>
          </a:xfrm>
        </p:spPr>
        <p:txBody>
          <a:bodyPr/>
          <a:lstStyle/>
          <a:p>
            <a:pPr algn="ctr"/>
            <a:r>
              <a:rPr lang="en-GB" sz="4000" b="1" dirty="0"/>
              <a:t>References</a:t>
            </a:r>
            <a:endParaRPr lang="en-US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A27E4-B7DD-366F-F987-EAA488EBA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21/11/2025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1A0C-66A2-77CC-512C-55132CFB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66923" y="6564113"/>
            <a:ext cx="3086878" cy="365125"/>
          </a:xfrm>
        </p:spPr>
        <p:txBody>
          <a:bodyPr/>
          <a:lstStyle/>
          <a:p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System/ Optimus </a:t>
            </a:r>
            <a:r>
              <a:rPr lang="de-DE" dirty="0" err="1"/>
              <a:t>Syria</a:t>
            </a:r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7373-F230-9463-BAF9-AEF65B66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DB9DAF-A4DA-2232-E3D4-B39E2FA08E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Shoukat Abbas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A6DE7AD-D466-D851-C0C1-D75B868E8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498" y="1594192"/>
            <a:ext cx="10775302" cy="4582771"/>
          </a:xfrm>
        </p:spPr>
        <p:txBody>
          <a:bodyPr>
            <a:normAutofit/>
          </a:bodyPr>
          <a:lstStyle/>
          <a:p>
            <a:pPr lvl="2"/>
            <a:r>
              <a:rPr lang="en-IN" sz="1800" dirty="0">
                <a:hlinkClick r:id="rId2"/>
              </a:rPr>
              <a:t>[1].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https://www.svendborg-brakes.com/products/hydraulic-brakes/active-brakes/bsac-120/</a:t>
            </a:r>
            <a:r>
              <a:rPr lang="en-IN" sz="1800" dirty="0"/>
              <a:t> (accessed: 13.11.2025) </a:t>
            </a:r>
          </a:p>
          <a:p>
            <a:pPr lvl="2"/>
            <a:endParaRPr lang="en-IN" sz="1800" dirty="0"/>
          </a:p>
          <a:p>
            <a:pPr lvl="2"/>
            <a:r>
              <a:rPr lang="en-IN" sz="1800" dirty="0">
                <a:hlinkClick r:id="rId3" action="ppaction://hlinkfile"/>
              </a:rPr>
              <a:t>[2]. </a:t>
            </a:r>
            <a:r>
              <a:rPr lang="en-IN" sz="1800" dirty="0"/>
              <a:t>Hydraulic brakes </a:t>
            </a:r>
            <a:r>
              <a:rPr lang="en-IN" sz="1800" dirty="0" err="1"/>
              <a:t>Svensborg</a:t>
            </a:r>
            <a:r>
              <a:rPr lang="en-IN" sz="1800" dirty="0"/>
              <a:t> brakes, </a:t>
            </a:r>
            <a:r>
              <a:rPr lang="en-IN" sz="1800" dirty="0">
                <a:hlinkClick r:id="rId2"/>
              </a:rPr>
              <a:t>Svendborg-brakes </a:t>
            </a:r>
            <a:r>
              <a:rPr lang="en-IN" sz="1800" dirty="0"/>
              <a:t>/product-catalogue/ (accessed: 13.11.2025) </a:t>
            </a:r>
          </a:p>
        </p:txBody>
      </p:sp>
    </p:spTree>
    <p:extLst>
      <p:ext uri="{BB962C8B-B14F-4D97-AF65-F5344CB8AC3E}">
        <p14:creationId xmlns:p14="http://schemas.microsoft.com/office/powerpoint/2010/main" val="2332874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5040</TotalTime>
  <Words>465</Words>
  <Application>Microsoft Office PowerPoint</Application>
  <PresentationFormat>Widescreen</PresentationFormat>
  <Paragraphs>109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Weekly report: Machine Bed &amp; Yaw System</vt:lpstr>
      <vt:lpstr>Contents</vt:lpstr>
      <vt:lpstr>Yaw Bearing 2D Drawing</vt:lpstr>
      <vt:lpstr>Yaw Bearing 3D Model</vt:lpstr>
      <vt:lpstr>Yaw Brake Finalization </vt:lpstr>
      <vt:lpstr>Yaw Brake CAD Model</vt:lpstr>
      <vt:lpstr>Motor brake Yaw Torque calculation</vt:lpstr>
      <vt:lpstr>Number of brake Calipers calculation</vt:lpstr>
      <vt:lpstr>Brake Calipers selection</vt:lpstr>
      <vt:lpstr>Yaw Brake Disk and Brake Calipers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Machine Bed &amp; Yaw System</dc:title>
  <dc:creator>Shrihari Kadam</dc:creator>
  <cp:lastModifiedBy>Shoukat Abbas</cp:lastModifiedBy>
  <cp:revision>80</cp:revision>
  <dcterms:created xsi:type="dcterms:W3CDTF">2025-10-26T22:40:44Z</dcterms:created>
  <dcterms:modified xsi:type="dcterms:W3CDTF">2025-11-24T09:05:25Z</dcterms:modified>
</cp:coreProperties>
</file>