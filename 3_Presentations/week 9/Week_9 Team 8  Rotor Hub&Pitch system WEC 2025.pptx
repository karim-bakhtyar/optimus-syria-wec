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3"/>
  </p:notesMasterIdLst>
  <p:handoutMasterIdLst>
    <p:handoutMasterId r:id="rId14"/>
  </p:handoutMasterIdLst>
  <p:sldIdLst>
    <p:sldId id="270" r:id="rId4"/>
    <p:sldId id="293" r:id="rId5"/>
    <p:sldId id="303" r:id="rId6"/>
    <p:sldId id="304" r:id="rId7"/>
    <p:sldId id="301" r:id="rId8"/>
    <p:sldId id="289" r:id="rId9"/>
    <p:sldId id="296" r:id="rId10"/>
    <p:sldId id="302" r:id="rId11"/>
    <p:sldId id="2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>
            <p14:sldId id="293"/>
            <p14:sldId id="303"/>
            <p14:sldId id="304"/>
            <p14:sldId id="301"/>
            <p14:sldId id="289"/>
            <p14:sldId id="296"/>
            <p14:sldId id="302"/>
            <p14:sldId id="292"/>
          </p14:sldIdLst>
        </p14:section>
        <p14:section name="Title, main slides" id="{B26F6679-C236-4D3D-BC2F-CAE5ED400718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7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166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pPr/>
              <a:t>24.11.2025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pPr/>
              <a:t>24/11/2025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E12A6E-8E07-41BF-A0A3-3F2BF48E7745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4A9BD06-27CB-406D-B020-DF52AE6E8585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B449-9A05-47ED-ABE6-D776F3C0C66D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15639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Adharsh Pappinisseri Veedu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B738-FB44-4953-BA7A-AFB852E86761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CCB00D-A44C-4CB6-B3D0-AE385FA4671E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B5D5-1297-49B2-8C0F-0697C6E49B25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6DF2A-5C0F-49C5-AD28-E5CBDA5627A7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B99B-0F4F-4F9B-9A32-2ECA2F4528C6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99C6-FE58-4669-A9B0-CE74E3310E0A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D682-ADD0-49A9-827B-2250910F4FA1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E070-7D05-4698-8498-70EBE2094E29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FCBF9-A550-47B6-A52F-D83BBC1C17F4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07CF-9F2F-490E-9D6A-2EFEDEB698E8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F6FD4-A37E-4BAB-8A99-FA8610E32781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42E69-D35C-464A-8913-B8D53BF53101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5F6B8-BDE3-48FE-8FAC-6B971E4AD3C9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448-1114-4B41-9575-69915FFF7D3A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466E-C482-4DFC-904C-F03FDB47E2F3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24-Nov-25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24-Nov-25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24-Nov-25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24-Nov-25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24-Nov-25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24-Nov-25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6580-01E6-4EFE-836F-AA1E171E6E67}" type="datetimeFigureOut">
              <a:rPr lang="en-US" smtClean="0"/>
              <a:pPr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8096F9B-BE65-486B-B8E8-12EF8E58B3B4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EEEA123-68DA-495E-993C-6E3C45537E60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Rotor Hub and Pitch System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90C3CAC-04C1-4CA4-98F0-49CD057AD2FD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96580-01E6-4EFE-836F-AA1E171E6E67}" type="datetimeFigureOut">
              <a:rPr lang="en-US" smtClean="0"/>
              <a:pPr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7B9B0-7DA0-449E-A7EC-01D9B7BD21C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Rotor Hub and Pitch System / 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EA0CBDBF-D81E-48AE-86BB-BD540A8A418D}" type="datetime1">
              <a:rPr lang="en-GB" smtClean="0"/>
              <a:pPr/>
              <a:t>24/11/2025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kf.com/group/industries/wind-energy/operation-and-maintenance/windlub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47C1733-F87C-4CC9-88C2-2A7482A75C5A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968343" y="6564113"/>
            <a:ext cx="3385457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7ED1BF-5D66-636D-5730-97FE37F448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894" y="2726598"/>
            <a:ext cx="9144000" cy="912598"/>
          </a:xfrm>
        </p:spPr>
        <p:txBody>
          <a:bodyPr>
            <a:noAutofit/>
          </a:bodyPr>
          <a:lstStyle/>
          <a:p>
            <a:r>
              <a:rPr lang="it-IT" sz="4000" dirty="0">
                <a:latin typeface="Times New Roman" pitchFamily="18" charset="0"/>
                <a:cs typeface="Times New Roman" pitchFamily="18" charset="0"/>
              </a:rPr>
              <a:t>Rotor Hub And Pitch System</a:t>
            </a:r>
            <a:endParaRPr lang="en-GB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963" y="4121834"/>
            <a:ext cx="31300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Group Members 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Dhruvin Kakdiya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Adharsh Pappinisseri Veedu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Muthu Thirunavukarasu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Syed Mohammed Sikandar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8430" y="4188655"/>
            <a:ext cx="5899051" cy="1655762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Week number : 09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Date: 25/11/2025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Supervisor: Prof. Peter Quell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A7EDC-A975-7C2B-300C-E11628DC0329}"/>
              </a:ext>
            </a:extLst>
          </p:cNvPr>
          <p:cNvSpPr txBox="1"/>
          <p:nvPr/>
        </p:nvSpPr>
        <p:spPr>
          <a:xfrm>
            <a:off x="2710653" y="6599468"/>
            <a:ext cx="6147302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Syed Mohammed Sikandar</a:t>
            </a:r>
          </a:p>
        </p:txBody>
      </p:sp>
    </p:spTree>
    <p:extLst>
      <p:ext uri="{BB962C8B-B14F-4D97-AF65-F5344CB8AC3E}">
        <p14:creationId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87B13-A6D7-9DCF-6F19-72AA1A7E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C9E5E-ABF4-C5C2-529B-06056515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Updated CAD Model of Blade Bearing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Brake Torque Assumption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3.    Reworked Grease Calculation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D99CA-F10F-89C1-2143-91D07A81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>
                <a:latin typeface="Arial" panose="020B0604020202020204" pitchFamily="34" charset="0"/>
                <a:cs typeface="Arial" panose="020B0604020202020204" pitchFamily="34" charset="0"/>
              </a:rPr>
              <a:t>List of 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198DB7-BA0B-B4BB-CC48-BDD78CD6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C6257-D954-4541-A20C-37FB7797A083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23E133-B311-53BB-EDA8-08E809A1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CB5DBB-6949-8A9B-B6B9-9C71B20C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Syed Mohammed Sikandar</a:t>
            </a:r>
          </a:p>
        </p:txBody>
      </p:sp>
    </p:spTree>
    <p:extLst>
      <p:ext uri="{BB962C8B-B14F-4D97-AF65-F5344CB8AC3E}">
        <p14:creationId xmlns:p14="http://schemas.microsoft.com/office/powerpoint/2010/main" val="1328401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E737497-00D7-3A39-7719-D0F65E96A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11" y="1395969"/>
            <a:ext cx="6030679" cy="389438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43EAFC4-C0DC-9B0C-F7D0-B618113B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Updated CAD Model of Blade Bearing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5DA0E-EE6B-7267-927F-2C54399B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B449-9A05-47ED-ABE6-D776F3C0C66D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D691B-F9F7-1B04-A3DB-25AF357C2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Rotor Hub and Pitch System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8EF9F-A4B1-0F6E-C5BC-58C66B8B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FA55EC9-9737-8795-4DCA-2CAA22632F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Syed Mohammed Sikandar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7D4F87-4F21-F59C-D0FB-3D5BD5A3E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890" y="1395969"/>
            <a:ext cx="5437762" cy="48040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221703-114A-4BC1-AD12-45A38D96B057}"/>
              </a:ext>
            </a:extLst>
          </p:cNvPr>
          <p:cNvSpPr txBox="1"/>
          <p:nvPr/>
        </p:nvSpPr>
        <p:spPr>
          <a:xfrm>
            <a:off x="3041964" y="5788732"/>
            <a:ext cx="75620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Fig. 1 : Outer ring rotating triple row roller bearing (Assembly) with change in gear teeth dimensions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EFDF83-E108-1751-E6D7-78F63DDF79E1}"/>
              </a:ext>
            </a:extLst>
          </p:cNvPr>
          <p:cNvSpPr txBox="1"/>
          <p:nvPr/>
        </p:nvSpPr>
        <p:spPr>
          <a:xfrm>
            <a:off x="2112532" y="5371889"/>
            <a:ext cx="34435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Orthographic view</a:t>
            </a:r>
            <a:endParaRPr lang="en-I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2511EF-D27F-D212-8E4F-3C4FF320A095}"/>
              </a:ext>
            </a:extLst>
          </p:cNvPr>
          <p:cNvSpPr txBox="1"/>
          <p:nvPr/>
        </p:nvSpPr>
        <p:spPr>
          <a:xfrm>
            <a:off x="6467171" y="5371888"/>
            <a:ext cx="61382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Sectional view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43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B6DC037-98E5-695F-EB2A-0306408833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423123"/>
              </p:ext>
            </p:extLst>
          </p:nvPr>
        </p:nvGraphicFramePr>
        <p:xfrm>
          <a:off x="2141901" y="2271855"/>
          <a:ext cx="6974940" cy="2485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980">
                  <a:extLst>
                    <a:ext uri="{9D8B030D-6E8A-4147-A177-3AD203B41FA5}">
                      <a16:colId xmlns:a16="http://schemas.microsoft.com/office/drawing/2014/main" val="1640870022"/>
                    </a:ext>
                  </a:extLst>
                </a:gridCol>
                <a:gridCol w="2324980">
                  <a:extLst>
                    <a:ext uri="{9D8B030D-6E8A-4147-A177-3AD203B41FA5}">
                      <a16:colId xmlns:a16="http://schemas.microsoft.com/office/drawing/2014/main" val="1203818701"/>
                    </a:ext>
                  </a:extLst>
                </a:gridCol>
                <a:gridCol w="2324980">
                  <a:extLst>
                    <a:ext uri="{9D8B030D-6E8A-4147-A177-3AD203B41FA5}">
                      <a16:colId xmlns:a16="http://schemas.microsoft.com/office/drawing/2014/main" val="63631342"/>
                    </a:ext>
                  </a:extLst>
                </a:gridCol>
              </a:tblGrid>
              <a:tr h="565049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Component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 Material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Property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659593"/>
                  </a:ext>
                </a:extLst>
              </a:tr>
              <a:tr h="565049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Bearing rings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42CrMo4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Strength + fatigue resistance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736795"/>
                  </a:ext>
                </a:extLst>
              </a:tr>
              <a:tr h="565049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Rollers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100Cr6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 high hardness &amp; fatigue life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870869"/>
                  </a:ext>
                </a:extLst>
              </a:tr>
              <a:tr h="565049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Brass or low-carbon steel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Strength &amp; stability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81164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D88967D-49B9-D17D-AA7A-D66207EE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Specification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8E5BD-97D1-106C-973E-E4B1AABF0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B449-9A05-47ED-ABE6-D776F3C0C66D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3F955-2C6B-4835-AE05-8C3DD6B2B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Rotor Hub and Pitch System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C05C3-4390-078D-F5DC-BCE88F258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5FD8B34-62D3-C6AD-F236-5B13C0CA99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Syed Mohammed Sikandar</a:t>
            </a:r>
          </a:p>
        </p:txBody>
      </p:sp>
    </p:spTree>
    <p:extLst>
      <p:ext uri="{BB962C8B-B14F-4D97-AF65-F5344CB8AC3E}">
        <p14:creationId xmlns:p14="http://schemas.microsoft.com/office/powerpoint/2010/main" val="1750831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810E6-4649-6638-4431-2B90E09D2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1DF148A6-6E5E-3CB4-A4FE-BC41E2074B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>
                <a:lvl1pPr marL="514350" indent="-514350">
                  <a:buFont typeface="+mj-lt"/>
                  <a:buAutoNum type="arabicPeriod"/>
                  <a:defRPr sz="2200"/>
                </a:lvl1pPr>
                <a:lvl2pPr marL="971550" indent="-514350">
                  <a:buFont typeface="+mj-lt"/>
                  <a:buAutoNum type="romanLcPeriod"/>
                  <a:defRPr sz="2000"/>
                </a:lvl2pPr>
              </a:lstStyle>
              <a:p>
                <a:pPr lvl="1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1"/>
                            <m:t>brake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𝑀𝑧𝐵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/>
                            <m:t>ibearing</m:t>
                          </m:r>
                          <m:r>
                            <m:rPr>
                              <m:nor/>
                            </m:rPr>
                            <a:rPr lang="en-IN"/>
                            <m:t>​</m:t>
                          </m:r>
                          <m:r>
                            <m:rPr>
                              <m:nor/>
                            </m:rPr>
                            <a:rPr lang="en-IN"/>
                            <m:t>⋅</m:t>
                          </m:r>
                          <m:r>
                            <m:rPr>
                              <m:nor/>
                            </m:rPr>
                            <a:rPr lang="en-IN"/>
                            <m:t>igear</m:t>
                          </m:r>
                          <m:r>
                            <m:rPr>
                              <m:nor/>
                            </m:rPr>
                            <a:rPr lang="en-IN"/>
                            <m:t>​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l-GR"/>
                        <m:t>η</m:t>
                      </m:r>
                      <m:r>
                        <m:rPr>
                          <m:nor/>
                        </m:rPr>
                        <a:rPr lang="en-IN"/>
                        <m:t>bearing</m:t>
                      </m:r>
                      <m:r>
                        <m:rPr>
                          <m:nor/>
                        </m:rPr>
                        <a:rPr lang="en-IN"/>
                        <m:t>​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l-GR"/>
                        <m:t>η</m:t>
                      </m:r>
                      <m:r>
                        <m:rPr>
                          <m:nor/>
                        </m:rPr>
                        <a:rPr lang="en-IN"/>
                        <m:t>gear</m:t>
                      </m:r>
                      <m:r>
                        <m:rPr>
                          <m:nor/>
                        </m:rPr>
                        <a:rPr lang="en-IN"/>
                        <m:t>​</m:t>
                      </m:r>
                    </m:oMath>
                  </m:oMathPara>
                </a14:m>
                <a:endParaRPr lang="en-IN"/>
              </a:p>
              <a:p>
                <a:pPr marL="0" indent="0">
                  <a:buNone/>
                </a:pPr>
                <a:endParaRPr lang="en-IN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1"/>
                            <m:t>brake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370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13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81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217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95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93</m:t>
                      </m:r>
                    </m:oMath>
                  </m:oMathPara>
                </a14:m>
                <a:endParaRPr lang="en-IN"/>
              </a:p>
              <a:p>
                <a:pPr marL="0" indent="0">
                  <a:buNone/>
                </a:pPr>
                <a:endParaRPr lang="ar-AE" b="1"/>
              </a:p>
              <a:p>
                <a:pPr lvl="1">
                  <a:lnSpc>
                    <a:spcPct val="150000"/>
                  </a:lnSpc>
                  <a:buFont typeface="+mj-lt"/>
                  <a:buAutoNum type="arabicPeriod"/>
                </a:pPr>
                <a:endParaRPr lang="de-DE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1DF148A6-6E5E-3CB4-A4FE-BC41E2074B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Datumsplatzhalter 22">
            <a:extLst>
              <a:ext uri="{FF2B5EF4-FFF2-40B4-BE49-F238E27FC236}">
                <a16:creationId xmlns:a16="http://schemas.microsoft.com/office/drawing/2014/main" id="{00191D51-A7AF-B8DA-57F8-60395EA02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69754-B76E-4698-9FD4-22B63EC7C81C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6B633B7D-15A8-61D4-D8DA-EEB5D759D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8343" y="6564113"/>
            <a:ext cx="3385457" cy="365125"/>
          </a:xfrm>
        </p:spPr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9308F642-6802-318A-ED67-0C8899DD6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167856-7445-2191-D69B-AD602DE6DD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Syed Mohammed Sikandar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BFE298F-79EC-8263-6500-36ECEB913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Maximum Brake Torque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5ECF1CBF-1398-3CA2-35DA-80ED55A84548}"/>
                  </a:ext>
                </a:extLst>
              </p:cNvPr>
              <p:cNvSpPr/>
              <p:nvPr/>
            </p:nvSpPr>
            <p:spPr>
              <a:xfrm>
                <a:off x="4402666" y="4300694"/>
                <a:ext cx="2870200" cy="787400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1"/>
                            <m:t>brake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108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m:rPr>
                          <m:nor/>
                        </m:rPr>
                        <a:rPr lang="ar-AE" i="1"/>
                        <m:t>  </m:t>
                      </m:r>
                      <m:r>
                        <m:rPr>
                          <m:sty m:val="p"/>
                        </m:rPr>
                        <a:rPr lang="ar-AE" i="1">
                          <a:latin typeface="Cambria Math" panose="02040503050406030204" pitchFamily="18" charset="0"/>
                        </a:rPr>
                        <m:t>Nm</m:t>
                      </m:r>
                    </m:oMath>
                  </m:oMathPara>
                </a14:m>
                <a:endParaRPr lang="en-IN"/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5ECF1CBF-1398-3CA2-35DA-80ED55A845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6" y="4300694"/>
                <a:ext cx="2870200" cy="787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904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6A8429-C707-3A39-DEF5-F75DA846D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 algn="just">
              <a:buNone/>
            </a:pPr>
            <a:r>
              <a:rPr lang="en-IN" sz="1600" dirty="0"/>
              <a:t>Earlier we found the Grease volume using the above formula as </a:t>
            </a:r>
            <a:r>
              <a:rPr lang="en-IN" sz="2000" dirty="0"/>
              <a:t>V</a:t>
            </a:r>
            <a:r>
              <a:rPr lang="en-IN" sz="1600" dirty="0"/>
              <a:t>​Grease = 55.62−24.59=31.03 L.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But,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bearing cage occupy physical volume inside the raceway. In our earlier calculation we subtracted roller volume from the annular volume, but we did not subtract cage/pocket volume.</a:t>
            </a:r>
          </a:p>
          <a:p>
            <a:pPr marL="0" indent="0" algn="just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So, that missing cage volume reduces the free annular volume available for grease → less grease required than we calculated.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3FB4E3-420B-1689-07EE-9D9859AA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>
                <a:latin typeface="Arial" panose="020B0604020202020204" pitchFamily="34" charset="0"/>
                <a:cs typeface="Arial" panose="020B0604020202020204" pitchFamily="34" charset="0"/>
              </a:rPr>
              <a:t>Grease Volume Calculation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5C320-D671-A643-6BAD-1FD75DAD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B449-9A05-47ED-ABE6-D776F3C0C66D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0870F-BF4D-0F2A-92B2-E624D863D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Rotor Hub and Pitch System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B8EE3-3FDD-A58E-1DB9-40735C5F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F44C4C-6658-3E7B-B635-8129135828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Syed Mohammed Sikandar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7FA1CC-EC33-2C32-C209-059D1E04F792}"/>
              </a:ext>
            </a:extLst>
          </p:cNvPr>
          <p:cNvSpPr/>
          <p:nvPr/>
        </p:nvSpPr>
        <p:spPr>
          <a:xfrm>
            <a:off x="1786466" y="1511013"/>
            <a:ext cx="8847668" cy="626534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Amount of Grease Required = Volume of 3 Raceway − (Volume of Roller × Number of Rollers)</a:t>
            </a:r>
            <a:endParaRPr lang="en-IN" sz="1600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883FDD84-6B50-3150-B014-F63331991013}"/>
              </a:ext>
            </a:extLst>
          </p:cNvPr>
          <p:cNvSpPr/>
          <p:nvPr/>
        </p:nvSpPr>
        <p:spPr>
          <a:xfrm>
            <a:off x="5676569" y="2328333"/>
            <a:ext cx="609600" cy="7366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838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87B13-A6D7-9DCF-6F19-72AA1A7E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841122F-5AA1-AA96-DFBA-0D9B45F3F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>
                <a:latin typeface="Arial" panose="020B0604020202020204" pitchFamily="34" charset="0"/>
                <a:cs typeface="Arial" panose="020B0604020202020204" pitchFamily="34" charset="0"/>
              </a:rPr>
              <a:t>We assumed a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cage-occupancy factor of 15%</a:t>
            </a:r>
          </a:p>
          <a:p>
            <a:pPr marL="0" indent="0">
              <a:buNone/>
            </a:pPr>
            <a:r>
              <a:rPr lang="en-IN" sz="1800" b="1"/>
              <a:t>Subtract cage pockets (15%)</a:t>
            </a:r>
          </a:p>
          <a:p>
            <a:pPr marL="0" indent="0">
              <a:buNone/>
            </a:pPr>
            <a:endParaRPr lang="en-IN" sz="1800" b="1"/>
          </a:p>
          <a:p>
            <a:pPr marL="0" indent="0">
              <a:buNone/>
            </a:pPr>
            <a:endParaRPr lang="en-IN" sz="1800" b="1"/>
          </a:p>
          <a:p>
            <a:pPr marL="0" indent="0">
              <a:buNone/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Filled grease mass at 80% fill</a:t>
            </a:r>
          </a:p>
          <a:p>
            <a:pPr marL="0" indent="0">
              <a:buNone/>
            </a:pPr>
            <a:endParaRPr 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/>
              <a:t>Annual relub (50% of filled mass)</a:t>
            </a:r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endParaRPr lang="en-IN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700" b="1">
                <a:latin typeface="Arial" panose="020B0604020202020204" pitchFamily="34" charset="0"/>
                <a:cs typeface="Arial" panose="020B0604020202020204" pitchFamily="34" charset="0"/>
              </a:rPr>
              <a:t>Pitch bearing gear: Requires 5.00 kg/year </a:t>
            </a:r>
          </a:p>
          <a:p>
            <a:pPr marL="0" indent="0">
              <a:buNone/>
            </a:pPr>
            <a:r>
              <a:rPr lang="en-IN" sz="1700" b="1">
                <a:latin typeface="Arial" panose="020B0604020202020204" pitchFamily="34" charset="0"/>
                <a:cs typeface="Arial" panose="020B0604020202020204" pitchFamily="34" charset="0"/>
              </a:rPr>
              <a:t>Total Annual Requirement</a:t>
            </a:r>
          </a:p>
          <a:p>
            <a:pPr marL="0" indent="0">
              <a:buNone/>
            </a:pPr>
            <a:endParaRPr lang="en-US" sz="1800" b="1"/>
          </a:p>
          <a:p>
            <a:pPr marL="0" indent="0" algn="ctr">
              <a:buNone/>
            </a:pPr>
            <a:endParaRPr 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IN"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198DB7-BA0B-B4BB-CC48-BDD78CD6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C6257-D954-4541-A20C-37FB7797A083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23E133-B311-53BB-EDA8-08E809A1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CB5DBB-6949-8A9B-B6B9-9C71B20C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Syed Mohammed Sikandar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A15B6CA-1070-8E31-B55B-901A66D40789}"/>
              </a:ext>
            </a:extLst>
          </p:cNvPr>
          <p:cNvSpPr/>
          <p:nvPr/>
        </p:nvSpPr>
        <p:spPr>
          <a:xfrm>
            <a:off x="3767667" y="2255044"/>
            <a:ext cx="4368799" cy="421316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/>
              <a:t>V</a:t>
            </a:r>
            <a:r>
              <a:rPr lang="en-US" sz="1600"/>
              <a:t>Grease​=31.03×(1−0.15)=31.03×0.85=26.375 L</a:t>
            </a:r>
            <a:endParaRPr lang="en-I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4244A48-0C26-9471-9C4B-EAAFB345F0EC}"/>
              </a:ext>
            </a:extLst>
          </p:cNvPr>
          <p:cNvSpPr/>
          <p:nvPr/>
        </p:nvSpPr>
        <p:spPr>
          <a:xfrm>
            <a:off x="2628829" y="3353066"/>
            <a:ext cx="6646473" cy="491066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/>
              <a:t>M</a:t>
            </a:r>
            <a:r>
              <a:rPr lang="en-US"/>
              <a:t>​=​</a:t>
            </a:r>
            <a:r>
              <a:rPr lang="en-US" sz="3200"/>
              <a:t> </a:t>
            </a:r>
            <a:r>
              <a:rPr lang="en-US" sz="2000"/>
              <a:t>V</a:t>
            </a:r>
            <a:r>
              <a:rPr lang="en-US"/>
              <a:t>Grease​ ×ρ×</a:t>
            </a:r>
            <a:r>
              <a:rPr lang="en-IN"/>
              <a:t> Fill fraction </a:t>
            </a:r>
            <a:r>
              <a:rPr lang="en-US"/>
              <a:t>=26.375 L×0.90 Lkg​×0.80=18.990 kg</a:t>
            </a:r>
            <a:endParaRPr lang="en-I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F72352-2E92-D1F8-404C-19C1AF05E939}"/>
              </a:ext>
            </a:extLst>
          </p:cNvPr>
          <p:cNvSpPr/>
          <p:nvPr/>
        </p:nvSpPr>
        <p:spPr>
          <a:xfrm>
            <a:off x="4025569" y="4582750"/>
            <a:ext cx="3302000" cy="36512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18.990×0.50=9.495 kg/year 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6186F35-5231-E60A-42B1-8B9082148DA3}"/>
              </a:ext>
            </a:extLst>
          </p:cNvPr>
          <p:cNvSpPr/>
          <p:nvPr/>
        </p:nvSpPr>
        <p:spPr>
          <a:xfrm>
            <a:off x="3869528" y="5932026"/>
            <a:ext cx="3818205" cy="36512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(11.17 kg+5.00 kg)=14.495 kg/year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401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782B2F-7513-9DF1-15B4-32B64EE83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1">
                <a:latin typeface="Arial" panose="020B0604020202020204" pitchFamily="34" charset="0"/>
                <a:cs typeface="Arial" panose="020B0604020202020204" pitchFamily="34" charset="0"/>
              </a:rPr>
              <a:t>For a 6-month operational period</a:t>
            </a:r>
          </a:p>
          <a:p>
            <a:pPr marL="0" indent="0">
              <a:buNone/>
            </a:pPr>
            <a:r>
              <a:rPr lang="en-IN" sz="1800">
                <a:latin typeface="Arial" panose="020B0604020202020204" pitchFamily="34" charset="0"/>
                <a:cs typeface="Arial" panose="020B0604020202020204" pitchFamily="34" charset="0"/>
              </a:rPr>
              <a:t>Monthly consumption:</a:t>
            </a:r>
          </a:p>
          <a:p>
            <a:pPr marL="0" indent="0">
              <a:buNone/>
            </a:pPr>
            <a:endParaRPr lang="en-IN" sz="1800"/>
          </a:p>
          <a:p>
            <a:pPr marL="0" indent="0">
              <a:buNone/>
            </a:pPr>
            <a:endParaRPr lang="en-IN" sz="1800"/>
          </a:p>
          <a:p>
            <a:pPr marL="0" indent="0">
              <a:buNone/>
            </a:pPr>
            <a:endParaRPr lang="en-IN" sz="1800"/>
          </a:p>
          <a:p>
            <a:pPr marL="0" indent="0">
              <a:buNone/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Grease for 6 months (per bearing)</a:t>
            </a: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ar-AE" sz="1800"/>
          </a:p>
          <a:p>
            <a:pPr marL="0" indent="0">
              <a:buNone/>
            </a:pPr>
            <a:r>
              <a:rPr lang="en-US" b="1"/>
              <a:t>For 3 identical bearings (total)</a:t>
            </a:r>
            <a:endParaRPr lang="en-US"/>
          </a:p>
          <a:p>
            <a:pPr marL="0" indent="0">
              <a:buNone/>
            </a:pP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902CC3-B26B-109E-51D0-9AA2E3F4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/>
              <a:t>Grease Volume for Maintenance Interval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1DAD1-316C-B53F-7FFF-8F3731482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B449-9A05-47ED-ABE6-D776F3C0C66D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F2E2F-0DAE-1448-C3CF-B7698B36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Rotor Hub and Pitch System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F32C-ACA2-FCDB-027E-1AA7C3D7A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3F0EFD-2F5F-0CC7-6E5A-B0AFEA994F7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Syed Mohammed Sikandar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849BA8F-33A6-5204-AA31-B05F7347621C}"/>
                  </a:ext>
                </a:extLst>
              </p:cNvPr>
              <p:cNvSpPr/>
              <p:nvPr/>
            </p:nvSpPr>
            <p:spPr>
              <a:xfrm>
                <a:off x="5088301" y="4188883"/>
                <a:ext cx="2201665" cy="465667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207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IN"/>
                  <a:t> kg</a:t>
                </a:r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849BA8F-33A6-5204-AA31-B05F734762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301" y="4188883"/>
                <a:ext cx="2201665" cy="465667"/>
              </a:xfrm>
              <a:prstGeom prst="roundRect">
                <a:avLst/>
              </a:prstGeom>
              <a:blipFill>
                <a:blip r:embed="rId2"/>
                <a:stretch>
                  <a:fillRect b="-75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D8CC5CA-B082-D35E-B562-FEC53EA785C8}"/>
              </a:ext>
            </a:extLst>
          </p:cNvPr>
          <p:cNvSpPr/>
          <p:nvPr/>
        </p:nvSpPr>
        <p:spPr>
          <a:xfrm>
            <a:off x="4682067" y="2624667"/>
            <a:ext cx="3335866" cy="567266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14.495 kg /12 = 1.207 kg/month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37AF7A4-FD43-9D19-6C68-F4EA521CF9A0}"/>
                  </a:ext>
                </a:extLst>
              </p:cNvPr>
              <p:cNvSpPr/>
              <p:nvPr/>
            </p:nvSpPr>
            <p:spPr>
              <a:xfrm>
                <a:off x="5020734" y="5651500"/>
                <a:ext cx="2523066" cy="465667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>
                    <a:latin typeface="Arial" panose="020B0604020202020204" pitchFamily="34" charset="0"/>
                    <a:cs typeface="Arial" panose="020B0604020202020204" pitchFamily="34" charset="0"/>
                  </a:rPr>
                  <a:t>7.24 kg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2</m:t>
                    </m:r>
                    <m:r>
                      <m:rPr>
                        <m:nor/>
                      </m:rPr>
                      <a:rPr lang="en-IN" b="0" i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1</m:t>
                    </m:r>
                    <m:r>
                      <m:rPr>
                        <m:nor/>
                      </m:rP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.</m:t>
                    </m:r>
                    <m:r>
                      <m:rPr>
                        <m:nor/>
                      </m:rPr>
                      <a:rPr lang="en-IN" b="0" i="1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72</m:t>
                    </m:r>
                    <m:r>
                      <m:rPr>
                        <m:nor/>
                      </m:rPr>
                      <a:rPr lang="en-US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IN"/>
                  <a:t>kg</a:t>
                </a:r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37AF7A4-FD43-9D19-6C68-F4EA521CF9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734" y="5651500"/>
                <a:ext cx="2523066" cy="465667"/>
              </a:xfrm>
              <a:prstGeom prst="roundRect">
                <a:avLst/>
              </a:prstGeom>
              <a:blipFill>
                <a:blip r:embed="rId3"/>
                <a:stretch>
                  <a:fillRect l="-959" b="-886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865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853A4-1968-0FCD-18F0-DEA78504D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[1] SKF — Determining grease quantities &amp; general bearing lubrication guidance, SKF Publication</a:t>
            </a:r>
          </a:p>
          <a:p>
            <a:r>
              <a:rPr lang="en-US" dirty="0"/>
              <a:t>[2] SKF, “</a:t>
            </a:r>
            <a:r>
              <a:rPr lang="en-US" dirty="0" err="1"/>
              <a:t>Windlub</a:t>
            </a:r>
            <a:r>
              <a:rPr lang="en-US" dirty="0"/>
              <a:t>: Lubrication management for wind </a:t>
            </a:r>
            <a:r>
              <a:rPr lang="en-US" dirty="0" err="1"/>
              <a:t>energy,”SKF</a:t>
            </a:r>
            <a:r>
              <a:rPr lang="en-US" dirty="0"/>
              <a:t>, Nov, 23, 2025, Available:</a:t>
            </a:r>
          </a:p>
          <a:p>
            <a:r>
              <a:rPr lang="en-US" dirty="0">
                <a:hlinkClick r:id="rId2"/>
              </a:rPr>
              <a:t>https://www.skf.com/group/industries/wind-energy/operation-and-maintenance/windlub</a:t>
            </a:r>
            <a:r>
              <a:rPr lang="en-US" dirty="0"/>
              <a:t>  Nov 23,2025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92ABB-B105-4A5A-A207-EB1AE7E4FBD2}" type="datetime1">
              <a:rPr lang="en-GB" smtClean="0"/>
              <a:pPr/>
              <a:t>24/11/2025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Rotor Hub and Pitch System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1044</TotalTime>
  <Words>547</Words>
  <Application>Microsoft Office PowerPoint</Application>
  <PresentationFormat>Widescreen</PresentationFormat>
  <Paragraphs>125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Office</vt:lpstr>
      <vt:lpstr>Custom Design</vt:lpstr>
      <vt:lpstr>Benutzerdefiniertes Design</vt:lpstr>
      <vt:lpstr>Rotor Hub And Pitch System</vt:lpstr>
      <vt:lpstr>List of Contents</vt:lpstr>
      <vt:lpstr>Updated CAD Model of Blade Bearing </vt:lpstr>
      <vt:lpstr>Material Specification</vt:lpstr>
      <vt:lpstr>Maximum Brake Torque</vt:lpstr>
      <vt:lpstr>Grease Volume Calculation</vt:lpstr>
      <vt:lpstr>PowerPoint Presentation</vt:lpstr>
      <vt:lpstr>Grease Volume for Maintenance Interval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Rotor Hub And Pitch System</dc:title>
  <dc:creator>harsh panchal</dc:creator>
  <cp:lastModifiedBy>S m Sikandar</cp:lastModifiedBy>
  <cp:revision>67</cp:revision>
  <dcterms:created xsi:type="dcterms:W3CDTF">2025-10-02T13:56:12Z</dcterms:created>
  <dcterms:modified xsi:type="dcterms:W3CDTF">2025-11-24T00:15:32Z</dcterms:modified>
</cp:coreProperties>
</file>