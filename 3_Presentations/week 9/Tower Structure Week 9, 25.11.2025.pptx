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7"/>
  </p:notesMasterIdLst>
  <p:handoutMasterIdLst>
    <p:handoutMasterId r:id="rId18"/>
  </p:handoutMasterIdLst>
  <p:sldIdLst>
    <p:sldId id="270" r:id="rId4"/>
    <p:sldId id="259" r:id="rId5"/>
    <p:sldId id="284" r:id="rId6"/>
    <p:sldId id="293" r:id="rId7"/>
    <p:sldId id="296" r:id="rId8"/>
    <p:sldId id="292" r:id="rId9"/>
    <p:sldId id="298" r:id="rId10"/>
    <p:sldId id="300" r:id="rId11"/>
    <p:sldId id="301" r:id="rId12"/>
    <p:sldId id="297" r:id="rId13"/>
    <p:sldId id="299" r:id="rId14"/>
    <p:sldId id="294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3"/>
            <p14:sldId id="296"/>
            <p14:sldId id="292"/>
            <p14:sldId id="298"/>
            <p14:sldId id="300"/>
            <p14:sldId id="301"/>
            <p14:sldId id="297"/>
            <p14:sldId id="299"/>
            <p14:sldId id="294"/>
          </p14:sldIdLst>
        </p14:section>
        <p14:section name="bibliography" id="{2ECB0A3B-7D16-4F98-AD6A-5308DF7BF078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6CE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25/11/2025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23/11/2025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09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25/11/2025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Mohammed </a:t>
            </a:r>
            <a:r>
              <a:rPr lang="de-DE" sz="1600" b="1" dirty="0" err="1">
                <a:latin typeface="Times New Roman" pitchFamily="18" charset="0"/>
                <a:cs typeface="Times New Roman" pitchFamily="18" charset="0"/>
              </a:rPr>
              <a:t>Eldemerdash</a:t>
            </a:r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 (760137)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3BC03542-2B92-A4E1-0654-209FC0C4007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87400" y="1038860"/>
            <a:ext cx="10261600" cy="5520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/>
              <a:t>Optimizing the tower design. 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/>
              <a:t>Modelling the tower on SolidWorks.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eigen frequency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operation range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Campbell diagram with the operational range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deflection angle on tower top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/>
          </a:p>
        </p:txBody>
      </p:sp>
      <p:sp>
        <p:nvSpPr>
          <p:cNvPr id="2" name="Foliennummernplatzhalter 24">
            <a:extLst>
              <a:ext uri="{FF2B5EF4-FFF2-40B4-BE49-F238E27FC236}">
                <a16:creationId xmlns:a16="http://schemas.microsoft.com/office/drawing/2014/main" id="{5ED0AF0D-E2E4-9BC9-3A2D-126B4661D381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2</a:t>
            </a:fld>
            <a:endParaRPr lang="en-GB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91C732EA-B826-BD1B-7452-94115DC6C15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58321C-8606-B5B1-11AF-02111BEF484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  <p:sp>
        <p:nvSpPr>
          <p:cNvPr id="6" name="Textfeld 12">
            <a:extLst>
              <a:ext uri="{FF2B5EF4-FFF2-40B4-BE49-F238E27FC236}">
                <a16:creationId xmlns:a16="http://schemas.microsoft.com/office/drawing/2014/main" id="{FD8D46E1-C627-1EF0-A403-1489AF80B25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38200" y="0"/>
            <a:ext cx="7809232" cy="1282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the tower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03AF7-579F-55BD-2BA3-B0208530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" b="1981"/>
          <a:stretch>
            <a:fillRect/>
          </a:stretch>
        </p:blipFill>
        <p:spPr>
          <a:xfrm>
            <a:off x="3102698" y="1295359"/>
            <a:ext cx="3058223" cy="5186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A5056-E45D-C66D-8332-AA3A4618B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921" y="1295359"/>
            <a:ext cx="2767989" cy="5095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3A86A-995C-EA3B-140E-D6549BED7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588" y="1295360"/>
            <a:ext cx="2767989" cy="5110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C15147-5C19-38B1-05EE-27E1BA425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40" y="1315678"/>
            <a:ext cx="2725080" cy="5075659"/>
          </a:xfrm>
          <a:prstGeom prst="rect">
            <a:avLst/>
          </a:prstGeom>
        </p:spPr>
      </p:pic>
      <p:sp>
        <p:nvSpPr>
          <p:cNvPr id="16" name="Foliennummernplatzhalter 24">
            <a:extLst>
              <a:ext uri="{FF2B5EF4-FFF2-40B4-BE49-F238E27FC236}">
                <a16:creationId xmlns:a16="http://schemas.microsoft.com/office/drawing/2014/main" id="{3627A29C-86A2-FFD2-6B22-42FFE0FB63E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3</a:t>
            </a:fld>
            <a:endParaRPr lang="en-GB" dirty="0"/>
          </a:p>
        </p:txBody>
      </p:sp>
      <p:sp>
        <p:nvSpPr>
          <p:cNvPr id="19" name="Fußzeilenplatzhalter 5">
            <a:extLst>
              <a:ext uri="{FF2B5EF4-FFF2-40B4-BE49-F238E27FC236}">
                <a16:creationId xmlns:a16="http://schemas.microsoft.com/office/drawing/2014/main" id="{9D61414F-54D0-9003-AC1B-51FA4C33F24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0" name="Datumsplatzhalter 4">
            <a:extLst>
              <a:ext uri="{FF2B5EF4-FFF2-40B4-BE49-F238E27FC236}">
                <a16:creationId xmlns:a16="http://schemas.microsoft.com/office/drawing/2014/main" id="{D8839F40-B482-285B-E528-DA7ABF2D3E5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  <p:sp>
        <p:nvSpPr>
          <p:cNvPr id="21" name="Textfeld 12">
            <a:extLst>
              <a:ext uri="{FF2B5EF4-FFF2-40B4-BE49-F238E27FC236}">
                <a16:creationId xmlns:a16="http://schemas.microsoft.com/office/drawing/2014/main" id="{F0E15181-9319-83C6-81FA-94428ACF559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501236-60F6-9487-D53D-87FAD2E7FF10}"/>
              </a:ext>
            </a:extLst>
          </p:cNvPr>
          <p:cNvSpPr/>
          <p:nvPr/>
        </p:nvSpPr>
        <p:spPr>
          <a:xfrm>
            <a:off x="2476500" y="2314575"/>
            <a:ext cx="626198" cy="2769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B139F4-6DE7-F108-4540-033EBF6825C4}"/>
              </a:ext>
            </a:extLst>
          </p:cNvPr>
          <p:cNvSpPr/>
          <p:nvPr/>
        </p:nvSpPr>
        <p:spPr>
          <a:xfrm>
            <a:off x="5436045" y="2314575"/>
            <a:ext cx="626198" cy="2769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37FDE2-8F76-1CF0-7C93-9820B3ACCBB2}"/>
              </a:ext>
            </a:extLst>
          </p:cNvPr>
          <p:cNvSpPr/>
          <p:nvPr/>
        </p:nvSpPr>
        <p:spPr>
          <a:xfrm>
            <a:off x="8395590" y="2314575"/>
            <a:ext cx="626198" cy="2769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16DB11-CBF2-0133-8BCD-4E1DFA361C67}"/>
              </a:ext>
            </a:extLst>
          </p:cNvPr>
          <p:cNvSpPr/>
          <p:nvPr/>
        </p:nvSpPr>
        <p:spPr>
          <a:xfrm>
            <a:off x="11247962" y="2305050"/>
            <a:ext cx="626198" cy="2769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6AFD-F56D-911A-8738-7D81F556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B4C7E9-26AC-35AC-08FC-61F190FCE1F0}"/>
              </a:ext>
            </a:extLst>
          </p:cNvPr>
          <p:cNvSpPr txBox="1"/>
          <p:nvPr/>
        </p:nvSpPr>
        <p:spPr>
          <a:xfrm>
            <a:off x="665381" y="-571500"/>
            <a:ext cx="7809232" cy="1282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the tower design</a:t>
            </a:r>
          </a:p>
        </p:txBody>
      </p:sp>
      <p:sp>
        <p:nvSpPr>
          <p:cNvPr id="2" name="Foliennummernplatzhalter 24">
            <a:extLst>
              <a:ext uri="{FF2B5EF4-FFF2-40B4-BE49-F238E27FC236}">
                <a16:creationId xmlns:a16="http://schemas.microsoft.com/office/drawing/2014/main" id="{F52AADDB-CCCC-4E0C-36A2-2DCE1BC6ADA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4</a:t>
            </a:fld>
            <a:endParaRPr lang="en-GB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05F92333-E4AB-7A8F-0CAB-B54D0FE0C66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4" name="Datumsplatzhalter 4">
            <a:extLst>
              <a:ext uri="{FF2B5EF4-FFF2-40B4-BE49-F238E27FC236}">
                <a16:creationId xmlns:a16="http://schemas.microsoft.com/office/drawing/2014/main" id="{6BAD0B11-5216-4AFF-9EE0-633FB61FF4D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  <p:sp>
        <p:nvSpPr>
          <p:cNvPr id="7" name="Textfeld 12">
            <a:extLst>
              <a:ext uri="{FF2B5EF4-FFF2-40B4-BE49-F238E27FC236}">
                <a16:creationId xmlns:a16="http://schemas.microsoft.com/office/drawing/2014/main" id="{402DD986-1E2E-A955-D56F-C826021CE82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14" name="Picture 1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F3C1F6AE-243D-1C08-82C2-802B8D147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3" y="866701"/>
            <a:ext cx="10884459" cy="1530429"/>
          </a:xfrm>
          <a:prstGeom prst="rect">
            <a:avLst/>
          </a:prstGeom>
        </p:spPr>
      </p:pic>
      <p:graphicFrame>
        <p:nvGraphicFramePr>
          <p:cNvPr id="5" name="Content Placeholder 11">
            <a:extLst>
              <a:ext uri="{FF2B5EF4-FFF2-40B4-BE49-F238E27FC236}">
                <a16:creationId xmlns:a16="http://schemas.microsoft.com/office/drawing/2014/main" id="{311EA7E8-50CA-B97F-CA7C-31F7AE5982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933551"/>
              </p:ext>
            </p:extLst>
          </p:nvPr>
        </p:nvGraphicFramePr>
        <p:xfrm>
          <a:off x="1091819" y="2568014"/>
          <a:ext cx="986484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638">
                  <a:extLst>
                    <a:ext uri="{9D8B030D-6E8A-4147-A177-3AD203B41FA5}">
                      <a16:colId xmlns:a16="http://schemas.microsoft.com/office/drawing/2014/main" val="3185367125"/>
                    </a:ext>
                  </a:extLst>
                </a:gridCol>
                <a:gridCol w="1473859">
                  <a:extLst>
                    <a:ext uri="{9D8B030D-6E8A-4147-A177-3AD203B41FA5}">
                      <a16:colId xmlns:a16="http://schemas.microsoft.com/office/drawing/2014/main" val="4132605328"/>
                    </a:ext>
                  </a:extLst>
                </a:gridCol>
                <a:gridCol w="1473859">
                  <a:extLst>
                    <a:ext uri="{9D8B030D-6E8A-4147-A177-3AD203B41FA5}">
                      <a16:colId xmlns:a16="http://schemas.microsoft.com/office/drawing/2014/main" val="4158849824"/>
                    </a:ext>
                  </a:extLst>
                </a:gridCol>
                <a:gridCol w="1449098">
                  <a:extLst>
                    <a:ext uri="{9D8B030D-6E8A-4147-A177-3AD203B41FA5}">
                      <a16:colId xmlns:a16="http://schemas.microsoft.com/office/drawing/2014/main" val="503961525"/>
                    </a:ext>
                  </a:extLst>
                </a:gridCol>
                <a:gridCol w="3648391">
                  <a:extLst>
                    <a:ext uri="{9D8B030D-6E8A-4147-A177-3AD203B41FA5}">
                      <a16:colId xmlns:a16="http://schemas.microsoft.com/office/drawing/2014/main" val="1880335030"/>
                    </a:ext>
                  </a:extLst>
                </a:gridCol>
              </a:tblGrid>
              <a:tr h="345288"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 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Old values 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values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Outer diameter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53324"/>
                  </a:ext>
                </a:extLst>
              </a:tr>
              <a:tr h="535316">
                <a:tc>
                  <a:txBody>
                    <a:bodyPr/>
                    <a:lstStyle/>
                    <a:p>
                      <a:r>
                        <a:rPr lang="en-US" dirty="0"/>
                        <a:t>First section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H=20 m 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t= 55 mm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t= 55 mm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Bottom Do=4.8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Top Do= 4.8 m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712999"/>
                  </a:ext>
                </a:extLst>
              </a:tr>
              <a:tr h="535316">
                <a:tc>
                  <a:txBody>
                    <a:bodyPr/>
                    <a:lstStyle/>
                    <a:p>
                      <a:r>
                        <a:rPr lang="en-US" dirty="0"/>
                        <a:t>Second section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H=20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50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40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Bottom Do=4.8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Top Do= 4.6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38540"/>
                  </a:ext>
                </a:extLst>
              </a:tr>
              <a:tr h="535316">
                <a:tc>
                  <a:txBody>
                    <a:bodyPr/>
                    <a:lstStyle/>
                    <a:p>
                      <a:r>
                        <a:rPr lang="en-US" dirty="0"/>
                        <a:t>Third section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H=20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45 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35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Bottom Do=4.6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Top Do= 4.4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282450"/>
                  </a:ext>
                </a:extLst>
              </a:tr>
              <a:tr h="535316">
                <a:tc>
                  <a:txBody>
                    <a:bodyPr/>
                    <a:lstStyle/>
                    <a:p>
                      <a:r>
                        <a:rPr lang="en-US" dirty="0"/>
                        <a:t>Fourth section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H=20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40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25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Bottom Do=4.4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Top Do= 4.2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68900"/>
                  </a:ext>
                </a:extLst>
              </a:tr>
              <a:tr h="595976">
                <a:tc>
                  <a:txBody>
                    <a:bodyPr/>
                    <a:lstStyle/>
                    <a:p>
                      <a:r>
                        <a:rPr lang="en-US" dirty="0"/>
                        <a:t>Fifth section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H=18 m 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35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t= 22 mm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Bottom Do=4.2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Top Do= 3.8 m</a:t>
                      </a:r>
                      <a:endParaRPr kumimoji="0" lang="en-D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403726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F3AE45-FB71-5418-C6F6-BB56BCE652EA}"/>
              </a:ext>
            </a:extLst>
          </p:cNvPr>
          <p:cNvSpPr/>
          <p:nvPr/>
        </p:nvSpPr>
        <p:spPr>
          <a:xfrm>
            <a:off x="5849518" y="2943611"/>
            <a:ext cx="1389482" cy="3133799"/>
          </a:xfrm>
          <a:prstGeom prst="roundRect">
            <a:avLst>
              <a:gd name="adj" fmla="val 2832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67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ssem1 viid">
            <a:hlinkClick r:id="" action="ppaction://media"/>
            <a:extLst>
              <a:ext uri="{FF2B5EF4-FFF2-40B4-BE49-F238E27FC236}">
                <a16:creationId xmlns:a16="http://schemas.microsoft.com/office/drawing/2014/main" id="{E5368E2F-F29E-0031-DCE0-85B51DFB10F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423714"/>
            <a:ext cx="10515600" cy="401057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D9C3-DC7F-DAAF-EFCA-C13FF53A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0633B-E57D-8E03-0158-48048B90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70A0E-92EE-B2E4-6D59-E3C9EF48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CA34B-EE33-C40B-AEF0-3CF2776BCFE8}"/>
              </a:ext>
            </a:extLst>
          </p:cNvPr>
          <p:cNvSpPr txBox="1"/>
          <p:nvPr/>
        </p:nvSpPr>
        <p:spPr>
          <a:xfrm>
            <a:off x="857249" y="787400"/>
            <a:ext cx="4854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the tower on SolidWorks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A82B2-7449-2236-A01A-F1C1FAC7C97D}"/>
              </a:ext>
            </a:extLst>
          </p:cNvPr>
          <p:cNvSpPr txBox="1"/>
          <p:nvPr/>
        </p:nvSpPr>
        <p:spPr>
          <a:xfrm>
            <a:off x="4479131" y="6067732"/>
            <a:ext cx="323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simulation of the tower on SolidWorks</a:t>
            </a:r>
            <a:endParaRPr lang="en-DE" sz="1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A2D436-7E97-C1A7-F94C-9D84BB7DF30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65485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57249" y="787400"/>
            <a:ext cx="4854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the tower on SolidWorks</a:t>
            </a:r>
          </a:p>
          <a:p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10DE3900-DF43-79B7-D217-43ECED5F0656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6</a:t>
            </a:fld>
            <a:endParaRPr lang="en-GB" dirty="0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162284B8-1296-72C7-F5D0-EC11C0F244F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C7FDE0ED-BEB9-CA73-9E03-41F1D64A512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F791CE2-48F0-C4AF-C62C-AE4E55AC3BD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16" name="Picture 15" descr="A black and grey object&#10;&#10;AI-generated content may be incorrect.">
            <a:extLst>
              <a:ext uri="{FF2B5EF4-FFF2-40B4-BE49-F238E27FC236}">
                <a16:creationId xmlns:a16="http://schemas.microsoft.com/office/drawing/2014/main" id="{8DEA13F4-E298-18EF-8915-97E6B7A33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862" y="1380005"/>
            <a:ext cx="3610515" cy="4763620"/>
          </a:xfrm>
          <a:prstGeom prst="rect">
            <a:avLst/>
          </a:prstGeom>
        </p:spPr>
      </p:pic>
      <p:pic>
        <p:nvPicPr>
          <p:cNvPr id="18" name="Picture 17" descr="A black and white drawing of a tall pole&#10;&#10;AI-generated content may be incorrect.">
            <a:extLst>
              <a:ext uri="{FF2B5EF4-FFF2-40B4-BE49-F238E27FC236}">
                <a16:creationId xmlns:a16="http://schemas.microsoft.com/office/drawing/2014/main" id="{35C7F658-1696-BBDE-8D7E-482E9EB96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131" y="1380005"/>
            <a:ext cx="3033620" cy="4763620"/>
          </a:xfrm>
          <a:prstGeom prst="rect">
            <a:avLst/>
          </a:prstGeom>
        </p:spPr>
      </p:pic>
      <p:pic>
        <p:nvPicPr>
          <p:cNvPr id="3" name="Picture 2" descr="A long pole with a light on it&#10;&#10;AI-generated content may be incorrect.">
            <a:extLst>
              <a:ext uri="{FF2B5EF4-FFF2-40B4-BE49-F238E27FC236}">
                <a16:creationId xmlns:a16="http://schemas.microsoft.com/office/drawing/2014/main" id="{13D2A54D-6869-D000-F9A2-156BD16DB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5"/>
          <a:stretch>
            <a:fillRect/>
          </a:stretch>
        </p:blipFill>
        <p:spPr>
          <a:xfrm>
            <a:off x="279997" y="1380005"/>
            <a:ext cx="3506999" cy="4763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662F66-D7AB-EB27-3B57-C32C3EDDEEF9}"/>
              </a:ext>
            </a:extLst>
          </p:cNvPr>
          <p:cNvSpPr txBox="1"/>
          <p:nvPr/>
        </p:nvSpPr>
        <p:spPr>
          <a:xfrm>
            <a:off x="4479131" y="6067732"/>
            <a:ext cx="323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different views of the tower on SolidWorks</a:t>
            </a:r>
            <a:endParaRPr lang="en-DE" sz="1200" dirty="0"/>
          </a:p>
        </p:txBody>
      </p:sp>
    </p:spTree>
    <p:extLst>
      <p:ext uri="{BB962C8B-B14F-4D97-AF65-F5344CB8AC3E}">
        <p14:creationId xmlns:p14="http://schemas.microsoft.com/office/powerpoint/2010/main" val="356427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06231C-CF93-FA59-E964-6B300729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25/11/2025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84FAF-20B3-C616-D928-CD2B4A36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42AF-AFAA-9B08-81CB-02CF6F94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B6B8E7C3-F638-B8E2-5C42-BE10536B7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77380"/>
            <a:ext cx="11204345" cy="50186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6E4C01-45D6-B06F-485B-0BD96839D7F5}"/>
              </a:ext>
            </a:extLst>
          </p:cNvPr>
          <p:cNvSpPr txBox="1"/>
          <p:nvPr/>
        </p:nvSpPr>
        <p:spPr>
          <a:xfrm>
            <a:off x="503473" y="515833"/>
            <a:ext cx="4673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eigen frequency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6D0EF-DB80-0F56-8A81-F5194B2A5BAE}"/>
              </a:ext>
            </a:extLst>
          </p:cNvPr>
          <p:cNvSpPr txBox="1"/>
          <p:nvPr/>
        </p:nvSpPr>
        <p:spPr>
          <a:xfrm>
            <a:off x="4320778" y="6143625"/>
            <a:ext cx="3550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calculation of the eigen frequency using Ansys</a:t>
            </a:r>
            <a:endParaRPr lang="en-DE" sz="1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489DABB-7FD2-02BF-767C-42B68073E37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053522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87E29-FBEC-8D2A-E91A-85601703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519A-6767-6C44-3BBB-630C89BA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AC4B7-677D-9518-2A39-F03673D52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0"/>
          <a:stretch>
            <a:fillRect/>
          </a:stretch>
        </p:blipFill>
        <p:spPr>
          <a:xfrm>
            <a:off x="1274038" y="1447800"/>
            <a:ext cx="9643923" cy="48086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84CF36-5A6D-CCC5-932B-A5EEEE973032}"/>
              </a:ext>
            </a:extLst>
          </p:cNvPr>
          <p:cNvSpPr txBox="1"/>
          <p:nvPr/>
        </p:nvSpPr>
        <p:spPr>
          <a:xfrm>
            <a:off x="541573" y="601558"/>
            <a:ext cx="4697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operation range</a:t>
            </a:r>
          </a:p>
        </p:txBody>
      </p:sp>
      <p:sp>
        <p:nvSpPr>
          <p:cNvPr id="17" name="Textfeld 12">
            <a:extLst>
              <a:ext uri="{FF2B5EF4-FFF2-40B4-BE49-F238E27FC236}">
                <a16:creationId xmlns:a16="http://schemas.microsoft.com/office/drawing/2014/main" id="{2E2E3776-1690-2EFB-8E25-7FD3A343151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09D4C458-C5E8-FF96-0328-FD1C17E7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</p:spTree>
    <p:extLst>
      <p:ext uri="{BB962C8B-B14F-4D97-AF65-F5344CB8AC3E}">
        <p14:creationId xmlns:p14="http://schemas.microsoft.com/office/powerpoint/2010/main" val="184323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EA490-7AA4-AD25-4338-7896A659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99884-231B-9FCD-BC7D-20EFE9A2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7" name="Picture 6" descr="A screenshot of a math problem">
            <a:extLst>
              <a:ext uri="{FF2B5EF4-FFF2-40B4-BE49-F238E27FC236}">
                <a16:creationId xmlns:a16="http://schemas.microsoft.com/office/drawing/2014/main" id="{966217C1-18FA-1AFD-6F13-12AB152EF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46" y="1181100"/>
            <a:ext cx="10121993" cy="46291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B147ED-4962-38C5-EC87-ED7F3E9095BC}"/>
              </a:ext>
            </a:extLst>
          </p:cNvPr>
          <p:cNvSpPr txBox="1"/>
          <p:nvPr/>
        </p:nvSpPr>
        <p:spPr>
          <a:xfrm>
            <a:off x="2990851" y="5930114"/>
            <a:ext cx="548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Good operation range = 15 rpm to 37 rpm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667BF-C217-5477-B581-B8092CA717AF}"/>
              </a:ext>
            </a:extLst>
          </p:cNvPr>
          <p:cNvSpPr txBox="1"/>
          <p:nvPr/>
        </p:nvSpPr>
        <p:spPr>
          <a:xfrm>
            <a:off x="541573" y="601558"/>
            <a:ext cx="4697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operation range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1BA958C6-02A0-AF71-DD54-EEC9D2CB61B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E603B6B4-22C1-AC98-6670-1324C0EF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</p:spTree>
    <p:extLst>
      <p:ext uri="{BB962C8B-B14F-4D97-AF65-F5344CB8AC3E}">
        <p14:creationId xmlns:p14="http://schemas.microsoft.com/office/powerpoint/2010/main" val="138602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C27CC-22CC-EE71-68DC-E75D507A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2D15-6300-BE9D-12C2-688DF174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D23A8D-3EBD-4C56-69B8-527BA98157C6}"/>
              </a:ext>
            </a:extLst>
          </p:cNvPr>
          <p:cNvGrpSpPr/>
          <p:nvPr/>
        </p:nvGrpSpPr>
        <p:grpSpPr>
          <a:xfrm>
            <a:off x="748846" y="1043860"/>
            <a:ext cx="10604954" cy="4871165"/>
            <a:chOff x="748846" y="1043860"/>
            <a:chExt cx="10604954" cy="5246661"/>
          </a:xfrm>
        </p:grpSpPr>
        <p:pic>
          <p:nvPicPr>
            <p:cNvPr id="11" name="Picture 10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A1F32AA6-A340-058E-9D11-7A8B084DD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846" y="1043860"/>
              <a:ext cx="10604954" cy="5246661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4F14F5-4849-F9E1-279D-21D6933BE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3855" y="2191109"/>
              <a:ext cx="0" cy="3631721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B4AD5A-6F8F-4476-6230-1EB57C7E2F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5656" y="1268083"/>
              <a:ext cx="0" cy="455474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AEDE950-CA87-6822-E824-F9530D671B42}"/>
              </a:ext>
            </a:extLst>
          </p:cNvPr>
          <p:cNvSpPr txBox="1"/>
          <p:nvPr/>
        </p:nvSpPr>
        <p:spPr>
          <a:xfrm>
            <a:off x="1924928" y="5480806"/>
            <a:ext cx="92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3.04</a:t>
            </a:r>
            <a:endParaRPr lang="en-DE" sz="12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B2AF66-F6B4-2EC0-C925-C7F2E247C3CB}"/>
              </a:ext>
            </a:extLst>
          </p:cNvPr>
          <p:cNvSpPr txBox="1"/>
          <p:nvPr/>
        </p:nvSpPr>
        <p:spPr>
          <a:xfrm>
            <a:off x="3870381" y="5467464"/>
            <a:ext cx="1020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10.65</a:t>
            </a:r>
            <a:endParaRPr lang="en-DE" sz="1200" dirty="0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5A2914-EF4A-6D51-E521-F80A97BCE59C}"/>
              </a:ext>
            </a:extLst>
          </p:cNvPr>
          <p:cNvCxnSpPr>
            <a:cxnSpLocks/>
          </p:cNvCxnSpPr>
          <p:nvPr/>
        </p:nvCxnSpPr>
        <p:spPr>
          <a:xfrm>
            <a:off x="2173855" y="3505200"/>
            <a:ext cx="18518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C375C6DA-663F-3BCE-BCA6-26A34EB3E1B6}"/>
              </a:ext>
            </a:extLst>
          </p:cNvPr>
          <p:cNvSpPr/>
          <p:nvPr/>
        </p:nvSpPr>
        <p:spPr>
          <a:xfrm>
            <a:off x="2329126" y="2191109"/>
            <a:ext cx="1541255" cy="1161691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D7F732-8AA0-B834-3DE5-7CCB8712D935}"/>
              </a:ext>
            </a:extLst>
          </p:cNvPr>
          <p:cNvSpPr txBox="1"/>
          <p:nvPr/>
        </p:nvSpPr>
        <p:spPr>
          <a:xfrm>
            <a:off x="2488629" y="2298924"/>
            <a:ext cx="125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This is according to SI calculations</a:t>
            </a:r>
            <a:endParaRPr lang="en-DE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63DA7E-3465-0E19-6145-1E0B7323EB85}"/>
              </a:ext>
            </a:extLst>
          </p:cNvPr>
          <p:cNvSpPr txBox="1"/>
          <p:nvPr/>
        </p:nvSpPr>
        <p:spPr>
          <a:xfrm>
            <a:off x="638148" y="398873"/>
            <a:ext cx="6210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Campbell diagram with the operational range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964A5D-5745-0E1E-8209-3EFCB2C5A10F}"/>
              </a:ext>
            </a:extLst>
          </p:cNvPr>
          <p:cNvSpPr txBox="1"/>
          <p:nvPr/>
        </p:nvSpPr>
        <p:spPr>
          <a:xfrm>
            <a:off x="3870381" y="5959847"/>
            <a:ext cx="3844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operational range of the rotor on </a:t>
            </a:r>
            <a:r>
              <a:rPr lang="en-US" sz="1200" dirty="0" err="1"/>
              <a:t>campbell</a:t>
            </a:r>
            <a:r>
              <a:rPr lang="en-US" sz="1200" dirty="0"/>
              <a:t> diagram</a:t>
            </a:r>
            <a:endParaRPr lang="en-DE" sz="1200" dirty="0"/>
          </a:p>
        </p:txBody>
      </p:sp>
      <p:sp>
        <p:nvSpPr>
          <p:cNvPr id="34" name="Textfeld 12">
            <a:extLst>
              <a:ext uri="{FF2B5EF4-FFF2-40B4-BE49-F238E27FC236}">
                <a16:creationId xmlns:a16="http://schemas.microsoft.com/office/drawing/2014/main" id="{714F0F01-C8F0-101D-0489-5B1076AF95E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35" name="Date Placeholder 1">
            <a:extLst>
              <a:ext uri="{FF2B5EF4-FFF2-40B4-BE49-F238E27FC236}">
                <a16:creationId xmlns:a16="http://schemas.microsoft.com/office/drawing/2014/main" id="{03307CC2-76E4-F66A-2F73-2E6F60C5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</p:spTree>
    <p:extLst>
      <p:ext uri="{BB962C8B-B14F-4D97-AF65-F5344CB8AC3E}">
        <p14:creationId xmlns:p14="http://schemas.microsoft.com/office/powerpoint/2010/main" val="35864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EB10B-37CB-1688-9D89-1E84B414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106E-5093-C4F9-7BC1-F49AB31E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7" name="Picture 6" descr="A computer screen shot of a computer program">
            <a:extLst>
              <a:ext uri="{FF2B5EF4-FFF2-40B4-BE49-F238E27FC236}">
                <a16:creationId xmlns:a16="http://schemas.microsoft.com/office/drawing/2014/main" id="{AC41FE98-CEF2-B2A3-C7C2-F241B768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1" y="1162049"/>
            <a:ext cx="6677024" cy="4914901"/>
          </a:xfrm>
          <a:prstGeom prst="rect">
            <a:avLst/>
          </a:prstGeom>
        </p:spPr>
      </p:pic>
      <p:pic>
        <p:nvPicPr>
          <p:cNvPr id="9" name="Picture 8" descr="A screenshot of a math calculator&#10;&#10;AI-generated content may be incorrect.">
            <a:extLst>
              <a:ext uri="{FF2B5EF4-FFF2-40B4-BE49-F238E27FC236}">
                <a16:creationId xmlns:a16="http://schemas.microsoft.com/office/drawing/2014/main" id="{E6140A04-2BB3-17AB-97CA-1A16235E2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4" b="17032"/>
          <a:stretch>
            <a:fillRect/>
          </a:stretch>
        </p:blipFill>
        <p:spPr>
          <a:xfrm>
            <a:off x="7305675" y="1162048"/>
            <a:ext cx="4723842" cy="4914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CC08F0-8CAD-3BBB-5B7C-8B59DE76E220}"/>
              </a:ext>
            </a:extLst>
          </p:cNvPr>
          <p:cNvSpPr txBox="1"/>
          <p:nvPr/>
        </p:nvSpPr>
        <p:spPr>
          <a:xfrm>
            <a:off x="529967" y="441363"/>
            <a:ext cx="6392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deflection angle on tower top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F5AD2-0233-DD91-E026-5AA39DF07C95}"/>
              </a:ext>
            </a:extLst>
          </p:cNvPr>
          <p:cNvSpPr txBox="1"/>
          <p:nvPr/>
        </p:nvSpPr>
        <p:spPr>
          <a:xfrm>
            <a:off x="3971925" y="6143625"/>
            <a:ext cx="507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calculation of the deflection and deflection angle using Ansys</a:t>
            </a:r>
            <a:endParaRPr lang="en-DE" sz="1200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6AB3A8D8-D9D1-D424-070D-5E28BE06254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E4C9E041-8551-4B5E-6DCA-6BEF47970DF7}"/>
              </a:ext>
            </a:extLst>
          </p:cNvPr>
          <p:cNvSpPr txBox="1">
            <a:spLocks/>
          </p:cNvSpPr>
          <p:nvPr/>
        </p:nvSpPr>
        <p:spPr>
          <a:xfrm>
            <a:off x="838200" y="6538711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25/11/2025</a:t>
            </a:r>
          </a:p>
        </p:txBody>
      </p:sp>
    </p:spTree>
    <p:extLst>
      <p:ext uri="{BB962C8B-B14F-4D97-AF65-F5344CB8AC3E}">
        <p14:creationId xmlns:p14="http://schemas.microsoft.com/office/powerpoint/2010/main" val="317672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EC3E-8B07-DF81-E063-8591A704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43EB71-A80F-7219-3FDF-EE740DE97B08}"/>
              </a:ext>
            </a:extLst>
          </p:cNvPr>
          <p:cNvSpPr txBox="1"/>
          <p:nvPr/>
        </p:nvSpPr>
        <p:spPr>
          <a:xfrm>
            <a:off x="857249" y="787400"/>
            <a:ext cx="1963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04721567-CA17-DDCE-326B-EB33A3D929FA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12</a:t>
            </a:fld>
            <a:endParaRPr lang="en-GB" dirty="0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34503BA6-CE39-262B-4A41-D2F61B694030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A7F7645-7E41-E0AA-397B-BFF2167E74A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7E5E3ED-DE56-5814-EC36-173FC346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B9464D02-4ED6-68C7-F640-4959233BC8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72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Design the flange connection</a:t>
            </a:r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2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AC34-E000-296B-BF88-4E96CA88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7A96429-E842-C392-9543-A09CF6B3AD05}"/>
              </a:ext>
            </a:extLst>
          </p:cNvPr>
          <p:cNvSpPr txBox="1"/>
          <p:nvPr/>
        </p:nvSpPr>
        <p:spPr>
          <a:xfrm>
            <a:off x="857249" y="787400"/>
            <a:ext cx="1613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EBD748E4-FF68-D69F-2E43-14ED9785D2D3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13</a:t>
            </a:fld>
            <a:endParaRPr lang="en-GB" dirty="0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0C775054-9A29-9EB0-7415-95E5FFEF06EE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0297981-1D12-D0C6-00F6-76AD469CB4F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2D975A7-9C2A-90E9-E2B3-1CA51304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r>
              <a:rPr lang="en-GB" dirty="0"/>
              <a:t>25/11/2025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4483DB-7424-526E-C4CE-BA30E222D24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72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https://www.nrel.gov/wind/data-tools</a:t>
            </a:r>
            <a:endParaRPr lang="de-DE" dirty="0"/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86644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534</Words>
  <Application>Microsoft Office PowerPoint</Application>
  <PresentationFormat>Widescreen</PresentationFormat>
  <Paragraphs>124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Ibrahim Mostafa</cp:lastModifiedBy>
  <cp:revision>75</cp:revision>
  <dcterms:created xsi:type="dcterms:W3CDTF">2025-09-28T13:42:33Z</dcterms:created>
  <dcterms:modified xsi:type="dcterms:W3CDTF">2025-11-23T17:24:24Z</dcterms:modified>
</cp:coreProperties>
</file>