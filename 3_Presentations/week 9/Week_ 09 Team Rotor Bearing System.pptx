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 /><Relationship Id="rId2" Type="http://schemas.openxmlformats.org/officeDocument/2006/relationships/officeDocument" Target="ppt/presentation.xml" /><Relationship Id="rId1" Type="http://schemas.microsoft.com/office/2011/relationships/webextensiontaskpanes" Target="ppt/webextensions/taskpanes.xml" /><Relationship Id="rId5" Type="http://schemas.openxmlformats.org/officeDocument/2006/relationships/extended-properties" Target="docProps/app.xml" /><Relationship Id="rId4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5"/>
  </p:notesMasterIdLst>
  <p:handoutMasterIdLst>
    <p:handoutMasterId r:id="rId16"/>
  </p:handoutMasterIdLst>
  <p:sldIdLst>
    <p:sldId id="271" r:id="rId3"/>
    <p:sldId id="263" r:id="rId4"/>
    <p:sldId id="259" r:id="rId5"/>
    <p:sldId id="292" r:id="rId6"/>
    <p:sldId id="302" r:id="rId7"/>
    <p:sldId id="295" r:id="rId8"/>
    <p:sldId id="296" r:id="rId9"/>
    <p:sldId id="298" r:id="rId10"/>
    <p:sldId id="299" r:id="rId11"/>
    <p:sldId id="293" r:id="rId12"/>
    <p:sldId id="301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71"/>
            <p14:sldId id="263"/>
          </p14:sldIdLst>
        </p14:section>
        <p14:section name="List of contents" id="{65043596-36B7-4360-BB5C-7A99EFAEC5C9}">
          <p14:sldIdLst>
            <p14:sldId id="259"/>
          </p14:sldIdLst>
        </p14:section>
        <p14:section name="Title, main slides" id="{B26F6679-C236-4D3D-BC2F-CAE5ED400718}">
          <p14:sldIdLst>
            <p14:sldId id="292"/>
            <p14:sldId id="302"/>
            <p14:sldId id="295"/>
            <p14:sldId id="296"/>
            <p14:sldId id="298"/>
            <p14:sldId id="299"/>
            <p14:sldId id="293"/>
            <p14:sldId id="301"/>
          </p14:sldIdLst>
        </p14:section>
        <p14:section name="bibliography" id="{2ECB0A3B-7D16-4F98-AD6A-5308DF7BF078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ECEFA"/>
    <a:srgbClr val="92C6E6"/>
    <a:srgbClr val="80D2F7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2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 /><Relationship Id="rId13" Type="http://schemas.openxmlformats.org/officeDocument/2006/relationships/slide" Target="slides/slide11.xml" /><Relationship Id="rId18" Type="http://schemas.openxmlformats.org/officeDocument/2006/relationships/viewProps" Target="viewProps.xml" /><Relationship Id="rId3" Type="http://schemas.openxmlformats.org/officeDocument/2006/relationships/slide" Target="slides/slide1.xml" /><Relationship Id="rId7" Type="http://schemas.openxmlformats.org/officeDocument/2006/relationships/slide" Target="slides/slide5.xml" /><Relationship Id="rId12" Type="http://schemas.openxmlformats.org/officeDocument/2006/relationships/slide" Target="slides/slide10.xml" /><Relationship Id="rId17" Type="http://schemas.openxmlformats.org/officeDocument/2006/relationships/presProps" Target="presProps.xml" /><Relationship Id="rId2" Type="http://schemas.openxmlformats.org/officeDocument/2006/relationships/slideMaster" Target="slideMasters/slideMaster2.xml" /><Relationship Id="rId16" Type="http://schemas.openxmlformats.org/officeDocument/2006/relationships/handoutMaster" Target="handoutMasters/handoutMaster1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4.xml" /><Relationship Id="rId11" Type="http://schemas.openxmlformats.org/officeDocument/2006/relationships/slide" Target="slides/slide9.xml" /><Relationship Id="rId5" Type="http://schemas.openxmlformats.org/officeDocument/2006/relationships/slide" Target="slides/slide3.xml" /><Relationship Id="rId15" Type="http://schemas.openxmlformats.org/officeDocument/2006/relationships/notesMaster" Target="notesMasters/notesMaster1.xml" /><Relationship Id="rId10" Type="http://schemas.openxmlformats.org/officeDocument/2006/relationships/slide" Target="slides/slide8.xml" /><Relationship Id="rId19" Type="http://schemas.openxmlformats.org/officeDocument/2006/relationships/theme" Target="theme/theme1.xml" /><Relationship Id="rId4" Type="http://schemas.openxmlformats.org/officeDocument/2006/relationships/slide" Target="slides/slide2.xml" /><Relationship Id="rId9" Type="http://schemas.openxmlformats.org/officeDocument/2006/relationships/slide" Target="slides/slide7.xml" /><Relationship Id="rId14" Type="http://schemas.openxmlformats.org/officeDocument/2006/relationships/slide" Target="slides/slide12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24.11.2025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7" Type="http://schemas.openxmlformats.org/officeDocument/2006/relationships/image" Target="../media/image7.png" /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2.xml" /><Relationship Id="rId6" Type="http://schemas.openxmlformats.org/officeDocument/2006/relationships/image" Target="../media/image6.jpg" /><Relationship Id="rId5" Type="http://schemas.openxmlformats.org/officeDocument/2006/relationships/image" Target="../media/image5.png" /><Relationship Id="rId4" Type="http://schemas.openxmlformats.org/officeDocument/2006/relationships/image" Target="../media/image4.png" 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7" Type="http://schemas.openxmlformats.org/officeDocument/2006/relationships/image" Target="../media/image7.png" /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2.xml" /><Relationship Id="rId6" Type="http://schemas.openxmlformats.org/officeDocument/2006/relationships/image" Target="../media/image6.jpg" /><Relationship Id="rId5" Type="http://schemas.openxmlformats.org/officeDocument/2006/relationships/image" Target="../media/image5.png" /><Relationship Id="rId4" Type="http://schemas.openxmlformats.org/officeDocument/2006/relationships/image" Target="../media/image4.png" 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2.xml" /><Relationship Id="rId5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2.xml" /><Relationship Id="rId5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D9B92D8-576F-E2EC-294B-2558F9D8C68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25/11/2025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3647B16-EA31-6786-DA18-D9B47CB2860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31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44)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 userDrawn="1"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 and short, concise bullet points) </a:t>
            </a:r>
            <a:br>
              <a:rPr lang="it-IT" dirty="0"/>
            </a:b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topics</a:t>
            </a:r>
            <a:r>
              <a:rPr lang="it-IT" dirty="0"/>
              <a:t> for the 4 min </a:t>
            </a:r>
            <a:r>
              <a:rPr lang="it-IT" dirty="0" err="1"/>
              <a:t>timeslot</a:t>
            </a:r>
            <a:r>
              <a:rPr lang="it-IT" dirty="0"/>
              <a:t>!</a:t>
            </a:r>
            <a:endParaRPr lang="en-GB" dirty="0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25/11/2025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7DF5AC43-E5EF-0524-5C72-3AC43D2D1965}"/>
              </a:ext>
            </a:extLst>
          </p:cNvPr>
          <p:cNvSpPr/>
          <p:nvPr userDrawn="1"/>
        </p:nvSpPr>
        <p:spPr>
          <a:xfrm>
            <a:off x="7392013" y="172238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the </a:t>
            </a:r>
            <a:r>
              <a:rPr lang="it-IT" dirty="0" err="1"/>
              <a:t>heading</a:t>
            </a:r>
            <a:r>
              <a:rPr lang="it-IT" dirty="0"/>
              <a:t> in the </a:t>
            </a:r>
            <a:r>
              <a:rPr lang="it-IT" dirty="0" err="1"/>
              <a:t>same</a:t>
            </a:r>
            <a:r>
              <a:rPr lang="it-IT" dirty="0"/>
              <a:t> style </a:t>
            </a:r>
            <a:endParaRPr lang="en-GB" dirty="0"/>
          </a:p>
        </p:txBody>
      </p:sp>
      <p:cxnSp>
        <p:nvCxnSpPr>
          <p:cNvPr id="5" name="Straight Arrow Connector 21">
            <a:extLst>
              <a:ext uri="{FF2B5EF4-FFF2-40B4-BE49-F238E27FC236}">
                <a16:creationId xmlns:a16="http://schemas.microsoft.com/office/drawing/2014/main" id="{E14BA36E-5CEF-0525-3ADE-5A38CD19B2C1}"/>
              </a:ext>
            </a:extLst>
          </p:cNvPr>
          <p:cNvCxnSpPr>
            <a:cxnSpLocks/>
            <a:stCxn id="3" idx="0"/>
          </p:cNvCxnSpPr>
          <p:nvPr userDrawn="1"/>
        </p:nvCxnSpPr>
        <p:spPr>
          <a:xfrm flipH="1" flipV="1">
            <a:off x="7108466" y="1095661"/>
            <a:ext cx="1585182" cy="6267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485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25/11/2025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4527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 userDrawn="1"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 userDrawn="1"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[1], [2], [3] for </a:t>
            </a:r>
            <a:r>
              <a:rPr lang="it-IT" dirty="0" err="1"/>
              <a:t>everything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from a source (</a:t>
            </a:r>
            <a:r>
              <a:rPr lang="it-IT" dirty="0" err="1"/>
              <a:t>numbers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the </a:t>
            </a:r>
            <a:r>
              <a:rPr lang="it-IT" dirty="0" err="1"/>
              <a:t>same</a:t>
            </a:r>
            <a:r>
              <a:rPr lang="it-IT" dirty="0"/>
              <a:t> like in the </a:t>
            </a:r>
            <a:r>
              <a:rPr lang="it-IT" dirty="0" err="1"/>
              <a:t>bibliography</a:t>
            </a:r>
            <a:r>
              <a:rPr lang="it-IT" dirty="0"/>
              <a:t>) (</a:t>
            </a:r>
            <a:r>
              <a:rPr lang="it-IT" dirty="0" err="1"/>
              <a:t>incl</a:t>
            </a:r>
            <a:r>
              <a:rPr lang="it-IT" dirty="0"/>
              <a:t>. pictures /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created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by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, </a:t>
            </a:r>
            <a:r>
              <a:rPr lang="it-IT" dirty="0" err="1"/>
              <a:t>declare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thing</a:t>
            </a:r>
            <a:r>
              <a:rPr lang="it-IT" dirty="0"/>
              <a:t> </a:t>
            </a:r>
            <a:r>
              <a:rPr lang="it-IT" dirty="0" err="1"/>
              <a:t>you’ve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) [Style </a:t>
            </a:r>
            <a:r>
              <a:rPr lang="it-IT" dirty="0" err="1"/>
              <a:t>Aptos</a:t>
            </a:r>
            <a:r>
              <a:rPr lang="it-IT" dirty="0"/>
              <a:t>/14]</a:t>
            </a:r>
            <a:endParaRPr lang="en-GB" dirty="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 userDrawn="1"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 userDrawn="1"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</a:p>
          <a:p>
            <a:pPr algn="ctr"/>
            <a:r>
              <a:rPr lang="it-IT" dirty="0"/>
              <a:t>an </a:t>
            </a:r>
            <a:r>
              <a:rPr lang="it-IT" dirty="0" err="1"/>
              <a:t>intial</a:t>
            </a:r>
            <a:r>
              <a:rPr lang="it-IT" dirty="0"/>
              <a:t> slide with </a:t>
            </a:r>
            <a:r>
              <a:rPr lang="it-IT" dirty="0" err="1"/>
              <a:t>all</a:t>
            </a:r>
            <a:r>
              <a:rPr lang="it-IT" dirty="0"/>
              <a:t> the tasks </a:t>
            </a:r>
            <a:r>
              <a:rPr lang="it-IT" dirty="0" err="1"/>
              <a:t>completed</a:t>
            </a:r>
            <a:r>
              <a:rPr lang="it-IT" dirty="0"/>
              <a:t> for the week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always</a:t>
            </a:r>
            <a:r>
              <a:rPr lang="it-IT" dirty="0"/>
              <a:t> be </a:t>
            </a:r>
            <a:r>
              <a:rPr lang="it-IT" dirty="0" err="1"/>
              <a:t>included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style,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write</a:t>
            </a:r>
            <a:r>
              <a:rPr lang="it-IT" dirty="0"/>
              <a:t> more text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necessary</a:t>
            </a:r>
            <a:r>
              <a:rPr lang="it-IT" dirty="0"/>
              <a:t> (short, concise bullet points are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)</a:t>
            </a:r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 userDrawn="1"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25/11/2025</a:t>
            </a:r>
            <a:endParaRPr lang="en-GB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039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25/11/2025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43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 userDrawn="1"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BUT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use </a:t>
            </a:r>
            <a:r>
              <a:rPr lang="it-IT" dirty="0" err="1"/>
              <a:t>underpoints</a:t>
            </a:r>
            <a:r>
              <a:rPr lang="it-IT" dirty="0"/>
              <a:t> </a:t>
            </a:r>
            <a:r>
              <a:rPr lang="it-IT" dirty="0" err="1"/>
              <a:t>please</a:t>
            </a:r>
            <a:r>
              <a:rPr lang="it-IT" dirty="0"/>
              <a:t> with the i, ii, iii….</a:t>
            </a:r>
            <a:endParaRPr lang="en-GB" dirty="0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 userDrawn="1"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25/11/2025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326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25/11/2025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73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Add</a:t>
            </a:r>
            <a:r>
              <a:rPr lang="it-IT" sz="1400" dirty="0"/>
              <a:t> a link to the </a:t>
            </a:r>
            <a:r>
              <a:rPr lang="it-IT" sz="1400" dirty="0" err="1"/>
              <a:t>reference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goes</a:t>
            </a:r>
            <a:r>
              <a:rPr lang="it-IT" sz="1400" dirty="0"/>
              <a:t> to the last slide: highlight the </a:t>
            </a:r>
            <a:r>
              <a:rPr lang="it-IT" sz="1400" dirty="0" err="1"/>
              <a:t>number</a:t>
            </a:r>
            <a:r>
              <a:rPr lang="it-IT" sz="1400" dirty="0"/>
              <a:t>-&gt;</a:t>
            </a:r>
            <a:r>
              <a:rPr lang="it-IT" sz="1400" dirty="0" err="1"/>
              <a:t>right</a:t>
            </a:r>
            <a:r>
              <a:rPr lang="it-IT" sz="1400" dirty="0"/>
              <a:t> click-&gt;</a:t>
            </a:r>
            <a:r>
              <a:rPr lang="it-IT" sz="1400" dirty="0" err="1"/>
              <a:t>select</a:t>
            </a:r>
            <a:r>
              <a:rPr lang="it-IT" sz="1400" dirty="0"/>
              <a:t> link-&gt;place in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document</a:t>
            </a:r>
            <a:r>
              <a:rPr lang="it-IT" sz="1400" dirty="0"/>
              <a:t>-&gt;</a:t>
            </a:r>
            <a:r>
              <a:rPr lang="it-IT" sz="1400" dirty="0" err="1"/>
              <a:t>select</a:t>
            </a:r>
            <a:r>
              <a:rPr lang="it-IT" sz="1400" dirty="0"/>
              <a:t> last slide</a:t>
            </a:r>
            <a:endParaRPr lang="en-GB" sz="14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25/11/2025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48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25/11/2025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07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The style </a:t>
            </a:r>
            <a:r>
              <a:rPr lang="it-IT" dirty="0" err="1"/>
              <a:t>chosen</a:t>
            </a:r>
            <a:r>
              <a:rPr lang="it-IT" dirty="0"/>
              <a:t> for </a:t>
            </a:r>
            <a:r>
              <a:rPr lang="it-IT" dirty="0" err="1"/>
              <a:t>citation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IEEE, so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citation</a:t>
            </a:r>
            <a:r>
              <a:rPr lang="it-IT" dirty="0"/>
              <a:t> follow </a:t>
            </a:r>
            <a:r>
              <a:rPr lang="it-IT" dirty="0" err="1"/>
              <a:t>that</a:t>
            </a:r>
            <a:r>
              <a:rPr lang="it-IT" dirty="0"/>
              <a:t> style.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an IEEE </a:t>
            </a:r>
            <a:r>
              <a:rPr lang="it-IT" dirty="0" err="1"/>
              <a:t>citation</a:t>
            </a:r>
            <a:r>
              <a:rPr lang="it-IT" dirty="0"/>
              <a:t> from a website, </a:t>
            </a:r>
            <a:r>
              <a:rPr lang="it-IT" dirty="0" err="1"/>
              <a:t>you</a:t>
            </a:r>
            <a:r>
              <a:rPr lang="it-IT" dirty="0"/>
              <a:t> can use some free </a:t>
            </a:r>
            <a:r>
              <a:rPr lang="it-IT" dirty="0" err="1"/>
              <a:t>converters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the internet, like:</a:t>
            </a:r>
          </a:p>
          <a:p>
            <a:pPr algn="ctr"/>
            <a:r>
              <a:rPr lang="en-GB" b="1" dirty="0">
                <a:hlinkClick r:id="rId2"/>
              </a:rPr>
              <a:t>https://www.mybib.com/tools/ieee-citation-generator</a:t>
            </a:r>
            <a:r>
              <a:rPr lang="en-GB" b="1" dirty="0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25/11/2025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643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25/11/2025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3280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25/11/2025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2350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25/11/2025</a:t>
            </a:r>
            <a:endParaRPr lang="en-GB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789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25/11/2025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7009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25/11/2025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6559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25/11/2025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2613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25/11/2025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8711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25/11/2025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018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3" name="Rectangle 7">
            <a:extLst>
              <a:ext uri="{FF2B5EF4-FFF2-40B4-BE49-F238E27FC236}">
                <a16:creationId xmlns:a16="http://schemas.microsoft.com/office/drawing/2014/main" id="{A08F222C-E6B4-CB18-1940-4D03D41410C5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248E6A6-5F2B-4404-D02B-D0186EA2675E}"/>
              </a:ext>
            </a:extLst>
          </p:cNvPr>
          <p:cNvSpPr txBox="1"/>
          <p:nvPr userDrawn="1"/>
        </p:nvSpPr>
        <p:spPr>
          <a:xfrm>
            <a:off x="3913526" y="4104491"/>
            <a:ext cx="4142630" cy="99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2st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Date: 7th  2025</a:t>
            </a:r>
          </a:p>
          <a:p>
            <a:endParaRPr lang="en-GB" dirty="0">
              <a:latin typeface="Aptos (Textkörper)"/>
            </a:endParaRPr>
          </a:p>
        </p:txBody>
      </p:sp>
    </p:spTree>
    <p:extLst>
      <p:ext uri="{BB962C8B-B14F-4D97-AF65-F5344CB8AC3E}">
        <p14:creationId xmlns:p14="http://schemas.microsoft.com/office/powerpoint/2010/main" val="38224568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 dirty="0" err="1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</a:t>
            </a:r>
            <a:r>
              <a:rPr kumimoji="0" lang="it-IT" sz="6600" b="1" i="0" u="none" strike="noStrike" kern="1200" cap="none" spc="0" normalizeH="0" baseline="0" noProof="0" dirty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580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 userDrawn="1"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 userDrawn="1"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First slide for groups</a:t>
            </a:r>
            <a:endParaRPr lang="en-GB" dirty="0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 userDrawn="1"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25/11/2025</a:t>
            </a:r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Rotor Bearing System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428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25/11/2025</a:t>
            </a:r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Rotor Bearing System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9413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slideLayout" Target="../slideLayouts/slideLayout1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theme" Target="../theme/theme1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 /><Relationship Id="rId2" Type="http://schemas.openxmlformats.org/officeDocument/2006/relationships/slideLayout" Target="../slideLayouts/slideLayout20.xml" /><Relationship Id="rId1" Type="http://schemas.openxmlformats.org/officeDocument/2006/relationships/slideLayout" Target="../slideLayouts/slideLayout19.xml" /><Relationship Id="rId5" Type="http://schemas.openxmlformats.org/officeDocument/2006/relationships/theme" Target="../theme/theme2.xml" /><Relationship Id="rId4" Type="http://schemas.openxmlformats.org/officeDocument/2006/relationships/slideLayout" Target="../slideLayouts/slideLayout22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25/11/2025</a:t>
            </a:r>
            <a:endParaRPr lang="en-GB" dirty="0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5F882E33-D020-7E7B-7744-FA472C533769}"/>
              </a:ext>
            </a:extLst>
          </p:cNvPr>
          <p:cNvSpPr txBox="1">
            <a:spLocks/>
          </p:cNvSpPr>
          <p:nvPr userDrawn="1"/>
        </p:nvSpPr>
        <p:spPr>
          <a:xfrm>
            <a:off x="2878527" y="6564113"/>
            <a:ext cx="5596085" cy="36512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Sreehari Padachery</a:t>
            </a:r>
            <a:endParaRPr lang="en-US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A983DE9D-3043-CD58-EF37-FD7A4639229C}"/>
              </a:ext>
            </a:extLst>
          </p:cNvPr>
          <p:cNvSpPr txBox="1"/>
          <p:nvPr userDrawn="1"/>
        </p:nvSpPr>
        <p:spPr>
          <a:xfrm>
            <a:off x="8505523" y="6616896"/>
            <a:ext cx="2817365" cy="25955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u="none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Rotor Bearing System/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63" r:id="rId2"/>
    <p:sldLayoutId id="2147483686" r:id="rId3"/>
    <p:sldLayoutId id="2147483674" r:id="rId4"/>
    <p:sldLayoutId id="2147483685" r:id="rId5"/>
    <p:sldLayoutId id="2147483684" r:id="rId6"/>
    <p:sldLayoutId id="2147483688" r:id="rId7"/>
    <p:sldLayoutId id="2147483666" r:id="rId8"/>
    <p:sldLayoutId id="2147483689" r:id="rId9"/>
    <p:sldLayoutId id="2147483662" r:id="rId10"/>
    <p:sldLayoutId id="2147483690" r:id="rId11"/>
    <p:sldLayoutId id="2147483664" r:id="rId12"/>
    <p:sldLayoutId id="2147483665" r:id="rId13"/>
    <p:sldLayoutId id="2147483667" r:id="rId14"/>
    <p:sldLayoutId id="2147483668" r:id="rId15"/>
    <p:sldLayoutId id="2147483669" r:id="rId16"/>
    <p:sldLayoutId id="2147483670" r:id="rId17"/>
    <p:sldLayoutId id="2147483671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Rotor Bearing System / Optimus Syria</a:t>
            </a:r>
            <a:endParaRPr lang="en-GB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25/11/2025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3" r:id="rId2"/>
    <p:sldLayoutId id="2147483675" r:id="rId3"/>
    <p:sldLayoutId id="2147483678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5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5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5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 /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5.xml" /><Relationship Id="rId4" Type="http://schemas.openxmlformats.org/officeDocument/2006/relationships/image" Target="../media/image16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 /><Relationship Id="rId2" Type="http://schemas.openxmlformats.org/officeDocument/2006/relationships/image" Target="../media/image17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21.png" /><Relationship Id="rId5" Type="http://schemas.openxmlformats.org/officeDocument/2006/relationships/image" Target="../media/image20.png" /><Relationship Id="rId4" Type="http://schemas.openxmlformats.org/officeDocument/2006/relationships/image" Target="../media/image19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 /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5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 /><Relationship Id="rId2" Type="http://schemas.openxmlformats.org/officeDocument/2006/relationships/image" Target="../media/image24.png" /><Relationship Id="rId1" Type="http://schemas.openxmlformats.org/officeDocument/2006/relationships/slideLayout" Target="../slideLayouts/slideLayout5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th.de/schraubwerkzeuge/hydraulische-drehmomentschrauber" TargetMode="External" /><Relationship Id="rId7" Type="http://schemas.openxmlformats.org/officeDocument/2006/relationships/hyperlink" Target="https://archive.org/details/gov.in.is.800.2007" TargetMode="External" /><Relationship Id="rId2" Type="http://schemas.openxmlformats.org/officeDocument/2006/relationships/hyperlink" Target="https://www.skf.com/group/products/rolling-bearings/roller-bearings/spherical-roller-bearings/productid-240%2F1120" TargetMode="External" /><Relationship Id="rId1" Type="http://schemas.openxmlformats.org/officeDocument/2006/relationships/slideLayout" Target="../slideLayouts/slideLayout11.xml" /><Relationship Id="rId6" Type="http://schemas.openxmlformats.org/officeDocument/2006/relationships/hyperlink" Target="https://archive.org/details/manualofsteelcon0000amer" TargetMode="External" /><Relationship Id="rId5" Type="http://schemas.openxmlformats.org/officeDocument/2006/relationships/hyperlink" Target="https://studylib.net/doc/18166049/din-en-10083-steel-for-quenching-and-tempering-part-3-" TargetMode="External" /><Relationship Id="rId4" Type="http://schemas.openxmlformats.org/officeDocument/2006/relationships/hyperlink" Target="https://www.rotorlock.de/en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3FC7EDF-25D6-28E8-DCE0-52ED50209C25}"/>
              </a:ext>
            </a:extLst>
          </p:cNvPr>
          <p:cNvSpPr txBox="1"/>
          <p:nvPr/>
        </p:nvSpPr>
        <p:spPr>
          <a:xfrm>
            <a:off x="3913526" y="4104491"/>
            <a:ext cx="4142630" cy="618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Date: </a:t>
            </a:r>
            <a:r>
              <a:rPr lang="it-IT" dirty="0">
                <a:solidFill>
                  <a:srgbClr val="0E2841">
                    <a:lumMod val="90000"/>
                    <a:lumOff val="10000"/>
                  </a:srgbClr>
                </a:solidFill>
                <a:latin typeface="Aptos (Textkörper)"/>
                <a:cs typeface="Times New Roman" panose="02020603050405020304" pitchFamily="18" charset="0"/>
              </a:rPr>
              <a:t>25 November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 2025</a:t>
            </a:r>
          </a:p>
          <a:p>
            <a:endParaRPr lang="en-GB" dirty="0">
              <a:latin typeface="Aptos (Textkörper)"/>
            </a:endParaRPr>
          </a:p>
        </p:txBody>
      </p:sp>
    </p:spTree>
    <p:extLst>
      <p:ext uri="{BB962C8B-B14F-4D97-AF65-F5344CB8AC3E}">
        <p14:creationId xmlns:p14="http://schemas.microsoft.com/office/powerpoint/2010/main" val="1886790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BE6549-3E86-5AE5-9E5E-148C592FC8C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25/11/2025</a:t>
            </a:r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D6649A-1E87-C9DD-E3C2-12FE7407BD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Rotor Bearing System / Optimus Syria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00F9B30-73C2-F457-56BA-0324B85690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ACFA37C-C6C3-881E-9DEF-5A96ED2C1D15}"/>
              </a:ext>
            </a:extLst>
          </p:cNvPr>
          <p:cNvSpPr txBox="1">
            <a:spLocks/>
          </p:cNvSpPr>
          <p:nvPr/>
        </p:nvSpPr>
        <p:spPr>
          <a:xfrm>
            <a:off x="1565241" y="235849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endParaRPr lang="en-GB" sz="400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103C8AC-ACFF-082C-E04A-301598446FCB}"/>
              </a:ext>
            </a:extLst>
          </p:cNvPr>
          <p:cNvSpPr txBox="1">
            <a:spLocks/>
          </p:cNvSpPr>
          <p:nvPr/>
        </p:nvSpPr>
        <p:spPr>
          <a:xfrm>
            <a:off x="1158240" y="2516402"/>
            <a:ext cx="10414000" cy="912598"/>
          </a:xfrm>
          <a:prstGeom prst="rect">
            <a:avLst/>
          </a:prstGeom>
        </p:spPr>
        <p:txBody>
          <a:bodyPr numCol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r>
              <a:rPr lang="it-IT" sz="4000" dirty="0"/>
              <a:t>Weekly Presentation : Rotor Bearing System</a:t>
            </a:r>
            <a:endParaRPr lang="en-GB" sz="40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C45C6A5A-D647-B958-532A-B6FD2180F534}"/>
              </a:ext>
            </a:extLst>
          </p:cNvPr>
          <p:cNvSpPr txBox="1"/>
          <p:nvPr/>
        </p:nvSpPr>
        <p:spPr>
          <a:xfrm>
            <a:off x="3591498" y="3539230"/>
            <a:ext cx="4786685" cy="129266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2000" dirty="0">
                <a:latin typeface="Aptos (Textkörper)"/>
              </a:rPr>
              <a:t>Week number: 09</a:t>
            </a:r>
          </a:p>
          <a:p>
            <a:pPr algn="ctr"/>
            <a:r>
              <a:rPr lang="it-IT" sz="2000" dirty="0">
                <a:latin typeface="Aptos (Textkörper)"/>
              </a:rPr>
              <a:t>Date: 25 /11/2025</a:t>
            </a:r>
          </a:p>
          <a:p>
            <a:pPr algn="ctr"/>
            <a:r>
              <a:rPr lang="it-IT" sz="2000" dirty="0">
                <a:latin typeface="Aptos (Textkörper)"/>
              </a:rPr>
              <a:t>Supervisor: </a:t>
            </a:r>
            <a:r>
              <a:rPr lang="it-IT" sz="2000" dirty="0"/>
              <a:t>Prof.  Peter Quell </a:t>
            </a:r>
            <a:endParaRPr lang="it-IT" sz="2000" dirty="0">
              <a:latin typeface="Aptos (Textkörper)"/>
            </a:endParaRPr>
          </a:p>
          <a:p>
            <a:endParaRPr lang="en-GB" dirty="0"/>
          </a:p>
        </p:txBody>
      </p:sp>
      <p:sp>
        <p:nvSpPr>
          <p:cNvPr id="5" name="Textfeld 12">
            <a:extLst>
              <a:ext uri="{FF2B5EF4-FFF2-40B4-BE49-F238E27FC236}">
                <a16:creationId xmlns:a16="http://schemas.microsoft.com/office/drawing/2014/main" id="{D9A567B7-3E99-FE45-F4F9-8DF602E8F987}"/>
              </a:ext>
            </a:extLst>
          </p:cNvPr>
          <p:cNvSpPr txBox="1">
            <a:spLocks/>
          </p:cNvSpPr>
          <p:nvPr/>
        </p:nvSpPr>
        <p:spPr>
          <a:xfrm>
            <a:off x="1393885" y="4570995"/>
            <a:ext cx="10450286" cy="371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members: Divyesh Mistry,  Venkata Sreekanth .K , Sreehari Padachery, Jill Sadariya 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BEA2004-2B46-4FBB-0674-B520F411077A}"/>
              </a:ext>
            </a:extLst>
          </p:cNvPr>
          <p:cNvSpPr txBox="1">
            <a:spLocks/>
          </p:cNvSpPr>
          <p:nvPr/>
        </p:nvSpPr>
        <p:spPr>
          <a:xfrm>
            <a:off x="4801762" y="4942122"/>
            <a:ext cx="3399846" cy="3651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 : Sreehari Padachery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3159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C666DE2-1276-7519-CD3A-64862C4F70AB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r>
              <a:rPr lang="de-DE" sz="2400" dirty="0"/>
              <a:t>Bearing Housing.</a:t>
            </a:r>
          </a:p>
          <a:p>
            <a:r>
              <a:rPr lang="en-US" sz="2400" dirty="0"/>
              <a:t>Rotor Lock.</a:t>
            </a:r>
            <a:endParaRPr lang="de-DE" sz="2400" dirty="0"/>
          </a:p>
          <a:p>
            <a:r>
              <a:rPr lang="en-US" sz="2400" dirty="0"/>
              <a:t>Rotor Lock pin Calculations.</a:t>
            </a:r>
          </a:p>
          <a:p>
            <a:r>
              <a:rPr lang="en-US" sz="2400" dirty="0"/>
              <a:t>Rotor Lock Disc Calculations.</a:t>
            </a:r>
          </a:p>
          <a:p>
            <a:r>
              <a:rPr lang="de-DE" sz="2400" dirty="0"/>
              <a:t>Shaft </a:t>
            </a:r>
            <a:r>
              <a:rPr lang="en-US" sz="2400" dirty="0"/>
              <a:t>Flange.</a:t>
            </a:r>
          </a:p>
          <a:p>
            <a:r>
              <a:rPr lang="en-US" sz="2400" dirty="0"/>
              <a:t>Task Performed up to now</a:t>
            </a:r>
            <a:endParaRPr lang="de-DE" sz="2400" dirty="0"/>
          </a:p>
          <a:p>
            <a:r>
              <a:rPr lang="en-US" sz="2400" dirty="0"/>
              <a:t>Bibliography.</a:t>
            </a:r>
          </a:p>
          <a:p>
            <a:pPr lvl="1"/>
            <a:endParaRPr lang="de-DE" dirty="0"/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C01C5AA7-5821-01BD-1AC8-74837347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23" name="Datumsplatzhalter 22">
            <a:extLst>
              <a:ext uri="{FF2B5EF4-FFF2-40B4-BE49-F238E27FC236}">
                <a16:creationId xmlns:a16="http://schemas.microsoft.com/office/drawing/2014/main" id="{278CF838-7112-4F3F-EAE6-B2D4ED8FB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25/11/2025</a:t>
            </a:r>
            <a:endParaRPr lang="en-GB" dirty="0"/>
          </a:p>
        </p:txBody>
      </p:sp>
      <p:sp>
        <p:nvSpPr>
          <p:cNvPr id="25" name="Foliennummernplatzhalter 24">
            <a:extLst>
              <a:ext uri="{FF2B5EF4-FFF2-40B4-BE49-F238E27FC236}">
                <a16:creationId xmlns:a16="http://schemas.microsoft.com/office/drawing/2014/main" id="{1F1D02DB-C1C0-0C64-772D-D708982E9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6553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2BCFC-C01F-F901-E135-349BFC146502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25/11/2025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361D1-C8CB-69C7-0D73-E3696CCF4A1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95378A32-4F0F-FB4F-6AB0-6C9A00899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DE" dirty="0"/>
              <a:t>Bearing Housing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C30E178-DD94-C542-62FD-63CBACFB3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80" y="1517968"/>
            <a:ext cx="6633129" cy="4435286"/>
          </a:xfrm>
          <a:prstGeom prst="rect">
            <a:avLst/>
          </a:prstGeom>
        </p:spPr>
      </p:pic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C0FC2D6-25DA-B496-8089-41E8342F80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530055"/>
              </p:ext>
            </p:extLst>
          </p:nvPr>
        </p:nvGraphicFramePr>
        <p:xfrm>
          <a:off x="7803841" y="1501776"/>
          <a:ext cx="4083360" cy="2000079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866788">
                  <a:extLst>
                    <a:ext uri="{9D8B030D-6E8A-4147-A177-3AD203B41FA5}">
                      <a16:colId xmlns:a16="http://schemas.microsoft.com/office/drawing/2014/main" val="31356471"/>
                    </a:ext>
                  </a:extLst>
                </a:gridCol>
                <a:gridCol w="2216572">
                  <a:extLst>
                    <a:ext uri="{9D8B030D-6E8A-4147-A177-3AD203B41FA5}">
                      <a16:colId xmlns:a16="http://schemas.microsoft.com/office/drawing/2014/main" val="4175256219"/>
                    </a:ext>
                  </a:extLst>
                </a:gridCol>
              </a:tblGrid>
              <a:tr h="22503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parameter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964" marR="4964" marT="4964" marB="29785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value 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964" marR="4964" marT="4964" marB="29785" anchor="ctr"/>
                </a:tc>
                <a:extLst>
                  <a:ext uri="{0D108BD9-81ED-4DB2-BD59-A6C34878D82A}">
                    <a16:rowId xmlns:a16="http://schemas.microsoft.com/office/drawing/2014/main" val="2507814175"/>
                  </a:ext>
                </a:extLst>
              </a:tr>
              <a:tr h="34429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OD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64" marR="4964" marT="4964" marB="29785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2500mm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64" marR="4964" marT="4964" marB="29785" anchor="b"/>
                </a:tc>
                <a:extLst>
                  <a:ext uri="{0D108BD9-81ED-4DB2-BD59-A6C34878D82A}">
                    <a16:rowId xmlns:a16="http://schemas.microsoft.com/office/drawing/2014/main" val="318004745"/>
                  </a:ext>
                </a:extLst>
              </a:tr>
              <a:tr h="34429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Rib radius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64" marR="4964" marT="4964" marB="29785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1400mm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64" marR="4964" marT="4964" marB="29785" anchor="b"/>
                </a:tc>
                <a:extLst>
                  <a:ext uri="{0D108BD9-81ED-4DB2-BD59-A6C34878D82A}">
                    <a16:rowId xmlns:a16="http://schemas.microsoft.com/office/drawing/2014/main" val="1248877626"/>
                  </a:ext>
                </a:extLst>
              </a:tr>
              <a:tr h="34429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ID/Bore 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dia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64" marR="4964" marT="4964" marB="2978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2240mm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64" marR="4964" marT="4964" marB="29785" anchor="b"/>
                </a:tc>
                <a:extLst>
                  <a:ext uri="{0D108BD9-81ED-4DB2-BD59-A6C34878D82A}">
                    <a16:rowId xmlns:a16="http://schemas.microsoft.com/office/drawing/2014/main" val="3223776375"/>
                  </a:ext>
                </a:extLst>
              </a:tr>
              <a:tr h="34429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Width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64" marR="4964" marT="4964" marB="2978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630mm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64" marR="4964" marT="4964" marB="29785" anchor="b"/>
                </a:tc>
                <a:extLst>
                  <a:ext uri="{0D108BD9-81ED-4DB2-BD59-A6C34878D82A}">
                    <a16:rowId xmlns:a16="http://schemas.microsoft.com/office/drawing/2014/main" val="2716429236"/>
                  </a:ext>
                </a:extLst>
              </a:tr>
              <a:tr h="34429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Total length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64" marR="4964" marT="4964" marB="29785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3200mm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64" marR="4964" marT="4964" marB="29785" anchor="b"/>
                </a:tc>
                <a:extLst>
                  <a:ext uri="{0D108BD9-81ED-4DB2-BD59-A6C34878D82A}">
                    <a16:rowId xmlns:a16="http://schemas.microsoft.com/office/drawing/2014/main" val="3966633745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6BE38CDC-DFDB-E004-D957-0CBB1CD1A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3840" y="3642623"/>
            <a:ext cx="4083360" cy="2850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032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23360-C419-8135-5DA7-6EE58FF75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DA28F-A84E-1BB7-1FB4-21BDA2870C81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25/11/2025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D37854-92E1-A67A-9C9C-A408E89D036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5</a:t>
            </a:fld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4D9D6E-E3D8-B999-92FD-BE6A93F23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61" y="1692764"/>
            <a:ext cx="6461760" cy="3552079"/>
          </a:xfrm>
          <a:prstGeom prst="rect">
            <a:avLst/>
          </a:prstGeom>
        </p:spPr>
      </p:pic>
      <p:sp>
        <p:nvSpPr>
          <p:cNvPr id="16" name="Titel 4">
            <a:extLst>
              <a:ext uri="{FF2B5EF4-FFF2-40B4-BE49-F238E27FC236}">
                <a16:creationId xmlns:a16="http://schemas.microsoft.com/office/drawing/2014/main" id="{A45C4106-E156-8535-290A-850082605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7201"/>
            <a:ext cx="10515600" cy="1325563"/>
          </a:xfrm>
        </p:spPr>
        <p:txBody>
          <a:bodyPr>
            <a:normAutofit/>
          </a:bodyPr>
          <a:lstStyle/>
          <a:p>
            <a:r>
              <a:rPr lang="de-DE" sz="4800" dirty="0"/>
              <a:t> </a:t>
            </a:r>
            <a:r>
              <a:rPr lang="en-US" sz="4800" dirty="0"/>
              <a:t>Rotor Lock</a:t>
            </a:r>
            <a:endParaRPr lang="en-GB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5AD7BB-092D-241A-A799-421EDDEDF001}"/>
              </a:ext>
            </a:extLst>
          </p:cNvPr>
          <p:cNvSpPr txBox="1"/>
          <p:nvPr/>
        </p:nvSpPr>
        <p:spPr>
          <a:xfrm>
            <a:off x="10101943" y="6262043"/>
            <a:ext cx="20900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 </a:t>
            </a:r>
            <a:r>
              <a:rPr lang="en-US" sz="1200" b="0" i="0" dirty="0">
                <a:effectLst/>
              </a:rPr>
              <a:t>ROEMHELD </a:t>
            </a:r>
            <a:endParaRPr 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4A683A-B990-051E-9B2B-C9955D48115C}"/>
              </a:ext>
            </a:extLst>
          </p:cNvPr>
          <p:cNvSpPr txBox="1"/>
          <p:nvPr/>
        </p:nvSpPr>
        <p:spPr>
          <a:xfrm>
            <a:off x="7084422" y="1692764"/>
            <a:ext cx="48158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ROEMHELD rotor lock works with hydraulic or electromechanical locking mechanism and withstands side loads up to 5,500 </a:t>
            </a:r>
            <a:r>
              <a:rPr lang="en-US" dirty="0" err="1"/>
              <a:t>kN.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Temperature range from – 30°C to + 70 °C.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1561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92521-412A-91E9-70DD-BE30F15058ED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25/11/2025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A8C254-61D3-C566-8CAD-79FD00E0E32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7" name="Titel 4">
            <a:extLst>
              <a:ext uri="{FF2B5EF4-FFF2-40B4-BE49-F238E27FC236}">
                <a16:creationId xmlns:a16="http://schemas.microsoft.com/office/drawing/2014/main" id="{061C378A-4F59-E76A-2D3B-BCEEE4BE9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DE" sz="4800" dirty="0"/>
              <a:t> </a:t>
            </a:r>
            <a:r>
              <a:rPr lang="en-US" sz="4800" dirty="0"/>
              <a:t>Rotor Lock pin Calculations </a:t>
            </a:r>
            <a:endParaRPr lang="en-GB" sz="4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DB9228-20DF-1158-DCC1-CBBE91FF2684}"/>
              </a:ext>
            </a:extLst>
          </p:cNvPr>
          <p:cNvSpPr txBox="1"/>
          <p:nvPr/>
        </p:nvSpPr>
        <p:spPr>
          <a:xfrm>
            <a:off x="317240" y="1331859"/>
            <a:ext cx="110741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Allowable bending stress of the steel material  = 0.66f</a:t>
            </a:r>
            <a:r>
              <a:rPr lang="en-US" baseline="-25000" dirty="0"/>
              <a:t>y</a:t>
            </a:r>
            <a:r>
              <a:rPr lang="en-US" dirty="0"/>
              <a:t>  (As per Steel Design Indian Standard (IS) 800, American Institute of Steel Construction (AISC) ASD 9th Edition</a:t>
            </a:r>
          </a:p>
          <a:p>
            <a:pPr algn="l"/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A3632BC-E7DA-1254-06F1-59FDE3B98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40" y="2101283"/>
            <a:ext cx="3355397" cy="190886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D779528-3934-BF28-C6BC-0E8B71707B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961" t="14153" r="12480" b="15582"/>
          <a:stretch>
            <a:fillRect/>
          </a:stretch>
        </p:blipFill>
        <p:spPr>
          <a:xfrm>
            <a:off x="4105470" y="1940768"/>
            <a:ext cx="7993224" cy="455210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9927B76-BF54-2087-68AC-FE131CB23088}"/>
              </a:ext>
            </a:extLst>
          </p:cNvPr>
          <p:cNvSpPr txBox="1"/>
          <p:nvPr/>
        </p:nvSpPr>
        <p:spPr>
          <a:xfrm>
            <a:off x="247295" y="4247346"/>
            <a:ext cx="36342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Where Yield strength of the material 30NiCrMo16-6 , </a:t>
            </a:r>
            <a:r>
              <a:rPr lang="en-US" dirty="0" err="1"/>
              <a:t>fy</a:t>
            </a:r>
            <a:r>
              <a:rPr lang="en-US" dirty="0"/>
              <a:t> = 880 MPa or 880 N/mm</a:t>
            </a:r>
            <a:r>
              <a:rPr lang="en-US" baseline="30000" dirty="0"/>
              <a:t>2</a:t>
            </a:r>
            <a:r>
              <a:rPr lang="en-US" dirty="0"/>
              <a:t> 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3F9ACDD-C22D-8E03-AB19-D7313D0AF0DB}"/>
              </a:ext>
            </a:extLst>
          </p:cNvPr>
          <p:cNvSpPr/>
          <p:nvPr/>
        </p:nvSpPr>
        <p:spPr>
          <a:xfrm>
            <a:off x="10739535" y="5682343"/>
            <a:ext cx="298579" cy="2239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20B7F7C-B2BD-1778-3461-47C3707802F3}"/>
              </a:ext>
            </a:extLst>
          </p:cNvPr>
          <p:cNvSpPr/>
          <p:nvPr/>
        </p:nvSpPr>
        <p:spPr>
          <a:xfrm>
            <a:off x="4040155" y="5682343"/>
            <a:ext cx="727788" cy="2239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27414E-FDB8-F5F3-8897-FED60C5B5821}"/>
              </a:ext>
            </a:extLst>
          </p:cNvPr>
          <p:cNvSpPr txBox="1"/>
          <p:nvPr/>
        </p:nvSpPr>
        <p:spPr>
          <a:xfrm>
            <a:off x="228106" y="5253135"/>
            <a:ext cx="32055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Allowable bending stress of the material 30NiCrMo16-6  = 0.66* 880</a:t>
            </a:r>
          </a:p>
          <a:p>
            <a:r>
              <a:rPr lang="en-US" dirty="0"/>
              <a:t>      =580.8 N/mm</a:t>
            </a:r>
            <a:r>
              <a:rPr lang="en-US" baseline="30000" dirty="0"/>
              <a:t>2</a:t>
            </a:r>
            <a:r>
              <a:rPr lang="en-US" dirty="0"/>
              <a:t>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1D7430C-F5CB-F1E2-5271-59DD6E520C0F}"/>
              </a:ext>
            </a:extLst>
          </p:cNvPr>
          <p:cNvSpPr txBox="1"/>
          <p:nvPr/>
        </p:nvSpPr>
        <p:spPr>
          <a:xfrm>
            <a:off x="247295" y="3980221"/>
            <a:ext cx="6139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From DIN EN 10083-3,Table 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204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ADD3A-3CF1-4E77-5E3B-901B86798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1E9A0-B639-A319-1A50-8C6208073594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25/11/2025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939407-0AFF-4CDA-6DF9-79714BDF873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7" name="Titel 4">
            <a:extLst>
              <a:ext uri="{FF2B5EF4-FFF2-40B4-BE49-F238E27FC236}">
                <a16:creationId xmlns:a16="http://schemas.microsoft.com/office/drawing/2014/main" id="{81B30328-044F-D584-33C5-96331C538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DE" sz="4800" dirty="0"/>
              <a:t> </a:t>
            </a:r>
            <a:r>
              <a:rPr lang="en-US" sz="4800" dirty="0"/>
              <a:t>Rotor Lock pin Calculations </a:t>
            </a:r>
            <a:endParaRPr lang="en-GB" sz="48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3914C7-031C-8BCE-46D2-A5FF86F4D7F3}"/>
              </a:ext>
            </a:extLst>
          </p:cNvPr>
          <p:cNvSpPr/>
          <p:nvPr/>
        </p:nvSpPr>
        <p:spPr>
          <a:xfrm>
            <a:off x="8220271" y="5060261"/>
            <a:ext cx="3175005" cy="818026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096355-2CD3-970D-F834-0E0368804227}"/>
              </a:ext>
            </a:extLst>
          </p:cNvPr>
          <p:cNvCxnSpPr/>
          <p:nvPr/>
        </p:nvCxnSpPr>
        <p:spPr>
          <a:xfrm flipH="1">
            <a:off x="7949683" y="5060261"/>
            <a:ext cx="270588" cy="1832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902FD73-F5D9-4ED0-1077-FCDB0E11A8C1}"/>
              </a:ext>
            </a:extLst>
          </p:cNvPr>
          <p:cNvCxnSpPr/>
          <p:nvPr/>
        </p:nvCxnSpPr>
        <p:spPr>
          <a:xfrm>
            <a:off x="7949683" y="5243483"/>
            <a:ext cx="0" cy="4985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504895-BBE7-98C8-1E1F-2C3E7303BAE1}"/>
              </a:ext>
            </a:extLst>
          </p:cNvPr>
          <p:cNvCxnSpPr/>
          <p:nvPr/>
        </p:nvCxnSpPr>
        <p:spPr>
          <a:xfrm>
            <a:off x="7949683" y="5742081"/>
            <a:ext cx="270588" cy="1362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1F3D6B7-6B21-4143-A4BB-A094BD7EF8CE}"/>
              </a:ext>
            </a:extLst>
          </p:cNvPr>
          <p:cNvCxnSpPr/>
          <p:nvPr/>
        </p:nvCxnSpPr>
        <p:spPr>
          <a:xfrm>
            <a:off x="8220271" y="6061974"/>
            <a:ext cx="306303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C214988-49C4-4DED-01A9-0D019E888BF4}"/>
              </a:ext>
            </a:extLst>
          </p:cNvPr>
          <p:cNvSpPr txBox="1"/>
          <p:nvPr/>
        </p:nvSpPr>
        <p:spPr>
          <a:xfrm>
            <a:off x="9481202" y="6080635"/>
            <a:ext cx="5411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L1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3F7233-5B30-81BF-09FA-D5AA16D190EF}"/>
              </a:ext>
            </a:extLst>
          </p:cNvPr>
          <p:cNvSpPr txBox="1"/>
          <p:nvPr/>
        </p:nvSpPr>
        <p:spPr>
          <a:xfrm>
            <a:off x="7805058" y="4788029"/>
            <a:ext cx="5411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L2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893B7C5-84B9-65E3-4E34-7DA89037BDD5}"/>
              </a:ext>
            </a:extLst>
          </p:cNvPr>
          <p:cNvCxnSpPr>
            <a:cxnSpLocks/>
          </p:cNvCxnSpPr>
          <p:nvPr/>
        </p:nvCxnSpPr>
        <p:spPr>
          <a:xfrm>
            <a:off x="7758388" y="5022591"/>
            <a:ext cx="38258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21F64EF-AB12-26D6-EE99-A5E0E910B5B5}"/>
              </a:ext>
            </a:extLst>
          </p:cNvPr>
          <p:cNvCxnSpPr>
            <a:cxnSpLocks/>
          </p:cNvCxnSpPr>
          <p:nvPr/>
        </p:nvCxnSpPr>
        <p:spPr>
          <a:xfrm flipV="1">
            <a:off x="7825019" y="5243483"/>
            <a:ext cx="0" cy="58658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1AE0929-09FB-07DB-6BA6-A54AC0EEFDAB}"/>
              </a:ext>
            </a:extLst>
          </p:cNvPr>
          <p:cNvSpPr txBox="1"/>
          <p:nvPr/>
        </p:nvSpPr>
        <p:spPr>
          <a:xfrm>
            <a:off x="7475137" y="5408170"/>
            <a:ext cx="5411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D2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B36A533-7CFE-F078-7E0B-D743EEBA1590}"/>
              </a:ext>
            </a:extLst>
          </p:cNvPr>
          <p:cNvCxnSpPr>
            <a:cxnSpLocks/>
          </p:cNvCxnSpPr>
          <p:nvPr/>
        </p:nvCxnSpPr>
        <p:spPr>
          <a:xfrm flipV="1">
            <a:off x="11504391" y="5060261"/>
            <a:ext cx="0" cy="8180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84B6EA8-A9EB-C535-0221-7818B756AC48}"/>
              </a:ext>
            </a:extLst>
          </p:cNvPr>
          <p:cNvSpPr txBox="1"/>
          <p:nvPr/>
        </p:nvSpPr>
        <p:spPr>
          <a:xfrm>
            <a:off x="11520201" y="5231884"/>
            <a:ext cx="5411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D1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A17DF42-0BE3-E601-7E65-53458E18FBDD}"/>
                  </a:ext>
                </a:extLst>
              </p:cNvPr>
              <p:cNvSpPr txBox="1"/>
              <p:nvPr/>
            </p:nvSpPr>
            <p:spPr>
              <a:xfrm>
                <a:off x="945393" y="1690688"/>
                <a:ext cx="4801395" cy="4494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dirty="0" smtClean="0"/>
                      <m:t>σ</m:t>
                    </m:r>
                    <m:r>
                      <m:rPr>
                        <m:nor/>
                      </m:rPr>
                      <a:rPr lang="en-US" b="0" i="0" dirty="0" smtClean="0"/>
                      <m:t> </m:t>
                    </m:r>
                    <m:r>
                      <m:rPr>
                        <m:nor/>
                      </m:rPr>
                      <a:rPr 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𝑀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𝑏</m:t>
                        </m:r>
                        <m:r>
                          <m:rPr>
                            <m:nor/>
                          </m:rPr>
                          <a:rPr lang="en-US" dirty="0"/>
                          <m:t>,</m:t>
                        </m:r>
                        <m:r>
                          <m:rPr>
                            <m:nor/>
                          </m:rPr>
                          <a:rPr lang="en-US" dirty="0"/>
                          <m:t>𝑝𝑖𝑛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𝑊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=</m:t>
                    </m:r>
                    <m:r>
                      <m:rPr>
                        <m:nor/>
                      </m:rPr>
                      <a:rPr lang="en-US" dirty="0"/>
                      <m:t>580.8 </m:t>
                    </m:r>
                    <m:r>
                      <m:rPr>
                        <m:nor/>
                      </m:rPr>
                      <a:rPr lang="en-US" dirty="0"/>
                      <m:t>N</m:t>
                    </m:r>
                    <m:r>
                      <m:rPr>
                        <m:nor/>
                      </m:rPr>
                      <a:rPr lang="en-US" dirty="0"/>
                      <m:t>/</m:t>
                    </m:r>
                    <m:r>
                      <m:rPr>
                        <m:nor/>
                      </m:rPr>
                      <a:rPr lang="en-US" dirty="0"/>
                      <m:t>mm</m:t>
                    </m:r>
                    <m:r>
                      <m:rPr>
                        <m:nor/>
                      </m:rPr>
                      <a:rPr lang="en-US" baseline="30000" dirty="0"/>
                      <m:t>2</m:t>
                    </m:r>
                  </m:oMath>
                </a14:m>
                <a:endPara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A17DF42-0BE3-E601-7E65-53458E18FB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393" y="1690688"/>
                <a:ext cx="4801395" cy="4494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74EAF1-DAFD-4E36-1B37-0A0E7FCE2F26}"/>
                  </a:ext>
                </a:extLst>
              </p:cNvPr>
              <p:cNvSpPr txBox="1"/>
              <p:nvPr/>
            </p:nvSpPr>
            <p:spPr>
              <a:xfrm>
                <a:off x="945393" y="3137859"/>
                <a:ext cx="4801395" cy="7253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dirty="0" smtClean="0"/>
                      <m:t>W</m:t>
                    </m:r>
                    <m:r>
                      <m:rPr>
                        <m:nor/>
                      </m:rPr>
                      <a:rPr 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fr-FR" dirty="0"/>
                          <m:t>𝜋</m:t>
                        </m:r>
                        <m:r>
                          <m:rPr>
                            <m:nor/>
                          </m:rPr>
                          <a:rPr lang="fr-FR" dirty="0"/>
                          <m:t> × </m:t>
                        </m:r>
                        <m:r>
                          <m:rPr>
                            <m:nor/>
                          </m:rPr>
                          <a:rPr lang="fr-FR" dirty="0"/>
                          <m:t>𝑑</m:t>
                        </m:r>
                        <m:r>
                          <m:rPr>
                            <m:nor/>
                          </m:rPr>
                          <a:rPr lang="fr-FR" baseline="30000" dirty="0"/>
                          <m:t>3</m:t>
                        </m:r>
                      </m:num>
                      <m:den>
                        <m:r>
                          <m:rPr>
                            <m:nor/>
                          </m:rPr>
                          <a:rPr lang="fr-FR" dirty="0"/>
                          <m:t>32</m:t>
                        </m:r>
                      </m:den>
                    </m:f>
                  </m:oMath>
                </a14:m>
                <a:endParaRPr lang="en-US" dirty="0">
                  <a:latin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74EAF1-DAFD-4E36-1B37-0A0E7FCE2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393" y="3137859"/>
                <a:ext cx="4801395" cy="725327"/>
              </a:xfrm>
              <a:prstGeom prst="rect">
                <a:avLst/>
              </a:prstGeom>
              <a:blipFill>
                <a:blip r:embed="rId3"/>
                <a:stretch>
                  <a:fillRect l="-2665" b="-15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692567F-3FBA-8F15-64E8-A79053F74A98}"/>
                  </a:ext>
                </a:extLst>
              </p:cNvPr>
              <p:cNvSpPr txBox="1"/>
              <p:nvPr/>
            </p:nvSpPr>
            <p:spPr>
              <a:xfrm>
                <a:off x="913763" y="2468776"/>
                <a:ext cx="4801395" cy="4389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dirty="0" smtClean="0"/>
                      <m:t>W</m:t>
                    </m:r>
                    <m:r>
                      <m:rPr>
                        <m:nor/>
                      </m:rPr>
                      <a:rPr 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>
                            <a:solidFill>
                              <a:srgbClr val="1B1C1D"/>
                            </a:solidFill>
                          </a:rPr>
                          <m:t>606314.7 </m:t>
                        </m:r>
                        <m:r>
                          <m:rPr>
                            <m:nor/>
                          </m:rPr>
                          <a:rPr lang="en-US" dirty="0">
                            <a:solidFill>
                              <a:srgbClr val="1B1C1D"/>
                            </a:solidFill>
                          </a:rPr>
                          <m:t>KNmm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580.8 </m:t>
                        </m:r>
                        <m:r>
                          <m:rPr>
                            <m:nor/>
                          </m:rPr>
                          <a:rPr lang="en-US" dirty="0"/>
                          <m:t>N</m:t>
                        </m:r>
                        <m:r>
                          <m:rPr>
                            <m:nor/>
                          </m:rPr>
                          <a:rPr lang="en-US" dirty="0"/>
                          <m:t>/</m:t>
                        </m:r>
                        <m:r>
                          <m:rPr>
                            <m:nor/>
                          </m:rPr>
                          <a:rPr lang="en-US" dirty="0"/>
                          <m:t>mm</m:t>
                        </m:r>
                        <m:r>
                          <m:rPr>
                            <m:nor/>
                          </m:rPr>
                          <a:rPr lang="en-US" baseline="30000" dirty="0"/>
                          <m:t>2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=1043930.268</a:t>
                </a:r>
                <a:r>
                  <a:rPr 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692567F-3FBA-8F15-64E8-A79053F74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763" y="2468776"/>
                <a:ext cx="4801395" cy="438903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C49D8ADF-57D6-A670-5FA3-3C49CB8DD839}"/>
              </a:ext>
            </a:extLst>
          </p:cNvPr>
          <p:cNvSpPr txBox="1"/>
          <p:nvPr/>
        </p:nvSpPr>
        <p:spPr>
          <a:xfrm>
            <a:off x="945393" y="3685767"/>
            <a:ext cx="480139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cs typeface="Times New Roman" panose="02020603050405020304" pitchFamily="18" charset="0"/>
              </a:rPr>
              <a:t>D= D</a:t>
            </a:r>
            <a:r>
              <a:rPr lang="en-US" b="0" baseline="-25000" dirty="0">
                <a:cs typeface="Times New Roman" panose="02020603050405020304" pitchFamily="18" charset="0"/>
              </a:rPr>
              <a:t>1 </a:t>
            </a:r>
            <a:r>
              <a:rPr lang="en-US" b="0" dirty="0">
                <a:cs typeface="Times New Roman" panose="02020603050405020304" pitchFamily="18" charset="0"/>
              </a:rPr>
              <a:t>=</a:t>
            </a:r>
            <a:r>
              <a:rPr lang="en-US" b="0" baseline="-25000" dirty="0">
                <a:cs typeface="Times New Roman" panose="02020603050405020304" pitchFamily="18" charset="0"/>
              </a:rPr>
              <a:t> </a:t>
            </a:r>
            <a:r>
              <a:rPr lang="en-US" b="0" dirty="0">
                <a:cs typeface="Times New Roman" panose="02020603050405020304" pitchFamily="18" charset="0"/>
              </a:rPr>
              <a:t>219.9 = 220 mm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483CB6-EBC5-4650-94A3-89FD012CC24C}"/>
              </a:ext>
            </a:extLst>
          </p:cNvPr>
          <p:cNvSpPr txBox="1"/>
          <p:nvPr/>
        </p:nvSpPr>
        <p:spPr>
          <a:xfrm>
            <a:off x="913763" y="4125234"/>
            <a:ext cx="42983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Length of Lock pin L1+L2 = 930 mm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D</a:t>
            </a:r>
            <a:r>
              <a:rPr lang="en-US" baseline="-25000" dirty="0">
                <a:cs typeface="Times New Roman" panose="02020603050405020304" pitchFamily="18" charset="0"/>
              </a:rPr>
              <a:t>2</a:t>
            </a:r>
            <a:r>
              <a:rPr lang="en-US" dirty="0">
                <a:cs typeface="Times New Roman" panose="02020603050405020304" pitchFamily="18" charset="0"/>
              </a:rPr>
              <a:t> = 220-30=190mm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L</a:t>
            </a:r>
            <a:r>
              <a:rPr lang="en-US" baseline="-25000" dirty="0">
                <a:cs typeface="Times New Roman" panose="02020603050405020304" pitchFamily="18" charset="0"/>
              </a:rPr>
              <a:t>2</a:t>
            </a:r>
            <a:r>
              <a:rPr lang="en-US" dirty="0">
                <a:cs typeface="Times New Roman" panose="02020603050405020304" pitchFamily="18" charset="0"/>
              </a:rPr>
              <a:t>= 15mm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818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26884-F06A-50B8-F3EE-90A795704329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25/11/2025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E769E8-C593-4D78-8CD1-A563E61B444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8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897DA6-E79F-89ED-9404-2E9480148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52" y="1402292"/>
            <a:ext cx="4446904" cy="4783904"/>
          </a:xfrm>
          <a:prstGeom prst="rect">
            <a:avLst/>
          </a:prstGeom>
        </p:spPr>
      </p:pic>
      <p:sp>
        <p:nvSpPr>
          <p:cNvPr id="8" name="Titel 4">
            <a:extLst>
              <a:ext uri="{FF2B5EF4-FFF2-40B4-BE49-F238E27FC236}">
                <a16:creationId xmlns:a16="http://schemas.microsoft.com/office/drawing/2014/main" id="{94E1684E-311E-7CEB-1C0D-481E7DA10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DE" sz="4800" dirty="0"/>
              <a:t> </a:t>
            </a:r>
            <a:r>
              <a:rPr lang="en-US" sz="4800" dirty="0"/>
              <a:t>Rotor Lock Disc Calculations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CF1928D-4FF0-8AC1-DC53-D83881E58EA8}"/>
                  </a:ext>
                </a:extLst>
              </p:cNvPr>
              <p:cNvSpPr txBox="1"/>
              <p:nvPr/>
            </p:nvSpPr>
            <p:spPr>
              <a:xfrm>
                <a:off x="370863" y="1690688"/>
                <a:ext cx="2516054" cy="4866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𝑭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M</m:t>
                        </m:r>
                        <m:r>
                          <a:rPr lang="en-US" sz="2000" b="0" i="1" baseline="-2500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000" b="0" i="1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2∗</m:t>
                        </m:r>
                        <m:r>
                          <m:rPr>
                            <m:nor/>
                          </m:rPr>
                          <a:rPr lang="en-US" sz="2000" b="0" i="1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r</m:t>
                        </m:r>
                      </m:den>
                    </m:f>
                  </m:oMath>
                </a14:m>
                <a:endPara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CF1928D-4FF0-8AC1-DC53-D83881E58E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863" y="1690688"/>
                <a:ext cx="2516054" cy="4866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EEA4BE2E-636E-7C7C-2A16-F81135B3A516}"/>
              </a:ext>
            </a:extLst>
          </p:cNvPr>
          <p:cNvSpPr txBox="1"/>
          <p:nvPr/>
        </p:nvSpPr>
        <p:spPr>
          <a:xfrm>
            <a:off x="1664796" y="1829893"/>
            <a:ext cx="34622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where, Lock pin hole circle radius r = 1425mm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990A3C-3A0C-BF65-48E3-00EA0984112E}"/>
              </a:ext>
            </a:extLst>
          </p:cNvPr>
          <p:cNvSpPr txBox="1"/>
          <p:nvPr/>
        </p:nvSpPr>
        <p:spPr>
          <a:xfrm>
            <a:off x="299248" y="2443196"/>
            <a:ext cx="6193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per Prof. Peter Quell the load case with  Maximum Torque of  2.5*M</a:t>
            </a:r>
            <a:r>
              <a:rPr lang="en-US" baseline="-25000" dirty="0"/>
              <a:t>XR rated</a:t>
            </a:r>
            <a:r>
              <a:rPr lang="en-US" dirty="0"/>
              <a:t> = 12800KNm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B50ACAC-24C8-1B7F-72B6-CBA3B9ADDCB7}"/>
                  </a:ext>
                </a:extLst>
              </p:cNvPr>
              <p:cNvSpPr txBox="1"/>
              <p:nvPr/>
            </p:nvSpPr>
            <p:spPr>
              <a:xfrm>
                <a:off x="406769" y="3228732"/>
                <a:ext cx="251605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𝑭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= 4491.22 </m:t>
                    </m:r>
                    <m:r>
                      <m:rPr>
                        <m:nor/>
                      </m:rPr>
                      <a:rPr lang="en-US" sz="2000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KN</m:t>
                    </m:r>
                  </m:oMath>
                </a14:m>
                <a:endPara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B50ACAC-24C8-1B7F-72B6-CBA3B9ADD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69" y="3228732"/>
                <a:ext cx="2516054" cy="307777"/>
              </a:xfrm>
              <a:prstGeom prst="rect">
                <a:avLst/>
              </a:prstGeom>
              <a:blipFill>
                <a:blip r:embed="rId4"/>
                <a:stretch>
                  <a:fillRect l="-5825" t="-22000" b="-4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16F6AED4-4268-AADA-588A-416E14F7EB77}"/>
              </a:ext>
            </a:extLst>
          </p:cNvPr>
          <p:cNvSpPr txBox="1"/>
          <p:nvPr/>
        </p:nvSpPr>
        <p:spPr>
          <a:xfrm>
            <a:off x="326169" y="3609578"/>
            <a:ext cx="6139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Bending Moment acting on the Lock pin ,</a:t>
            </a:r>
            <a:r>
              <a:rPr lang="en-US" dirty="0">
                <a:solidFill>
                  <a:srgbClr val="1B1C1D"/>
                </a:solidFill>
              </a:rPr>
              <a:t> </a:t>
            </a:r>
            <a:r>
              <a:rPr lang="en-US" dirty="0" err="1">
                <a:solidFill>
                  <a:srgbClr val="1B1C1D"/>
                </a:solidFill>
              </a:rPr>
              <a:t>M</a:t>
            </a:r>
            <a:r>
              <a:rPr lang="en-US" baseline="-25000" dirty="0" err="1">
                <a:solidFill>
                  <a:srgbClr val="1B1C1D"/>
                </a:solidFill>
              </a:rPr>
              <a:t>bpin</a:t>
            </a:r>
            <a:r>
              <a:rPr lang="en-US" baseline="-25000" dirty="0">
                <a:solidFill>
                  <a:srgbClr val="1B1C1D"/>
                </a:solidFill>
              </a:rPr>
              <a:t>=</a:t>
            </a:r>
            <a:r>
              <a:rPr lang="en-US" dirty="0">
                <a:solidFill>
                  <a:srgbClr val="1B1C1D"/>
                </a:solidFill>
              </a:rPr>
              <a:t>F*L</a:t>
            </a:r>
            <a:endParaRPr lang="en-US" dirty="0">
              <a:solidFill>
                <a:srgbClr val="1B1C1D"/>
              </a:solidFill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D39245C-1B82-B63C-875D-2A0EB0088DF6}"/>
                  </a:ext>
                </a:extLst>
              </p:cNvPr>
              <p:cNvSpPr txBox="1"/>
              <p:nvPr/>
            </p:nvSpPr>
            <p:spPr>
              <a:xfrm>
                <a:off x="445269" y="4099294"/>
                <a:ext cx="4461621" cy="44614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L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𝑇h𝑖𝑐𝑘𝑛𝑒𝑠𝑠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000" b="0" i="1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+10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𝑚𝑚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𝑐𝑙𝑒𝑎𝑟𝑎𝑛𝑐𝑒</m:t>
                    </m:r>
                  </m:oMath>
                </a14:m>
                <a:endPara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D39245C-1B82-B63C-875D-2A0EB0088D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69" y="4099294"/>
                <a:ext cx="4461621" cy="4461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936505DB-5455-F7CB-87AC-7D7064BA6D52}"/>
              </a:ext>
            </a:extLst>
          </p:cNvPr>
          <p:cNvSpPr txBox="1"/>
          <p:nvPr/>
        </p:nvSpPr>
        <p:spPr>
          <a:xfrm>
            <a:off x="4576692" y="4221962"/>
            <a:ext cx="23136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( From Optimus Shakti and 60 E)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567743-50DE-7963-8D75-AC38F04F1DB4}"/>
              </a:ext>
            </a:extLst>
          </p:cNvPr>
          <p:cNvSpPr txBox="1"/>
          <p:nvPr/>
        </p:nvSpPr>
        <p:spPr>
          <a:xfrm>
            <a:off x="370863" y="4607724"/>
            <a:ext cx="6139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Thickness =Thickness of Flange+ Width of Lock disc                       	         = 150+100= 250 mm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F0003F8-5ED1-CADA-F4CE-71E8BD79C722}"/>
              </a:ext>
            </a:extLst>
          </p:cNvPr>
          <p:cNvCxnSpPr/>
          <p:nvPr/>
        </p:nvCxnSpPr>
        <p:spPr>
          <a:xfrm flipH="1">
            <a:off x="10478278" y="3429000"/>
            <a:ext cx="475861" cy="10750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6565E5F-E1D2-8E65-7FB4-20C6244C6247}"/>
              </a:ext>
            </a:extLst>
          </p:cNvPr>
          <p:cNvSpPr txBox="1"/>
          <p:nvPr/>
        </p:nvSpPr>
        <p:spPr>
          <a:xfrm>
            <a:off x="10161037" y="3044067"/>
            <a:ext cx="11927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Thickness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25FBA19-A86D-FDE4-1F37-34774C036942}"/>
                  </a:ext>
                </a:extLst>
              </p:cNvPr>
              <p:cNvSpPr txBox="1"/>
              <p:nvPr/>
            </p:nvSpPr>
            <p:spPr>
              <a:xfrm>
                <a:off x="445269" y="5185248"/>
                <a:ext cx="5650731" cy="4396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L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250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000" b="0" i="1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+10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𝑚𝑚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𝑐𝑙𝑒𝑎𝑟𝑎𝑛𝑐𝑒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=135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𝑚𝑚</m:t>
                    </m:r>
                  </m:oMath>
                </a14:m>
                <a:endPara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25FBA19-A86D-FDE4-1F37-34774C036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69" y="5185248"/>
                <a:ext cx="5650731" cy="4396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C073825D-B5D6-28F6-D5D6-35719A90E1C5}"/>
              </a:ext>
            </a:extLst>
          </p:cNvPr>
          <p:cNvSpPr txBox="1"/>
          <p:nvPr/>
        </p:nvSpPr>
        <p:spPr>
          <a:xfrm>
            <a:off x="370863" y="5726529"/>
            <a:ext cx="6139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1B1C1D"/>
                </a:solidFill>
                <a:effectLst/>
              </a:rPr>
              <a:t>M</a:t>
            </a:r>
            <a:r>
              <a:rPr lang="en-US" baseline="-25000" dirty="0" err="1">
                <a:solidFill>
                  <a:srgbClr val="1B1C1D"/>
                </a:solidFill>
                <a:effectLst/>
              </a:rPr>
              <a:t>bpin</a:t>
            </a:r>
            <a:r>
              <a:rPr lang="en-US" baseline="-25000" dirty="0">
                <a:solidFill>
                  <a:srgbClr val="1B1C1D"/>
                </a:solidFill>
                <a:effectLst/>
              </a:rPr>
              <a:t>=</a:t>
            </a:r>
            <a:r>
              <a:rPr lang="en-US" dirty="0">
                <a:solidFill>
                  <a:srgbClr val="1B1C1D"/>
                </a:solidFill>
                <a:effectLst/>
              </a:rPr>
              <a:t>F*L= 606314.7 </a:t>
            </a:r>
            <a:r>
              <a:rPr lang="en-US" dirty="0" err="1">
                <a:solidFill>
                  <a:srgbClr val="1B1C1D"/>
                </a:solidFill>
                <a:effectLst/>
              </a:rPr>
              <a:t>KNmm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1D9563F-4B85-7F9D-9419-E716B8948DF6}"/>
              </a:ext>
            </a:extLst>
          </p:cNvPr>
          <p:cNvSpPr txBox="1"/>
          <p:nvPr/>
        </p:nvSpPr>
        <p:spPr>
          <a:xfrm>
            <a:off x="8706187" y="6335970"/>
            <a:ext cx="3544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 Machinery Components, Prof. Peter Quell</a:t>
            </a:r>
          </a:p>
          <a:p>
            <a:r>
              <a:rPr lang="en-US" sz="1200" b="0" i="0" dirty="0">
                <a:effectLst/>
              </a:rPr>
              <a:t> 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88160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422F4-4BA0-712B-E065-4427FB66EC7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25/11/2025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024AA6-06F5-3EDC-4884-04BFD111D87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9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CFDCA0-7724-4CE0-27DD-CEE026A9DF81}"/>
                  </a:ext>
                </a:extLst>
              </p:cNvPr>
              <p:cNvSpPr txBox="1"/>
              <p:nvPr/>
            </p:nvSpPr>
            <p:spPr>
              <a:xfrm>
                <a:off x="979466" y="1584854"/>
                <a:ext cx="7278125" cy="808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pressure acting on the hole of the disk ,</a:t>
                </a:r>
                <a:r>
                  <a:rPr lang="en-US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US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F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den>
                    </m:f>
                  </m:oMath>
                </a14:m>
                <a:endParaRPr lang="en-US" dirty="0"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CFDCA0-7724-4CE0-27DD-CEE026A9DF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466" y="1584854"/>
                <a:ext cx="7278125" cy="808298"/>
              </a:xfrm>
              <a:prstGeom prst="rect">
                <a:avLst/>
              </a:prstGeom>
              <a:blipFill>
                <a:blip r:embed="rId2"/>
                <a:stretch>
                  <a:fillRect l="-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ACDD5BA-53D7-525A-F8B3-EEFB1991E76E}"/>
                  </a:ext>
                </a:extLst>
              </p:cNvPr>
              <p:cNvSpPr txBox="1"/>
              <p:nvPr/>
            </p:nvSpPr>
            <p:spPr>
              <a:xfrm>
                <a:off x="1052804" y="3201450"/>
                <a:ext cx="5043196" cy="4937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000" dirty="0">
                            <a:latin typeface="Cambria Math" panose="02040503050406030204" pitchFamily="18" charset="0"/>
                          </a:rPr>
                          <m:t>F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0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den>
                    </m:f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4491.22 </m:t>
                        </m:r>
                        <m:r>
                          <m:rPr>
                            <m:nor/>
                          </m:rP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KN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30105 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𝑚𝑚</m:t>
                        </m:r>
                        <m:r>
                          <a:rPr lang="en-US" sz="2000" b="0" i="1" baseline="3000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=149.18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m:rPr>
                        <m:nor/>
                      </m:rPr>
                      <a:rPr lang="en-US" sz="2000" dirty="0"/>
                      <m:t>mm</m:t>
                    </m:r>
                    <m:r>
                      <m:rPr>
                        <m:nor/>
                      </m:rPr>
                      <a:rPr lang="en-US" sz="2000" baseline="30000" dirty="0"/>
                      <m:t>2</m:t>
                    </m:r>
                  </m:oMath>
                </a14:m>
                <a:endPara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ACDD5BA-53D7-525A-F8B3-EEFB1991E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804" y="3201450"/>
                <a:ext cx="5043196" cy="4937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3348AA60-230F-6641-4615-27FFE6F47B23}"/>
              </a:ext>
            </a:extLst>
          </p:cNvPr>
          <p:cNvSpPr txBox="1"/>
          <p:nvPr/>
        </p:nvSpPr>
        <p:spPr>
          <a:xfrm>
            <a:off x="979466" y="2223875"/>
            <a:ext cx="58788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highlight>
                  <a:srgbClr val="FFFFFF"/>
                </a:highlight>
              </a:rPr>
              <a:t>The disk hole = Diameter of lock pin +3mm =  220+3= 223 mm </a:t>
            </a:r>
            <a:endParaRPr lang="en-US" sz="1600" dirty="0">
              <a:solidFill>
                <a:schemeClr val="bg1"/>
              </a:solidFill>
              <a:highlight>
                <a:srgbClr val="FFFFFF"/>
              </a:highligh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CFB603-D40D-C0FE-85E0-252DAB076924}"/>
              </a:ext>
            </a:extLst>
          </p:cNvPr>
          <p:cNvSpPr txBox="1"/>
          <p:nvPr/>
        </p:nvSpPr>
        <p:spPr>
          <a:xfrm>
            <a:off x="979466" y="2697273"/>
            <a:ext cx="6139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Pressure acting area of the hole, A=223*135=30105 mm</a:t>
            </a:r>
            <a:r>
              <a:rPr lang="en-US" baseline="30000" dirty="0"/>
              <a:t>2</a:t>
            </a:r>
          </a:p>
        </p:txBody>
      </p:sp>
      <p:sp>
        <p:nvSpPr>
          <p:cNvPr id="19" name="Titel 4">
            <a:extLst>
              <a:ext uri="{FF2B5EF4-FFF2-40B4-BE49-F238E27FC236}">
                <a16:creationId xmlns:a16="http://schemas.microsoft.com/office/drawing/2014/main" id="{CEFDEF85-50D8-E286-B8A7-B25A5C323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DE" sz="4800" dirty="0"/>
              <a:t> </a:t>
            </a:r>
            <a:r>
              <a:rPr lang="en-US" sz="4800" dirty="0"/>
              <a:t>Rotor Lock Disc Calculations</a:t>
            </a:r>
            <a:endParaRPr lang="en-GB" sz="4800" dirty="0"/>
          </a:p>
        </p:txBody>
      </p:sp>
    </p:spTree>
    <p:extLst>
      <p:ext uri="{BB962C8B-B14F-4D97-AF65-F5344CB8AC3E}">
        <p14:creationId xmlns:p14="http://schemas.microsoft.com/office/powerpoint/2010/main" val="2965330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66393-4D15-AD0D-CFA2-EA386640759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25/11/2025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AC14F9-6522-9630-1CB9-2036DBB13F6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10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60519C-2B1B-8924-7F07-DFA5EF73E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" y="1495598"/>
            <a:ext cx="5080484" cy="4742642"/>
          </a:xfrm>
          <a:prstGeom prst="rect">
            <a:avLst/>
          </a:prstGeom>
        </p:spPr>
      </p:pic>
      <p:sp>
        <p:nvSpPr>
          <p:cNvPr id="12" name="Titel 4">
            <a:extLst>
              <a:ext uri="{FF2B5EF4-FFF2-40B4-BE49-F238E27FC236}">
                <a16:creationId xmlns:a16="http://schemas.microsoft.com/office/drawing/2014/main" id="{31550609-E1D3-96E7-C7F7-84E35A394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DE" sz="4800" dirty="0"/>
              <a:t> Shaft </a:t>
            </a:r>
            <a:r>
              <a:rPr lang="en-US" sz="4800" dirty="0"/>
              <a:t>Flange</a:t>
            </a:r>
            <a:endParaRPr lang="en-GB" sz="4800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354806F-530B-38BF-5E8C-E1E021506D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390273"/>
              </p:ext>
            </p:extLst>
          </p:nvPr>
        </p:nvGraphicFramePr>
        <p:xfrm>
          <a:off x="5650429" y="1495598"/>
          <a:ext cx="6438580" cy="1724611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3007055">
                  <a:extLst>
                    <a:ext uri="{9D8B030D-6E8A-4147-A177-3AD203B41FA5}">
                      <a16:colId xmlns:a16="http://schemas.microsoft.com/office/drawing/2014/main" val="2533635215"/>
                    </a:ext>
                  </a:extLst>
                </a:gridCol>
                <a:gridCol w="1813676">
                  <a:extLst>
                    <a:ext uri="{9D8B030D-6E8A-4147-A177-3AD203B41FA5}">
                      <a16:colId xmlns:a16="http://schemas.microsoft.com/office/drawing/2014/main" val="4063132216"/>
                    </a:ext>
                  </a:extLst>
                </a:gridCol>
                <a:gridCol w="1116607">
                  <a:extLst>
                    <a:ext uri="{9D8B030D-6E8A-4147-A177-3AD203B41FA5}">
                      <a16:colId xmlns:a16="http://schemas.microsoft.com/office/drawing/2014/main" val="116457611"/>
                    </a:ext>
                  </a:extLst>
                </a:gridCol>
                <a:gridCol w="501242">
                  <a:extLst>
                    <a:ext uri="{9D8B030D-6E8A-4147-A177-3AD203B41FA5}">
                      <a16:colId xmlns:a16="http://schemas.microsoft.com/office/drawing/2014/main" val="423459598"/>
                    </a:ext>
                  </a:extLst>
                </a:gridCol>
              </a:tblGrid>
              <a:tr h="31397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1" dirty="0">
                          <a:effectLst/>
                        </a:rPr>
                        <a:t>Description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1" dirty="0">
                          <a:effectLst/>
                        </a:rPr>
                        <a:t>Symbol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1" dirty="0">
                          <a:effectLst/>
                        </a:rPr>
                        <a:t>Value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1" dirty="0">
                          <a:effectLst/>
                        </a:rPr>
                        <a:t>Unit</a:t>
                      </a:r>
                    </a:p>
                  </a:txBody>
                  <a:tcPr marL="20270" marR="20270" marT="13513" marB="13513" anchor="b"/>
                </a:tc>
                <a:extLst>
                  <a:ext uri="{0D108BD9-81ED-4DB2-BD59-A6C34878D82A}">
                    <a16:rowId xmlns:a16="http://schemas.microsoft.com/office/drawing/2014/main" val="114745481"/>
                  </a:ext>
                </a:extLst>
              </a:tr>
              <a:tr h="41349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Outer screw circle diameter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dt2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1900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mm</a:t>
                      </a:r>
                    </a:p>
                  </a:txBody>
                  <a:tcPr marL="20270" marR="20270" marT="13513" marB="13513" anchor="b"/>
                </a:tc>
                <a:extLst>
                  <a:ext uri="{0D108BD9-81ED-4DB2-BD59-A6C34878D82A}">
                    <a16:rowId xmlns:a16="http://schemas.microsoft.com/office/drawing/2014/main" val="1265938367"/>
                  </a:ext>
                </a:extLst>
              </a:tr>
              <a:tr h="41349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Inner screw circle diameter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dt1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1740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mm</a:t>
                      </a:r>
                    </a:p>
                  </a:txBody>
                  <a:tcPr marL="20270" marR="20270" marT="13513" marB="13513" anchor="b"/>
                </a:tc>
                <a:extLst>
                  <a:ext uri="{0D108BD9-81ED-4DB2-BD59-A6C34878D82A}">
                    <a16:rowId xmlns:a16="http://schemas.microsoft.com/office/drawing/2014/main" val="2019828821"/>
                  </a:ext>
                </a:extLst>
              </a:tr>
              <a:tr h="58365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No. of screws per bolt circle diameter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1600" dirty="0">
                          <a:effectLst/>
                        </a:rPr>
                        <a:t>N</a:t>
                      </a:r>
                      <a:r>
                        <a:rPr lang="pt-BR" sz="1600" baseline="-25000" dirty="0">
                          <a:effectLst/>
                        </a:rPr>
                        <a:t>total</a:t>
                      </a:r>
                      <a:r>
                        <a:rPr lang="pt-BR" sz="1600" dirty="0">
                          <a:effectLst/>
                        </a:rPr>
                        <a:t> = N</a:t>
                      </a:r>
                      <a:r>
                        <a:rPr lang="pt-BR" sz="1600" baseline="-25000" dirty="0">
                          <a:effectLst/>
                        </a:rPr>
                        <a:t>ICB</a:t>
                      </a:r>
                      <a:r>
                        <a:rPr lang="pt-BR" sz="1600" dirty="0">
                          <a:effectLst/>
                        </a:rPr>
                        <a:t> + N</a:t>
                      </a:r>
                      <a:r>
                        <a:rPr lang="pt-BR" sz="1600" baseline="-25000" dirty="0">
                          <a:effectLst/>
                        </a:rPr>
                        <a:t>OCB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63+68=131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600" dirty="0">
                        <a:effectLst/>
                      </a:endParaRPr>
                    </a:p>
                  </a:txBody>
                  <a:tcPr marL="20270" marR="20270" marT="13513" marB="13513" anchor="b"/>
                </a:tc>
                <a:extLst>
                  <a:ext uri="{0D108BD9-81ED-4DB2-BD59-A6C34878D82A}">
                    <a16:rowId xmlns:a16="http://schemas.microsoft.com/office/drawing/2014/main" val="99110847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A96BF84E-48B0-E7FB-B82B-6962EF8CE2A0}"/>
              </a:ext>
            </a:extLst>
          </p:cNvPr>
          <p:cNvSpPr txBox="1"/>
          <p:nvPr/>
        </p:nvSpPr>
        <p:spPr>
          <a:xfrm>
            <a:off x="5974158" y="3513405"/>
            <a:ext cx="579112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Hole </a:t>
            </a:r>
            <a:r>
              <a:rPr lang="en-US" sz="1600" dirty="0" err="1"/>
              <a:t>dia</a:t>
            </a:r>
            <a:r>
              <a:rPr lang="en-US" sz="1600" dirty="0"/>
              <a:t>  for M36 bolts =   39 mm (36+3mm)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Rotor lock   hole circle diameter =  2850 mm (Assumed based on feed back drawing)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Flange outer </a:t>
            </a:r>
            <a:r>
              <a:rPr lang="en-US" sz="1600" dirty="0" err="1"/>
              <a:t>dia</a:t>
            </a:r>
            <a:r>
              <a:rPr lang="en-US" sz="1600" dirty="0"/>
              <a:t> = 2850 +50 = 2900mm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E710C0-E7D1-9096-DE59-F37EB2F4700E}"/>
              </a:ext>
            </a:extLst>
          </p:cNvPr>
          <p:cNvSpPr txBox="1"/>
          <p:nvPr/>
        </p:nvSpPr>
        <p:spPr>
          <a:xfrm>
            <a:off x="8706187" y="6335970"/>
            <a:ext cx="3544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 Machinery Components, Prof. Peter Quell</a:t>
            </a:r>
          </a:p>
          <a:p>
            <a:r>
              <a:rPr lang="en-US" sz="1200" b="0" i="0" dirty="0">
                <a:effectLst/>
              </a:rPr>
              <a:t> 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27AF64D-6F88-7F7E-F1CE-0500C205C668}"/>
                  </a:ext>
                </a:extLst>
              </p:cNvPr>
              <p:cNvSpPr txBox="1"/>
              <p:nvPr/>
            </p:nvSpPr>
            <p:spPr>
              <a:xfrm>
                <a:off x="5974158" y="4719335"/>
                <a:ext cx="5659042" cy="1026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Circumference C1=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𝐵𝐶𝐷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∗1740</m:t>
                    </m:r>
                  </m:oMath>
                </a14:m>
                <a:r>
                  <a:rPr lang="en-US" sz="1600" b="0" dirty="0">
                    <a:ea typeface="Cambria Math" panose="02040503050406030204" pitchFamily="18" charset="0"/>
                  </a:rPr>
                  <a:t> =5463.6 mm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Total number of Holes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1" baseline="-2500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Tool</m:t>
                        </m:r>
                        <m:r>
                          <m:rPr>
                            <m:nor/>
                          </m:rPr>
                          <a:rPr lang="en-US" b="0" i="1" baseline="-2500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0" i="1" baseline="-2500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dia</m:t>
                        </m:r>
                        <m:r>
                          <m:rPr>
                            <m:nor/>
                          </m:rPr>
                          <a:rPr lang="en-US" b="0" i="1" baseline="-2500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sz="16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sz="160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87 </m:t>
                        </m:r>
                        <m:r>
                          <m:rPr>
                            <m:nor/>
                          </m:rP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mm</m:t>
                        </m:r>
                        <m:r>
                          <m:rPr>
                            <m:nor/>
                          </m:rPr>
                          <a:rPr lang="en-US" sz="1600" i="1" baseline="-25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sz="1400" dirty="0"/>
                  <a:t>  =63 </a:t>
                </a:r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27AF64D-6F88-7F7E-F1CE-0500C205C6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4158" y="4719335"/>
                <a:ext cx="5659042" cy="1026820"/>
              </a:xfrm>
              <a:prstGeom prst="rect">
                <a:avLst/>
              </a:prstGeom>
              <a:blipFill>
                <a:blip r:embed="rId3"/>
                <a:stretch>
                  <a:fillRect l="-431" t="-1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4700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C08FB-01F9-91C2-AFDD-7BE4D506458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25/11/2025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6C3807-C849-7272-B326-CD99718BF9B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11</a:t>
            </a:fld>
            <a:endParaRPr lang="en-GB" dirty="0"/>
          </a:p>
        </p:txBody>
      </p:sp>
      <p:graphicFrame>
        <p:nvGraphicFramePr>
          <p:cNvPr id="7" name="Content Placeholder 7">
            <a:extLst>
              <a:ext uri="{FF2B5EF4-FFF2-40B4-BE49-F238E27FC236}">
                <a16:creationId xmlns:a16="http://schemas.microsoft.com/office/drawing/2014/main" id="{EC4120E7-C538-73DE-8B17-5D7643E7F2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3470660"/>
              </p:ext>
            </p:extLst>
          </p:nvPr>
        </p:nvGraphicFramePr>
        <p:xfrm>
          <a:off x="913292" y="1530176"/>
          <a:ext cx="10515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9216410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439905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 Members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8106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Divyesh Mistry &amp; Venkata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Sreekanth.k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Rotor Shaft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437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Sreehari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Padachery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&amp; Jill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Sadariya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Spherical Roller Bearing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3861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Sreehari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Padachery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  Jill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Sadariya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Rotor Lock Pin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231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Venkata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Sreekanth.k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 Divyesh Mistry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Rotor Lock Disc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265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Sreehari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Padachery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Bearing Housing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14688"/>
                  </a:ext>
                </a:extLst>
              </a:tr>
            </a:tbl>
          </a:graphicData>
        </a:graphic>
      </p:graphicFrame>
      <p:sp>
        <p:nvSpPr>
          <p:cNvPr id="9" name="Titel 4">
            <a:extLst>
              <a:ext uri="{FF2B5EF4-FFF2-40B4-BE49-F238E27FC236}">
                <a16:creationId xmlns:a16="http://schemas.microsoft.com/office/drawing/2014/main" id="{07CD837B-4735-CF00-A3D5-E35301176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7201"/>
            <a:ext cx="10515600" cy="1325563"/>
          </a:xfrm>
        </p:spPr>
        <p:txBody>
          <a:bodyPr>
            <a:normAutofit/>
          </a:bodyPr>
          <a:lstStyle/>
          <a:p>
            <a:r>
              <a:rPr lang="de-DE" sz="4800" dirty="0"/>
              <a:t> </a:t>
            </a:r>
            <a:r>
              <a:rPr lang="en-US" sz="4800" dirty="0"/>
              <a:t>Task Performed up to now</a:t>
            </a:r>
            <a:endParaRPr lang="en-GB" sz="4800" dirty="0"/>
          </a:p>
        </p:txBody>
      </p:sp>
    </p:spTree>
    <p:extLst>
      <p:ext uri="{BB962C8B-B14F-4D97-AF65-F5344CB8AC3E}">
        <p14:creationId xmlns:p14="http://schemas.microsoft.com/office/powerpoint/2010/main" val="3653690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CB6ED1-18E3-9640-3D93-84F8B0B15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Bibliography – Rotor Bearing System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5C19340-9D16-A981-A772-1E4CF9E864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90688"/>
            <a:ext cx="10988040" cy="4351338"/>
          </a:xfrm>
        </p:spPr>
        <p:txBody>
          <a:bodyPr>
            <a:normAutofit lnSpcReduction="10000"/>
          </a:bodyPr>
          <a:lstStyle>
            <a:lvl1pPr marL="0" indent="0">
              <a:buNone/>
              <a:defRPr sz="1600"/>
            </a:lvl1pPr>
          </a:lstStyle>
          <a:p>
            <a:pPr marL="342900" indent="-342900">
              <a:buFont typeface="+mj-lt"/>
              <a:buAutoNum type="arabicPeriod"/>
            </a:pPr>
            <a:r>
              <a:rPr lang="en-US" dirty="0"/>
              <a:t>SKF. (n.d.). </a:t>
            </a:r>
            <a:r>
              <a:rPr lang="en-US" i="1" dirty="0"/>
              <a:t>240/1120 CAF/W33 - Spherical roller bearings</a:t>
            </a:r>
            <a:r>
              <a:rPr lang="en-US" dirty="0"/>
              <a:t>. Retrieved October 29, 2025, from </a:t>
            </a:r>
            <a:r>
              <a:rPr lang="en-US" dirty="0">
                <a:hlinkClick r:id="rId2"/>
              </a:rPr>
              <a:t>https://www.skf.com/group/products/rolling-bearings/roller-bearings/spherical-roller-bearings/productid-240%2F1120</a:t>
            </a:r>
            <a:r>
              <a:rPr lang="en-US" dirty="0"/>
              <a:t> CAF%2FW33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Optimus Shakti, Optimus 60E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ITH. (n.d.). ITH Hydraulic Torque Wrenches Catalog. Retrieved November 08, 2025, from </a:t>
            </a:r>
            <a:r>
              <a:rPr lang="en-US" dirty="0">
                <a:hlinkClick r:id="rId3"/>
              </a:rPr>
              <a:t>www.ITH.de/schraubwerkzeuge/hydraulische-drehmomentschrauber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Römheld</a:t>
            </a:r>
            <a:r>
              <a:rPr lang="en-US" dirty="0"/>
              <a:t> GmbH </a:t>
            </a:r>
            <a:r>
              <a:rPr lang="en-US" dirty="0" err="1"/>
              <a:t>Friedrichshütte</a:t>
            </a:r>
            <a:r>
              <a:rPr lang="en-US" dirty="0"/>
              <a:t>. (n.d.). </a:t>
            </a:r>
            <a:r>
              <a:rPr lang="en-US" i="1" dirty="0" err="1"/>
              <a:t>Rotorlock</a:t>
            </a:r>
            <a:r>
              <a:rPr lang="en-US" dirty="0"/>
              <a:t>. Retrieved November 24, 2025, from </a:t>
            </a:r>
            <a:r>
              <a:rPr lang="en-US" dirty="0">
                <a:hlinkClick r:id="rId4"/>
              </a:rPr>
              <a:t>https://www.rotorlock.de/en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Machinery Components, Prof. Peter Quell</a:t>
            </a:r>
          </a:p>
          <a:p>
            <a:pPr marL="342900" indent="-342900">
              <a:buFont typeface="+mj-lt"/>
              <a:buAutoNum type="arabicPeriod"/>
            </a:pPr>
            <a:r>
              <a:rPr lang="en-US" i="1" dirty="0"/>
              <a:t>DIN EN 10083-3: Steels for quenching and tempering – Part 3: Technical delivery conditions for alloy steels</a:t>
            </a:r>
            <a:r>
              <a:rPr lang="en-US" dirty="0"/>
              <a:t>. Retrieved November 22, 2025, from </a:t>
            </a:r>
            <a:r>
              <a:rPr lang="en-US" dirty="0">
                <a:hlinkClick r:id="rId5"/>
              </a:rPr>
              <a:t>https://studylib.net/doc/18166049/din-en-10083-steel-for-quenching-and-tempering-part-3-</a:t>
            </a:r>
            <a:r>
              <a:rPr lang="en-US" dirty="0"/>
              <a:t>        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/>
              <a:t>American Institute of Steel Construction. (1989). </a:t>
            </a:r>
            <a:r>
              <a:rPr lang="en-US" altLang="en-US" i="1" dirty="0"/>
              <a:t>Manual of Steel Construction: Allowable Stress Design</a:t>
            </a:r>
            <a:r>
              <a:rPr lang="en-US" altLang="en-US" dirty="0"/>
              <a:t> (9th ed.). Chicago, IL: Author. Retrieved November 22, 2025, from </a:t>
            </a:r>
            <a:r>
              <a:rPr lang="en-US" altLang="en-US" dirty="0">
                <a:hlinkClick r:id="rId6"/>
              </a:rPr>
              <a:t>Internet Archive (Manual of Steel Construction: Allowable Stress Design, 9th Edition)</a:t>
            </a:r>
            <a:endParaRPr lang="en-US" altLang="en-US" dirty="0"/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/>
              <a:t>Bureau of Indian Standards. (2007). </a:t>
            </a:r>
            <a:r>
              <a:rPr lang="en-US" altLang="en-US" i="1" dirty="0"/>
              <a:t>IS 800: General Construction in Steel—Code of Practice (Third Revision)</a:t>
            </a:r>
            <a:r>
              <a:rPr lang="en-US" altLang="en-US" dirty="0"/>
              <a:t>. New Delhi: Bureau of Indian Standards. Retrieved November 22, 2025, from </a:t>
            </a:r>
            <a:r>
              <a:rPr lang="en-US" altLang="en-US" dirty="0">
                <a:hlinkClick r:id="rId7"/>
              </a:rPr>
              <a:t>Internet Archive (IS 800: General Construction in Steel - Code of Practice)</a:t>
            </a:r>
            <a:endParaRPr lang="en-US" alt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lvl="0" indent="-342900">
              <a:buFont typeface="+mj-lt"/>
              <a:buAutoNum type="arabicPeriod"/>
              <a:defRPr/>
            </a:pPr>
            <a:endParaRPr lang="en-US" dirty="0"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it-IT" dirty="0"/>
          </a:p>
          <a:p>
            <a:pPr lvl="0"/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D8ED35-2E13-75BD-2A2E-AC637478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25/11/2025</a:t>
            </a:r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62673D2-F682-F630-F59F-C4FFF6A9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1244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 template final.pptx" id="{035502AD-7CD3-43A3-812C-A08912B73661}" vid="{2F211972-A5F6-4C5A-812C-358509A8F2F3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 template final.pptx" id="{035502AD-7CD3-43A3-812C-A08912B73661}" vid="{EEC5F849-3D6F-4317-9095-D7FC4779F13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 /><Relationship Id="rId1" Type="http://schemas.microsoft.com/office/2011/relationships/webextension" Target="webextension1.xml" 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2805</TotalTime>
  <Words>868</Words>
  <Application>Microsoft Office PowerPoint</Application>
  <PresentationFormat>Widescreen</PresentationFormat>
  <Paragraphs>151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Office</vt:lpstr>
      <vt:lpstr>Benutzerdefiniertes Design</vt:lpstr>
      <vt:lpstr>PowerPoint Presentation</vt:lpstr>
      <vt:lpstr>PowerPoint Presentation</vt:lpstr>
      <vt:lpstr>Agenda</vt:lpstr>
      <vt:lpstr>Bearing Housing</vt:lpstr>
      <vt:lpstr> Rotor Lock</vt:lpstr>
      <vt:lpstr> Rotor Lock pin Calculations </vt:lpstr>
      <vt:lpstr> Rotor Lock pin Calculations </vt:lpstr>
      <vt:lpstr> Rotor Lock Disc Calculations</vt:lpstr>
      <vt:lpstr> Rotor Lock Disc Calculations</vt:lpstr>
      <vt:lpstr> Shaft Flange</vt:lpstr>
      <vt:lpstr> Task Performed up to now</vt:lpstr>
      <vt:lpstr>Bibliography – Rotor Bearing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Josef Remberger</dc:creator>
  <cp:lastModifiedBy>Divyesh Satishkumar Mistry</cp:lastModifiedBy>
  <cp:revision>77</cp:revision>
  <dcterms:created xsi:type="dcterms:W3CDTF">2025-10-24T16:53:52Z</dcterms:created>
  <dcterms:modified xsi:type="dcterms:W3CDTF">2025-11-24T14:07:17Z</dcterms:modified>
</cp:coreProperties>
</file>