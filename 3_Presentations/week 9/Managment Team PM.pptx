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80" r:id="rId2"/>
    <p:sldMasterId id="2147483684" r:id="rId3"/>
    <p:sldMasterId id="2147483704" r:id="rId4"/>
  </p:sldMasterIdLst>
  <p:notesMasterIdLst>
    <p:notesMasterId r:id="rId17"/>
  </p:notesMasterIdLst>
  <p:sldIdLst>
    <p:sldId id="26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70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241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471636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515594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105379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5685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681257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692041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638959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829954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574037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713614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885932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1032639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899476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2930311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60207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9480347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3495081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31138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76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08712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4431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0852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1770466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97765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7558033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276944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9173101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5459498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94797103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36540843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13297401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0756109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97127924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80475873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82749238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50841504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32447979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63899831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0618665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45079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307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8947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246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DE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062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24/11/2025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29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DE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8697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24/11/2025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722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3.png"/><Relationship Id="rId7" Type="http://schemas.microsoft.com/office/2007/relationships/hdphoto" Target="../media/hdphoto1.wdp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of contents</a:t>
            </a:r>
          </a:p>
        </p:txBody>
      </p:sp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278CF838-7112-4F3F-EAE6-B2D4ED8F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47D9-CCE9-448B-BCAE-B6078094F07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7A4CB245-78A9-C73E-8215-8D18B273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</a:t>
            </a:fld>
            <a:endParaRPr lang="en-GB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B50A548-9038-155C-8BC6-63C2D94B9A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Bakhtyar Karim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A9DE4-3193-6E74-5611-A9D096A4EB6F}"/>
              </a:ext>
            </a:extLst>
          </p:cNvPr>
          <p:cNvSpPr txBox="1">
            <a:spLocks/>
          </p:cNvSpPr>
          <p:nvPr/>
        </p:nvSpPr>
        <p:spPr>
          <a:xfrm>
            <a:off x="838200" y="161226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1550" indent="-514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dirty="0"/>
              <a:t>Optimus effeciancy </a:t>
            </a:r>
          </a:p>
          <a:p>
            <a:pPr lvl="1"/>
            <a:r>
              <a:rPr lang="de-DE" dirty="0"/>
              <a:t>System effeciancy </a:t>
            </a:r>
          </a:p>
          <a:p>
            <a:pPr lvl="1"/>
            <a:r>
              <a:rPr lang="de-DE" dirty="0"/>
              <a:t>Final overall effeciancy</a:t>
            </a:r>
          </a:p>
          <a:p>
            <a:pPr lvl="1"/>
            <a:r>
              <a:rPr lang="de-DE" dirty="0"/>
              <a:t>Efficiency beyond the numbers</a:t>
            </a:r>
          </a:p>
          <a:p>
            <a:r>
              <a:rPr lang="de-DE" dirty="0"/>
              <a:t>Detailed logistic strategy</a:t>
            </a:r>
          </a:p>
          <a:p>
            <a:pPr lvl="1"/>
            <a:r>
              <a:rPr lang="de-DE" dirty="0"/>
              <a:t>Syrian Permiting path</a:t>
            </a:r>
          </a:p>
          <a:p>
            <a:r>
              <a:rPr lang="de-DE" dirty="0"/>
              <a:t>Power flow</a:t>
            </a:r>
          </a:p>
          <a:p>
            <a:pPr lvl="1"/>
            <a:r>
              <a:rPr lang="de-DE" dirty="0"/>
              <a:t>Necessary actions</a:t>
            </a:r>
          </a:p>
          <a:p>
            <a:pPr lvl="1"/>
            <a:endParaRPr lang="de-DE" dirty="0"/>
          </a:p>
          <a:p>
            <a:pPr marL="0" indent="0">
              <a:buNone/>
            </a:pPr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372225" y="3429000"/>
            <a:ext cx="5238750" cy="112216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49709" y="649798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1. Optimus efficiency</a:t>
            </a:r>
            <a:endParaRPr dirty="0">
              <a:latin typeface="+mj-lt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1558973"/>
            <a:ext cx="52387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Efficiency isn't just one number</a:t>
            </a:r>
            <a:r>
              <a:rPr lang="en-US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it's a chain of events. Every time energy moves from one part to another, </a:t>
            </a:r>
            <a:r>
              <a:rPr lang="en-US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lose a part of the energy we captured from wind 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359348"/>
            <a:ext cx="52387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calculate total </a:t>
            </a:r>
            <a:r>
              <a:rPr lang="en-US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fficiency by multiplying the efficiency of the Rotor (how well we catch the wind) by the efficiency of the Drivetrain (how well we convert it).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414184" y="5070128"/>
            <a:ext cx="52387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Rotor: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Aerodynamic Capture ( Power Coefficient )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414184" y="5437882"/>
            <a:ext cx="5238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Drivetrain: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Mechanical &amp; Electrical Conversion</a:t>
            </a:r>
            <a:endParaRPr dirty="0"/>
          </a:p>
        </p:txBody>
      </p:sp>
      <p:sp>
        <p:nvSpPr>
          <p:cNvPr id="12" name="Datumsplatzhalter 22">
            <a:extLst>
              <a:ext uri="{FF2B5EF4-FFF2-40B4-BE49-F238E27FC236}">
                <a16:creationId xmlns:a16="http://schemas.microsoft.com/office/drawing/2014/main" id="{13AAC358-DE2B-F8DB-D9EE-AB6F07BDD1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1B2647D9-CCE9-448B-BCAE-B6078094F07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3" name="Fußzeilenplatzhalter 23">
            <a:extLst>
              <a:ext uri="{FF2B5EF4-FFF2-40B4-BE49-F238E27FC236}">
                <a16:creationId xmlns:a16="http://schemas.microsoft.com/office/drawing/2014/main" id="{6C11DB89-26B0-6307-C5DB-43A7B304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14" name="Foliennummernplatzhalter 24">
            <a:extLst>
              <a:ext uri="{FF2B5EF4-FFF2-40B4-BE49-F238E27FC236}">
                <a16:creationId xmlns:a16="http://schemas.microsoft.com/office/drawing/2014/main" id="{6BD05433-24A2-A217-7ED3-D4A13238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15" name="Textplatzhalter 1">
            <a:extLst>
              <a:ext uri="{FF2B5EF4-FFF2-40B4-BE49-F238E27FC236}">
                <a16:creationId xmlns:a16="http://schemas.microsoft.com/office/drawing/2014/main" id="{140B9151-9F0B-3107-982A-DAFC420BB6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Bakhtyar Karim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1173F-7D43-4CFE-A288-6BFB0065D7FE}"/>
              </a:ext>
            </a:extLst>
          </p:cNvPr>
          <p:cNvSpPr txBox="1"/>
          <p:nvPr/>
        </p:nvSpPr>
        <p:spPr>
          <a:xfrm>
            <a:off x="127518" y="6238257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[1]</a:t>
            </a:r>
            <a:r>
              <a:rPr lang="en-US" dirty="0"/>
              <a:t> [2]</a:t>
            </a:r>
            <a:endParaRPr lang="en-DE" dirty="0"/>
          </a:p>
          <a:p>
            <a:endParaRPr lang="en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5205412"/>
            <a:ext cx="922972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71500" y="2876550"/>
            <a:ext cx="17145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905125" y="2871787"/>
            <a:ext cx="17145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238750" y="2871787"/>
            <a:ext cx="17145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572375" y="2871787"/>
            <a:ext cx="17145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906000" y="2876550"/>
            <a:ext cx="1714500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13197" y="700088"/>
            <a:ext cx="885110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1.i. System efficiency </a:t>
            </a:r>
            <a:r>
              <a:rPr lang="en-US" sz="3600" dirty="0">
                <a:latin typeface="+mj-lt"/>
                <a:ea typeface="Poppins"/>
                <a:cs typeface="Poppins"/>
                <a:sym typeface="Poppins"/>
              </a:rPr>
              <a:t>from r</a:t>
            </a: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otor to grid</a:t>
            </a:r>
            <a:endParaRPr dirty="0">
              <a:latin typeface="+mj-lt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2014537" y="1614487"/>
            <a:ext cx="81629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latin typeface="+mj-lt"/>
                <a:ea typeface="Lato"/>
                <a:cs typeface="Lato"/>
                <a:sym typeface="Lato"/>
              </a:rPr>
              <a:t>Tracing the power path through our specific components. </a:t>
            </a:r>
            <a:br>
              <a:rPr lang="en-US" sz="1800" b="0" i="0" u="none" strike="noStrike" cap="none" dirty="0">
                <a:latin typeface="+mj-lt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latin typeface="+mj-lt"/>
                <a:ea typeface="Lato"/>
                <a:cs typeface="Lato"/>
                <a:sym typeface="Lato"/>
              </a:rPr>
              <a:t> Every step represents a conversion from kinetic to mechanical to electrical energy.</a:t>
            </a:r>
            <a:endParaRPr dirty="0">
              <a:latin typeface="+mj-lt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2333625" y="3781425"/>
            <a:ext cx="523875" cy="3810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667250" y="3781425"/>
            <a:ext cx="523875" cy="3810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000875" y="3781425"/>
            <a:ext cx="523875" cy="3810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9334500" y="3781425"/>
            <a:ext cx="523875" cy="3810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514474" y="5508537"/>
            <a:ext cx="90392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latin typeface="+mj-lt"/>
                <a:ea typeface="Lato"/>
                <a:cs typeface="Lato"/>
                <a:sym typeface="Lato"/>
              </a:rPr>
              <a:t>Key Insight: The Drivetrain (Gearbox + Gen + Elec) is 90.8% efficient. The main factor is the aerodynamic limit (Cp).</a:t>
            </a:r>
            <a:endParaRPr dirty="0">
              <a:latin typeface="+mj-lt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00075" y="2524125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latin typeface="+mj-lt"/>
                <a:ea typeface="Lato"/>
                <a:cs typeface="Lato"/>
                <a:sym typeface="Lato"/>
              </a:rPr>
              <a:t>AERODYNAMIC</a:t>
            </a:r>
            <a:endParaRPr>
              <a:latin typeface="+mj-lt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708659" y="3095625"/>
            <a:ext cx="14401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Poppins"/>
                <a:cs typeface="Poppins"/>
                <a:sym typeface="Poppins"/>
              </a:rPr>
              <a:t>Rotor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285875" y="363855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742950" y="4019550"/>
            <a:ext cx="13716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Capture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742950" y="4324350"/>
            <a:ext cx="1371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Cp = 0.45</a:t>
            </a:r>
            <a:endParaRPr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2933700" y="2519362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latin typeface="+mj-lt"/>
                <a:ea typeface="Lato"/>
                <a:cs typeface="Lato"/>
                <a:sym typeface="Lato"/>
              </a:rPr>
              <a:t>MECHANICAL</a:t>
            </a:r>
            <a:endParaRPr>
              <a:latin typeface="+mj-lt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3042285" y="3090862"/>
            <a:ext cx="14401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Poppins"/>
                <a:cs typeface="Poppins"/>
                <a:sym typeface="Poppins"/>
              </a:rPr>
              <a:t>Gearbox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3581400" y="3633787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3076575" y="4014787"/>
            <a:ext cx="13716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Speed Step up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3076575" y="4319587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η = 97.5%</a:t>
            </a:r>
            <a:endParaRPr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5267325" y="2519362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latin typeface="+mj-lt"/>
                <a:ea typeface="Lato"/>
                <a:cs typeface="Lato"/>
                <a:sym typeface="Lato"/>
              </a:rPr>
              <a:t>ELECTRICAL</a:t>
            </a:r>
            <a:endParaRPr dirty="0">
              <a:latin typeface="+mj-lt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5375910" y="3090862"/>
            <a:ext cx="14401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Poppins"/>
                <a:cs typeface="Poppins"/>
                <a:sym typeface="Poppins"/>
              </a:rPr>
              <a:t>Generator</a:t>
            </a:r>
            <a:endParaRPr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9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972175" y="3633787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5410200" y="4014787"/>
            <a:ext cx="13716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DFIG</a:t>
            </a:r>
            <a:endParaRPr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5410200" y="4319587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η = 98.0%</a:t>
            </a:r>
            <a:endParaRPr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9858375" y="2362200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latin typeface="+mj-lt"/>
                <a:ea typeface="Lato"/>
                <a:cs typeface="Lato"/>
                <a:sym typeface="Lato"/>
              </a:rPr>
              <a:t>GRID SIDE</a:t>
            </a:r>
            <a:endParaRPr>
              <a:latin typeface="+mj-lt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7709535" y="3090862"/>
            <a:ext cx="14401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Poppins"/>
                <a:cs typeface="Poppins"/>
                <a:sym typeface="Poppins"/>
              </a:rPr>
              <a:t>Conv+Trans</a:t>
            </a:r>
            <a:endParaRPr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143" name="Google Shape;143;p15" descr="image.png"/>
          <p:cNvPicPr preferRelativeResize="0"/>
          <p:nvPr/>
        </p:nvPicPr>
        <p:blipFill rotWithShape="1">
          <a:blip r:embed="rId10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8286750" y="363378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7743825" y="4014787"/>
            <a:ext cx="13716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Conditioning</a:t>
            </a:r>
            <a:endParaRPr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7743825" y="4329328"/>
            <a:ext cx="1371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2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η ≈ 97% &amp;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ea typeface="Lato"/>
                <a:cs typeface="Lato"/>
                <a:sym typeface="Lato"/>
              </a:rPr>
              <a:t>η ≈ 98% </a:t>
            </a:r>
            <a:endParaRPr b="1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9934575" y="2524125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latin typeface="+mj-lt"/>
                <a:ea typeface="Lato"/>
                <a:cs typeface="Lato"/>
                <a:sym typeface="Lato"/>
              </a:rPr>
              <a:t>FINAL OUTPUT</a:t>
            </a:r>
            <a:endParaRPr>
              <a:latin typeface="+mj-lt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10043160" y="3095625"/>
            <a:ext cx="14401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j-lt"/>
                <a:ea typeface="Poppins"/>
                <a:cs typeface="Poppins"/>
                <a:sym typeface="Poppins"/>
              </a:rPr>
              <a:t>GRID</a:t>
            </a:r>
            <a:endParaRPr>
              <a:latin typeface="+mj-lt"/>
            </a:endParaRPr>
          </a:p>
        </p:txBody>
      </p:sp>
      <p:pic>
        <p:nvPicPr>
          <p:cNvPr id="148" name="Google Shape;14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601325" y="3638550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10077450" y="4019550"/>
            <a:ext cx="13716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+mj-lt"/>
                <a:ea typeface="Lato"/>
                <a:cs typeface="Lato"/>
                <a:sym typeface="Lato"/>
              </a:rPr>
              <a:t>Delivery</a:t>
            </a:r>
            <a:endParaRPr>
              <a:latin typeface="+mj-lt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10077450" y="4324350"/>
            <a:ext cx="1371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CCFBF1"/>
                </a:solidFill>
                <a:latin typeface="+mj-lt"/>
                <a:ea typeface="Lato"/>
                <a:cs typeface="Lato"/>
                <a:sym typeface="Lato"/>
              </a:rPr>
              <a:t>Total = ?</a:t>
            </a:r>
            <a:endParaRPr dirty="0">
              <a:latin typeface="+mj-lt"/>
            </a:endParaRPr>
          </a:p>
        </p:txBody>
      </p:sp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180A58D3-CB03-ED9C-B18B-8DC1D2BE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1B2647D9-CCE9-448B-BCAE-B6078094F07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0" name="Fußzeilenplatzhalter 23">
            <a:extLst>
              <a:ext uri="{FF2B5EF4-FFF2-40B4-BE49-F238E27FC236}">
                <a16:creationId xmlns:a16="http://schemas.microsoft.com/office/drawing/2014/main" id="{96E95D26-83EA-71A9-CC77-72418E28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11" name="Foliennummernplatzhalter 24">
            <a:extLst>
              <a:ext uri="{FF2B5EF4-FFF2-40B4-BE49-F238E27FC236}">
                <a16:creationId xmlns:a16="http://schemas.microsoft.com/office/drawing/2014/main" id="{827A343D-6EEF-4680-1E62-AAB419F1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 dirty="0"/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9E865E07-FB9A-0D5E-B99D-A4EF31A9A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Bakhtyar Karim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E3AF65-C436-29F8-CF84-858499518EFF}"/>
              </a:ext>
            </a:extLst>
          </p:cNvPr>
          <p:cNvSpPr txBox="1"/>
          <p:nvPr/>
        </p:nvSpPr>
        <p:spPr>
          <a:xfrm>
            <a:off x="127518" y="6238257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[1]</a:t>
            </a:r>
            <a:r>
              <a:rPr lang="en-US" dirty="0"/>
              <a:t> [2]</a:t>
            </a:r>
            <a:endParaRPr lang="en-DE" dirty="0"/>
          </a:p>
          <a:p>
            <a:endParaRPr lang="en-DE" dirty="0"/>
          </a:p>
        </p:txBody>
      </p:sp>
      <p:sp>
        <p:nvSpPr>
          <p:cNvPr id="14" name="Google Shape;136;p15">
            <a:extLst>
              <a:ext uri="{FF2B5EF4-FFF2-40B4-BE49-F238E27FC236}">
                <a16:creationId xmlns:a16="http://schemas.microsoft.com/office/drawing/2014/main" id="{FA041FFA-B8DD-89AF-0CD3-C41B77CA53BA}"/>
              </a:ext>
            </a:extLst>
          </p:cNvPr>
          <p:cNvSpPr txBox="1"/>
          <p:nvPr/>
        </p:nvSpPr>
        <p:spPr>
          <a:xfrm>
            <a:off x="7600950" y="2516084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latin typeface="+mj-lt"/>
                <a:ea typeface="Lato"/>
                <a:cs typeface="Lato"/>
                <a:sym typeface="Lato"/>
              </a:rPr>
              <a:t>ELECTRICAL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lumMod val="25000"/>
                <a:lumOff val="75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542157" y="1597372"/>
            <a:ext cx="9107685" cy="492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3657" y="5451276"/>
            <a:ext cx="796468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823158" y="661600"/>
            <a:ext cx="836292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1.ii. Final </a:t>
            </a:r>
            <a:r>
              <a:rPr lang="en-US" sz="3600" dirty="0">
                <a:latin typeface="+mj-lt"/>
                <a:ea typeface="Poppins"/>
                <a:cs typeface="Poppins"/>
                <a:sym typeface="Poppins"/>
              </a:rPr>
              <a:t>o</a:t>
            </a: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verall </a:t>
            </a:r>
            <a:r>
              <a:rPr lang="en-US" sz="3600" dirty="0">
                <a:latin typeface="+mj-lt"/>
                <a:ea typeface="Poppins"/>
                <a:cs typeface="Poppins"/>
                <a:sym typeface="Poppins"/>
              </a:rPr>
              <a:t>e</a:t>
            </a: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fficiency</a:t>
            </a:r>
            <a:endParaRPr dirty="0">
              <a:latin typeface="+mj-lt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827906" y="1787753"/>
            <a:ext cx="85361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Multiplying our Rotor efficiency (    Cp   =  0.45  ) by our Drivetrain Efficiency (0.9</a:t>
            </a:r>
            <a:r>
              <a:rPr lang="en-US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08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endParaRPr dirty="0"/>
          </a:p>
        </p:txBody>
      </p:sp>
      <p:sp>
        <p:nvSpPr>
          <p:cNvPr id="163" name="Google Shape;163;p16"/>
          <p:cNvSpPr txBox="1"/>
          <p:nvPr/>
        </p:nvSpPr>
        <p:spPr>
          <a:xfrm>
            <a:off x="2113657" y="2346126"/>
            <a:ext cx="7964685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40.9%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2286000" y="4251126"/>
            <a:ext cx="7620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every </a:t>
            </a:r>
            <a:r>
              <a:rPr lang="en-US" sz="24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100 kW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of wind power that hits our rotor, 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deliver </a:t>
            </a:r>
            <a:r>
              <a:rPr lang="en-US" sz="24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40.9 kW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of clean electricity to the Syrian grid.</a:t>
            </a:r>
            <a:endParaRPr dirty="0"/>
          </a:p>
        </p:txBody>
      </p:sp>
      <p:sp>
        <p:nvSpPr>
          <p:cNvPr id="165" name="Google Shape;165;p16"/>
          <p:cNvSpPr txBox="1"/>
          <p:nvPr/>
        </p:nvSpPr>
        <p:spPr>
          <a:xfrm>
            <a:off x="2113657" y="5660826"/>
            <a:ext cx="796468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latin typeface="Lato"/>
                <a:ea typeface="Lato"/>
                <a:cs typeface="Lato"/>
                <a:sym typeface="Lato"/>
              </a:rPr>
              <a:t>Impact: This directly drives our Annual Energy Production (AEP) and lowers our LCOE.</a:t>
            </a:r>
            <a:endParaRPr dirty="0"/>
          </a:p>
        </p:txBody>
      </p:sp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14525FC6-CBAC-CB27-DC51-6FA36995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1B2647D9-CCE9-448B-BCAE-B6078094F07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0" name="Fußzeilenplatzhalter 23">
            <a:extLst>
              <a:ext uri="{FF2B5EF4-FFF2-40B4-BE49-F238E27FC236}">
                <a16:creationId xmlns:a16="http://schemas.microsoft.com/office/drawing/2014/main" id="{415909BC-76DD-79FD-17D2-39F9B6F0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11" name="Foliennummernplatzhalter 24">
            <a:extLst>
              <a:ext uri="{FF2B5EF4-FFF2-40B4-BE49-F238E27FC236}">
                <a16:creationId xmlns:a16="http://schemas.microsoft.com/office/drawing/2014/main" id="{E23D3CB2-F382-AB84-B3D4-C532D323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4</a:t>
            </a:fld>
            <a:endParaRPr lang="en-GB" dirty="0"/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096EDFA8-D02B-7477-3F5D-0364EB8B4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Bakhtyar Karim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7F4812-58F2-D337-7237-E52DB0C6CAA8}"/>
              </a:ext>
            </a:extLst>
          </p:cNvPr>
          <p:cNvSpPr txBox="1"/>
          <p:nvPr/>
        </p:nvSpPr>
        <p:spPr>
          <a:xfrm>
            <a:off x="127518" y="6238257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[1]</a:t>
            </a:r>
            <a:r>
              <a:rPr lang="en-US" dirty="0"/>
              <a:t> [2]</a:t>
            </a:r>
            <a:endParaRPr lang="en-DE" dirty="0"/>
          </a:p>
          <a:p>
            <a:endParaRPr lang="en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7" descr="image.png"/>
          <p:cNvPicPr preferRelativeResize="0"/>
          <p:nvPr/>
        </p:nvPicPr>
        <p:blipFill rotWithShape="1"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71500" y="2552700"/>
            <a:ext cx="349240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4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349650" y="2552700"/>
            <a:ext cx="3492549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8127950" y="2552700"/>
            <a:ext cx="3492400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714359" y="698897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+mj-lt"/>
                <a:ea typeface="Poppins"/>
                <a:cs typeface="Poppins"/>
                <a:sym typeface="Poppins"/>
              </a:rPr>
              <a:t>1.iii. </a:t>
            </a:r>
            <a:r>
              <a:rPr lang="en-US" sz="4000" i="0" u="none" strike="noStrike" cap="none" dirty="0">
                <a:latin typeface="+mj-lt"/>
                <a:ea typeface="Poppins"/>
                <a:cs typeface="Poppins"/>
                <a:sym typeface="Poppins"/>
              </a:rPr>
              <a:t>Efficiency </a:t>
            </a:r>
            <a:r>
              <a:rPr lang="en-US" sz="4000" dirty="0">
                <a:latin typeface="+mj-lt"/>
                <a:ea typeface="Poppins"/>
                <a:cs typeface="Poppins"/>
                <a:sym typeface="Poppins"/>
              </a:rPr>
              <a:t>b</a:t>
            </a:r>
            <a:r>
              <a:rPr lang="en-US" sz="4000" i="0" u="none" strike="noStrike" cap="none" dirty="0">
                <a:latin typeface="+mj-lt"/>
                <a:ea typeface="Poppins"/>
                <a:cs typeface="Poppins"/>
                <a:sym typeface="Poppins"/>
              </a:rPr>
              <a:t>eyond the numbers</a:t>
            </a:r>
            <a:endParaRPr sz="2000" dirty="0">
              <a:latin typeface="+mj-lt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571500" y="1485900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latin typeface="+mj-lt"/>
                <a:ea typeface="Lato"/>
                <a:cs typeface="Lato"/>
                <a:sym typeface="Lato"/>
              </a:rPr>
              <a:t>Efficiency isn't just about power conversion</a:t>
            </a:r>
            <a:r>
              <a:rPr lang="en-US" dirty="0">
                <a:latin typeface="+mj-lt"/>
                <a:ea typeface="Lato"/>
                <a:cs typeface="Lato"/>
                <a:sym typeface="Lato"/>
              </a:rPr>
              <a:t>, </a:t>
            </a:r>
            <a:r>
              <a:rPr lang="en-US" sz="1800" i="0" u="none" strike="noStrike" cap="none" dirty="0">
                <a:latin typeface="+mj-lt"/>
                <a:ea typeface="Lato"/>
                <a:cs typeface="Lato"/>
                <a:sym typeface="Lato"/>
              </a:rPr>
              <a:t>it's about reliability and cost saving over 20 years. Here is how our "Smart Design" choices pay off.</a:t>
            </a:r>
            <a:endParaRPr dirty="0">
              <a:latin typeface="+mj-lt"/>
            </a:endParaRPr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6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31950" y="28956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822513" y="3657600"/>
            <a:ext cx="299037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Poppins"/>
                <a:cs typeface="Poppins"/>
                <a:sym typeface="Poppins"/>
              </a:rPr>
              <a:t>Structural Efficiency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1160412" y="4105275"/>
            <a:ext cx="23145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Lidar Assisted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c</a:t>
            </a:r>
            <a:r>
              <a:rPr lang="en-US" sz="18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ontrol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857250" y="4591050"/>
            <a:ext cx="292090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By "seeing" wind gusts before they arrive, we reduce structural stress by up to 50%. This means lighter blades and towers.</a:t>
            </a:r>
            <a:endParaRPr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182" name="Google Shape;182;p17" descr="image.png"/>
          <p:cNvPicPr preferRelativeResize="0"/>
          <p:nvPr/>
        </p:nvPicPr>
        <p:blipFill rotWithShape="1">
          <a:blip r:embed="rId7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772001" y="2895600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4725679" y="3657600"/>
            <a:ext cx="274034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Poppins"/>
                <a:cs typeface="Poppins"/>
                <a:sym typeface="Poppins"/>
              </a:rPr>
              <a:t>Thermal Efficiency</a:t>
            </a:r>
            <a:endParaRPr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4881413" y="4105275"/>
            <a:ext cx="24288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Custom cooling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s</a:t>
            </a:r>
            <a:r>
              <a:rPr lang="en-US" sz="18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ystem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4635400" y="4591050"/>
            <a:ext cx="3014097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Designed specifically for Syrian heat. Keeps the gearbox and generator in their optimal efficiency range, preventing burnout.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186" name="Google Shape;186;p17" descr="image.png"/>
          <p:cNvPicPr preferRelativeResize="0"/>
          <p:nvPr/>
        </p:nvPicPr>
        <p:blipFill rotWithShape="1">
          <a:blip r:embed="rId8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516963" y="2895600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8340677" y="3657600"/>
            <a:ext cx="306694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Poppins"/>
                <a:cs typeface="Poppins"/>
                <a:sym typeface="Poppins"/>
              </a:rPr>
              <a:t>Operational Efficiency</a:t>
            </a:r>
            <a:endParaRPr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8707488" y="4070434"/>
            <a:ext cx="23241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Automatic lubrication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8409088" y="4616033"/>
            <a:ext cx="292090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Keeps the hub and pitch bearings healthy without stopping the turbine</a:t>
            </a:r>
            <a:r>
              <a:rPr lang="en-US" sz="135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, r</a:t>
            </a:r>
            <a:r>
              <a:rPr lang="en-US" sz="1350" b="0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educes downtime, increasing total energy sold.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2BC12286-8284-2EC0-2032-516B126A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1B2647D9-CCE9-448B-BCAE-B6078094F07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0" name="Fußzeilenplatzhalter 23">
            <a:extLst>
              <a:ext uri="{FF2B5EF4-FFF2-40B4-BE49-F238E27FC236}">
                <a16:creationId xmlns:a16="http://schemas.microsoft.com/office/drawing/2014/main" id="{B01C8225-20C8-E6A6-9A2E-208BABB9F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11" name="Foliennummernplatzhalter 24">
            <a:extLst>
              <a:ext uri="{FF2B5EF4-FFF2-40B4-BE49-F238E27FC236}">
                <a16:creationId xmlns:a16="http://schemas.microsoft.com/office/drawing/2014/main" id="{DD820B99-67F0-86A7-1229-6F0598A0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5</a:t>
            </a:fld>
            <a:endParaRPr lang="en-GB" dirty="0"/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0991767C-2329-039F-F882-25F22F8656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Bakhtyar Karim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F886C8-5DFA-2051-1CFF-FD506529476E}"/>
              </a:ext>
            </a:extLst>
          </p:cNvPr>
          <p:cNvSpPr txBox="1"/>
          <p:nvPr/>
        </p:nvSpPr>
        <p:spPr>
          <a:xfrm>
            <a:off x="127518" y="6238257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[1]</a:t>
            </a:r>
            <a:r>
              <a:rPr lang="en-US" dirty="0"/>
              <a:t> [2]</a:t>
            </a:r>
            <a:endParaRPr lang="en-DE" dirty="0"/>
          </a:p>
          <a:p>
            <a:endParaRPr lang="en-D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/>
        </p:nvSpPr>
        <p:spPr>
          <a:xfrm>
            <a:off x="-282017" y="497974"/>
            <a:ext cx="8941117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latin typeface="+mj-lt"/>
                <a:ea typeface="Poppins"/>
                <a:cs typeface="Poppins"/>
                <a:sym typeface="Poppins"/>
              </a:rPr>
              <a:t>Part 2: Critical project </a:t>
            </a:r>
            <a:r>
              <a:rPr lang="en-US" sz="4800" dirty="0">
                <a:latin typeface="+mj-lt"/>
                <a:ea typeface="Poppins"/>
                <a:cs typeface="Poppins"/>
                <a:sym typeface="Poppins"/>
              </a:rPr>
              <a:t>g</a:t>
            </a:r>
            <a:r>
              <a:rPr lang="en-US" sz="4800" i="0" u="none" strike="noStrike" cap="none" dirty="0">
                <a:latin typeface="+mj-lt"/>
                <a:ea typeface="Poppins"/>
                <a:cs typeface="Poppins"/>
                <a:sym typeface="Poppins"/>
              </a:rPr>
              <a:t>aps</a:t>
            </a:r>
            <a:endParaRPr dirty="0">
              <a:latin typeface="+mj-lt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1809750" y="3040260"/>
            <a:ext cx="85725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+mj-lt"/>
                <a:ea typeface="Lato"/>
                <a:cs typeface="Lato"/>
                <a:sym typeface="Lato"/>
              </a:rPr>
              <a:t>We have verified the efficiency, but we have major gaps in the </a:t>
            </a:r>
            <a:r>
              <a:rPr lang="en-US" sz="2400" b="1" i="0" u="none" strike="noStrike" cap="none" dirty="0">
                <a:latin typeface="+mj-lt"/>
                <a:ea typeface="Lato"/>
                <a:cs typeface="Lato"/>
                <a:sym typeface="Lato"/>
              </a:rPr>
              <a:t>Development Strategy</a:t>
            </a:r>
            <a:r>
              <a:rPr lang="en-US" sz="2400" b="0" i="0" u="none" strike="noStrike" cap="none" dirty="0">
                <a:latin typeface="+mj-lt"/>
                <a:ea typeface="Lato"/>
                <a:cs typeface="Lato"/>
                <a:sym typeface="Lato"/>
              </a:rPr>
              <a:t>.</a:t>
            </a:r>
            <a:endParaRPr dirty="0">
              <a:latin typeface="+mj-lt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3767137" y="4335660"/>
            <a:ext cx="46577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Focus area: Project Development Team (PDT)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A13B7620-23BB-D4EE-042C-E9686A7B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1B2647D9-CCE9-448B-BCAE-B6078094F07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0" name="Fußzeilenplatzhalter 23">
            <a:extLst>
              <a:ext uri="{FF2B5EF4-FFF2-40B4-BE49-F238E27FC236}">
                <a16:creationId xmlns:a16="http://schemas.microsoft.com/office/drawing/2014/main" id="{27CD4F65-7918-4598-4F90-FE86DF60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11" name="Foliennummernplatzhalter 24">
            <a:extLst>
              <a:ext uri="{FF2B5EF4-FFF2-40B4-BE49-F238E27FC236}">
                <a16:creationId xmlns:a16="http://schemas.microsoft.com/office/drawing/2014/main" id="{A910B01C-B911-78A2-0922-EBB2B702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6</a:t>
            </a:fld>
            <a:endParaRPr lang="en-GB" dirty="0"/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43F5DB16-C4F5-C73C-6B37-F6D277C318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Bakhtyar Karim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 descr="image.png"/>
          <p:cNvPicPr preferRelativeResize="0"/>
          <p:nvPr/>
        </p:nvPicPr>
        <p:blipFill rotWithShape="1"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71500" y="2371725"/>
            <a:ext cx="523875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374855" y="69129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latin typeface="Poppins"/>
                <a:ea typeface="Poppins"/>
                <a:cs typeface="Poppins"/>
                <a:sym typeface="Poppins"/>
              </a:rPr>
              <a:t>2. Detailed Logistics Strategy</a:t>
            </a:r>
            <a:endParaRPr dirty="0"/>
          </a:p>
        </p:txBody>
      </p:sp>
      <p:sp>
        <p:nvSpPr>
          <p:cNvPr id="208" name="Google Shape;208;p19"/>
          <p:cNvSpPr txBox="1"/>
          <p:nvPr/>
        </p:nvSpPr>
        <p:spPr>
          <a:xfrm>
            <a:off x="571500" y="1485900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know the distance (85 km), but we lack the detailed plan for moving our 5MW wind turbine components.</a:t>
            </a:r>
            <a:endParaRPr dirty="0"/>
          </a:p>
        </p:txBody>
      </p:sp>
      <p:sp>
        <p:nvSpPr>
          <p:cNvPr id="212" name="Google Shape;212;p19"/>
          <p:cNvSpPr txBox="1"/>
          <p:nvPr/>
        </p:nvSpPr>
        <p:spPr>
          <a:xfrm>
            <a:off x="744794" y="2583894"/>
            <a:ext cx="482060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Current Gaps</a:t>
            </a:r>
            <a:endParaRPr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13" name="Google Shape;213;p19" descr="image.png"/>
          <p:cNvPicPr preferRelativeResize="0"/>
          <p:nvPr/>
        </p:nvPicPr>
        <p:blipFill rotWithShape="1">
          <a:blip r:embed="rId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8286750" y="2895600"/>
            <a:ext cx="14287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658147" y="2980640"/>
            <a:ext cx="459105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Route Survey: No detailed report on road quality, corners, or bridge load capacities between Tartus and </a:t>
            </a:r>
            <a:r>
              <a:rPr lang="en-US" sz="180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Qattinah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17" name="Google Shape;217;p19"/>
          <p:cNvSpPr txBox="1"/>
          <p:nvPr/>
        </p:nvSpPr>
        <p:spPr>
          <a:xfrm>
            <a:off x="658147" y="4579696"/>
            <a:ext cx="45910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Costing: Missing precise transport costs for "Heavy Lift" operations.</a:t>
            </a:r>
            <a:endParaRPr dirty="0"/>
          </a:p>
        </p:txBody>
      </p:sp>
      <p:sp>
        <p:nvSpPr>
          <p:cNvPr id="220" name="Google Shape;220;p19"/>
          <p:cNvSpPr txBox="1"/>
          <p:nvPr/>
        </p:nvSpPr>
        <p:spPr>
          <a:xfrm>
            <a:off x="6381750" y="4324350"/>
            <a:ext cx="5238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Project Development team: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6381750" y="4724400"/>
            <a:ext cx="52387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Provide a detailed Logistics Study &amp; Cost Report by as soon as possible.</a:t>
            </a:r>
            <a:endParaRPr dirty="0"/>
          </a:p>
        </p:txBody>
      </p:sp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E75C5F31-EB20-51A9-D2FD-73F387D8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1B2647D9-CCE9-448B-BCAE-B6078094F07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0" name="Fußzeilenplatzhalter 23">
            <a:extLst>
              <a:ext uri="{FF2B5EF4-FFF2-40B4-BE49-F238E27FC236}">
                <a16:creationId xmlns:a16="http://schemas.microsoft.com/office/drawing/2014/main" id="{33790F13-1F1E-A2EA-5D7B-5A6F3BF42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11" name="Foliennummernplatzhalter 24">
            <a:extLst>
              <a:ext uri="{FF2B5EF4-FFF2-40B4-BE49-F238E27FC236}">
                <a16:creationId xmlns:a16="http://schemas.microsoft.com/office/drawing/2014/main" id="{547C028F-6B40-D5A9-AC61-3A1D8CA7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7</a:t>
            </a:fld>
            <a:endParaRPr lang="en-GB" dirty="0"/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5D771F29-74AE-4C47-59F5-81BAEF6710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Bakhtyar Karim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9D247-CFE7-97E3-A8BE-B175880F4C2F}"/>
              </a:ext>
            </a:extLst>
          </p:cNvPr>
          <p:cNvSpPr txBox="1"/>
          <p:nvPr/>
        </p:nvSpPr>
        <p:spPr>
          <a:xfrm>
            <a:off x="127518" y="6238257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[1]</a:t>
            </a:r>
            <a:r>
              <a:rPr lang="en-US" dirty="0"/>
              <a:t> [2]</a:t>
            </a:r>
            <a:endParaRPr lang="en-DE" dirty="0"/>
          </a:p>
          <a:p>
            <a:endParaRPr lang="en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" descr="image.png"/>
          <p:cNvPicPr preferRelativeResize="0"/>
          <p:nvPr/>
        </p:nvPicPr>
        <p:blipFill rotWithShape="1">
          <a:blip r:embed="rId3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71500" y="2114550"/>
            <a:ext cx="349240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4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349650" y="2114550"/>
            <a:ext cx="3492549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8127950" y="2114550"/>
            <a:ext cx="34924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217539" y="731103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latin typeface="Poppins"/>
                <a:ea typeface="Poppins"/>
                <a:cs typeface="Poppins"/>
                <a:sym typeface="Poppins"/>
              </a:rPr>
              <a:t>2.i. The Syrian Permitting Path</a:t>
            </a:r>
            <a:endParaRPr dirty="0"/>
          </a:p>
        </p:txBody>
      </p:sp>
      <p:sp>
        <p:nvSpPr>
          <p:cNvPr id="231" name="Google Shape;231;p20"/>
          <p:cNvSpPr txBox="1"/>
          <p:nvPr/>
        </p:nvSpPr>
        <p:spPr>
          <a:xfrm>
            <a:off x="571500" y="1485900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latin typeface="Lato"/>
                <a:ea typeface="Lato"/>
                <a:cs typeface="Lato"/>
                <a:sym typeface="Lato"/>
              </a:rPr>
              <a:t>We know </a:t>
            </a:r>
            <a:r>
              <a:rPr lang="en-US" sz="1800" b="0" i="1" u="none" strike="noStrike" cap="none" dirty="0">
                <a:latin typeface="Lato"/>
                <a:ea typeface="Lato"/>
                <a:cs typeface="Lato"/>
                <a:sym typeface="Lato"/>
              </a:rPr>
              <a:t>what</a:t>
            </a:r>
            <a:r>
              <a:rPr lang="en-US" sz="1800" b="0" i="0" u="none" strike="noStrike" cap="none" dirty="0">
                <a:latin typeface="Lato"/>
                <a:ea typeface="Lato"/>
                <a:cs typeface="Lato"/>
                <a:sym typeface="Lato"/>
              </a:rPr>
              <a:t> to build (IEC Standards), but the PDT has not defined </a:t>
            </a:r>
            <a:r>
              <a:rPr lang="en-US" sz="1800" b="0" i="1" u="none" strike="noStrike" cap="none" dirty="0">
                <a:latin typeface="Lato"/>
                <a:ea typeface="Lato"/>
                <a:cs typeface="Lato"/>
                <a:sym typeface="Lato"/>
              </a:rPr>
              <a:t>how to get permission</a:t>
            </a:r>
            <a:r>
              <a:rPr lang="en-US" sz="1800" b="0" i="0" u="none" strike="noStrike" cap="none" dirty="0">
                <a:latin typeface="Lato"/>
                <a:ea typeface="Lato"/>
                <a:cs typeface="Lato"/>
                <a:sym typeface="Lato"/>
              </a:rPr>
              <a:t> to build it in Syria.</a:t>
            </a:r>
            <a:endParaRPr dirty="0"/>
          </a:p>
        </p:txBody>
      </p:sp>
      <p:pic>
        <p:nvPicPr>
          <p:cNvPr id="236" name="Google Shape;236;p20" descr="image.png"/>
          <p:cNvPicPr preferRelativeResize="0"/>
          <p:nvPr/>
        </p:nvPicPr>
        <p:blipFill rotWithShape="1">
          <a:blip r:embed="rId5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31950" y="24574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952529" y="3219450"/>
            <a:ext cx="273034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License to Operate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857250" y="3667125"/>
            <a:ext cx="29209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What is the exact application process with the Ministry of Electricity?</a:t>
            </a:r>
            <a:endParaRPr dirty="0"/>
          </a:p>
        </p:txBody>
      </p:sp>
      <p:pic>
        <p:nvPicPr>
          <p:cNvPr id="239" name="Google Shape;239;p20" descr="image.png"/>
          <p:cNvPicPr preferRelativeResize="0"/>
          <p:nvPr/>
        </p:nvPicPr>
        <p:blipFill rotWithShape="1">
          <a:blip r:embed="rId6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881538" y="2457450"/>
            <a:ext cx="4286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4915703" y="3219450"/>
            <a:ext cx="236029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Grid Connection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635400" y="3667125"/>
            <a:ext cx="292104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What are the terms for the PETDE Interconnection Agreement?</a:t>
            </a:r>
            <a:endParaRPr dirty="0"/>
          </a:p>
        </p:txBody>
      </p:sp>
      <p:pic>
        <p:nvPicPr>
          <p:cNvPr id="242" name="Google Shape;242;p20" descr="image.png"/>
          <p:cNvPicPr preferRelativeResize="0"/>
          <p:nvPr/>
        </p:nvPicPr>
        <p:blipFill rotWithShape="1">
          <a:blip r:embed="rId7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588400" y="24574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9229070" y="3219450"/>
            <a:ext cx="129016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2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Local EIA</a:t>
            </a:r>
            <a:endParaRPr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8413700" y="3667125"/>
            <a:ext cx="29209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have the map, but what is the official Syrian Environmental Impact Assessment procedure?</a:t>
            </a:r>
            <a:endParaRPr dirty="0"/>
          </a:p>
        </p:txBody>
      </p:sp>
      <p:sp>
        <p:nvSpPr>
          <p:cNvPr id="12" name="Datumsplatzhalter 22">
            <a:extLst>
              <a:ext uri="{FF2B5EF4-FFF2-40B4-BE49-F238E27FC236}">
                <a16:creationId xmlns:a16="http://schemas.microsoft.com/office/drawing/2014/main" id="{9EADB540-F204-FE7C-4007-D345475C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1B2647D9-CCE9-448B-BCAE-B6078094F07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3" name="Fußzeilenplatzhalter 23">
            <a:extLst>
              <a:ext uri="{FF2B5EF4-FFF2-40B4-BE49-F238E27FC236}">
                <a16:creationId xmlns:a16="http://schemas.microsoft.com/office/drawing/2014/main" id="{628F922C-6D1B-C0BB-1A4E-EB83EE6A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14" name="Foliennummernplatzhalter 24">
            <a:extLst>
              <a:ext uri="{FF2B5EF4-FFF2-40B4-BE49-F238E27FC236}">
                <a16:creationId xmlns:a16="http://schemas.microsoft.com/office/drawing/2014/main" id="{3DE17B3B-EA9E-0B16-C091-E97E8E40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8</a:t>
            </a:fld>
            <a:endParaRPr lang="en-GB" dirty="0"/>
          </a:p>
        </p:txBody>
      </p:sp>
      <p:sp>
        <p:nvSpPr>
          <p:cNvPr id="15" name="Textplatzhalter 1">
            <a:extLst>
              <a:ext uri="{FF2B5EF4-FFF2-40B4-BE49-F238E27FC236}">
                <a16:creationId xmlns:a16="http://schemas.microsoft.com/office/drawing/2014/main" id="{6EADF5C8-19A8-01BC-9409-E0655549F8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Bakhtyar Karim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F7C977-2EA3-5F67-8000-72B6A6C676DD}"/>
              </a:ext>
            </a:extLst>
          </p:cNvPr>
          <p:cNvSpPr txBox="1"/>
          <p:nvPr/>
        </p:nvSpPr>
        <p:spPr>
          <a:xfrm>
            <a:off x="127518" y="6238257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[1]</a:t>
            </a:r>
            <a:r>
              <a:rPr lang="en-US" dirty="0"/>
              <a:t> [2]</a:t>
            </a:r>
            <a:endParaRPr lang="en-DE" dirty="0"/>
          </a:p>
          <a:p>
            <a:endParaRPr lang="en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/>
        </p:nvSpPr>
        <p:spPr>
          <a:xfrm>
            <a:off x="428878" y="539761"/>
            <a:ext cx="9171146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latin typeface="Poppins"/>
                <a:ea typeface="Poppins"/>
                <a:cs typeface="Poppins"/>
                <a:sym typeface="Poppins"/>
              </a:rPr>
              <a:t>Part 3: Electrical </a:t>
            </a:r>
            <a:r>
              <a:rPr lang="en-US" sz="4800" dirty="0"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4800" i="0" u="none" strike="noStrike" cap="none" dirty="0">
                <a:latin typeface="Poppins"/>
                <a:ea typeface="Poppins"/>
                <a:cs typeface="Poppins"/>
                <a:sym typeface="Poppins"/>
              </a:rPr>
              <a:t>ntegration</a:t>
            </a:r>
            <a:endParaRPr dirty="0"/>
          </a:p>
        </p:txBody>
      </p:sp>
      <p:sp>
        <p:nvSpPr>
          <p:cNvPr id="252" name="Google Shape;252;p21"/>
          <p:cNvSpPr txBox="1"/>
          <p:nvPr/>
        </p:nvSpPr>
        <p:spPr>
          <a:xfrm>
            <a:off x="1317521" y="3318022"/>
            <a:ext cx="955695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Connecting the components: The Hardware (EDT) vs. The Brain(GCD).</a:t>
            </a:r>
            <a:endParaRPr dirty="0"/>
          </a:p>
        </p:txBody>
      </p:sp>
      <p:sp>
        <p:nvSpPr>
          <p:cNvPr id="255" name="Google Shape;255;p21"/>
          <p:cNvSpPr txBox="1"/>
          <p:nvPr/>
        </p:nvSpPr>
        <p:spPr>
          <a:xfrm>
            <a:off x="3866611" y="4520015"/>
            <a:ext cx="44587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Focus Area: EDT &amp; GCD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55A32D2B-017E-5CA5-140E-3B065A96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1B2647D9-CCE9-448B-BCAE-B6078094F07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0" name="Fußzeilenplatzhalter 23">
            <a:extLst>
              <a:ext uri="{FF2B5EF4-FFF2-40B4-BE49-F238E27FC236}">
                <a16:creationId xmlns:a16="http://schemas.microsoft.com/office/drawing/2014/main" id="{707D0902-ED84-5611-5274-F5A5BC54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11" name="Foliennummernplatzhalter 24">
            <a:extLst>
              <a:ext uri="{FF2B5EF4-FFF2-40B4-BE49-F238E27FC236}">
                <a16:creationId xmlns:a16="http://schemas.microsoft.com/office/drawing/2014/main" id="{89E9FACE-CC1D-7B9F-263E-5B5CB64B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9</a:t>
            </a:fld>
            <a:endParaRPr lang="en-GB" dirty="0"/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261E6D30-1C5A-7568-026D-EE1D126181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Bakhtyar Karim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 descr="image.png"/>
          <p:cNvPicPr preferRelativeResize="0"/>
          <p:nvPr/>
        </p:nvPicPr>
        <p:blipFill rotWithShape="1">
          <a:blip r:embed="rId3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118542" y="2814637"/>
            <a:ext cx="142875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3" descr="image.png"/>
          <p:cNvPicPr preferRelativeResize="0"/>
          <p:nvPr/>
        </p:nvPicPr>
        <p:blipFill rotWithShape="1">
          <a:blip r:embed="rId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3128317" y="2814637"/>
            <a:ext cx="142875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3" descr="image.png"/>
          <p:cNvPicPr preferRelativeResize="0"/>
          <p:nvPr/>
        </p:nvPicPr>
        <p:blipFill rotWithShape="1">
          <a:blip r:embed="rId5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414567" y="2814637"/>
            <a:ext cx="142875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3" descr="image.png"/>
          <p:cNvPicPr preferRelativeResize="0"/>
          <p:nvPr/>
        </p:nvPicPr>
        <p:blipFill rotWithShape="1">
          <a:blip r:embed="rId6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424342" y="2814637"/>
            <a:ext cx="142875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47605" y="4438649"/>
            <a:ext cx="190500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28605" y="3118536"/>
            <a:ext cx="1143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/>
        </p:nvSpPr>
        <p:spPr>
          <a:xfrm>
            <a:off x="838200" y="701263"/>
            <a:ext cx="698087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3.</a:t>
            </a:r>
            <a:r>
              <a:rPr lang="en-US" sz="3600" dirty="0">
                <a:latin typeface="+mj-lt"/>
                <a:ea typeface="Poppins"/>
                <a:cs typeface="Poppins"/>
                <a:sym typeface="Poppins"/>
              </a:rPr>
              <a:t>i. </a:t>
            </a: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600" dirty="0">
                <a:latin typeface="+mj-lt"/>
                <a:ea typeface="Poppins"/>
                <a:cs typeface="Poppins"/>
                <a:sym typeface="Poppins"/>
              </a:rPr>
              <a:t>P</a:t>
            </a: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ower </a:t>
            </a:r>
            <a:r>
              <a:rPr lang="en-US" sz="3600" dirty="0">
                <a:latin typeface="+mj-lt"/>
                <a:ea typeface="Poppins"/>
                <a:cs typeface="Poppins"/>
                <a:sym typeface="Poppins"/>
              </a:rPr>
              <a:t>f</a:t>
            </a: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low</a:t>
            </a:r>
            <a:endParaRPr dirty="0">
              <a:latin typeface="+mj-lt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2737792" y="2130638"/>
            <a:ext cx="68063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missing link is the detailed definition of this interaction.</a:t>
            </a:r>
            <a:endParaRPr dirty="0"/>
          </a:p>
        </p:txBody>
      </p:sp>
      <p:pic>
        <p:nvPicPr>
          <p:cNvPr id="298" name="Google Shape;298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37792" y="32194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/>
          <p:nvPr/>
        </p:nvSpPr>
        <p:spPr>
          <a:xfrm>
            <a:off x="4747567" y="3305175"/>
            <a:ext cx="476250" cy="5715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6747817" y="3305175"/>
            <a:ext cx="476250" cy="5715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52867" y="318997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descr="image.png"/>
          <p:cNvPicPr preferRelativeResize="0"/>
          <p:nvPr/>
        </p:nvPicPr>
        <p:blipFill rotWithShape="1">
          <a:blip r:embed="rId11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680517" y="29146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3" descr="image.png"/>
          <p:cNvPicPr preferRelativeResize="0"/>
          <p:nvPr/>
        </p:nvPicPr>
        <p:blipFill rotWithShape="1">
          <a:blip r:embed="rId12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3652192" y="29146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3" descr="image.png"/>
          <p:cNvPicPr preferRelativeResize="0"/>
          <p:nvPr/>
        </p:nvPicPr>
        <p:blipFill rotWithShape="1">
          <a:blip r:embed="rId13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8014642" y="29146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3" descr="image.png"/>
          <p:cNvPicPr preferRelativeResize="0"/>
          <p:nvPr/>
        </p:nvPicPr>
        <p:blipFill rotWithShape="1">
          <a:blip r:embed="rId1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967267" y="29146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/>
          <p:nvPr/>
        </p:nvSpPr>
        <p:spPr>
          <a:xfrm>
            <a:off x="5990272" y="3699947"/>
            <a:ext cx="38100" cy="47625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814367" y="4662487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5428604" y="5062537"/>
            <a:ext cx="111442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Storage</a:t>
            </a:r>
            <a:endParaRPr dirty="0"/>
          </a:p>
        </p:txBody>
      </p:sp>
      <p:sp>
        <p:nvSpPr>
          <p:cNvPr id="309" name="Google Shape;309;p23"/>
          <p:cNvSpPr txBox="1"/>
          <p:nvPr/>
        </p:nvSpPr>
        <p:spPr>
          <a:xfrm>
            <a:off x="5176191" y="5895974"/>
            <a:ext cx="1647827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D97706"/>
                </a:solidFill>
                <a:latin typeface="Lato"/>
                <a:ea typeface="Lato"/>
                <a:cs typeface="Lato"/>
                <a:sym typeface="Lato"/>
              </a:rPr>
              <a:t>Managed by GCD Logic</a:t>
            </a:r>
            <a:endParaRPr dirty="0"/>
          </a:p>
        </p:txBody>
      </p:sp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3B57B9D4-FE5F-0A4E-210F-BFAB37BAB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1B2647D9-CCE9-448B-BCAE-B6078094F07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0" name="Fußzeilenplatzhalter 23">
            <a:extLst>
              <a:ext uri="{FF2B5EF4-FFF2-40B4-BE49-F238E27FC236}">
                <a16:creationId xmlns:a16="http://schemas.microsoft.com/office/drawing/2014/main" id="{A1736E8B-49C8-A9EF-0D36-4729A8957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11" name="Foliennummernplatzhalter 24">
            <a:extLst>
              <a:ext uri="{FF2B5EF4-FFF2-40B4-BE49-F238E27FC236}">
                <a16:creationId xmlns:a16="http://schemas.microsoft.com/office/drawing/2014/main" id="{BE883AB1-2A16-B1BB-B96C-15344C737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10</a:t>
            </a:fld>
            <a:endParaRPr lang="en-GB" dirty="0"/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25FE6194-8936-EE58-DD10-E57B70A9FB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Bakhtyar Karim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655F11-F220-62C7-FBCB-D6F93CFC0255}"/>
              </a:ext>
            </a:extLst>
          </p:cNvPr>
          <p:cNvSpPr txBox="1"/>
          <p:nvPr/>
        </p:nvSpPr>
        <p:spPr>
          <a:xfrm>
            <a:off x="127518" y="6238257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[1]</a:t>
            </a:r>
            <a:r>
              <a:rPr lang="en-US" dirty="0"/>
              <a:t> [2]</a:t>
            </a:r>
            <a:endParaRPr lang="en-DE" dirty="0"/>
          </a:p>
          <a:p>
            <a:endParaRPr lang="en-D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 txBox="1"/>
          <p:nvPr/>
        </p:nvSpPr>
        <p:spPr>
          <a:xfrm>
            <a:off x="838200" y="71501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3.ii. Necessary </a:t>
            </a:r>
            <a:r>
              <a:rPr lang="en-US" sz="3600" dirty="0">
                <a:latin typeface="+mj-lt"/>
                <a:ea typeface="Poppins"/>
                <a:cs typeface="Poppins"/>
                <a:sym typeface="Poppins"/>
              </a:rPr>
              <a:t>a</a:t>
            </a:r>
            <a:r>
              <a:rPr lang="en-US" sz="3600" i="0" u="none" strike="noStrike" cap="none" dirty="0">
                <a:latin typeface="+mj-lt"/>
                <a:ea typeface="Poppins"/>
                <a:cs typeface="Poppins"/>
                <a:sym typeface="Poppins"/>
              </a:rPr>
              <a:t>ctions: EDT &amp; GCD</a:t>
            </a:r>
            <a:endParaRPr dirty="0">
              <a:latin typeface="+mj-lt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886132" y="1404938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close this gap, we need specific outputs from both teams by Week 10.</a:t>
            </a:r>
            <a:endParaRPr dirty="0"/>
          </a:p>
        </p:txBody>
      </p:sp>
      <p:sp>
        <p:nvSpPr>
          <p:cNvPr id="319" name="Google Shape;319;p24"/>
          <p:cNvSpPr txBox="1"/>
          <p:nvPr/>
        </p:nvSpPr>
        <p:spPr>
          <a:xfrm>
            <a:off x="571500" y="2245519"/>
            <a:ext cx="55006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EDT Team (Hardware)</a:t>
            </a:r>
            <a:endParaRPr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571500" y="2740819"/>
            <a:ext cx="5238750" cy="28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6381750" y="2245519"/>
            <a:ext cx="55006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GCD Team (Logic)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6381750" y="2740819"/>
            <a:ext cx="52387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571500" y="3053401"/>
            <a:ext cx="52387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Cable Sizing: Finalize calculations for the DC/AC Link cables and Grid Connection cables.</a:t>
            </a:r>
            <a:endParaRPr dirty="0"/>
          </a:p>
        </p:txBody>
      </p:sp>
      <p:sp>
        <p:nvSpPr>
          <p:cNvPr id="326" name="Google Shape;326;p24"/>
          <p:cNvSpPr txBox="1"/>
          <p:nvPr/>
        </p:nvSpPr>
        <p:spPr>
          <a:xfrm>
            <a:off x="571500" y="4099187"/>
            <a:ext cx="52387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Physical Layout: Where do the cables go</a:t>
            </a:r>
            <a:r>
              <a:rPr lang="en-US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especially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 the nacelle?</a:t>
            </a:r>
            <a:endParaRPr dirty="0"/>
          </a:p>
        </p:txBody>
      </p:sp>
      <p:sp>
        <p:nvSpPr>
          <p:cNvPr id="328" name="Google Shape;328;p24"/>
          <p:cNvSpPr txBox="1"/>
          <p:nvPr/>
        </p:nvSpPr>
        <p:spPr>
          <a:xfrm>
            <a:off x="571500" y="5113719"/>
            <a:ext cx="52387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Switchgear: Select the specific protection devices.</a:t>
            </a:r>
            <a:endParaRPr dirty="0"/>
          </a:p>
        </p:txBody>
      </p:sp>
      <p:sp>
        <p:nvSpPr>
          <p:cNvPr id="330" name="Google Shape;330;p24"/>
          <p:cNvSpPr txBox="1"/>
          <p:nvPr/>
        </p:nvSpPr>
        <p:spPr>
          <a:xfrm>
            <a:off x="6381750" y="3053401"/>
            <a:ext cx="52387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EMS Logic: Define the "If/Then" rules for the battery.</a:t>
            </a:r>
            <a:endParaRPr dirty="0"/>
          </a:p>
        </p:txBody>
      </p:sp>
      <p:sp>
        <p:nvSpPr>
          <p:cNvPr id="332" name="Google Shape;332;p24"/>
          <p:cNvSpPr txBox="1"/>
          <p:nvPr/>
        </p:nvSpPr>
        <p:spPr>
          <a:xfrm>
            <a:off x="6381750" y="4168405"/>
            <a:ext cx="603639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Simulink Model: Prove the logic works in simulation.</a:t>
            </a:r>
            <a:endParaRPr dirty="0"/>
          </a:p>
        </p:txBody>
      </p:sp>
      <p:sp>
        <p:nvSpPr>
          <p:cNvPr id="334" name="Google Shape;334;p24"/>
          <p:cNvSpPr txBox="1"/>
          <p:nvPr/>
        </p:nvSpPr>
        <p:spPr>
          <a:xfrm>
            <a:off x="6381750" y="5102828"/>
            <a:ext cx="52387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Connection Agreement: What does PETDE require at the connection point?</a:t>
            </a:r>
            <a:endParaRPr dirty="0"/>
          </a:p>
        </p:txBody>
      </p:sp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A147ADD3-1201-1052-9860-7DBA741C9C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1B2647D9-CCE9-448B-BCAE-B6078094F078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10" name="Fußzeilenplatzhalter 23">
            <a:extLst>
              <a:ext uri="{FF2B5EF4-FFF2-40B4-BE49-F238E27FC236}">
                <a16:creationId xmlns:a16="http://schemas.microsoft.com/office/drawing/2014/main" id="{7EC249B2-BB69-610E-7205-9D99E9C7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11" name="Foliennummernplatzhalter 24">
            <a:extLst>
              <a:ext uri="{FF2B5EF4-FFF2-40B4-BE49-F238E27FC236}">
                <a16:creationId xmlns:a16="http://schemas.microsoft.com/office/drawing/2014/main" id="{66E878C9-CC5E-A234-F23F-064D0145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11</a:t>
            </a:fld>
            <a:endParaRPr lang="en-GB" dirty="0"/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94108BDD-9193-90B9-B81D-36F3391997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Bakhtyar Karim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508462-F6BC-6549-67D0-7FDEA3FB621C}"/>
              </a:ext>
            </a:extLst>
          </p:cNvPr>
          <p:cNvSpPr txBox="1"/>
          <p:nvPr/>
        </p:nvSpPr>
        <p:spPr>
          <a:xfrm>
            <a:off x="127518" y="6238257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[1]</a:t>
            </a:r>
            <a:r>
              <a:rPr lang="en-US" dirty="0"/>
              <a:t> [2]</a:t>
            </a:r>
            <a:endParaRPr lang="en-DE" dirty="0"/>
          </a:p>
          <a:p>
            <a:endParaRPr lang="en-DE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241" y="271819"/>
            <a:ext cx="10515600" cy="1325563"/>
          </a:xfrm>
        </p:spPr>
        <p:txBody>
          <a:bodyPr/>
          <a:lstStyle/>
          <a:p>
            <a:r>
              <a:rPr lang="de-DE" dirty="0"/>
              <a:t>Bibliography / Managment Team / PM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184" y="1483568"/>
            <a:ext cx="11949611" cy="474937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>
              <a:defRPr/>
            </a:pPr>
            <a:r>
              <a:rPr lang="en-US" dirty="0"/>
              <a:t>[1] All previous weeks presentations</a:t>
            </a:r>
          </a:p>
          <a:p>
            <a:pPr>
              <a:defRPr/>
            </a:pPr>
            <a:r>
              <a:rPr lang="en-US" dirty="0"/>
              <a:t>[2] Final result file shared across all teams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Management Team PM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Bakhtyar Karim</a:t>
            </a: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nagment team" id="{49CF8F14-4D36-410B-8FD7-EF9AC5FC0265}" vid="{E0BCDBF3-E95D-42DF-9CFA-5A341A93A409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nagment team" id="{49CF8F14-4D36-410B-8FD7-EF9AC5FC0265}" vid="{B7A59B36-2137-465F-86DC-E5A6887FF7C3}"/>
    </a:ext>
  </a:extLst>
</a:theme>
</file>

<file path=ppt/theme/theme3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nagment team" id="{49CF8F14-4D36-410B-8FD7-EF9AC5FC0265}" vid="{E0BCDBF3-E95D-42DF-9CFA-5A341A93A409}"/>
    </a:ext>
  </a:extLst>
</a:theme>
</file>

<file path=ppt/theme/theme4.xml><?xml version="1.0" encoding="utf-8"?>
<a:theme xmlns:a="http://schemas.openxmlformats.org/drawingml/2006/main" name="1_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nagment team" id="{49CF8F14-4D36-410B-8FD7-EF9AC5FC0265}" vid="{B7A59B36-2137-465F-86DC-E5A6887FF7C3}"/>
    </a:ext>
  </a:extLst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Managment Team</Template>
  <TotalTime>0</TotalTime>
  <Words>938</Words>
  <Application>Microsoft Office PowerPoint</Application>
  <PresentationFormat>Widescreen</PresentationFormat>
  <Paragraphs>150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Aptos</vt:lpstr>
      <vt:lpstr>Poppins</vt:lpstr>
      <vt:lpstr>Calibri Light</vt:lpstr>
      <vt:lpstr>Times New Roman</vt:lpstr>
      <vt:lpstr>Lato</vt:lpstr>
      <vt:lpstr>Aptos Display</vt:lpstr>
      <vt:lpstr>Calibri</vt:lpstr>
      <vt:lpstr>Aptos (Textkörper)</vt:lpstr>
      <vt:lpstr>Office</vt:lpstr>
      <vt:lpstr>Benutzerdefiniertes Design</vt:lpstr>
      <vt:lpstr>1_Office</vt:lpstr>
      <vt:lpstr>1_Benutzerdefiniertes Design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 / Managment Team / PM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Bakhtiar Sabir</dc:creator>
  <cp:lastModifiedBy>Bakhtiar Sabir</cp:lastModifiedBy>
  <cp:revision>3</cp:revision>
  <dcterms:modified xsi:type="dcterms:W3CDTF">2025-11-24T16:47:49Z</dcterms:modified>
</cp:coreProperties>
</file>