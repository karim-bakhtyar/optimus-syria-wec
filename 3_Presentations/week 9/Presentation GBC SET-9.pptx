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71" r:id="rId3"/>
    <p:sldId id="256" r:id="rId4"/>
    <p:sldId id="259" r:id="rId5"/>
    <p:sldId id="286" r:id="rId6"/>
    <p:sldId id="310" r:id="rId7"/>
    <p:sldId id="319" r:id="rId8"/>
    <p:sldId id="314" r:id="rId9"/>
    <p:sldId id="323" r:id="rId10"/>
    <p:sldId id="335" r:id="rId11"/>
    <p:sldId id="337" r:id="rId12"/>
    <p:sldId id="336" r:id="rId13"/>
    <p:sldId id="338" r:id="rId14"/>
    <p:sldId id="334" r:id="rId15"/>
    <p:sldId id="277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irst slide" id="{EBA04D78-D1FF-49F4-BDD6-03EE135E606E}">
          <p14:sldIdLst>
            <p14:sldId id="271"/>
            <p14:sldId id="256"/>
          </p14:sldIdLst>
        </p14:section>
        <p14:section name="List of Content" id="{531AC0BB-816B-410D-BA56-36D5099BF673}">
          <p14:sldIdLst>
            <p14:sldId id="259"/>
          </p14:sldIdLst>
        </p14:section>
        <p14:section name="Main slides" id="{BD6EF26E-A09A-41FB-8480-E6BC53006862}">
          <p14:sldIdLst>
            <p14:sldId id="286"/>
            <p14:sldId id="310"/>
            <p14:sldId id="319"/>
            <p14:sldId id="314"/>
            <p14:sldId id="323"/>
            <p14:sldId id="335"/>
            <p14:sldId id="337"/>
            <p14:sldId id="336"/>
            <p14:sldId id="338"/>
            <p14:sldId id="334"/>
          </p14:sldIdLst>
        </p14:section>
        <p14:section name="Bibliography" id="{4B1BE071-296A-4A26-8CA8-772A89E6818A}">
          <p14:sldIdLst>
            <p14:sldId id="27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1DFFD"/>
    <a:srgbClr val="EBED77"/>
    <a:srgbClr val="C0F5FF"/>
    <a:srgbClr val="8ECEFA"/>
    <a:srgbClr val="92C6E6"/>
    <a:srgbClr val="80D2F7"/>
    <a:srgbClr val="7ED1F7"/>
    <a:srgbClr val="3C96FA"/>
    <a:srgbClr val="BDE5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50A9DF-9D26-EF31-E10E-416F6307E41E}" v="437" dt="2025-11-23T14:37:22.817"/>
    <p1510:client id="{8A82DB9F-C184-3E10-6D4E-771CD599643A}" v="940" dt="2025-11-24T05:45:55.939"/>
    <p1510:client id="{A8BEF158-BEAD-86DB-30AD-9DDD3D7F843A}" v="540" dt="2025-11-24T10:57:37.6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pPr/>
              <a:t>24/11/2025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23327E-A3FE-4279-B080-AD6DAF9EDC39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5524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CFF2-C4A0-C88B-1E9C-7E88513856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93A8F-E2E3-B4BD-3B84-D178AF0ED9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BFD4-B46B-34FE-9A8B-9033E96DC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740036-D7DD-42C8-B5AA-1A1F3B29326C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F83137-53E8-FAAE-F427-32424D867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73579" y="6356350"/>
            <a:ext cx="403654" cy="365125"/>
          </a:xfrm>
        </p:spPr>
        <p:txBody>
          <a:bodyPr/>
          <a:lstStyle>
            <a:lvl1pPr>
              <a:defRPr sz="1600"/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339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A4901-6338-2E30-CCE8-77FD13F59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3F872-E966-4E82-A983-56302FF6F23D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6B5D97-094A-D8D8-0C4D-1DC08462E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769428" y="6349546"/>
            <a:ext cx="653143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70134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690F5D-2977-B8B5-3FC5-DF3AE8740E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C247B5-0632-4013-2832-15D3D21A8C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A4BC1-6A36-94FE-17CE-DFAD0BF1A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4A8C58-2FD7-4CE4-B4DC-DEF691109F84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D5FD8C-55CD-AD30-1E91-60750BCCD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5A2AD0-0D56-CC63-D932-D1C61C77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9486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63C60A-FE48-2910-84A1-612B23A78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AAF5F-6746-45B9-A9FE-BBDE38F21A62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BC67CE-6F73-71D9-BF0B-18A7CD94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80765-E2ED-A6A2-9401-8425BFA02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5754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96258-07C0-0BF2-CA2A-156B572B5B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C2A9E8-7F5B-48DD-918E-3D5CE3382CAC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07D047-C31B-4C8F-E0B3-75014FF62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484742A-6F5B-071B-E0EA-980402529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8101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2CDD78-FBCD-76B9-2CA1-031942F219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65290-9E56-44C7-B8BB-35B380DF0EFC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8218E7-E787-22C8-B531-FFEC9002A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876BDA-2FCA-9763-2EA1-4033A560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6705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0FDB8F-73D7-2EBC-A62D-4DC737946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80F0FC-57EE-4F63-A5B2-1419F641B3FB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CD8D704-B4F5-F739-D1FA-65F2302BC1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C7751D-0392-D26F-33B1-9B05704F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42798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3685DB-F13A-97BE-F448-17416079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4EF9-9D62-4E5B-A559-3AD64F589666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0ACE2-CF77-9AC4-52EF-82FBD40BB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60D674-CAD3-59F8-9DF5-CA4D8E7A04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7982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4AE937-083F-51CA-E382-30FE9BE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DFDC8-E43A-43A1-931C-3C6B81D788BC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F255A-C1CC-7A32-A0B3-4283D8583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6C013-C03F-024A-D0F4-FF67E6709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631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16D05-728D-ACC9-D7EA-DC9D73300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EB233B-7A79-4043-88EA-ECED45D3F6EF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4FC10-CEAF-B332-2960-AABF9CE254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6ED6E7-B58D-A523-935C-4B108C943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8758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A399A6-3C5A-016E-2F7E-AE842F8D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F05656-A676-4972-ADDE-468CB1EDD68C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6242F9-DB70-E4F8-D075-6A90518751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FAB33-4759-572E-2291-D19531D81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14601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 dirty="0" err="1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</a:t>
            </a:r>
            <a:r>
              <a:rPr kumimoji="0" lang="it-IT" sz="6600" b="1" i="0" u="none" strike="noStrike" kern="1200" cap="none" spc="0" normalizeH="0" baseline="0" noProof="0" dirty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31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AEF21-84C8-586D-C38F-81DE3F931C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13036B-E08D-B4B8-69CB-C42176842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3DB72-09E0-8BDF-14B4-4FA2820C1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C65BE2-6702-4930-A56D-B5476ACA0DF0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1F2740-59F3-8354-CF52-53337A807A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C06A1-E2ED-D4C3-86B0-3C97240937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850836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F8E779-A5CF-33E3-89F5-B43337C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9D232-4F34-AEFC-AFD0-741DABBA5F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5F2E77-D5DF-1D17-C854-897B9DD3B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42475-D91E-4E33-BF8F-90378BE577F9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3614D6-F2CE-1582-32E1-94A59C7A8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27D5C-0D68-9101-A36C-9187E79BB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63929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58CC5-208E-4B47-6CAD-E29FCCC39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79405-6B60-96C3-7F85-CE10C28770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CBA10-7C40-29AA-A669-FC240702E6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031E26-A48B-4DE6-94E7-B322713FCCC0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999825-A403-E91C-FFA8-F874E991D8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CCBFE7-28C4-5DF1-911F-E0B622EAA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72219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B7720-A6A0-DF50-E2F8-F9527E23D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6D186-8E32-BEAD-C81B-DE65895FD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E57542-2B68-1767-C023-57D111E4E8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5A417-9018-30E4-0A47-8170AD7D2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454A3D-964C-4047-935E-BF23384B028C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7AF8F7-6A80-4F6A-4E5F-660537A25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AD3418-4BA9-CD34-AE32-0EF416780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036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908D8-A3B6-96B0-A29C-1B8262BE5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05487-0425-138F-F9A2-087227228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3BCB02-5AB4-A5E9-0917-4B9DD049B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A50C77-85F2-0754-8AD9-7A5A4AEF65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3DDF01-B6D2-31ED-A641-114B1A0ADBF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B1FCA1D-B4D0-56C6-A678-3E0624361E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B5ED4-4AEA-4BEE-9543-97F42F3A9DF7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0E1DB4-3501-792C-CAF9-4235B2E91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DD0757-7BFA-7895-D03C-767D64050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31796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B62EA9-258F-B5EB-624D-2EFA68C41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148340-45BA-0901-1551-9D9DAFF07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72E45-CF5C-48EE-9BF1-31EB6A888072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42F2D2-B0BF-4202-0381-8243671BB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F6687B-3FE7-76CE-1134-2B3A5D187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7628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B9E6C1-24CC-682A-8886-999E9A21F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BE8120-3341-455E-87F6-3553B5B3458C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275448-9567-EFBD-FC78-2B80C2BDF3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E95C70-5A8D-518E-49A4-1BE453853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8015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520AB-BD7C-3FEC-DC53-91B047807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A408-CFF5-5EB0-4399-BB87E6CF0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736F81-445C-5EF6-6E32-68D1E9C1C9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A08E69-7027-0F17-B524-CD221B586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ED9507-0DDD-4F0A-9398-E897CDBED1CB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145A00-EFDD-31BA-C55F-26A6CC902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1ACCAF-2E21-16F5-1C68-06D177E12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524733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BEA28B-29EC-E505-5884-CB4B1C6FD8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5425986-DCF9-FBB5-39AD-D04792C65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1AEB0E-C7EC-4F26-009D-409178E43F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4AB446-5A6F-5112-F417-65A55A0DC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BC440-4EA5-4D0A-B191-1DC4B1D8ACAD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42D12D-03AA-1A0A-4595-8E063817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CB350E-16AC-3E65-1704-09F648ABB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76441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C8C89-C725-395E-E708-BEF95E19CC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1E4975-013E-CB40-86C9-4D346B73C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A6C674-4D68-9DAC-8E93-7EB627FCC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E45C8B-BD3D-4C3C-97C3-5C69D979E78D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CC36B8-CAAE-BDC6-8DF5-9451A698F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6750A4-9B92-8DB3-B407-A8A74CEA4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780521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F9A6511-7D12-4461-0A24-9B3134C2C7D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5222EB-F23C-083B-09C9-48B924AC7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908F9-D1F7-F94A-CA98-198F714C5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11AAB-076A-4A0E-8268-D589047ED16D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D1FCF1-AD09-ED98-9C1F-DDCABBE25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3C831-E5D1-B4E6-5F4E-FB9FFB5D9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425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16C39C-11C9-4478-AACD-4B99CE86271F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507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324F72-DEC3-C328-E288-A7FC5B1D5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7096B6-F39D-5D3A-895A-1CE61CD3F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26E2-FBE9-5D75-A698-6FD0ED0970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7C1E37-113B-4587-99CC-1F6CD3314CBE}" type="datetime1">
              <a:rPr lang="en-GB" smtClean="0"/>
              <a:pPr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5CAFA2-68FA-9BA2-4F27-A8680F507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/>
              <a:t>Kick-Off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A027B2-667B-4034-930B-AB076347AC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26457B-11B5-4397-9456-911FAE9FD3F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148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D3FC7EDF-25D6-28E8-DCE0-52ED50209C25}"/>
              </a:ext>
            </a:extLst>
          </p:cNvPr>
          <p:cNvSpPr txBox="1"/>
          <p:nvPr/>
        </p:nvSpPr>
        <p:spPr>
          <a:xfrm>
            <a:off x="3913526" y="4104491"/>
            <a:ext cx="4142630" cy="6186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90000"/>
              </a:lnSpc>
              <a:spcBef>
                <a:spcPts val="1000"/>
              </a:spcBef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/>
              </a:rPr>
              <a:t>Date: </a:t>
            </a:r>
            <a:r>
              <a:rPr lang="it-IT" dirty="0">
                <a:solidFill>
                  <a:srgbClr val="0E2841">
                    <a:lumMod val="90000"/>
                    <a:lumOff val="10000"/>
                  </a:srgbClr>
                </a:solidFill>
                <a:latin typeface="Aptos (Textkörper)"/>
                <a:cs typeface="Times New Roman"/>
              </a:rPr>
              <a:t>25 November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Aptos (Textkörper)"/>
                <a:ea typeface="+mn-ea"/>
                <a:cs typeface="Times New Roman"/>
              </a:rPr>
              <a:t> 2025</a:t>
            </a:r>
          </a:p>
          <a:p>
            <a:endParaRPr lang="en-GB" dirty="0">
              <a:latin typeface="Aptos (Textkörper)"/>
            </a:endParaRPr>
          </a:p>
        </p:txBody>
      </p:sp>
    </p:spTree>
    <p:extLst>
      <p:ext uri="{BB962C8B-B14F-4D97-AF65-F5344CB8AC3E}">
        <p14:creationId xmlns:p14="http://schemas.microsoft.com/office/powerpoint/2010/main" val="1886790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47672-3CC8-A3D9-5404-84F2B78B62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4045" y="1748938"/>
            <a:ext cx="9144000" cy="912598"/>
          </a:xfrm>
        </p:spPr>
        <p:txBody>
          <a:bodyPr>
            <a:noAutofit/>
          </a:bodyPr>
          <a:lstStyle/>
          <a:p>
            <a:r>
              <a:rPr lang="it-IT" sz="3600" dirty="0">
                <a:latin typeface="Times New Roman"/>
                <a:cs typeface="Times New Roman"/>
              </a:rPr>
              <a:t>Weekly report: Team </a:t>
            </a:r>
            <a:r>
              <a:rPr lang="it-IT" sz="3600" dirty="0" err="1">
                <a:latin typeface="Times New Roman"/>
                <a:cs typeface="Times New Roman"/>
              </a:rPr>
              <a:t>Gearbox</a:t>
            </a:r>
            <a:r>
              <a:rPr lang="it-IT" sz="3600" dirty="0">
                <a:latin typeface="Times New Roman"/>
                <a:cs typeface="Times New Roman"/>
              </a:rPr>
              <a:t>, </a:t>
            </a:r>
            <a:r>
              <a:rPr lang="it-IT" sz="3600" dirty="0" err="1">
                <a:latin typeface="Times New Roman"/>
                <a:cs typeface="Times New Roman"/>
              </a:rPr>
              <a:t>Brake</a:t>
            </a:r>
            <a:r>
              <a:rPr lang="it-IT" sz="3600" dirty="0">
                <a:latin typeface="Times New Roman"/>
                <a:cs typeface="Times New Roman"/>
              </a:rPr>
              <a:t>, </a:t>
            </a:r>
            <a:r>
              <a:rPr lang="it-IT" sz="3600" dirty="0" err="1">
                <a:latin typeface="Times New Roman"/>
                <a:cs typeface="Times New Roman"/>
              </a:rPr>
              <a:t>Coupling</a:t>
            </a:r>
            <a:r>
              <a:rPr lang="it-IT" sz="3600" dirty="0">
                <a:latin typeface="Times New Roman"/>
                <a:cs typeface="Times New Roman"/>
              </a:rPr>
              <a:t> </a:t>
            </a:r>
            <a:endParaRPr lang="en-GB" sz="3600" dirty="0">
              <a:latin typeface="Times New Roman"/>
              <a:cs typeface="Times New Roman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16656" y="2650278"/>
            <a:ext cx="5899051" cy="165576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 sz="2000" dirty="0">
                <a:latin typeface="Times New Roman"/>
                <a:cs typeface="Times New Roman"/>
              </a:rPr>
              <a:t>Week </a:t>
            </a:r>
            <a:r>
              <a:rPr lang="it-IT" sz="2000" dirty="0" err="1">
                <a:latin typeface="Times New Roman"/>
                <a:cs typeface="Times New Roman"/>
              </a:rPr>
              <a:t>number</a:t>
            </a:r>
            <a:r>
              <a:rPr lang="it-IT" sz="2000" dirty="0">
                <a:latin typeface="Times New Roman"/>
                <a:cs typeface="Times New Roman"/>
              </a:rPr>
              <a:t> : 09</a:t>
            </a:r>
          </a:p>
          <a:p>
            <a:r>
              <a:rPr lang="it-IT" sz="2000" dirty="0">
                <a:latin typeface="Times New Roman"/>
                <a:cs typeface="Times New Roman"/>
              </a:rPr>
              <a:t>Date: 25/11/2025</a:t>
            </a:r>
          </a:p>
          <a:p>
            <a:r>
              <a:rPr lang="it-IT" sz="2000" dirty="0">
                <a:latin typeface="Times New Roman"/>
                <a:cs typeface="Times New Roman"/>
              </a:rPr>
              <a:t>Supervisor: Prof. Peter </a:t>
            </a:r>
            <a:r>
              <a:rPr lang="it-IT" sz="2000" err="1">
                <a:latin typeface="Times New Roman"/>
                <a:cs typeface="Times New Roman"/>
              </a:rPr>
              <a:t>Quell</a:t>
            </a:r>
            <a:endParaRPr lang="en-GB" sz="2000" err="1">
              <a:latin typeface="Times New Roman"/>
              <a:cs typeface="Times New Roman"/>
            </a:endParaRPr>
          </a:p>
        </p:txBody>
      </p:sp>
      <p:pic>
        <p:nvPicPr>
          <p:cNvPr id="8" name="Picture 8" descr="Hochschule Flensburg (Fachhochschule) – Wikipedia">
            <a:extLst>
              <a:ext uri="{FF2B5EF4-FFF2-40B4-BE49-F238E27FC236}">
                <a16:creationId xmlns:a16="http://schemas.microsoft.com/office/drawing/2014/main" id="{E88D30C2-B846-594F-69A8-55F5538046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EE7EEC8C-633A-AEB3-3E8A-978E3C75A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D13120F1-DE8B-A6AA-A1D5-19926A98F0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4" name="Free-form: Shape 13">
            <a:extLst>
              <a:ext uri="{FF2B5EF4-FFF2-40B4-BE49-F238E27FC236}">
                <a16:creationId xmlns:a16="http://schemas.microsoft.com/office/drawing/2014/main" id="{44C88E41-E5B3-0D11-A4D3-711DA18380C9}"/>
              </a:ext>
            </a:extLst>
          </p:cNvPr>
          <p:cNvSpPr/>
          <p:nvPr/>
        </p:nvSpPr>
        <p:spPr>
          <a:xfrm>
            <a:off x="0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solidFill>
              <a:schemeClr val="bg1"/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-form: Shape 13">
            <a:extLst>
              <a:ext uri="{FF2B5EF4-FFF2-40B4-BE49-F238E27FC236}">
                <a16:creationId xmlns:a16="http://schemas.microsoft.com/office/drawing/2014/main" id="{C26B78DF-71CA-5509-F4C5-6276C7251B89}"/>
              </a:ext>
            </a:extLst>
          </p:cNvPr>
          <p:cNvSpPr/>
          <p:nvPr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-form: Shape 13">
            <a:extLst>
              <a:ext uri="{FF2B5EF4-FFF2-40B4-BE49-F238E27FC236}">
                <a16:creationId xmlns:a16="http://schemas.microsoft.com/office/drawing/2014/main" id="{2AC7F7CE-A165-18C0-6918-B9EA07638042}"/>
              </a:ext>
            </a:extLst>
          </p:cNvPr>
          <p:cNvSpPr/>
          <p:nvPr/>
        </p:nvSpPr>
        <p:spPr>
          <a:xfrm>
            <a:off x="-299280" y="5942449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735E7E19-AD9A-2739-2D13-BC73EA4C759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sz="1100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pic>
        <p:nvPicPr>
          <p:cNvPr id="19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2FD2ECB6-38EA-E857-A881-0C8E141A489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592750"/>
            <a:ext cx="1753782" cy="1313633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4389E-5559-8492-2D9E-AFA299DB9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64845" y="6542724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061359" y="3992437"/>
            <a:ext cx="8495794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 dirty="0">
                <a:latin typeface="Times New Roman"/>
                <a:cs typeface="Times New Roman"/>
              </a:rPr>
              <a:t>Group Members :</a:t>
            </a:r>
            <a:r>
              <a:rPr lang="en-US" dirty="0" err="1">
                <a:latin typeface="Times New Roman"/>
                <a:cs typeface="Times New Roman"/>
              </a:rPr>
              <a:t>Nehang</a:t>
            </a:r>
            <a:r>
              <a:rPr lang="en-US" dirty="0">
                <a:latin typeface="Times New Roman"/>
                <a:cs typeface="Times New Roman"/>
              </a:rPr>
              <a:t> Jitendra </a:t>
            </a:r>
            <a:r>
              <a:rPr lang="en-US" dirty="0" err="1">
                <a:latin typeface="Times New Roman"/>
                <a:cs typeface="Times New Roman"/>
              </a:rPr>
              <a:t>Joshi,Santo</a:t>
            </a:r>
            <a:r>
              <a:rPr lang="en-US" dirty="0">
                <a:latin typeface="Times New Roman"/>
                <a:cs typeface="Times New Roman"/>
              </a:rPr>
              <a:t> Mazumder,</a:t>
            </a:r>
            <a:r>
              <a:rPr lang="fi-FI" dirty="0">
                <a:latin typeface="Times New Roman"/>
                <a:cs typeface="Times New Roman"/>
              </a:rPr>
              <a:t>Md </a:t>
            </a:r>
            <a:r>
              <a:rPr lang="fi-FI" dirty="0" err="1">
                <a:latin typeface="Times New Roman"/>
                <a:cs typeface="Times New Roman"/>
              </a:rPr>
              <a:t>Razaul</a:t>
            </a:r>
            <a:r>
              <a:rPr lang="fi-FI" dirty="0">
                <a:latin typeface="Times New Roman"/>
                <a:cs typeface="Times New Roman"/>
              </a:rPr>
              <a:t> Karim Rahat </a:t>
            </a:r>
            <a:endParaRPr lang="en-US"/>
          </a:p>
          <a:p>
            <a:r>
              <a:rPr lang="fi-FI" dirty="0">
                <a:latin typeface="Times New Roman"/>
                <a:cs typeface="Times New Roman"/>
              </a:rPr>
              <a:t>                              </a:t>
            </a:r>
            <a:endParaRPr lang="fi-FI" dirty="0" err="1">
              <a:latin typeface="Aptos"/>
              <a:cs typeface="Times New Roman"/>
            </a:endParaRPr>
          </a:p>
          <a:p>
            <a:r>
              <a:rPr lang="fi-FI" dirty="0">
                <a:latin typeface="Times New Roman"/>
                <a:cs typeface="Times New Roman"/>
              </a:rPr>
              <a:t>                                        </a:t>
            </a:r>
            <a:r>
              <a:rPr lang="en-GB" dirty="0">
                <a:latin typeface="Times New Roman"/>
                <a:ea typeface="+mn-lt"/>
                <a:cs typeface="+mn-lt"/>
              </a:rPr>
              <a:t>Presented by</a:t>
            </a:r>
            <a:r>
              <a:rPr lang="fi-FI" dirty="0">
                <a:latin typeface="Times New Roman"/>
                <a:cs typeface="Times New Roman"/>
              </a:rPr>
              <a:t> -</a:t>
            </a:r>
            <a:r>
              <a:rPr lang="fi-FI" dirty="0" err="1">
                <a:latin typeface="Times New Roman"/>
                <a:cs typeface="Times New Roman"/>
              </a:rPr>
              <a:t>Nehang</a:t>
            </a:r>
            <a:r>
              <a:rPr lang="fi-FI" dirty="0">
                <a:latin typeface="Times New Roman"/>
                <a:cs typeface="Times New Roman"/>
              </a:rPr>
              <a:t> </a:t>
            </a:r>
            <a:r>
              <a:rPr lang="fi-FI" dirty="0" err="1">
                <a:latin typeface="Times New Roman"/>
                <a:cs typeface="Times New Roman"/>
              </a:rPr>
              <a:t>Jitendra</a:t>
            </a:r>
            <a:r>
              <a:rPr lang="fi-FI" dirty="0">
                <a:latin typeface="Times New Roman"/>
                <a:cs typeface="Times New Roman"/>
              </a:rPr>
              <a:t> </a:t>
            </a:r>
            <a:r>
              <a:rPr lang="fi-FI" dirty="0" err="1">
                <a:latin typeface="Times New Roman"/>
                <a:cs typeface="Times New Roman"/>
              </a:rPr>
              <a:t>Joshi</a:t>
            </a:r>
          </a:p>
          <a:p>
            <a:pPr marL="342900" indent="-342900">
              <a:buFont typeface="+mj-lt"/>
              <a:buAutoNum type="arabicPeriod"/>
            </a:pPr>
            <a:endParaRPr lang="fi-FI">
              <a:latin typeface="Times New Roman"/>
              <a:cs typeface="Times New Roman"/>
            </a:endParaRPr>
          </a:p>
        </p:txBody>
      </p:sp>
      <p:sp>
        <p:nvSpPr>
          <p:cNvPr id="5" name="Textplatzhalter 9">
            <a:extLst>
              <a:ext uri="{FF2B5EF4-FFF2-40B4-BE49-F238E27FC236}">
                <a16:creationId xmlns:a16="http://schemas.microsoft.com/office/drawing/2014/main" id="{98440240-F425-0B72-2058-EC45CD20C2C8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Rechteck 17">
            <a:extLst>
              <a:ext uri="{FF2B5EF4-FFF2-40B4-BE49-F238E27FC236}">
                <a16:creationId xmlns:a16="http://schemas.microsoft.com/office/drawing/2014/main" id="{30319656-CF5E-28CD-1CFD-A3C3C62A9F2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</p:spTree>
    <p:extLst>
      <p:ext uri="{BB962C8B-B14F-4D97-AF65-F5344CB8AC3E}">
        <p14:creationId xmlns:p14="http://schemas.microsoft.com/office/powerpoint/2010/main" val="7364081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27BC127-4545-D3CD-4862-C320531ABA9D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5F9413CA-8E0D-B250-B31E-4AA68BA7D014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7E5E9A3-5B8C-CBB5-88F6-FB4E956A66F7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837C855E-F70E-F97A-5061-29D00BA11349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E0AA001-DA32-5B78-E7F7-573800334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FEBE381E-3397-D2E2-45A9-C6F7EAF78A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77583" y="445344"/>
            <a:ext cx="4340796" cy="7989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de-DE" sz="2800" dirty="0">
                <a:latin typeface="Times New Roman"/>
                <a:cs typeface="Times New Roman"/>
              </a:rPr>
              <a:t>List of Content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73AD17-49A9-1372-BEA3-994BB76CBDE8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07249" y="1176770"/>
            <a:ext cx="4908022" cy="1256754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de-DE" dirty="0">
                <a:latin typeface="Times New Roman"/>
                <a:cs typeface="Times New Roman"/>
              </a:rPr>
              <a:t>1.Calculation </a:t>
            </a:r>
            <a:r>
              <a:rPr lang="de-DE" err="1">
                <a:latin typeface="Times New Roman"/>
                <a:cs typeface="Times New Roman"/>
              </a:rPr>
              <a:t>of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err="1">
                <a:latin typeface="Times New Roman"/>
                <a:cs typeface="Times New Roman"/>
              </a:rPr>
              <a:t>the</a:t>
            </a:r>
            <a:r>
              <a:rPr lang="de-DE" dirty="0">
                <a:latin typeface="Times New Roman"/>
                <a:cs typeface="Times New Roman"/>
              </a:rPr>
              <a:t> 1st </a:t>
            </a:r>
            <a:r>
              <a:rPr lang="de-DE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err="1">
                <a:latin typeface="Times New Roman"/>
                <a:cs typeface="Times New Roman"/>
              </a:rPr>
              <a:t>of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err="1">
                <a:latin typeface="Times New Roman"/>
                <a:cs typeface="Times New Roman"/>
              </a:rPr>
              <a:t>planetary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err="1">
                <a:latin typeface="Times New Roman"/>
                <a:cs typeface="Times New Roman"/>
              </a:rPr>
              <a:t>gear</a:t>
            </a:r>
            <a:r>
              <a:rPr lang="de-DE" dirty="0">
                <a:latin typeface="Times New Roman"/>
                <a:cs typeface="Times New Roman"/>
              </a:rPr>
              <a:t> and 2nd </a:t>
            </a:r>
            <a:r>
              <a:rPr lang="de-DE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 also Spur </a:t>
            </a:r>
            <a:r>
              <a:rPr lang="de-DE" err="1">
                <a:latin typeface="Times New Roman"/>
                <a:cs typeface="Times New Roman"/>
              </a:rPr>
              <a:t>gear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err="1">
                <a:latin typeface="Times New Roman"/>
                <a:cs typeface="Times New Roman"/>
              </a:rPr>
              <a:t>stage</a:t>
            </a:r>
            <a:r>
              <a:rPr lang="de-DE" dirty="0">
                <a:latin typeface="Times New Roman"/>
                <a:cs typeface="Times New Roman"/>
              </a:rPr>
              <a:t> </a:t>
            </a:r>
            <a:r>
              <a:rPr lang="de-DE" err="1">
                <a:latin typeface="Times New Roman"/>
                <a:cs typeface="Times New Roman"/>
              </a:rPr>
              <a:t>calculation</a:t>
            </a:r>
            <a:r>
              <a:rPr lang="de-DE" dirty="0">
                <a:latin typeface="Times New Roman"/>
                <a:cs typeface="Times New Roman"/>
              </a:rPr>
              <a:t> </a:t>
            </a:r>
            <a:r>
              <a:rPr lang="de-DE" err="1">
                <a:latin typeface="Times New Roman"/>
                <a:cs typeface="Times New Roman"/>
              </a:rPr>
              <a:t>updated</a:t>
            </a:r>
            <a:endParaRPr lang="de-DE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/>
                <a:cs typeface="Times New Roman"/>
              </a:rPr>
              <a:t>2.Material selection overview</a:t>
            </a:r>
            <a:endParaRPr lang="en-GB" sz="2400" dirty="0">
              <a:latin typeface="Aptos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/>
                <a:cs typeface="Times New Roman"/>
              </a:rPr>
              <a:t>3.Bearing selection overview</a:t>
            </a:r>
            <a:endParaRPr lang="en-GB" dirty="0">
              <a:latin typeface="Aptos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GB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GB" dirty="0">
                <a:latin typeface="Times New Roman"/>
                <a:cs typeface="Times New Roman"/>
              </a:rPr>
              <a:t>4.</a:t>
            </a:r>
            <a:r>
              <a:rPr lang="en-US" dirty="0">
                <a:latin typeface="Times New Roman"/>
                <a:cs typeface="Times New Roman"/>
              </a:rPr>
              <a:t>Displacements on Coupling</a:t>
            </a: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de-DE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>
              <a:lnSpc>
                <a:spcPct val="150000"/>
              </a:lnSpc>
              <a:spcBef>
                <a:spcPts val="1000"/>
              </a:spcBef>
            </a:pPr>
            <a:endParaRPr lang="en-US" sz="2000" dirty="0">
              <a:latin typeface="Times New Roman"/>
              <a:cs typeface="Times New Roman"/>
            </a:endParaRPr>
          </a:p>
          <a:p>
            <a:pPr marL="342900" indent="-34290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 dirty="0">
              <a:latin typeface="Times New Roman"/>
              <a:cs typeface="Times New Roman"/>
            </a:endParaRPr>
          </a:p>
          <a:p>
            <a:pPr marL="229870" indent="-229870">
              <a:lnSpc>
                <a:spcPct val="150000"/>
              </a:lnSpc>
              <a:spcBef>
                <a:spcPts val="1000"/>
              </a:spcBef>
              <a:buFont typeface="Arial" pitchFamily="34" charset="0"/>
              <a:buChar char="•"/>
            </a:pPr>
            <a:endParaRPr lang="en-US" sz="2000">
              <a:latin typeface="Times New Roman"/>
              <a:cs typeface="Times New Roman"/>
            </a:endParaRPr>
          </a:p>
          <a:p>
            <a:endParaRPr lang="en-US" sz="2000">
              <a:latin typeface="Aptos"/>
              <a:cs typeface="Times New Roman"/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63B77199-F2F5-F9F9-06EC-BD0AB57A03FC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9023AAA1-8831-C3DD-47D8-1F8FC9C754DC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EDFFC50-4C89-84CB-5779-0D186AF1D280}"/>
              </a:ext>
            </a:extLst>
          </p:cNvPr>
          <p:cNvCxnSpPr/>
          <p:nvPr/>
        </p:nvCxnSpPr>
        <p:spPr>
          <a:xfrm>
            <a:off x="636818" y="13242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6553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7B298-2227-C934-41C1-5F11AA1416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E0EC2E18-1B20-D0F3-723E-B5B4175CF414}"/>
              </a:ext>
            </a:extLst>
          </p:cNvPr>
          <p:cNvSpPr/>
          <p:nvPr/>
        </p:nvSpPr>
        <p:spPr>
          <a:xfrm rot="10800000">
            <a:off x="-20791" y="407341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94322735-02B7-7E2B-72A2-A32DD6D30A9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DEAEFAC5-C70D-D3AA-2E24-E385A7B1902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5CBB6A10-2B01-A654-2C92-00A665DA2BF6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4473B2-1CF6-31B7-EFE3-3E86AFD309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4</a:t>
            </a:fld>
            <a:endParaRPr lang="en-GB" sz="1400">
              <a:solidFill>
                <a:schemeClr val="bg1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142635-10E6-AA78-A80A-017ACFB03E0F}"/>
              </a:ext>
            </a:extLst>
          </p:cNvPr>
          <p:cNvCxnSpPr/>
          <p:nvPr/>
        </p:nvCxnSpPr>
        <p:spPr>
          <a:xfrm>
            <a:off x="484418" y="138753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A20818F3-2E31-BD59-DCB5-5E70D63479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7471" y="64698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dirty="0">
                <a:latin typeface="Times New Roman"/>
                <a:cs typeface="Times New Roman"/>
              </a:rPr>
              <a:t> </a:t>
            </a:r>
            <a:r>
              <a:rPr lang="en-IN" sz="2800" dirty="0">
                <a:latin typeface="Times New Roman"/>
                <a:ea typeface="Calibri Light"/>
                <a:cs typeface="Calibri Light"/>
              </a:rPr>
              <a:t>Formulas for Planetary gear</a:t>
            </a:r>
            <a:endParaRPr lang="en-GB" sz="2800">
              <a:latin typeface="Times New Roman"/>
              <a:ea typeface="Calibri Light"/>
              <a:cs typeface="Calibri Light"/>
            </a:endParaRP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sp>
        <p:nvSpPr>
          <p:cNvPr id="4" name="Rechteck 17">
            <a:extLst>
              <a:ext uri="{FF2B5EF4-FFF2-40B4-BE49-F238E27FC236}">
                <a16:creationId xmlns:a16="http://schemas.microsoft.com/office/drawing/2014/main" id="{6283D84C-5BBC-D3E3-28A8-FD6CA0FD495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8" name="Textplatzhalter 9">
            <a:extLst>
              <a:ext uri="{FF2B5EF4-FFF2-40B4-BE49-F238E27FC236}">
                <a16:creationId xmlns:a16="http://schemas.microsoft.com/office/drawing/2014/main" id="{E64E3051-FB31-BD60-0BE3-C1B08A95D50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DD16BC43-31DF-4D7C-B0CD-0111499A0AD3}"/>
              </a:ext>
            </a:extLst>
          </p:cNvPr>
          <p:cNvSpPr txBox="1"/>
          <p:nvPr/>
        </p:nvSpPr>
        <p:spPr>
          <a:xfrm>
            <a:off x="7210251" y="5411476"/>
            <a:ext cx="307617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/>
              <a:t>z  = No. of Teeth</a:t>
            </a:r>
            <a:endParaRPr lang="en-IN" sz="1600" dirty="0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r>
              <a:rPr lang="en-IN" sz="1600" dirty="0"/>
              <a:t>n = RPM</a:t>
            </a:r>
            <a:endParaRPr lang="en-IN" sz="1600" b="1">
              <a:solidFill>
                <a:srgbClr val="000000"/>
              </a:solidFill>
              <a:latin typeface="Calibri" panose="020F0502020204030204" pitchFamily="34" charset="0"/>
              <a:ea typeface="Calibri"/>
              <a:cs typeface="Calibri"/>
            </a:endParaRPr>
          </a:p>
          <a:p>
            <a:r>
              <a:rPr lang="en-IN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D = Pitch Circle Diameter</a:t>
            </a:r>
          </a:p>
          <a:p>
            <a:r>
              <a:rPr lang="en-IN" sz="1600" err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</a:t>
            </a:r>
            <a:r>
              <a:rPr lang="en-IN" sz="16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  = Gear Ratio</a:t>
            </a:r>
          </a:p>
        </p:txBody>
      </p:sp>
      <p:sp>
        <p:nvSpPr>
          <p:cNvPr id="17" name="TextBox 10">
            <a:extLst>
              <a:ext uri="{FF2B5EF4-FFF2-40B4-BE49-F238E27FC236}">
                <a16:creationId xmlns:a16="http://schemas.microsoft.com/office/drawing/2014/main" id="{9B63C686-E132-4051-AF77-AE752F248D97}"/>
              </a:ext>
            </a:extLst>
          </p:cNvPr>
          <p:cNvSpPr txBox="1"/>
          <p:nvPr/>
        </p:nvSpPr>
        <p:spPr>
          <a:xfrm>
            <a:off x="345241" y="5949098"/>
            <a:ext cx="6851764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>
                <a:latin typeface="Times New Roman"/>
                <a:cs typeface="Times New Roman"/>
              </a:rPr>
              <a:t>Reference: Lecture Notes by Prof. Peter Quell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8E3E61B-05F3-B606-8690-A13190125C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8053665"/>
              </p:ext>
            </p:extLst>
          </p:nvPr>
        </p:nvGraphicFramePr>
        <p:xfrm>
          <a:off x="790575" y="1713871"/>
          <a:ext cx="4514850" cy="322897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57425">
                  <a:extLst>
                    <a:ext uri="{9D8B030D-6E8A-4147-A177-3AD203B41FA5}">
                      <a16:colId xmlns:a16="http://schemas.microsoft.com/office/drawing/2014/main" val="1926600920"/>
                    </a:ext>
                  </a:extLst>
                </a:gridCol>
                <a:gridCol w="2257425">
                  <a:extLst>
                    <a:ext uri="{9D8B030D-6E8A-4147-A177-3AD203B41FA5}">
                      <a16:colId xmlns:a16="http://schemas.microsoft.com/office/drawing/2014/main" val="4452518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pl-P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+( 2 x </a:t>
                      </a:r>
                      <a:r>
                        <a:rPr lang="pl-PL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z_Planet</a:t>
                      </a:r>
                      <a:r>
                        <a:rPr lang="pl-PL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</a:t>
                      </a:r>
                      <a:endParaRPr lang="pl-PL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707072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-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/ 2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316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2082105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No. of Planets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 and 4</a:t>
                      </a:r>
                      <a:endParaRPr lang="en-US" dirty="0"/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22775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925301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/2) – (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/2)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972813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z_Ring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7695739"/>
                  </a:ext>
                </a:extLst>
              </a:tr>
              <a:tr h="48577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Gap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D_Sun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+ 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) * Pi / (No. of Planets) - 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D_Planets</a:t>
                      </a:r>
                      <a:endParaRPr lang="en-US" b="0" i="0" dirty="0" err="1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5B9B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381541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94D3348-8AE7-245F-A73B-E302A5F24E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1958797"/>
              </p:ext>
            </p:extLst>
          </p:nvPr>
        </p:nvGraphicFramePr>
        <p:xfrm>
          <a:off x="5947733" y="1622934"/>
          <a:ext cx="4667250" cy="3323291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333625">
                  <a:extLst>
                    <a:ext uri="{9D8B030D-6E8A-4147-A177-3AD203B41FA5}">
                      <a16:colId xmlns:a16="http://schemas.microsoft.com/office/drawing/2014/main" val="49009956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1234642766"/>
                    </a:ext>
                  </a:extLst>
                </a:gridCol>
              </a:tblGrid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Face Width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10 x Module</a:t>
                      </a:r>
                      <a:endParaRPr lang="en-IN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4591314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Tooth Depth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2.25 x Module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6193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4610625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n_Ring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0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2797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Carrier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10.12 rpm</a:t>
                      </a: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5275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(1-i_1) x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Carrier</a:t>
                      </a:r>
                      <a:endParaRPr lang="en-IN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4827442"/>
                  </a:ext>
                </a:extLst>
              </a:tr>
              <a:tr h="466725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i_Sun,Planet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z_Planet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/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z_Sun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119220"/>
                  </a:ext>
                </a:extLst>
              </a:tr>
              <a:tr h="522941"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650"/>
                        </a:lnSpc>
                        <a:buNone/>
                      </a:pP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n_Sun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 / </a:t>
                      </a:r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rgan Light"/>
                        </a:rPr>
                        <a:t>i_Sun,Planet</a:t>
                      </a:r>
                      <a:endParaRPr lang="en-IN" b="0" i="0" dirty="0" err="1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620" marR="7620" marT="7620" anchor="ctr">
                    <a:lnL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0AD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0096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17090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CA489-E730-C38B-1673-A74574B2FE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F71F6DB6-CFD1-8513-D431-0890CA55CB3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E9612B36-4A90-BE26-5C1F-B2C6A1B03A49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6ACEABC4-8528-759B-1231-BF783ACBB723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77ECF46C-DA95-B304-2358-C89C7AD26F5B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5D6E70D-A51C-D75A-EE3A-2F064F1EF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5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DAE188D-B3A8-D475-DFF0-3500985A1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>
                <a:latin typeface="Times New Roman"/>
                <a:cs typeface="Times New Roman"/>
              </a:rPr>
              <a:t>1st Stage of planetary</a:t>
            </a:r>
            <a:endParaRPr lang="de-DE" sz="2400" b="1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9CC0A95-C0FF-7350-9F98-241EF26C1C8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04C6A064-AAB6-1B86-6380-0404D595604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7F5CEDF-26A8-6565-6DD1-B130B944A3A1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64EAD-ED1E-0B7D-1896-D580C88325CD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E948E1-C67E-8C53-A47C-64D54D6453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7348924"/>
              </p:ext>
            </p:extLst>
          </p:nvPr>
        </p:nvGraphicFramePr>
        <p:xfrm>
          <a:off x="330679" y="2329132"/>
          <a:ext cx="4806868" cy="4043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4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4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15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z_Sun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z_Ring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136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z_Planet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No. of Planets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(z_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S</a:t>
                      </a:r>
                      <a:r>
                        <a:rPr lang="pl-PL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un</a:t>
                      </a: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+ z_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R</a:t>
                      </a:r>
                      <a:r>
                        <a:rPr lang="pl-PL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ing</a:t>
                      </a: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)/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</a:t>
                      </a: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o.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of</a:t>
                      </a: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  <a:r>
                        <a:rPr lang="pl-PL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Planets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Tooth Depth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33.75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D_Sun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(mm)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510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3D7350-851D-A0E6-75B2-3F7FDAAAE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9907332"/>
              </p:ext>
            </p:extLst>
          </p:nvPr>
        </p:nvGraphicFramePr>
        <p:xfrm>
          <a:off x="372661" y="1383734"/>
          <a:ext cx="4732160" cy="87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7031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I-1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sp>
        <p:nvSpPr>
          <p:cNvPr id="15" name="TextBox 12">
            <a:extLst>
              <a:ext uri="{FF2B5EF4-FFF2-40B4-BE49-F238E27FC236}">
                <a16:creationId xmlns:a16="http://schemas.microsoft.com/office/drawing/2014/main" id="{891681F1-19DD-4D38-8668-56539A2E55A4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0A84101F-95A9-40D8-1B7D-1A02FF66C5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532239"/>
              </p:ext>
            </p:extLst>
          </p:nvPr>
        </p:nvGraphicFramePr>
        <p:xfrm>
          <a:off x="6626811" y="1383733"/>
          <a:ext cx="4732160" cy="86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66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D_Planets</a:t>
                      </a:r>
                      <a:r>
                        <a:rPr lang="en-IN" sz="18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765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7F99B5B3-B7FA-0B89-0BD4-759AE5E48A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444049"/>
              </p:ext>
            </p:extLst>
          </p:nvPr>
        </p:nvGraphicFramePr>
        <p:xfrm>
          <a:off x="6613584" y="2329132"/>
          <a:ext cx="4808962" cy="395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5529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3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D_Ring</a:t>
                      </a:r>
                      <a:r>
                        <a:rPr lang="en-US" sz="16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2040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Gap (mm)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16.77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Face Width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150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n_Ring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Carrier (rpm)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10.12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n_Sun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i_Sun,Planet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26.98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48135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90EF25-F77B-6BE4-BBE4-F471C13DE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7BF528FB-1E91-97F5-8CF5-E26431E1ACC8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B8AE5CC3-0F85-D3E9-E1A0-9A5F5CF54BE6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BE62060B-DF47-56AD-D623-6508A96FB21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076DCD-8FBC-C35B-7DD6-9AE68BDEF42C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496C440-D4A2-CE7F-B105-722339250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6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4B954A8-4E91-ABFC-2D56-D555AAE7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>
                <a:latin typeface="Times New Roman"/>
                <a:cs typeface="Times New Roman"/>
              </a:rPr>
              <a:t> 2nd Stage of planetary</a:t>
            </a:r>
            <a:endParaRPr lang="en-US" b="1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FBD80ED-6864-6039-11CC-9981DB4F4DFC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CE2403C-DBC4-E8DB-4C71-CE46CA0B69D9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176BADCD-9740-D145-4CDF-D00B39A5BDE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3D148E-FD5A-6534-8DB3-479A92C12DB6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E15E3C2-BD61-7B53-EB3D-0227DB6386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80214"/>
              </p:ext>
            </p:extLst>
          </p:nvPr>
        </p:nvGraphicFramePr>
        <p:xfrm>
          <a:off x="330679" y="2329132"/>
          <a:ext cx="4806868" cy="40431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4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4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r>
                        <a:rPr lang="en-US" sz="1600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z_Sun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z_Ring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z_Planet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No. of Planets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(z_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S</a:t>
                      </a:r>
                      <a:r>
                        <a:rPr lang="pl-PL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un</a:t>
                      </a: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 + z_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R</a:t>
                      </a:r>
                      <a:r>
                        <a:rPr lang="pl-PL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ing</a:t>
                      </a: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)/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N</a:t>
                      </a: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o.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of</a:t>
                      </a:r>
                      <a:r>
                        <a:rPr lang="pl-PL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</a:t>
                      </a:r>
                      <a:r>
                        <a:rPr lang="pl-PL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Planets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Tooth Depth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D_Sun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(mm)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25F7F7E-C687-F15F-0A93-4C21F5B1EC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226106"/>
              </p:ext>
            </p:extLst>
          </p:nvPr>
        </p:nvGraphicFramePr>
        <p:xfrm>
          <a:off x="372661" y="1383734"/>
          <a:ext cx="4732160" cy="8703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7031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I-2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4.9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sp>
        <p:nvSpPr>
          <p:cNvPr id="15" name="TextBox 12">
            <a:extLst>
              <a:ext uri="{FF2B5EF4-FFF2-40B4-BE49-F238E27FC236}">
                <a16:creationId xmlns:a16="http://schemas.microsoft.com/office/drawing/2014/main" id="{4ED521A0-47A7-195B-6CD1-B58FA65546BD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1D17AF2-2B1E-C01F-581E-9C5C58631E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457666"/>
              </p:ext>
            </p:extLst>
          </p:nvPr>
        </p:nvGraphicFramePr>
        <p:xfrm>
          <a:off x="6626811" y="1383733"/>
          <a:ext cx="4732160" cy="8665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6080">
                  <a:extLst>
                    <a:ext uri="{9D8B030D-6E8A-4147-A177-3AD203B41FA5}">
                      <a16:colId xmlns:a16="http://schemas.microsoft.com/office/drawing/2014/main" val="3745700448"/>
                    </a:ext>
                  </a:extLst>
                </a:gridCol>
                <a:gridCol w="2366080">
                  <a:extLst>
                    <a:ext uri="{9D8B030D-6E8A-4147-A177-3AD203B41FA5}">
                      <a16:colId xmlns:a16="http://schemas.microsoft.com/office/drawing/2014/main" val="3054481029"/>
                    </a:ext>
                  </a:extLst>
                </a:gridCol>
              </a:tblGrid>
              <a:tr h="866588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8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D_Planets</a:t>
                      </a:r>
                      <a:r>
                        <a:rPr lang="en-IN" sz="18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8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660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2611000"/>
                  </a:ext>
                </a:extLst>
              </a:tr>
            </a:tbl>
          </a:graphicData>
        </a:graphic>
      </p:graphicFrame>
      <p:graphicFrame>
        <p:nvGraphicFramePr>
          <p:cNvPr id="17" name="Table 16">
            <a:extLst>
              <a:ext uri="{FF2B5EF4-FFF2-40B4-BE49-F238E27FC236}">
                <a16:creationId xmlns:a16="http://schemas.microsoft.com/office/drawing/2014/main" id="{C0A3F2C6-0521-CC1B-F9DC-A8779AB508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1624514"/>
              </p:ext>
            </p:extLst>
          </p:nvPr>
        </p:nvGraphicFramePr>
        <p:xfrm>
          <a:off x="6627961" y="2329131"/>
          <a:ext cx="4806866" cy="3958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3433">
                  <a:extLst>
                    <a:ext uri="{9D8B030D-6E8A-4147-A177-3AD203B41FA5}">
                      <a16:colId xmlns:a16="http://schemas.microsoft.com/office/drawing/2014/main" val="2137841670"/>
                    </a:ext>
                  </a:extLst>
                </a:gridCol>
                <a:gridCol w="2403433">
                  <a:extLst>
                    <a:ext uri="{9D8B030D-6E8A-4147-A177-3AD203B41FA5}">
                      <a16:colId xmlns:a16="http://schemas.microsoft.com/office/drawing/2014/main" val="4041340718"/>
                    </a:ext>
                  </a:extLst>
                </a:gridCol>
              </a:tblGrid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1" i="0" u="none" strike="noStrike" noProof="0" err="1">
                          <a:solidFill>
                            <a:schemeClr val="bg1"/>
                          </a:solidFill>
                          <a:latin typeface="Times New Roman"/>
                        </a:rPr>
                        <a:t>D_Ring</a:t>
                      </a:r>
                      <a:r>
                        <a:rPr lang="en-US" sz="1600" b="1" i="0" u="none" strike="noStrike" noProof="0" dirty="0">
                          <a:solidFill>
                            <a:schemeClr val="bg1"/>
                          </a:solidFill>
                          <a:latin typeface="Times New Roman"/>
                        </a:rPr>
                        <a:t> (mm)</a:t>
                      </a:r>
                      <a:endParaRPr lang="en-US" sz="1600" b="1">
                        <a:solidFill>
                          <a:schemeClr val="bg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1764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860953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Gap (mm)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6.73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27905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Face Width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7099897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n_Ring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 dirty="0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352314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Carrier (rpm)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40.48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1919976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n_Sun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473.61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49103900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err="1">
                          <a:solidFill>
                            <a:schemeClr val="tx1"/>
                          </a:solidFill>
                          <a:latin typeface="Times New Roman"/>
                        </a:rPr>
                        <a:t>i_Sun,Planet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1.48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609512"/>
                  </a:ext>
                </a:extLst>
              </a:tr>
              <a:tr h="494866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IN" sz="1600" b="1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</a:rPr>
                        <a:t>n_Planet</a:t>
                      </a:r>
                      <a:r>
                        <a:rPr lang="en-IN" sz="1600" b="1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</a:rPr>
                        <a:t> (rpm)</a:t>
                      </a:r>
                      <a:endParaRPr lang="en-US" sz="1600" b="1">
                        <a:solidFill>
                          <a:schemeClr val="tx1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106.66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25257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4668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7E592B-A808-5CC6-4995-DA59509924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D205F7-2858-6C1E-0F02-89F20B147930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444807DC-5362-A6CD-6869-FC4B2825281E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0250385-F411-15FC-8B98-031BA8FB938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7D32871-C2B4-ED41-E285-40157A8030C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D6636F-FC26-E004-D2E1-27C6D0D92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7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7F38159-DC58-43DB-89D4-69FE05585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400" b="1" dirty="0">
                <a:latin typeface="Times New Roman"/>
                <a:cs typeface="Times New Roman"/>
              </a:rPr>
              <a:t>Spur </a:t>
            </a:r>
            <a:r>
              <a:rPr lang="de-DE" sz="2400" b="1" err="1">
                <a:latin typeface="Times New Roman"/>
                <a:cs typeface="Times New Roman"/>
              </a:rPr>
              <a:t>gear</a:t>
            </a:r>
            <a:r>
              <a:rPr lang="de-DE" sz="2400" b="1" dirty="0">
                <a:latin typeface="Times New Roman"/>
                <a:cs typeface="Times New Roman"/>
              </a:rPr>
              <a:t> </a:t>
            </a:r>
            <a:r>
              <a:rPr lang="de-DE" sz="2400" b="1">
                <a:latin typeface="Times New Roman"/>
                <a:cs typeface="Times New Roman"/>
              </a:rPr>
              <a:t>stage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91226D-1F36-549D-02B8-3BCC092D004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7404C9AE-873A-0667-40CB-CEBF4D05407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50E75D59-A11A-CDCE-624E-424D2DFCB833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9555A-5C64-8E1B-0573-E42F1B58B99A}"/>
              </a:ext>
            </a:extLst>
          </p:cNvPr>
          <p:cNvSpPr>
            <a:spLocks noGrp="1"/>
          </p:cNvSpPr>
          <p:nvPr/>
        </p:nvSpPr>
        <p:spPr>
          <a:xfrm>
            <a:off x="838200" y="1388226"/>
            <a:ext cx="10515600" cy="49111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1800" dirty="0">
              <a:latin typeface="Times New Roman"/>
              <a:cs typeface="Times New Roman"/>
            </a:endParaRPr>
          </a:p>
          <a:p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B3B2557-A714-E5E2-2822-CC43269E48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0621384"/>
              </p:ext>
            </p:extLst>
          </p:nvPr>
        </p:nvGraphicFramePr>
        <p:xfrm>
          <a:off x="359433" y="1394603"/>
          <a:ext cx="4911454" cy="4906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727">
                  <a:extLst>
                    <a:ext uri="{9D8B030D-6E8A-4147-A177-3AD203B41FA5}">
                      <a16:colId xmlns:a16="http://schemas.microsoft.com/office/drawing/2014/main" val="3901863023"/>
                    </a:ext>
                  </a:extLst>
                </a:gridCol>
                <a:gridCol w="2455727">
                  <a:extLst>
                    <a:ext uri="{9D8B030D-6E8A-4147-A177-3AD203B41FA5}">
                      <a16:colId xmlns:a16="http://schemas.microsoft.com/office/drawing/2014/main" val="1225176775"/>
                    </a:ext>
                  </a:extLst>
                </a:gridCol>
              </a:tblGrid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I-3 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4.9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01200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Module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9871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Center distance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602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11519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No of teeth on 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67561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err="1">
                          <a:latin typeface="Times New Roman"/>
                        </a:rPr>
                        <a:t>No.teeth</a:t>
                      </a:r>
                      <a:r>
                        <a:rPr lang="en-US" b="1" dirty="0">
                          <a:latin typeface="Times New Roman"/>
                        </a:rPr>
                        <a:t> on gear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01364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Width of the gear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20478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Hight factor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84122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Tooth depth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31.5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76494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D36558E-F1A6-DD50-4616-303201B9DB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693234"/>
              </p:ext>
            </p:extLst>
          </p:nvPr>
        </p:nvGraphicFramePr>
        <p:xfrm>
          <a:off x="6642338" y="1365847"/>
          <a:ext cx="4911454" cy="4933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727">
                  <a:extLst>
                    <a:ext uri="{9D8B030D-6E8A-4147-A177-3AD203B41FA5}">
                      <a16:colId xmlns:a16="http://schemas.microsoft.com/office/drawing/2014/main" val="3901863023"/>
                    </a:ext>
                  </a:extLst>
                </a:gridCol>
                <a:gridCol w="2455727">
                  <a:extLst>
                    <a:ext uri="{9D8B030D-6E8A-4147-A177-3AD203B41FA5}">
                      <a16:colId xmlns:a16="http://schemas.microsoft.com/office/drawing/2014/main" val="1225176775"/>
                    </a:ext>
                  </a:extLst>
                </a:gridCol>
              </a:tblGrid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Bottom clearance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/>
                        </a:rPr>
                        <a:t>2.25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1401200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Dia of input shaft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169871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Dia of output shaft mm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2411519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PCD of pinion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1512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9667561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PCD of gear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/>
                        </a:rPr>
                        <a:t>308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2701364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Face width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140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3204787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Input shaft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473.61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8684122"/>
                  </a:ext>
                </a:extLst>
              </a:tr>
              <a:tr h="61329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Output shaft rpm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317649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1B938CCB-4B15-8C0F-59CC-6B8BB9B2EF39}"/>
              </a:ext>
            </a:extLst>
          </p:cNvPr>
          <p:cNvSpPr txBox="1"/>
          <p:nvPr/>
        </p:nvSpPr>
        <p:spPr>
          <a:xfrm>
            <a:off x="3051617" y="6282850"/>
            <a:ext cx="6851764" cy="3385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dirty="0">
                <a:latin typeface="Times New Roman"/>
                <a:cs typeface="Times New Roman"/>
              </a:rPr>
              <a:t>Reference: Lecture Notes by Prof. Peter Quell and </a:t>
            </a:r>
            <a:r>
              <a:rPr lang="en-IN" sz="1600" err="1">
                <a:latin typeface="Times New Roman"/>
                <a:cs typeface="Times New Roman"/>
              </a:rPr>
              <a:t>PSGdesign</a:t>
            </a:r>
            <a:r>
              <a:rPr lang="en-IN" sz="1600" dirty="0">
                <a:latin typeface="Times New Roman"/>
                <a:cs typeface="Times New Roman"/>
              </a:rPr>
              <a:t> book</a:t>
            </a:r>
          </a:p>
        </p:txBody>
      </p:sp>
    </p:spTree>
    <p:extLst>
      <p:ext uri="{BB962C8B-B14F-4D97-AF65-F5344CB8AC3E}">
        <p14:creationId xmlns:p14="http://schemas.microsoft.com/office/powerpoint/2010/main" val="16600316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2D028-A776-AF3C-E34F-DBFFD3CE3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9659E667-F0F3-376D-0E9E-3AD3820B01D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23363396-B6CD-659F-83DA-A24A13138531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B4F383F2-A50D-E9B7-84E6-704A417275FB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0D7111A7-B45C-A4C5-A5BC-92459C6CB52C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CAA432-45A2-AD42-876C-40CA6C4A1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8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C91C8A-0008-CA26-7E85-AD6958B56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1230025-7CDB-9B19-605E-EEBF96728A42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7EF1D309-A68A-DD6A-AA16-4321774111F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1620671-1BFA-E5EA-BB26-FE501F19E58F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568A0AE2-9514-D633-9232-8FBB47B05B69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Material selection overview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D761B1-A725-E3A0-C86C-6190521D28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3617723"/>
              </p:ext>
            </p:extLst>
          </p:nvPr>
        </p:nvGraphicFramePr>
        <p:xfrm>
          <a:off x="688963" y="1570640"/>
          <a:ext cx="10856568" cy="2575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8856">
                  <a:extLst>
                    <a:ext uri="{9D8B030D-6E8A-4147-A177-3AD203B41FA5}">
                      <a16:colId xmlns:a16="http://schemas.microsoft.com/office/drawing/2014/main" val="4062484623"/>
                    </a:ext>
                  </a:extLst>
                </a:gridCol>
                <a:gridCol w="3618856">
                  <a:extLst>
                    <a:ext uri="{9D8B030D-6E8A-4147-A177-3AD203B41FA5}">
                      <a16:colId xmlns:a16="http://schemas.microsoft.com/office/drawing/2014/main" val="988208899"/>
                    </a:ext>
                  </a:extLst>
                </a:gridCol>
                <a:gridCol w="3618856">
                  <a:extLst>
                    <a:ext uri="{9D8B030D-6E8A-4147-A177-3AD203B41FA5}">
                      <a16:colId xmlns:a16="http://schemas.microsoft.com/office/drawing/2014/main" val="4164272964"/>
                    </a:ext>
                  </a:extLst>
                </a:gridCol>
              </a:tblGrid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Times New Roman"/>
                        </a:rPr>
                        <a:t>Components</a:t>
                      </a:r>
                      <a:endParaRPr lang="en-US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FFFFFF"/>
                          </a:solidFill>
                          <a:latin typeface="Times New Roman"/>
                        </a:rPr>
                        <a:t>Material</a:t>
                      </a:r>
                      <a:endParaRPr lang="en-US" b="1" dirty="0">
                        <a:solidFill>
                          <a:srgbClr val="FFFFFF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8378058"/>
                  </a:ext>
                </a:extLst>
              </a:tr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Gearbox housing</a:t>
                      </a:r>
                      <a:endParaRPr lang="en-US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Cast iron (GJS 400-18-LT)</a:t>
                      </a:r>
                      <a:endParaRPr lang="en-US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5691404"/>
                  </a:ext>
                </a:extLst>
              </a:tr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Gears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Times New Roman"/>
                        </a:rPr>
                        <a:t>18CrNiMo 7-6 grade steel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93321"/>
                  </a:ext>
                </a:extLst>
              </a:tr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Coupling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Cast iron (GJS 400-18-LT)</a:t>
                      </a:r>
                      <a:endParaRPr lang="en-US" b="1" dirty="0"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27177085"/>
                  </a:ext>
                </a:extLst>
              </a:tr>
              <a:tr h="515079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/>
                        </a:rPr>
                        <a:t>Brake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</a:rPr>
                        <a:t>Cast iron (GJS 400-18-LT)</a:t>
                      </a:r>
                      <a:endParaRPr lang="en-US" b="1" dirty="0">
                        <a:solidFill>
                          <a:srgbClr val="000000"/>
                        </a:solidFill>
                        <a:latin typeface="Times New Roman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61638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00159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8A916-550E-79EF-759E-6706F31DE7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5763545A-1556-9732-32EC-602B38FC1A89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A99D4159-B319-2ED6-3815-A4C1F0B2357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53AD8317-B3CE-59A2-AF8C-371850686B26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621A222E-B416-69DA-B414-AF44FB2FBDD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C8CD228-B2D2-CBF2-EFE1-1D6C118CA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9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60437DF-6CF2-5C6A-4539-5570415E07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8E6A6EF-9757-09A7-C083-B316EDF45EE4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585126D1-E416-8C24-92E9-2638801E9972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5FE6C83-7E2B-B9DD-C6CE-DEB3C57C6D21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CEBE3A35-C826-4F14-1668-3D8FA5418E6A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Gears Material Specification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pic>
        <p:nvPicPr>
          <p:cNvPr id="3" name="Picture 2" descr="A table with numbers and symbols&#10;&#10;AI-generated content may be incorrect.">
            <a:extLst>
              <a:ext uri="{FF2B5EF4-FFF2-40B4-BE49-F238E27FC236}">
                <a16:creationId xmlns:a16="http://schemas.microsoft.com/office/drawing/2014/main" id="{E15C6520-C476-7583-698C-FA5793A26F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3883" y="1987849"/>
            <a:ext cx="7821103" cy="2882300"/>
          </a:xfrm>
          <a:prstGeom prst="rect">
            <a:avLst/>
          </a:prstGeom>
        </p:spPr>
      </p:pic>
      <p:sp>
        <p:nvSpPr>
          <p:cNvPr id="15" name="TextBox 10">
            <a:extLst>
              <a:ext uri="{FF2B5EF4-FFF2-40B4-BE49-F238E27FC236}">
                <a16:creationId xmlns:a16="http://schemas.microsoft.com/office/drawing/2014/main" id="{859F8A83-D6F7-DB99-A53D-78E809C71703}"/>
              </a:ext>
            </a:extLst>
          </p:cNvPr>
          <p:cNvSpPr txBox="1"/>
          <p:nvPr/>
        </p:nvSpPr>
        <p:spPr>
          <a:xfrm>
            <a:off x="4802222" y="5072079"/>
            <a:ext cx="2308519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/>
                <a:cs typeface="Times New Roman"/>
              </a:rPr>
              <a:t>Reference: </a:t>
            </a:r>
            <a:r>
              <a:rPr lang="en-IN" dirty="0" err="1">
                <a:latin typeface="Times New Roman"/>
                <a:cs typeface="Times New Roman"/>
              </a:rPr>
              <a:t>Lucefin</a:t>
            </a:r>
            <a:r>
              <a:rPr lang="en-IN" dirty="0">
                <a:latin typeface="Times New Roman"/>
                <a:cs typeface="Times New Roman"/>
              </a:rPr>
              <a:t> website and Optimus shakti</a:t>
            </a:r>
          </a:p>
        </p:txBody>
      </p:sp>
    </p:spTree>
    <p:extLst>
      <p:ext uri="{BB962C8B-B14F-4D97-AF65-F5344CB8AC3E}">
        <p14:creationId xmlns:p14="http://schemas.microsoft.com/office/powerpoint/2010/main" val="40887101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007C05-3F90-9266-79B2-852BA51A07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4BB966-5785-6E99-F127-0DA36C406DB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EFC822C-98EB-D02D-9EA2-6757254FB070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4DB29227-3CD1-ADF8-298F-79AAF63899F8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2BE8B3D-546B-6FC9-0E6A-7EDA74F784F1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DB80E0E-B449-BF5E-72AB-D5D0898352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10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5E03ACC-C26D-6FB6-37E3-C7927EB2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202ABF6-A010-4F90-48F3-A9CA68443683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FCE3C34A-AC2E-42C1-3248-B81645CD92E4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EA4D3F9B-C8BF-A2A4-C73A-82C0FB1A71C7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B5702499-23A8-B1C1-B21E-86EDBEE8667D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Gears Material Specification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pic>
        <p:nvPicPr>
          <p:cNvPr id="4" name="Picture 3" descr="A screenshot of a report&#10;&#10;AI-generated content may be incorrect.">
            <a:extLst>
              <a:ext uri="{FF2B5EF4-FFF2-40B4-BE49-F238E27FC236}">
                <a16:creationId xmlns:a16="http://schemas.microsoft.com/office/drawing/2014/main" id="{4B7B5098-54F5-BAB0-0E19-000444EDD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95" y="1241843"/>
            <a:ext cx="6532353" cy="5337595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08157941-A4BF-2181-58C5-4028B3DCF300}"/>
              </a:ext>
            </a:extLst>
          </p:cNvPr>
          <p:cNvSpPr txBox="1"/>
          <p:nvPr/>
        </p:nvSpPr>
        <p:spPr>
          <a:xfrm>
            <a:off x="345241" y="4770155"/>
            <a:ext cx="2308519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/>
                <a:cs typeface="Times New Roman"/>
              </a:rPr>
              <a:t>Reference: </a:t>
            </a:r>
            <a:r>
              <a:rPr lang="en-IN" dirty="0" err="1">
                <a:latin typeface="Times New Roman"/>
                <a:cs typeface="Times New Roman"/>
              </a:rPr>
              <a:t>Lucefin</a:t>
            </a:r>
            <a:r>
              <a:rPr lang="en-IN" dirty="0">
                <a:latin typeface="Times New Roman"/>
                <a:cs typeface="Times New Roman"/>
              </a:rPr>
              <a:t> website</a:t>
            </a:r>
          </a:p>
        </p:txBody>
      </p:sp>
    </p:spTree>
    <p:extLst>
      <p:ext uri="{BB962C8B-B14F-4D97-AF65-F5344CB8AC3E}">
        <p14:creationId xmlns:p14="http://schemas.microsoft.com/office/powerpoint/2010/main" val="1375237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A9D01-D7C3-763C-114E-FC2CB3C47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44C4ED1D-2312-DA04-2321-4CCE4B895214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F2906D8D-F154-6F02-2935-CC07CC8BF7E2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E4090482-CF75-E8C5-2F63-98E2B424E94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9A6E59DE-77AA-C6E2-86DB-8D8C1001CC8A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61AF44F-862E-6E7D-0133-BB00B4587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11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379888B-C2CD-0694-B8E3-9E4724D76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34B0165-E998-ECC4-A2AD-72D3AFB077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301E9466-F156-6E5E-6ECD-50BB4D07886A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C1A79B07-CE91-73E7-CF5D-AFFD531906E6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F642070B-A3E4-C976-A323-AAFF94807AD7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Bearing selection overview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pic>
        <p:nvPicPr>
          <p:cNvPr id="3" name="Picture 2" descr="A close up of a bearing&#10;&#10;AI-generated content may be incorrect.">
            <a:extLst>
              <a:ext uri="{FF2B5EF4-FFF2-40B4-BE49-F238E27FC236}">
                <a16:creationId xmlns:a16="http://schemas.microsoft.com/office/drawing/2014/main" id="{4302C84B-EAF1-A317-4751-EC91238D9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685" y="1377082"/>
            <a:ext cx="10530515" cy="452078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7FE4077-BDF8-3B3B-AEF2-DFA49699DC0B}"/>
              </a:ext>
            </a:extLst>
          </p:cNvPr>
          <p:cNvSpPr txBox="1"/>
          <p:nvPr/>
        </p:nvSpPr>
        <p:spPr>
          <a:xfrm>
            <a:off x="1035170" y="5930660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dirty="0">
                <a:latin typeface="Times New Roman"/>
                <a:cs typeface="Times New Roman"/>
              </a:rPr>
              <a:t>coroll.cz website</a:t>
            </a:r>
            <a:endParaRPr lang="en-US" dirty="0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4529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05B0A-CBD6-06D4-9D4F-EDCB2A2C69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70E84C5-68F0-5CC0-FAB6-37CAECD344E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CE00FECE-C250-413F-6AE3-4F5F6E6032D7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8835F0C6-AB99-E5E2-AF9D-D65CCAB22F2F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2EE99C1-0D4C-44FB-1925-25C5421191B3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4F9038E-C703-0D7C-62A4-169BFAFCD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12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91FCA0DD-E175-56D5-CA39-5AA074181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418" y="502853"/>
            <a:ext cx="11184418" cy="712728"/>
          </a:xfrm>
        </p:spPr>
        <p:txBody>
          <a:bodyPr>
            <a:normAutofit/>
          </a:bodyPr>
          <a:lstStyle/>
          <a:p>
            <a:pPr algn="ctr"/>
            <a:r>
              <a:rPr lang="de-DE" sz="2800" dirty="0">
                <a:latin typeface="Times New Roman"/>
                <a:ea typeface="+mj-lt"/>
                <a:cs typeface="+mj-lt"/>
              </a:rPr>
              <a:t> </a:t>
            </a:r>
            <a:endParaRPr lang="de-DE" sz="2800" dirty="0">
              <a:latin typeface="Times New Roman"/>
              <a:cs typeface="Times New Roman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95B3F0D-9EBF-D77B-ED7C-A3CECE74FAB1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F6E57151-4B5A-49CE-C16E-60661741617F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F8E68476-76BE-EF5A-2387-713E8DEA41A3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13" name="Title 11">
            <a:extLst>
              <a:ext uri="{FF2B5EF4-FFF2-40B4-BE49-F238E27FC236}">
                <a16:creationId xmlns:a16="http://schemas.microsoft.com/office/drawing/2014/main" id="{114DD772-DC2D-46ED-0BF1-61BB15C2BF77}"/>
              </a:ext>
            </a:extLst>
          </p:cNvPr>
          <p:cNvSpPr txBox="1">
            <a:spLocks/>
          </p:cNvSpPr>
          <p:nvPr/>
        </p:nvSpPr>
        <p:spPr>
          <a:xfrm>
            <a:off x="693697" y="5175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800" dirty="0">
                <a:latin typeface="Times New Roman"/>
                <a:ea typeface="Calibri Light"/>
                <a:cs typeface="Calibri Light"/>
              </a:rPr>
              <a:t>Bearing selection overview</a:t>
            </a:r>
          </a:p>
          <a:p>
            <a:pPr algn="ctr"/>
            <a:br>
              <a:rPr lang="en-IN" sz="2800" u="sng" dirty="0">
                <a:latin typeface="Times New Roman"/>
                <a:cs typeface="Times New Roman"/>
              </a:rPr>
            </a:br>
            <a:endParaRPr lang="en-GB" sz="1800">
              <a:latin typeface="Times New Roman"/>
              <a:cs typeface="Times New Roman"/>
            </a:endParaRPr>
          </a:p>
        </p:txBody>
      </p:sp>
      <p:pic>
        <p:nvPicPr>
          <p:cNvPr id="4" name="Picture 3" descr="A white text on a black background&#10;&#10;AI-generated content may be incorrect.">
            <a:extLst>
              <a:ext uri="{FF2B5EF4-FFF2-40B4-BE49-F238E27FC236}">
                <a16:creationId xmlns:a16="http://schemas.microsoft.com/office/drawing/2014/main" id="{AEB42320-7BC5-AF1B-BCD0-C65235DF9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06" y="1522113"/>
            <a:ext cx="7845724" cy="4245094"/>
          </a:xfrm>
          <a:prstGeom prst="rect">
            <a:avLst/>
          </a:prstGeom>
        </p:spPr>
      </p:pic>
      <p:pic>
        <p:nvPicPr>
          <p:cNvPr id="7" name="Picture 6" descr="A close-up of a bearing&#10;&#10;AI-generated content may be incorrect.">
            <a:extLst>
              <a:ext uri="{FF2B5EF4-FFF2-40B4-BE49-F238E27FC236}">
                <a16:creationId xmlns:a16="http://schemas.microsoft.com/office/drawing/2014/main" id="{46C773B8-7E04-4115-456B-BDA409E36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2460" y="1712434"/>
            <a:ext cx="2050930" cy="364879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EB7D317-906E-6D63-A07A-62D9E7E0A94D}"/>
              </a:ext>
            </a:extLst>
          </p:cNvPr>
          <p:cNvSpPr txBox="1"/>
          <p:nvPr/>
        </p:nvSpPr>
        <p:spPr>
          <a:xfrm>
            <a:off x="2343509" y="5873151"/>
            <a:ext cx="609600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dirty="0">
                <a:latin typeface="Times New Roman"/>
                <a:cs typeface="Times New Roman"/>
              </a:rPr>
              <a:t>SKF website</a:t>
            </a:r>
            <a:endParaRPr lang="en-US" dirty="0">
              <a:latin typeface="Times New Roman"/>
              <a:cs typeface="Times New Roman"/>
            </a:endParaRP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077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80612-48BE-A94B-EF87-96C168899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B3CB9AF2-7055-5C12-434F-ABB417464A52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8358290C-459C-6856-38CB-D8181EFB2C75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0DAB701D-B101-0392-A5E8-EA966CE307B4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ACAA5CF1-8F43-C586-E11C-14E74D5926FA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fi-FI" dirty="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201E3B5-F9E5-7F35-68B2-143750E63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2392" y="6513969"/>
            <a:ext cx="287215" cy="365125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13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253CB95-6F72-086E-4517-9BFBEB9A3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04568" y="301570"/>
            <a:ext cx="9085324" cy="79899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2800">
                <a:latin typeface="Times New Roman"/>
                <a:cs typeface="Times New Roman"/>
              </a:rPr>
              <a:t>Displacements on Coupling</a:t>
            </a:r>
            <a:endParaRPr lang="en-US" sz="280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A5268AA-18CC-E1EA-2975-C5492F4A5EC0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hteck 17">
            <a:extLst>
              <a:ext uri="{FF2B5EF4-FFF2-40B4-BE49-F238E27FC236}">
                <a16:creationId xmlns:a16="http://schemas.microsoft.com/office/drawing/2014/main" id="{9264184F-1CDA-C7BC-4461-18D6607B46B5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4" name="Textplatzhalter 9">
            <a:extLst>
              <a:ext uri="{FF2B5EF4-FFF2-40B4-BE49-F238E27FC236}">
                <a16:creationId xmlns:a16="http://schemas.microsoft.com/office/drawing/2014/main" id="{22D00A41-BBED-A6A1-D602-8172FCF068F9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144016CD-DB71-487B-B92D-A00AC796305B}"/>
              </a:ext>
            </a:extLst>
          </p:cNvPr>
          <p:cNvSpPr txBox="1"/>
          <p:nvPr/>
        </p:nvSpPr>
        <p:spPr>
          <a:xfrm>
            <a:off x="482235" y="1248917"/>
            <a:ext cx="4651388" cy="535531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dirty="0">
                <a:latin typeface="Times New Roman"/>
                <a:cs typeface="Times New Roman"/>
              </a:rPr>
              <a:t>For the </a:t>
            </a:r>
            <a:r>
              <a:rPr lang="en-IN">
                <a:latin typeface="Times New Roman"/>
                <a:cs typeface="Times New Roman"/>
              </a:rPr>
              <a:t>high-speed</a:t>
            </a:r>
            <a:r>
              <a:rPr lang="en-IN" dirty="0">
                <a:latin typeface="Times New Roman"/>
                <a:cs typeface="Times New Roman"/>
              </a:rPr>
              <a:t> shaft all radial, axial and angular displacements between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Gearbox and Generator.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Rotor Bearing.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Compensation of displacement by: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between gearbox and generator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Elastic deformation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Production tolerances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Thermal expansion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Bearing clearance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7264180A-1267-04AC-2CEB-9A7AB642C6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5117" y="1189098"/>
            <a:ext cx="6190710" cy="4537314"/>
          </a:xfrm>
          <a:prstGeom prst="rect">
            <a:avLst/>
          </a:prstGeom>
        </p:spPr>
      </p:pic>
      <p:sp>
        <p:nvSpPr>
          <p:cNvPr id="12" name="TextBox 14">
            <a:extLst>
              <a:ext uri="{FF2B5EF4-FFF2-40B4-BE49-F238E27FC236}">
                <a16:creationId xmlns:a16="http://schemas.microsoft.com/office/drawing/2014/main" id="{D9D882B4-CE56-4B73-9C2C-FA6A5CA7DF09}"/>
              </a:ext>
            </a:extLst>
          </p:cNvPr>
          <p:cNvSpPr txBox="1"/>
          <p:nvPr/>
        </p:nvSpPr>
        <p:spPr>
          <a:xfrm>
            <a:off x="6611237" y="5931730"/>
            <a:ext cx="4706224" cy="58477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600" b="1" dirty="0">
                <a:latin typeface="Times New Roman"/>
                <a:cs typeface="Times New Roman"/>
              </a:rPr>
              <a:t>Source: Quell, P.: Lecture note ‚Machinery </a:t>
            </a:r>
            <a:r>
              <a:rPr lang="en-IN" sz="1600" b="1">
                <a:latin typeface="Times New Roman"/>
                <a:cs typeface="Times New Roman"/>
              </a:rPr>
              <a:t>Components</a:t>
            </a:r>
            <a:endParaRPr lang="en-IN" sz="16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493984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5F9DB2-1C60-2A59-656D-A5B74C9C4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28A9E759-5D36-7577-1B72-EEFA19D202C6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ree-form: Shape 13">
            <a:extLst>
              <a:ext uri="{FF2B5EF4-FFF2-40B4-BE49-F238E27FC236}">
                <a16:creationId xmlns:a16="http://schemas.microsoft.com/office/drawing/2014/main" id="{0DF2E086-1F77-7ADA-A072-C1020548044D}"/>
              </a:ext>
            </a:extLst>
          </p:cNvPr>
          <p:cNvSpPr/>
          <p:nvPr/>
        </p:nvSpPr>
        <p:spPr>
          <a:xfrm rot="10800000">
            <a:off x="-2090" y="-10376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16784C5A-545D-7FC3-0803-92836236CBEC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3F48FE32-30A8-91E8-073B-1CE94513A3C5}"/>
              </a:ext>
            </a:extLst>
          </p:cNvPr>
          <p:cNvSpPr/>
          <p:nvPr/>
        </p:nvSpPr>
        <p:spPr>
          <a:xfrm>
            <a:off x="-7747" y="6538183"/>
            <a:ext cx="12207494" cy="319817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32C03B4-4368-B8A0-5078-A33BA60C0D0C}"/>
              </a:ext>
            </a:extLst>
          </p:cNvPr>
          <p:cNvSpPr txBox="1"/>
          <p:nvPr/>
        </p:nvSpPr>
        <p:spPr>
          <a:xfrm>
            <a:off x="473320" y="1376739"/>
            <a:ext cx="11218984" cy="42473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dirty="0">
                <a:latin typeface="Times New Roman"/>
                <a:cs typeface="Times New Roman"/>
              </a:rPr>
              <a:t>Gearbox</a:t>
            </a:r>
          </a:p>
          <a:p>
            <a:r>
              <a:rPr lang="en-US" dirty="0">
                <a:latin typeface="Times New Roman"/>
                <a:cs typeface="Times New Roman"/>
              </a:rPr>
              <a:t>(1) Previous year Optimus projects(60E,92LE,Shakti 21-11-2025</a:t>
            </a:r>
          </a:p>
          <a:p>
            <a:r>
              <a:rPr lang="en-US" dirty="0">
                <a:latin typeface="Times New Roman"/>
                <a:cs typeface="Times New Roman"/>
              </a:rPr>
              <a:t>(2) </a:t>
            </a:r>
            <a:r>
              <a:rPr lang="en-IN" dirty="0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Roloff Matek </a:t>
            </a:r>
            <a:r>
              <a:rPr lang="en-IN" dirty="0" err="1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Maschinenelemente</a:t>
            </a:r>
            <a:r>
              <a:rPr lang="en-IN" dirty="0">
                <a:solidFill>
                  <a:srgbClr val="202124"/>
                </a:solidFill>
                <a:latin typeface="Times New Roman"/>
                <a:ea typeface="Roboto"/>
                <a:cs typeface="Roboto"/>
              </a:rPr>
              <a:t> 21-11-2025</a:t>
            </a:r>
          </a:p>
          <a:p>
            <a:r>
              <a:rPr lang="en-US" dirty="0">
                <a:latin typeface="Times New Roman"/>
                <a:cs typeface="Times New Roman"/>
              </a:rPr>
              <a:t>(3) Lecture notes – Mechanical drive train by </a:t>
            </a:r>
            <a:r>
              <a:rPr lang="en-US" dirty="0" err="1">
                <a:latin typeface="Times New Roman"/>
                <a:cs typeface="Times New Roman"/>
              </a:rPr>
              <a:t>Prof.Peter</a:t>
            </a:r>
            <a:r>
              <a:rPr lang="en-US" dirty="0">
                <a:latin typeface="Times New Roman"/>
                <a:cs typeface="Times New Roman"/>
              </a:rPr>
              <a:t> Quell.22-11-2025</a:t>
            </a:r>
          </a:p>
          <a:p>
            <a:r>
              <a:rPr lang="en-US" dirty="0">
                <a:latin typeface="Times New Roman"/>
                <a:cs typeface="Times New Roman"/>
              </a:rPr>
              <a:t>(4)</a:t>
            </a:r>
            <a:r>
              <a:rPr lang="en-US" dirty="0">
                <a:latin typeface="Times New Roman"/>
                <a:ea typeface="+mn-lt"/>
                <a:cs typeface="+mn-lt"/>
              </a:rPr>
              <a:t>Shigley's mechanical engineering design and PSG data book 20-11-2025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(5)</a:t>
            </a:r>
            <a:r>
              <a:rPr lang="en-IN" dirty="0" err="1">
                <a:latin typeface="Times New Roman"/>
                <a:cs typeface="Times New Roman"/>
              </a:rPr>
              <a:t>Lucefin</a:t>
            </a:r>
            <a:r>
              <a:rPr lang="en-IN" dirty="0">
                <a:latin typeface="Times New Roman"/>
                <a:cs typeface="Times New Roman"/>
              </a:rPr>
              <a:t> website 22-11-2025</a:t>
            </a:r>
            <a:endParaRPr lang="en-US" dirty="0">
              <a:latin typeface="Times New Roman"/>
              <a:cs typeface="Times New Roman"/>
            </a:endParaRPr>
          </a:p>
          <a:p>
            <a:r>
              <a:rPr lang="en-IN" dirty="0">
                <a:latin typeface="Times New Roman"/>
                <a:cs typeface="Times New Roman"/>
              </a:rPr>
              <a:t>(6)Bearing-coroll.cz and SKF website 22-11-2025</a:t>
            </a:r>
          </a:p>
          <a:p>
            <a:endParaRPr lang="en-US" dirty="0">
              <a:latin typeface="Times New Roman"/>
              <a:cs typeface="Times New Roman"/>
            </a:endParaRPr>
          </a:p>
          <a:p>
            <a:r>
              <a:rPr lang="en-US" dirty="0">
                <a:latin typeface="Times New Roman"/>
                <a:cs typeface="Times New Roman"/>
              </a:rPr>
              <a:t>Coupling</a:t>
            </a:r>
          </a:p>
          <a:p>
            <a:r>
              <a:rPr lang="en-US" dirty="0">
                <a:latin typeface="Times New Roman"/>
                <a:cs typeface="Times New Roman"/>
              </a:rPr>
              <a:t>(1)Lecture notes-</a:t>
            </a:r>
            <a:r>
              <a:rPr lang="en-IN" sz="1600" dirty="0">
                <a:latin typeface="Times New Roman"/>
                <a:cs typeface="Times New Roman"/>
              </a:rPr>
              <a:t>Machinery Components </a:t>
            </a:r>
            <a:r>
              <a:rPr lang="en-US" dirty="0">
                <a:latin typeface="Times New Roman"/>
                <a:cs typeface="Times New Roman"/>
              </a:rPr>
              <a:t>by </a:t>
            </a:r>
            <a:r>
              <a:rPr lang="en-US" dirty="0" err="1">
                <a:latin typeface="Times New Roman"/>
                <a:cs typeface="Times New Roman"/>
              </a:rPr>
              <a:t>Prof.Peter</a:t>
            </a:r>
            <a:r>
              <a:rPr lang="en-US" dirty="0">
                <a:latin typeface="Times New Roman"/>
                <a:cs typeface="Times New Roman"/>
              </a:rPr>
              <a:t> Quell 21-11-2025</a:t>
            </a:r>
            <a:endParaRPr lang="en-US" sz="1600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endParaRPr lang="en-US" dirty="0">
              <a:latin typeface="Times New Roman"/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>
              <a:cs typeface="Times New Roman"/>
            </a:endParaRPr>
          </a:p>
          <a:p>
            <a:endParaRPr lang="en-US">
              <a:cs typeface="Times New Roman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80213FB-EC9C-6767-58CC-49D609115B85}"/>
              </a:ext>
            </a:extLst>
          </p:cNvPr>
          <p:cNvCxnSpPr/>
          <p:nvPr/>
        </p:nvCxnSpPr>
        <p:spPr>
          <a:xfrm>
            <a:off x="484418" y="1171879"/>
            <a:ext cx="11218984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592540" y="145123"/>
            <a:ext cx="10515600" cy="1325563"/>
          </a:xfrm>
        </p:spPr>
        <p:txBody>
          <a:bodyPr/>
          <a:lstStyle/>
          <a:p>
            <a:r>
              <a:rPr lang="en-US" sz="2400">
                <a:latin typeface="Times New Roman"/>
                <a:cs typeface="Times New Roman"/>
              </a:rPr>
              <a:t>Bibliography</a:t>
            </a:r>
            <a:r>
              <a:rPr lang="en-US" sz="2400"/>
              <a:t> 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0345E6-CF06-28DF-4FC1-25E3760C2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51751" y="6542723"/>
            <a:ext cx="560384" cy="321994"/>
          </a:xfrm>
        </p:spPr>
        <p:txBody>
          <a:bodyPr/>
          <a:lstStyle/>
          <a:p>
            <a:fld id="{013F6232-4F06-48BA-8F69-BF531F607829}" type="slidenum">
              <a:rPr lang="en-GB" sz="1400" smtClean="0">
                <a:solidFill>
                  <a:schemeClr val="bg1"/>
                </a:solidFill>
              </a:rPr>
              <a:pPr/>
              <a:t>14</a:t>
            </a:fld>
            <a:endParaRPr lang="en-GB" sz="1400">
              <a:solidFill>
                <a:schemeClr val="bg1"/>
              </a:solidFill>
            </a:endParaRPr>
          </a:p>
        </p:txBody>
      </p:sp>
      <p:sp>
        <p:nvSpPr>
          <p:cNvPr id="8" name="Rechteck 17">
            <a:extLst>
              <a:ext uri="{FF2B5EF4-FFF2-40B4-BE49-F238E27FC236}">
                <a16:creationId xmlns:a16="http://schemas.microsoft.com/office/drawing/2014/main" id="{A123406F-280E-0AE2-1CA5-076787BBFD2B}"/>
              </a:ext>
            </a:extLst>
          </p:cNvPr>
          <p:cNvSpPr/>
          <p:nvPr/>
        </p:nvSpPr>
        <p:spPr>
          <a:xfrm>
            <a:off x="8057951" y="6581315"/>
            <a:ext cx="3969268" cy="233553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Gearbox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Brake</a:t>
            </a:r>
            <a:r>
              <a:rPr lang="it-IT" sz="1400">
                <a:solidFill>
                  <a:srgbClr val="000000"/>
                </a:solidFill>
                <a:latin typeface="Times New Roman"/>
                <a:cs typeface="Times New Roman"/>
              </a:rPr>
              <a:t>, </a:t>
            </a:r>
            <a:r>
              <a:rPr lang="it-IT" sz="1400" err="1">
                <a:solidFill>
                  <a:srgbClr val="000000"/>
                </a:solidFill>
                <a:latin typeface="Times New Roman"/>
                <a:cs typeface="Times New Roman"/>
              </a:rPr>
              <a:t>Coupling</a:t>
            </a:r>
            <a:endParaRPr lang="en-US" sz="1400" err="1"/>
          </a:p>
        </p:txBody>
      </p:sp>
      <p:sp>
        <p:nvSpPr>
          <p:cNvPr id="13" name="Textplatzhalter 9">
            <a:extLst>
              <a:ext uri="{FF2B5EF4-FFF2-40B4-BE49-F238E27FC236}">
                <a16:creationId xmlns:a16="http://schemas.microsoft.com/office/drawing/2014/main" id="{A10A1338-E7A7-5577-14B1-2D44C353F0BE}"/>
              </a:ext>
            </a:extLst>
          </p:cNvPr>
          <p:cNvSpPr>
            <a:spLocks noGrp="1"/>
          </p:cNvSpPr>
          <p:nvPr/>
        </p:nvSpPr>
        <p:spPr>
          <a:xfrm>
            <a:off x="-1765360" y="6520981"/>
            <a:ext cx="559608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400">
                <a:solidFill>
                  <a:schemeClr val="tx1"/>
                </a:solidFill>
                <a:latin typeface="Times New Roman"/>
                <a:cs typeface="Times New Roman"/>
              </a:rPr>
              <a:t>25-11-2025</a:t>
            </a:r>
          </a:p>
        </p:txBody>
      </p:sp>
    </p:spTree>
    <p:extLst>
      <p:ext uri="{BB962C8B-B14F-4D97-AF65-F5344CB8AC3E}">
        <p14:creationId xmlns:p14="http://schemas.microsoft.com/office/powerpoint/2010/main" val="1533939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14</Slides>
  <Notes>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6" baseType="lpstr">
      <vt:lpstr>Office Theme</vt:lpstr>
      <vt:lpstr>Custom Design</vt:lpstr>
      <vt:lpstr>PowerPoint Presentation</vt:lpstr>
      <vt:lpstr>Weekly report: Team Gearbox, Brake, Coupling </vt:lpstr>
      <vt:lpstr>List of Content</vt:lpstr>
      <vt:lpstr> Formulas for Planetary gear  </vt:lpstr>
      <vt:lpstr>1st Stage of planetary</vt:lpstr>
      <vt:lpstr> 2nd Stage of planetary</vt:lpstr>
      <vt:lpstr>Spur gear stage</vt:lpstr>
      <vt:lpstr> </vt:lpstr>
      <vt:lpstr> </vt:lpstr>
      <vt:lpstr> </vt:lpstr>
      <vt:lpstr> </vt:lpstr>
      <vt:lpstr> </vt:lpstr>
      <vt:lpstr>Displacements on Coupling</vt:lpstr>
      <vt:lpstr>Bibliography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report lidar-assisted control group</dc:title>
  <dc:creator>Federico De Mita</dc:creator>
  <cp:revision>2951</cp:revision>
  <dcterms:created xsi:type="dcterms:W3CDTF">2025-07-21T13:11:31Z</dcterms:created>
  <dcterms:modified xsi:type="dcterms:W3CDTF">2025-11-24T10:58:40Z</dcterms:modified>
</cp:coreProperties>
</file>