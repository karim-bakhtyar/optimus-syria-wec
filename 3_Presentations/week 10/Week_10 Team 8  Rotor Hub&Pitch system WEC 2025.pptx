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1" r:id="rId2"/>
    <p:sldMasterId id="2147483672" r:id="rId3"/>
  </p:sldMasterIdLst>
  <p:notesMasterIdLst>
    <p:notesMasterId r:id="rId16"/>
  </p:notesMasterIdLst>
  <p:handoutMasterIdLst>
    <p:handoutMasterId r:id="rId17"/>
  </p:handoutMasterIdLst>
  <p:sldIdLst>
    <p:sldId id="270" r:id="rId4"/>
    <p:sldId id="259" r:id="rId5"/>
    <p:sldId id="284" r:id="rId6"/>
    <p:sldId id="283" r:id="rId7"/>
    <p:sldId id="282" r:id="rId8"/>
    <p:sldId id="304" r:id="rId9"/>
    <p:sldId id="305" r:id="rId10"/>
    <p:sldId id="306" r:id="rId11"/>
    <p:sldId id="287" r:id="rId12"/>
    <p:sldId id="281" r:id="rId13"/>
    <p:sldId id="286" r:id="rId14"/>
    <p:sldId id="29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lide" id="{EBA04D78-D1FF-49F4-BDD6-03EE135E606E}">
          <p14:sldIdLst>
            <p14:sldId id="270"/>
          </p14:sldIdLst>
        </p14:section>
        <p14:section name="List of contents" id="{65043596-36B7-4360-BB5C-7A99EFAEC5C9}">
          <p14:sldIdLst>
            <p14:sldId id="259"/>
            <p14:sldId id="284"/>
            <p14:sldId id="283"/>
            <p14:sldId id="282"/>
            <p14:sldId id="304"/>
            <p14:sldId id="305"/>
            <p14:sldId id="306"/>
            <p14:sldId id="287"/>
            <p14:sldId id="281"/>
            <p14:sldId id="286"/>
            <p14:sldId id="292"/>
          </p14:sldIdLst>
        </p14:section>
        <p14:section name="Title, main slides" id="{B26F6679-C236-4D3D-BC2F-CAE5ED400718}">
          <p14:sldIdLst/>
        </p14:section>
        <p14:section name="bibliography" id="{2ECB0A3B-7D16-4F98-AD6A-5308DF7BF078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8ECEFA"/>
    <a:srgbClr val="92C6E6"/>
    <a:srgbClr val="80D2F7"/>
    <a:srgbClr val="7ED1F7"/>
    <a:srgbClr val="A1DFFD"/>
    <a:srgbClr val="C0F5FF"/>
    <a:srgbClr val="3C96FA"/>
    <a:srgbClr val="BDE5F9"/>
    <a:srgbClr val="C1E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81" d="100"/>
          <a:sy n="81" d="100"/>
        </p:scale>
        <p:origin x="662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-2166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984966E-98CC-6A78-1424-04B6E1F267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153D721-EFB9-BC0E-1DC1-4F7A40F312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753E7D-EEC7-43DF-AF05-49FE1E0C7B25}" type="datetimeFigureOut">
              <a:rPr lang="de-DE" smtClean="0"/>
              <a:pPr/>
              <a:t>01.12.2025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7BF23EC-0BC1-545E-D00A-3466D80002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716600C-B63A-8960-82FD-8DC4BB46C8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B05C7-DCB9-437C-9E32-70E813415345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509784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pPr/>
              <a:t>01/12/2025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67912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pPr/>
              <a:t>3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pPr/>
              <a:t>4</a:t>
            </a:fld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pPr/>
              <a:t>5</a:t>
            </a:fld>
            <a:endParaRPr lang="en-GB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pPr/>
              <a:t>7</a:t>
            </a:fld>
            <a:endParaRPr 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pPr/>
              <a:t>8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bib.com/tools/ieee-citation-generator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58857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12. </a:t>
            </a:r>
            <a:r>
              <a:rPr lang="de-DE" dirty="0" err="1"/>
              <a:t>Machine</a:t>
            </a:r>
            <a:r>
              <a:rPr lang="de-DE" dirty="0"/>
              <a:t> </a:t>
            </a:r>
            <a:r>
              <a:rPr lang="de-DE" dirty="0" err="1"/>
              <a:t>Bed</a:t>
            </a:r>
            <a:r>
              <a:rPr lang="de-DE" dirty="0"/>
              <a:t> &amp; Yaw System  </a:t>
            </a:r>
          </a:p>
          <a:p>
            <a:pPr lvl="1"/>
            <a:r>
              <a:rPr lang="de-DE" dirty="0"/>
              <a:t>13. Tower  </a:t>
            </a:r>
          </a:p>
          <a:p>
            <a:pPr lvl="1"/>
            <a:r>
              <a:rPr lang="de-DE" dirty="0"/>
              <a:t>14. </a:t>
            </a:r>
            <a:r>
              <a:rPr lang="de-DE" dirty="0" err="1"/>
              <a:t>Foundation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15. Storage System 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Teams</a:t>
            </a:r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466CB9-E665-36BA-2132-8519CA303C9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38200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 algn="l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1.  </a:t>
            </a:r>
            <a:r>
              <a:rPr lang="de-DE" dirty="0" err="1"/>
              <a:t>Windfarm</a:t>
            </a:r>
            <a:r>
              <a:rPr lang="de-DE" dirty="0"/>
              <a:t> Project Development  </a:t>
            </a:r>
          </a:p>
          <a:p>
            <a:pPr lvl="1"/>
            <a:r>
              <a:rPr lang="de-DE" dirty="0"/>
              <a:t>2.  Loads and Dynamics  </a:t>
            </a:r>
          </a:p>
          <a:p>
            <a:pPr lvl="1"/>
            <a:r>
              <a:rPr lang="de-DE" dirty="0"/>
              <a:t>3.  Feedback Controller  </a:t>
            </a:r>
          </a:p>
          <a:p>
            <a:pPr lvl="1"/>
            <a:r>
              <a:rPr lang="de-DE" dirty="0"/>
              <a:t>4.  Lidar-</a:t>
            </a:r>
            <a:r>
              <a:rPr lang="de-DE" dirty="0" err="1"/>
              <a:t>Assisted</a:t>
            </a:r>
            <a:r>
              <a:rPr lang="de-DE" dirty="0"/>
              <a:t> Controller  </a:t>
            </a:r>
          </a:p>
          <a:p>
            <a:pPr lvl="1"/>
            <a:r>
              <a:rPr lang="de-DE" dirty="0"/>
              <a:t>5.  Rotor Blade </a:t>
            </a:r>
            <a:r>
              <a:rPr lang="de-DE" dirty="0" err="1"/>
              <a:t>Aerodynamics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6.  Rotor Blade </a:t>
            </a:r>
            <a:r>
              <a:rPr lang="de-DE" dirty="0" err="1"/>
              <a:t>Structures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7.  </a:t>
            </a:r>
            <a:r>
              <a:rPr lang="de-DE" dirty="0" err="1"/>
              <a:t>Electrical</a:t>
            </a:r>
            <a:r>
              <a:rPr lang="de-DE" dirty="0"/>
              <a:t> </a:t>
            </a:r>
            <a:r>
              <a:rPr lang="de-DE" dirty="0" err="1"/>
              <a:t>Drivetrain</a:t>
            </a:r>
            <a:r>
              <a:rPr lang="de-DE" dirty="0"/>
              <a:t> (EDT)  </a:t>
            </a:r>
          </a:p>
          <a:p>
            <a:pPr lvl="1"/>
            <a:r>
              <a:rPr lang="de-DE" dirty="0"/>
              <a:t>8.  </a:t>
            </a:r>
            <a:r>
              <a:rPr lang="de-DE" dirty="0" err="1"/>
              <a:t>Grid</a:t>
            </a:r>
            <a:r>
              <a:rPr lang="de-DE" dirty="0"/>
              <a:t> Code Development (GCD)  </a:t>
            </a:r>
          </a:p>
          <a:p>
            <a:pPr lvl="1"/>
            <a:r>
              <a:rPr lang="de-DE" dirty="0"/>
              <a:t>9.  Rotor Hub &amp; Pitch System  </a:t>
            </a:r>
          </a:p>
          <a:p>
            <a:pPr lvl="1"/>
            <a:r>
              <a:rPr lang="de-DE" dirty="0"/>
              <a:t>10. Rotor </a:t>
            </a:r>
            <a:r>
              <a:rPr lang="de-DE" dirty="0" err="1"/>
              <a:t>Bearing</a:t>
            </a:r>
            <a:r>
              <a:rPr lang="de-DE" dirty="0"/>
              <a:t> System  </a:t>
            </a:r>
          </a:p>
          <a:p>
            <a:pPr lvl="1"/>
            <a:r>
              <a:rPr lang="de-DE" dirty="0"/>
              <a:t>11. </a:t>
            </a:r>
            <a:r>
              <a:rPr lang="de-DE" dirty="0" err="1"/>
              <a:t>Gearbox</a:t>
            </a:r>
            <a:r>
              <a:rPr lang="de-DE" dirty="0"/>
              <a:t>, Brake, Coupling  </a:t>
            </a:r>
          </a:p>
          <a:p>
            <a:pPr lvl="1"/>
            <a:r>
              <a:rPr lang="de-DE" dirty="0"/>
              <a:t>						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FD841E35-8D66-8DA2-B806-8C18E5D2806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7E12A6E-8E07-41BF-A0A3-3F2BF48E7745}" type="datetime1">
              <a:rPr lang="en-GB" smtClean="0"/>
              <a:pPr/>
              <a:t>01/12/2025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6C28938A-3748-78F8-3D01-B82DF87C9B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3A903679-8273-AC0E-AD57-A9C78EE236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3313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contents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6">
            <a:extLst>
              <a:ext uri="{FF2B5EF4-FFF2-40B4-BE49-F238E27FC236}">
                <a16:creationId xmlns:a16="http://schemas.microsoft.com/office/drawing/2014/main" id="{170C5CF7-7129-6BD6-B815-EAF32508EFB5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C7BE5E88-0734-5426-D3DF-C7901A7359D4}"/>
              </a:ext>
            </a:extLst>
          </p:cNvPr>
          <p:cNvSpPr/>
          <p:nvPr userDrawn="1"/>
        </p:nvSpPr>
        <p:spPr>
          <a:xfrm>
            <a:off x="4025317" y="4094711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 and short, concise bullet points) </a:t>
            </a:r>
            <a:br>
              <a:rPr lang="it-IT" dirty="0"/>
            </a:b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topics</a:t>
            </a:r>
            <a:r>
              <a:rPr lang="it-IT" dirty="0"/>
              <a:t> for the 4 min </a:t>
            </a:r>
            <a:r>
              <a:rPr lang="it-IT" dirty="0" err="1"/>
              <a:t>timeslot</a:t>
            </a:r>
            <a:r>
              <a:rPr lang="it-IT" dirty="0"/>
              <a:t>!</a:t>
            </a:r>
            <a:endParaRPr lang="en-GB" dirty="0"/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11100C08-BD4D-E3E4-CE88-2FD7DF2770C3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65B86036-57A0-C8C5-C8BB-699A37ABA2A8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64195E91-DEC0-2198-8D7F-F5D7511FB31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4A9BD06-27CB-406D-B020-DF52AE6E8585}" type="datetime1">
              <a:rPr lang="en-GB" smtClean="0"/>
              <a:pPr/>
              <a:t>01/12/2025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0EC107A6-E0D9-69FD-44BC-CFD5F05D7C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8CC2EBC5-DD43-6B7E-A5D7-5CD5B0E30A5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E7DFBCC3-CC46-17B2-DF15-92940A3865D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984858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F6D1F16-A947-CEE2-C58A-50217E90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B449-9A05-47ED-ABE6-D776F3C0C66D}" type="datetime1">
              <a:rPr lang="en-GB" smtClean="0"/>
              <a:pPr/>
              <a:t>01/12/2025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873EF994-6CA7-B763-F215-A7D1723E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74613" y="6564113"/>
            <a:ext cx="3215639" cy="365125"/>
          </a:xfrm>
        </p:spPr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7F2F56B-9E4F-A460-92A9-87055C42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3A8B7922-CD64-E421-B5E5-B7BA56CBCB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Adharsh Pappinisseri Veedu</a:t>
            </a:r>
          </a:p>
        </p:txBody>
      </p:sp>
    </p:spTree>
    <p:extLst>
      <p:ext uri="{BB962C8B-B14F-4D97-AF65-F5344CB8AC3E}">
        <p14:creationId xmlns:p14="http://schemas.microsoft.com/office/powerpoint/2010/main" val="1754527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1"/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6">
            <a:extLst>
              <a:ext uri="{FF2B5EF4-FFF2-40B4-BE49-F238E27FC236}">
                <a16:creationId xmlns:a16="http://schemas.microsoft.com/office/drawing/2014/main" id="{3272B118-64EE-99BB-8728-CE26B185DCFC}"/>
              </a:ext>
            </a:extLst>
          </p:cNvPr>
          <p:cNvSpPr/>
          <p:nvPr userDrawn="1"/>
        </p:nvSpPr>
        <p:spPr>
          <a:xfrm>
            <a:off x="8353959" y="1690688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CCA8528F-A469-ED70-E9CA-F25798C1A305}"/>
              </a:ext>
            </a:extLst>
          </p:cNvPr>
          <p:cNvSpPr/>
          <p:nvPr userDrawn="1"/>
        </p:nvSpPr>
        <p:spPr>
          <a:xfrm>
            <a:off x="2209800" y="3095720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Use [1], [2], [3] for </a:t>
            </a:r>
            <a:r>
              <a:rPr lang="it-IT" dirty="0" err="1"/>
              <a:t>everything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from a source (</a:t>
            </a:r>
            <a:r>
              <a:rPr lang="it-IT" dirty="0" err="1"/>
              <a:t>numbers</a:t>
            </a:r>
            <a:r>
              <a:rPr lang="it-IT" dirty="0"/>
              <a:t> </a:t>
            </a:r>
            <a:r>
              <a:rPr lang="it-IT" dirty="0" err="1"/>
              <a:t>should</a:t>
            </a:r>
            <a:r>
              <a:rPr lang="it-IT" dirty="0"/>
              <a:t> be the </a:t>
            </a:r>
            <a:r>
              <a:rPr lang="it-IT" dirty="0" err="1"/>
              <a:t>same</a:t>
            </a:r>
            <a:r>
              <a:rPr lang="it-IT" dirty="0"/>
              <a:t> like in the </a:t>
            </a:r>
            <a:r>
              <a:rPr lang="it-IT" dirty="0" err="1"/>
              <a:t>bibliography</a:t>
            </a:r>
            <a:r>
              <a:rPr lang="it-IT" dirty="0"/>
              <a:t>) (</a:t>
            </a:r>
            <a:r>
              <a:rPr lang="it-IT" dirty="0" err="1"/>
              <a:t>incl</a:t>
            </a:r>
            <a:r>
              <a:rPr lang="it-IT" dirty="0"/>
              <a:t>. pictures /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created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by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own</a:t>
            </a:r>
            <a:r>
              <a:rPr lang="it-IT" dirty="0"/>
              <a:t>, </a:t>
            </a:r>
            <a:r>
              <a:rPr lang="it-IT" dirty="0" err="1"/>
              <a:t>declare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a </a:t>
            </a:r>
            <a:r>
              <a:rPr lang="it-IT" dirty="0" err="1"/>
              <a:t>thing</a:t>
            </a:r>
            <a:r>
              <a:rPr lang="it-IT" dirty="0"/>
              <a:t> </a:t>
            </a:r>
            <a:r>
              <a:rPr lang="it-IT" dirty="0" err="1"/>
              <a:t>you’ve</a:t>
            </a:r>
            <a:r>
              <a:rPr lang="it-IT" dirty="0"/>
              <a:t> </a:t>
            </a:r>
            <a:r>
              <a:rPr lang="it-IT" dirty="0" err="1"/>
              <a:t>done</a:t>
            </a:r>
            <a:r>
              <a:rPr lang="it-IT" dirty="0"/>
              <a:t> ) [Style </a:t>
            </a:r>
            <a:r>
              <a:rPr lang="it-IT" dirty="0" err="1"/>
              <a:t>Aptos</a:t>
            </a:r>
            <a:r>
              <a:rPr lang="it-IT" dirty="0"/>
              <a:t>/14]</a:t>
            </a:r>
            <a:endParaRPr lang="en-GB" dirty="0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E1F8C099-06EF-7661-9A3C-60FE5CD4C5D5}"/>
              </a:ext>
            </a:extLst>
          </p:cNvPr>
          <p:cNvSpPr/>
          <p:nvPr userDrawn="1"/>
        </p:nvSpPr>
        <p:spPr>
          <a:xfrm>
            <a:off x="8862928" y="1838850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6E31FDF0-C963-BED4-C97E-FF9F67C07D21}"/>
              </a:ext>
            </a:extLst>
          </p:cNvPr>
          <p:cNvSpPr/>
          <p:nvPr userDrawn="1"/>
        </p:nvSpPr>
        <p:spPr>
          <a:xfrm>
            <a:off x="7312803" y="3084777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</a:p>
          <a:p>
            <a:pPr algn="ctr"/>
            <a:r>
              <a:rPr lang="it-IT" dirty="0"/>
              <a:t>an </a:t>
            </a:r>
            <a:r>
              <a:rPr lang="it-IT" dirty="0" err="1"/>
              <a:t>intial</a:t>
            </a:r>
            <a:r>
              <a:rPr lang="it-IT" dirty="0"/>
              <a:t> slide with </a:t>
            </a:r>
            <a:r>
              <a:rPr lang="it-IT" dirty="0" err="1"/>
              <a:t>all</a:t>
            </a:r>
            <a:r>
              <a:rPr lang="it-IT" dirty="0"/>
              <a:t> the tasks </a:t>
            </a:r>
            <a:r>
              <a:rPr lang="it-IT" dirty="0" err="1"/>
              <a:t>completed</a:t>
            </a:r>
            <a:r>
              <a:rPr lang="it-IT" dirty="0"/>
              <a:t> for the week </a:t>
            </a:r>
            <a:r>
              <a:rPr lang="it-IT" dirty="0" err="1"/>
              <a:t>should</a:t>
            </a:r>
            <a:r>
              <a:rPr lang="it-IT" dirty="0"/>
              <a:t> </a:t>
            </a:r>
            <a:r>
              <a:rPr lang="it-IT" dirty="0" err="1"/>
              <a:t>always</a:t>
            </a:r>
            <a:r>
              <a:rPr lang="it-IT" dirty="0"/>
              <a:t> be </a:t>
            </a:r>
            <a:r>
              <a:rPr lang="it-IT" dirty="0" err="1"/>
              <a:t>included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style, do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write</a:t>
            </a:r>
            <a:r>
              <a:rPr lang="it-IT" dirty="0"/>
              <a:t> more text </a:t>
            </a:r>
            <a:r>
              <a:rPr lang="it-IT" dirty="0" err="1"/>
              <a:t>than</a:t>
            </a:r>
            <a:r>
              <a:rPr lang="it-IT" dirty="0"/>
              <a:t> </a:t>
            </a:r>
            <a:r>
              <a:rPr lang="it-IT" dirty="0" err="1"/>
              <a:t>necessary</a:t>
            </a:r>
            <a:r>
              <a:rPr lang="it-IT" dirty="0"/>
              <a:t> (short, concise bullet points are </a:t>
            </a:r>
            <a:r>
              <a:rPr lang="it-IT" dirty="0" err="1"/>
              <a:t>often</a:t>
            </a:r>
            <a:r>
              <a:rPr lang="it-IT" dirty="0"/>
              <a:t> </a:t>
            </a:r>
            <a:r>
              <a:rPr lang="it-IT" dirty="0" err="1"/>
              <a:t>enough</a:t>
            </a:r>
            <a:r>
              <a:rPr lang="it-IT" dirty="0"/>
              <a:t>)</a:t>
            </a:r>
            <a:endParaRPr lang="en-GB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BA9FE0F-4438-A90E-178E-370DFB88F067}"/>
              </a:ext>
            </a:extLst>
          </p:cNvPr>
          <p:cNvSpPr txBox="1"/>
          <p:nvPr userDrawn="1"/>
        </p:nvSpPr>
        <p:spPr>
          <a:xfrm>
            <a:off x="812800" y="6219031"/>
            <a:ext cx="2120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[1], [2]….</a:t>
            </a:r>
          </a:p>
        </p:txBody>
      </p:sp>
      <p:cxnSp>
        <p:nvCxnSpPr>
          <p:cNvPr id="13" name="Straight Arrow Connector 21">
            <a:extLst>
              <a:ext uri="{FF2B5EF4-FFF2-40B4-BE49-F238E27FC236}">
                <a16:creationId xmlns:a16="http://schemas.microsoft.com/office/drawing/2014/main" id="{C9F1C9AE-6377-666B-8F06-CF0B8B317160}"/>
              </a:ext>
            </a:extLst>
          </p:cNvPr>
          <p:cNvCxnSpPr>
            <a:cxnSpLocks/>
          </p:cNvCxnSpPr>
          <p:nvPr userDrawn="1"/>
        </p:nvCxnSpPr>
        <p:spPr>
          <a:xfrm flipH="1">
            <a:off x="1502229" y="4898571"/>
            <a:ext cx="1487714" cy="13183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7">
            <a:extLst>
              <a:ext uri="{FF2B5EF4-FFF2-40B4-BE49-F238E27FC236}">
                <a16:creationId xmlns:a16="http://schemas.microsoft.com/office/drawing/2014/main" id="{8C56F642-24B4-9889-6DFF-DDDACEFB7E68}"/>
              </a:ext>
            </a:extLst>
          </p:cNvPr>
          <p:cNvSpPr/>
          <p:nvPr userDrawn="1"/>
        </p:nvSpPr>
        <p:spPr>
          <a:xfrm>
            <a:off x="5256400" y="16343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F5B6D5E1-3173-F7DB-AFEA-577613F3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3B738-FB44-4953-BA7A-AFB852E86761}" type="datetime1">
              <a:rPr lang="en-GB" smtClean="0"/>
              <a:pPr/>
              <a:t>01/12/2025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4201E827-9609-58AA-70BC-996E2AD05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E013F6E-0CEE-85C3-4AD1-ADEED88F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4C7AB516-D061-772D-6849-99EBB44689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930394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479D6A9B-7716-D398-EE18-2F2D6AC11B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5BE17EA-55E6-D579-4D1F-7901F944C6A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F4CCB00D-A44C-4CB6-B3D0-AE385FA4671E}" type="datetime1">
              <a:rPr lang="en-GB" smtClean="0"/>
              <a:pPr/>
              <a:t>01/12/2025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810CEF70-3482-4FC0-A3A4-7FB408C94A4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879E7A9-C563-396E-C6B6-B45497D433B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AB8CDF8-03C0-DF20-0ABC-80A78BDABF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8435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item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22)</a:t>
            </a:r>
          </a:p>
          <a:p>
            <a:pPr lvl="1"/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20)</a:t>
            </a:r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6">
            <a:extLst>
              <a:ext uri="{FF2B5EF4-FFF2-40B4-BE49-F238E27FC236}">
                <a16:creationId xmlns:a16="http://schemas.microsoft.com/office/drawing/2014/main" id="{703A19AF-E449-D353-12E1-A3DAF32E3EAB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650D751B-3D4C-8864-D7F4-6EC8348A31EE}"/>
              </a:ext>
            </a:extLst>
          </p:cNvPr>
          <p:cNvSpPr/>
          <p:nvPr userDrawn="1"/>
        </p:nvSpPr>
        <p:spPr>
          <a:xfrm>
            <a:off x="4025317" y="4094711"/>
            <a:ext cx="3933255" cy="1298198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BUT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use </a:t>
            </a:r>
            <a:r>
              <a:rPr lang="it-IT" dirty="0" err="1"/>
              <a:t>underpoints</a:t>
            </a:r>
            <a:r>
              <a:rPr lang="it-IT" dirty="0"/>
              <a:t> </a:t>
            </a:r>
            <a:r>
              <a:rPr lang="it-IT" dirty="0" err="1"/>
              <a:t>please</a:t>
            </a:r>
            <a:r>
              <a:rPr lang="it-IT" dirty="0"/>
              <a:t> with the i, ii, iii….</a:t>
            </a:r>
            <a:endParaRPr lang="en-GB" dirty="0"/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9BDEC9EB-F30A-F42A-26C3-F9AE08765705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4BA2A1-6BBA-CA7A-578A-6529C5AD3CFE}"/>
              </a:ext>
            </a:extLst>
          </p:cNvPr>
          <p:cNvSpPr/>
          <p:nvPr userDrawn="1"/>
        </p:nvSpPr>
        <p:spPr>
          <a:xfrm>
            <a:off x="927758" y="2796999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19E5AF50-94A3-4308-3B68-BAD76E7A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8B5D5-1297-49B2-8C0F-0697C6E49B25}" type="datetime1">
              <a:rPr lang="en-GB" smtClean="0"/>
              <a:pPr/>
              <a:t>01/12/2025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9798D87B-B794-AD8A-40F1-DEA4D547F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E6253E5-E305-7986-3017-8FAC6F34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7E202380-1BD6-7A10-C51A-497A42391B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73267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228F91E-E7AD-B275-5A60-89428222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6DF2A-5C0F-49C5-AD28-E5CBDA5627A7}" type="datetime1">
              <a:rPr lang="en-GB" smtClean="0"/>
              <a:pPr/>
              <a:t>01/12/2025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F4F81C7-2C44-8CF8-2928-655E74DC8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60D8F3F-3088-D685-66AD-D2110FD4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29BD9540-0DAC-F607-0D84-145CAF084D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9943038B-A8F9-48D6-0A29-94D4AA659F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9733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8" name="Connector: Elbow 6">
            <a:extLst>
              <a:ext uri="{FF2B5EF4-FFF2-40B4-BE49-F238E27FC236}">
                <a16:creationId xmlns:a16="http://schemas.microsoft.com/office/drawing/2014/main" id="{7A01EE56-12C5-DD96-C172-C145A0ED64CB}"/>
              </a:ext>
            </a:extLst>
          </p:cNvPr>
          <p:cNvCxnSpPr>
            <a:cxnSpLocks/>
          </p:cNvCxnSpPr>
          <p:nvPr userDrawn="1"/>
        </p:nvCxnSpPr>
        <p:spPr>
          <a:xfrm rot="10800000" flipV="1">
            <a:off x="3791371" y="4238699"/>
            <a:ext cx="4563205" cy="122213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15">
            <a:extLst>
              <a:ext uri="{FF2B5EF4-FFF2-40B4-BE49-F238E27FC236}">
                <a16:creationId xmlns:a16="http://schemas.microsoft.com/office/drawing/2014/main" id="{EE3D1715-661B-80A0-F167-264ACC369A68}"/>
              </a:ext>
            </a:extLst>
          </p:cNvPr>
          <p:cNvSpPr/>
          <p:nvPr userDrawn="1"/>
        </p:nvSpPr>
        <p:spPr>
          <a:xfrm>
            <a:off x="7796637" y="3405202"/>
            <a:ext cx="3922209" cy="2011693"/>
          </a:xfrm>
          <a:prstGeom prst="ellips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Add</a:t>
            </a:r>
            <a:r>
              <a:rPr lang="it-IT" sz="1400" dirty="0"/>
              <a:t> a link to the </a:t>
            </a:r>
            <a:r>
              <a:rPr lang="it-IT" sz="1400" dirty="0" err="1"/>
              <a:t>reference</a:t>
            </a:r>
            <a:r>
              <a:rPr lang="it-IT" sz="1400" dirty="0"/>
              <a:t> </a:t>
            </a:r>
            <a:r>
              <a:rPr lang="it-IT" sz="1400" dirty="0" err="1"/>
              <a:t>number</a:t>
            </a:r>
            <a:r>
              <a:rPr lang="it-IT" sz="1400" dirty="0"/>
              <a:t> </a:t>
            </a:r>
            <a:r>
              <a:rPr lang="it-IT" sz="1400" dirty="0" err="1"/>
              <a:t>that</a:t>
            </a:r>
            <a:r>
              <a:rPr lang="it-IT" sz="1400" dirty="0"/>
              <a:t> </a:t>
            </a:r>
            <a:r>
              <a:rPr lang="it-IT" sz="1400" dirty="0" err="1"/>
              <a:t>goes</a:t>
            </a:r>
            <a:r>
              <a:rPr lang="it-IT" sz="1400" dirty="0"/>
              <a:t> to the last slide: highlight the </a:t>
            </a:r>
            <a:r>
              <a:rPr lang="it-IT" sz="1400" dirty="0" err="1"/>
              <a:t>number</a:t>
            </a:r>
            <a:r>
              <a:rPr lang="it-IT" sz="1400" dirty="0"/>
              <a:t>-&gt;</a:t>
            </a:r>
            <a:r>
              <a:rPr lang="it-IT" sz="1400" dirty="0" err="1"/>
              <a:t>right</a:t>
            </a:r>
            <a:r>
              <a:rPr lang="it-IT" sz="1400" dirty="0"/>
              <a:t> click-&gt;</a:t>
            </a:r>
            <a:r>
              <a:rPr lang="it-IT" sz="1400" dirty="0" err="1"/>
              <a:t>select</a:t>
            </a:r>
            <a:r>
              <a:rPr lang="it-IT" sz="1400" dirty="0"/>
              <a:t> link-&gt;place in </a:t>
            </a:r>
            <a:r>
              <a:rPr lang="it-IT" sz="1400" dirty="0" err="1"/>
              <a:t>this</a:t>
            </a:r>
            <a:r>
              <a:rPr lang="it-IT" sz="1400" dirty="0"/>
              <a:t> </a:t>
            </a:r>
            <a:r>
              <a:rPr lang="it-IT" sz="1400" dirty="0" err="1"/>
              <a:t>document</a:t>
            </a:r>
            <a:r>
              <a:rPr lang="it-IT" sz="1400" dirty="0"/>
              <a:t>-&gt;</a:t>
            </a:r>
            <a:r>
              <a:rPr lang="it-IT" sz="1400" dirty="0" err="1"/>
              <a:t>select</a:t>
            </a:r>
            <a:r>
              <a:rPr lang="it-IT" sz="1400" dirty="0"/>
              <a:t> last slide</a:t>
            </a:r>
            <a:endParaRPr lang="en-GB" sz="14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7">
            <a:extLst>
              <a:ext uri="{FF2B5EF4-FFF2-40B4-BE49-F238E27FC236}">
                <a16:creationId xmlns:a16="http://schemas.microsoft.com/office/drawing/2014/main" id="{A1188C36-D6CB-FA53-013E-FC56AD427952}"/>
              </a:ext>
            </a:extLst>
          </p:cNvPr>
          <p:cNvSpPr/>
          <p:nvPr userDrawn="1"/>
        </p:nvSpPr>
        <p:spPr>
          <a:xfrm>
            <a:off x="6495002" y="1875014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749D4654-CB69-04EA-986A-2264B7AF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DB99B-0F4F-4F9B-9A32-2ECA2F4528C6}" type="datetime1">
              <a:rPr lang="en-GB" smtClean="0"/>
              <a:pPr/>
              <a:t>01/12/2025</a:t>
            </a:fld>
            <a:endParaRPr lang="en-GB" dirty="0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FC28337D-790B-E06F-0074-04AA48B92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A2A63292-0139-33E2-79E8-D1F485A4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596BA109-7562-188F-19E6-BAFF28DC5C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86484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8D8651D-3525-44E9-EF74-5AE1C96E2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F99C6-FE58-4669-A9B0-CE74E3310E0A}" type="datetime1">
              <a:rPr lang="en-GB" smtClean="0"/>
              <a:pPr/>
              <a:t>01/12/2025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FC35C132-0CB8-F9A6-EC6C-F3AC1F1B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22F58FF-5AD5-CF97-4FEE-FB1F38CD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platzhalter 16">
            <a:extLst>
              <a:ext uri="{FF2B5EF4-FFF2-40B4-BE49-F238E27FC236}">
                <a16:creationId xmlns:a16="http://schemas.microsoft.com/office/drawing/2014/main" id="{DC21B0DD-4D97-871C-E587-F10AD55D8B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1072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6" name="Straight Arrow Connector 21">
            <a:extLst>
              <a:ext uri="{FF2B5EF4-FFF2-40B4-BE49-F238E27FC236}">
                <a16:creationId xmlns:a16="http://schemas.microsoft.com/office/drawing/2014/main" id="{9B5BA113-ABD0-9B33-1E2F-5863B083FE29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994031" y="2734408"/>
            <a:ext cx="1245576" cy="18375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22">
            <a:extLst>
              <a:ext uri="{FF2B5EF4-FFF2-40B4-BE49-F238E27FC236}">
                <a16:creationId xmlns:a16="http://schemas.microsoft.com/office/drawing/2014/main" id="{59531AAE-8AA3-6039-F69E-EDD1AF57C810}"/>
              </a:ext>
            </a:extLst>
          </p:cNvPr>
          <p:cNvSpPr/>
          <p:nvPr userDrawn="1"/>
        </p:nvSpPr>
        <p:spPr>
          <a:xfrm>
            <a:off x="4475285" y="4572000"/>
            <a:ext cx="5969977" cy="167786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The style </a:t>
            </a:r>
            <a:r>
              <a:rPr lang="it-IT" dirty="0" err="1"/>
              <a:t>chosen</a:t>
            </a:r>
            <a:r>
              <a:rPr lang="it-IT" dirty="0"/>
              <a:t> for </a:t>
            </a:r>
            <a:r>
              <a:rPr lang="it-IT" dirty="0" err="1"/>
              <a:t>citation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IEEE, so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citation</a:t>
            </a:r>
            <a:r>
              <a:rPr lang="it-IT" dirty="0"/>
              <a:t> follow </a:t>
            </a:r>
            <a:r>
              <a:rPr lang="it-IT" dirty="0" err="1"/>
              <a:t>that</a:t>
            </a:r>
            <a:r>
              <a:rPr lang="it-IT" dirty="0"/>
              <a:t> style.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an IEEE </a:t>
            </a:r>
            <a:r>
              <a:rPr lang="it-IT" dirty="0" err="1"/>
              <a:t>citation</a:t>
            </a:r>
            <a:r>
              <a:rPr lang="it-IT" dirty="0"/>
              <a:t> from a website, </a:t>
            </a:r>
            <a:r>
              <a:rPr lang="it-IT" dirty="0" err="1"/>
              <a:t>you</a:t>
            </a:r>
            <a:r>
              <a:rPr lang="it-IT" dirty="0"/>
              <a:t> can use some free </a:t>
            </a:r>
            <a:r>
              <a:rPr lang="it-IT" dirty="0" err="1"/>
              <a:t>converters</a:t>
            </a:r>
            <a:r>
              <a:rPr lang="it-IT" dirty="0"/>
              <a:t> </a:t>
            </a:r>
            <a:r>
              <a:rPr lang="it-IT" dirty="0" err="1"/>
              <a:t>available</a:t>
            </a:r>
            <a:r>
              <a:rPr lang="it-IT" dirty="0"/>
              <a:t> on the internet, like:</a:t>
            </a:r>
          </a:p>
          <a:p>
            <a:pPr algn="ctr"/>
            <a:r>
              <a:rPr lang="en-GB" b="1" dirty="0">
                <a:hlinkClick r:id="rId2"/>
              </a:rPr>
              <a:t>https://www.mybib.com/tools/ieee-citation-generator</a:t>
            </a:r>
            <a:r>
              <a:rPr lang="en-GB" b="1" dirty="0"/>
              <a:t> </a:t>
            </a:r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7">
            <a:extLst>
              <a:ext uri="{FF2B5EF4-FFF2-40B4-BE49-F238E27FC236}">
                <a16:creationId xmlns:a16="http://schemas.microsoft.com/office/drawing/2014/main" id="{226F6F8F-D65D-4B43-5785-E89E617F8616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76AEEC7-3E6C-8FE6-7104-34FC9379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0D682-ADD0-49A9-827B-2250910F4FA1}" type="datetime1">
              <a:rPr lang="en-GB" smtClean="0"/>
              <a:pPr/>
              <a:t>01/12/2025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527D13C7-4982-3CF9-E6C0-8109C888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4A0136B-0337-50A8-941C-6DC048D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A21B8924-2541-A57C-7990-899E2DC11F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096439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BDC2AF-40F8-8529-16FE-AE51A8BD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7E070-7D05-4698-8498-70EBE2094E29}" type="datetime1">
              <a:rPr lang="en-GB" smtClean="0"/>
              <a:pPr/>
              <a:t>01/12/2025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A36B392-F5AC-41D8-5903-3EE036BA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95A811-7A18-1583-7B9C-87A7CBB7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5E735FEA-D591-2E8E-B9B4-2A6BAFE00D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223280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16092FF3-E2C2-B5C5-579F-21F140EB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FCBF9-A550-47B6-A52F-D83BBC1C17F4}" type="datetime1">
              <a:rPr lang="en-GB" smtClean="0"/>
              <a:pPr/>
              <a:t>01/12/2025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5AD0AE9-D3B7-2239-8DBB-350367E7D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1BD0BA0-666C-E532-C68B-11386947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027E2607-9D4B-3DD5-A6A2-FC3CB80BCC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423501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4EB4231A-B976-E0CE-75F3-D34A6911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807CF-9F2F-490E-9D6A-2EFEDEB698E8}" type="datetime1">
              <a:rPr lang="en-GB" smtClean="0"/>
              <a:pPr/>
              <a:t>01/12/2025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2E601F58-36C8-D2D9-A619-7EE495853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BFB4D11-F600-12A5-E5C2-DCA39033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Textplatzhalter 16">
            <a:extLst>
              <a:ext uri="{FF2B5EF4-FFF2-40B4-BE49-F238E27FC236}">
                <a16:creationId xmlns:a16="http://schemas.microsoft.com/office/drawing/2014/main" id="{39AFE95F-2805-F887-3AF4-313C835B17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37897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9CAB1E-C3D8-B43B-64D5-963D13F3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F6FD4-A37E-4BAB-8A99-FA8610E32781}" type="datetime1">
              <a:rPr lang="en-GB" smtClean="0"/>
              <a:pPr/>
              <a:t>01/12/2025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B3E84C0-2A5E-8136-84E3-1F57CD264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9EE80A-8782-7800-16FF-963D026B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CFBF4831-0820-F79B-E15A-914A0E578D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5370099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63342531-5FA3-5F71-CEB1-CFCD86F17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42E69-D35C-464A-8913-B8D53BF53101}" type="datetime1">
              <a:rPr lang="en-GB" smtClean="0"/>
              <a:pPr/>
              <a:t>01/12/2025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0D108632-F456-C23D-6809-CF44E36A5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4F6375C-67FA-9BF2-A821-A5611C21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E6CFA6E-C964-BB71-3D6D-D966EE4660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8465591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DAC50BC-A24B-779F-0533-7A27D611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5F6B8-BDE3-48FE-8FAC-6B971E4AD3C9}" type="datetime1">
              <a:rPr lang="en-GB" smtClean="0"/>
              <a:pPr/>
              <a:t>01/12/2025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2B06DBDC-0EA1-59AB-DB5D-AEE297E61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3EB43FC5-BB47-1A87-75C6-C0AFB5C7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80B36F8-3A7C-6F05-A0AB-F3F43BA0922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126135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C34C088-08EA-3896-8F05-16D82C511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6C448-1114-4B41-9575-69915FFF7D3A}" type="datetime1">
              <a:rPr lang="en-GB" smtClean="0"/>
              <a:pPr/>
              <a:t>01/12/2025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8EA7E74-7B1F-8648-209E-BFE07FF1E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2B97D1D-1741-1791-CBA3-FA5CA67C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6A2FA29E-F5F4-39E0-E0C6-CACC20E04F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2687113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5945ED5-EBD1-3567-F959-B92E831E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E466E-C482-4DFC-904C-F03FDB47E2F3}" type="datetime1">
              <a:rPr lang="en-GB" smtClean="0"/>
              <a:pPr/>
              <a:t>01/12/2025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BB6A4D0-1BA6-C02F-BE18-391B96E9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12E4BF-484F-C87E-8228-534B62A6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A24C13F3-9C79-1E9F-ED48-61D2AD9586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0701898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96580-01E6-4EFE-836F-AA1E171E6E67}" type="datetimeFigureOut">
              <a:rPr lang="en-US" smtClean="0"/>
              <a:pPr/>
              <a:t>01-Dec-25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7B9B0-7DA0-449E-A7EC-01D9B7BD21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96580-01E6-4EFE-836F-AA1E171E6E67}" type="datetimeFigureOut">
              <a:rPr lang="en-US" smtClean="0"/>
              <a:pPr/>
              <a:t>01-Dec-25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7B9B0-7DA0-449E-A7EC-01D9B7BD21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96580-01E6-4EFE-836F-AA1E171E6E67}" type="datetimeFigureOut">
              <a:rPr lang="en-US" smtClean="0"/>
              <a:pPr/>
              <a:t>01-Dec-25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7B9B0-7DA0-449E-A7EC-01D9B7BD21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96580-01E6-4EFE-836F-AA1E171E6E67}" type="datetimeFigureOut">
              <a:rPr lang="en-US" smtClean="0"/>
              <a:pPr/>
              <a:t>01-Dec-25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7B9B0-7DA0-449E-A7EC-01D9B7BD21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96580-01E6-4EFE-836F-AA1E171E6E67}" type="datetimeFigureOut">
              <a:rPr lang="en-US" smtClean="0"/>
              <a:pPr/>
              <a:t>01-Dec-25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7B9B0-7DA0-449E-A7EC-01D9B7BD21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96580-01E6-4EFE-836F-AA1E171E6E67}" type="datetimeFigureOut">
              <a:rPr lang="en-US" smtClean="0"/>
              <a:pPr/>
              <a:t>01-Dec-25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7B9B0-7DA0-449E-A7EC-01D9B7BD21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96580-01E6-4EFE-836F-AA1E171E6E67}" type="datetimeFigureOut">
              <a:rPr lang="en-US" smtClean="0"/>
              <a:pPr/>
              <a:t>01-Dec-25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7B9B0-7DA0-449E-A7EC-01D9B7BD21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96580-01E6-4EFE-836F-AA1E171E6E67}" type="datetimeFigureOut">
              <a:rPr lang="en-US" smtClean="0"/>
              <a:pPr/>
              <a:t>01-Dec-25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7B9B0-7DA0-449E-A7EC-01D9B7BD21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96580-01E6-4EFE-836F-AA1E171E6E67}" type="datetimeFigureOut">
              <a:rPr lang="en-US" smtClean="0"/>
              <a:pPr/>
              <a:t>01-Dec-25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7B9B0-7DA0-449E-A7EC-01D9B7BD21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96580-01E6-4EFE-836F-AA1E171E6E67}" type="datetimeFigureOut">
              <a:rPr lang="en-US" smtClean="0"/>
              <a:pPr/>
              <a:t>01-Dec-25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7B9B0-7DA0-449E-A7EC-01D9B7BD21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96580-01E6-4EFE-836F-AA1E171E6E67}" type="datetimeFigureOut">
              <a:rPr lang="en-US" smtClean="0"/>
              <a:pPr/>
              <a:t>01-Dec-25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7B9B0-7DA0-449E-A7EC-01D9B7BD21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 userDrawn="1"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 Syria</a:t>
            </a:r>
            <a:endParaRPr kumimoji="0" lang="en-GB" sz="6600" b="1" i="0" u="none" strike="noStrike" kern="1200" cap="none" spc="0" normalizeH="0" baseline="0" noProof="0" dirty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62B0D505-239D-592F-D28C-2537FD6A64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2399" y="4130862"/>
            <a:ext cx="3822700" cy="164669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1st Week Kick Off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Date: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202X</a:t>
            </a:r>
          </a:p>
          <a:p>
            <a:pPr lvl="4"/>
            <a:endParaRPr lang="de-DE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35806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33" name="Isosceles Triangle 6">
            <a:extLst>
              <a:ext uri="{FF2B5EF4-FFF2-40B4-BE49-F238E27FC236}">
                <a16:creationId xmlns:a16="http://schemas.microsoft.com/office/drawing/2014/main" id="{8F14EFAA-BA4A-16CF-D530-1409613BCF5B}"/>
              </a:ext>
            </a:extLst>
          </p:cNvPr>
          <p:cNvSpPr/>
          <p:nvPr userDrawn="1"/>
        </p:nvSpPr>
        <p:spPr>
          <a:xfrm>
            <a:off x="1412841" y="3797919"/>
            <a:ext cx="1380683" cy="886192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Rectangle 7">
            <a:extLst>
              <a:ext uri="{FF2B5EF4-FFF2-40B4-BE49-F238E27FC236}">
                <a16:creationId xmlns:a16="http://schemas.microsoft.com/office/drawing/2014/main" id="{8CE1E011-6342-172C-03D6-BB39C24A4CCA}"/>
              </a:ext>
            </a:extLst>
          </p:cNvPr>
          <p:cNvSpPr/>
          <p:nvPr userDrawn="1"/>
        </p:nvSpPr>
        <p:spPr>
          <a:xfrm>
            <a:off x="354584" y="4714776"/>
            <a:ext cx="3512337" cy="95079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First slide for groups</a:t>
            </a:r>
            <a:endParaRPr lang="en-GB" dirty="0"/>
          </a:p>
        </p:txBody>
      </p:sp>
      <p:sp>
        <p:nvSpPr>
          <p:cNvPr id="35" name="Rectangle 11">
            <a:extLst>
              <a:ext uri="{FF2B5EF4-FFF2-40B4-BE49-F238E27FC236}">
                <a16:creationId xmlns:a16="http://schemas.microsoft.com/office/drawing/2014/main" id="{6845F127-8728-66DF-03BE-17119A20BE05}"/>
              </a:ext>
            </a:extLst>
          </p:cNvPr>
          <p:cNvSpPr/>
          <p:nvPr userDrawn="1"/>
        </p:nvSpPr>
        <p:spPr>
          <a:xfrm>
            <a:off x="1860787" y="3750629"/>
            <a:ext cx="484789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C16AED5E-219C-C34B-7790-17DE2532E62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Rectangle 7">
            <a:extLst>
              <a:ext uri="{FF2B5EF4-FFF2-40B4-BE49-F238E27FC236}">
                <a16:creationId xmlns:a16="http://schemas.microsoft.com/office/drawing/2014/main" id="{CA471AD5-5F65-3AF9-9ABB-E6F7475B2672}"/>
              </a:ext>
            </a:extLst>
          </p:cNvPr>
          <p:cNvSpPr/>
          <p:nvPr userDrawn="1"/>
        </p:nvSpPr>
        <p:spPr>
          <a:xfrm>
            <a:off x="8606553" y="40430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28096F9B-BE65-486B-B8E8-12EF8E58B3B4}" type="datetime1">
              <a:rPr lang="en-GB" smtClean="0"/>
              <a:pPr/>
              <a:t>01/12/2025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844284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5588F89-BF05-8BCF-9834-AE05DA2404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3077A87-075C-C9F1-CF08-7A350F77E61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B3C889B-2F55-2C2F-122E-E89ABE6A2D9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EEEA123-68DA-495E-993C-6E3C45537E60}" type="datetime1">
              <a:rPr lang="en-GB" smtClean="0"/>
              <a:pPr/>
              <a:t>01/12/2025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2877DC7-CA1E-181B-77C7-99C60829ED5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43E1ABD-9DAE-E035-8B0B-D41EFED3FC8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47730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2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D36E4AE-BF2C-D504-0887-03D81D07CDC8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Free-form: Shape 13">
            <a:extLst>
              <a:ext uri="{FF2B5EF4-FFF2-40B4-BE49-F238E27FC236}">
                <a16:creationId xmlns:a16="http://schemas.microsoft.com/office/drawing/2014/main" id="{7608A32D-44F3-01F2-D6ED-924DFF3CC33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8" name="Free-form: Shape 13">
            <a:extLst>
              <a:ext uri="{FF2B5EF4-FFF2-40B4-BE49-F238E27FC236}">
                <a16:creationId xmlns:a16="http://schemas.microsoft.com/office/drawing/2014/main" id="{1DE142EE-E501-93E6-565D-AB4A5A647F0F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76A7918-93DA-D7CE-97A3-DDF18B379B6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Rotor Hub and Pitch System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A90C3CAC-04C1-4CA4-98F0-49CD057AD2FD}" type="datetime1">
              <a:rPr lang="en-GB" smtClean="0"/>
              <a:pPr/>
              <a:t>01/12/2025</a:t>
            </a:fld>
            <a:endParaRPr lang="en-GB" dirty="0"/>
          </a:p>
        </p:txBody>
      </p:sp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BD3F4B-4853-EC8E-00EB-5109F86CE0F1}"/>
              </a:ext>
            </a:extLst>
          </p:cNvPr>
          <p:cNvSpPr/>
          <p:nvPr userDrawn="1"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Free-form: Shape 13">
            <a:extLst>
              <a:ext uri="{FF2B5EF4-FFF2-40B4-BE49-F238E27FC236}">
                <a16:creationId xmlns:a16="http://schemas.microsoft.com/office/drawing/2014/main" id="{2BF40EC9-0D42-5E08-04BD-F330229C7518}"/>
              </a:ext>
            </a:extLst>
          </p:cNvPr>
          <p:cNvSpPr/>
          <p:nvPr userDrawn="1"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>
            <a:extLst>
              <a:ext uri="{FF2B5EF4-FFF2-40B4-BE49-F238E27FC236}">
                <a16:creationId xmlns:a16="http://schemas.microsoft.com/office/drawing/2014/main" id="{0BB1BAA4-B843-57F3-9FCE-C9585D332FAE}"/>
              </a:ext>
            </a:extLst>
          </p:cNvPr>
          <p:cNvSpPr/>
          <p:nvPr userDrawn="1"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3178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63" r:id="rId2"/>
    <p:sldLayoutId id="2147483686" r:id="rId3"/>
    <p:sldLayoutId id="2147483674" r:id="rId4"/>
    <p:sldLayoutId id="2147483685" r:id="rId5"/>
    <p:sldLayoutId id="2147483684" r:id="rId6"/>
    <p:sldLayoutId id="2147483688" r:id="rId7"/>
    <p:sldLayoutId id="2147483666" r:id="rId8"/>
    <p:sldLayoutId id="2147483689" r:id="rId9"/>
    <p:sldLayoutId id="2147483662" r:id="rId10"/>
    <p:sldLayoutId id="2147483690" r:id="rId11"/>
    <p:sldLayoutId id="2147483664" r:id="rId12"/>
    <p:sldLayoutId id="2147483665" r:id="rId13"/>
    <p:sldLayoutId id="2147483667" r:id="rId14"/>
    <p:sldLayoutId id="2147483668" r:id="rId15"/>
    <p:sldLayoutId id="2147483669" r:id="rId16"/>
    <p:sldLayoutId id="2147483670" r:id="rId17"/>
    <p:sldLayoutId id="2147483671" r:id="rId1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196580-01E6-4EFE-836F-AA1E171E6E67}" type="datetimeFigureOut">
              <a:rPr lang="en-US" smtClean="0"/>
              <a:pPr/>
              <a:t>01-Dec-25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57B9B0-7DA0-449E-A7EC-01D9B7BD21C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5620995-1DFE-FB81-B1FD-1F43AD25E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9FFA78-25BC-8AF7-71C4-CCA91A932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CB32A29-5E71-00A9-66DA-1FED8EA8F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Rotor Hub and Pitch System / Optimus Syria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5A1141D-8ADF-66F7-AB0C-CAA4E1B2C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7138566-A99B-8C60-010B-13E0F43C56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EA0CBDBF-D81E-48AE-86BB-BD540A8A418D}" type="datetime1">
              <a:rPr lang="en-GB" smtClean="0"/>
              <a:pPr/>
              <a:t>01/12/2025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1557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5" r:id="rId2"/>
    <p:sldLayoutId id="2147483676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th.de/schraubwerkzeuge/hydraulische-drehmomentschrauber" TargetMode="External"/><Relationship Id="rId2" Type="http://schemas.openxmlformats.org/officeDocument/2006/relationships/hyperlink" Target="https://www.bonfiglioli.com/_default_upload_bucket/TR_CAT_WIND_STD_ENG_R05_1.pdf?_gl=1*st0uf6*_up*MQ..*_ga*MTkwODc0NTgyMS4xNzYzMTE5NzE0*_ga_B0519ZEPFF*czE3NjMxMTk3MTQkbzEkZzAkdDE3NjMxMTk3MTQkajYwJGwwJGgw" TargetMode="Externa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victronenergy.com/upload/documents/Manual-MultiPlus-II-48V-3k,-5k,-8k,-10k-15k-230V-(AUS)-EN--(P).pdf" TargetMode="External"/><Relationship Id="rId5" Type="http://schemas.openxmlformats.org/officeDocument/2006/relationships/hyperlink" Target="https://liontron.com/download/german/list_LIONTRON-Datenblatt_LX48-100-1.pdf" TargetMode="External"/><Relationship Id="rId4" Type="http://schemas.openxmlformats.org/officeDocument/2006/relationships/hyperlink" Target="https://itafasteners.com/products-bolts-hex-head-anchor-bolts.ph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26B2514-13D3-FEE4-A76A-25778AA0047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47C1733-F87C-4CC9-88C2-2A7482A75C5A}" type="datetime1">
              <a:rPr lang="en-GB" smtClean="0"/>
              <a:pPr/>
              <a:t>01/12/2025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F11D7F1-39D2-6CD0-A45E-2199A3CF943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7968343" y="6564113"/>
            <a:ext cx="3385457" cy="365125"/>
          </a:xfrm>
        </p:spPr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E7ED1BF-5D66-636D-5730-97FE37F4481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9F47672-3CC8-A3D9-5404-84F2B78B62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5894" y="2726598"/>
            <a:ext cx="9144000" cy="912598"/>
          </a:xfrm>
        </p:spPr>
        <p:txBody>
          <a:bodyPr>
            <a:noAutofit/>
          </a:bodyPr>
          <a:lstStyle/>
          <a:p>
            <a:r>
              <a:rPr lang="it-IT" sz="4000" dirty="0">
                <a:latin typeface="Times New Roman" pitchFamily="18" charset="0"/>
                <a:cs typeface="Times New Roman" pitchFamily="18" charset="0"/>
              </a:rPr>
              <a:t>Rotor Hub And Pitch System</a:t>
            </a:r>
            <a:endParaRPr lang="en-GB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07963" y="4121834"/>
            <a:ext cx="313008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Group Members 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Dhruvin Kakdiya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Adharsh Pappinisseri Veedu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Muthu Thirunavukarasu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Syed Mohammed Sikandar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277A63BB-08BE-619B-2533-3CC69CC19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08430" y="4188655"/>
            <a:ext cx="5899051" cy="1655762"/>
          </a:xfrm>
        </p:spPr>
        <p:txBody>
          <a:bodyPr>
            <a:normAutofit/>
          </a:bodyPr>
          <a:lstStyle/>
          <a:p>
            <a:r>
              <a:rPr lang="it-IT" sz="2000" dirty="0">
                <a:latin typeface="Times New Roman" pitchFamily="18" charset="0"/>
                <a:cs typeface="Times New Roman" pitchFamily="18" charset="0"/>
              </a:rPr>
              <a:t>Week number : 08</a:t>
            </a:r>
          </a:p>
          <a:p>
            <a:r>
              <a:rPr lang="it-IT" sz="2000" dirty="0">
                <a:latin typeface="Times New Roman" pitchFamily="18" charset="0"/>
                <a:cs typeface="Times New Roman" pitchFamily="18" charset="0"/>
              </a:rPr>
              <a:t>Date: 18/11/2025</a:t>
            </a:r>
          </a:p>
          <a:p>
            <a:r>
              <a:rPr lang="it-IT" sz="2000" dirty="0">
                <a:latin typeface="Times New Roman" pitchFamily="18" charset="0"/>
                <a:cs typeface="Times New Roman" pitchFamily="18" charset="0"/>
              </a:rPr>
              <a:t>Supervisor: Prof. Peter Quell</a:t>
            </a:r>
            <a:endParaRPr lang="en-GB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5102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0C666DE2-1276-7519-CD3A-64862C4F7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1">
              <a:lnSpc>
                <a:spcPct val="150000"/>
              </a:lnSpc>
              <a:buNone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endParaRPr lang="de-DE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itel 21">
            <a:extLst>
              <a:ext uri="{FF2B5EF4-FFF2-40B4-BE49-F238E27FC236}">
                <a16:creationId xmlns:a16="http://schemas.microsoft.com/office/drawing/2014/main" id="{C01C5AA7-5821-01BD-1AC8-74837347C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263" y="0"/>
            <a:ext cx="10515600" cy="1325563"/>
          </a:xfrm>
        </p:spPr>
        <p:txBody>
          <a:bodyPr/>
          <a:lstStyle/>
          <a:p>
            <a:pPr algn="ctr"/>
            <a:r>
              <a:rPr lang="de-DE" dirty="0">
                <a:latin typeface="Times New Roman" pitchFamily="18" charset="0"/>
                <a:cs typeface="Times New Roman" pitchFamily="18" charset="0"/>
              </a:rPr>
              <a:t>List of contents </a:t>
            </a:r>
          </a:p>
        </p:txBody>
      </p:sp>
      <p:sp>
        <p:nvSpPr>
          <p:cNvPr id="23" name="Datumsplatzhalter 22">
            <a:extLst>
              <a:ext uri="{FF2B5EF4-FFF2-40B4-BE49-F238E27FC236}">
                <a16:creationId xmlns:a16="http://schemas.microsoft.com/office/drawing/2014/main" id="{278CF838-7112-4F3F-EAE6-B2D4ED8FB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69754-B76E-4698-9FD4-22B63EC7C81C}" type="datetime1">
              <a:rPr lang="en-GB" smtClean="0"/>
              <a:pPr/>
              <a:t>01/12/2025</a:t>
            </a:fld>
            <a:endParaRPr lang="en-GB" dirty="0"/>
          </a:p>
        </p:txBody>
      </p:sp>
      <p:sp>
        <p:nvSpPr>
          <p:cNvPr id="24" name="Fußzeilenplatzhalter 23">
            <a:extLst>
              <a:ext uri="{FF2B5EF4-FFF2-40B4-BE49-F238E27FC236}">
                <a16:creationId xmlns:a16="http://schemas.microsoft.com/office/drawing/2014/main" id="{7A4CB245-78A9-C73E-8215-8D18B2739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68343" y="6564113"/>
            <a:ext cx="3385457" cy="365125"/>
          </a:xfrm>
        </p:spPr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25" name="Foliennummernplatzhalter 24">
            <a:extLst>
              <a:ext uri="{FF2B5EF4-FFF2-40B4-BE49-F238E27FC236}">
                <a16:creationId xmlns:a16="http://schemas.microsoft.com/office/drawing/2014/main" id="{1F1D02DB-C1C0-0C64-772D-D708982E9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pPr marL="342900" indent="-342900"/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Adharsh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Pappinisseri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Veedu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75657" y="1867989"/>
            <a:ext cx="3950377" cy="24590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 algn="l">
              <a:lnSpc>
                <a:spcPct val="200000"/>
              </a:lnSpc>
              <a:buAutoNum type="arabicPeriod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Bolt calculations</a:t>
            </a:r>
          </a:p>
          <a:p>
            <a:pPr marL="228600" indent="-228600" algn="l">
              <a:lnSpc>
                <a:spcPct val="200000"/>
              </a:lnSpc>
              <a:buAutoNum type="arabicPeriod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Additional flange design</a:t>
            </a:r>
          </a:p>
          <a:p>
            <a:pPr marL="228600" indent="-228600" algn="l">
              <a:lnSpc>
                <a:spcPct val="200000"/>
              </a:lnSpc>
              <a:buAutoNum type="arabicPeriod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 Backup Supply Systems</a:t>
            </a:r>
          </a:p>
          <a:p>
            <a:pPr marL="228600" indent="-228600" algn="l">
              <a:lnSpc>
                <a:spcPct val="200000"/>
              </a:lnSpc>
              <a:buAutoNum type="arabicPeriod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 CAD Model &amp; Drive Assembly </a:t>
            </a:r>
          </a:p>
        </p:txBody>
      </p:sp>
    </p:spTree>
    <p:extLst>
      <p:ext uri="{BB962C8B-B14F-4D97-AF65-F5344CB8AC3E}">
        <p14:creationId xmlns:p14="http://schemas.microsoft.com/office/powerpoint/2010/main" val="1106553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87B13-A6D7-9DCF-6F19-72AA1A7E6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6198DB7-BA0B-B4BB-CC48-BDD78CD68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C6257-D954-4541-A20C-37FB7797A083}" type="datetime1">
              <a:rPr lang="en-GB" smtClean="0"/>
              <a:pPr/>
              <a:t>01/12/2025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323E133-B311-53BB-EDA8-08E809A1D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81407" y="6564113"/>
            <a:ext cx="3372394" cy="365125"/>
          </a:xfrm>
        </p:spPr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6CB5DBB-6949-8A9B-B6B9-9C71B20CA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pPr marL="342900" indent="-342900"/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Adharsh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Pappinisseri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Veedu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0709" y="553386"/>
            <a:ext cx="1062010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Arial" pitchFamily="34" charset="0"/>
                <a:cs typeface="Arial" pitchFamily="34" charset="0"/>
              </a:rPr>
              <a:t>Bolt calculations</a:t>
            </a:r>
            <a:endParaRPr lang="en-US" sz="40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836023" y="1423851"/>
            <a:ext cx="4518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b="1" dirty="0"/>
              <a:t>Hydraulic Torque wrench for M36 bolts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083A8A9-6B54-CADE-12BE-3060FB0670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6084" y="1847445"/>
            <a:ext cx="2023349" cy="249957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3590" y="5055326"/>
            <a:ext cx="410907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Tx/>
              <a:buChar char="-"/>
            </a:pPr>
            <a:r>
              <a:rPr lang="en-US" sz="1600" dirty="0"/>
              <a:t> Tool specification ITH TYPE CX5 (SW 55)</a:t>
            </a:r>
          </a:p>
          <a:p>
            <a:pPr>
              <a:buFontTx/>
              <a:buChar char="-"/>
            </a:pPr>
            <a:endParaRPr lang="en-US" sz="1600" dirty="0"/>
          </a:p>
          <a:p>
            <a:pPr algn="l">
              <a:buFont typeface="Wingdings" pitchFamily="2" charset="2"/>
              <a:buChar char="§"/>
            </a:pPr>
            <a:r>
              <a:rPr lang="en-US" sz="1600" dirty="0"/>
              <a:t>Tool diameter D= 87 mm</a:t>
            </a:r>
          </a:p>
          <a:p>
            <a:pPr algn="l">
              <a:buFont typeface="Wingdings" pitchFamily="2" charset="2"/>
              <a:buChar char="§"/>
            </a:pPr>
            <a:r>
              <a:rPr lang="en-US" sz="1600" dirty="0"/>
              <a:t> T= 36 MM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63932" y="4532810"/>
            <a:ext cx="6479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dirty="0"/>
              <a:t>[1] ITH</a:t>
            </a:r>
          </a:p>
        </p:txBody>
      </p:sp>
      <p:pic>
        <p:nvPicPr>
          <p:cNvPr id="15" name="Picture 14" descr="Screenshot (52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9171" y="2767572"/>
            <a:ext cx="3439005" cy="1714739"/>
          </a:xfrm>
          <a:prstGeom prst="rect">
            <a:avLst/>
          </a:prstGeom>
        </p:spPr>
      </p:pic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923310" y="4836643"/>
          <a:ext cx="2573386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866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66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22.5 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60.79 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55 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315200" y="6021977"/>
            <a:ext cx="13814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dirty="0"/>
              <a:t>[2]  ITAFASTNER</a:t>
            </a:r>
          </a:p>
        </p:txBody>
      </p:sp>
    </p:spTree>
    <p:extLst>
      <p:ext uri="{BB962C8B-B14F-4D97-AF65-F5344CB8AC3E}">
        <p14:creationId xmlns:p14="http://schemas.microsoft.com/office/powerpoint/2010/main" val="1328401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87B13-A6D7-9DCF-6F19-72AA1A7E6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6198DB7-BA0B-B4BB-CC48-BDD78CD68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C6257-D954-4541-A20C-37FB7797A083}" type="datetime1">
              <a:rPr lang="en-GB" smtClean="0"/>
              <a:pPr/>
              <a:t>01/12/2025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323E133-B311-53BB-EDA8-08E809A1D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81407" y="6564113"/>
            <a:ext cx="3372394" cy="365125"/>
          </a:xfrm>
        </p:spPr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6CB5DBB-6949-8A9B-B6B9-9C71B20CA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pPr marL="342900" indent="-342900"/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Adharsh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Pappinisseri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Veedu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9896" y="1567543"/>
            <a:ext cx="10683502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1600" dirty="0"/>
              <a:t> For calculate no. of bolts we have taken d = Tool diameter (D)/2 + Width across corners (e)/2 + 1mm for clearance</a:t>
            </a:r>
          </a:p>
          <a:p>
            <a:r>
              <a:rPr lang="en-US" sz="1600" dirty="0"/>
              <a:t>                                                                      = 87/2 mm + 60.79/2 mm + 1 mm</a:t>
            </a:r>
          </a:p>
          <a:p>
            <a:r>
              <a:rPr lang="en-US" sz="1600" dirty="0"/>
              <a:t>                                                                    d </a:t>
            </a:r>
            <a:r>
              <a:rPr lang="en-US" sz="1600" b="1" dirty="0"/>
              <a:t>≈ </a:t>
            </a:r>
            <a:r>
              <a:rPr lang="en-US" sz="1600" dirty="0"/>
              <a:t>75 mm</a:t>
            </a:r>
          </a:p>
          <a:p>
            <a:pPr algn="l">
              <a:buFont typeface="Arial" pitchFamily="34" charset="0"/>
              <a:buChar char="•"/>
            </a:pPr>
            <a:endParaRPr lang="en-US" sz="1200" dirty="0"/>
          </a:p>
          <a:p>
            <a:pPr algn="l"/>
            <a:endParaRPr lang="en-US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927463" y="2847702"/>
            <a:ext cx="92752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*</a:t>
            </a:r>
            <a:r>
              <a:rPr lang="en-US" sz="1600" dirty="0"/>
              <a:t> No. of bolts in outer ring  (where outer BCD 3400 mm)  </a:t>
            </a:r>
            <a:r>
              <a:rPr lang="en-US" sz="1600" b="1" dirty="0"/>
              <a:t>N out </a:t>
            </a:r>
            <a:r>
              <a:rPr lang="en-US" sz="1600" dirty="0"/>
              <a:t>=  𝜋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/>
              <a:t>* 3400 mm / 75 mm = </a:t>
            </a:r>
            <a:r>
              <a:rPr lang="en-US" sz="1600" b="1" dirty="0"/>
              <a:t>142 bolts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6171" y="3470364"/>
            <a:ext cx="91262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*</a:t>
            </a:r>
            <a:r>
              <a:rPr lang="en-US" sz="1600" dirty="0"/>
              <a:t> No. of bolts in inner ring  (where outer BCD 2994 mm)  </a:t>
            </a:r>
            <a:r>
              <a:rPr lang="en-US" sz="1600" b="1" dirty="0"/>
              <a:t>N in </a:t>
            </a:r>
            <a:r>
              <a:rPr lang="en-US" sz="1600" dirty="0"/>
              <a:t>=  𝜋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/>
              <a:t>* 2994 mm / 75 mm = </a:t>
            </a:r>
            <a:r>
              <a:rPr lang="en-US" sz="1600" b="1" dirty="0"/>
              <a:t>125 bolts</a:t>
            </a:r>
          </a:p>
        </p:txBody>
      </p:sp>
    </p:spTree>
    <p:extLst>
      <p:ext uri="{BB962C8B-B14F-4D97-AF65-F5344CB8AC3E}">
        <p14:creationId xmlns:p14="http://schemas.microsoft.com/office/powerpoint/2010/main" val="1328401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87B13-A6D7-9DCF-6F19-72AA1A7E6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6198DB7-BA0B-B4BB-CC48-BDD78CD68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C6257-D954-4541-A20C-37FB7797A083}" type="datetime1">
              <a:rPr lang="en-GB" smtClean="0"/>
              <a:pPr/>
              <a:t>01/12/2025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323E133-B311-53BB-EDA8-08E809A1D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81407" y="6564113"/>
            <a:ext cx="3372394" cy="365125"/>
          </a:xfrm>
        </p:spPr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6CB5DBB-6949-8A9B-B6B9-9C71B20CA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pPr marL="342900" indent="-342900"/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Adharsh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Pappinisseri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Veedu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83772" y="0"/>
            <a:ext cx="10620102" cy="1132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 algn="ctr">
              <a:lnSpc>
                <a:spcPct val="200000"/>
              </a:lnSpc>
            </a:pPr>
            <a:r>
              <a:rPr lang="en-US" sz="4000" b="1" dirty="0">
                <a:latin typeface="Arial" pitchFamily="34" charset="0"/>
                <a:cs typeface="Arial" pitchFamily="34" charset="0"/>
              </a:rPr>
              <a:t>Additional flange design</a:t>
            </a:r>
          </a:p>
        </p:txBody>
      </p:sp>
      <p:pic>
        <p:nvPicPr>
          <p:cNvPr id="8" name="Picture 7" descr="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332" y="1414462"/>
            <a:ext cx="5042262" cy="3379607"/>
          </a:xfrm>
          <a:prstGeom prst="rect">
            <a:avLst/>
          </a:prstGeom>
        </p:spPr>
      </p:pic>
      <p:pic>
        <p:nvPicPr>
          <p:cNvPr id="9" name="Picture 8" descr="Screenshot (122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3417" y="1201781"/>
            <a:ext cx="5590904" cy="4572001"/>
          </a:xfrm>
          <a:prstGeom prst="rect">
            <a:avLst/>
          </a:prstGeom>
        </p:spPr>
      </p:pic>
      <p:cxnSp>
        <p:nvCxnSpPr>
          <p:cNvPr id="12" name="Straight Arrow Connector 11"/>
          <p:cNvCxnSpPr/>
          <p:nvPr/>
        </p:nvCxnSpPr>
        <p:spPr>
          <a:xfrm>
            <a:off x="5603966" y="1972491"/>
            <a:ext cx="1005840" cy="30044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65869" y="3095897"/>
            <a:ext cx="18222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/>
              <a:t>25  Holes for inspection of Bolts on inner ring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rot="5400000">
            <a:off x="7831183" y="4291150"/>
            <a:ext cx="1567544" cy="391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513909" y="5617028"/>
            <a:ext cx="40142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dirty="0"/>
              <a:t>Holes for  Bolt connection between Outer ring and Blade</a:t>
            </a:r>
          </a:p>
        </p:txBody>
      </p:sp>
      <p:cxnSp>
        <p:nvCxnSpPr>
          <p:cNvPr id="22" name="Straight Arrow Connector 21"/>
          <p:cNvCxnSpPr/>
          <p:nvPr/>
        </p:nvCxnSpPr>
        <p:spPr>
          <a:xfrm rot="5400000" flipH="1" flipV="1">
            <a:off x="6100354" y="4872446"/>
            <a:ext cx="888274" cy="7053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560320" y="4898571"/>
            <a:ext cx="9877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dirty="0"/>
              <a:t>Own sketch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9" y="5799908"/>
            <a:ext cx="10198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dirty="0"/>
              <a:t>Own Design</a:t>
            </a:r>
          </a:p>
        </p:txBody>
      </p:sp>
    </p:spTree>
    <p:extLst>
      <p:ext uri="{BB962C8B-B14F-4D97-AF65-F5344CB8AC3E}">
        <p14:creationId xmlns:p14="http://schemas.microsoft.com/office/powerpoint/2010/main" val="1328401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93ECDC6-00F8-3B55-5EDC-4B3A583253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07068"/>
                <a:ext cx="10515600" cy="4669896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sz="1800" b="1">
                    <a:latin typeface="Arial" panose="020B0604020202020204" pitchFamily="34" charset="0"/>
                    <a:cs typeface="Arial" panose="020B0604020202020204" pitchFamily="34" charset="0"/>
                  </a:rPr>
                  <a:t>Energy needed for one pitch operation</a:t>
                </a:r>
              </a:p>
              <a:p>
                <a:pPr marL="0" indent="0">
                  <a:buNone/>
                </a:pPr>
                <a:endParaRPr lang="en-US" sz="1800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As shown by the calculation in the previous weeks the energy needed for 1 pitch cycle is 900 Wh</a:t>
                </a:r>
              </a:p>
              <a:p>
                <a:pPr marL="0" indent="0">
                  <a:buNone/>
                </a:pPr>
                <a:endParaRPr lang="en-US" sz="18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sz="1800" b="1">
                    <a:latin typeface="Arial" panose="020B0604020202020204" pitchFamily="34" charset="0"/>
                    <a:cs typeface="Arial" panose="020B0604020202020204" pitchFamily="34" charset="0"/>
                  </a:rPr>
                  <a:t>Safety requirement: 5 independent emergency pitch cycles</a:t>
                </a:r>
                <a:endParaRPr lang="en-IN" sz="1800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IN" sz="1800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</a:rPr>
                        <m:t>900</m:t>
                      </m:r>
                      <m:r>
                        <m:rPr>
                          <m:nor/>
                        </m:rPr>
                        <a:rPr lang="en-US" sz="1800" i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180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Wh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4500</m:t>
                      </m:r>
                      <m:r>
                        <a:rPr lang="en-IN" sz="18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1800">
                          <a:latin typeface="Cambria Math" panose="02040503050406030204" pitchFamily="18" charset="0"/>
                        </a:rPr>
                        <m:t>Wh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1800" i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4.5 </m:t>
                      </m:r>
                      <m:r>
                        <m:rPr>
                          <m:nor/>
                        </m:rPr>
                        <a:rPr lang="en-I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Kwh</m:t>
                      </m:r>
                    </m:oMath>
                  </m:oMathPara>
                </a14:m>
                <a:endParaRPr lang="en-IN" sz="18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sz="18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sz="1800">
                    <a:latin typeface="Arial" panose="020B0604020202020204" pitchFamily="34" charset="0"/>
                    <a:cs typeface="Arial" panose="020B0604020202020204" pitchFamily="34" charset="0"/>
                  </a:rPr>
                  <a:t>Batteries cannot be discharged 100 % especially Lithium Phosphate batteries (usually 90 – 95 % usable)</a:t>
                </a:r>
              </a:p>
              <a:p>
                <a:pPr marL="0" indent="0">
                  <a:buNone/>
                </a:pPr>
                <a:endParaRPr lang="en-US" sz="18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ctr">
                  <a:buNone/>
                </a:pPr>
                <a:r>
                  <a:rPr lang="en-US" sz="1800">
                    <a:latin typeface="Arial" panose="020B0604020202020204" pitchFamily="34" charset="0"/>
                    <a:cs typeface="Arial" panose="020B0604020202020204" pitchFamily="34" charset="0"/>
                  </a:rPr>
                  <a:t>4.5 KWh/0.9 = 5 KWh</a:t>
                </a:r>
              </a:p>
              <a:p>
                <a:pPr marL="0" indent="0">
                  <a:buNone/>
                </a:pPr>
                <a:endParaRPr lang="en-US" sz="1800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sz="1800" b="1">
                    <a:latin typeface="Arial" panose="020B0604020202020204" pitchFamily="34" charset="0"/>
                    <a:cs typeface="Arial" panose="020B0604020202020204" pitchFamily="34" charset="0"/>
                  </a:rPr>
                  <a:t>Why this is critical for Syria?</a:t>
                </a:r>
              </a:p>
              <a:p>
                <a:pPr marL="285750" indent="-285750">
                  <a:buFont typeface="Wingdings" panose="05000000000000000000" pitchFamily="2" charset="2"/>
                  <a:buChar char="ü"/>
                </a:pPr>
                <a:r>
                  <a:rPr lang="en-US" sz="1800">
                    <a:latin typeface="Arial" panose="020B0604020202020204" pitchFamily="34" charset="0"/>
                    <a:cs typeface="Arial" panose="020B0604020202020204" pitchFamily="34" charset="0"/>
                  </a:rPr>
                  <a:t>Grid outrages are common</a:t>
                </a:r>
              </a:p>
              <a:p>
                <a:pPr marL="285750" indent="-285750">
                  <a:buFont typeface="Wingdings" panose="05000000000000000000" pitchFamily="2" charset="2"/>
                  <a:buChar char="ü"/>
                </a:pPr>
                <a:r>
                  <a:rPr lang="en-US" sz="1800">
                    <a:latin typeface="Arial" panose="020B0604020202020204" pitchFamily="34" charset="0"/>
                    <a:cs typeface="Arial" panose="020B0604020202020204" pitchFamily="34" charset="0"/>
                  </a:rPr>
                  <a:t>Voltage drops and instability</a:t>
                </a:r>
              </a:p>
              <a:p>
                <a:pPr marL="285750" indent="-285750">
                  <a:buFont typeface="Wingdings" panose="05000000000000000000" pitchFamily="2" charset="2"/>
                  <a:buChar char="ü"/>
                </a:pPr>
                <a:r>
                  <a:rPr lang="en-US" sz="1800">
                    <a:latin typeface="Arial" panose="020B0604020202020204" pitchFamily="34" charset="0"/>
                    <a:cs typeface="Arial" panose="020B0604020202020204" pitchFamily="34" charset="0"/>
                  </a:rPr>
                  <a:t>Extra energy margins improves reliability and safety</a:t>
                </a:r>
              </a:p>
              <a:p>
                <a:pPr marL="0" indent="0">
                  <a:buNone/>
                </a:pPr>
                <a:endParaRPr lang="en-US" sz="18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sz="18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sz="18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IN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93ECDC6-00F8-3B55-5EDC-4B3A583253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07068"/>
                <a:ext cx="10515600" cy="4669896"/>
              </a:xfrm>
              <a:blipFill>
                <a:blip r:embed="rId2"/>
                <a:stretch>
                  <a:fillRect l="-232" t="-15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0F70F532-C8F5-0C42-932A-88CAE6464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>
                <a:latin typeface="Arial" panose="020B0604020202020204" pitchFamily="34" charset="0"/>
                <a:cs typeface="Arial" panose="020B0604020202020204" pitchFamily="34" charset="0"/>
              </a:rPr>
              <a:t>Backup supply system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2709FE-82B3-B155-FE21-1B9246C2E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B449-9A05-47ED-ABE6-D776F3C0C66D}" type="datetime1">
              <a:rPr lang="en-GB" smtClean="0"/>
              <a:pPr/>
              <a:t>01/12/2025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382093-B388-03D8-4728-17408AD7C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Rotor Hub and Pitch System / Optimus Syria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3658B-1536-8F45-F99D-B62B203C6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F2A181E-8AEB-4952-B64B-AFBC503221D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5354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87B13-A6D7-9DCF-6F19-72AA1A7E6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67CCB-EACE-321E-4606-FC111405E2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N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en-IN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en-IN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en-IN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160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[3]                                                                                          [4]</a:t>
            </a:r>
          </a:p>
          <a:p>
            <a:pPr marL="0" indent="0">
              <a:buNone/>
            </a:pPr>
            <a:endParaRPr lang="en-IN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1600">
                <a:latin typeface="Arial" panose="020B0604020202020204" pitchFamily="34" charset="0"/>
                <a:cs typeface="Arial" panose="020B0604020202020204" pitchFamily="34" charset="0"/>
              </a:rPr>
              <a:t>We have Chosen the Liontron LX48-100 - 48V 100Ah and it offers 5120 Wh as per our energy needs.</a:t>
            </a:r>
          </a:p>
          <a:p>
            <a:pPr marL="0" indent="0">
              <a:buNone/>
            </a:pPr>
            <a:r>
              <a:rPr lang="en-IN" sz="1600">
                <a:latin typeface="Arial" panose="020B0604020202020204" pitchFamily="34" charset="0"/>
                <a:cs typeface="Arial" panose="020B0604020202020204" pitchFamily="34" charset="0"/>
              </a:rPr>
              <a:t>Discharge temperature - </a:t>
            </a:r>
            <a:r>
              <a:rPr lang="en-IN" sz="1600"/>
              <a:t>20 °C to +60 °C</a:t>
            </a:r>
          </a:p>
          <a:p>
            <a:pPr marL="0" indent="0">
              <a:buNone/>
            </a:pPr>
            <a:r>
              <a:rPr lang="en-IN" sz="1600">
                <a:latin typeface="Arial" panose="020B0604020202020204" pitchFamily="34" charset="0"/>
                <a:cs typeface="Arial" panose="020B0604020202020204" pitchFamily="34" charset="0"/>
              </a:rPr>
              <a:t>Storage temperature - </a:t>
            </a:r>
            <a:r>
              <a:rPr lang="en-IN" sz="1600"/>
              <a:t>-20 °C to +60 °C</a:t>
            </a:r>
          </a:p>
          <a:p>
            <a:pPr marL="0" indent="0">
              <a:buNone/>
            </a:pPr>
            <a:r>
              <a:rPr lang="en-IN" sz="1600">
                <a:latin typeface="Arial" panose="020B0604020202020204" pitchFamily="34" charset="0"/>
                <a:cs typeface="Arial" panose="020B0604020202020204" pitchFamily="34" charset="0"/>
              </a:rPr>
              <a:t>Max ambient temperature - </a:t>
            </a:r>
            <a:r>
              <a:rPr lang="en-IN" sz="1600"/>
              <a:t>+60 °C</a:t>
            </a:r>
          </a:p>
          <a:p>
            <a:pPr marL="0" indent="0">
              <a:buNone/>
            </a:pPr>
            <a:r>
              <a:rPr lang="en-IN" sz="1600">
                <a:latin typeface="Arial" panose="020B0604020202020204" pitchFamily="34" charset="0"/>
                <a:cs typeface="Arial" panose="020B0604020202020204" pitchFamily="34" charset="0"/>
              </a:rPr>
              <a:t>Weight - 43.6 Kg</a:t>
            </a:r>
          </a:p>
          <a:p>
            <a:pPr marL="0" indent="0">
              <a:buNone/>
            </a:pPr>
            <a:r>
              <a:rPr lang="en-IN" sz="1600">
                <a:latin typeface="Arial" panose="020B0604020202020204" pitchFamily="34" charset="0"/>
                <a:cs typeface="Arial" panose="020B0604020202020204" pitchFamily="34" charset="0"/>
              </a:rPr>
              <a:t>Dimensions – 618 * 430 * 133 ( L*W*H)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AAD404-05FF-9D7B-10E4-9766F5F7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>
                <a:latin typeface="Arial" panose="020B0604020202020204" pitchFamily="34" charset="0"/>
                <a:cs typeface="Arial" panose="020B0604020202020204" pitchFamily="34" charset="0"/>
              </a:rPr>
              <a:t>Backup Supply System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6198DB7-BA0B-B4BB-CC48-BDD78CD68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C6257-D954-4541-A20C-37FB7797A083}" type="datetime1">
              <a:rPr lang="en-GB" smtClean="0"/>
              <a:pPr/>
              <a:t>01/12/2025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323E133-B311-53BB-EDA8-08E809A1D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6CB5DBB-6949-8A9B-B6B9-9C71B20CA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pPr marL="342900" indent="-342900"/>
            <a:r>
              <a:rPr lang="en-US" sz="1400">
                <a:latin typeface="Times New Roman" pitchFamily="18" charset="0"/>
                <a:cs typeface="Times New Roman" pitchFamily="18" charset="0"/>
              </a:rPr>
              <a:t>Sikandar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Content Placeholder 8">
            <a:extLst>
              <a:ext uri="{FF2B5EF4-FFF2-40B4-BE49-F238E27FC236}">
                <a16:creationId xmlns:a16="http://schemas.microsoft.com/office/drawing/2014/main" id="{59174FE6-5338-3E28-FB5A-2368A70B1F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6588" y="1533414"/>
            <a:ext cx="2141500" cy="146924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4D1F35F-4579-CDC6-C950-6D44CACA10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0600" y="1409419"/>
            <a:ext cx="1989099" cy="171724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79389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87B13-A6D7-9DCF-6F19-72AA1A7E6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78D6C-3094-6462-C481-C27BC35BB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5533"/>
            <a:ext cx="10413606" cy="458522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1600"/>
          </a:p>
          <a:p>
            <a:pPr marL="0" indent="0">
              <a:buNone/>
            </a:pPr>
            <a:endParaRPr lang="en-IN" sz="1600"/>
          </a:p>
          <a:p>
            <a:pPr marL="0" indent="0">
              <a:buNone/>
            </a:pPr>
            <a:r>
              <a:rPr lang="en-IN" sz="1600"/>
              <a:t>We chose the </a:t>
            </a:r>
            <a:r>
              <a:rPr lang="fr-FR" sz="1600"/>
              <a:t>Victron MultiPlus-II 48V 3000VA inverter for the following </a:t>
            </a:r>
          </a:p>
          <a:p>
            <a:pPr marL="0" indent="0">
              <a:buNone/>
            </a:pPr>
            <a:r>
              <a:rPr lang="fr-FR" sz="1600"/>
              <a:t>reasons</a:t>
            </a:r>
            <a:r>
              <a:rPr lang="en-IN" sz="1600"/>
              <a:t>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1600"/>
              <a:t>Battery nominal voltage (51.2V) matches inverter input rating (48V)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1600"/>
              <a:t>Inverter supports Configurable battery type and LiFePO</a:t>
            </a:r>
            <a:r>
              <a:rPr lang="en-IN" sz="1600">
                <a:latin typeface="Arial" panose="020B0604020202020204" pitchFamily="34" charset="0"/>
                <a:cs typeface="Arial" panose="020B0604020202020204" pitchFamily="34" charset="0"/>
              </a:rPr>
              <a:t>4 Charge profile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1600">
                <a:latin typeface="Arial" panose="020B0604020202020204" pitchFamily="34" charset="0"/>
                <a:cs typeface="Arial" panose="020B0604020202020204" pitchFamily="34" charset="0"/>
              </a:rPr>
              <a:t>Battery capacity (100 Ah) can be safely charged by the inverter ( Charger capable of 30 – 70 A)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1600">
                <a:latin typeface="Arial" panose="020B0604020202020204" pitchFamily="34" charset="0"/>
                <a:cs typeface="Arial" panose="020B0604020202020204" pitchFamily="34" charset="0"/>
              </a:rPr>
              <a:t>It works with 48 V battery bank and provides AC output for loads or backup system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IN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IN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160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                                                                    [5]</a:t>
            </a:r>
          </a:p>
          <a:p>
            <a:pPr marL="0" indent="0">
              <a:buNone/>
            </a:pPr>
            <a:endParaRPr lang="en-IN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N" sz="16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291388-36B2-E140-5DF7-FE7E610CF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>
                <a:latin typeface="Arial" panose="020B0604020202020204" pitchFamily="34" charset="0"/>
                <a:cs typeface="Arial" panose="020B0604020202020204" pitchFamily="34" charset="0"/>
              </a:rPr>
              <a:t>Backup Supply System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6198DB7-BA0B-B4BB-CC48-BDD78CD68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C6257-D954-4541-A20C-37FB7797A083}" type="datetime1">
              <a:rPr lang="en-GB" smtClean="0"/>
              <a:pPr/>
              <a:t>01/12/2025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323E133-B311-53BB-EDA8-08E809A1D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6CB5DBB-6949-8A9B-B6B9-9C71B20CA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pPr marL="342900" indent="-342900"/>
            <a:r>
              <a:rPr lang="en-US" sz="1400">
                <a:latin typeface="Times New Roman" pitchFamily="18" charset="0"/>
                <a:cs typeface="Times New Roman" pitchFamily="18" charset="0"/>
              </a:rPr>
              <a:t>Sikandar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42E1E3D-A47C-BF14-EB0F-C1F896E833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1676" y="2723642"/>
            <a:ext cx="1788576" cy="234416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utoShape 4">
            <a:extLst>
              <a:ext uri="{FF2B5EF4-FFF2-40B4-BE49-F238E27FC236}">
                <a16:creationId xmlns:a16="http://schemas.microsoft.com/office/drawing/2014/main" id="{AE19FAC2-4B1B-D781-D8F1-B9B4F79213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AutoShape 8">
            <a:extLst>
              <a:ext uri="{FF2B5EF4-FFF2-40B4-BE49-F238E27FC236}">
                <a16:creationId xmlns:a16="http://schemas.microsoft.com/office/drawing/2014/main" id="{838CD659-7AF0-19F2-6724-0046AADF2A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8382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5EF7870D-037A-B141-E525-04E4260E2D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644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E4E1ABF-9473-5991-FE42-6F27FC73D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IN">
                <a:latin typeface="Arial" panose="020B0604020202020204" pitchFamily="34" charset="0"/>
                <a:cs typeface="Arial" panose="020B0604020202020204" pitchFamily="34" charset="0"/>
              </a:rPr>
              <a:t>CAD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Model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B4931-7C4F-24A9-70A2-294807877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B449-9A05-47ED-ABE6-D776F3C0C66D}" type="datetime1">
              <a:rPr lang="en-GB" smtClean="0"/>
              <a:pPr/>
              <a:t>01/12/2025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7C156C-1258-D67E-E8C1-EDAE09098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Rotor Hub and Pitch System / Optimus Syria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839ED-EB78-CC06-BE17-EA3853313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83CA46F-828B-A796-729F-FB3EF315CF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AA7621-80F6-655E-0AC9-7E86A00E242D}"/>
              </a:ext>
            </a:extLst>
          </p:cNvPr>
          <p:cNvSpPr txBox="1"/>
          <p:nvPr/>
        </p:nvSpPr>
        <p:spPr>
          <a:xfrm>
            <a:off x="562992" y="1325563"/>
            <a:ext cx="8188729" cy="1239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3200" b="1" dirty="0"/>
              <a:t>Motor</a:t>
            </a:r>
            <a:r>
              <a:rPr lang="en-IN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: </a:t>
            </a:r>
            <a:endParaRPr lang="en-IN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0" marR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endParaRPr lang="en-IN" sz="1400" b="1" kern="1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/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A7FEF8-66AE-4476-96ED-B4E51C3952D9}"/>
              </a:ext>
            </a:extLst>
          </p:cNvPr>
          <p:cNvSpPr txBox="1"/>
          <p:nvPr/>
        </p:nvSpPr>
        <p:spPr>
          <a:xfrm>
            <a:off x="1047388" y="4583675"/>
            <a:ext cx="381739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Dimensions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Net Depth / Length: 822 mm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Net Height: 528 mm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Net Width: 413 mm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Net Weight: 304 kg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Gross Weight: 314 kg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60DA77-547C-4BAB-8828-522BE49818A4}"/>
              </a:ext>
            </a:extLst>
          </p:cNvPr>
          <p:cNvSpPr txBox="1"/>
          <p:nvPr/>
        </p:nvSpPr>
        <p:spPr>
          <a:xfrm>
            <a:off x="10626571" y="5388746"/>
            <a:ext cx="2130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chemeClr val="bg1"/>
                </a:solidFill>
              </a:rPr>
              <a:t>1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494337-28B3-4F61-8722-01FC59A898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788" t="17956" r="9682" b="6497"/>
          <a:stretch/>
        </p:blipFill>
        <p:spPr>
          <a:xfrm>
            <a:off x="738389" y="2066747"/>
            <a:ext cx="3351320" cy="2337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163CBC3-ED44-4FEC-BCD9-3262D0F84E65}"/>
              </a:ext>
            </a:extLst>
          </p:cNvPr>
          <p:cNvSpPr txBox="1"/>
          <p:nvPr/>
        </p:nvSpPr>
        <p:spPr>
          <a:xfrm>
            <a:off x="6296908" y="4603916"/>
            <a:ext cx="2897541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Voltage (Uin): 400 V</a:t>
            </a:r>
          </a:p>
          <a:p>
            <a:r>
              <a:rPr lang="nl-NL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Power: 22 kW</a:t>
            </a:r>
          </a:p>
          <a:p>
            <a:r>
              <a:rPr lang="nl-NL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Torque : 210 Nm</a:t>
            </a:r>
          </a:p>
          <a:p>
            <a:r>
              <a:rPr lang="nl-NL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 Size: 200 IEC</a:t>
            </a:r>
          </a:p>
          <a:p>
            <a:r>
              <a:rPr lang="nl-NL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 Material:Cast Iron</a:t>
            </a:r>
          </a:p>
          <a:p>
            <a:endParaRPr lang="nl-NL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089221A-54AF-4E1B-82D8-E520C2904746}"/>
              </a:ext>
            </a:extLst>
          </p:cNvPr>
          <p:cNvPicPr/>
          <p:nvPr/>
        </p:nvPicPr>
        <p:blipFill rotWithShape="1">
          <a:blip r:embed="rId3"/>
          <a:srcRect t="24503"/>
          <a:stretch/>
        </p:blipFill>
        <p:spPr>
          <a:xfrm>
            <a:off x="5747590" y="2270615"/>
            <a:ext cx="4878981" cy="1779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9044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3DB8106-F4C0-B30F-4E4C-C94AA1BAB7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849" y="1221750"/>
            <a:ext cx="10915834" cy="5223437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kumimoji="0" lang="en-IN" sz="1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3200" b="1" dirty="0"/>
              <a:t>Gear box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endParaRPr lang="en-US" sz="3200" b="1" dirty="0"/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endParaRPr lang="en-US" sz="3200" dirty="0"/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endParaRPr lang="en-US" sz="1600" dirty="0"/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endParaRPr lang="en-US" sz="1600" dirty="0"/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endParaRPr lang="en-US" sz="1600" dirty="0"/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endParaRPr lang="en-US" sz="1600" dirty="0"/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endParaRPr lang="en-US" sz="1600" dirty="0"/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sz="1600" dirty="0"/>
              <a:t>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endParaRPr lang="en-US" sz="1600" dirty="0"/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dirty="0"/>
              <a:t>	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125754-5C80-D153-4ADE-D11FEC3CD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B449-9A05-47ED-ABE6-D776F3C0C66D}" type="datetime1">
              <a:rPr lang="en-GB" smtClean="0"/>
              <a:pPr/>
              <a:t>01/12/2025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C9CDFE-76AC-D841-E463-893AA30A1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Rotor Hub and Pitch System / Optimus Syria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DF621F-7142-32B9-AEF4-D5BDEA905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10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CCC4BCF-4906-6550-7513-0A816BCF323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6C8821-0D30-4918-93CB-438A7B148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5725" y="2458833"/>
            <a:ext cx="1940375" cy="31774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678A81C-E6D0-41E0-8101-7E5AC4B2FC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8479" y="2179138"/>
            <a:ext cx="1940375" cy="345711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0FC4B54-6119-42B3-A110-05DFAF0B2A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811" y="2063895"/>
            <a:ext cx="3476347" cy="221056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4B5894A-5CCF-4577-885A-C99A5DF29BC7}"/>
              </a:ext>
            </a:extLst>
          </p:cNvPr>
          <p:cNvSpPr txBox="1"/>
          <p:nvPr/>
        </p:nvSpPr>
        <p:spPr>
          <a:xfrm>
            <a:off x="656711" y="4502668"/>
            <a:ext cx="3808520" cy="1942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defRPr/>
            </a:pPr>
            <a:r>
              <a:rPr lang="en-US" sz="1400" dirty="0"/>
              <a:t>Required peak pinion torque: 61.5 </a:t>
            </a:r>
            <a:r>
              <a:rPr lang="en-US" sz="1400" dirty="0" err="1"/>
              <a:t>KNm</a:t>
            </a:r>
            <a:r>
              <a:rPr lang="en-US" sz="1400" dirty="0"/>
              <a:t> .</a:t>
            </a:r>
          </a:p>
          <a:p>
            <a:pPr>
              <a:lnSpc>
                <a:spcPct val="107000"/>
              </a:lnSpc>
              <a:spcAft>
                <a:spcPts val="800"/>
              </a:spcAft>
              <a:defRPr/>
            </a:pPr>
            <a:r>
              <a:rPr lang="en-US" sz="1400" dirty="0"/>
              <a:t> 711 TW with 80,000 Nm range</a:t>
            </a:r>
          </a:p>
          <a:p>
            <a:pPr>
              <a:lnSpc>
                <a:spcPct val="107000"/>
              </a:lnSpc>
              <a:spcAft>
                <a:spcPts val="800"/>
              </a:spcAft>
              <a:defRPr/>
            </a:pPr>
            <a:r>
              <a:rPr lang="en-US" sz="1400" dirty="0"/>
              <a:t> 3 stage planetary Gearbox</a:t>
            </a:r>
          </a:p>
          <a:p>
            <a:pPr>
              <a:lnSpc>
                <a:spcPct val="107000"/>
              </a:lnSpc>
              <a:spcAft>
                <a:spcPts val="800"/>
              </a:spcAft>
              <a:defRPr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Product Net Weight: 304 kg</a:t>
            </a:r>
          </a:p>
          <a:p>
            <a:pPr>
              <a:lnSpc>
                <a:spcPct val="107000"/>
              </a:lnSpc>
              <a:spcAft>
                <a:spcPts val="800"/>
              </a:spcAft>
              <a:defRPr/>
            </a:pPr>
            <a:r>
              <a:rPr lang="nl-NL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20MnCr5 is a case hardening alloy steel</a:t>
            </a:r>
          </a:p>
          <a:p>
            <a:pPr algn="l"/>
            <a:endParaRPr 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42439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3DB8106-F4C0-B30F-4E4C-C94AA1BAB7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2570"/>
            <a:ext cx="8953870" cy="4884191"/>
          </a:xfrm>
        </p:spPr>
        <p:txBody>
          <a:bodyPr/>
          <a:lstStyle/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kumimoji="0" lang="en-IN" sz="1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3200" b="1" kern="1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Drive Assembly </a:t>
            </a:r>
            <a:endParaRPr lang="en-US" sz="3200" dirty="0"/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sz="1600" dirty="0"/>
              <a:t> </a:t>
            </a:r>
            <a:endParaRPr lang="en-IN" sz="1400" kern="100" dirty="0">
              <a:solidFill>
                <a:prstClr val="black"/>
              </a:solidFill>
              <a:latin typeface="Calibri" panose="020F0502020204030204" pitchFamily="34" charset="0"/>
              <a:cs typeface="Mangal" panose="02040503050203030202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125754-5C80-D153-4ADE-D11FEC3CD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B449-9A05-47ED-ABE6-D776F3C0C66D}" type="datetime1">
              <a:rPr lang="en-GB" smtClean="0"/>
              <a:pPr/>
              <a:t>01/12/2025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C9CDFE-76AC-D841-E463-893AA30A1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Rotor Hub and Pitch System / Optimus Syria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DF621F-7142-32B9-AEF4-D5BDEA905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11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CCC4BCF-4906-6550-7513-0A816BCF323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397F2F-5F8F-493D-A25F-AEB85F89D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4767" y="2190461"/>
            <a:ext cx="3655010" cy="34084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45DA092-BC10-4838-8E1F-A92990E7127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788" t="17956" r="9682" b="6497"/>
          <a:stretch/>
        </p:blipFill>
        <p:spPr>
          <a:xfrm>
            <a:off x="4848180" y="3284867"/>
            <a:ext cx="2495640" cy="17406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6BE0A54-1001-4401-BDAA-43DE4554B8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941" y="3104006"/>
            <a:ext cx="2781978" cy="2102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078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CB6ED1-18E3-9640-3D93-84F8B0B15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Bibliography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853A4-1968-0FCD-18F0-DEA78504D7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/>
            <a:endParaRPr lang="en-IN" dirty="0">
              <a:latin typeface="Arial" panose="020B0604020202020204" pitchFamily="34" charset="0"/>
              <a:cs typeface="Arial" panose="020B0604020202020204" pitchFamily="34" charset="0"/>
              <a:hlinkClick r:id="rId2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ITH. (</a:t>
            </a:r>
            <a:r>
              <a:rPr lang="en-US" dirty="0" err="1"/>
              <a:t>n.d</a:t>
            </a:r>
            <a:r>
              <a:rPr lang="en-US" dirty="0"/>
              <a:t>.). ITH Hydraulic Torque Wrenches Catalog. Retrieved November 27, 2025, from </a:t>
            </a:r>
            <a:r>
              <a:rPr lang="en-US" dirty="0">
                <a:hlinkClick r:id="rId3"/>
              </a:rPr>
              <a:t>www.ITH.de/schraubwerkzeuge/hydraulische-drehmomentschrauber</a:t>
            </a:r>
            <a:r>
              <a:rPr lang="en-US" dirty="0"/>
              <a:t> [27.11.2025]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ITA BOLTS </a:t>
            </a:r>
            <a:r>
              <a:rPr lang="en-US" dirty="0">
                <a:hlinkClick r:id="rId4"/>
              </a:rPr>
              <a:t>https://itafasteners.com/products-bolts-hex-head-anchor-bolts.php</a:t>
            </a:r>
            <a:r>
              <a:rPr lang="en-US" dirty="0"/>
              <a:t> </a:t>
            </a:r>
            <a:r>
              <a:rPr lang="en-US"/>
              <a:t>[27.11.2025  ]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 Manual </a:t>
            </a:r>
            <a:r>
              <a:rPr lang="en-US">
                <a:hlinkClick r:id="rId5"/>
              </a:rPr>
              <a:t>https://liontron.com/download/german/list_LIONTRON-Datenblatt_LX48-100-1.pdf</a:t>
            </a:r>
            <a:r>
              <a:rPr lang="en-US"/>
              <a:t> [25.11.25]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Inverter </a:t>
            </a:r>
            <a:r>
              <a:rPr lang="en-US">
                <a:hlinkClick r:id="rId6"/>
              </a:rPr>
              <a:t>https://www.victronenergy.com/upload/documents/Manual-MultiPlus-II-48V-3k,-5k,-8k,-10k-15k-230V-(AUS)-EN--(P).pdf</a:t>
            </a:r>
            <a:r>
              <a:rPr lang="en-US"/>
              <a:t> [26.11.25]</a:t>
            </a:r>
          </a:p>
          <a:p>
            <a:pPr marL="342900" indent="-342900">
              <a:buFont typeface="+mj-lt"/>
              <a:buAutoNum type="arabicPeriod"/>
            </a:pPr>
            <a:endParaRPr lang="en-US"/>
          </a:p>
          <a:p>
            <a:pPr marL="342900" indent="-342900">
              <a:buFont typeface="+mj-lt"/>
              <a:buAutoNum type="arabicPeriod"/>
            </a:pPr>
            <a:endParaRPr lang="en-US"/>
          </a:p>
          <a:p>
            <a:pPr marL="342900" indent="-342900">
              <a:buFont typeface="+mj-lt"/>
              <a:buAutoNum type="arabicPeriod"/>
            </a:pPr>
            <a:endParaRPr lang="en-US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endParaRPr lang="en-US" dirty="0"/>
          </a:p>
          <a:p>
            <a:endParaRPr lang="en-US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0D8ED35-2E13-75BD-2A2E-AC637478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92ABB-B105-4A5A-A207-EB1AE7E4FBD2}" type="datetime1">
              <a:rPr lang="en-GB" smtClean="0"/>
              <a:pPr/>
              <a:t>01/12/2025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0055318-CDFF-2436-5D76-D30CE5CB6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62673D2-F682-F630-F59F-C4FFF6A90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12</a:t>
            </a:fld>
            <a:endParaRPr lang="en-GB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61244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3" id="{489382AE-0E20-4DDB-AC58-6881343BCB06}" vid="{12EB4CDA-A9DA-4F07-A373-8B888615A8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3" id="{489382AE-0E20-4DDB-AC58-6881343BCB06}" vid="{BC3BCC29-301C-4D70-A384-97DBC337907C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CD039B6-C6AB-492A-94BF-C46AF895D2E7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3D784B2-E216-4A14-BE4B-F0CA301E2B20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Presentation template_final</Template>
  <TotalTime>1164</TotalTime>
  <Words>823</Words>
  <Application>Microsoft Office PowerPoint</Application>
  <PresentationFormat>Widescreen</PresentationFormat>
  <Paragraphs>180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12</vt:i4>
      </vt:variant>
    </vt:vector>
  </HeadingPairs>
  <TitlesOfParts>
    <vt:vector size="24" baseType="lpstr">
      <vt:lpstr>Aptos</vt:lpstr>
      <vt:lpstr>Aptos (Textkörper)</vt:lpstr>
      <vt:lpstr>Aptos Display</vt:lpstr>
      <vt:lpstr>Arial</vt:lpstr>
      <vt:lpstr>Calibri</vt:lpstr>
      <vt:lpstr>Calibri Light</vt:lpstr>
      <vt:lpstr>Cambria Math</vt:lpstr>
      <vt:lpstr>Times New Roman</vt:lpstr>
      <vt:lpstr>Wingdings</vt:lpstr>
      <vt:lpstr>Office</vt:lpstr>
      <vt:lpstr>Custom Design</vt:lpstr>
      <vt:lpstr>Benutzerdefiniertes Design</vt:lpstr>
      <vt:lpstr>Rotor Hub And Pitch System</vt:lpstr>
      <vt:lpstr>List of contents </vt:lpstr>
      <vt:lpstr>PowerPoint Presentation</vt:lpstr>
      <vt:lpstr>PowerPoint Presentation</vt:lpstr>
      <vt:lpstr>PowerPoint Presentation</vt:lpstr>
      <vt:lpstr>Backup supply system</vt:lpstr>
      <vt:lpstr>Backup Supply System</vt:lpstr>
      <vt:lpstr>Backup Supply System</vt:lpstr>
      <vt:lpstr>CAD Model </vt:lpstr>
      <vt:lpstr>PowerPoint Presentation</vt:lpstr>
      <vt:lpstr>PowerPoint Presentation</vt:lpstr>
      <vt:lpstr>Bibliography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Rotor Hub And Pitch System</dc:title>
  <dc:creator>harsh panchal</dc:creator>
  <cp:lastModifiedBy>S m Sikandar</cp:lastModifiedBy>
  <cp:revision>67</cp:revision>
  <dcterms:created xsi:type="dcterms:W3CDTF">2025-10-02T13:56:12Z</dcterms:created>
  <dcterms:modified xsi:type="dcterms:W3CDTF">2025-12-01T10:32:43Z</dcterms:modified>
</cp:coreProperties>
</file>