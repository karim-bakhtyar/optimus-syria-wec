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14"/>
  </p:notesMasterIdLst>
  <p:sldIdLst>
    <p:sldId id="256" r:id="rId4"/>
    <p:sldId id="259" r:id="rId5"/>
    <p:sldId id="280" r:id="rId6"/>
    <p:sldId id="268" r:id="rId7"/>
    <p:sldId id="281" r:id="rId8"/>
    <p:sldId id="282" r:id="rId9"/>
    <p:sldId id="283" r:id="rId10"/>
    <p:sldId id="277" r:id="rId11"/>
    <p:sldId id="284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80"/>
            <p14:sldId id="268"/>
            <p14:sldId id="281"/>
            <p14:sldId id="282"/>
            <p14:sldId id="283"/>
            <p14:sldId id="277"/>
            <p14:sldId id="284"/>
            <p14:sldId id="285"/>
          </p14:sldIdLst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0D2F7"/>
    <a:srgbClr val="8ECEFA"/>
    <a:srgbClr val="92C6E6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64714F-E997-EB76-2CF2-AFD61BB53788}" v="169" dt="2025-12-01T15:29:38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4" autoAdjust="0"/>
    <p:restoredTop sz="80528" autoAdjust="0"/>
  </p:normalViewPr>
  <p:slideViewPr>
    <p:cSldViewPr snapToGrid="0">
      <p:cViewPr varScale="1">
        <p:scale>
          <a:sx n="78" d="100"/>
          <a:sy n="78" d="100"/>
        </p:scale>
        <p:origin x="192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678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803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60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3567-945C-EAF4-1018-813BBC5C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1601874-15A5-189E-3377-14F24866B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31E68A-55E6-D4F6-EA6B-FB20BDA53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D41BD7-F59F-F392-1DAA-14B4E0670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755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E46C-0E82-1D5A-2746-6B41CD7A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3814849-14D4-4C57-E1F2-C8CFDDB5A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26D01E3-4EDA-8E06-F0F0-FF75B1A09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5B6BA6-2D27-7BB2-2E67-9E395A56A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217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7F56C-4DD1-0DF2-CBAC-6F874A71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4AF2C97-5D48-5702-689E-622E29EEE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DDF980D-D903-7FB7-95B6-6F92CED58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161E5D-5CEE-509D-26F6-F81FB28F6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98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460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6FA2D-E975-A8AC-6425-D0374B65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207F6-0F53-6042-599A-D1F8E76DC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8E04A-D324-99E4-5A21-7EF05F1BE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references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DCE00-6F17-88D7-F83D-F857C93BC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393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0A9F1-071B-F0F7-D636-A5E9D201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3F304-D4CF-20E3-E187-2AB1737F9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9401C-EB8B-707A-F5DE-145D59A5C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references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DDCDE-10D7-31D5-38CD-36E9FA668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704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7958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673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7331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3069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5504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4202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3370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7692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0786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7826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12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33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996-1073/14/9/2556?utm_sourc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yrianrenewabl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/>
              <a:t>Weekly report: </a:t>
            </a:r>
            <a:r>
              <a:rPr lang="en-US" altLang="it-IT" sz="4000" dirty="0"/>
              <a:t>Storage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7945" y="3429000"/>
            <a:ext cx="8987425" cy="19167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dirty="0"/>
              <a:t>10th week – </a:t>
            </a:r>
            <a:r>
              <a:rPr lang="ar-EG" altLang="it-IT" sz="2000" dirty="0">
                <a:cs typeface="Arial"/>
              </a:rPr>
              <a:t>11</a:t>
            </a:r>
            <a:r>
              <a:rPr lang="it-IT" sz="2000" dirty="0" err="1"/>
              <a:t>th</a:t>
            </a:r>
            <a:r>
              <a:rPr lang="it-IT" sz="2000" dirty="0"/>
              <a:t> Presentation</a:t>
            </a:r>
          </a:p>
          <a:p>
            <a:r>
              <a:rPr lang="it-IT" sz="2000" dirty="0"/>
              <a:t>Date: </a:t>
            </a:r>
            <a:r>
              <a:rPr lang="ar-EG" altLang="it-IT" sz="2000" dirty="0">
                <a:cs typeface="Arial"/>
              </a:rPr>
              <a:t> 02</a:t>
            </a:r>
            <a:r>
              <a:rPr lang="it-IT" sz="2000" dirty="0"/>
              <a:t>/</a:t>
            </a:r>
            <a:r>
              <a:rPr lang="en-US" altLang="it-IT" sz="2000" dirty="0"/>
              <a:t>12</a:t>
            </a:r>
            <a:r>
              <a:rPr lang="it-IT" sz="2000" dirty="0"/>
              <a:t>/2025</a:t>
            </a:r>
          </a:p>
          <a:p>
            <a:r>
              <a:rPr lang="it-IT" sz="2000" dirty="0"/>
              <a:t>Supervisor: Dr. </a:t>
            </a:r>
            <a:r>
              <a:rPr lang="en-US" sz="2000" dirty="0"/>
              <a:t>Laurence </a:t>
            </a:r>
            <a:r>
              <a:rPr lang="en-US" sz="2000" err="1"/>
              <a:t>Alhrshy</a:t>
            </a:r>
            <a:endParaRPr lang="en-US" sz="2000"/>
          </a:p>
          <a:p>
            <a:endParaRPr lang="en-US" sz="2000" dirty="0"/>
          </a:p>
        </p:txBody>
      </p:sp>
      <p:pic>
        <p:nvPicPr>
          <p:cNvPr id="8" name="Picture 8" descr="Hochschule Flensburg (Fachhochschule) –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2454216" y="4609664"/>
            <a:ext cx="737067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ar-EG" dirty="0" err="1">
                <a:ea typeface="+mn-lt"/>
                <a:cs typeface="+mn-lt"/>
              </a:rPr>
              <a:t>Group</a:t>
            </a:r>
            <a:r>
              <a:rPr lang="ar-EG" dirty="0">
                <a:ea typeface="+mn-lt"/>
                <a:cs typeface="+mn-lt"/>
              </a:rPr>
              <a:t> </a:t>
            </a:r>
            <a:r>
              <a:rPr lang="ar-EG" dirty="0" err="1">
                <a:ea typeface="+mn-lt"/>
                <a:cs typeface="+mn-lt"/>
              </a:rPr>
              <a:t>members</a:t>
            </a:r>
            <a:r>
              <a:rPr lang="ar-EG" dirty="0">
                <a:ea typeface="+mn-lt"/>
                <a:cs typeface="+mn-lt"/>
              </a:rPr>
              <a:t> : </a:t>
            </a:r>
            <a:r>
              <a:rPr lang="ar-EG" dirty="0" err="1">
                <a:ea typeface="+mn-lt"/>
                <a:cs typeface="+mn-lt"/>
              </a:rPr>
              <a:t>Dr</a:t>
            </a:r>
            <a:r>
              <a:rPr lang="ar-EG" dirty="0">
                <a:ea typeface="+mn-lt"/>
                <a:cs typeface="+mn-lt"/>
              </a:rPr>
              <a:t>. </a:t>
            </a:r>
            <a:r>
              <a:rPr lang="ar-EG" dirty="0" err="1">
                <a:ea typeface="+mn-lt"/>
                <a:cs typeface="+mn-lt"/>
              </a:rPr>
              <a:t>Doha</a:t>
            </a:r>
            <a:r>
              <a:rPr lang="ar-EG" dirty="0">
                <a:ea typeface="+mn-lt"/>
                <a:cs typeface="+mn-lt"/>
              </a:rPr>
              <a:t> </a:t>
            </a:r>
            <a:r>
              <a:rPr lang="ar-EG" dirty="0" err="1">
                <a:ea typeface="+mn-lt"/>
                <a:cs typeface="+mn-lt"/>
              </a:rPr>
              <a:t>Khaled</a:t>
            </a:r>
            <a:r>
              <a:rPr lang="ar-EG" dirty="0">
                <a:ea typeface="+mn-lt"/>
                <a:cs typeface="+mn-lt"/>
              </a:rPr>
              <a:t> </a:t>
            </a:r>
            <a:r>
              <a:rPr lang="ar-EG" dirty="0" err="1">
                <a:ea typeface="+mn-lt"/>
                <a:cs typeface="+mn-lt"/>
              </a:rPr>
              <a:t>Jdeed</a:t>
            </a:r>
            <a:r>
              <a:rPr lang="ar-EG" dirty="0">
                <a:ea typeface="+mn-lt"/>
                <a:cs typeface="+mn-lt"/>
              </a:rPr>
              <a:t> </a:t>
            </a:r>
            <a:r>
              <a:rPr lang="ar-EG" dirty="0">
                <a:cs typeface="Arial"/>
              </a:rPr>
              <a:t> , </a:t>
            </a:r>
            <a:r>
              <a:rPr lang="en-US" altLang="de-DE" dirty="0"/>
              <a:t>Mohamed Ahmed</a:t>
            </a:r>
            <a:endParaRPr lang="en-US"/>
          </a:p>
        </p:txBody>
      </p:sp>
      <p:sp>
        <p:nvSpPr>
          <p:cNvPr id="34" name="Free-form: Shape 13"/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/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/>
          <p:cNvSpPr/>
          <p:nvPr/>
        </p:nvSpPr>
        <p:spPr>
          <a:xfrm>
            <a:off x="31410" y="5935177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698" y="5340555"/>
            <a:ext cx="1753782" cy="13136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77213" y="6492562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9979" y="6552895"/>
            <a:ext cx="973343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02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370557" y="1580671"/>
            <a:ext cx="11332845" cy="43042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800" dirty="0">
                <a:solidFill>
                  <a:srgbClr val="FF0000"/>
                </a:solidFill>
              </a:rPr>
              <a:t>Content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br>
              <a:rPr lang="ar-EG" dirty="0"/>
            </a:br>
            <a:endParaRPr lang="it-IT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ea typeface="+mn-lt"/>
                <a:cs typeface="+mn-lt"/>
              </a:rPr>
              <a:t>Why use Simulink</a:t>
            </a:r>
            <a:endParaRPr lang="en-GB" sz="2400" b="1">
              <a:latin typeface="Arial"/>
              <a:cs typeface="Arial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/>
                <a:ea typeface="+mn-lt"/>
                <a:cs typeface="+mn-lt"/>
              </a:rPr>
              <a:t>Simulink Model</a:t>
            </a:r>
            <a:endParaRPr lang="en-GB" sz="2400" b="1">
              <a:latin typeface="Arial"/>
              <a:cs typeface="Arial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Simulation Scenarios</a:t>
            </a:r>
            <a:endParaRPr lang="en-US" altLang="en-US" sz="2400" b="1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/>
              <a:t>References</a:t>
            </a:r>
            <a:endParaRPr lang="en-US" sz="2400" dirty="0"/>
          </a:p>
          <a:p>
            <a:endParaRPr lang="it-IT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02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BD0EF25-9C31-465D-A782-00E58F9E1039}"/>
              </a:ext>
            </a:extLst>
          </p:cNvPr>
          <p:cNvSpPr txBox="1">
            <a:spLocks/>
          </p:cNvSpPr>
          <p:nvPr/>
        </p:nvSpPr>
        <p:spPr>
          <a:xfrm>
            <a:off x="2877213" y="6492562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Advantages of Wind Energy | Avaada">
            <a:extLst>
              <a:ext uri="{FF2B5EF4-FFF2-40B4-BE49-F238E27FC236}">
                <a16:creationId xmlns:a16="http://schemas.microsoft.com/office/drawing/2014/main" id="{9D9AFD5D-E77B-4277-BE85-9743483CC8F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464" y="1698334"/>
            <a:ext cx="6196979" cy="3763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4ABC005-122F-40ED-BE0F-9183EFAF1C3A}"/>
              </a:ext>
            </a:extLst>
          </p:cNvPr>
          <p:cNvSpPr txBox="1"/>
          <p:nvPr/>
        </p:nvSpPr>
        <p:spPr>
          <a:xfrm>
            <a:off x="5998403" y="5480303"/>
            <a:ext cx="6144322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/>
              <a:t>                                   avaada.com/advantages-of-wind-energy/ 30\11\2025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0465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53873" y="6555722"/>
            <a:ext cx="600365" cy="31293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43" y="868767"/>
            <a:ext cx="11228524" cy="312277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GB" sz="2700" b="1">
                <a:latin typeface="Aptos"/>
              </a:rPr>
              <a:t>Why use Simulink</a:t>
            </a:r>
            <a:endParaRPr lang="en-US"/>
          </a:p>
          <a:p>
            <a:endParaRPr lang="en-GB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0CE86B-BA1B-4A2C-B63B-D3995EEF3E63}"/>
              </a:ext>
            </a:extLst>
          </p:cNvPr>
          <p:cNvCxnSpPr/>
          <p:nvPr/>
        </p:nvCxnSpPr>
        <p:spPr>
          <a:xfrm>
            <a:off x="463541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9492B8-E6AB-4E0F-8279-910A7FDA3ABF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57DED-CB21-4913-A6EE-23CCB0DB26BD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33658246-FF2B-4F5F-B6FD-4F30B360AD84}"/>
              </a:ext>
            </a:extLst>
          </p:cNvPr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02/12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EC22C-C79A-443D-941E-52C75CEB0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654" y="1720728"/>
            <a:ext cx="10415400" cy="429337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Font typeface="Arial" panose="02110004020202020204"/>
              <a:buChar char="•"/>
            </a:pPr>
            <a:r>
              <a:rPr lang="en-GB" sz="3600" b="1" baseline="30000" dirty="0">
                <a:ea typeface="+mn-lt"/>
                <a:cs typeface="+mn-lt"/>
              </a:rPr>
              <a:t>Verify the developed storage concept</a:t>
            </a:r>
            <a:endParaRPr lang="en-GB" sz="3600" baseline="30000"/>
          </a:p>
          <a:p>
            <a:pPr>
              <a:lnSpc>
                <a:spcPct val="100000"/>
              </a:lnSpc>
              <a:buFont typeface="Arial" panose="02110004020202020204"/>
              <a:buChar char="•"/>
            </a:pPr>
            <a:r>
              <a:rPr lang="en-GB" sz="3600" b="1" baseline="30000" dirty="0">
                <a:ea typeface="+mn-lt"/>
                <a:cs typeface="+mn-lt"/>
              </a:rPr>
              <a:t>Model the system </a:t>
            </a:r>
            <a:r>
              <a:rPr lang="en-GB" sz="3600" b="1" baseline="30000" err="1">
                <a:ea typeface="+mn-lt"/>
                <a:cs typeface="+mn-lt"/>
              </a:rPr>
              <a:t>behavior</a:t>
            </a:r>
            <a:r>
              <a:rPr lang="en-GB" sz="3600" baseline="30000" dirty="0">
                <a:ea typeface="+mn-lt"/>
                <a:cs typeface="+mn-lt"/>
              </a:rPr>
              <a:t>: wind turbine + battery + grid</a:t>
            </a:r>
            <a:endParaRPr lang="en-GB" sz="3600" baseline="30000"/>
          </a:p>
          <a:p>
            <a:pPr>
              <a:lnSpc>
                <a:spcPct val="100000"/>
              </a:lnSpc>
              <a:buFont typeface="Arial" panose="02110004020202020204"/>
              <a:buChar char="•"/>
            </a:pPr>
            <a:r>
              <a:rPr lang="en-GB" sz="3600" b="1" baseline="30000" dirty="0">
                <a:ea typeface="+mn-lt"/>
                <a:cs typeface="+mn-lt"/>
              </a:rPr>
              <a:t>Simulate different scenarios</a:t>
            </a:r>
            <a:r>
              <a:rPr lang="en-GB" sz="3600" baseline="30000" dirty="0">
                <a:ea typeface="+mn-lt"/>
                <a:cs typeface="+mn-lt"/>
              </a:rPr>
              <a:t>: battery charge/discharge, peak shaving, curtailment, grid faults</a:t>
            </a:r>
            <a:endParaRPr lang="en-GB" sz="3600" baseline="30000"/>
          </a:p>
          <a:p>
            <a:pPr>
              <a:lnSpc>
                <a:spcPct val="100000"/>
              </a:lnSpc>
              <a:buFont typeface="Arial" panose="02110004020202020204"/>
              <a:buChar char="•"/>
            </a:pPr>
            <a:r>
              <a:rPr lang="en-GB" sz="3600" b="1" baseline="30000" dirty="0">
                <a:ea typeface="+mn-lt"/>
                <a:cs typeface="+mn-lt"/>
              </a:rPr>
              <a:t>Check adequate battery sizing</a:t>
            </a:r>
            <a:endParaRPr lang="en-GB" sz="3600" baseline="30000"/>
          </a:p>
          <a:p>
            <a:pPr>
              <a:lnSpc>
                <a:spcPct val="100000"/>
              </a:lnSpc>
              <a:buFont typeface="Arial" panose="02110004020202020204"/>
              <a:buChar char="•"/>
            </a:pPr>
            <a:r>
              <a:rPr lang="en-GB" sz="3600" b="1" baseline="30000" dirty="0">
                <a:ea typeface="+mn-lt"/>
                <a:cs typeface="+mn-lt"/>
              </a:rPr>
              <a:t>Evaluate grid service performance</a:t>
            </a:r>
            <a:endParaRPr lang="en-GB" sz="3600" baseline="30000"/>
          </a:p>
          <a:p>
            <a:pPr marL="514350" indent="-514350">
              <a:buAutoNum type="arabicPeriod"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7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2235" y="1313359"/>
            <a:ext cx="7346419" cy="5130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457200" algn="just"/>
            <a:br>
              <a:rPr lang="it-IT" b="1" dirty="0"/>
            </a:br>
            <a:r>
              <a:rPr lang="it-IT" sz="2000" b="1" dirty="0">
                <a:ea typeface="+mn-lt"/>
                <a:cs typeface="+mn-lt"/>
              </a:rPr>
              <a:t>Power from the wind turbine </a:t>
            </a:r>
            <a:r>
              <a:rPr lang="it-IT" sz="2000" b="1" err="1">
                <a:ea typeface="+mn-lt"/>
                <a:cs typeface="+mn-lt"/>
              </a:rPr>
              <a:t>is</a:t>
            </a:r>
            <a:r>
              <a:rPr lang="it-IT" sz="2000" b="1" dirty="0">
                <a:ea typeface="+mn-lt"/>
                <a:cs typeface="+mn-lt"/>
              </a:rPr>
              <a:t> </a:t>
            </a:r>
            <a:r>
              <a:rPr lang="it-IT" sz="2000" b="1" err="1">
                <a:ea typeface="+mn-lt"/>
                <a:cs typeface="+mn-lt"/>
              </a:rPr>
              <a:t>directed</a:t>
            </a:r>
            <a:r>
              <a:rPr lang="it-IT" sz="2000" b="1" dirty="0">
                <a:ea typeface="+mn-lt"/>
                <a:cs typeface="+mn-lt"/>
              </a:rPr>
              <a:t> </a:t>
            </a:r>
            <a:r>
              <a:rPr lang="it-IT" sz="2000" b="1" err="1">
                <a:ea typeface="+mn-lt"/>
                <a:cs typeface="+mn-lt"/>
              </a:rPr>
              <a:t>either</a:t>
            </a:r>
            <a:r>
              <a:rPr lang="it-IT" sz="2000" b="1" dirty="0">
                <a:ea typeface="+mn-lt"/>
                <a:cs typeface="+mn-lt"/>
              </a:rPr>
              <a:t> to </a:t>
            </a:r>
            <a:r>
              <a:rPr lang="it-IT" sz="2000" b="1" err="1">
                <a:ea typeface="+mn-lt"/>
                <a:cs typeface="+mn-lt"/>
              </a:rPr>
              <a:t>battery</a:t>
            </a:r>
            <a:r>
              <a:rPr lang="it-IT" sz="2000" b="1" dirty="0">
                <a:ea typeface="+mn-lt"/>
                <a:cs typeface="+mn-lt"/>
              </a:rPr>
              <a:t> storage or to the </a:t>
            </a:r>
            <a:r>
              <a:rPr lang="it-IT" sz="2000" b="1" err="1">
                <a:ea typeface="+mn-lt"/>
                <a:cs typeface="+mn-lt"/>
              </a:rPr>
              <a:t>grid</a:t>
            </a:r>
            <a:endParaRPr lang="en-US" b="1"/>
          </a:p>
          <a:p>
            <a:pPr marL="457200" algn="just"/>
            <a:r>
              <a:rPr lang="it-IT" sz="2000" b="1" dirty="0">
                <a:ea typeface="+mn-lt"/>
                <a:cs typeface="+mn-lt"/>
              </a:rPr>
              <a:t>• A control system </a:t>
            </a:r>
            <a:r>
              <a:rPr lang="it-IT" sz="2000" b="1" err="1">
                <a:ea typeface="+mn-lt"/>
                <a:cs typeface="+mn-lt"/>
              </a:rPr>
              <a:t>decides</a:t>
            </a:r>
            <a:r>
              <a:rPr lang="it-IT" sz="2000" b="1" dirty="0">
                <a:ea typeface="+mn-lt"/>
                <a:cs typeface="+mn-lt"/>
              </a:rPr>
              <a:t> the </a:t>
            </a:r>
            <a:r>
              <a:rPr lang="it-IT" sz="2000" b="1" err="1">
                <a:ea typeface="+mn-lt"/>
                <a:cs typeface="+mn-lt"/>
              </a:rPr>
              <a:t>proper</a:t>
            </a:r>
            <a:r>
              <a:rPr lang="it-IT" sz="2000" b="1" dirty="0">
                <a:ea typeface="+mn-lt"/>
                <a:cs typeface="+mn-lt"/>
              </a:rPr>
              <a:t> </a:t>
            </a:r>
            <a:r>
              <a:rPr lang="it-IT" sz="2000" b="1" err="1">
                <a:ea typeface="+mn-lt"/>
                <a:cs typeface="+mn-lt"/>
              </a:rPr>
              <a:t>routing</a:t>
            </a:r>
            <a:r>
              <a:rPr lang="it-IT" sz="2000" b="1" dirty="0">
                <a:ea typeface="+mn-lt"/>
                <a:cs typeface="+mn-lt"/>
              </a:rPr>
              <a:t> of power. </a:t>
            </a:r>
            <a:endParaRPr lang="it-IT" sz="2000" b="1" dirty="0"/>
          </a:p>
          <a:p>
            <a:pPr lvl="1">
              <a:spcBef>
                <a:spcPts val="1000"/>
              </a:spcBef>
            </a:pPr>
            <a:r>
              <a:rPr lang="it-IT" sz="2400" b="1" dirty="0"/>
              <a:t>Decision Criteria:</a:t>
            </a:r>
            <a:endParaRPr lang="en-GB" sz="2400" b="1" dirty="0"/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b="1" dirty="0"/>
              <a:t>Power </a:t>
            </a:r>
            <a:r>
              <a:rPr lang="it-IT" b="1" dirty="0" err="1"/>
              <a:t>signal</a:t>
            </a:r>
            <a:r>
              <a:rPr lang="it-IT" b="1" dirty="0"/>
              <a:t>: from the wind turbine</a:t>
            </a:r>
            <a:endParaRPr lang="en-GB" dirty="0"/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b="1" dirty="0"/>
              <a:t>State of </a:t>
            </a:r>
            <a:r>
              <a:rPr lang="it-IT" b="1" dirty="0" err="1"/>
              <a:t>Charge</a:t>
            </a:r>
            <a:r>
              <a:rPr lang="it-IT" b="1" dirty="0"/>
              <a:t> (</a:t>
            </a:r>
            <a:r>
              <a:rPr lang="it-IT" b="1" dirty="0" err="1"/>
              <a:t>SoC</a:t>
            </a:r>
            <a:r>
              <a:rPr lang="it-IT" b="1" dirty="0"/>
              <a:t>): </a:t>
            </a:r>
            <a:r>
              <a:rPr lang="it-IT" b="1" dirty="0" err="1"/>
              <a:t>battery</a:t>
            </a:r>
            <a:endParaRPr lang="en-GB" dirty="0"/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b="1" dirty="0" err="1"/>
              <a:t>Curtailment</a:t>
            </a:r>
            <a:r>
              <a:rPr lang="it-IT" b="1" dirty="0"/>
              <a:t> </a:t>
            </a:r>
            <a:r>
              <a:rPr lang="it-IT" b="1" dirty="0" err="1"/>
              <a:t>signal</a:t>
            </a:r>
            <a:r>
              <a:rPr lang="it-IT" b="1" dirty="0"/>
              <a:t>: </a:t>
            </a:r>
            <a:r>
              <a:rPr lang="it-IT" b="1" dirty="0" err="1"/>
              <a:t>grid</a:t>
            </a:r>
            <a:endParaRPr lang="en-GB" dirty="0"/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b="1" dirty="0"/>
              <a:t>Peak </a:t>
            </a:r>
            <a:r>
              <a:rPr lang="it-IT" b="1" dirty="0" err="1"/>
              <a:t>shaving</a:t>
            </a:r>
            <a:r>
              <a:rPr lang="it-IT" b="1" dirty="0"/>
              <a:t>: </a:t>
            </a:r>
            <a:r>
              <a:rPr lang="it-IT" b="1" dirty="0" err="1"/>
              <a:t>grid</a:t>
            </a:r>
            <a:endParaRPr lang="en-GB" dirty="0"/>
          </a:p>
          <a:p>
            <a:pPr marL="742950" lvl="1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b="1" dirty="0" err="1"/>
              <a:t>Grid</a:t>
            </a:r>
            <a:r>
              <a:rPr lang="it-IT" b="1" dirty="0"/>
              <a:t> fault: </a:t>
            </a:r>
            <a:r>
              <a:rPr lang="it-IT" b="1" dirty="0" err="1"/>
              <a:t>grid</a:t>
            </a:r>
            <a:br>
              <a:rPr lang="it-IT" b="1" dirty="0"/>
            </a:br>
            <a:endParaRPr lang="it-IT" b="1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819" y="603217"/>
            <a:ext cx="10557353" cy="563564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GB" sz="2400" b="1" dirty="0">
                <a:latin typeface="Arial"/>
                <a:cs typeface="Arial"/>
              </a:rPr>
              <a:t>Simulink Model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4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32" name="TextBox 14"/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02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A337B-045C-41B2-8D8D-2AF0B3EACE06}"/>
              </a:ext>
            </a:extLst>
          </p:cNvPr>
          <p:cNvSpPr txBox="1"/>
          <p:nvPr/>
        </p:nvSpPr>
        <p:spPr>
          <a:xfrm>
            <a:off x="8643600" y="5264584"/>
            <a:ext cx="2861302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1400" dirty="0">
                <a:ea typeface="+mn-lt"/>
                <a:cs typeface="+mn-lt"/>
              </a:rPr>
              <a:t>Optimus Shakti. 30\11\2025</a:t>
            </a:r>
            <a:endParaRPr lang="en-US" dirty="0"/>
          </a:p>
        </p:txBody>
      </p:sp>
      <p:pic>
        <p:nvPicPr>
          <p:cNvPr id="3" name="Picture 2" descr="A diagram of a power line&#10;&#10;AI-generated content may be incorrect.">
            <a:extLst>
              <a:ext uri="{FF2B5EF4-FFF2-40B4-BE49-F238E27FC236}">
                <a16:creationId xmlns:a16="http://schemas.microsoft.com/office/drawing/2014/main" id="{525BDD23-AE80-A8F8-E33F-7FB9B80E2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556" y="1308317"/>
            <a:ext cx="4872366" cy="39490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72E486-BCFC-B401-78DD-FCC275A3D2DA}"/>
              </a:ext>
            </a:extLst>
          </p:cNvPr>
          <p:cNvSpPr txBox="1"/>
          <p:nvPr/>
        </p:nvSpPr>
        <p:spPr>
          <a:xfrm>
            <a:off x="2846319" y="6545053"/>
            <a:ext cx="597905" cy="31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869C9-BE6A-8846-A2B4-0C011EAED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3DA65D10-2E02-4056-7BC5-4501C2CF51D4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3679F6B9-B47A-B45E-EB3C-8780C8001AD8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25C642A-54C2-6F01-7102-17CF1D101ECD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8F522F-AE5D-7031-E5CF-9B93754280D2}"/>
              </a:ext>
            </a:extLst>
          </p:cNvPr>
          <p:cNvSpPr txBox="1"/>
          <p:nvPr/>
        </p:nvSpPr>
        <p:spPr>
          <a:xfrm>
            <a:off x="2235" y="1313359"/>
            <a:ext cx="7346419" cy="5130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742950" lvl="1" indent="-285750">
              <a:spcBef>
                <a:spcPts val="1000"/>
              </a:spcBef>
              <a:buFont typeface="Arial,Sans-Serif" panose="020B0604020202020204" pitchFamily="34" charset="0"/>
              <a:buChar char="•"/>
            </a:pPr>
            <a:r>
              <a:rPr lang="it-IT" dirty="0">
                <a:ea typeface="+mn-lt"/>
                <a:cs typeface="+mn-lt"/>
              </a:rPr>
              <a:t>Scenario 1: </a:t>
            </a:r>
            <a:endParaRPr lang="it-IT" b="1" dirty="0">
              <a:ea typeface="+mn-lt"/>
              <a:cs typeface="+mn-lt"/>
            </a:endParaRPr>
          </a:p>
          <a:p>
            <a:pPr lvl="1">
              <a:spcBef>
                <a:spcPts val="1000"/>
              </a:spcBef>
            </a:pPr>
            <a:br>
              <a:rPr lang="it-IT" b="1" dirty="0"/>
            </a:br>
            <a:endParaRPr lang="it-IT" b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B9C4949-ED74-91FB-7EC7-ADC5D857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97" y="91737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latin typeface="Aptos"/>
              </a:rPr>
              <a:t>Simulation Scenarios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80E83B0-491A-F5C7-FC73-661CB9C1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47C546-80B0-4554-E396-585C9578510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>
            <a:extLst>
              <a:ext uri="{FF2B5EF4-FFF2-40B4-BE49-F238E27FC236}">
                <a16:creationId xmlns:a16="http://schemas.microsoft.com/office/drawing/2014/main" id="{CEB50D89-B5A1-5639-516C-A720EE2A152B}"/>
              </a:ext>
            </a:extLst>
          </p:cNvPr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7DB87D-4567-7682-0A4E-BF43A92753D0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DF6CDC-5F8F-1D10-E782-4A292FB77016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E77BE7-DB62-C6AB-9C61-ADAB973C8805}"/>
              </a:ext>
            </a:extLst>
          </p:cNvPr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F130315F-25F4-2375-14C9-83D8CDF4A60A}"/>
              </a:ext>
            </a:extLst>
          </p:cNvPr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02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A3641E-5FD7-B0E2-396E-BF3FA61AA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280166"/>
              </p:ext>
            </p:extLst>
          </p:nvPr>
        </p:nvGraphicFramePr>
        <p:xfrm>
          <a:off x="299790" y="1609636"/>
          <a:ext cx="6528895" cy="2197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8712">
                  <a:extLst>
                    <a:ext uri="{9D8B030D-6E8A-4147-A177-3AD203B41FA5}">
                      <a16:colId xmlns:a16="http://schemas.microsoft.com/office/drawing/2014/main" val="4084840426"/>
                    </a:ext>
                  </a:extLst>
                </a:gridCol>
                <a:gridCol w="636142">
                  <a:extLst>
                    <a:ext uri="{9D8B030D-6E8A-4147-A177-3AD203B41FA5}">
                      <a16:colId xmlns:a16="http://schemas.microsoft.com/office/drawing/2014/main" val="355087367"/>
                    </a:ext>
                  </a:extLst>
                </a:gridCol>
                <a:gridCol w="724041">
                  <a:extLst>
                    <a:ext uri="{9D8B030D-6E8A-4147-A177-3AD203B41FA5}">
                      <a16:colId xmlns:a16="http://schemas.microsoft.com/office/drawing/2014/main" val="1205071875"/>
                    </a:ext>
                  </a:extLst>
                </a:gridCol>
              </a:tblGrid>
              <a:tr h="3663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Criteria: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340135"/>
                  </a:ext>
                </a:extLst>
              </a:tr>
              <a:tr h="3663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Power signal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56553"/>
                  </a:ext>
                </a:extLst>
              </a:tr>
              <a:tr h="3663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State of charge in operational range (0.2&lt;Soc&gt;1)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055373"/>
                  </a:ext>
                </a:extLst>
              </a:tr>
              <a:tr h="3663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Curtailment signal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206739"/>
                  </a:ext>
                </a:extLst>
              </a:tr>
              <a:tr h="3663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Peak shaving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168122"/>
                  </a:ext>
                </a:extLst>
              </a:tr>
              <a:tr h="3663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Grid fault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210669"/>
                  </a:ext>
                </a:extLst>
              </a:tr>
            </a:tbl>
          </a:graphicData>
        </a:graphic>
      </p:graphicFrame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02141E99-3BE5-1A47-5239-EE11983E840E}"/>
              </a:ext>
            </a:extLst>
          </p:cNvPr>
          <p:cNvSpPr/>
          <p:nvPr/>
        </p:nvSpPr>
        <p:spPr>
          <a:xfrm>
            <a:off x="5810877" y="204231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1FBE5629-4230-4E68-7724-AE36E25D98C1}"/>
              </a:ext>
            </a:extLst>
          </p:cNvPr>
          <p:cNvSpPr/>
          <p:nvPr/>
        </p:nvSpPr>
        <p:spPr>
          <a:xfrm>
            <a:off x="5790000" y="2438972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C39A3FA8-6D2B-EC89-914E-6573C013290C}"/>
              </a:ext>
            </a:extLst>
          </p:cNvPr>
          <p:cNvSpPr/>
          <p:nvPr/>
        </p:nvSpPr>
        <p:spPr>
          <a:xfrm>
            <a:off x="6332795" y="273124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9EDF7186-2D62-8908-395E-2F53EE72AEE8}"/>
              </a:ext>
            </a:extLst>
          </p:cNvPr>
          <p:cNvSpPr/>
          <p:nvPr/>
        </p:nvSpPr>
        <p:spPr>
          <a:xfrm>
            <a:off x="6332794" y="3127903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83B37ADD-0391-5178-A8A7-0225CF3AEF97}"/>
              </a:ext>
            </a:extLst>
          </p:cNvPr>
          <p:cNvSpPr/>
          <p:nvPr/>
        </p:nvSpPr>
        <p:spPr>
          <a:xfrm>
            <a:off x="6332794" y="3524560"/>
            <a:ext cx="298538" cy="31941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A3E7F8-C077-9082-7A6D-560DBC550210}"/>
              </a:ext>
            </a:extLst>
          </p:cNvPr>
          <p:cNvSpPr txBox="1"/>
          <p:nvPr/>
        </p:nvSpPr>
        <p:spPr>
          <a:xfrm>
            <a:off x="7364480" y="1834119"/>
            <a:ext cx="4788313" cy="1946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ABA397-9ABA-70DD-BB43-573358E573DE}"/>
              </a:ext>
            </a:extLst>
          </p:cNvPr>
          <p:cNvSpPr txBox="1"/>
          <p:nvPr/>
        </p:nvSpPr>
        <p:spPr>
          <a:xfrm>
            <a:off x="7189523" y="2238652"/>
            <a:ext cx="483601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Description:</a:t>
            </a:r>
            <a:r>
              <a:rPr lang="en-US" sz="2000" dirty="0">
                <a:ea typeface="+mn-lt"/>
                <a:cs typeface="+mn-lt"/>
              </a:rPr>
              <a:t> Generated electric power directly flow to the power system. The battery is neither charging nor discharging</a:t>
            </a:r>
            <a:endParaRPr lang="en-US" sz="2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1E0046-33F8-2DD6-73FA-125C21166F5D}"/>
              </a:ext>
            </a:extLst>
          </p:cNvPr>
          <p:cNvSpPr txBox="1"/>
          <p:nvPr/>
        </p:nvSpPr>
        <p:spPr>
          <a:xfrm>
            <a:off x="504033" y="4228276"/>
            <a:ext cx="6580430" cy="23661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19DAC722-5A43-9A80-8DDE-6B5E5D8A2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499671"/>
              </p:ext>
            </p:extLst>
          </p:nvPr>
        </p:nvGraphicFramePr>
        <p:xfrm>
          <a:off x="260958" y="4363232"/>
          <a:ext cx="6628336" cy="20617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15803">
                  <a:extLst>
                    <a:ext uri="{9D8B030D-6E8A-4147-A177-3AD203B41FA5}">
                      <a16:colId xmlns:a16="http://schemas.microsoft.com/office/drawing/2014/main" val="1898501675"/>
                    </a:ext>
                  </a:extLst>
                </a:gridCol>
                <a:gridCol w="729924">
                  <a:extLst>
                    <a:ext uri="{9D8B030D-6E8A-4147-A177-3AD203B41FA5}">
                      <a16:colId xmlns:a16="http://schemas.microsoft.com/office/drawing/2014/main" val="287516055"/>
                    </a:ext>
                  </a:extLst>
                </a:gridCol>
                <a:gridCol w="682609">
                  <a:extLst>
                    <a:ext uri="{9D8B030D-6E8A-4147-A177-3AD203B41FA5}">
                      <a16:colId xmlns:a16="http://schemas.microsoft.com/office/drawing/2014/main" val="3699858712"/>
                    </a:ext>
                  </a:extLst>
                </a:gridCol>
              </a:tblGrid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Criteria: 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Yes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No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201332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Power signal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643037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State of charge in operational range (0.2&lt;Soc&gt;1)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727456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Curtailment signal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72865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Peak shaving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17442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Grid fault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3109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7621A53-E4C1-80C5-844D-E05A378870A0}"/>
              </a:ext>
            </a:extLst>
          </p:cNvPr>
          <p:cNvSpPr txBox="1"/>
          <p:nvPr/>
        </p:nvSpPr>
        <p:spPr>
          <a:xfrm>
            <a:off x="812052" y="4004262"/>
            <a:ext cx="56003" cy="14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5E3829-71D6-28EC-0F67-4674E927435E}"/>
              </a:ext>
            </a:extLst>
          </p:cNvPr>
          <p:cNvSpPr txBox="1"/>
          <p:nvPr/>
        </p:nvSpPr>
        <p:spPr>
          <a:xfrm>
            <a:off x="347208" y="3941881"/>
            <a:ext cx="24847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Scenario 2: </a:t>
            </a:r>
            <a:endParaRPr lang="en-US" dirty="0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2CD425DD-F328-2522-3B10-C465A6A9E74E}"/>
              </a:ext>
            </a:extLst>
          </p:cNvPr>
          <p:cNvSpPr/>
          <p:nvPr/>
        </p:nvSpPr>
        <p:spPr>
          <a:xfrm>
            <a:off x="5675177" y="470409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998D8BB6-0DC3-4C0A-A73E-B42F2226E232}"/>
              </a:ext>
            </a:extLst>
          </p:cNvPr>
          <p:cNvSpPr/>
          <p:nvPr/>
        </p:nvSpPr>
        <p:spPr>
          <a:xfrm>
            <a:off x="5675177" y="501724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ultiplication Sign 34">
            <a:extLst>
              <a:ext uri="{FF2B5EF4-FFF2-40B4-BE49-F238E27FC236}">
                <a16:creationId xmlns:a16="http://schemas.microsoft.com/office/drawing/2014/main" id="{BF5B5E79-F49A-AB30-2669-CE4581DE9BBE}"/>
              </a:ext>
            </a:extLst>
          </p:cNvPr>
          <p:cNvSpPr/>
          <p:nvPr/>
        </p:nvSpPr>
        <p:spPr>
          <a:xfrm>
            <a:off x="5675177" y="5393026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Multiplication Sign 35">
            <a:extLst>
              <a:ext uri="{FF2B5EF4-FFF2-40B4-BE49-F238E27FC236}">
                <a16:creationId xmlns:a16="http://schemas.microsoft.com/office/drawing/2014/main" id="{994DE3F2-1328-716A-3C24-3186E99FBA82}"/>
              </a:ext>
            </a:extLst>
          </p:cNvPr>
          <p:cNvSpPr/>
          <p:nvPr/>
        </p:nvSpPr>
        <p:spPr>
          <a:xfrm>
            <a:off x="6332794" y="565398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92A58E77-2C82-318C-C405-6C3807A8C96E}"/>
              </a:ext>
            </a:extLst>
          </p:cNvPr>
          <p:cNvSpPr/>
          <p:nvPr/>
        </p:nvSpPr>
        <p:spPr>
          <a:xfrm>
            <a:off x="6332794" y="6050643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C900E1-F211-CD6B-91E7-A7480335C1E0}"/>
              </a:ext>
            </a:extLst>
          </p:cNvPr>
          <p:cNvSpPr txBox="1"/>
          <p:nvPr/>
        </p:nvSpPr>
        <p:spPr>
          <a:xfrm>
            <a:off x="7423799" y="4526107"/>
            <a:ext cx="4606549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Description: </a:t>
            </a:r>
            <a:r>
              <a:rPr lang="en-US" dirty="0"/>
              <a:t>The wind turbine deliver the generated power to the power system , while the remaining curtailed power  charges the battery.</a:t>
            </a:r>
            <a:endParaRPr lang="en-US"/>
          </a:p>
          <a:p>
            <a:pPr algn="l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22662F-A5D6-2320-905F-4EB739D8B597}"/>
              </a:ext>
            </a:extLst>
          </p:cNvPr>
          <p:cNvSpPr txBox="1"/>
          <p:nvPr/>
        </p:nvSpPr>
        <p:spPr>
          <a:xfrm>
            <a:off x="2846319" y="6545053"/>
            <a:ext cx="597905" cy="31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17769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3CBD8-E6B4-4BF8-B1C9-531FCFAA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5FE57DE9-FA67-1569-113C-D2B1D29B367E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75F831F9-ACD3-86E7-A036-A5409F237CCA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EB69716C-1193-B34B-102E-20B6C07C510A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5A777E-65CF-64CE-FB35-4E384C969F10}"/>
              </a:ext>
            </a:extLst>
          </p:cNvPr>
          <p:cNvSpPr txBox="1"/>
          <p:nvPr/>
        </p:nvSpPr>
        <p:spPr>
          <a:xfrm>
            <a:off x="33550" y="1710016"/>
            <a:ext cx="7325542" cy="47230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>
              <a:spcBef>
                <a:spcPts val="1000"/>
              </a:spcBef>
            </a:pPr>
            <a:endParaRPr lang="it-IT" dirty="0">
              <a:ea typeface="+mn-lt"/>
              <a:cs typeface="+mn-lt"/>
            </a:endParaRPr>
          </a:p>
          <a:p>
            <a:pPr lvl="1">
              <a:spcBef>
                <a:spcPts val="1000"/>
              </a:spcBef>
            </a:pPr>
            <a:br>
              <a:rPr lang="it-IT" b="1" dirty="0"/>
            </a:br>
            <a:endParaRPr lang="it-IT" b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ABB86C3-65D5-B727-C8EE-A8F29F9C4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97" y="91737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latin typeface="Aptos"/>
              </a:rPr>
              <a:t>Simulation Scenarios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E46A099-9BE4-0078-CF4A-A669E1ED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17C3F9-7CBC-9DBA-3CE5-F26F39F8589B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>
            <a:extLst>
              <a:ext uri="{FF2B5EF4-FFF2-40B4-BE49-F238E27FC236}">
                <a16:creationId xmlns:a16="http://schemas.microsoft.com/office/drawing/2014/main" id="{9677FD1F-5DC2-88E6-40B7-0848C58ABD13}"/>
              </a:ext>
            </a:extLst>
          </p:cNvPr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6D7BEF-38E9-CB26-9D7F-C23A44089A23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7CF6E-16A6-748E-1C1C-25B0ABB10F3E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490BAC-87E3-94D4-6EAC-B4EE769F8A79}"/>
              </a:ext>
            </a:extLst>
          </p:cNvPr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D597F07C-B1EF-BF5E-B480-4015BCCA0FEB}"/>
              </a:ext>
            </a:extLst>
          </p:cNvPr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02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D3573C-7C0E-C063-CC2C-242193590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198381"/>
              </p:ext>
            </p:extLst>
          </p:nvPr>
        </p:nvGraphicFramePr>
        <p:xfrm>
          <a:off x="334027" y="1680575"/>
          <a:ext cx="647283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4335">
                  <a:extLst>
                    <a:ext uri="{9D8B030D-6E8A-4147-A177-3AD203B41FA5}">
                      <a16:colId xmlns:a16="http://schemas.microsoft.com/office/drawing/2014/main" val="4084840426"/>
                    </a:ext>
                  </a:extLst>
                </a:gridCol>
                <a:gridCol w="630679">
                  <a:extLst>
                    <a:ext uri="{9D8B030D-6E8A-4147-A177-3AD203B41FA5}">
                      <a16:colId xmlns:a16="http://schemas.microsoft.com/office/drawing/2014/main" val="355087367"/>
                    </a:ext>
                  </a:extLst>
                </a:gridCol>
                <a:gridCol w="717823">
                  <a:extLst>
                    <a:ext uri="{9D8B030D-6E8A-4147-A177-3AD203B41FA5}">
                      <a16:colId xmlns:a16="http://schemas.microsoft.com/office/drawing/2014/main" val="1205071875"/>
                    </a:ext>
                  </a:extLst>
                </a:gridCol>
              </a:tblGrid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Criteria: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340135"/>
                  </a:ext>
                </a:extLst>
              </a:tr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Power signal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56553"/>
                  </a:ext>
                </a:extLst>
              </a:tr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State of charge in operational range (0.2&lt;Soc&gt;1)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055373"/>
                  </a:ext>
                </a:extLst>
              </a:tr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Curtailment signal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206739"/>
                  </a:ext>
                </a:extLst>
              </a:tr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Peak shaving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168122"/>
                  </a:ext>
                </a:extLst>
              </a:tr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Grid fault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210669"/>
                  </a:ext>
                </a:extLst>
              </a:tr>
            </a:tbl>
          </a:graphicData>
        </a:graphic>
      </p:graphicFrame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23AC667D-070E-C69C-FD53-D71BD62CEB2D}"/>
              </a:ext>
            </a:extLst>
          </p:cNvPr>
          <p:cNvSpPr/>
          <p:nvPr/>
        </p:nvSpPr>
        <p:spPr>
          <a:xfrm>
            <a:off x="5810877" y="204231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872CDB1E-35F3-3FD0-BBC9-9DA8C55B6BB1}"/>
              </a:ext>
            </a:extLst>
          </p:cNvPr>
          <p:cNvSpPr/>
          <p:nvPr/>
        </p:nvSpPr>
        <p:spPr>
          <a:xfrm>
            <a:off x="5790000" y="2438972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2E30ED4D-27EE-A6E5-0FBE-A904BB3685B6}"/>
              </a:ext>
            </a:extLst>
          </p:cNvPr>
          <p:cNvSpPr/>
          <p:nvPr/>
        </p:nvSpPr>
        <p:spPr>
          <a:xfrm>
            <a:off x="6332795" y="273124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99D3D629-2EB8-FF59-474A-E40BB62C42FF}"/>
              </a:ext>
            </a:extLst>
          </p:cNvPr>
          <p:cNvSpPr/>
          <p:nvPr/>
        </p:nvSpPr>
        <p:spPr>
          <a:xfrm>
            <a:off x="5529040" y="3127903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4073350E-2C98-5E1D-598D-6C628123FA32}"/>
              </a:ext>
            </a:extLst>
          </p:cNvPr>
          <p:cNvSpPr/>
          <p:nvPr/>
        </p:nvSpPr>
        <p:spPr>
          <a:xfrm>
            <a:off x="6332794" y="3524560"/>
            <a:ext cx="298538" cy="31941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12998A-AD8A-87E3-7609-F2811F8EC031}"/>
              </a:ext>
            </a:extLst>
          </p:cNvPr>
          <p:cNvSpPr txBox="1"/>
          <p:nvPr/>
        </p:nvSpPr>
        <p:spPr>
          <a:xfrm>
            <a:off x="7364480" y="1834119"/>
            <a:ext cx="4788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96445E-B93B-D20D-7454-284B6D04F7CA}"/>
              </a:ext>
            </a:extLst>
          </p:cNvPr>
          <p:cNvSpPr txBox="1"/>
          <p:nvPr/>
        </p:nvSpPr>
        <p:spPr>
          <a:xfrm>
            <a:off x="7189523" y="2238652"/>
            <a:ext cx="4836015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dirty="0">
                <a:ea typeface="+mn-lt"/>
                <a:cs typeface="+mn-lt"/>
              </a:rPr>
              <a:t>Description: </a:t>
            </a:r>
            <a:r>
              <a:rPr lang="en-US" sz="2000" dirty="0">
                <a:ea typeface="+mn-lt"/>
                <a:cs typeface="+mn-lt"/>
              </a:rPr>
              <a:t>The generated power cannot meet the high grid demand, so the remaining power for the peak shaving is provided by the battery.</a:t>
            </a:r>
            <a:endParaRPr lang="en-US"/>
          </a:p>
          <a:p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38962E-1B14-46BA-5BFD-729583F5858F}"/>
              </a:ext>
            </a:extLst>
          </p:cNvPr>
          <p:cNvSpPr txBox="1"/>
          <p:nvPr/>
        </p:nvSpPr>
        <p:spPr>
          <a:xfrm>
            <a:off x="504033" y="4228276"/>
            <a:ext cx="6580430" cy="23661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12EECF9B-514F-2962-3224-68B00D0F3AA0}"/>
              </a:ext>
            </a:extLst>
          </p:cNvPr>
          <p:cNvGraphicFramePr>
            <a:graphicFrameLocks noGrp="1"/>
          </p:cNvGraphicFramePr>
          <p:nvPr/>
        </p:nvGraphicFramePr>
        <p:xfrm>
          <a:off x="260958" y="4363232"/>
          <a:ext cx="6628336" cy="20617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15803">
                  <a:extLst>
                    <a:ext uri="{9D8B030D-6E8A-4147-A177-3AD203B41FA5}">
                      <a16:colId xmlns:a16="http://schemas.microsoft.com/office/drawing/2014/main" val="1898501675"/>
                    </a:ext>
                  </a:extLst>
                </a:gridCol>
                <a:gridCol w="729924">
                  <a:extLst>
                    <a:ext uri="{9D8B030D-6E8A-4147-A177-3AD203B41FA5}">
                      <a16:colId xmlns:a16="http://schemas.microsoft.com/office/drawing/2014/main" val="287516055"/>
                    </a:ext>
                  </a:extLst>
                </a:gridCol>
                <a:gridCol w="682609">
                  <a:extLst>
                    <a:ext uri="{9D8B030D-6E8A-4147-A177-3AD203B41FA5}">
                      <a16:colId xmlns:a16="http://schemas.microsoft.com/office/drawing/2014/main" val="3699858712"/>
                    </a:ext>
                  </a:extLst>
                </a:gridCol>
              </a:tblGrid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Criteria: 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Yes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No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201332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Power signal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643037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State of charge in operational range (0.2&lt;Soc&gt;1)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727456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Curtailment signal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72865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Peak shaving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17442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Grid fault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3109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865EA8CD-9F14-14D4-AD8B-6FB5E0517017}"/>
              </a:ext>
            </a:extLst>
          </p:cNvPr>
          <p:cNvSpPr txBox="1"/>
          <p:nvPr/>
        </p:nvSpPr>
        <p:spPr>
          <a:xfrm>
            <a:off x="812052" y="4004262"/>
            <a:ext cx="56003" cy="14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489488-AF28-9F2E-B757-3D4C4CF74998}"/>
              </a:ext>
            </a:extLst>
          </p:cNvPr>
          <p:cNvSpPr txBox="1"/>
          <p:nvPr/>
        </p:nvSpPr>
        <p:spPr>
          <a:xfrm>
            <a:off x="347208" y="3941881"/>
            <a:ext cx="24847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Scenario 4: </a:t>
            </a:r>
            <a:endParaRPr lang="en-US" dirty="0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5ADB8A46-5D83-E558-1806-88077603E1EF}"/>
              </a:ext>
            </a:extLst>
          </p:cNvPr>
          <p:cNvSpPr/>
          <p:nvPr/>
        </p:nvSpPr>
        <p:spPr>
          <a:xfrm>
            <a:off x="5675177" y="470409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381385F7-4923-C68B-C9CB-9FFE2823C06E}"/>
              </a:ext>
            </a:extLst>
          </p:cNvPr>
          <p:cNvSpPr/>
          <p:nvPr/>
        </p:nvSpPr>
        <p:spPr>
          <a:xfrm>
            <a:off x="5675177" y="501724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ultiplication Sign 34">
            <a:extLst>
              <a:ext uri="{FF2B5EF4-FFF2-40B4-BE49-F238E27FC236}">
                <a16:creationId xmlns:a16="http://schemas.microsoft.com/office/drawing/2014/main" id="{44B4BF75-9E04-6855-4616-364DB7926101}"/>
              </a:ext>
            </a:extLst>
          </p:cNvPr>
          <p:cNvSpPr/>
          <p:nvPr/>
        </p:nvSpPr>
        <p:spPr>
          <a:xfrm>
            <a:off x="6332793" y="5393026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Multiplication Sign 35">
            <a:extLst>
              <a:ext uri="{FF2B5EF4-FFF2-40B4-BE49-F238E27FC236}">
                <a16:creationId xmlns:a16="http://schemas.microsoft.com/office/drawing/2014/main" id="{5063F7FE-197C-1EE7-5207-029D8DB8F21D}"/>
              </a:ext>
            </a:extLst>
          </p:cNvPr>
          <p:cNvSpPr/>
          <p:nvPr/>
        </p:nvSpPr>
        <p:spPr>
          <a:xfrm>
            <a:off x="6332794" y="5695738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8514DDC6-EEBD-0B73-0B52-DE9270830BD2}"/>
              </a:ext>
            </a:extLst>
          </p:cNvPr>
          <p:cNvSpPr/>
          <p:nvPr/>
        </p:nvSpPr>
        <p:spPr>
          <a:xfrm>
            <a:off x="5643862" y="604020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01FE9B-09DD-1475-D0CC-C88394FC800E}"/>
              </a:ext>
            </a:extLst>
          </p:cNvPr>
          <p:cNvSpPr txBox="1"/>
          <p:nvPr/>
        </p:nvSpPr>
        <p:spPr>
          <a:xfrm>
            <a:off x="7423799" y="4526107"/>
            <a:ext cx="4606549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dirty="0"/>
              <a:t>Description:</a:t>
            </a:r>
            <a:r>
              <a:rPr lang="en-US" sz="2000" dirty="0"/>
              <a:t> </a:t>
            </a:r>
            <a:r>
              <a:rPr lang="en-US" dirty="0"/>
              <a:t>During a grid fault, the generated power is redirected entirely to the battery, in order to support gradually slow down the wind turbine and smooth the shutdown.</a:t>
            </a:r>
            <a:endParaRPr lang="en-US"/>
          </a:p>
          <a:p>
            <a:endParaRPr lang="en-US" dirty="0"/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40D47-07A3-53C4-43E3-A5CB30365D69}"/>
              </a:ext>
            </a:extLst>
          </p:cNvPr>
          <p:cNvSpPr txBox="1"/>
          <p:nvPr/>
        </p:nvSpPr>
        <p:spPr>
          <a:xfrm>
            <a:off x="868056" y="1274083"/>
            <a:ext cx="2464161" cy="3780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Scenario 3: 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23E11-F466-42F2-E9B0-12572509BD0F}"/>
              </a:ext>
            </a:extLst>
          </p:cNvPr>
          <p:cNvSpPr txBox="1"/>
          <p:nvPr/>
        </p:nvSpPr>
        <p:spPr>
          <a:xfrm>
            <a:off x="2846319" y="6545053"/>
            <a:ext cx="597905" cy="31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92289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1F6F-9E6E-C294-86B7-80612EAA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CFE831BB-0C24-7110-3152-FAAB527656A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9362C99-301B-97D5-1452-1BFB24A38F8C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64831B2-26E8-F5CB-1581-09D2A2AB381B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C56101-0084-D837-774C-8FCBBC3C4E9E}"/>
              </a:ext>
            </a:extLst>
          </p:cNvPr>
          <p:cNvSpPr txBox="1"/>
          <p:nvPr/>
        </p:nvSpPr>
        <p:spPr>
          <a:xfrm>
            <a:off x="33550" y="1710016"/>
            <a:ext cx="7325542" cy="47230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>
              <a:spcBef>
                <a:spcPts val="1000"/>
              </a:spcBef>
            </a:pPr>
            <a:endParaRPr lang="it-IT" dirty="0">
              <a:ea typeface="+mn-lt"/>
              <a:cs typeface="+mn-lt"/>
            </a:endParaRPr>
          </a:p>
          <a:p>
            <a:pPr lvl="1">
              <a:spcBef>
                <a:spcPts val="1000"/>
              </a:spcBef>
            </a:pPr>
            <a:br>
              <a:rPr lang="it-IT" b="1" dirty="0"/>
            </a:br>
            <a:endParaRPr lang="it-IT" b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65ACD4-0782-5F09-F04B-CEA5AD19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97" y="91737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latin typeface="Aptos"/>
              </a:rPr>
              <a:t>Simulation Scenarios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C420E67-CD0E-2E9C-79B3-ABC98FBF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7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257A63-E860-0355-7383-FDC70AC8D8EA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>
            <a:extLst>
              <a:ext uri="{FF2B5EF4-FFF2-40B4-BE49-F238E27FC236}">
                <a16:creationId xmlns:a16="http://schemas.microsoft.com/office/drawing/2014/main" id="{B6AEEE17-DCDB-E42F-ED95-2CEDDB3CC148}"/>
              </a:ext>
            </a:extLst>
          </p:cNvPr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25F602-E191-0513-1E69-00D6C29B00CA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2C52CB-7987-9C71-D6A2-2FB4E9EFC5AC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15E233-33D8-2AD1-6B27-88EA7372712E}"/>
              </a:ext>
            </a:extLst>
          </p:cNvPr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6F5BFD02-FACE-E6E3-5808-D252DCDBDCF0}"/>
              </a:ext>
            </a:extLst>
          </p:cNvPr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02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9BAEB8-651F-B1B8-C6D9-802364893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123816"/>
              </p:ext>
            </p:extLst>
          </p:nvPr>
        </p:nvGraphicFramePr>
        <p:xfrm>
          <a:off x="334027" y="1680575"/>
          <a:ext cx="64728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4335">
                  <a:extLst>
                    <a:ext uri="{9D8B030D-6E8A-4147-A177-3AD203B41FA5}">
                      <a16:colId xmlns:a16="http://schemas.microsoft.com/office/drawing/2014/main" val="4084840426"/>
                    </a:ext>
                  </a:extLst>
                </a:gridCol>
                <a:gridCol w="630679">
                  <a:extLst>
                    <a:ext uri="{9D8B030D-6E8A-4147-A177-3AD203B41FA5}">
                      <a16:colId xmlns:a16="http://schemas.microsoft.com/office/drawing/2014/main" val="355087367"/>
                    </a:ext>
                  </a:extLst>
                </a:gridCol>
                <a:gridCol w="717822">
                  <a:extLst>
                    <a:ext uri="{9D8B030D-6E8A-4147-A177-3AD203B41FA5}">
                      <a16:colId xmlns:a16="http://schemas.microsoft.com/office/drawing/2014/main" val="1205071875"/>
                    </a:ext>
                  </a:extLst>
                </a:gridCol>
              </a:tblGrid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Criteria: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340135"/>
                  </a:ext>
                </a:extLst>
              </a:tr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Power signal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56553"/>
                  </a:ext>
                </a:extLst>
              </a:tr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State of charge in operational range (0.2&lt;Soc&gt;1)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055373"/>
                  </a:ext>
                </a:extLst>
              </a:tr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Curtailment signal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206739"/>
                  </a:ext>
                </a:extLst>
              </a:tr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Peak shaving 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168122"/>
                  </a:ext>
                </a:extLst>
              </a:tr>
              <a:tr h="25472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Grid fault 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210669"/>
                  </a:ext>
                </a:extLst>
              </a:tr>
            </a:tbl>
          </a:graphicData>
        </a:graphic>
      </p:graphicFrame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7F3258AC-E6DD-0EAD-5A0F-E26DF555A472}"/>
              </a:ext>
            </a:extLst>
          </p:cNvPr>
          <p:cNvSpPr/>
          <p:nvPr/>
        </p:nvSpPr>
        <p:spPr>
          <a:xfrm>
            <a:off x="6332795" y="204231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6FFF507B-FA1E-EAAD-EC67-ABA75692239A}"/>
              </a:ext>
            </a:extLst>
          </p:cNvPr>
          <p:cNvSpPr/>
          <p:nvPr/>
        </p:nvSpPr>
        <p:spPr>
          <a:xfrm>
            <a:off x="5677941" y="2438972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75778A-98B4-8DA8-65A5-CE303869387E}"/>
              </a:ext>
            </a:extLst>
          </p:cNvPr>
          <p:cNvSpPr txBox="1"/>
          <p:nvPr/>
        </p:nvSpPr>
        <p:spPr>
          <a:xfrm>
            <a:off x="7364480" y="1834119"/>
            <a:ext cx="4788313" cy="19461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7C77E3-3486-0034-6EB5-AD5E964CF9DD}"/>
              </a:ext>
            </a:extLst>
          </p:cNvPr>
          <p:cNvSpPr txBox="1"/>
          <p:nvPr/>
        </p:nvSpPr>
        <p:spPr>
          <a:xfrm>
            <a:off x="7189523" y="2238652"/>
            <a:ext cx="4836015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dirty="0">
                <a:ea typeface="+mn-lt"/>
                <a:cs typeface="+mn-lt"/>
              </a:rPr>
              <a:t>Description:</a:t>
            </a:r>
            <a:r>
              <a:rPr lang="en-US" sz="2000" dirty="0">
                <a:ea typeface="+mn-lt"/>
                <a:cs typeface="+mn-lt"/>
              </a:rPr>
              <a:t> When the wind turbine is not generating power, there will not be a power flow nether to the power system nor the battery. The grid behavior becomes irrelevant in this scenario.</a:t>
            </a:r>
            <a:endParaRPr lang="en-US"/>
          </a:p>
          <a:p>
            <a:endParaRPr lang="en-US" sz="2000" dirty="0">
              <a:ea typeface="+mn-lt"/>
              <a:cs typeface="+mn-lt"/>
            </a:endParaRPr>
          </a:p>
          <a:p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741B85-B72E-CF49-4A64-B65EC5486E5A}"/>
              </a:ext>
            </a:extLst>
          </p:cNvPr>
          <p:cNvSpPr txBox="1"/>
          <p:nvPr/>
        </p:nvSpPr>
        <p:spPr>
          <a:xfrm>
            <a:off x="504033" y="4228276"/>
            <a:ext cx="6580430" cy="23661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37C3B83-F75D-EC02-A7AB-E06B4651A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087987"/>
              </p:ext>
            </p:extLst>
          </p:nvPr>
        </p:nvGraphicFramePr>
        <p:xfrm>
          <a:off x="260958" y="4363232"/>
          <a:ext cx="6628336" cy="20546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15803">
                  <a:extLst>
                    <a:ext uri="{9D8B030D-6E8A-4147-A177-3AD203B41FA5}">
                      <a16:colId xmlns:a16="http://schemas.microsoft.com/office/drawing/2014/main" val="1898501675"/>
                    </a:ext>
                  </a:extLst>
                </a:gridCol>
                <a:gridCol w="729924">
                  <a:extLst>
                    <a:ext uri="{9D8B030D-6E8A-4147-A177-3AD203B41FA5}">
                      <a16:colId xmlns:a16="http://schemas.microsoft.com/office/drawing/2014/main" val="287516055"/>
                    </a:ext>
                  </a:extLst>
                </a:gridCol>
                <a:gridCol w="682609">
                  <a:extLst>
                    <a:ext uri="{9D8B030D-6E8A-4147-A177-3AD203B41FA5}">
                      <a16:colId xmlns:a16="http://schemas.microsoft.com/office/drawing/2014/main" val="3699858712"/>
                    </a:ext>
                  </a:extLst>
                </a:gridCol>
              </a:tblGrid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Criteria: 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Yes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No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201332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Power signal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643037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State of charge in operational range (0.2&lt;Soc&gt;1)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727456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Curtailment signal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72865"/>
                  </a:ext>
                </a:extLst>
              </a:tr>
              <a:tr h="34362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Peak shaving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17442"/>
                  </a:ext>
                </a:extLst>
              </a:tr>
              <a:tr h="33617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Grid fault 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62179" marR="62179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3109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7B33C29-5936-2626-A231-EF7B9D055D7F}"/>
              </a:ext>
            </a:extLst>
          </p:cNvPr>
          <p:cNvSpPr txBox="1"/>
          <p:nvPr/>
        </p:nvSpPr>
        <p:spPr>
          <a:xfrm>
            <a:off x="812052" y="4004262"/>
            <a:ext cx="56003" cy="14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250194-1C0C-AC86-4FA7-8932C09C4788}"/>
              </a:ext>
            </a:extLst>
          </p:cNvPr>
          <p:cNvSpPr txBox="1"/>
          <p:nvPr/>
        </p:nvSpPr>
        <p:spPr>
          <a:xfrm>
            <a:off x="347208" y="3941881"/>
            <a:ext cx="24847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Scenario 6: </a:t>
            </a:r>
            <a:endParaRPr lang="en-US" dirty="0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3BE95E1C-0A43-2737-BA9C-49D85073C6DD}"/>
              </a:ext>
            </a:extLst>
          </p:cNvPr>
          <p:cNvSpPr/>
          <p:nvPr/>
        </p:nvSpPr>
        <p:spPr>
          <a:xfrm>
            <a:off x="5675177" y="470409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9E956BC7-1F36-8006-E42E-D9997057A6F8}"/>
              </a:ext>
            </a:extLst>
          </p:cNvPr>
          <p:cNvSpPr/>
          <p:nvPr/>
        </p:nvSpPr>
        <p:spPr>
          <a:xfrm>
            <a:off x="6336324" y="5017245"/>
            <a:ext cx="298538" cy="40292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040BEB-E5E2-CAF6-541B-2E1AB5D4DC80}"/>
              </a:ext>
            </a:extLst>
          </p:cNvPr>
          <p:cNvSpPr txBox="1"/>
          <p:nvPr/>
        </p:nvSpPr>
        <p:spPr>
          <a:xfrm>
            <a:off x="7423799" y="4526107"/>
            <a:ext cx="4606549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Description: </a:t>
            </a:r>
            <a:r>
              <a:rPr lang="en-US" dirty="0">
                <a:ea typeface="+mn-lt"/>
                <a:cs typeface="+mn-lt"/>
              </a:rPr>
              <a:t>If the battery SoC is outside the operational range, the battery cannot be charged (SoC&gt;1) or discharged (SoC&lt;0.2). Curtailment requires aerodynamic turbine reduction; peak shaving and grid support are restricted accordingly.</a:t>
            </a:r>
            <a:endParaRPr lang="en-US"/>
          </a:p>
          <a:p>
            <a:endParaRPr lang="en-US" sz="2000" b="1" dirty="0"/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64569-8610-2FC4-6A30-BD4DF988DD80}"/>
              </a:ext>
            </a:extLst>
          </p:cNvPr>
          <p:cNvSpPr txBox="1"/>
          <p:nvPr/>
        </p:nvSpPr>
        <p:spPr>
          <a:xfrm>
            <a:off x="520674" y="1285288"/>
            <a:ext cx="28115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Scenario 5: </a:t>
            </a:r>
            <a:endParaRPr lang="en-US"/>
          </a:p>
        </p:txBody>
      </p:sp>
      <p:sp>
        <p:nvSpPr>
          <p:cNvPr id="40" name="Multiplication Sign 39">
            <a:extLst>
              <a:ext uri="{FF2B5EF4-FFF2-40B4-BE49-F238E27FC236}">
                <a16:creationId xmlns:a16="http://schemas.microsoft.com/office/drawing/2014/main" id="{7BEC16DB-8338-4E30-09EA-8FFC7E18D474}"/>
              </a:ext>
            </a:extLst>
          </p:cNvPr>
          <p:cNvSpPr/>
          <p:nvPr/>
        </p:nvSpPr>
        <p:spPr>
          <a:xfrm>
            <a:off x="5980499" y="3537148"/>
            <a:ext cx="298538" cy="402922"/>
          </a:xfrm>
          <a:prstGeom prst="mathMultiply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7296B8FE-DCBB-9F3D-8F02-8ABFBE64BBAD}"/>
              </a:ext>
            </a:extLst>
          </p:cNvPr>
          <p:cNvSpPr/>
          <p:nvPr/>
        </p:nvSpPr>
        <p:spPr>
          <a:xfrm>
            <a:off x="5935675" y="2797560"/>
            <a:ext cx="298538" cy="402922"/>
          </a:xfrm>
          <a:prstGeom prst="mathMultiply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Multiplication Sign 41">
            <a:extLst>
              <a:ext uri="{FF2B5EF4-FFF2-40B4-BE49-F238E27FC236}">
                <a16:creationId xmlns:a16="http://schemas.microsoft.com/office/drawing/2014/main" id="{017526DA-BEF4-BD56-589A-BF3ECC7395AE}"/>
              </a:ext>
            </a:extLst>
          </p:cNvPr>
          <p:cNvSpPr/>
          <p:nvPr/>
        </p:nvSpPr>
        <p:spPr>
          <a:xfrm>
            <a:off x="5980498" y="3133735"/>
            <a:ext cx="298538" cy="402922"/>
          </a:xfrm>
          <a:prstGeom prst="mathMultiply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Multiplication Sign 42">
            <a:extLst>
              <a:ext uri="{FF2B5EF4-FFF2-40B4-BE49-F238E27FC236}">
                <a16:creationId xmlns:a16="http://schemas.microsoft.com/office/drawing/2014/main" id="{77193C4A-9883-16EB-AAAC-715AEF7ADAA6}"/>
              </a:ext>
            </a:extLst>
          </p:cNvPr>
          <p:cNvSpPr/>
          <p:nvPr/>
        </p:nvSpPr>
        <p:spPr>
          <a:xfrm>
            <a:off x="5946881" y="5397324"/>
            <a:ext cx="298538" cy="402922"/>
          </a:xfrm>
          <a:prstGeom prst="mathMultiply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Multiplication Sign 43">
            <a:extLst>
              <a:ext uri="{FF2B5EF4-FFF2-40B4-BE49-F238E27FC236}">
                <a16:creationId xmlns:a16="http://schemas.microsoft.com/office/drawing/2014/main" id="{82EDD55A-5C75-D8CB-83E9-10EF722EBA9C}"/>
              </a:ext>
            </a:extLst>
          </p:cNvPr>
          <p:cNvSpPr/>
          <p:nvPr/>
        </p:nvSpPr>
        <p:spPr>
          <a:xfrm>
            <a:off x="5980498" y="5699882"/>
            <a:ext cx="298538" cy="402922"/>
          </a:xfrm>
          <a:prstGeom prst="mathMultiply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Multiplication Sign 44">
            <a:extLst>
              <a:ext uri="{FF2B5EF4-FFF2-40B4-BE49-F238E27FC236}">
                <a16:creationId xmlns:a16="http://schemas.microsoft.com/office/drawing/2014/main" id="{9D9836AE-B99F-962C-247D-0537D21DC329}"/>
              </a:ext>
            </a:extLst>
          </p:cNvPr>
          <p:cNvSpPr/>
          <p:nvPr/>
        </p:nvSpPr>
        <p:spPr>
          <a:xfrm>
            <a:off x="5980499" y="6103295"/>
            <a:ext cx="298538" cy="402922"/>
          </a:xfrm>
          <a:prstGeom prst="mathMultiply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1E89C9-7647-46A7-A55C-05B0980289F1}"/>
              </a:ext>
            </a:extLst>
          </p:cNvPr>
          <p:cNvSpPr txBox="1"/>
          <p:nvPr/>
        </p:nvSpPr>
        <p:spPr>
          <a:xfrm>
            <a:off x="2846319" y="6545053"/>
            <a:ext cx="597905" cy="31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3575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2328" y="198387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Grid Services: Steadying the power infeed</a:t>
            </a:r>
            <a:endParaRPr lang="en-US" dirty="0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7CCE0A0-B4E2-481B-8241-7A2C5B516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28" y="1361681"/>
            <a:ext cx="8573167" cy="3596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endParaRPr lang="en-GB" sz="2000" b="1" dirty="0"/>
          </a:p>
          <a:p>
            <a:pPr>
              <a:lnSpc>
                <a:spcPct val="200000"/>
              </a:lnSpc>
            </a:pPr>
            <a:endParaRPr lang="en-GB" sz="2000" b="1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  <p:sp>
        <p:nvSpPr>
          <p:cNvPr id="26" name="TextBox 14"/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it-IT" sz="1200" dirty="0">
                <a:solidFill>
                  <a:prstClr val="white"/>
                </a:solidFill>
                <a:latin typeface="Aptos"/>
              </a:rPr>
              <a:t>02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lang="en-US" altLang="it-IT" sz="1200" dirty="0">
                <a:solidFill>
                  <a:prstClr val="white"/>
                </a:solidFill>
                <a:latin typeface="Aptos"/>
              </a:rPr>
              <a:t>12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3EA7592-B30A-4269-831A-2CC2800ED94A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2F554-E533-52CA-AC23-BE49859C39E3}"/>
              </a:ext>
            </a:extLst>
          </p:cNvPr>
          <p:cNvSpPr txBox="1"/>
          <p:nvPr/>
        </p:nvSpPr>
        <p:spPr>
          <a:xfrm>
            <a:off x="6986456" y="1960128"/>
            <a:ext cx="4963199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Arial"/>
                <a:cs typeface="Arial"/>
              </a:rPr>
              <a:t>•</a:t>
            </a:r>
            <a:r>
              <a:rPr lang="en-US" sz="2400" dirty="0"/>
              <a:t>High frequented fluctuations of the generated power will be smoothed by battery storage .</a:t>
            </a:r>
          </a:p>
          <a:p>
            <a:r>
              <a:rPr lang="en-US" sz="2400" dirty="0">
                <a:latin typeface="Arial"/>
                <a:cs typeface="Arial"/>
              </a:rPr>
              <a:t>•</a:t>
            </a:r>
            <a:r>
              <a:rPr lang="en-US" sz="2400" dirty="0"/>
              <a:t>Steadying of infeed power by charging and discharging of battery storage.</a:t>
            </a:r>
          </a:p>
          <a:p>
            <a:r>
              <a:rPr lang="en-US" sz="2400" dirty="0">
                <a:latin typeface="Arial"/>
                <a:cs typeface="Arial"/>
              </a:rPr>
              <a:t>•</a:t>
            </a:r>
            <a:r>
              <a:rPr lang="en-US" sz="2400" dirty="0"/>
              <a:t>Low pass filter will </a:t>
            </a:r>
            <a:r>
              <a:rPr lang="en-US" sz="2400" dirty="0" err="1"/>
              <a:t>supress</a:t>
            </a:r>
            <a:r>
              <a:rPr lang="en-US" sz="2400" dirty="0"/>
              <a:t> high frequencies and moving average filter high ramps.</a:t>
            </a:r>
          </a:p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753320-9885-931A-7A0B-5CA7271135C3}"/>
              </a:ext>
            </a:extLst>
          </p:cNvPr>
          <p:cNvSpPr txBox="1"/>
          <p:nvPr/>
        </p:nvSpPr>
        <p:spPr>
          <a:xfrm>
            <a:off x="1589729" y="3122382"/>
            <a:ext cx="316042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Picture: own creation (30.11.2025)</a:t>
            </a:r>
          </a:p>
          <a:p>
            <a:pPr algn="l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B98764-ECC3-D6F8-D779-E79E2EA30A28}"/>
              </a:ext>
            </a:extLst>
          </p:cNvPr>
          <p:cNvSpPr txBox="1"/>
          <p:nvPr/>
        </p:nvSpPr>
        <p:spPr>
          <a:xfrm>
            <a:off x="1878759" y="5946078"/>
            <a:ext cx="366823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Picture: own creation (30.11.2025)</a:t>
            </a:r>
          </a:p>
          <a:p>
            <a:pPr algn="l"/>
            <a:endParaRPr lang="en-US" dirty="0"/>
          </a:p>
        </p:txBody>
      </p:sp>
      <p:pic>
        <p:nvPicPr>
          <p:cNvPr id="3" name="Picture 2" descr="A graph showing a wind turbine&#10;&#10;AI-generated content may be incorrect.">
            <a:extLst>
              <a:ext uri="{FF2B5EF4-FFF2-40B4-BE49-F238E27FC236}">
                <a16:creationId xmlns:a16="http://schemas.microsoft.com/office/drawing/2014/main" id="{197E9BCA-597A-9196-3D96-E7A50483E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48" y="1177882"/>
            <a:ext cx="6002057" cy="1955278"/>
          </a:xfrm>
          <a:prstGeom prst="rect">
            <a:avLst/>
          </a:prstGeom>
        </p:spPr>
      </p:pic>
      <p:pic>
        <p:nvPicPr>
          <p:cNvPr id="17" name="Picture 16" descr="A graph showing a wind power&#10;&#10;AI-generated content may be incorrect.">
            <a:extLst>
              <a:ext uri="{FF2B5EF4-FFF2-40B4-BE49-F238E27FC236}">
                <a16:creationId xmlns:a16="http://schemas.microsoft.com/office/drawing/2014/main" id="{572A6313-500B-128C-1063-83F0C48CD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61" y="3719242"/>
            <a:ext cx="6764054" cy="221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75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4979-A8C6-9E16-2346-8826AB14D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A3DBA3FD-AE43-D695-A45E-4AF4D38E08F0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9728A6D-78F3-C459-58C9-41AFCCB7B303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F9A01B5-550B-9A7C-AAAB-B3B58C5450D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1AFE8C-4F11-CC63-F1E8-8CD15277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328" y="198387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Next Presentation</a:t>
            </a:r>
            <a:endParaRPr lang="en-US" sz="2400" b="1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DFF6076E-D815-7A71-8333-E6590CF98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28" y="1361681"/>
            <a:ext cx="8573167" cy="3596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000" b="1" dirty="0"/>
              <a:t>Cable Calculations</a:t>
            </a:r>
            <a:endParaRPr lang="en-US"/>
          </a:p>
          <a:p>
            <a:pPr>
              <a:lnSpc>
                <a:spcPct val="200000"/>
              </a:lnSpc>
            </a:pPr>
            <a:r>
              <a:rPr lang="en-GB" sz="2000" b="1" dirty="0"/>
              <a:t>Grid/Turbine Services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447BB4A-0017-523D-0026-D2BDAD5F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D0A091-6414-25EB-BC9C-8839F4E00684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>
            <a:extLst>
              <a:ext uri="{FF2B5EF4-FFF2-40B4-BE49-F238E27FC236}">
                <a16:creationId xmlns:a16="http://schemas.microsoft.com/office/drawing/2014/main" id="{D9CAB98B-1608-44FE-CAE7-9716F5E8E019}"/>
              </a:ext>
            </a:extLst>
          </p:cNvPr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E8B4B4-B8A5-F004-5019-F0022D4C16FA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C50FDC-19A4-F94A-75FF-AAEE0F5DC25D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F8A1F3FC-7896-7837-7472-94A877669453}"/>
              </a:ext>
            </a:extLst>
          </p:cNvPr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it-IT" sz="1200" dirty="0">
                <a:solidFill>
                  <a:prstClr val="white"/>
                </a:solidFill>
                <a:latin typeface="Aptos"/>
              </a:rPr>
              <a:t>02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lang="en-US" altLang="it-IT" sz="1200" dirty="0">
                <a:solidFill>
                  <a:prstClr val="white"/>
                </a:solidFill>
                <a:latin typeface="Aptos"/>
              </a:rPr>
              <a:t>12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1BFB01CD-5D1C-895A-9CDB-BF6424813156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368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D82F0-3649-3C5E-C4C3-3ABBA0623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90FA4F0B-173A-E489-3D8A-7DC598AEFD85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FE504320-BE0D-0FA8-C4CD-CE5B5A78BEAC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346355F-3DFC-F009-A28A-3D21B18370D3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EA6720-F3BE-5A1A-99DC-32FE8D7D4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328" y="198387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Next Presentation</a:t>
            </a:r>
            <a:endParaRPr lang="en-US" sz="2400" b="1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308EDB7F-09C4-AC53-9D34-601C4DB08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28" y="1361681"/>
            <a:ext cx="8573167" cy="3596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latin typeface="Arial"/>
                <a:cs typeface="Arial"/>
              </a:rPr>
              <a:t>•</a:t>
            </a:r>
            <a:r>
              <a:rPr lang="en-GB" sz="1800" dirty="0"/>
              <a:t>1.</a:t>
            </a:r>
            <a:r>
              <a:rPr lang="en-GB" sz="1800" dirty="0">
                <a:hlinkClick r:id="rId3"/>
              </a:rPr>
              <a:t>https://www.mdpi.com/1996-1073/14/9/2556?utm_source</a:t>
            </a:r>
            <a:endParaRPr lang="en-GB" sz="2000" b="1" dirty="0"/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/>
                <a:cs typeface="Arial"/>
              </a:rPr>
              <a:t>•</a:t>
            </a:r>
            <a:r>
              <a:rPr lang="en-GB" sz="2000" dirty="0">
                <a:hlinkClick r:id="rId4"/>
              </a:rPr>
              <a:t>https://syrianrenewables.com/</a:t>
            </a:r>
            <a:endParaRPr lang="en-GB"/>
          </a:p>
          <a:p>
            <a:pPr>
              <a:lnSpc>
                <a:spcPct val="200000"/>
              </a:lnSpc>
            </a:pPr>
            <a:endParaRPr lang="en-GB" sz="2000" b="1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68F9510-F01F-8331-18FE-9B580C1DC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8BA0C3-52F8-06A1-1018-630733B819B3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>
            <a:extLst>
              <a:ext uri="{FF2B5EF4-FFF2-40B4-BE49-F238E27FC236}">
                <a16:creationId xmlns:a16="http://schemas.microsoft.com/office/drawing/2014/main" id="{2B64DF8E-C861-59A5-D6DF-14199361B356}"/>
              </a:ext>
            </a:extLst>
          </p:cNvPr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5B5FB-0DC3-8953-6317-2EDADBEC26A7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B7DCA-1E17-5F44-9EE7-F4E0218E5D83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2B176CB0-8A3F-A470-8BD8-29CA44E23349}"/>
              </a:ext>
            </a:extLst>
          </p:cNvPr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it-IT" sz="1200" dirty="0">
                <a:solidFill>
                  <a:prstClr val="white"/>
                </a:solidFill>
                <a:latin typeface="Aptos"/>
              </a:rPr>
              <a:t>02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lang="en-US" altLang="it-IT" sz="1200" dirty="0">
                <a:solidFill>
                  <a:prstClr val="white"/>
                </a:solidFill>
                <a:latin typeface="Aptos"/>
              </a:rPr>
              <a:t>12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E645E220-B202-9946-BE27-90C2FAD66DD8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0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Microsoft Office PowerPoint</Application>
  <PresentationFormat>Widescreen</PresentationFormat>
  <Paragraphs>171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Office Theme</vt:lpstr>
      <vt:lpstr>Custom Design</vt:lpstr>
      <vt:lpstr>1_Office Theme</vt:lpstr>
      <vt:lpstr>Weekly report: Storage System</vt:lpstr>
      <vt:lpstr>PowerPoint Presentation</vt:lpstr>
      <vt:lpstr>Why use Simulink </vt:lpstr>
      <vt:lpstr>Simulink Model</vt:lpstr>
      <vt:lpstr>Simulation Scenarios</vt:lpstr>
      <vt:lpstr>Simulation Scenarios</vt:lpstr>
      <vt:lpstr>Simulation Scenarios</vt:lpstr>
      <vt:lpstr>Grid Services: Steadying the power infeed</vt:lpstr>
      <vt:lpstr>Next Presentation</vt:lpstr>
      <vt:lpstr>Next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Laurence Alhrshy</cp:lastModifiedBy>
  <cp:revision>626</cp:revision>
  <dcterms:created xsi:type="dcterms:W3CDTF">2025-07-21T13:11:00Z</dcterms:created>
  <dcterms:modified xsi:type="dcterms:W3CDTF">2025-12-01T15:30:53Z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2F57D44E6381456FBAA078C14AE94E08_13</vt:lpwstr>
  </property>
  <property fmtid="{D5CDD505-2E9C-101B-9397-08002B2CF9AE}" pid="3" name="KSOProductBuildVer">
    <vt:lpwstr>1033-12.2.0.23131</vt:lpwstr>
  </property>
</Properties>
</file>