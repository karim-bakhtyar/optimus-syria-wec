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71" r:id="rId3"/>
    <p:sldId id="256" r:id="rId4"/>
    <p:sldId id="259" r:id="rId5"/>
    <p:sldId id="319" r:id="rId6"/>
    <p:sldId id="314" r:id="rId7"/>
    <p:sldId id="341" r:id="rId8"/>
    <p:sldId id="343" r:id="rId9"/>
    <p:sldId id="344" r:id="rId10"/>
    <p:sldId id="340" r:id="rId11"/>
    <p:sldId id="337" r:id="rId12"/>
    <p:sldId id="346" r:id="rId13"/>
    <p:sldId id="335" r:id="rId14"/>
    <p:sldId id="334" r:id="rId15"/>
    <p:sldId id="342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1"/>
            <p14:sldId id="256"/>
          </p14:sldIdLst>
        </p14:section>
        <p14:section name="List of Content" id="{531AC0BB-816B-410D-BA56-36D5099BF673}">
          <p14:sldIdLst>
            <p14:sldId id="259"/>
          </p14:sldIdLst>
        </p14:section>
        <p14:section name="Main slides" id="{BD6EF26E-A09A-41FB-8480-E6BC53006862}">
          <p14:sldIdLst>
            <p14:sldId id="319"/>
            <p14:sldId id="314"/>
            <p14:sldId id="341"/>
            <p14:sldId id="343"/>
            <p14:sldId id="344"/>
            <p14:sldId id="340"/>
            <p14:sldId id="337"/>
            <p14:sldId id="346"/>
            <p14:sldId id="335"/>
            <p14:sldId id="334"/>
            <p14:sldId id="342"/>
          </p14:sldIdLst>
        </p14:section>
        <p14:section name="Bibliography" id="{4B1BE071-296A-4A26-8CA8-772A89E6818A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77"/>
    <a:srgbClr val="BDE5F9"/>
    <a:srgbClr val="A1DFFD"/>
    <a:srgbClr val="C0F5FF"/>
    <a:srgbClr val="7ED1F7"/>
    <a:srgbClr val="FFFFFF"/>
    <a:srgbClr val="8ECEFA"/>
    <a:srgbClr val="92C6E6"/>
    <a:srgbClr val="80D2F7"/>
    <a:srgbClr val="3C9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945194-DB86-ED8B-735A-A439406C39CC}" v="2243" dt="2025-11-30T21:55:54.448"/>
    <p1510:client id="{60BF834C-733D-A551-2F3F-28179828E216}" v="1333" dt="2025-12-01T00:24:29.589"/>
    <p1510:client id="{B38BA387-CC59-92B1-F39B-26C8AB4C11A8}" v="518" dt="2025-12-01T08:04:39.394"/>
    <p1510:client id="{C43F3488-F532-F3AF-66AC-202DBAF2AB4E}" v="14" dt="2025-12-01T00:31:43.5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pPr/>
              <a:t>30/11/2025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24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CFF2-C4A0-C88B-1E9C-7E885138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3A8F-E2E3-B4BD-3B84-D178AF0E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BFD4-B46B-34FE-9A8B-9033E96D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40036-D7DD-42C8-B5AA-1A1F3B29326C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83137-53E8-FAAE-F427-32424D86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33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4901-6338-2E30-CCE8-77FD13F5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3F872-E966-4E82-A983-56302FF6F23D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5D97-094A-D8D8-0C4D-1DC08462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01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0F5D-2977-B8B5-3FC5-DF3AE874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47B5-0632-4013-2832-15D3D21A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4BC1-6A36-94FE-17CE-DFAD0BF1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A8C58-2FD7-4CE4-B4DC-DEF691109F84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FD8C-55CD-AD30-1E91-60750BCC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2AD0-0D56-CC63-D932-D1C61C77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48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3C60A-FE48-2910-84A1-612B23A7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AF5F-6746-45B9-A9FE-BBDE38F21A62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67CE-6F73-71D9-BF0B-18A7CD94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80765-E2ED-A6A2-9401-8425BFA0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75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96258-07C0-0BF2-CA2A-156B572B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2A9E8-7F5B-48DD-918E-3D5CE3382CAC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7D047-C31B-4C8F-E0B3-75014FF6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4742A-6F5B-071B-E0EA-98040252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10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DD78-FBCD-76B9-2CA1-031942F2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65290-9E56-44C7-B8BB-35B380DF0EFC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218E7-E787-22C8-B531-FFEC9002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76BDA-2FCA-9763-2EA1-4033A56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70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FDB8F-73D7-2EBC-A62D-4DC73794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F0FC-57EE-4F63-A5B2-1419F641B3FB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8D704-B4F5-F739-D1FA-65F2302B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751D-0392-D26F-33B1-9B05704F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27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85DB-F13A-97BE-F448-17416079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4EF9-9D62-4E5B-A559-3AD64F589666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ACE2-CF77-9AC4-52EF-82FBD40B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D674-CAD3-59F8-9DF5-CA4D8E7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98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AE937-083F-51CA-E382-30FE9BE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FDC8-E43A-43A1-931C-3C6B81D788BC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255A-C1CC-7A32-A0B3-4283D858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013-C03F-024A-D0F4-FF67E670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31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6D05-728D-ACC9-D7EA-DC9D7330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233B-7A79-4043-88EA-ECED45D3F6EF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4FC10-CEAF-B332-2960-AABF9CE2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D6E7-B58D-A523-935C-4B108C9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75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99A6-3C5A-016E-2F7E-AE842F8D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5656-A676-4972-ADDE-468CB1EDD68C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42F9-DB70-E4F8-D075-6A905187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AB33-4759-572E-2291-D19531D8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460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dirty="0" err="1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</a:t>
            </a:r>
            <a:r>
              <a:rPr kumimoji="0" lang="it-IT" sz="6600" b="1" i="0" u="none" strike="noStrike" kern="1200" cap="none" spc="0" normalizeH="0" baseline="0" noProof="0" dirty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17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EF21-84C8-586D-C38F-81DE3F931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3036B-E08D-B4B8-69CB-C42176842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3DB72-09E0-8BDF-14B4-4FA2820C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65BE2-6702-4930-A56D-B5476ACA0DF0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F2740-59F3-8354-CF52-53337A80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C06A1-E2ED-D4C3-86B0-3C972409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508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E779-A5CF-33E3-89F5-B43337C2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D232-4F34-AEFC-AFD0-741DABBA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F2E77-D5DF-1D17-C854-897B9DD3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475-D91E-4E33-BF8F-90378BE577F9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14D6-F2CE-1582-32E1-94A59C7A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27D5C-0D68-9101-A36C-9187E79B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392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8CC5-208E-4B47-6CAD-E29FCCC3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79405-6B60-96C3-7F85-CE10C2877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CBA10-7C40-29AA-A669-FC240702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31E26-A48B-4DE6-94E7-B322713FCCC0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99825-A403-E91C-FFA8-F874E991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BFE7-28C4-5DF1-911F-E0B622E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219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7720-A6A0-DF50-E2F8-F9527E23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D186-8E32-BEAD-C81B-DE65895FD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57542-2B68-1767-C023-57D111E4E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5A417-9018-30E4-0A47-8170AD7D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4A3D-964C-4047-935E-BF23384B028C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AF8F7-6A80-4F6A-4E5F-660537A2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D3418-4BA9-CD34-AE32-0EF41678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36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08D8-A3B6-96B0-A29C-1B8262BE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05487-0425-138F-F9A2-08722722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BCB02-5AB4-A5E9-0917-4B9DD049B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50C77-85F2-0754-8AD9-7A5A4AEF6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DDF01-B6D2-31ED-A641-114B1A0AD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1FCA1D-B4D0-56C6-A678-3E062436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B5ED4-4AEA-4BEE-9543-97F42F3A9DF7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0E1DB4-3501-792C-CAF9-4235B2E9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D0757-7BFA-7895-D03C-767D6405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3179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2EA9-258F-B5EB-624D-2EFA68C4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48340-45BA-0901-1551-9D9DA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72E45-CF5C-48EE-9BF1-31EB6A888072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2F2D2-B0BF-4202-0381-8243671B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6687B-3FE7-76CE-1134-2B3A5D18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6281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E6C1-24CC-682A-8886-999E9A21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E8120-3341-455E-87F6-3553B5B3458C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75448-9567-EFBD-FC78-2B80C2BD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95C70-5A8D-518E-49A4-1BE45385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015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20AB-BD7C-3FEC-DC53-91B04780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A408-CFF5-5EB0-4399-BB87E6CF0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6F81-445C-5EF6-6E32-68D1E9C1C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8E69-7027-0F17-B524-CD221B58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9507-0DDD-4F0A-9398-E897CDBED1CB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45A00-EFDD-31BA-C55F-26A6CC90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ACCAF-2E21-16F5-1C68-06D177E1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473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A28B-29EC-E505-5884-CB4B1C6F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25986-DCF9-FBB5-39AD-D04792C65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AEB0E-C7EC-4F26-009D-409178E43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AB446-5A6F-5112-F417-65A55A0DC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C440-4EA5-4D0A-B191-1DC4B1D8ACAD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2D12D-03AA-1A0A-4595-8E063817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B350E-16AC-3E65-1704-09F648AB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6441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8C89-C725-395E-E708-BEF95E19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E4975-013E-CB40-86C9-4D346B73C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6C674-4D68-9DAC-8E93-7EB627FC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45C8B-BD3D-4C3C-97C3-5C69D979E78D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C36B8-CAAE-BDC6-8DF5-9451A698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750A4-9B92-8DB3-B407-A8A74CEA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8052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9A6511-7D12-4461-0A24-9B3134C2C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222EB-F23C-083B-09C9-48B924AC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908F9-D1F7-F94A-CA98-198F714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1AAB-076A-4A0E-8268-D589047ED16D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1FCF1-AD09-ED98-9C1F-DDCABBE2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3C831-E5D1-B4E6-5F4E-FB9FFB5D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42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6C39C-11C9-4478-AACD-4B99CE86271F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07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24F72-DEC3-C328-E288-A7FC5B1D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096B6-F39D-5D3A-895A-1CE61CD3F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726E2-FBE9-5D75-A698-6FD0ED097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7C1E37-113B-4587-99CC-1F6CD3314CBE}" type="datetime1">
              <a:rPr lang="en-GB" smtClean="0"/>
              <a:pPr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CAFA2-68FA-9BA2-4F27-A8680F507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027B2-667B-4034-930B-AB076347A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48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FC7EDF-25D6-28E8-DCE0-52ED50209C25}"/>
              </a:ext>
            </a:extLst>
          </p:cNvPr>
          <p:cNvSpPr txBox="1"/>
          <p:nvPr/>
        </p:nvSpPr>
        <p:spPr>
          <a:xfrm>
            <a:off x="3913526" y="4104491"/>
            <a:ext cx="4142630" cy="6186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it-IT" sz="1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cs typeface="Times New Roman"/>
              </a:rPr>
              <a:t>Date: </a:t>
            </a:r>
            <a:r>
              <a:rPr lang="it-IT" dirty="0">
                <a:latin typeface="Times New Roman"/>
                <a:cs typeface="Times New Roman"/>
              </a:rPr>
              <a:t>02 </a:t>
            </a:r>
            <a:r>
              <a:rPr lang="it-IT" dirty="0" err="1">
                <a:latin typeface="Times New Roman"/>
                <a:ea typeface="+mn-lt"/>
                <a:cs typeface="+mn-lt"/>
              </a:rPr>
              <a:t>December</a:t>
            </a:r>
            <a:r>
              <a:rPr lang="it-IT" dirty="0">
                <a:latin typeface="Times New Roman"/>
                <a:cs typeface="Times New Roman"/>
              </a:rPr>
              <a:t> </a:t>
            </a:r>
            <a:r>
              <a:rPr kumimoji="0" lang="it-IT" sz="1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cs typeface="Times New Roman"/>
              </a:rPr>
              <a:t>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188679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7672-3CC8-A3D9-5404-84F2B78B6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4045" y="1748938"/>
            <a:ext cx="9144000" cy="912598"/>
          </a:xfrm>
        </p:spPr>
        <p:txBody>
          <a:bodyPr>
            <a:noAutofit/>
          </a:bodyPr>
          <a:lstStyle/>
          <a:p>
            <a:r>
              <a:rPr lang="it-IT" sz="3600" dirty="0">
                <a:latin typeface="Times New Roman"/>
                <a:cs typeface="Times New Roman"/>
              </a:rPr>
              <a:t>Weekly report: Team </a:t>
            </a:r>
            <a:r>
              <a:rPr lang="it-IT" sz="3600" dirty="0" err="1">
                <a:latin typeface="Times New Roman"/>
                <a:cs typeface="Times New Roman"/>
              </a:rPr>
              <a:t>Gearbox</a:t>
            </a:r>
            <a:r>
              <a:rPr lang="it-IT" sz="3600" dirty="0">
                <a:latin typeface="Times New Roman"/>
                <a:cs typeface="Times New Roman"/>
              </a:rPr>
              <a:t>, </a:t>
            </a:r>
            <a:r>
              <a:rPr lang="it-IT" sz="3600" dirty="0" err="1">
                <a:latin typeface="Times New Roman"/>
                <a:cs typeface="Times New Roman"/>
              </a:rPr>
              <a:t>Brake</a:t>
            </a:r>
            <a:r>
              <a:rPr lang="it-IT" sz="3600" dirty="0">
                <a:latin typeface="Times New Roman"/>
                <a:cs typeface="Times New Roman"/>
              </a:rPr>
              <a:t>, </a:t>
            </a:r>
            <a:r>
              <a:rPr lang="it-IT" sz="3600" dirty="0" err="1">
                <a:latin typeface="Times New Roman"/>
                <a:cs typeface="Times New Roman"/>
              </a:rPr>
              <a:t>Coupling</a:t>
            </a:r>
            <a:r>
              <a:rPr lang="it-IT" sz="3600" dirty="0">
                <a:latin typeface="Times New Roman"/>
                <a:cs typeface="Times New Roman"/>
              </a:rPr>
              <a:t> </a:t>
            </a:r>
            <a:endParaRPr lang="en-GB" sz="3600" dirty="0">
              <a:latin typeface="Times New Roman"/>
              <a:cs typeface="Times New Roman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6656" y="2650278"/>
            <a:ext cx="5899051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dirty="0">
                <a:latin typeface="Times New Roman"/>
                <a:cs typeface="Times New Roman"/>
              </a:rPr>
              <a:t>Week </a:t>
            </a:r>
            <a:r>
              <a:rPr lang="it-IT" sz="2000" dirty="0" err="1">
                <a:latin typeface="Times New Roman"/>
                <a:cs typeface="Times New Roman"/>
              </a:rPr>
              <a:t>number</a:t>
            </a:r>
            <a:r>
              <a:rPr lang="it-IT" sz="2000" dirty="0">
                <a:latin typeface="Times New Roman"/>
                <a:cs typeface="Times New Roman"/>
              </a:rPr>
              <a:t> : 10</a:t>
            </a:r>
          </a:p>
          <a:p>
            <a:r>
              <a:rPr lang="it-IT" sz="2000" dirty="0">
                <a:latin typeface="Times New Roman"/>
                <a:cs typeface="Times New Roman"/>
              </a:rPr>
              <a:t>Date: 02/12/2025</a:t>
            </a:r>
          </a:p>
          <a:p>
            <a:r>
              <a:rPr lang="it-IT" sz="2000" dirty="0">
                <a:latin typeface="Times New Roman"/>
                <a:cs typeface="Times New Roman"/>
              </a:rPr>
              <a:t>Supervisor: Prof. Peter </a:t>
            </a:r>
            <a:r>
              <a:rPr lang="it-IT" sz="2000" err="1">
                <a:latin typeface="Times New Roman"/>
                <a:cs typeface="Times New Roman"/>
              </a:rPr>
              <a:t>Quell</a:t>
            </a:r>
            <a:endParaRPr lang="en-GB" sz="2000" err="1">
              <a:latin typeface="Times New Roman"/>
              <a:cs typeface="Times New Roman"/>
            </a:endParaRPr>
          </a:p>
        </p:txBody>
      </p:sp>
      <p:pic>
        <p:nvPicPr>
          <p:cNvPr id="8" name="Picture 8" descr="Hochschule Flensburg (Fachhochschule) – Wikipedia">
            <a:extLst>
              <a:ext uri="{FF2B5EF4-FFF2-40B4-BE49-F238E27FC236}">
                <a16:creationId xmlns:a16="http://schemas.microsoft.com/office/drawing/2014/main" id="{E88D30C2-B846-594F-69A8-55F553804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E7EEC8C-633A-AEB3-3E8A-978E3C75A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13120F1-DE8B-A6AA-A1D5-19926A98F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4" name="Free-form: Shape 13">
            <a:extLst>
              <a:ext uri="{FF2B5EF4-FFF2-40B4-BE49-F238E27FC236}">
                <a16:creationId xmlns:a16="http://schemas.microsoft.com/office/drawing/2014/main" id="{44C88E41-E5B3-0D11-A4D3-711DA18380C9}"/>
              </a:ext>
            </a:extLst>
          </p:cNvPr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>
            <a:extLst>
              <a:ext uri="{FF2B5EF4-FFF2-40B4-BE49-F238E27FC236}">
                <a16:creationId xmlns:a16="http://schemas.microsoft.com/office/drawing/2014/main" id="{C26B78DF-71CA-5509-F4C5-6276C7251B89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>
            <a:extLst>
              <a:ext uri="{FF2B5EF4-FFF2-40B4-BE49-F238E27FC236}">
                <a16:creationId xmlns:a16="http://schemas.microsoft.com/office/drawing/2014/main" id="{2AC7F7CE-A165-18C0-6918-B9EA07638042}"/>
              </a:ext>
            </a:extLst>
          </p:cNvPr>
          <p:cNvSpPr/>
          <p:nvPr/>
        </p:nvSpPr>
        <p:spPr>
          <a:xfrm>
            <a:off x="-299280" y="5942449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>
            <a:extLst>
              <a:ext uri="{FF2B5EF4-FFF2-40B4-BE49-F238E27FC236}">
                <a16:creationId xmlns:a16="http://schemas.microsoft.com/office/drawing/2014/main" id="{735E7E19-AD9A-2739-2D13-BC73EA4C759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sz="11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19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2FD2ECB6-38EA-E857-A881-0C8E141A489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592750"/>
            <a:ext cx="1753782" cy="131363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4389E-5559-8492-2D9E-AFA299DB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4845" y="6542724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2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61359" y="3992437"/>
            <a:ext cx="8495794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Group Members :</a:t>
            </a:r>
            <a:r>
              <a:rPr lang="en-US" dirty="0" err="1">
                <a:latin typeface="Times New Roman"/>
                <a:cs typeface="Times New Roman"/>
              </a:rPr>
              <a:t>Nehang</a:t>
            </a:r>
            <a:r>
              <a:rPr lang="en-US" dirty="0">
                <a:latin typeface="Times New Roman"/>
                <a:cs typeface="Times New Roman"/>
              </a:rPr>
              <a:t> Jitendra </a:t>
            </a:r>
            <a:r>
              <a:rPr lang="en-US" dirty="0" err="1">
                <a:latin typeface="Times New Roman"/>
                <a:cs typeface="Times New Roman"/>
              </a:rPr>
              <a:t>Joshi,Santo</a:t>
            </a:r>
            <a:r>
              <a:rPr lang="en-US" dirty="0">
                <a:latin typeface="Times New Roman"/>
                <a:cs typeface="Times New Roman"/>
              </a:rPr>
              <a:t> Mazumder,</a:t>
            </a:r>
            <a:r>
              <a:rPr lang="fi-FI" dirty="0">
                <a:latin typeface="Times New Roman"/>
                <a:cs typeface="Times New Roman"/>
              </a:rPr>
              <a:t>Md </a:t>
            </a:r>
            <a:r>
              <a:rPr lang="fi-FI" dirty="0" err="1">
                <a:latin typeface="Times New Roman"/>
                <a:cs typeface="Times New Roman"/>
              </a:rPr>
              <a:t>Razaul</a:t>
            </a:r>
            <a:r>
              <a:rPr lang="fi-FI" dirty="0">
                <a:latin typeface="Times New Roman"/>
                <a:cs typeface="Times New Roman"/>
              </a:rPr>
              <a:t> Karim Rahat </a:t>
            </a:r>
            <a:endParaRPr lang="en-US"/>
          </a:p>
          <a:p>
            <a:r>
              <a:rPr lang="fi-FI" dirty="0">
                <a:latin typeface="Times New Roman"/>
                <a:cs typeface="Times New Roman"/>
              </a:rPr>
              <a:t>                              </a:t>
            </a:r>
            <a:endParaRPr lang="fi-FI" dirty="0" err="1">
              <a:latin typeface="Aptos"/>
              <a:cs typeface="Times New Roman"/>
            </a:endParaRPr>
          </a:p>
          <a:p>
            <a:r>
              <a:rPr lang="fi-FI" dirty="0">
                <a:latin typeface="Times New Roman"/>
                <a:cs typeface="Times New Roman"/>
              </a:rPr>
              <a:t>                                        </a:t>
            </a:r>
            <a:r>
              <a:rPr lang="en-GB" dirty="0">
                <a:latin typeface="Times New Roman"/>
                <a:ea typeface="+mn-lt"/>
                <a:cs typeface="+mn-lt"/>
              </a:rPr>
              <a:t>Presented by</a:t>
            </a:r>
            <a:r>
              <a:rPr lang="fi-FI" dirty="0">
                <a:latin typeface="Times New Roman"/>
                <a:cs typeface="Times New Roman"/>
              </a:rPr>
              <a:t> -</a:t>
            </a:r>
            <a:r>
              <a:rPr lang="en-US" dirty="0">
                <a:latin typeface="Times New Roman"/>
                <a:cs typeface="Times New Roman"/>
              </a:rPr>
              <a:t>Santo Mazumder</a:t>
            </a:r>
          </a:p>
          <a:p>
            <a:pPr marL="342900" indent="-342900">
              <a:buFont typeface="+mj-lt"/>
              <a:buAutoNum type="arabicPeriod"/>
            </a:pPr>
            <a:endParaRPr lang="fi-FI">
              <a:latin typeface="Times New Roman"/>
              <a:cs typeface="Times New Roman"/>
            </a:endParaRP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98440240-F425-0B72-2058-EC45CD20C2C8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2-12-2025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hteck 17">
            <a:extLst>
              <a:ext uri="{FF2B5EF4-FFF2-40B4-BE49-F238E27FC236}">
                <a16:creationId xmlns:a16="http://schemas.microsoft.com/office/drawing/2014/main" id="{30319656-CF5E-28CD-1CFD-A3C3C62A9F22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</p:spTree>
    <p:extLst>
      <p:ext uri="{BB962C8B-B14F-4D97-AF65-F5344CB8AC3E}">
        <p14:creationId xmlns:p14="http://schemas.microsoft.com/office/powerpoint/2010/main" val="736408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3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7583" y="445344"/>
            <a:ext cx="4340796" cy="798992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de-DE" sz="2800" dirty="0">
                <a:latin typeface="Times New Roman"/>
                <a:cs typeface="Times New Roman"/>
              </a:rPr>
              <a:t>List of Content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73AD17-49A9-1372-BEA3-994BB76CBDE8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7249" y="1176770"/>
            <a:ext cx="4908022" cy="10566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Wingdings"/>
              <a:buChar char="ü"/>
            </a:pPr>
            <a:r>
              <a:rPr lang="en-GB" dirty="0">
                <a:latin typeface="Times New Roman"/>
                <a:cs typeface="Times New Roman"/>
              </a:rPr>
              <a:t>Calculation of the gearbox</a:t>
            </a:r>
            <a:endParaRPr lang="en-GB" dirty="0">
              <a:latin typeface="Aptos"/>
              <a:cs typeface="Times New Roman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Wingdings"/>
              <a:buChar char="ü"/>
            </a:pPr>
            <a:r>
              <a:rPr lang="en-GB" dirty="0">
                <a:latin typeface="Times New Roman"/>
                <a:cs typeface="Times New Roman"/>
              </a:rPr>
              <a:t>3D design of all stages</a:t>
            </a:r>
            <a:endParaRPr lang="en-US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Wingdings"/>
              <a:buChar char="ü"/>
            </a:pPr>
            <a:r>
              <a:rPr lang="en-GB" dirty="0">
                <a:latin typeface="Times New Roman"/>
                <a:cs typeface="Times New Roman"/>
              </a:rPr>
              <a:t>Bearing use in the gearbox</a:t>
            </a:r>
            <a:endParaRPr lang="en-US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Wingdings"/>
              <a:buChar char="ü"/>
            </a:pPr>
            <a:r>
              <a:rPr lang="de-DE" dirty="0" err="1">
                <a:latin typeface="Times New Roman"/>
                <a:cs typeface="Times New Roman"/>
              </a:rPr>
              <a:t>Cost,Weight</a:t>
            </a:r>
            <a:r>
              <a:rPr lang="de-DE" dirty="0">
                <a:latin typeface="Times New Roman"/>
                <a:cs typeface="Times New Roman"/>
              </a:rPr>
              <a:t> and supplier</a:t>
            </a:r>
            <a:endParaRPr lang="en-US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Wingdings"/>
              <a:buChar char="ü"/>
            </a:pPr>
            <a:r>
              <a:rPr lang="de-DE" dirty="0">
                <a:latin typeface="Times New Roman"/>
                <a:cs typeface="Times New Roman"/>
              </a:rPr>
              <a:t>Coupling </a:t>
            </a:r>
            <a:r>
              <a:rPr lang="de-DE" dirty="0" err="1">
                <a:latin typeface="Times New Roman"/>
                <a:cs typeface="Times New Roman"/>
              </a:rPr>
              <a:t>Displacement</a:t>
            </a:r>
            <a:r>
              <a:rPr lang="de-DE" dirty="0">
                <a:latin typeface="Times New Roman"/>
                <a:cs typeface="Times New Roman"/>
              </a:rPr>
              <a:t> 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Wingdings" pitchFamily="34" charset="0"/>
              <a:buChar char="ü"/>
            </a:pPr>
            <a:endParaRPr lang="en-US" sz="2000" dirty="0">
              <a:latin typeface="Times New Roman"/>
              <a:cs typeface="Times New Roman"/>
            </a:endParaRPr>
          </a:p>
          <a:p>
            <a:pPr marL="229870" indent="-229870">
              <a:lnSpc>
                <a:spcPct val="150000"/>
              </a:lnSpc>
              <a:spcBef>
                <a:spcPts val="1000"/>
              </a:spcBef>
              <a:buFont typeface="Wingdings" pitchFamily="34" charset="0"/>
              <a:buChar char="ü"/>
            </a:pPr>
            <a:endParaRPr lang="en-US" sz="2000">
              <a:latin typeface="Times New Roman"/>
              <a:cs typeface="Times New Roman"/>
            </a:endParaRPr>
          </a:p>
          <a:p>
            <a:pPr marL="229870" indent="-229870">
              <a:lnSpc>
                <a:spcPct val="150000"/>
              </a:lnSpc>
              <a:spcBef>
                <a:spcPts val="1000"/>
              </a:spcBef>
              <a:buFont typeface="Wingdings" pitchFamily="34" charset="0"/>
              <a:buChar char="ü"/>
            </a:pPr>
            <a:endParaRPr lang="en-US" sz="2000" dirty="0">
              <a:latin typeface="Times New Roman"/>
              <a:cs typeface="Times New Roman"/>
            </a:endParaRPr>
          </a:p>
          <a:p>
            <a:pPr marL="229870" indent="-229870">
              <a:lnSpc>
                <a:spcPct val="150000"/>
              </a:lnSpc>
              <a:spcBef>
                <a:spcPts val="1000"/>
              </a:spcBef>
              <a:buFont typeface="Wingdings" pitchFamily="34" charset="0"/>
              <a:buChar char="ü"/>
            </a:pPr>
            <a:endParaRPr lang="en-US" sz="2000">
              <a:latin typeface="Times New Roman"/>
              <a:cs typeface="Times New Roman"/>
            </a:endParaRPr>
          </a:p>
          <a:p>
            <a:endParaRPr lang="en-US" sz="2000">
              <a:latin typeface="Aptos"/>
              <a:cs typeface="Times New Roman"/>
            </a:endParaRPr>
          </a:p>
        </p:txBody>
      </p:sp>
      <p:sp>
        <p:nvSpPr>
          <p:cNvPr id="8" name="Rechteck 17">
            <a:extLst>
              <a:ext uri="{FF2B5EF4-FFF2-40B4-BE49-F238E27FC236}">
                <a16:creationId xmlns:a16="http://schemas.microsoft.com/office/drawing/2014/main" id="{63B77199-F2F5-F9F9-06EC-BD0AB57A03FC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9023AAA1-8831-C3DD-47D8-1F8FC9C754DC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2-12-2025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0EF25-F77B-6BE4-BBE4-F471C13DE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BF528FB-1E91-97F5-8CF5-E26431E1ACC8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B8AE5CC3-0F85-D3E9-E1A0-9A5F5CF54BE6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BE62060B-DF47-56AD-D623-6508A96FB218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2076DCD-8FBC-C35B-7DD6-9AE68BDEF42C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496C440-D4A2-CE7F-B105-72233925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4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B954A8-4E91-ABFC-2D56-D555AAE79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400" b="1">
                <a:latin typeface="Times New Roman"/>
                <a:cs typeface="Times New Roman"/>
              </a:rPr>
              <a:t> Calculations of planetary stages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BD80ED-6864-6039-11CC-9981DB4F4DFC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9CE2403C-DBC4-E8DB-4C71-CE46CA0B69D9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176BADCD-9740-D145-4CDF-D00B39A5BDE9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2-12-2025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D148E-FD5A-6534-8DB3-479A92C12DB6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800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4ED521A0-47A7-195B-6CD1-B58FA65546BD}"/>
              </a:ext>
            </a:extLst>
          </p:cNvPr>
          <p:cNvSpPr txBox="1"/>
          <p:nvPr/>
        </p:nvSpPr>
        <p:spPr>
          <a:xfrm>
            <a:off x="3051617" y="6282850"/>
            <a:ext cx="68517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Times New Roman"/>
                <a:cs typeface="Times New Roman"/>
              </a:rPr>
              <a:t>Reference: Lecture Notes by Prof. Peter Quell and </a:t>
            </a:r>
            <a:r>
              <a:rPr lang="en-IN" sz="1600" err="1">
                <a:latin typeface="Times New Roman"/>
                <a:cs typeface="Times New Roman"/>
              </a:rPr>
              <a:t>PSGdesign</a:t>
            </a:r>
            <a:r>
              <a:rPr lang="en-IN" sz="1600" dirty="0">
                <a:latin typeface="Times New Roman"/>
                <a:cs typeface="Times New Roman"/>
              </a:rPr>
              <a:t> book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F276668-D0FE-064A-0994-E102A5330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797368"/>
              </p:ext>
            </p:extLst>
          </p:nvPr>
        </p:nvGraphicFramePr>
        <p:xfrm>
          <a:off x="459287" y="1221287"/>
          <a:ext cx="11158177" cy="509730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222226">
                  <a:extLst>
                    <a:ext uri="{9D8B030D-6E8A-4147-A177-3AD203B41FA5}">
                      <a16:colId xmlns:a16="http://schemas.microsoft.com/office/drawing/2014/main" val="1341471696"/>
                    </a:ext>
                  </a:extLst>
                </a:gridCol>
                <a:gridCol w="2415688">
                  <a:extLst>
                    <a:ext uri="{9D8B030D-6E8A-4147-A177-3AD203B41FA5}">
                      <a16:colId xmlns:a16="http://schemas.microsoft.com/office/drawing/2014/main" val="714800032"/>
                    </a:ext>
                  </a:extLst>
                </a:gridCol>
                <a:gridCol w="2520263">
                  <a:extLst>
                    <a:ext uri="{9D8B030D-6E8A-4147-A177-3AD203B41FA5}">
                      <a16:colId xmlns:a16="http://schemas.microsoft.com/office/drawing/2014/main" val="2013550408"/>
                    </a:ext>
                  </a:extLst>
                </a:gridCol>
              </a:tblGrid>
              <a:tr h="34952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de-DE" sz="1500" b="1" i="0" dirty="0" err="1">
                          <a:solidFill>
                            <a:srgbClr val="FFFFFF"/>
                          </a:solidFill>
                          <a:effectLst/>
                          <a:latin typeface="Cargan Light"/>
                        </a:rPr>
                        <a:t>Nomenclature</a:t>
                      </a:r>
                      <a:endParaRPr lang="de-DE" b="1" i="0" dirty="0" err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de-DE" sz="1500" b="1" i="0" dirty="0">
                          <a:solidFill>
                            <a:srgbClr val="FFFFFF"/>
                          </a:solidFill>
                          <a:effectLst/>
                          <a:latin typeface="Cargan Light"/>
                        </a:rPr>
                        <a:t>Stage 1</a:t>
                      </a:r>
                      <a:endParaRPr lang="de-DE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de-DE" sz="1500" b="1" i="0" dirty="0">
                          <a:solidFill>
                            <a:srgbClr val="FFFFFF"/>
                          </a:solidFill>
                          <a:effectLst/>
                          <a:latin typeface="Cargan Light"/>
                        </a:rPr>
                        <a:t>Stage 2</a:t>
                      </a:r>
                      <a:endParaRPr lang="de-DE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818229"/>
                  </a:ext>
                </a:extLst>
              </a:tr>
              <a:tr h="26214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Module(mm)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16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14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184728"/>
                  </a:ext>
                </a:extLst>
              </a:tr>
              <a:tr h="26214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i_1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5: 1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4.9 : 1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760429"/>
                  </a:ext>
                </a:extLst>
              </a:tr>
              <a:tr h="26214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z_Sun</a:t>
                      </a:r>
                      <a:endParaRPr lang="en-IN" b="1" i="0" dirty="0" err="1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37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35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344444"/>
                  </a:ext>
                </a:extLst>
              </a:tr>
              <a:tr h="262146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z_Ring</a:t>
                      </a:r>
                      <a:endParaRPr lang="en-IN" b="1" i="0" dirty="0" err="1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115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110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781601"/>
                  </a:ext>
                </a:extLst>
              </a:tr>
              <a:tr h="26214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z_Planet</a:t>
                      </a:r>
                      <a:endParaRPr lang="en-IN" b="1" i="0" dirty="0" err="1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39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37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435228"/>
                  </a:ext>
                </a:extLst>
              </a:tr>
              <a:tr h="26214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No. of Planets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385200"/>
                  </a:ext>
                </a:extLst>
              </a:tr>
              <a:tr h="26214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pl-PL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(</a:t>
                      </a:r>
                      <a:r>
                        <a:rPr lang="pl-PL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z_Sun</a:t>
                      </a:r>
                      <a:r>
                        <a:rPr lang="pl-PL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 + </a:t>
                      </a:r>
                      <a:r>
                        <a:rPr lang="pl-PL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z_Ring</a:t>
                      </a:r>
                      <a:r>
                        <a:rPr lang="pl-PL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)/No. Of </a:t>
                      </a:r>
                      <a:r>
                        <a:rPr lang="pl-PL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Planets</a:t>
                      </a:r>
                      <a:endParaRPr lang="pl-PL" b="1" i="0" dirty="0" err="1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30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36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868893"/>
                  </a:ext>
                </a:extLst>
              </a:tr>
              <a:tr h="26214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Tooth Depth (mm)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36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31.5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669797"/>
                  </a:ext>
                </a:extLst>
              </a:tr>
              <a:tr h="26214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D_Sun</a:t>
                      </a: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(mm)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592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490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194990"/>
                  </a:ext>
                </a:extLst>
              </a:tr>
              <a:tr h="26214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D_Planets</a:t>
                      </a: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(mm)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624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525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971287"/>
                  </a:ext>
                </a:extLst>
              </a:tr>
              <a:tr h="26214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D_Ring</a:t>
                      </a:r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 (mm)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1840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1540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063761"/>
                  </a:ext>
                </a:extLst>
              </a:tr>
              <a:tr h="291274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Gap (mm)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5.19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5.08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813120"/>
                  </a:ext>
                </a:extLst>
              </a:tr>
              <a:tr h="26214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Face Width (mm)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160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140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909916"/>
                  </a:ext>
                </a:extLst>
              </a:tr>
              <a:tr h="26214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n_Ring</a:t>
                      </a: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 (rpm)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0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0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771383"/>
                  </a:ext>
                </a:extLst>
              </a:tr>
              <a:tr h="26214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n_Planet</a:t>
                      </a: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 Carrier (rpm)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10.12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100.37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650778"/>
                  </a:ext>
                </a:extLst>
              </a:tr>
              <a:tr h="26214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n_Sun</a:t>
                      </a: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 (rpm)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32.38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401.48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064488"/>
                  </a:ext>
                </a:extLst>
              </a:tr>
              <a:tr h="26214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i_Sun,Planet</a:t>
                      </a:r>
                      <a:endParaRPr lang="en-IN" b="1" i="0" dirty="0" err="1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1.5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003733"/>
                  </a:ext>
                </a:extLst>
              </a:tr>
              <a:tr h="262147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n_Planet</a:t>
                      </a: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 (rpm)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30.83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32.38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574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68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E592B-A808-5CC6-4995-DA5950992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D205F7-2858-6C1E-0F02-89F20B147930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444807DC-5362-A6CD-6869-FC4B2825281E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0250385-F411-15FC-8B98-031BA8FB938F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7D32871-C2B4-ED41-E285-40157A8030C1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FD6636F-FC26-E004-D2E1-27C6D0D9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5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7F38159-DC58-43DB-89D4-69FE05585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400" b="1">
                <a:latin typeface="Times New Roman"/>
                <a:cs typeface="Times New Roman"/>
              </a:rPr>
              <a:t>Calculation of spur gear stage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91226D-1F36-549D-02B8-3BCC092D0041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7404C9AE-873A-0667-40CB-CEBF4D054075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50E75D59-A11A-CDCE-624E-424D2DFCB833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2-12-2025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9555A-5C64-8E1B-0573-E42F1B58B99A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938CCB-4B15-8C0F-59CC-6B8BB9B2EF39}"/>
              </a:ext>
            </a:extLst>
          </p:cNvPr>
          <p:cNvSpPr txBox="1"/>
          <p:nvPr/>
        </p:nvSpPr>
        <p:spPr>
          <a:xfrm>
            <a:off x="3051617" y="6282850"/>
            <a:ext cx="68517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Times New Roman"/>
                <a:cs typeface="Times New Roman"/>
              </a:rPr>
              <a:t>Reference: Lecture Notes by Prof. Peter Quell and </a:t>
            </a:r>
            <a:r>
              <a:rPr lang="en-IN" sz="1600" err="1">
                <a:latin typeface="Times New Roman"/>
                <a:cs typeface="Times New Roman"/>
              </a:rPr>
              <a:t>PSGdesign</a:t>
            </a:r>
            <a:r>
              <a:rPr lang="en-IN" sz="1600" dirty="0">
                <a:latin typeface="Times New Roman"/>
                <a:cs typeface="Times New Roman"/>
              </a:rPr>
              <a:t> book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F2EAA72-237E-A83B-A1BD-BFD744EF5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747367"/>
              </p:ext>
            </p:extLst>
          </p:nvPr>
        </p:nvGraphicFramePr>
        <p:xfrm>
          <a:off x="962025" y="1292542"/>
          <a:ext cx="10590488" cy="490802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95244">
                  <a:extLst>
                    <a:ext uri="{9D8B030D-6E8A-4147-A177-3AD203B41FA5}">
                      <a16:colId xmlns:a16="http://schemas.microsoft.com/office/drawing/2014/main" val="2576014723"/>
                    </a:ext>
                  </a:extLst>
                </a:gridCol>
                <a:gridCol w="5295244">
                  <a:extLst>
                    <a:ext uri="{9D8B030D-6E8A-4147-A177-3AD203B41FA5}">
                      <a16:colId xmlns:a16="http://schemas.microsoft.com/office/drawing/2014/main" val="793096772"/>
                    </a:ext>
                  </a:extLst>
                </a:gridCol>
              </a:tblGrid>
              <a:tr h="38448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de-DE" sz="1600" b="1" dirty="0" err="1">
                          <a:latin typeface="Times New Roman"/>
                        </a:rPr>
                        <a:t>Nomenlature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de-DE" sz="1600" b="1" i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Values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441628"/>
                  </a:ext>
                </a:extLst>
              </a:tr>
              <a:tr h="295761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Module(mm)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9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056639"/>
                  </a:ext>
                </a:extLst>
              </a:tr>
              <a:tr h="295761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i_1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4.9 : 1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855413"/>
                  </a:ext>
                </a:extLst>
              </a:tr>
              <a:tr h="295761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Center</a:t>
                      </a: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 Distance(mm)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351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590968"/>
                  </a:ext>
                </a:extLst>
              </a:tr>
              <a:tr h="3401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No of Teeth on Gear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100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55644"/>
                  </a:ext>
                </a:extLst>
              </a:tr>
              <a:tr h="295761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No of Teeth on Pinion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22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896898"/>
                  </a:ext>
                </a:extLst>
              </a:tr>
              <a:tr h="384489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Height Factor(mm)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</a:t>
                      </a:r>
                      <a:endParaRPr lang="en-IN" b="1" i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163675"/>
                  </a:ext>
                </a:extLst>
              </a:tr>
              <a:tr h="295761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Tooth Depth(mm)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20.25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033748"/>
                  </a:ext>
                </a:extLst>
              </a:tr>
              <a:tr h="295761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Bottom Clearance (mm)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2.25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321790"/>
                  </a:ext>
                </a:extLst>
              </a:tr>
              <a:tr h="295761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Diameter of input shaft (mm)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100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020870"/>
                  </a:ext>
                </a:extLst>
              </a:tr>
              <a:tr h="294154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Diameter of output shaft (mm)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150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052902"/>
                  </a:ext>
                </a:extLst>
              </a:tr>
              <a:tr h="295761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P.C. Diameter of Gear (mm)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900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939411"/>
                  </a:ext>
                </a:extLst>
              </a:tr>
              <a:tr h="295761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P.C. Diameter of Pinion (mm)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198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740752"/>
                  </a:ext>
                </a:extLst>
              </a:tr>
              <a:tr h="295761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Face width (mm)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90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072099"/>
                  </a:ext>
                </a:extLst>
              </a:tr>
              <a:tr h="251396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Input Shaft (rpm)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401.48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297208"/>
                  </a:ext>
                </a:extLst>
              </a:tr>
              <a:tr h="295761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output Shaft (rpm)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1200</a:t>
                      </a:r>
                      <a:endParaRPr lang="en-IN" b="1" i="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093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031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EEAC5-15B5-A664-9713-932DF28C2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A2F6F41D-8C44-7B7E-9465-30EA2E1FBBB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AB4B3E07-1703-70E1-3244-AEAE64906F39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FFD384B0-E106-6664-5AB5-B6B5E813EABA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1D84F17-9394-94F0-6D11-5A9AD1E53B1B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309CA82-B7A2-4AFF-0DFC-92566F40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6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E7E01B9-4617-FF59-5504-8A23EFEFD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C632B1-4580-8BBE-0C84-DCA638DD4AB5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98A7C059-2E9D-BB97-01B6-634D614880CC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CD3A3FE0-ED50-AA99-3B89-D9F8E0F114C2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2-12-2025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22BC82DC-42F7-C719-E19B-D2964451F8D3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Times New Roman"/>
                <a:ea typeface="Calibri Light"/>
                <a:cs typeface="Calibri Light"/>
              </a:rPr>
              <a:t>3D model design of all stages</a:t>
            </a:r>
          </a:p>
          <a:p>
            <a:pPr algn="ctr"/>
            <a:br>
              <a:rPr lang="en-IN" sz="2800" u="sng" dirty="0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23480F-3034-7E7A-FF31-5F642D5921CF}"/>
              </a:ext>
            </a:extLst>
          </p:cNvPr>
          <p:cNvSpPr txBox="1"/>
          <p:nvPr/>
        </p:nvSpPr>
        <p:spPr>
          <a:xfrm>
            <a:off x="4356412" y="6178466"/>
            <a:ext cx="241546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>
                <a:latin typeface="Times New Roman"/>
                <a:cs typeface="Times New Roman"/>
              </a:rPr>
              <a:t>Reference: Own design</a:t>
            </a:r>
          </a:p>
        </p:txBody>
      </p:sp>
      <p:pic>
        <p:nvPicPr>
          <p:cNvPr id="4" name="Picture 3" descr="A row of gears in different sizes&#10;&#10;AI-generated content may be incorrect.">
            <a:extLst>
              <a:ext uri="{FF2B5EF4-FFF2-40B4-BE49-F238E27FC236}">
                <a16:creationId xmlns:a16="http://schemas.microsoft.com/office/drawing/2014/main" id="{E152306A-0FB4-9E00-3380-76B5AE277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1" y="1394037"/>
            <a:ext cx="8706971" cy="477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4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1EA8-38C4-3BD1-8256-F5DF8B59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0A4AF210-6373-5EC3-BC27-98E3BE078539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88760CA5-7011-C1C6-6404-167176D1258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9908C858-E8FA-B72C-52A1-DA4AB0756A2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2BF15DB-0E57-7735-6D75-2B30F83EAF9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8D7B5AE-3F5D-545C-4B2A-6C870B871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7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46766BA-7448-4CE7-74DA-ED785B5C8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D0A2B5-973B-D5D3-B6FE-B405A21E4E35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4A950BC6-3373-4495-25D0-69C76208437F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5800A9EF-3E7E-D054-9470-3D540A81A35D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2-12-2025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E3D7965D-5FA2-40C5-3493-4330CBA3E82C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400" dirty="0">
                <a:latin typeface="Times New Roman"/>
                <a:ea typeface="Calibri Light"/>
                <a:cs typeface="Times New Roman"/>
              </a:rPr>
              <a:t>Bearing use in the gearbox</a:t>
            </a:r>
            <a:endParaRPr lang="en-US" sz="2800" dirty="0"/>
          </a:p>
          <a:p>
            <a:pPr algn="ctr"/>
            <a:br>
              <a:rPr lang="en-IN" sz="2800" u="sng" dirty="0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pic>
        <p:nvPicPr>
          <p:cNvPr id="3" name="Picture 2" descr="A close-up of several gears&#10;&#10;AI-generated content may be incorrect.">
            <a:extLst>
              <a:ext uri="{FF2B5EF4-FFF2-40B4-BE49-F238E27FC236}">
                <a16:creationId xmlns:a16="http://schemas.microsoft.com/office/drawing/2014/main" id="{A69A4F02-4A96-5057-A8A7-F1727311D5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914" r="-1628" b="-1385"/>
          <a:stretch>
            <a:fillRect/>
          </a:stretch>
        </p:blipFill>
        <p:spPr>
          <a:xfrm>
            <a:off x="378226" y="2522057"/>
            <a:ext cx="5865103" cy="32945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545623-FEB8-DBCC-2DFE-7A86EC032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030" y="1847503"/>
            <a:ext cx="3988092" cy="3792684"/>
          </a:xfrm>
          <a:prstGeom prst="rect">
            <a:avLst/>
          </a:prstGeom>
        </p:spPr>
      </p:pic>
      <p:sp>
        <p:nvSpPr>
          <p:cNvPr id="25" name="TextBox 17">
            <a:extLst>
              <a:ext uri="{FF2B5EF4-FFF2-40B4-BE49-F238E27FC236}">
                <a16:creationId xmlns:a16="http://schemas.microsoft.com/office/drawing/2014/main" id="{FC2959FB-820F-4CE4-8A47-05078ABDA956}"/>
              </a:ext>
            </a:extLst>
          </p:cNvPr>
          <p:cNvSpPr txBox="1"/>
          <p:nvPr/>
        </p:nvSpPr>
        <p:spPr>
          <a:xfrm>
            <a:off x="674994" y="6078271"/>
            <a:ext cx="471587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/>
                <a:cs typeface="Times New Roman"/>
              </a:rPr>
              <a:t>Source: </a:t>
            </a:r>
            <a:r>
              <a:rPr lang="en-IN">
                <a:latin typeface="Times New Roman"/>
                <a:cs typeface="Times New Roman"/>
              </a:rPr>
              <a:t>Gearbox - Schaeffler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4778E2-2A1D-CF8B-6DAF-189F3DF76A37}"/>
              </a:ext>
            </a:extLst>
          </p:cNvPr>
          <p:cNvSpPr txBox="1"/>
          <p:nvPr/>
        </p:nvSpPr>
        <p:spPr>
          <a:xfrm>
            <a:off x="688932" y="151878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latin typeface="Times New Roman"/>
                <a:cs typeface="Times New Roman"/>
              </a:rPr>
              <a:t>Planet Gear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678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301C2-8AA1-3C66-E89F-D488355A5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D5DF647-995A-AFEC-BED0-47E8BD00CCDB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A7FCB151-864B-31C9-7136-8B77913D590E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C8330BF8-E273-E488-FF8C-BB5BD774A451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7D9A748-E5D4-7190-CB20-E7BABE93A471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FE0A6F1-6A31-87B3-100B-C930FCAD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8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08ECA0-585A-B7ED-5FCF-F2D6BE613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D0FAFA-BF6F-4616-F5DD-BF46DEBFEEC0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46050A28-F62E-8D21-164D-FDFA369F29B6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9CB219C-FE4F-05A1-240D-4BFD65BA9CB5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2-12-2025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06D2CB74-D104-BCFF-BD2B-D09566084107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400" dirty="0">
                <a:latin typeface="Times New Roman"/>
                <a:ea typeface="Calibri Light"/>
                <a:cs typeface="Times New Roman"/>
              </a:rPr>
              <a:t>Bearing use in the gearbox</a:t>
            </a:r>
            <a:endParaRPr lang="en-US" sz="2800" dirty="0"/>
          </a:p>
          <a:p>
            <a:pPr algn="ctr"/>
            <a:br>
              <a:rPr lang="en-IN" sz="2800" u="sng" dirty="0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25B550BF-623B-D005-ACD2-7C49B73AB75B}"/>
              </a:ext>
            </a:extLst>
          </p:cNvPr>
          <p:cNvSpPr txBox="1"/>
          <p:nvPr/>
        </p:nvSpPr>
        <p:spPr>
          <a:xfrm>
            <a:off x="674994" y="6078271"/>
            <a:ext cx="471587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/>
                <a:cs typeface="Times New Roman"/>
              </a:rPr>
              <a:t>Source: </a:t>
            </a:r>
            <a:r>
              <a:rPr lang="en-IN">
                <a:latin typeface="Times New Roman"/>
                <a:cs typeface="Times New Roman"/>
              </a:rPr>
              <a:t>Gearbox - Schaeffler</a:t>
            </a:r>
          </a:p>
        </p:txBody>
      </p:sp>
      <p:pic>
        <p:nvPicPr>
          <p:cNvPr id="26" name="Picture 25" descr="A close-up of a mechanical gear&#10;&#10;AI-generated content may be incorrect.">
            <a:extLst>
              <a:ext uri="{FF2B5EF4-FFF2-40B4-BE49-F238E27FC236}">
                <a16:creationId xmlns:a16="http://schemas.microsoft.com/office/drawing/2014/main" id="{39ED7CDC-0DE9-EF64-07EC-AC671FF50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49" y="1866851"/>
            <a:ext cx="5279442" cy="31230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A70EE6-194F-55EA-142B-4ED39ABE9CA2}"/>
              </a:ext>
            </a:extLst>
          </p:cNvPr>
          <p:cNvSpPr txBox="1"/>
          <p:nvPr/>
        </p:nvSpPr>
        <p:spPr>
          <a:xfrm>
            <a:off x="480164" y="1226507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latin typeface="Times New Roman"/>
                <a:cs typeface="Times New Roman"/>
              </a:rPr>
              <a:t>Intermediate / Output Shaft</a:t>
            </a:r>
          </a:p>
          <a:p>
            <a:pPr algn="ctr"/>
            <a:endParaRPr lang="en-US"/>
          </a:p>
        </p:txBody>
      </p:sp>
      <p:pic>
        <p:nvPicPr>
          <p:cNvPr id="12" name="Picture 11" descr="A black object with text&#10;&#10;AI-generated content may be incorrect.">
            <a:extLst>
              <a:ext uri="{FF2B5EF4-FFF2-40B4-BE49-F238E27FC236}">
                <a16:creationId xmlns:a16="http://schemas.microsoft.com/office/drawing/2014/main" id="{EB286292-9CEA-4FA6-AE40-706240F34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702" y="2159043"/>
            <a:ext cx="6443858" cy="244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07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7D003-EB1B-2423-4EC3-D6C022F2C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86145272-3A8F-498B-1CAB-759BD74BD739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1602CC6E-7C3C-3FAC-7054-7A3FC927BD18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3F551CAA-3782-0AD9-9B1B-9702A8C41C3D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B79A896-5614-A032-4C6D-1968B31D77BB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9F70872-417D-ED6D-BB5F-CBCDDEB6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9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569A699-1D28-448D-8780-17F59286B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1C74DF-5DF9-76CE-66A1-5F52D4868429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D7B0B832-F1F6-53B6-4DA1-C60997B3CFAA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4274EB35-E2E1-CC62-CE60-B6C8A02319E2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2-12-2025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79BFBDAD-93AE-E386-33AF-6425D2D3E81A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Times New Roman"/>
                <a:ea typeface="Calibri Light"/>
                <a:cs typeface="Calibri Light"/>
              </a:rPr>
              <a:t>Material</a:t>
            </a:r>
          </a:p>
          <a:p>
            <a:pPr algn="ctr"/>
            <a:br>
              <a:rPr lang="en-IN" sz="2800" u="sng" dirty="0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A026E2-FA15-4E9D-27CA-6CAA33698B1C}"/>
              </a:ext>
            </a:extLst>
          </p:cNvPr>
          <p:cNvGraphicFramePr>
            <a:graphicFrameLocks noGrp="1"/>
          </p:cNvGraphicFramePr>
          <p:nvPr/>
        </p:nvGraphicFramePr>
        <p:xfrm>
          <a:off x="688963" y="1570640"/>
          <a:ext cx="10856568" cy="2575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8856">
                  <a:extLst>
                    <a:ext uri="{9D8B030D-6E8A-4147-A177-3AD203B41FA5}">
                      <a16:colId xmlns:a16="http://schemas.microsoft.com/office/drawing/2014/main" val="4062484623"/>
                    </a:ext>
                  </a:extLst>
                </a:gridCol>
                <a:gridCol w="3618856">
                  <a:extLst>
                    <a:ext uri="{9D8B030D-6E8A-4147-A177-3AD203B41FA5}">
                      <a16:colId xmlns:a16="http://schemas.microsoft.com/office/drawing/2014/main" val="988208899"/>
                    </a:ext>
                  </a:extLst>
                </a:gridCol>
                <a:gridCol w="3618856">
                  <a:extLst>
                    <a:ext uri="{9D8B030D-6E8A-4147-A177-3AD203B41FA5}">
                      <a16:colId xmlns:a16="http://schemas.microsoft.com/office/drawing/2014/main" val="4164272964"/>
                    </a:ext>
                  </a:extLst>
                </a:gridCol>
              </a:tblGrid>
              <a:tr h="51507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FFFFFF"/>
                          </a:solidFill>
                          <a:latin typeface="Times New Roman"/>
                        </a:rPr>
                        <a:t>Components</a:t>
                      </a:r>
                      <a:endParaRPr lang="en-US" b="1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FFFFFF"/>
                          </a:solidFill>
                          <a:latin typeface="Times New Roman"/>
                        </a:rPr>
                        <a:t>Material</a:t>
                      </a:r>
                      <a:endParaRPr lang="en-US" b="1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378058"/>
                  </a:ext>
                </a:extLst>
              </a:tr>
              <a:tr h="51507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Gearbox housing</a:t>
                      </a:r>
                      <a:endParaRPr lang="en-US" b="1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Cast iron (GJS 400-18-LT)</a:t>
                      </a:r>
                      <a:endParaRPr lang="en-US" b="1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691404"/>
                  </a:ext>
                </a:extLst>
              </a:tr>
              <a:tr h="51507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Gears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latin typeface="Times New Roman"/>
                        </a:rPr>
                        <a:t>18CrNiMo 7-6 grade steel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93321"/>
                  </a:ext>
                </a:extLst>
              </a:tr>
              <a:tr h="51507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Cast iron (GJS 400-18-LT)</a:t>
                      </a:r>
                      <a:endParaRPr lang="en-US" b="1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177085"/>
                  </a:ext>
                </a:extLst>
              </a:tr>
              <a:tr h="51507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Brake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Cast iron (GJS 400-18-LT)</a:t>
                      </a:r>
                      <a:endParaRPr lang="en-US" b="1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163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0393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07C05-3F90-9266-79B2-852BA51A0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284BB966-5785-6E99-F127-0DA36C406DB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8EFC822C-98EB-D02D-9EA2-6757254FB070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4DB29227-3CD1-ADF8-298F-79AAF63899F8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2BE8B3D-546B-6FC9-0E6A-7EDA74F784F1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DB80E0E-B449-BF5E-72AB-D5D08983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10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5E03ACC-C26D-6FB6-37E3-C7927EB22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02ABF6-A010-4F90-48F3-A9CA68443683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FCE3C34A-AC2E-42C1-3248-B81645CD92E4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A4D3F9B-C8BF-A2A4-C73A-82C0FB1A71C7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2-12-2025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B5702499-23A8-B1C1-B21E-86EDBEE8667D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Times New Roman"/>
                <a:ea typeface="Calibri Light"/>
                <a:cs typeface="Calibri Light"/>
              </a:rPr>
              <a:t>Weight and Cost estimation </a:t>
            </a:r>
          </a:p>
          <a:p>
            <a:pPr algn="ctr"/>
            <a:br>
              <a:rPr lang="en-IN" sz="2800" u="sng" dirty="0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D85EE3B-E437-4C0F-1CAC-8CAA4D531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050007"/>
              </p:ext>
            </p:extLst>
          </p:nvPr>
        </p:nvGraphicFramePr>
        <p:xfrm>
          <a:off x="427972" y="1388301"/>
          <a:ext cx="11175996" cy="3496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3999">
                  <a:extLst>
                    <a:ext uri="{9D8B030D-6E8A-4147-A177-3AD203B41FA5}">
                      <a16:colId xmlns:a16="http://schemas.microsoft.com/office/drawing/2014/main" val="3136422432"/>
                    </a:ext>
                  </a:extLst>
                </a:gridCol>
                <a:gridCol w="2793999">
                  <a:extLst>
                    <a:ext uri="{9D8B030D-6E8A-4147-A177-3AD203B41FA5}">
                      <a16:colId xmlns:a16="http://schemas.microsoft.com/office/drawing/2014/main" val="964762032"/>
                    </a:ext>
                  </a:extLst>
                </a:gridCol>
                <a:gridCol w="2793999">
                  <a:extLst>
                    <a:ext uri="{9D8B030D-6E8A-4147-A177-3AD203B41FA5}">
                      <a16:colId xmlns:a16="http://schemas.microsoft.com/office/drawing/2014/main" val="475269150"/>
                    </a:ext>
                  </a:extLst>
                </a:gridCol>
                <a:gridCol w="2793999">
                  <a:extLst>
                    <a:ext uri="{9D8B030D-6E8A-4147-A177-3AD203B41FA5}">
                      <a16:colId xmlns:a16="http://schemas.microsoft.com/office/drawing/2014/main" val="710244737"/>
                    </a:ext>
                  </a:extLst>
                </a:gridCol>
              </a:tblGrid>
              <a:tr h="49953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Weight estimation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Cost estimation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514451"/>
                  </a:ext>
                </a:extLst>
              </a:tr>
              <a:tr h="49953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Gearbox Housing *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6500-7000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15700 USD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376423"/>
                  </a:ext>
                </a:extLst>
              </a:tr>
              <a:tr h="49953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Gears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5000-6000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33500 USD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588940"/>
                  </a:ext>
                </a:extLst>
              </a:tr>
              <a:tr h="49953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Bearings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1100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20500 USD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392726"/>
                  </a:ext>
                </a:extLst>
              </a:tr>
              <a:tr h="49953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Brake *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150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3000 USD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469293"/>
                  </a:ext>
                </a:extLst>
              </a:tr>
              <a:tr h="49953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Coupling *1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200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1200 USD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5203"/>
                  </a:ext>
                </a:extLst>
              </a:tr>
              <a:tr h="49953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Internal shaft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3000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11000 USD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7534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5E93BF6-C42B-7F26-1A08-10D48C37A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445680"/>
              </p:ext>
            </p:extLst>
          </p:nvPr>
        </p:nvGraphicFramePr>
        <p:xfrm>
          <a:off x="1875981" y="5263061"/>
          <a:ext cx="81686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280376971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1320698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Total Weight</a:t>
                      </a:r>
                    </a:p>
                  </a:txBody>
                  <a:tcPr>
                    <a:solidFill>
                      <a:srgbClr val="EBE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19,600 Kg</a:t>
                      </a:r>
                    </a:p>
                  </a:txBody>
                  <a:tcPr>
                    <a:solidFill>
                      <a:srgbClr val="EBED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309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Total cost</a:t>
                      </a:r>
                    </a:p>
                  </a:txBody>
                  <a:tcPr>
                    <a:solidFill>
                      <a:srgbClr val="EBE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85,400 – 1,50,000 USD</a:t>
                      </a:r>
                    </a:p>
                  </a:txBody>
                  <a:tcPr>
                    <a:solidFill>
                      <a:srgbClr val="EBED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817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23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E54B6-C7A3-0F17-5F9C-069A21FF1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8310D3BA-47B6-CBB3-2C66-C4BE28EF5BEA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3DA86AAD-38C5-48E4-DB52-11A4EDF109DB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178D95C2-7D70-07B2-C18D-8271C621D4A4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7CC7338-3B69-DFDF-DCBD-41943AC2165D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27E223D-7C94-C61F-A122-0C3A7CFF6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11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8FC1CBC-EEC8-CEF4-97F1-EB85E759B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766058D-F17D-EB13-2D1C-2C677359B739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BA60E0A6-237E-1C53-8E08-B710A537A8F7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D69FEE34-D030-9A7D-18F0-ED62B22F6CDE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2-12-2025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F05C6802-3A72-41FE-C11A-65B81E8D3977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Times New Roman"/>
                <a:ea typeface="Calibri Light"/>
                <a:cs typeface="Calibri Light"/>
              </a:rPr>
              <a:t>Weight and Cost estimation Bolted flange concept</a:t>
            </a:r>
          </a:p>
          <a:p>
            <a:pPr algn="ctr"/>
            <a:br>
              <a:rPr lang="en-IN" sz="2800" u="sng" dirty="0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789DD8-3D63-1011-7C74-C845BEE3B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691232"/>
              </p:ext>
            </p:extLst>
          </p:nvPr>
        </p:nvGraphicFramePr>
        <p:xfrm>
          <a:off x="1630680" y="1719700"/>
          <a:ext cx="8617094" cy="2901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8547">
                  <a:extLst>
                    <a:ext uri="{9D8B030D-6E8A-4147-A177-3AD203B41FA5}">
                      <a16:colId xmlns:a16="http://schemas.microsoft.com/office/drawing/2014/main" val="225788200"/>
                    </a:ext>
                  </a:extLst>
                </a:gridCol>
                <a:gridCol w="4308547">
                  <a:extLst>
                    <a:ext uri="{9D8B030D-6E8A-4147-A177-3AD203B41FA5}">
                      <a16:colId xmlns:a16="http://schemas.microsoft.com/office/drawing/2014/main" val="1931570291"/>
                    </a:ext>
                  </a:extLst>
                </a:gridCol>
              </a:tblGrid>
              <a:tr h="967056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Weight  and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4500 Kg and 32,500 USD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450120"/>
                  </a:ext>
                </a:extLst>
              </a:tr>
              <a:tr h="96705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Material </a:t>
                      </a:r>
                      <a:endParaRPr lang="en-US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EN-GJS-400-18-LT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695905"/>
                  </a:ext>
                </a:extLst>
              </a:tr>
              <a:tr h="96705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Bolts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M39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117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7648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8A916-550E-79EF-759E-6706F31DE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5763545A-1556-9732-32EC-602B38FC1A89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A99D4159-B319-2ED6-3815-A4C1F0B23577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53AD8317-B3CE-59A2-AF8C-371850686B26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21A222E-B416-69DA-B414-AF44FB2FBDD5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C8CD228-B2D2-CBF2-EFE1-1D6C118CA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12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0437DF-6CF2-5C6A-4539-5570415E0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E6A6EF-9757-09A7-C083-B316EDF45EE4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585126D1-E416-8C24-92E9-2638801E9972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5FE6C83-7E2B-B9DD-C6CE-DEB3C57C6D21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2-12-2025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CEBE3A35-C826-4F14-1668-3D8FA5418E6A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Times New Roman"/>
                <a:ea typeface="Calibri Light"/>
                <a:cs typeface="Calibri Light"/>
              </a:rPr>
              <a:t>Supplier for different components </a:t>
            </a:r>
          </a:p>
          <a:p>
            <a:pPr algn="ctr"/>
            <a:br>
              <a:rPr lang="en-IN" sz="2800" u="sng" dirty="0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3B4860-6A6B-D0D8-EF90-197D4BC8D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334988"/>
              </p:ext>
            </p:extLst>
          </p:nvPr>
        </p:nvGraphicFramePr>
        <p:xfrm>
          <a:off x="1187049" y="1223417"/>
          <a:ext cx="9542034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0678">
                  <a:extLst>
                    <a:ext uri="{9D8B030D-6E8A-4147-A177-3AD203B41FA5}">
                      <a16:colId xmlns:a16="http://schemas.microsoft.com/office/drawing/2014/main" val="2999042393"/>
                    </a:ext>
                  </a:extLst>
                </a:gridCol>
                <a:gridCol w="3180678">
                  <a:extLst>
                    <a:ext uri="{9D8B030D-6E8A-4147-A177-3AD203B41FA5}">
                      <a16:colId xmlns:a16="http://schemas.microsoft.com/office/drawing/2014/main" val="2576533617"/>
                    </a:ext>
                  </a:extLst>
                </a:gridCol>
                <a:gridCol w="3180678">
                  <a:extLst>
                    <a:ext uri="{9D8B030D-6E8A-4147-A177-3AD203B41FA5}">
                      <a16:colId xmlns:a16="http://schemas.microsoft.com/office/drawing/2014/main" val="1015245501"/>
                    </a:ext>
                  </a:extLst>
                </a:gridCol>
              </a:tblGrid>
              <a:tr h="358298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Supplier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089741"/>
                  </a:ext>
                </a:extLst>
              </a:tr>
              <a:tr h="86588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Gearbox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ZF wind </a:t>
                      </a:r>
                    </a:p>
                    <a:p>
                      <a:pPr lvl="0">
                        <a:buNone/>
                      </a:pPr>
                      <a:endParaRPr lang="en-US" b="1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b="1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b="1" dirty="0" err="1">
                          <a:latin typeface="Times New Roman"/>
                        </a:rPr>
                        <a:t>Winergy</a:t>
                      </a:r>
                      <a:endParaRPr lang="en-US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Belgium </a:t>
                      </a:r>
                    </a:p>
                    <a:p>
                      <a:pPr lvl="0">
                        <a:buNone/>
                      </a:pPr>
                      <a:endParaRPr lang="en-US" b="1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b="1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b="1" dirty="0">
                          <a:latin typeface="Times New Roman"/>
                        </a:rPr>
                        <a:t>Germany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663406"/>
                  </a:ext>
                </a:extLst>
              </a:tr>
              <a:tr h="86588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Brake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Svendborg</a:t>
                      </a:r>
                    </a:p>
                    <a:p>
                      <a:pPr lvl="0">
                        <a:buNone/>
                      </a:pPr>
                      <a:endParaRPr lang="en-US" b="1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b="1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b="1" dirty="0">
                          <a:latin typeface="Times New Roman"/>
                        </a:rPr>
                        <a:t>KTR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Denmark</a:t>
                      </a:r>
                    </a:p>
                    <a:p>
                      <a:pPr lvl="0">
                        <a:buNone/>
                      </a:pPr>
                      <a:endParaRPr lang="en-US" b="1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b="1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b="1" dirty="0">
                          <a:latin typeface="Times New Roman"/>
                        </a:rPr>
                        <a:t>Germany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032759"/>
                  </a:ext>
                </a:extLst>
              </a:tr>
              <a:tr h="46777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b="1" dirty="0">
                          <a:latin typeface="Times New Roman"/>
                        </a:rPr>
                        <a:t>KTR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b="1" dirty="0">
                          <a:latin typeface="Times New Roman"/>
                        </a:rPr>
                        <a:t>Germany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288667"/>
                  </a:ext>
                </a:extLst>
              </a:tr>
            </a:tbl>
          </a:graphicData>
        </a:graphic>
      </p:graphicFrame>
      <p:sp>
        <p:nvSpPr>
          <p:cNvPr id="16" name="TextBox 17">
            <a:extLst>
              <a:ext uri="{FF2B5EF4-FFF2-40B4-BE49-F238E27FC236}">
                <a16:creationId xmlns:a16="http://schemas.microsoft.com/office/drawing/2014/main" id="{28E07C5B-479C-DDEA-CFE7-6F702EDA87BF}"/>
              </a:ext>
            </a:extLst>
          </p:cNvPr>
          <p:cNvSpPr txBox="1"/>
          <p:nvPr/>
        </p:nvSpPr>
        <p:spPr>
          <a:xfrm>
            <a:off x="622802" y="5013559"/>
            <a:ext cx="11250281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latin typeface="Times New Roman"/>
                <a:cs typeface="Times New Roman"/>
              </a:rPr>
              <a:t>Note- Above all the companies are located in Europe but they are able to supply across to 5 continents. </a:t>
            </a:r>
          </a:p>
        </p:txBody>
      </p:sp>
    </p:spTree>
    <p:extLst>
      <p:ext uri="{BB962C8B-B14F-4D97-AF65-F5344CB8AC3E}">
        <p14:creationId xmlns:p14="http://schemas.microsoft.com/office/powerpoint/2010/main" val="4088710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80612-48BE-A94B-EF87-96C168899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B3CB9AF2-7055-5C12-434F-ABB417464A5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8358290C-459C-6856-38CB-D8181EFB2C75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0DAB701D-B101-0392-A5E8-EA966CE307B4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CAA5CF1-8F43-C586-E11C-14E74D5926FA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01E3B5-F9E5-7F35-68B2-143750E63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13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53CB95-6F72-086E-4517-9BFBEB9A3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568" y="301570"/>
            <a:ext cx="9085324" cy="798992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800">
                <a:latin typeface="Times New Roman"/>
                <a:cs typeface="Times New Roman"/>
              </a:rPr>
              <a:t>Various Displacements on Coupling</a:t>
            </a:r>
            <a:endParaRPr lang="en-US" sz="28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5268AA-18CC-E1EA-2975-C5492F4A5EC0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9264184F-1CDA-C7BC-4461-18D6607B46B5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22D00A41-BBED-A6A1-D602-8172FCF068F9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2-12-2025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A84BAA-A644-D8B6-C5C2-66E9D12D9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452362"/>
              </p:ext>
            </p:extLst>
          </p:nvPr>
        </p:nvGraphicFramePr>
        <p:xfrm>
          <a:off x="838200" y="1792795"/>
          <a:ext cx="10763122" cy="43060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81561">
                  <a:extLst>
                    <a:ext uri="{9D8B030D-6E8A-4147-A177-3AD203B41FA5}">
                      <a16:colId xmlns:a16="http://schemas.microsoft.com/office/drawing/2014/main" val="421579290"/>
                    </a:ext>
                  </a:extLst>
                </a:gridCol>
                <a:gridCol w="5381561">
                  <a:extLst>
                    <a:ext uri="{9D8B030D-6E8A-4147-A177-3AD203B41FA5}">
                      <a16:colId xmlns:a16="http://schemas.microsoft.com/office/drawing/2014/main" val="113295693"/>
                    </a:ext>
                  </a:extLst>
                </a:gridCol>
              </a:tblGrid>
              <a:tr h="478453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Components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Type of Displacement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88013"/>
                  </a:ext>
                </a:extLst>
              </a:tr>
              <a:tr h="478453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IN" sz="18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Elastomeric bearing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IN" sz="18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Radial displacement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642931"/>
                  </a:ext>
                </a:extLst>
              </a:tr>
              <a:tr h="478453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IN" sz="18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Rotor bearing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IN" sz="18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Axial displacement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126272"/>
                  </a:ext>
                </a:extLst>
              </a:tr>
              <a:tr h="478453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IN" sz="18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Ball bearing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IN" sz="18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Axial and Angular displacement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787291"/>
                  </a:ext>
                </a:extLst>
              </a:tr>
              <a:tr h="478453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Cylindrical Roller bearing (position-main shaft)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IN" sz="18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Radial displacement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370152"/>
                  </a:ext>
                </a:extLst>
              </a:tr>
              <a:tr h="478453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Spherical Roller bearing (Main bearing)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IN" sz="18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Axial and radial displacement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79927"/>
                  </a:ext>
                </a:extLst>
              </a:tr>
              <a:tr h="478453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IN" sz="18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Tapered Roller bearing (Position- Gearbox)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IN" sz="18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Axial displacement.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637136"/>
                  </a:ext>
                </a:extLst>
              </a:tr>
              <a:tr h="478453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Slewing Ring bearing(position- pitch and yaw)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IN" sz="18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Axial, radial and angular.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122052"/>
                  </a:ext>
                </a:extLst>
              </a:tr>
              <a:tr h="478453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IN" sz="18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Tower 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IN" sz="1800" b="0" i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Angular displacement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988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9398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9DC84-CD1B-692E-FE94-ED169541D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38A47C7B-F9B5-EFB0-8CB6-A49060CAFCCA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B4D28D4D-13A5-2A28-9E33-997DAF8B94E9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94EE9426-ABF1-906A-2199-126C57C6F97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3CA760C-6AA6-998A-6226-24319BF9A9C5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3086075-971A-57E9-5A36-6301D89B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14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D4BD56A-5662-DAE1-3B7F-67D1F0557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568" y="301570"/>
            <a:ext cx="9085324" cy="798992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800">
                <a:latin typeface="Times New Roman"/>
                <a:cs typeface="Times New Roman"/>
              </a:rPr>
              <a:t>Next Steps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69CEFF-6869-2C3E-5EED-54982455BBD1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6EEDB426-D240-9356-723E-A1607BD9FDB8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DB07902B-1797-0885-59E3-30A9B6FCA1A1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2-12-2025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55AB6-22AB-A928-C3A0-065AE9AB7325}"/>
              </a:ext>
            </a:extLst>
          </p:cNvPr>
          <p:cNvSpPr txBox="1"/>
          <p:nvPr/>
        </p:nvSpPr>
        <p:spPr>
          <a:xfrm>
            <a:off x="607249" y="1176770"/>
            <a:ext cx="4908022" cy="99770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de-DE" dirty="0">
                <a:latin typeface="Times New Roman"/>
                <a:cs typeface="Times New Roman"/>
              </a:rPr>
              <a:t>1.Bearing and </a:t>
            </a:r>
            <a:r>
              <a:rPr lang="de-DE" dirty="0" err="1">
                <a:latin typeface="Times New Roman"/>
                <a:cs typeface="Times New Roman"/>
              </a:rPr>
              <a:t>shaft</a:t>
            </a:r>
            <a:r>
              <a:rPr lang="de-DE" dirty="0">
                <a:latin typeface="Times New Roman"/>
                <a:cs typeface="Times New Roman"/>
              </a:rPr>
              <a:t> </a:t>
            </a:r>
            <a:r>
              <a:rPr lang="de-DE" dirty="0" err="1">
                <a:latin typeface="Times New Roman"/>
                <a:cs typeface="Times New Roman"/>
              </a:rPr>
              <a:t>calculation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GB" dirty="0">
                <a:latin typeface="Times New Roman"/>
                <a:cs typeface="Times New Roman"/>
              </a:rPr>
              <a:t>2.Draft model of gearbox housing</a:t>
            </a:r>
            <a:endParaRPr lang="en-GB" sz="2400" dirty="0">
              <a:latin typeface="Aptos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GB" dirty="0">
                <a:latin typeface="Times New Roman"/>
                <a:cs typeface="Times New Roman"/>
              </a:rPr>
              <a:t>3.Coupling design and calculation</a:t>
            </a:r>
            <a:endParaRPr lang="en-GB" dirty="0">
              <a:latin typeface="Aptos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GB" dirty="0">
                <a:latin typeface="Times New Roman"/>
                <a:cs typeface="Times New Roman"/>
              </a:rPr>
              <a:t>4.Brake </a:t>
            </a:r>
            <a:r>
              <a:rPr lang="en-GB" dirty="0" err="1">
                <a:latin typeface="Times New Roman"/>
                <a:cs typeface="Times New Roman"/>
              </a:rPr>
              <a:t>caliper</a:t>
            </a:r>
            <a:r>
              <a:rPr lang="en-GB" dirty="0">
                <a:latin typeface="Times New Roman"/>
                <a:cs typeface="Times New Roman"/>
              </a:rPr>
              <a:t> design and calculation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" pitchFamily="34" charset="0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229870" indent="-229870">
              <a:lnSpc>
                <a:spcPct val="150000"/>
              </a:lnSpc>
              <a:spcBef>
                <a:spcPts val="1000"/>
              </a:spcBef>
              <a:buFont typeface="Arial" pitchFamily="34" charset="0"/>
              <a:buChar char="•"/>
            </a:pPr>
            <a:endParaRPr lang="en-US" sz="2000">
              <a:latin typeface="Times New Roman"/>
              <a:cs typeface="Times New Roman"/>
            </a:endParaRPr>
          </a:p>
          <a:p>
            <a:pPr marL="229870" indent="-229870">
              <a:lnSpc>
                <a:spcPct val="150000"/>
              </a:lnSpc>
              <a:spcBef>
                <a:spcPts val="1000"/>
              </a:spcBef>
              <a:buFont typeface="Arial" pitchFamily="34" charset="0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229870" indent="-229870">
              <a:lnSpc>
                <a:spcPct val="150000"/>
              </a:lnSpc>
              <a:spcBef>
                <a:spcPts val="1000"/>
              </a:spcBef>
              <a:buFont typeface="Arial" pitchFamily="34" charset="0"/>
              <a:buChar char="•"/>
            </a:pPr>
            <a:endParaRPr lang="en-US" sz="2000">
              <a:latin typeface="Times New Roman"/>
              <a:cs typeface="Times New Roman"/>
            </a:endParaRPr>
          </a:p>
          <a:p>
            <a:endParaRPr lang="en-US" sz="2000">
              <a:latin typeface="Aptos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3453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9DB2-1C60-2A59-656D-A5B74C9C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28A9E759-5D36-7577-1B72-EEFA19D202C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DF2E086-1F77-7ADA-A072-C1020548044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16784C5A-545D-7FC3-0803-92836236CBE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F48FE32-30A8-91E8-073B-1CE94513A3C5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2C03B4-4368-B8A0-5078-A33BA60C0D0C}"/>
              </a:ext>
            </a:extLst>
          </p:cNvPr>
          <p:cNvSpPr txBox="1"/>
          <p:nvPr/>
        </p:nvSpPr>
        <p:spPr>
          <a:xfrm>
            <a:off x="473320" y="1376739"/>
            <a:ext cx="11218984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Gearbox</a:t>
            </a:r>
          </a:p>
          <a:p>
            <a:r>
              <a:rPr lang="en-US" dirty="0">
                <a:latin typeface="Times New Roman"/>
                <a:cs typeface="Times New Roman"/>
              </a:rPr>
              <a:t>(1) Previous year Optimus projects(60E,92LE,Shakti 26-11-2025</a:t>
            </a:r>
          </a:p>
          <a:p>
            <a:r>
              <a:rPr lang="en-US" dirty="0">
                <a:latin typeface="Times New Roman"/>
                <a:cs typeface="Times New Roman"/>
              </a:rPr>
              <a:t>(2) </a:t>
            </a:r>
            <a:r>
              <a:rPr lang="en-IN" dirty="0">
                <a:solidFill>
                  <a:srgbClr val="202124"/>
                </a:solidFill>
                <a:latin typeface="Times New Roman"/>
                <a:ea typeface="Roboto"/>
                <a:cs typeface="Roboto"/>
              </a:rPr>
              <a:t>Roloff Matek </a:t>
            </a:r>
            <a:r>
              <a:rPr lang="en-IN" dirty="0" err="1">
                <a:solidFill>
                  <a:srgbClr val="202124"/>
                </a:solidFill>
                <a:latin typeface="Times New Roman"/>
                <a:ea typeface="Roboto"/>
                <a:cs typeface="Roboto"/>
              </a:rPr>
              <a:t>Maschinenelemente</a:t>
            </a:r>
            <a:r>
              <a:rPr lang="en-IN" dirty="0">
                <a:solidFill>
                  <a:srgbClr val="202124"/>
                </a:solidFill>
                <a:latin typeface="Times New Roman"/>
                <a:ea typeface="Roboto"/>
                <a:cs typeface="Roboto"/>
              </a:rPr>
              <a:t> 28-11-2025</a:t>
            </a:r>
          </a:p>
          <a:p>
            <a:r>
              <a:rPr lang="en-US" dirty="0">
                <a:latin typeface="Times New Roman"/>
                <a:cs typeface="Times New Roman"/>
              </a:rPr>
              <a:t>(3) Lecture notes – Mechanical drive train by </a:t>
            </a:r>
            <a:r>
              <a:rPr lang="en-US" dirty="0" err="1">
                <a:latin typeface="Times New Roman"/>
                <a:cs typeface="Times New Roman"/>
              </a:rPr>
              <a:t>Prof.Peter</a:t>
            </a:r>
            <a:r>
              <a:rPr lang="en-US" dirty="0">
                <a:latin typeface="Times New Roman"/>
                <a:cs typeface="Times New Roman"/>
              </a:rPr>
              <a:t> Quell.28-11-2025</a:t>
            </a:r>
          </a:p>
          <a:p>
            <a:r>
              <a:rPr lang="en-US" dirty="0">
                <a:latin typeface="Times New Roman"/>
                <a:cs typeface="Times New Roman"/>
              </a:rPr>
              <a:t>(4)</a:t>
            </a:r>
            <a:r>
              <a:rPr lang="en-US" dirty="0">
                <a:latin typeface="Times New Roman"/>
                <a:ea typeface="+mn-lt"/>
                <a:cs typeface="+mn-lt"/>
              </a:rPr>
              <a:t>Shigley's mechanical engineering design and PSG data book 27-11-2025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(5)</a:t>
            </a:r>
            <a:r>
              <a:rPr lang="en-IN" dirty="0">
                <a:latin typeface="Times New Roman"/>
                <a:cs typeface="Times New Roman"/>
              </a:rPr>
              <a:t>Gearbox – Schaeffler 30-11-2025</a:t>
            </a:r>
            <a:endParaRPr lang="en-US" dirty="0">
              <a:latin typeface="Times New Roman"/>
              <a:cs typeface="Times New Roman"/>
            </a:endParaRPr>
          </a:p>
          <a:p>
            <a:endParaRPr lang="en-IN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Coupling</a:t>
            </a:r>
          </a:p>
          <a:p>
            <a:r>
              <a:rPr lang="en-US" dirty="0">
                <a:latin typeface="Times New Roman"/>
                <a:cs typeface="Times New Roman"/>
              </a:rPr>
              <a:t>(1)Lecture notes-</a:t>
            </a:r>
            <a:r>
              <a:rPr lang="en-IN" sz="1600" dirty="0">
                <a:latin typeface="Times New Roman"/>
                <a:cs typeface="Times New Roman"/>
              </a:rPr>
              <a:t>Machinery Components </a:t>
            </a:r>
            <a:r>
              <a:rPr lang="en-US" dirty="0">
                <a:latin typeface="Times New Roman"/>
                <a:cs typeface="Times New Roman"/>
              </a:rPr>
              <a:t>by </a:t>
            </a:r>
            <a:r>
              <a:rPr lang="en-US" dirty="0" err="1">
                <a:latin typeface="Times New Roman"/>
                <a:cs typeface="Times New Roman"/>
              </a:rPr>
              <a:t>Prof.Peter</a:t>
            </a:r>
            <a:r>
              <a:rPr lang="en-US" dirty="0">
                <a:latin typeface="Times New Roman"/>
                <a:cs typeface="Times New Roman"/>
              </a:rPr>
              <a:t> Quell 29-11-2025</a:t>
            </a:r>
            <a:endParaRPr lang="en-US" sz="1600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cs typeface="Times New Roman"/>
            </a:endParaRPr>
          </a:p>
          <a:p>
            <a:endParaRPr lang="en-US"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0213FB-EC9C-6767-58CC-49D609115B85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2540" y="145123"/>
            <a:ext cx="10515600" cy="1325563"/>
          </a:xfrm>
        </p:spPr>
        <p:txBody>
          <a:bodyPr/>
          <a:lstStyle/>
          <a:p>
            <a:r>
              <a:rPr lang="en-US" sz="2400">
                <a:latin typeface="Times New Roman"/>
                <a:cs typeface="Times New Roman"/>
              </a:rPr>
              <a:t>Bibliography</a:t>
            </a:r>
            <a:r>
              <a:rPr lang="en-US" sz="2400"/>
              <a:t>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00345E6-CF06-28DF-4FC1-25E3760C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1751" y="6542723"/>
            <a:ext cx="560384" cy="32199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15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" name="Rechteck 17">
            <a:extLst>
              <a:ext uri="{FF2B5EF4-FFF2-40B4-BE49-F238E27FC236}">
                <a16:creationId xmlns:a16="http://schemas.microsoft.com/office/drawing/2014/main" id="{A123406F-280E-0AE2-1CA5-076787BBFD2B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A10A1338-E7A7-5577-14B1-2D44C353F0BE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2-12-2025</a:t>
            </a:r>
          </a:p>
        </p:txBody>
      </p:sp>
    </p:spTree>
    <p:extLst>
      <p:ext uri="{BB962C8B-B14F-4D97-AF65-F5344CB8AC3E}">
        <p14:creationId xmlns:p14="http://schemas.microsoft.com/office/powerpoint/2010/main" val="1533939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Custom Design</vt:lpstr>
      <vt:lpstr>PowerPoint Presentation</vt:lpstr>
      <vt:lpstr>Weekly report: Team Gearbox, Brake, Coupling </vt:lpstr>
      <vt:lpstr>List of Content</vt:lpstr>
      <vt:lpstr> Calculations of planetary stages</vt:lpstr>
      <vt:lpstr>Calculation of spur gear stage</vt:lpstr>
      <vt:lpstr> </vt:lpstr>
      <vt:lpstr> </vt:lpstr>
      <vt:lpstr> </vt:lpstr>
      <vt:lpstr> </vt:lpstr>
      <vt:lpstr> </vt:lpstr>
      <vt:lpstr> </vt:lpstr>
      <vt:lpstr> </vt:lpstr>
      <vt:lpstr>Various Displacements on Coupling</vt:lpstr>
      <vt:lpstr>Next Steps</vt:lpstr>
      <vt:lpstr>Bibliography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revision>3661</cp:revision>
  <dcterms:created xsi:type="dcterms:W3CDTF">2025-07-21T13:11:31Z</dcterms:created>
  <dcterms:modified xsi:type="dcterms:W3CDTF">2025-12-01T08:09:28Z</dcterms:modified>
</cp:coreProperties>
</file>