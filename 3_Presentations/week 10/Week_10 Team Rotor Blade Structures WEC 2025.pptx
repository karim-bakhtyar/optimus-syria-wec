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4"/>
  </p:notesMasterIdLst>
  <p:handoutMasterIdLst>
    <p:handoutMasterId r:id="rId25"/>
  </p:handoutMasterIdLst>
  <p:sldIdLst>
    <p:sldId id="263" r:id="rId3"/>
    <p:sldId id="265" r:id="rId4"/>
    <p:sldId id="271" r:id="rId5"/>
    <p:sldId id="273" r:id="rId6"/>
    <p:sldId id="279" r:id="rId7"/>
    <p:sldId id="294" r:id="rId8"/>
    <p:sldId id="321" r:id="rId9"/>
    <p:sldId id="322" r:id="rId10"/>
    <p:sldId id="323" r:id="rId11"/>
    <p:sldId id="324" r:id="rId12"/>
    <p:sldId id="325" r:id="rId13"/>
    <p:sldId id="326" r:id="rId14"/>
    <p:sldId id="315" r:id="rId15"/>
    <p:sldId id="317" r:id="rId16"/>
    <p:sldId id="318" r:id="rId17"/>
    <p:sldId id="320" r:id="rId18"/>
    <p:sldId id="319" r:id="rId19"/>
    <p:sldId id="281" r:id="rId20"/>
    <p:sldId id="292" r:id="rId21"/>
    <p:sldId id="291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279"/>
            <p14:sldId id="294"/>
            <p14:sldId id="321"/>
            <p14:sldId id="322"/>
            <p14:sldId id="323"/>
            <p14:sldId id="324"/>
            <p14:sldId id="325"/>
            <p14:sldId id="326"/>
            <p14:sldId id="315"/>
            <p14:sldId id="317"/>
            <p14:sldId id="318"/>
            <p14:sldId id="320"/>
            <p14:sldId id="319"/>
            <p14:sldId id="281"/>
            <p14:sldId id="292"/>
            <p14:sldId id="291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FFFF"/>
    <a:srgbClr val="F0E8BA"/>
    <a:srgbClr val="CCCC00"/>
    <a:srgbClr val="FFFF99"/>
    <a:srgbClr val="FFFFFF"/>
    <a:srgbClr val="8ECEFA"/>
    <a:srgbClr val="92C6E6"/>
    <a:srgbClr val="80D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0000FF"/>
                </a:solidFill>
              </a:rPr>
              <a:t>Dongsuk Kim 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0000FF"/>
                </a:solidFill>
              </a:rPr>
              <a:t>770143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</a:t>
            </a:r>
            <a:r>
              <a:rPr lang="it-IT" sz="2000" dirty="0"/>
              <a:t>10</a:t>
            </a:r>
          </a:p>
          <a:p>
            <a:r>
              <a:rPr lang="it-IT" sz="2000" b="1" dirty="0"/>
              <a:t>Date -</a:t>
            </a:r>
            <a:r>
              <a:rPr lang="it-IT" sz="2000" dirty="0"/>
              <a:t> 02.12.2025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867900" cy="479045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 -</a:t>
            </a:r>
            <a:endParaRPr lang="en-US" sz="2200" dirty="0"/>
          </a:p>
          <a:p>
            <a:pPr marL="457200" lvl="1" indent="0">
              <a:buNone/>
            </a:pPr>
            <a:r>
              <a:rPr lang="de-DE" sz="2200" dirty="0"/>
              <a:t>3.1 About Spar Caps</a:t>
            </a:r>
          </a:p>
          <a:p>
            <a:pPr marL="1085850" lvl="3" indent="0">
              <a:buNone/>
            </a:pPr>
            <a:r>
              <a:rPr lang="en-US" sz="2000" dirty="0"/>
              <a:t>3.1.1 Types of Spar Caps</a:t>
            </a:r>
          </a:p>
          <a:p>
            <a:pPr marL="1085850" lvl="3" indent="0">
              <a:buNone/>
            </a:pPr>
            <a:r>
              <a:rPr lang="en-US" sz="2000" dirty="0"/>
              <a:t>3.1.2 Types of Bending Moments on Spar Caps</a:t>
            </a:r>
          </a:p>
          <a:p>
            <a:pPr marL="1085850" lvl="3" indent="0">
              <a:buNone/>
            </a:pPr>
            <a:r>
              <a:rPr lang="en-US" sz="2000" dirty="0"/>
              <a:t>3.1.3 Bending Stiffness &amp; Stresses of Spar Caps</a:t>
            </a:r>
          </a:p>
          <a:p>
            <a:pPr marL="1085850" lvl="3" indent="0">
              <a:buNone/>
            </a:pPr>
            <a:r>
              <a:rPr lang="en-US" sz="2000" dirty="0"/>
              <a:t>3.1.4 Blade Design using NuMAD</a:t>
            </a:r>
          </a:p>
          <a:p>
            <a:pPr marL="1085850" lvl="3" indent="0">
              <a:buNone/>
            </a:pPr>
            <a:r>
              <a:rPr lang="en-US" sz="2000" dirty="0"/>
              <a:t>3.1.5 Developing the Blade of </a:t>
            </a:r>
            <a:r>
              <a:rPr lang="en-US" sz="2000" dirty="0">
                <a:solidFill>
                  <a:srgbClr val="FF0000"/>
                </a:solidFill>
              </a:rPr>
              <a:t>WEC 2025 Optimus Syria</a:t>
            </a:r>
            <a:r>
              <a:rPr lang="en-US" sz="2000" dirty="0"/>
              <a:t> in NuMAD (</a:t>
            </a:r>
            <a:r>
              <a:rPr lang="en-US" sz="2000" i="1" dirty="0">
                <a:solidFill>
                  <a:srgbClr val="FF0000"/>
                </a:solidFill>
              </a:rPr>
              <a:t>Test 2</a:t>
            </a:r>
            <a:r>
              <a:rPr lang="en-US" sz="2000" dirty="0"/>
              <a:t>)</a:t>
            </a:r>
          </a:p>
          <a:p>
            <a:pPr marL="0" lvl="3" indent="0">
              <a:buNone/>
            </a:pPr>
            <a:r>
              <a:rPr lang="en-US" sz="2000" dirty="0"/>
              <a:t>4. Material Selection for </a:t>
            </a:r>
            <a:r>
              <a:rPr lang="en-US" sz="2000" dirty="0">
                <a:solidFill>
                  <a:srgbClr val="FF0000"/>
                </a:solidFill>
              </a:rPr>
              <a:t>77.75</a:t>
            </a:r>
            <a:r>
              <a:rPr lang="en-US" sz="2000" dirty="0"/>
              <a:t> m Blade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November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A144F-605C-049C-04DF-6D6B030F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7" y="2275971"/>
            <a:ext cx="11556367" cy="25604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35452" y="3792356"/>
            <a:ext cx="8460000" cy="54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/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92940-7473-0ABB-FFF7-A9ED28058716}"/>
              </a:ext>
            </a:extLst>
          </p:cNvPr>
          <p:cNvSpPr txBox="1"/>
          <p:nvPr/>
        </p:nvSpPr>
        <p:spPr>
          <a:xfrm>
            <a:off x="5253789" y="5051170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326CE-2281-E5D8-8DA5-8AEBA73CDC31}"/>
              </a:ext>
            </a:extLst>
          </p:cNvPr>
          <p:cNvSpPr txBox="1"/>
          <p:nvPr/>
        </p:nvSpPr>
        <p:spPr>
          <a:xfrm>
            <a:off x="6464968" y="1308626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92CAB-B53D-1448-2500-D306DA3779D3}"/>
              </a:ext>
            </a:extLst>
          </p:cNvPr>
          <p:cNvSpPr txBox="1"/>
          <p:nvPr/>
        </p:nvSpPr>
        <p:spPr>
          <a:xfrm>
            <a:off x="7307178" y="3631857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E4D62-9E7A-B0F5-F11D-8412FBF449B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About </a:t>
            </a:r>
            <a:r>
              <a:rPr lang="en-US" sz="2400" b="1" dirty="0">
                <a:solidFill>
                  <a:sysClr val="windowText" lastClr="000000"/>
                </a:solidFill>
              </a:rPr>
              <a:t>Spar Caps -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r>
              <a:rPr lang="en-US" sz="2200" dirty="0">
                <a:solidFill>
                  <a:sysClr val="windowText" lastClr="000000"/>
                </a:solidFill>
              </a:rPr>
              <a:t>The main structural component (backbone) of a wind turbine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They are long, thick beams that run along the length of the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Located on the top (suction side) and bottom (pressure side) of the blade's main spar, or internal box beam.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Their primary job is to give the blade its stiffness and strength.</a:t>
            </a:r>
          </a:p>
        </p:txBody>
      </p:sp>
      <p:pic>
        <p:nvPicPr>
          <p:cNvPr id="7" name="Picture 6" descr="Diagram of a shear web and shear web">
            <a:extLst>
              <a:ext uri="{FF2B5EF4-FFF2-40B4-BE49-F238E27FC236}">
                <a16:creationId xmlns:a16="http://schemas.microsoft.com/office/drawing/2014/main" id="{FEDE3D7D-9C7D-08B9-3436-0A5444735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098" y="3850106"/>
            <a:ext cx="6352941" cy="216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701DA1-C5FB-B805-0570-318690908411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Impact of Process Technology on Properties of Large-Scale Wind Turbine Blade Composite Spar Cap by </a:t>
            </a:r>
            <a:r>
              <a:rPr lang="en-US" sz="1400" i="1" dirty="0" err="1"/>
              <a:t>Yuanrong</a:t>
            </a:r>
            <a:r>
              <a:rPr lang="en-US" sz="1400" i="1" dirty="0"/>
              <a:t> Sun, </a:t>
            </a:r>
            <a:r>
              <a:rPr lang="en-US" sz="1400" i="1" dirty="0" err="1"/>
              <a:t>Congli</a:t>
            </a:r>
            <a:r>
              <a:rPr lang="en-US" sz="1400" i="1" dirty="0"/>
              <a:t> Hu, </a:t>
            </a:r>
            <a:r>
              <a:rPr lang="en-US" sz="1400" i="1" dirty="0" err="1"/>
              <a:t>Jianbo</a:t>
            </a:r>
            <a:r>
              <a:rPr lang="en-US" sz="1400" i="1" dirty="0"/>
              <a:t> Li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A1035-FBC0-D8CA-9F54-6A77ADD40D65}"/>
              </a:ext>
            </a:extLst>
          </p:cNvPr>
          <p:cNvSpPr txBox="1"/>
          <p:nvPr/>
        </p:nvSpPr>
        <p:spPr>
          <a:xfrm>
            <a:off x="8969419" y="4776217"/>
            <a:ext cx="226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1 – </a:t>
            </a:r>
            <a:r>
              <a:rPr lang="en-US" sz="1400" i="1" dirty="0"/>
              <a:t>Blade Structures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D0F1-302C-CDD5-0439-E5303397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37A81D-1B05-EBDF-CA72-1288BA6D68C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44A34ED-CE6D-783F-7125-FB8C565711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3F7CF-FAF6-37AF-C5BE-08A7ACB3DD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89D29D0-70F0-6A95-457F-F5F620E631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7CD04-6992-8A9B-46DD-A0C192DF2AF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408383-E5C8-1AA5-0D73-05AFDFCCCD95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21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most common and conventional design.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These two caps are connected by one or more vertical shear webs, forming a strong, hollow "box beam" that runs down the length of the blade.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3A320-7B1C-9CBA-2DE7-2076ABAC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7800" y="3451434"/>
            <a:ext cx="4752000" cy="27331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262DBE-D51B-0C2A-CC56-D3B5FA8418B4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Multi-disciplinary constraint optimization of wind turbines by </a:t>
            </a:r>
            <a:r>
              <a:rPr lang="it-IT" sz="1400" i="1" dirty="0"/>
              <a:t>Carlo Luigi Bottasso, Filippo Campagnolo, Alessandro Croce</a:t>
            </a:r>
            <a:endParaRPr lang="en-IN" sz="1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3521F-13D6-9AF1-0E70-C1D418A82E5F}"/>
              </a:ext>
            </a:extLst>
          </p:cNvPr>
          <p:cNvSpPr txBox="1"/>
          <p:nvPr/>
        </p:nvSpPr>
        <p:spPr>
          <a:xfrm>
            <a:off x="7606703" y="3922165"/>
            <a:ext cx="29810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2 – </a:t>
            </a:r>
            <a:r>
              <a:rPr lang="en-US" sz="1400" i="1" dirty="0"/>
              <a:t>Box Spar Caps,</a:t>
            </a:r>
          </a:p>
          <a:p>
            <a:pPr algn="l"/>
            <a:r>
              <a:rPr lang="en-US" sz="1400" b="1" i="1" dirty="0"/>
              <a:t>A: </a:t>
            </a:r>
            <a:r>
              <a:rPr lang="en-US" sz="1400" i="1" dirty="0"/>
              <a:t>three cell with shear webs &amp; spar caps,</a:t>
            </a:r>
          </a:p>
          <a:p>
            <a:pPr algn="l"/>
            <a:r>
              <a:rPr lang="en-US" sz="1400" b="1" i="1" dirty="0"/>
              <a:t>B: </a:t>
            </a:r>
            <a:r>
              <a:rPr lang="en-US" sz="1400" i="1" dirty="0"/>
              <a:t>three cell box type, with single inter-web capping,</a:t>
            </a:r>
          </a:p>
          <a:p>
            <a:pPr algn="l"/>
            <a:r>
              <a:rPr lang="en-US" sz="1400" b="1" i="1" dirty="0"/>
              <a:t>C: </a:t>
            </a:r>
            <a:r>
              <a:rPr lang="en-US" sz="1400" i="1" dirty="0"/>
              <a:t>three cell, with single capping extending fore and aft of the shear webs.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17962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7AFC-D710-8033-BA6D-1DB2350F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DF83C9-E61A-7488-8724-F93F258C4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6E435B1-47D0-C0D2-C568-FEEC2BD51A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DF30E24-8F0D-3A01-6930-910A16BDF7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4FAA8BD-814D-8F5A-48ED-F4CE1C3521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02B2D-2B3A-F3A1-71A7-D6AF6EB7A82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6681BF-B39B-A586-81C9-72DC020C3E69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Input Tables – (</a:t>
            </a:r>
            <a:r>
              <a:rPr lang="en-IN" sz="2200" i="1" dirty="0">
                <a:solidFill>
                  <a:srgbClr val="FF0000"/>
                </a:solidFill>
              </a:rPr>
              <a:t>from WEC Shakthi 2024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loads.csv:</a:t>
            </a:r>
            <a:r>
              <a:rPr lang="en-IN" sz="2200" dirty="0">
                <a:solidFill>
                  <a:sysClr val="windowText" lastClr="000000"/>
                </a:solidFill>
              </a:rPr>
              <a:t> spanwise position &amp; </a:t>
            </a:r>
            <a:r>
              <a:rPr lang="en-IN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IN" sz="2200" dirty="0">
                <a:solidFill>
                  <a:sysClr val="windowText" lastClr="000000"/>
                </a:solidFill>
              </a:rPr>
              <a:t> bending moments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thickness.csv: </a:t>
            </a:r>
            <a:r>
              <a:rPr lang="en-IN" sz="2200" dirty="0">
                <a:solidFill>
                  <a:sysClr val="windowText" lastClr="000000"/>
                </a:solidFill>
              </a:rPr>
              <a:t>blade thickness (distance between spar caps)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Material Properties –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Glass Fiber:  </a:t>
            </a:r>
            <a:r>
              <a:rPr lang="en-IN" sz="2200" dirty="0">
                <a:solidFill>
                  <a:sysClr val="windowText" lastClr="000000"/>
                </a:solidFill>
              </a:rPr>
              <a:t>E = 43 </a:t>
            </a:r>
            <a:r>
              <a:rPr lang="en-IN" sz="2200" dirty="0" err="1">
                <a:solidFill>
                  <a:sysClr val="windowText" lastClr="000000"/>
                </a:solidFill>
              </a:rPr>
              <a:t>GPa</a:t>
            </a:r>
            <a:r>
              <a:rPr lang="en-IN" sz="2200" dirty="0">
                <a:solidFill>
                  <a:sysClr val="windowText" lastClr="000000"/>
                </a:solidFill>
              </a:rPr>
              <a:t>, </a:t>
            </a:r>
            <a:r>
              <a:rPr lang="el-GR" sz="2200" dirty="0">
                <a:solidFill>
                  <a:sysClr val="windowText" lastClr="000000"/>
                </a:solidFill>
              </a:rPr>
              <a:t>σ_</a:t>
            </a:r>
            <a:r>
              <a:rPr lang="en-IN" sz="2200" dirty="0">
                <a:solidFill>
                  <a:sysClr val="windowText" lastClr="000000"/>
                </a:solidFill>
              </a:rPr>
              <a:t>max = 750 MPa, </a:t>
            </a:r>
            <a:r>
              <a:rPr lang="el-GR" sz="2200" dirty="0">
                <a:solidFill>
                  <a:sysClr val="windowText" lastClr="000000"/>
                </a:solidFill>
              </a:rPr>
              <a:t>ρ = 1930 </a:t>
            </a:r>
            <a:r>
              <a:rPr lang="en-IN" sz="2200" dirty="0">
                <a:solidFill>
                  <a:sysClr val="windowText" lastClr="000000"/>
                </a:solidFill>
              </a:rPr>
              <a:t>kg/m³, SF = 1.6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322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BFD1-DD95-4482-4F28-DDF0A0451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FCBEF6-48F7-7329-061F-213840D27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9635A7-C3EC-101D-200C-F8CB95ACF1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C2BCB0-D70D-772B-7642-EA531F68F99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893B67-1139-DA5E-304C-B3B8C273A8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2BE52-1D88-5D63-A568-043EDA63EFCE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8541FF-F0A0-3D0B-D7A2-C53F92A563A4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</a:t>
            </a:r>
            <a:r>
              <a:rPr lang="en-IN" sz="2400" b="1" dirty="0">
                <a:solidFill>
                  <a:srgbClr val="FF0000"/>
                </a:solidFill>
              </a:rPr>
              <a:t>&amp;</a:t>
            </a:r>
            <a:r>
              <a:rPr lang="en-IN" sz="2400" b="1" dirty="0">
                <a:solidFill>
                  <a:sysClr val="windowText" lastClr="000000"/>
                </a:solidFill>
              </a:rPr>
              <a:t>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 (</a:t>
            </a:r>
            <a:r>
              <a:rPr lang="en-US" sz="2400" b="1" dirty="0">
                <a:solidFill>
                  <a:srgbClr val="FF0000"/>
                </a:solidFill>
              </a:rPr>
              <a:t>updated code</a:t>
            </a:r>
            <a:r>
              <a:rPr lang="en-US" sz="2400" b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c.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</a:t>
            </a:r>
            <a:r>
              <a:rPr lang="en-IN" sz="2200" b="1" dirty="0">
                <a:solidFill>
                  <a:srgbClr val="FF0000"/>
                </a:solidFill>
              </a:rPr>
              <a:t>Maximum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&amp;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dirty="0">
                <a:solidFill>
                  <a:srgbClr val="FF0000"/>
                </a:solidFill>
              </a:rPr>
              <a:t>Minimum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i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d.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 Bending Stiffness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for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</a:t>
            </a:r>
            <a:r>
              <a:rPr lang="en-IN" sz="2200" b="1" dirty="0"/>
              <a:t>&amp;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i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30F93-A383-FDD2-0936-D5406B230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0" y="2663167"/>
            <a:ext cx="9144000" cy="36590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461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7B9C-F14F-4ED6-4BC9-55C462EB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CB2E9-5805-9E65-F542-7A2ACCF440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A9A8BF-82CD-DD13-D18F-968A2B0D45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D1E0D5-D8A8-29CC-8E14-A6D0135E71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A7899D0-EAAC-FD0C-DB04-697FFF5E6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61720-EB02-7852-7D15-78CC404D07E9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FF82FF-F591-4693-E2CE-DBE438A6054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</a:t>
            </a:r>
            <a:r>
              <a:rPr lang="en-IN" sz="2400" b="1" dirty="0">
                <a:solidFill>
                  <a:srgbClr val="FF0000"/>
                </a:solidFill>
              </a:rPr>
              <a:t>&amp;</a:t>
            </a:r>
            <a:r>
              <a:rPr lang="en-IN" sz="2400" b="1" dirty="0">
                <a:solidFill>
                  <a:sysClr val="windowText" lastClr="000000"/>
                </a:solidFill>
              </a:rPr>
              <a:t>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e.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/>
              <a:t>Analysis with </a:t>
            </a:r>
            <a:r>
              <a:rPr lang="en-IN" sz="2200" b="1" i="1" dirty="0">
                <a:solidFill>
                  <a:srgbClr val="FF0000"/>
                </a:solidFill>
              </a:rPr>
              <a:t>Deflection Limit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b="1" i="1" dirty="0">
                <a:solidFill>
                  <a:srgbClr val="FF0000"/>
                </a:solidFill>
              </a:rPr>
              <a:t>8 </a:t>
            </a:r>
            <a:r>
              <a:rPr lang="en-IN" sz="2200" b="1" i="1" dirty="0">
                <a:solidFill>
                  <a:sysClr val="windowText" lastClr="000000"/>
                </a:solidFill>
              </a:rPr>
              <a:t>m) </a:t>
            </a:r>
            <a:r>
              <a:rPr lang="en-IN" sz="2200" b="1" dirty="0">
                <a:solidFill>
                  <a:sysClr val="windowText" lastClr="000000"/>
                </a:solidFill>
              </a:rPr>
              <a:t>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C976D-0F6A-C524-2E51-60188B3C3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7508" y="2295856"/>
            <a:ext cx="6196982" cy="41234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945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0DB6-661C-830E-06AF-21F01493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8F6F33-7BC0-7DC4-C5D3-4BB978DB69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4CB14C5-361B-2BEF-A61F-8032F8F1083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C0AF47-5717-37BB-F081-1B6AF0317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971BD57-4523-6A76-01F3-56D9BD4EB3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D18CB-CD86-7773-1C9E-E936664BA989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778C11-D6B7-9249-7C29-5CA1CA4DC4C1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</a:t>
            </a:r>
            <a:r>
              <a:rPr lang="en-IN" sz="2400" b="1" dirty="0">
                <a:solidFill>
                  <a:srgbClr val="FF0000"/>
                </a:solidFill>
              </a:rPr>
              <a:t>&amp;</a:t>
            </a:r>
            <a:r>
              <a:rPr lang="en-IN" sz="2400" b="1" dirty="0">
                <a:solidFill>
                  <a:sysClr val="windowText" lastClr="000000"/>
                </a:solidFill>
              </a:rPr>
              <a:t>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f.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/>
              <a:t>Analysis with </a:t>
            </a:r>
            <a:r>
              <a:rPr lang="en-IN" sz="2200" b="1" i="1" dirty="0">
                <a:solidFill>
                  <a:srgbClr val="FF0000"/>
                </a:solidFill>
              </a:rPr>
              <a:t>No Deflection Limit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b="1" i="1" dirty="0">
                <a:solidFill>
                  <a:srgbClr val="FF0000"/>
                </a:solidFill>
              </a:rPr>
              <a:t>8 </a:t>
            </a:r>
            <a:r>
              <a:rPr lang="en-IN" sz="2200" b="1" i="1" dirty="0">
                <a:solidFill>
                  <a:sysClr val="windowText" lastClr="000000"/>
                </a:solidFill>
              </a:rPr>
              <a:t>m) </a:t>
            </a:r>
            <a:r>
              <a:rPr lang="en-IN" sz="2200" b="1" dirty="0">
                <a:solidFill>
                  <a:sysClr val="windowText" lastClr="000000"/>
                </a:solidFill>
              </a:rPr>
              <a:t>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CAE49-E939-6AB0-1E91-D9ED36B58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9683" y="2258987"/>
            <a:ext cx="6312633" cy="41971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191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7767-92D1-5499-5221-3357BBFC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7A6635-A7BE-F224-5C91-6D4D11FA04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16C7EA-2EC5-6654-8D88-740202840A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EB90B44-3482-B1A6-D742-ED63CBF87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93C16E6-4417-6EA0-E717-7B88E0A435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F03BB-3129-9ADD-A6DA-45B0A6F373B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3EE979-D7BF-060D-FDCD-D6E45079D15C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1020124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</a:t>
            </a:r>
            <a:r>
              <a:rPr lang="en-IN" sz="2400" b="1" dirty="0">
                <a:solidFill>
                  <a:srgbClr val="FF0000"/>
                </a:solidFill>
              </a:rPr>
              <a:t>&amp;</a:t>
            </a:r>
            <a:r>
              <a:rPr lang="en-IN" sz="2400" b="1" dirty="0">
                <a:solidFill>
                  <a:sysClr val="windowText" lastClr="000000"/>
                </a:solidFill>
              </a:rPr>
              <a:t>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g. Table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/>
              <a:t>Analysis with </a:t>
            </a:r>
            <a:r>
              <a:rPr lang="en-IN" sz="2200" b="1" i="1" dirty="0">
                <a:solidFill>
                  <a:srgbClr val="FF0000"/>
                </a:solidFill>
              </a:rPr>
              <a:t>Deflection Limit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b="1" i="1" dirty="0">
                <a:solidFill>
                  <a:srgbClr val="FF0000"/>
                </a:solidFill>
              </a:rPr>
              <a:t>8 </a:t>
            </a:r>
            <a:r>
              <a:rPr lang="en-IN" sz="2200" b="1" i="1" dirty="0">
                <a:solidFill>
                  <a:sysClr val="windowText" lastClr="000000"/>
                </a:solidFill>
              </a:rPr>
              <a:t>m) </a:t>
            </a:r>
            <a:r>
              <a:rPr lang="en-IN" sz="2200" b="1" dirty="0">
                <a:solidFill>
                  <a:sysClr val="windowText" lastClr="000000"/>
                </a:solidFill>
              </a:rPr>
              <a:t>–</a:t>
            </a:r>
            <a:endParaRPr lang="en-IN" sz="2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25A1B7-F6EE-61BA-14E3-A9C2D298A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6251" y="2369750"/>
            <a:ext cx="6379497" cy="39756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2814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A8214-7532-2A27-8108-728F5752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45E0F5-74DA-7962-9EC5-94AF88AEC0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8099C47-E7F6-FCFB-BADC-F80C1E5169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5F753E7-1D36-4129-D610-B22D1FF638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5CC5924-E410-FE93-22B6-16960680D0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3A8EE-527F-3C9E-9523-2CAF72FFFFAA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952ED9-35B1-EAFA-E158-7B444D62152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1145254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</a:t>
            </a:r>
            <a:r>
              <a:rPr lang="en-IN" sz="2400" b="1" dirty="0">
                <a:solidFill>
                  <a:srgbClr val="FF0000"/>
                </a:solidFill>
              </a:rPr>
              <a:t>&amp;</a:t>
            </a:r>
            <a:r>
              <a:rPr lang="en-IN" sz="2400" b="1" dirty="0">
                <a:solidFill>
                  <a:sysClr val="windowText" lastClr="000000"/>
                </a:solidFill>
              </a:rPr>
              <a:t>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h. Table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/>
              <a:t>Analysis with </a:t>
            </a:r>
            <a:r>
              <a:rPr lang="en-IN" sz="2200" b="1" i="1" dirty="0">
                <a:solidFill>
                  <a:srgbClr val="FF0000"/>
                </a:solidFill>
              </a:rPr>
              <a:t>No Deflection Limit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b="1" i="1" dirty="0">
                <a:solidFill>
                  <a:srgbClr val="FF0000"/>
                </a:solidFill>
              </a:rPr>
              <a:t>8 </a:t>
            </a:r>
            <a:r>
              <a:rPr lang="en-IN" sz="2200" b="1" i="1" dirty="0">
                <a:solidFill>
                  <a:sysClr val="windowText" lastClr="000000"/>
                </a:solidFill>
              </a:rPr>
              <a:t>m) </a:t>
            </a:r>
            <a:r>
              <a:rPr lang="en-IN" sz="2200" b="1" dirty="0">
                <a:solidFill>
                  <a:sysClr val="windowText" lastClr="000000"/>
                </a:solidFill>
              </a:rPr>
              <a:t>– </a:t>
            </a:r>
            <a:endParaRPr lang="en-IN" sz="2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8655A2-3656-4FA3-9A35-494A2EAD1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683" y="2239860"/>
            <a:ext cx="5628632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636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7D4F-8AFF-41A2-86A5-113DB175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C6007-8ECA-302F-E1ED-1E5E86D5649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84D7DF9-8EB9-6019-8660-F519460A17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805F11-E5C8-BE34-A92A-9ECA8D7C3E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18938A5-FAE6-4C76-4699-9D4330888D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0792A-ABBF-CE22-6007-9AEBE5D8CC65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BCAA9A-E46E-E2DF-C607-26A810994BB8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3293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Blade Design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</a:t>
            </a:r>
            <a:r>
              <a:rPr lang="en-US" sz="2200" b="1" i="1" dirty="0"/>
              <a:t>And</a:t>
            </a:r>
            <a:r>
              <a:rPr lang="en-US" sz="2200" b="1" i="1" dirty="0">
                <a:solidFill>
                  <a:srgbClr val="FF0000"/>
                </a:solidFill>
              </a:rPr>
              <a:t>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</a:t>
            </a:r>
            <a:r>
              <a:rPr lang="en-US" sz="2200" dirty="0">
                <a:solidFill>
                  <a:sysClr val="windowText" lastClr="000000"/>
                </a:solidFill>
              </a:rPr>
              <a:t>The following are the steps to model a Blade using NuMAD –</a:t>
            </a:r>
            <a:endParaRPr lang="en-US" sz="2200" b="1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r>
              <a:rPr lang="en-US" sz="18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1 – </a:t>
            </a:r>
            <a:r>
              <a:rPr lang="en-US" sz="2200" b="1" dirty="0">
                <a:solidFill>
                  <a:srgbClr val="FF0000"/>
                </a:solidFill>
              </a:rPr>
              <a:t>Geometry Definition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2 – </a:t>
            </a:r>
            <a:r>
              <a:rPr lang="en-US" sz="2200" b="1" dirty="0">
                <a:solidFill>
                  <a:srgbClr val="FF0000"/>
                </a:solidFill>
              </a:rPr>
              <a:t>Material &amp; Composite Definition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3 – </a:t>
            </a:r>
            <a:r>
              <a:rPr lang="en-US" sz="2200" b="1" dirty="0">
                <a:solidFill>
                  <a:srgbClr val="FF0000"/>
                </a:solidFill>
              </a:rPr>
              <a:t>Internal Structural Layout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4 – </a:t>
            </a:r>
            <a:r>
              <a:rPr lang="en-US" sz="2200" b="1" dirty="0">
                <a:solidFill>
                  <a:srgbClr val="FF0000"/>
                </a:solidFill>
              </a:rPr>
              <a:t>Mesh Generation &amp; FEA Export</a:t>
            </a:r>
          </a:p>
        </p:txBody>
      </p:sp>
    </p:spTree>
    <p:extLst>
      <p:ext uri="{BB962C8B-B14F-4D97-AF65-F5344CB8AC3E}">
        <p14:creationId xmlns:p14="http://schemas.microsoft.com/office/powerpoint/2010/main" val="218705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6242-C090-EB59-EDEC-503EFE28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5F53A-DA2C-E47E-B70E-11A2A091FE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25CA8E-F399-8076-B8AD-1DC1D7C66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B3D76E-CB4C-AB75-965C-FC0EFA60EF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DC3C754-3F60-EB2F-766C-5EAFB3F31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5FDE5-D8FF-CFCB-CF69-289F340FC6C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FD1495-89F5-C0A6-51D9-4AB5B4ECD793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4989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 (</a:t>
            </a:r>
            <a:r>
              <a:rPr lang="en-US" sz="2400" b="1" i="1" dirty="0">
                <a:solidFill>
                  <a:srgbClr val="FF0000"/>
                </a:solidFill>
              </a:rPr>
              <a:t>Test 2</a:t>
            </a:r>
            <a:r>
              <a:rPr lang="en-US" sz="2400" b="1" dirty="0">
                <a:solidFill>
                  <a:sysClr val="windowText" lastClr="0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a. Airfoils – (</a:t>
            </a:r>
            <a:r>
              <a:rPr lang="en-US" sz="2200" b="1" i="1" dirty="0">
                <a:solidFill>
                  <a:srgbClr val="FF0000"/>
                </a:solidFill>
              </a:rPr>
              <a:t>Test 2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endParaRPr lang="en-US" sz="2200" i="1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9534F6-597E-FA65-EE00-08EB52DA4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01218"/>
              </p:ext>
            </p:extLst>
          </p:nvPr>
        </p:nvGraphicFramePr>
        <p:xfrm>
          <a:off x="1055348" y="2228850"/>
          <a:ext cx="4860000" cy="370840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28383551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048516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6685527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274552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Airfoil (D = 4.2 m)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Airfoil (D = 4.2 m)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2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Airfoil (D = 4.2 m)</a:t>
                      </a:r>
                      <a:endParaRPr lang="en-IN" sz="2200" b="0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9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Airfoil (D = 4.2 m)</a:t>
                      </a:r>
                      <a:endParaRPr lang="en-IN" sz="2200" b="0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D60_V5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6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D60_V5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6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DU408B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16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DU408B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8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DU408B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2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4809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5EBF4E-4E64-2B54-F43F-C7570AFCC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593506"/>
              </p:ext>
            </p:extLst>
          </p:nvPr>
        </p:nvGraphicFramePr>
        <p:xfrm>
          <a:off x="6208696" y="2228850"/>
          <a:ext cx="4860000" cy="370840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28383551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048516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6685527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274552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DU35_A17</a:t>
                      </a:r>
                      <a:endParaRPr lang="pt-BR" sz="2200" b="0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  <a:endParaRPr lang="pt-BR" sz="2200" b="0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2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9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6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6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16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8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NACA 63(3)-618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2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NACA 63(3)-618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480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709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EB43-49C8-D124-8894-73EEE0E6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F97C7-C20C-A915-42A1-B18344AFC1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7C9F09C-3B5E-605F-98D6-E97F71BBF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AB23D7-532A-7186-C96C-86183E782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1BFBF40-71ED-871D-FAD7-4559A23451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47E73-3AD8-26D2-CB52-496A96B466A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596490-7F9D-0ABA-2A59-302DC372408C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b. Blade Geometry Details – (</a:t>
            </a:r>
            <a:r>
              <a:rPr lang="en-US" sz="2200" b="1" i="1" dirty="0">
                <a:solidFill>
                  <a:srgbClr val="FF0000"/>
                </a:solidFill>
              </a:rPr>
              <a:t>Test 2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6B0AC8-732E-D7C9-849A-34E66B07D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96983"/>
              </p:ext>
            </p:extLst>
          </p:nvPr>
        </p:nvGraphicFramePr>
        <p:xfrm>
          <a:off x="685800" y="2195060"/>
          <a:ext cx="5368425" cy="4278757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2.129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6.283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8.308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10.332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17.03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12.357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16.07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17.931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10.89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20.718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8.31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23.505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5.72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3A6FB3-D6D5-D277-0E0D-8CBFEBB68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811623"/>
              </p:ext>
            </p:extLst>
          </p:nvPr>
        </p:nvGraphicFramePr>
        <p:xfrm>
          <a:off x="6206625" y="2195059"/>
          <a:ext cx="5368425" cy="4278757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30.057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3.663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3.47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36.61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3.126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1.23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40.055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2.953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43.5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50.39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2.434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56.943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63.495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69.059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74.643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-0.33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NACA 63_(3)-618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77.75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NACA 63_(3)-618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672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6C12-DA71-F55F-2A4A-4C548957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230EB-4FF9-2CE1-2832-7E0946F47F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94F7228-5E8A-4894-6EF3-F25D393B6D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7E2E2E-B8E1-A3DC-E2A7-3ECFEF8378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E9089B6-B8A9-BCA6-8A5D-7C534DFD40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DDFF9-23F0-9C60-DCD6-7C5E682DC16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D43BE2-E21C-5F8A-D76A-EA9BB275E10F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73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c. ‘</a:t>
            </a:r>
            <a:r>
              <a:rPr lang="en-US" sz="2200" b="1" i="1" dirty="0">
                <a:solidFill>
                  <a:srgbClr val="FF0000"/>
                </a:solidFill>
              </a:rPr>
              <a:t>Blade Span</a:t>
            </a:r>
            <a:r>
              <a:rPr lang="en-US" sz="2200" b="1" dirty="0">
                <a:solidFill>
                  <a:sysClr val="windowText" lastClr="000000"/>
                </a:solidFill>
              </a:rPr>
              <a:t>’ VS ‘</a:t>
            </a:r>
            <a:r>
              <a:rPr lang="en-US" sz="2200" b="1" i="1" dirty="0">
                <a:solidFill>
                  <a:srgbClr val="FF0000"/>
                </a:solidFill>
              </a:rPr>
              <a:t>Chord Distribution</a:t>
            </a:r>
            <a:r>
              <a:rPr lang="en-US" sz="2200" b="1" dirty="0">
                <a:solidFill>
                  <a:sysClr val="windowText" lastClr="000000"/>
                </a:solidFill>
              </a:rPr>
              <a:t>’ – (</a:t>
            </a:r>
            <a:r>
              <a:rPr lang="en-US" sz="2200" b="1" i="1" dirty="0">
                <a:solidFill>
                  <a:srgbClr val="FF0000"/>
                </a:solidFill>
              </a:rPr>
              <a:t>Test 2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E2AF4-800D-73C2-AAD7-9BBFAFBF0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696" y="2340120"/>
            <a:ext cx="11376000" cy="29916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7819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A395-01F1-FA7C-7F33-4E6F4E51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12AAC0-FB29-EB21-EFFC-B44ECBE8E5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D09E771-1122-5FCC-5A36-2F64C32E09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378C52-9419-F720-D504-3DEEC86472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6D67A5B-F663-04C3-44F2-26DB2776ED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B474-9D01-7ABA-72C4-DF2DB54C7A5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21C9CB-5B23-3D73-6C43-F47B78BC1D11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d. Blade Model in NuMAD – (</a:t>
            </a:r>
            <a:r>
              <a:rPr lang="en-US" sz="2200" b="1" i="1" dirty="0">
                <a:solidFill>
                  <a:srgbClr val="FF0000"/>
                </a:solidFill>
              </a:rPr>
              <a:t>Test 2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0F576-0B60-9C09-B70F-064FCC907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2809" y="2276360"/>
            <a:ext cx="5832000" cy="38191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276006-64FA-5D0A-6913-17AB10AF7767}"/>
              </a:ext>
            </a:extLst>
          </p:cNvPr>
          <p:cNvSpPr txBox="1"/>
          <p:nvPr/>
        </p:nvSpPr>
        <p:spPr>
          <a:xfrm>
            <a:off x="8983887" y="4150504"/>
            <a:ext cx="28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4 – </a:t>
            </a:r>
            <a:r>
              <a:rPr lang="en-US" sz="1400" i="1" dirty="0"/>
              <a:t>Blade Model in NuMAD</a:t>
            </a:r>
            <a:endParaRPr lang="en-IN" sz="1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96F4D-2004-ECC1-9C3A-823AD21CB5CC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0000"/>
                </a:solidFill>
              </a:rPr>
              <a:t>Note</a:t>
            </a:r>
            <a:r>
              <a:rPr lang="en-US" sz="1400" b="1" dirty="0"/>
              <a:t> – </a:t>
            </a:r>
            <a:r>
              <a:rPr lang="en-US" sz="1400" i="1" dirty="0"/>
              <a:t>This is not the final design some parameters needs to be modified later.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774574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E526-C795-3A41-ADF2-26018E88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AF081A-8F16-AD7E-EF07-C59133E4A4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01/12/2025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B7079B-81B3-5984-37D7-2337EF3B4A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B45FC7B-5BD9-9BE0-0E1F-7344E27B61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9BD1678-CD41-8017-D7CB-E9EE01D35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C4529-FA87-0ACB-5D28-9CBEAF01F58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 </a:t>
            </a:r>
            <a:r>
              <a:rPr lang="en-IN" altLang="ko-KR" sz="2800" b="1" dirty="0"/>
              <a:t>Material selection for </a:t>
            </a:r>
            <a:r>
              <a:rPr lang="en-US" altLang="ko-KR" sz="2800" b="1" dirty="0"/>
              <a:t>77.75m Blade</a:t>
            </a:r>
            <a:r>
              <a:rPr lang="en-IN" altLang="ko-KR" sz="2800" b="1" dirty="0"/>
              <a:t>–</a:t>
            </a:r>
            <a:endParaRPr lang="en-US" sz="28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D35844-55FB-B116-F435-9C127D731732}"/>
              </a:ext>
            </a:extLst>
          </p:cNvPr>
          <p:cNvSpPr txBox="1">
            <a:spLocks/>
          </p:cNvSpPr>
          <p:nvPr/>
        </p:nvSpPr>
        <p:spPr>
          <a:xfrm>
            <a:off x="838200" y="1279097"/>
            <a:ext cx="10683240" cy="52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ko-KR" sz="2400" b="1" dirty="0">
                <a:solidFill>
                  <a:sysClr val="windowText" lastClr="000000"/>
                </a:solidFill>
              </a:rPr>
              <a:t>4.1 Design limit and comparison  </a:t>
            </a:r>
            <a:r>
              <a:rPr lang="en-US" altLang="ko-KR" sz="2400" b="1" dirty="0">
                <a:solidFill>
                  <a:sysClr val="windowText" lastClr="000000"/>
                </a:solidFill>
              </a:rPr>
              <a:t>–</a:t>
            </a:r>
            <a:endParaRPr lang="en-IN" altLang="ko-KR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2AD75-4792-1423-521E-10E8F7A8B603}"/>
              </a:ext>
            </a:extLst>
          </p:cNvPr>
          <p:cNvSpPr txBox="1"/>
          <p:nvPr/>
        </p:nvSpPr>
        <p:spPr>
          <a:xfrm>
            <a:off x="384108" y="6255204"/>
            <a:ext cx="5549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 https://www.researchgate.net/figure/Blade-parts-and-positions_fig2_345335704</a:t>
            </a:r>
            <a:endParaRPr lang="ko-KR" altLang="en-US" sz="11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47E8AC5-AF60-226E-79D6-787B2702412A}"/>
              </a:ext>
            </a:extLst>
          </p:cNvPr>
          <p:cNvGraphicFramePr>
            <a:graphicFrameLocks noGrp="1"/>
          </p:cNvGraphicFramePr>
          <p:nvPr/>
        </p:nvGraphicFramePr>
        <p:xfrm>
          <a:off x="384108" y="1802317"/>
          <a:ext cx="11423784" cy="4408278"/>
        </p:xfrm>
        <a:graphic>
          <a:graphicData uri="http://schemas.openxmlformats.org/drawingml/2006/table">
            <a:tbl>
              <a:tblPr/>
              <a:tblGrid>
                <a:gridCol w="3256559">
                  <a:extLst>
                    <a:ext uri="{9D8B030D-6E8A-4147-A177-3AD203B41FA5}">
                      <a16:colId xmlns:a16="http://schemas.microsoft.com/office/drawing/2014/main" val="39466362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055172568"/>
                    </a:ext>
                  </a:extLst>
                </a:gridCol>
                <a:gridCol w="2015066">
                  <a:extLst>
                    <a:ext uri="{9D8B030D-6E8A-4147-A177-3AD203B41FA5}">
                      <a16:colId xmlns:a16="http://schemas.microsoft.com/office/drawing/2014/main" val="19447616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17464175"/>
                    </a:ext>
                  </a:extLst>
                </a:gridCol>
                <a:gridCol w="2265959">
                  <a:extLst>
                    <a:ext uri="{9D8B030D-6E8A-4147-A177-3AD203B41FA5}">
                      <a16:colId xmlns:a16="http://schemas.microsoft.com/office/drawing/2014/main" val="2731350634"/>
                    </a:ext>
                  </a:extLst>
                </a:gridCol>
              </a:tblGrid>
              <a:tr h="303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Airfoil Structure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Blade Region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NREL 5 MW (61.50m)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</a:rPr>
                        <a:t>Optimus 5NW (77.75m)</a:t>
                      </a:r>
                      <a:endParaRPr lang="en-US" sz="120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Reason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181926"/>
                  </a:ext>
                </a:extLst>
              </a:tr>
              <a:tr h="692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Spar Cap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Hybrid Carbon + Glass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Full Carbon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Higher bending moment.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Increase EI and reduce tip deflection &amp; mass.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15657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Shell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 (Suction/Pressure)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</a:t>
                      </a:r>
                      <a:r>
                        <a:rPr lang="en-US" sz="1050" b="0" i="1" dirty="0" err="1"/>
                        <a:t>Triax</a:t>
                      </a:r>
                      <a:r>
                        <a:rPr lang="en-US" sz="1050" b="0" i="1" dirty="0"/>
                        <a:t> (±45/0/90)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 / 90 / ±45 / 0]ₛ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</a:t>
                      </a:r>
                      <a:r>
                        <a:rPr lang="en-US" sz="1050" b="0" i="1" dirty="0" err="1">
                          <a:solidFill>
                            <a:srgbClr val="0000FF"/>
                          </a:solidFill>
                        </a:rPr>
                        <a:t>Triax</a:t>
                      </a: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(±45 dominant)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 / 90 / ±45 / 0 / ±45]ₛ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More ±45° plies increase torsional stiffness (GJ) 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shear resistance for longer, flexible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67314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Shear Webs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±45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[±45/G] + Core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±45 + thicker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(50 → 80 mm)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[±45/G] + Core(↑t)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Shear load ↑ → thicker core improves shear stiffness &amp; buckling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69850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 (in Shell)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PVC / Balsa Foam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/>
                        <a:t> (</a:t>
                      </a:r>
                      <a:r>
                        <a:rPr lang="el-GR" sz="1050" b="0" i="1" dirty="0"/>
                        <a:t>ρ ≈ 60 </a:t>
                      </a:r>
                      <a:r>
                        <a:rPr lang="en-US" sz="1050" b="0" i="1" dirty="0"/>
                        <a:t>kg/m³)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High-density PVC or PET Foam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(ρ ≈ 80–100 kg/m³)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Thickness tapered along span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Prevent shear failure &amp; skin buckling under higher spanwise loads.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08569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Trailing Edge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(TE)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thicker foam +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reinforcement patch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b="0" dirty="0"/>
                        <a:t>Local buckling risk ↑; reinforced TE prevents opening, improves fatigue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00991"/>
                  </a:ext>
                </a:extLst>
              </a:tr>
              <a:tr h="433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Leading Edge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(LE)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solid insert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altLang="ko-KR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Improve impact, erosion resistance in longer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82835"/>
                  </a:ext>
                </a:extLst>
              </a:tr>
              <a:tr h="506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Root Region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Thick Glass + Adhesive Joint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Increase root strength and reduce weight for bolt interface.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390433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E7A6407A-8727-0E62-AE6F-BC50788CA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03" y="3021279"/>
            <a:ext cx="3346334" cy="21836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41E535-D982-6543-6911-7B163691EB6B}"/>
              </a:ext>
            </a:extLst>
          </p:cNvPr>
          <p:cNvSpPr txBox="1"/>
          <p:nvPr/>
        </p:nvSpPr>
        <p:spPr>
          <a:xfrm>
            <a:off x="34870" y="4622798"/>
            <a:ext cx="880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00FFFF"/>
                </a:solidFill>
              </a:rPr>
              <a:t>Front shell</a:t>
            </a:r>
            <a:endParaRPr lang="ko-KR" altLang="en-US" sz="1200" dirty="0">
              <a:solidFill>
                <a:srgbClr val="00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9AEFDD-BAAC-8F89-6CA3-17608D0A6737}"/>
              </a:ext>
            </a:extLst>
          </p:cNvPr>
          <p:cNvSpPr txBox="1"/>
          <p:nvPr/>
        </p:nvSpPr>
        <p:spPr>
          <a:xfrm>
            <a:off x="513351" y="2877751"/>
            <a:ext cx="880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00FFFF"/>
                </a:solidFill>
              </a:rPr>
              <a:t>Front shell</a:t>
            </a:r>
            <a:endParaRPr lang="ko-KR" altLang="en-US" sz="1200" dirty="0">
              <a:solidFill>
                <a:srgbClr val="00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BC4ED-EAC8-B8E9-DB14-EAAE1DCD474C}"/>
              </a:ext>
            </a:extLst>
          </p:cNvPr>
          <p:cNvSpPr txBox="1"/>
          <p:nvPr/>
        </p:nvSpPr>
        <p:spPr>
          <a:xfrm>
            <a:off x="778931" y="4048683"/>
            <a:ext cx="140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0000FF"/>
                </a:solidFill>
              </a:rPr>
              <a:t>Front shear web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BA851-B380-72F4-8591-A5109D0443E2}"/>
              </a:ext>
            </a:extLst>
          </p:cNvPr>
          <p:cNvSpPr txBox="1"/>
          <p:nvPr/>
        </p:nvSpPr>
        <p:spPr>
          <a:xfrm>
            <a:off x="1676405" y="4392436"/>
            <a:ext cx="140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0000FF"/>
                </a:solidFill>
              </a:rPr>
              <a:t>Rear shear web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658B9F-8649-E5B1-FAFD-461403C9D5D8}"/>
              </a:ext>
            </a:extLst>
          </p:cNvPr>
          <p:cNvSpPr txBox="1"/>
          <p:nvPr/>
        </p:nvSpPr>
        <p:spPr>
          <a:xfrm>
            <a:off x="1501590" y="4897395"/>
            <a:ext cx="140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/>
              <a:t>Spar cap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2EA2B-6901-D6A4-0F03-503AD7AD8580}"/>
              </a:ext>
            </a:extLst>
          </p:cNvPr>
          <p:cNvSpPr txBox="1"/>
          <p:nvPr/>
        </p:nvSpPr>
        <p:spPr>
          <a:xfrm>
            <a:off x="1501590" y="2837210"/>
            <a:ext cx="140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/>
              <a:t>Spar cap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4FE97-55CA-CF04-692B-6AE02ED63E86}"/>
              </a:ext>
            </a:extLst>
          </p:cNvPr>
          <p:cNvSpPr txBox="1"/>
          <p:nvPr/>
        </p:nvSpPr>
        <p:spPr>
          <a:xfrm>
            <a:off x="2278532" y="2877751"/>
            <a:ext cx="880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00FF00"/>
                </a:solidFill>
              </a:rPr>
              <a:t>Rear shell</a:t>
            </a:r>
            <a:endParaRPr lang="ko-KR" altLang="en-US" sz="1200" dirty="0">
              <a:solidFill>
                <a:srgbClr val="00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309E60-27E3-1047-605A-DAA91DD7EF4B}"/>
              </a:ext>
            </a:extLst>
          </p:cNvPr>
          <p:cNvSpPr txBox="1"/>
          <p:nvPr/>
        </p:nvSpPr>
        <p:spPr>
          <a:xfrm>
            <a:off x="2203330" y="4595401"/>
            <a:ext cx="880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00FF00"/>
                </a:solidFill>
              </a:rPr>
              <a:t>Rear shell</a:t>
            </a:r>
            <a:endParaRPr lang="ko-KR" altLang="en-US" sz="1200" dirty="0">
              <a:solidFill>
                <a:srgbClr val="00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BC93DF-1026-A51E-1B87-C48131BB57C3}"/>
              </a:ext>
            </a:extLst>
          </p:cNvPr>
          <p:cNvSpPr txBox="1"/>
          <p:nvPr/>
        </p:nvSpPr>
        <p:spPr>
          <a:xfrm>
            <a:off x="2994706" y="4519646"/>
            <a:ext cx="880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chemeClr val="accent2"/>
                </a:solidFill>
              </a:rPr>
              <a:t>Third shear web</a:t>
            </a:r>
            <a:endParaRPr lang="ko-KR" altLang="en-US" sz="1200" dirty="0">
              <a:solidFill>
                <a:schemeClr val="accent2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7EDE861-7BB0-2B4B-97EE-379A01EF9CCD}"/>
              </a:ext>
            </a:extLst>
          </p:cNvPr>
          <p:cNvCxnSpPr/>
          <p:nvPr/>
        </p:nvCxnSpPr>
        <p:spPr>
          <a:xfrm flipV="1">
            <a:off x="3268133" y="4291469"/>
            <a:ext cx="0" cy="30353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5AE4095-EC9E-2163-1D6A-ADA1DB3E5CC3}"/>
              </a:ext>
            </a:extLst>
          </p:cNvPr>
          <p:cNvCxnSpPr/>
          <p:nvPr/>
        </p:nvCxnSpPr>
        <p:spPr>
          <a:xfrm>
            <a:off x="3269133" y="4161781"/>
            <a:ext cx="0" cy="1385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CD6287-3C44-C67D-CE27-4A5D38805AEB}"/>
              </a:ext>
            </a:extLst>
          </p:cNvPr>
          <p:cNvSpPr txBox="1"/>
          <p:nvPr/>
        </p:nvSpPr>
        <p:spPr>
          <a:xfrm>
            <a:off x="1347201" y="2393176"/>
            <a:ext cx="1030944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Suction side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9BE6E2-689D-EA15-9CCC-1D4041B5D688}"/>
              </a:ext>
            </a:extLst>
          </p:cNvPr>
          <p:cNvSpPr txBox="1"/>
          <p:nvPr/>
        </p:nvSpPr>
        <p:spPr>
          <a:xfrm>
            <a:off x="1302814" y="5427179"/>
            <a:ext cx="1119718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Pressure side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38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CA04-585D-5FE4-4F66-F138907C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69593D-B096-0541-811C-30BE743F8EC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01/12/2025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28D0624-CBC2-1904-4BBD-DF81E59D74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3CC5507-99D4-629F-5E72-5CDB77A4E7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C0752FE-06C0-D292-4898-FB684B7FB4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EA918-F06A-C343-AD33-22A359E1F25E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77.75m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A3C620-8530-8E81-A10B-03DC93AF989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4.2 </a:t>
            </a:r>
            <a:r>
              <a:rPr lang="en-US" sz="2400" b="1" dirty="0">
                <a:solidFill>
                  <a:sysClr val="windowText" lastClr="000000"/>
                </a:solidFill>
              </a:rPr>
              <a:t>Cost Caculation Method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1C01E-A075-9F16-95AA-54026C0162F1}"/>
              </a:ext>
            </a:extLst>
          </p:cNvPr>
          <p:cNvSpPr txBox="1"/>
          <p:nvPr/>
        </p:nvSpPr>
        <p:spPr>
          <a:xfrm>
            <a:off x="1576332" y="1981961"/>
            <a:ext cx="1776465" cy="46166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Geometry</a:t>
            </a: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(Aero Team)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63AC5-F8F2-AC4F-FA6B-3C8BD7206BE1}"/>
              </a:ext>
            </a:extLst>
          </p:cNvPr>
          <p:cNvSpPr txBox="1"/>
          <p:nvPr/>
        </p:nvSpPr>
        <p:spPr>
          <a:xfrm>
            <a:off x="1576333" y="2699712"/>
            <a:ext cx="1776466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Revison2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3AD25-B25D-559A-810B-6296B9890AEA}"/>
              </a:ext>
            </a:extLst>
          </p:cNvPr>
          <p:cNvSpPr txBox="1"/>
          <p:nvPr/>
        </p:nvSpPr>
        <p:spPr>
          <a:xfrm>
            <a:off x="1576333" y="3143019"/>
            <a:ext cx="1776466" cy="16619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Pos(m)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Chord(m)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Twist(deg)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Foil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Polar</a:t>
            </a:r>
          </a:p>
          <a:p>
            <a:pPr marL="171450" indent="-171450">
              <a:buFont typeface="Wingdings" panose="05000000000000000000" pitchFamily="2" charset="2"/>
              <a:buChar char=" "/>
            </a:pP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25ABD9-1B40-D3F2-B9FF-7A26B251AA7F}"/>
              </a:ext>
            </a:extLst>
          </p:cNvPr>
          <p:cNvSpPr txBox="1"/>
          <p:nvPr/>
        </p:nvSpPr>
        <p:spPr>
          <a:xfrm>
            <a:off x="1576332" y="5347539"/>
            <a:ext cx="1776467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DU40 40%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DU35 35%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DU25 25%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NACA 63(3)- 618 18%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/>
              <a:t>Circular root 100%</a:t>
            </a:r>
            <a:endParaRPr lang="ko-KR" altLang="en-US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BEC73-2E2F-12B0-ADF2-F7FEBE3AAD3A}"/>
              </a:ext>
            </a:extLst>
          </p:cNvPr>
          <p:cNvSpPr txBox="1"/>
          <p:nvPr/>
        </p:nvSpPr>
        <p:spPr>
          <a:xfrm>
            <a:off x="1576333" y="4970224"/>
            <a:ext cx="1776466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T/C (Assume)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04C6A-6842-DD9C-67AA-4C3F559DDF59}"/>
              </a:ext>
            </a:extLst>
          </p:cNvPr>
          <p:cNvSpPr txBox="1"/>
          <p:nvPr/>
        </p:nvSpPr>
        <p:spPr>
          <a:xfrm>
            <a:off x="4343410" y="1969876"/>
            <a:ext cx="2500074" cy="46166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Geometric integration</a:t>
            </a: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(Structure Team)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743CF0-2046-6973-93BB-F0F50938A7F3}"/>
              </a:ext>
            </a:extLst>
          </p:cNvPr>
          <p:cNvSpPr txBox="1"/>
          <p:nvPr/>
        </p:nvSpPr>
        <p:spPr>
          <a:xfrm>
            <a:off x="4343410" y="2747527"/>
            <a:ext cx="2500074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Revison1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D5184-682B-7E73-0887-AE0623840B7D}"/>
              </a:ext>
            </a:extLst>
          </p:cNvPr>
          <p:cNvSpPr txBox="1"/>
          <p:nvPr/>
        </p:nvSpPr>
        <p:spPr>
          <a:xfrm>
            <a:off x="4343410" y="4945469"/>
            <a:ext cx="2650056" cy="277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Material Usage (Estimation)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24D872-318E-1DA5-B499-7B8D9898D0A3}"/>
              </a:ext>
            </a:extLst>
          </p:cNvPr>
          <p:cNvSpPr txBox="1"/>
          <p:nvPr/>
        </p:nvSpPr>
        <p:spPr>
          <a:xfrm>
            <a:off x="4343409" y="5322784"/>
            <a:ext cx="2650057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Shell :18kg/</a:t>
            </a:r>
            <a:r>
              <a:rPr lang="pt-B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㎡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pt-B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Web : 15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kg/</a:t>
            </a:r>
            <a:r>
              <a:rPr lang="pt-B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㎡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pt-B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Spar caps : 25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kg/</a:t>
            </a:r>
            <a:r>
              <a:rPr lang="pt-B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㎡(UD Carbon)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pt-B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Core materials : </a:t>
            </a:r>
            <a:r>
              <a:rPr lang="el-G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ρ=90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kg/m³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fr-FR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LE/TE reinforcement: 20 kg/m²</a:t>
            </a: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D61509-78CB-D262-1135-DF6E661C5C79}"/>
              </a:ext>
            </a:extLst>
          </p:cNvPr>
          <p:cNvSpPr txBox="1"/>
          <p:nvPr/>
        </p:nvSpPr>
        <p:spPr>
          <a:xfrm>
            <a:off x="4343409" y="3109221"/>
            <a:ext cx="2650055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Shell area =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upper+lower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Web skin =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area Shear web height </a:t>
            </a:r>
          </a:p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× span integration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Spar cap width =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15% chord </a:t>
            </a:r>
            <a:b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(both caps combined)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LE/TE reinforcement =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5%×shell</a:t>
            </a:r>
            <a:b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area each</a:t>
            </a:r>
          </a:p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Core area =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portion of shell/web </a:t>
            </a:r>
            <a:b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with thickness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B92413-776D-0693-B372-C7CAF7C18278}"/>
              </a:ext>
            </a:extLst>
          </p:cNvPr>
          <p:cNvSpPr txBox="1"/>
          <p:nvPr/>
        </p:nvSpPr>
        <p:spPr>
          <a:xfrm>
            <a:off x="7799627" y="2708011"/>
            <a:ext cx="2500074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Revison2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B3B63D-79BF-0D8B-E4CD-EC596E228A1C}"/>
              </a:ext>
            </a:extLst>
          </p:cNvPr>
          <p:cNvSpPr txBox="1"/>
          <p:nvPr/>
        </p:nvSpPr>
        <p:spPr>
          <a:xfrm>
            <a:off x="7799627" y="4905953"/>
            <a:ext cx="2500074" cy="277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Total cost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8EF1BE-25E2-9240-9610-DE7AC5760D43}"/>
              </a:ext>
            </a:extLst>
          </p:cNvPr>
          <p:cNvSpPr txBox="1"/>
          <p:nvPr/>
        </p:nvSpPr>
        <p:spPr>
          <a:xfrm>
            <a:off x="7799627" y="5283268"/>
            <a:ext cx="2500074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Materials: 55%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Manufacturing: 35%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Quality &amp; Process: 10%</a:t>
            </a:r>
          </a:p>
          <a:p>
            <a:pPr marL="171450" indent="-171450">
              <a:buFont typeface="Wingdings" panose="05000000000000000000" pitchFamily="2" charset="2"/>
              <a:buChar char=" "/>
            </a:pP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1D14D2-E601-54FA-0EA1-6C99656A08ED}"/>
              </a:ext>
            </a:extLst>
          </p:cNvPr>
          <p:cNvSpPr txBox="1"/>
          <p:nvPr/>
        </p:nvSpPr>
        <p:spPr>
          <a:xfrm>
            <a:off x="7799627" y="3069705"/>
            <a:ext cx="2500074" cy="16619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Glass: €1.8/kg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Carbon: €25/kg</a:t>
            </a: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Core: €4/kg</a:t>
            </a: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 Resin: €4/kg</a:t>
            </a: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 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Adhesive: €10/kg</a:t>
            </a:r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ko-KR" sz="12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9F5F96-DAE4-D65B-28E9-6672F63E7A1A}"/>
              </a:ext>
            </a:extLst>
          </p:cNvPr>
          <p:cNvSpPr txBox="1"/>
          <p:nvPr/>
        </p:nvSpPr>
        <p:spPr>
          <a:xfrm>
            <a:off x="7766296" y="1951251"/>
            <a:ext cx="2500074" cy="46166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Cost Calculation</a:t>
            </a:r>
          </a:p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(Structure Team)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DBA145-C38E-8276-A704-1CA224913D2A}"/>
              </a:ext>
            </a:extLst>
          </p:cNvPr>
          <p:cNvSpPr txBox="1"/>
          <p:nvPr/>
        </p:nvSpPr>
        <p:spPr>
          <a:xfrm>
            <a:off x="1258831" y="1907051"/>
            <a:ext cx="455669" cy="58477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B65F48-9EAE-7003-DE3B-0CBCF2C04DEA}"/>
              </a:ext>
            </a:extLst>
          </p:cNvPr>
          <p:cNvSpPr txBox="1"/>
          <p:nvPr/>
        </p:nvSpPr>
        <p:spPr>
          <a:xfrm>
            <a:off x="4111632" y="1907051"/>
            <a:ext cx="455669" cy="58477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4362D9-1C3A-994A-9D1B-D22D9D1DB45D}"/>
              </a:ext>
            </a:extLst>
          </p:cNvPr>
          <p:cNvSpPr txBox="1"/>
          <p:nvPr/>
        </p:nvSpPr>
        <p:spPr>
          <a:xfrm>
            <a:off x="7547450" y="1908135"/>
            <a:ext cx="455669" cy="58477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20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E2BC-879D-FD01-00A6-4A1E94C4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C30AD-8ABE-2C28-4A44-730FEF4F78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01/12/2025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B17E5D6-143F-1F84-C48A-A18C56E4F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C9E4D-D5D7-388E-C0BB-5E78BF6D7D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62FAD8-8B25-185B-43C1-84D45C356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C99BB-4438-815F-F9E1-E04B1A50A3D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77.75m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C13A5-9695-0DCD-F855-C4AC2812FD3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4.2 Main Blade Materials and Cost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913CF9B-21EC-FCD9-744F-18204A92348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18468"/>
          <a:ext cx="11072152" cy="432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8576">
                  <a:extLst>
                    <a:ext uri="{9D8B030D-6E8A-4147-A177-3AD203B41FA5}">
                      <a16:colId xmlns:a16="http://schemas.microsoft.com/office/drawing/2014/main" val="1502276407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1431297158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1298331557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750463989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3976590625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671816552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2355637602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3637515527"/>
                    </a:ext>
                  </a:extLst>
                </a:gridCol>
                <a:gridCol w="1185447">
                  <a:extLst>
                    <a:ext uri="{9D8B030D-6E8A-4147-A177-3AD203B41FA5}">
                      <a16:colId xmlns:a16="http://schemas.microsoft.com/office/drawing/2014/main" val="1151752045"/>
                    </a:ext>
                  </a:extLst>
                </a:gridCol>
              </a:tblGrid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Mass_NREL</a:t>
                      </a:r>
                      <a:endParaRPr lang="en-US" sz="110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(kg)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Cost_NREL</a:t>
                      </a:r>
                      <a:endParaRPr lang="en-US" sz="110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Mass_Optimus</a:t>
                      </a:r>
                      <a:endParaRPr lang="en-US" sz="110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(kg)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Cost_Optimus</a:t>
                      </a:r>
                      <a:endParaRPr lang="en-US" sz="110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l-GR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(kg)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Mass_ratio</a:t>
                      </a:r>
                      <a:endParaRPr lang="en-US" sz="110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</a:t>
                      </a: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/NREL</a:t>
                      </a: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l-GR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Cost_ratio</a:t>
                      </a:r>
                      <a:endParaRPr lang="en-US" sz="110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ko-KR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/NREL</a:t>
                      </a: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en-US" altLang="ko-K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114812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E-glass fiber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23,400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15,480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27,864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2,480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119%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4,464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119%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51564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Carbon fiber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928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23,210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428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186%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10,710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186%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72822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(PET/PVC/Balsa)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1,795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7,180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2,380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26606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Epoxy resin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6,071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24,285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1,071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4,285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084579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Adhesive &amp; gel coat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51043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MATERIALS</a:t>
                      </a:r>
                      <a:r>
                        <a:rPr lang="en-US" altLang="ko-K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(35%)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19,800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61,700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24,435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84,139 </a:t>
                      </a:r>
                      <a:endParaRPr lang="en-US" altLang="ko-KR" sz="11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4,635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22,439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743416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Manufacturing (35%)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≈ </a:t>
                      </a:r>
                      <a:r>
                        <a:rPr lang="en-US" altLang="ko-KR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39,200 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66" marR="36566" marT="18283" marB="1828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</a:t>
                      </a:r>
                      <a:r>
                        <a:rPr lang="en-US" altLang="ko-K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53,543 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14,343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627636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 &amp; Process (10%)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≈ </a:t>
                      </a:r>
                      <a:r>
                        <a:rPr lang="en-US" altLang="ko-KR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11,200 </a:t>
                      </a:r>
                      <a:endParaRPr lang="ko-KR" altLang="en-US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566" marR="36566" marT="18283" marB="1828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</a:t>
                      </a:r>
                      <a:r>
                        <a:rPr lang="en-US" altLang="ko-K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15,298 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4,098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5865"/>
                  </a:ext>
                </a:extLst>
              </a:tr>
              <a:tr h="4324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(100%)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≈ 112,000 / blade</a:t>
                      </a:r>
                    </a:p>
                  </a:txBody>
                  <a:tcPr marL="36566" marR="36566" marT="18283" marB="1828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1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152,981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/ blade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40,981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136%</a:t>
                      </a:r>
                    </a:p>
                  </a:txBody>
                  <a:tcPr marL="8031" marR="8031" marT="8031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24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105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01/12/2025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1736</TotalTime>
  <Words>2381</Words>
  <Application>Microsoft Office PowerPoint</Application>
  <PresentationFormat>Widescreen</PresentationFormat>
  <Paragraphs>576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Wingdings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217</cp:revision>
  <dcterms:created xsi:type="dcterms:W3CDTF">2025-10-05T16:20:08Z</dcterms:created>
  <dcterms:modified xsi:type="dcterms:W3CDTF">2025-12-01T18:36:28Z</dcterms:modified>
</cp:coreProperties>
</file>