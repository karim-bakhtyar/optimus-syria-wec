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72" r:id="rId5"/>
    <p:sldId id="274" r:id="rId6"/>
    <p:sldId id="281" r:id="rId7"/>
    <p:sldId id="289" r:id="rId8"/>
    <p:sldId id="290" r:id="rId9"/>
    <p:sldId id="27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2"/>
            <p14:sldId id="274"/>
            <p14:sldId id="281"/>
            <p14:sldId id="289"/>
            <p14:sldId id="290"/>
            <p14:sldId id="276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4DDF7B-9970-4C2C-BAFD-2326E2C08BAE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96FF3A-C41C-4378-83E8-26E16637E84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How LiDAR Works</a:t>
          </a:r>
        </a:p>
      </dgm:t>
    </dgm:pt>
    <dgm:pt modelId="{5FA00EC4-D769-4315-AA83-CA2BCBB344F0}" type="parTrans" cxnId="{CB0F7517-71E5-4413-A18C-3CE3D847F59D}">
      <dgm:prSet/>
      <dgm:spPr/>
      <dgm:t>
        <a:bodyPr/>
        <a:lstStyle/>
        <a:p>
          <a:endParaRPr lang="en-US"/>
        </a:p>
      </dgm:t>
    </dgm:pt>
    <dgm:pt modelId="{BE4130C6-C14D-46CC-93A3-EDAF3DD680DA}" type="sibTrans" cxnId="{CB0F7517-71E5-4413-A18C-3CE3D847F59D}">
      <dgm:prSet/>
      <dgm:spPr/>
      <dgm:t>
        <a:bodyPr/>
        <a:lstStyle/>
        <a:p>
          <a:endParaRPr lang="en-US"/>
        </a:p>
      </dgm:t>
    </dgm:pt>
    <dgm:pt modelId="{772467D6-D7A2-49BC-9CC1-4CB7EF47D67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b="0" i="0" dirty="0"/>
            <a:t>1. Sends short laser pulses</a:t>
          </a:r>
          <a:endParaRPr lang="en-US" sz="1100" dirty="0"/>
        </a:p>
      </dgm:t>
    </dgm:pt>
    <dgm:pt modelId="{91B45768-8045-4EF0-AF2F-E174109B3E52}" type="parTrans" cxnId="{CDA0EB4C-F327-463B-AECA-BF7FA4E9A376}">
      <dgm:prSet/>
      <dgm:spPr/>
      <dgm:t>
        <a:bodyPr/>
        <a:lstStyle/>
        <a:p>
          <a:endParaRPr lang="en-US"/>
        </a:p>
      </dgm:t>
    </dgm:pt>
    <dgm:pt modelId="{76A4F544-1B21-4C31-AF6C-05D350988951}" type="sibTrans" cxnId="{CDA0EB4C-F327-463B-AECA-BF7FA4E9A376}">
      <dgm:prSet/>
      <dgm:spPr/>
      <dgm:t>
        <a:bodyPr/>
        <a:lstStyle/>
        <a:p>
          <a:endParaRPr lang="en-US"/>
        </a:p>
      </dgm:t>
    </dgm:pt>
    <dgm:pt modelId="{1EA9ED01-83C3-40A6-8FA1-F3BB8B0A5AF9}">
      <dgm:prSet phldrT="[Text]" phldr="0" custT="1"/>
      <dgm:spPr/>
      <dgm:t>
        <a:bodyPr/>
        <a:lstStyle/>
        <a:p>
          <a:r>
            <a:rPr lang="en-US" sz="1100" dirty="0"/>
            <a:t>2. </a:t>
          </a:r>
          <a:r>
            <a:rPr lang="en-US" sz="1100" b="0" i="0" dirty="0"/>
            <a:t>Measures time for light to return</a:t>
          </a:r>
          <a:endParaRPr lang="en-US" sz="1100" dirty="0"/>
        </a:p>
      </dgm:t>
    </dgm:pt>
    <dgm:pt modelId="{81EF0D42-5FF5-4064-B632-8D02DC279559}" type="parTrans" cxnId="{6F7E2550-F124-4E4F-82D3-F63DB383CA7B}">
      <dgm:prSet/>
      <dgm:spPr/>
      <dgm:t>
        <a:bodyPr/>
        <a:lstStyle/>
        <a:p>
          <a:endParaRPr lang="en-US"/>
        </a:p>
      </dgm:t>
    </dgm:pt>
    <dgm:pt modelId="{0AE41288-0103-4EB9-8B53-5FD3CD89A45B}" type="sibTrans" cxnId="{6F7E2550-F124-4E4F-82D3-F63DB383CA7B}">
      <dgm:prSet/>
      <dgm:spPr/>
      <dgm:t>
        <a:bodyPr/>
        <a:lstStyle/>
        <a:p>
          <a:endParaRPr lang="en-US"/>
        </a:p>
      </dgm:t>
    </dgm:pt>
    <dgm:pt modelId="{6D2E56DF-679D-49A0-86D7-C7FDD98C1EEF}">
      <dgm:prSet phldrT="[Text]" phldr="0" custT="1"/>
      <dgm:spPr/>
      <dgm:t>
        <a:bodyPr/>
        <a:lstStyle/>
        <a:p>
          <a:r>
            <a:rPr lang="en-US" sz="1100" dirty="0"/>
            <a:t>3. </a:t>
          </a:r>
          <a:r>
            <a:rPr lang="en-US" sz="1100" b="0" i="0" dirty="0"/>
            <a:t>Calculates very accurate distance</a:t>
          </a:r>
          <a:endParaRPr lang="en-US" sz="1100" dirty="0"/>
        </a:p>
      </dgm:t>
    </dgm:pt>
    <dgm:pt modelId="{26C4BE43-609A-4B8E-A7CE-03EA9F5A5DFF}" type="parTrans" cxnId="{FE013481-5060-49F0-891E-14EB9B2CBBA0}">
      <dgm:prSet/>
      <dgm:spPr/>
      <dgm:t>
        <a:bodyPr/>
        <a:lstStyle/>
        <a:p>
          <a:endParaRPr lang="en-US"/>
        </a:p>
      </dgm:t>
    </dgm:pt>
    <dgm:pt modelId="{A2162A51-6814-4CB2-9441-8AD2879D2AEF}" type="sibTrans" cxnId="{FE013481-5060-49F0-891E-14EB9B2CBBA0}">
      <dgm:prSet/>
      <dgm:spPr/>
      <dgm:t>
        <a:bodyPr/>
        <a:lstStyle/>
        <a:p>
          <a:endParaRPr lang="en-US"/>
        </a:p>
      </dgm:t>
    </dgm:pt>
    <dgm:pt modelId="{A532EB6D-F07B-4EA2-ABA6-7C0C5DC8B5A2}">
      <dgm:prSet phldrT="[Text]" phldr="0" custT="1"/>
      <dgm:spPr/>
      <dgm:t>
        <a:bodyPr/>
        <a:lstStyle/>
        <a:p>
          <a:r>
            <a:rPr lang="en-US" sz="1100" dirty="0"/>
            <a:t>4. </a:t>
          </a:r>
          <a:r>
            <a:rPr lang="en-US" sz="1100" b="0" i="0" dirty="0"/>
            <a:t>Repeats measurements to detect motion</a:t>
          </a:r>
          <a:endParaRPr lang="en-US" sz="1100" dirty="0"/>
        </a:p>
      </dgm:t>
    </dgm:pt>
    <dgm:pt modelId="{C3306382-26FE-4E36-A77E-728716F8BBB9}" type="parTrans" cxnId="{50D316C7-3E81-479B-8B08-350A3BF1FE17}">
      <dgm:prSet/>
      <dgm:spPr/>
      <dgm:t>
        <a:bodyPr/>
        <a:lstStyle/>
        <a:p>
          <a:endParaRPr lang="en-US"/>
        </a:p>
      </dgm:t>
    </dgm:pt>
    <dgm:pt modelId="{4B493F82-4D12-4EF7-817E-3470C2AD5D77}" type="sibTrans" cxnId="{50D316C7-3E81-479B-8B08-350A3BF1FE17}">
      <dgm:prSet/>
      <dgm:spPr/>
      <dgm:t>
        <a:bodyPr/>
        <a:lstStyle/>
        <a:p>
          <a:endParaRPr lang="en-US"/>
        </a:p>
      </dgm:t>
    </dgm:pt>
    <dgm:pt modelId="{74A8B6B4-9179-4B01-B2EF-BDFA1CEA0755}" type="pres">
      <dgm:prSet presAssocID="{AB4DDF7B-9970-4C2C-BAFD-2326E2C08BA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2555A9-86ED-4FE4-BC74-96BB9E4CCA3C}" type="pres">
      <dgm:prSet presAssocID="{C496FF3A-C41C-4378-83E8-26E16637E841}" presName="centerShape" presStyleLbl="node0" presStyleIdx="0" presStyleCnt="1" custScaleX="81972" custScaleY="92358"/>
      <dgm:spPr/>
    </dgm:pt>
    <dgm:pt modelId="{ADC91632-5F91-4542-9B84-50C9792341AC}" type="pres">
      <dgm:prSet presAssocID="{91B45768-8045-4EF0-AF2F-E174109B3E52}" presName="Name9" presStyleLbl="parChTrans1D2" presStyleIdx="0" presStyleCnt="4"/>
      <dgm:spPr/>
    </dgm:pt>
    <dgm:pt modelId="{828E61AD-5A7A-45C6-9BC3-27F539CD9BF8}" type="pres">
      <dgm:prSet presAssocID="{91B45768-8045-4EF0-AF2F-E174109B3E52}" presName="connTx" presStyleLbl="parChTrans1D2" presStyleIdx="0" presStyleCnt="4"/>
      <dgm:spPr/>
    </dgm:pt>
    <dgm:pt modelId="{19CF4D69-F19A-4BD4-80D6-B0C38C9B2CB1}" type="pres">
      <dgm:prSet presAssocID="{772467D6-D7A2-49BC-9CC1-4CB7EF47D67B}" presName="node" presStyleLbl="node1" presStyleIdx="0" presStyleCnt="4" custScaleX="188741" custScaleY="139507" custRadScaleRad="99887">
        <dgm:presLayoutVars>
          <dgm:bulletEnabled val="1"/>
        </dgm:presLayoutVars>
      </dgm:prSet>
      <dgm:spPr/>
    </dgm:pt>
    <dgm:pt modelId="{C562B88B-0209-4121-98DB-5B9EA6CFE73A}" type="pres">
      <dgm:prSet presAssocID="{81EF0D42-5FF5-4064-B632-8D02DC279559}" presName="Name9" presStyleLbl="parChTrans1D2" presStyleIdx="1" presStyleCnt="4"/>
      <dgm:spPr/>
    </dgm:pt>
    <dgm:pt modelId="{311865AA-565F-409A-A7AA-A0B74AC5F7B6}" type="pres">
      <dgm:prSet presAssocID="{81EF0D42-5FF5-4064-B632-8D02DC279559}" presName="connTx" presStyleLbl="parChTrans1D2" presStyleIdx="1" presStyleCnt="4"/>
      <dgm:spPr/>
    </dgm:pt>
    <dgm:pt modelId="{5F3BCAE4-0241-4374-A751-FC015FD9B0F7}" type="pres">
      <dgm:prSet presAssocID="{1EA9ED01-83C3-40A6-8FA1-F3BB8B0A5AF9}" presName="node" presStyleLbl="node1" presStyleIdx="1" presStyleCnt="4" custScaleX="188741" custScaleY="139507">
        <dgm:presLayoutVars>
          <dgm:bulletEnabled val="1"/>
        </dgm:presLayoutVars>
      </dgm:prSet>
      <dgm:spPr/>
    </dgm:pt>
    <dgm:pt modelId="{4A0CFB14-450B-42CC-BD59-5920ADE5637B}" type="pres">
      <dgm:prSet presAssocID="{26C4BE43-609A-4B8E-A7CE-03EA9F5A5DFF}" presName="Name9" presStyleLbl="parChTrans1D2" presStyleIdx="2" presStyleCnt="4"/>
      <dgm:spPr/>
    </dgm:pt>
    <dgm:pt modelId="{EE860C8F-60F0-4111-8E8E-447F1120B656}" type="pres">
      <dgm:prSet presAssocID="{26C4BE43-609A-4B8E-A7CE-03EA9F5A5DFF}" presName="connTx" presStyleLbl="parChTrans1D2" presStyleIdx="2" presStyleCnt="4"/>
      <dgm:spPr/>
    </dgm:pt>
    <dgm:pt modelId="{990D9461-DDFD-47D1-BD5B-0F1809346072}" type="pres">
      <dgm:prSet presAssocID="{6D2E56DF-679D-49A0-86D7-C7FDD98C1EEF}" presName="node" presStyleLbl="node1" presStyleIdx="2" presStyleCnt="4" custScaleX="188741" custScaleY="139507">
        <dgm:presLayoutVars>
          <dgm:bulletEnabled val="1"/>
        </dgm:presLayoutVars>
      </dgm:prSet>
      <dgm:spPr/>
    </dgm:pt>
    <dgm:pt modelId="{826962C8-3351-4521-BA5E-144EC304B8DC}" type="pres">
      <dgm:prSet presAssocID="{C3306382-26FE-4E36-A77E-728716F8BBB9}" presName="Name9" presStyleLbl="parChTrans1D2" presStyleIdx="3" presStyleCnt="4"/>
      <dgm:spPr/>
    </dgm:pt>
    <dgm:pt modelId="{905D4D46-0EC7-4D38-9E77-C81FFFAB5C9B}" type="pres">
      <dgm:prSet presAssocID="{C3306382-26FE-4E36-A77E-728716F8BBB9}" presName="connTx" presStyleLbl="parChTrans1D2" presStyleIdx="3" presStyleCnt="4"/>
      <dgm:spPr/>
    </dgm:pt>
    <dgm:pt modelId="{1025E598-F663-4026-82B2-2FA6CDD3AB50}" type="pres">
      <dgm:prSet presAssocID="{A532EB6D-F07B-4EA2-ABA6-7C0C5DC8B5A2}" presName="node" presStyleLbl="node1" presStyleIdx="3" presStyleCnt="4" custScaleX="188741" custScaleY="139507">
        <dgm:presLayoutVars>
          <dgm:bulletEnabled val="1"/>
        </dgm:presLayoutVars>
      </dgm:prSet>
      <dgm:spPr/>
    </dgm:pt>
  </dgm:ptLst>
  <dgm:cxnLst>
    <dgm:cxn modelId="{CB0F7517-71E5-4413-A18C-3CE3D847F59D}" srcId="{AB4DDF7B-9970-4C2C-BAFD-2326E2C08BAE}" destId="{C496FF3A-C41C-4378-83E8-26E16637E841}" srcOrd="0" destOrd="0" parTransId="{5FA00EC4-D769-4315-AA83-CA2BCBB344F0}" sibTransId="{BE4130C6-C14D-46CC-93A3-EDAF3DD680DA}"/>
    <dgm:cxn modelId="{1D328F30-9138-44A5-8526-B8B850F61315}" type="presOf" srcId="{26C4BE43-609A-4B8E-A7CE-03EA9F5A5DFF}" destId="{EE860C8F-60F0-4111-8E8E-447F1120B656}" srcOrd="1" destOrd="0" presId="urn:microsoft.com/office/officeart/2005/8/layout/radial1"/>
    <dgm:cxn modelId="{48DBFB34-4E28-4737-825C-E5CFDFB0D9F8}" type="presOf" srcId="{81EF0D42-5FF5-4064-B632-8D02DC279559}" destId="{311865AA-565F-409A-A7AA-A0B74AC5F7B6}" srcOrd="1" destOrd="0" presId="urn:microsoft.com/office/officeart/2005/8/layout/radial1"/>
    <dgm:cxn modelId="{F3053839-B835-4BE5-9CB1-D58F9160E387}" type="presOf" srcId="{C3306382-26FE-4E36-A77E-728716F8BBB9}" destId="{905D4D46-0EC7-4D38-9E77-C81FFFAB5C9B}" srcOrd="1" destOrd="0" presId="urn:microsoft.com/office/officeart/2005/8/layout/radial1"/>
    <dgm:cxn modelId="{C96FF63B-14E8-46DC-965E-D94941F328D4}" type="presOf" srcId="{772467D6-D7A2-49BC-9CC1-4CB7EF47D67B}" destId="{19CF4D69-F19A-4BD4-80D6-B0C38C9B2CB1}" srcOrd="0" destOrd="0" presId="urn:microsoft.com/office/officeart/2005/8/layout/radial1"/>
    <dgm:cxn modelId="{CDA0EB4C-F327-463B-AECA-BF7FA4E9A376}" srcId="{C496FF3A-C41C-4378-83E8-26E16637E841}" destId="{772467D6-D7A2-49BC-9CC1-4CB7EF47D67B}" srcOrd="0" destOrd="0" parTransId="{91B45768-8045-4EF0-AF2F-E174109B3E52}" sibTransId="{76A4F544-1B21-4C31-AF6C-05D350988951}"/>
    <dgm:cxn modelId="{6F7E2550-F124-4E4F-82D3-F63DB383CA7B}" srcId="{C496FF3A-C41C-4378-83E8-26E16637E841}" destId="{1EA9ED01-83C3-40A6-8FA1-F3BB8B0A5AF9}" srcOrd="1" destOrd="0" parTransId="{81EF0D42-5FF5-4064-B632-8D02DC279559}" sibTransId="{0AE41288-0103-4EB9-8B53-5FD3CD89A45B}"/>
    <dgm:cxn modelId="{B79B1E52-7606-4FA2-BECC-2A0E7D636DC4}" type="presOf" srcId="{6D2E56DF-679D-49A0-86D7-C7FDD98C1EEF}" destId="{990D9461-DDFD-47D1-BD5B-0F1809346072}" srcOrd="0" destOrd="0" presId="urn:microsoft.com/office/officeart/2005/8/layout/radial1"/>
    <dgm:cxn modelId="{15830754-A82B-43CF-9754-A1220B88BAA9}" type="presOf" srcId="{26C4BE43-609A-4B8E-A7CE-03EA9F5A5DFF}" destId="{4A0CFB14-450B-42CC-BD59-5920ADE5637B}" srcOrd="0" destOrd="0" presId="urn:microsoft.com/office/officeart/2005/8/layout/radial1"/>
    <dgm:cxn modelId="{FE013481-5060-49F0-891E-14EB9B2CBBA0}" srcId="{C496FF3A-C41C-4378-83E8-26E16637E841}" destId="{6D2E56DF-679D-49A0-86D7-C7FDD98C1EEF}" srcOrd="2" destOrd="0" parTransId="{26C4BE43-609A-4B8E-A7CE-03EA9F5A5DFF}" sibTransId="{A2162A51-6814-4CB2-9441-8AD2879D2AEF}"/>
    <dgm:cxn modelId="{EBDA1882-0228-4508-89D7-1CB99E614773}" type="presOf" srcId="{1EA9ED01-83C3-40A6-8FA1-F3BB8B0A5AF9}" destId="{5F3BCAE4-0241-4374-A751-FC015FD9B0F7}" srcOrd="0" destOrd="0" presId="urn:microsoft.com/office/officeart/2005/8/layout/radial1"/>
    <dgm:cxn modelId="{5ECBB48A-C5E9-465A-8B2A-2ABACE90AFCC}" type="presOf" srcId="{AB4DDF7B-9970-4C2C-BAFD-2326E2C08BAE}" destId="{74A8B6B4-9179-4B01-B2EF-BDFA1CEA0755}" srcOrd="0" destOrd="0" presId="urn:microsoft.com/office/officeart/2005/8/layout/radial1"/>
    <dgm:cxn modelId="{5F4241BF-9DE9-45E1-A630-CB7D71E82144}" type="presOf" srcId="{81EF0D42-5FF5-4064-B632-8D02DC279559}" destId="{C562B88B-0209-4121-98DB-5B9EA6CFE73A}" srcOrd="0" destOrd="0" presId="urn:microsoft.com/office/officeart/2005/8/layout/radial1"/>
    <dgm:cxn modelId="{A4405FC2-1999-4501-8FE9-C4C0FAD79513}" type="presOf" srcId="{C496FF3A-C41C-4378-83E8-26E16637E841}" destId="{162555A9-86ED-4FE4-BC74-96BB9E4CCA3C}" srcOrd="0" destOrd="0" presId="urn:microsoft.com/office/officeart/2005/8/layout/radial1"/>
    <dgm:cxn modelId="{50D316C7-3E81-479B-8B08-350A3BF1FE17}" srcId="{C496FF3A-C41C-4378-83E8-26E16637E841}" destId="{A532EB6D-F07B-4EA2-ABA6-7C0C5DC8B5A2}" srcOrd="3" destOrd="0" parTransId="{C3306382-26FE-4E36-A77E-728716F8BBB9}" sibTransId="{4B493F82-4D12-4EF7-817E-3470C2AD5D77}"/>
    <dgm:cxn modelId="{A9094DCD-D553-440C-A0A5-488FB866F3DB}" type="presOf" srcId="{A532EB6D-F07B-4EA2-ABA6-7C0C5DC8B5A2}" destId="{1025E598-F663-4026-82B2-2FA6CDD3AB50}" srcOrd="0" destOrd="0" presId="urn:microsoft.com/office/officeart/2005/8/layout/radial1"/>
    <dgm:cxn modelId="{81D652E4-FBDA-4412-9B51-27DA69B45ACB}" type="presOf" srcId="{C3306382-26FE-4E36-A77E-728716F8BBB9}" destId="{826962C8-3351-4521-BA5E-144EC304B8DC}" srcOrd="0" destOrd="0" presId="urn:microsoft.com/office/officeart/2005/8/layout/radial1"/>
    <dgm:cxn modelId="{CDC651ED-7774-4376-A27C-2F959FB921AF}" type="presOf" srcId="{91B45768-8045-4EF0-AF2F-E174109B3E52}" destId="{ADC91632-5F91-4542-9B84-50C9792341AC}" srcOrd="0" destOrd="0" presId="urn:microsoft.com/office/officeart/2005/8/layout/radial1"/>
    <dgm:cxn modelId="{17AF98F5-46E7-4E39-89D8-356767BA2B33}" type="presOf" srcId="{91B45768-8045-4EF0-AF2F-E174109B3E52}" destId="{828E61AD-5A7A-45C6-9BC3-27F539CD9BF8}" srcOrd="1" destOrd="0" presId="urn:microsoft.com/office/officeart/2005/8/layout/radial1"/>
    <dgm:cxn modelId="{10A912C9-148E-4A56-98A5-BDC8503381B5}" type="presParOf" srcId="{74A8B6B4-9179-4B01-B2EF-BDFA1CEA0755}" destId="{162555A9-86ED-4FE4-BC74-96BB9E4CCA3C}" srcOrd="0" destOrd="0" presId="urn:microsoft.com/office/officeart/2005/8/layout/radial1"/>
    <dgm:cxn modelId="{3F04BCDD-3D46-4858-A319-57B9197AE9ED}" type="presParOf" srcId="{74A8B6B4-9179-4B01-B2EF-BDFA1CEA0755}" destId="{ADC91632-5F91-4542-9B84-50C9792341AC}" srcOrd="1" destOrd="0" presId="urn:microsoft.com/office/officeart/2005/8/layout/radial1"/>
    <dgm:cxn modelId="{07704CE6-79F6-46AC-9689-872BC3073516}" type="presParOf" srcId="{ADC91632-5F91-4542-9B84-50C9792341AC}" destId="{828E61AD-5A7A-45C6-9BC3-27F539CD9BF8}" srcOrd="0" destOrd="0" presId="urn:microsoft.com/office/officeart/2005/8/layout/radial1"/>
    <dgm:cxn modelId="{122C1CF7-E11C-4C44-8400-F2A83CA37416}" type="presParOf" srcId="{74A8B6B4-9179-4B01-B2EF-BDFA1CEA0755}" destId="{19CF4D69-F19A-4BD4-80D6-B0C38C9B2CB1}" srcOrd="2" destOrd="0" presId="urn:microsoft.com/office/officeart/2005/8/layout/radial1"/>
    <dgm:cxn modelId="{BFE8100E-3A02-492F-ADDC-D60372A34950}" type="presParOf" srcId="{74A8B6B4-9179-4B01-B2EF-BDFA1CEA0755}" destId="{C562B88B-0209-4121-98DB-5B9EA6CFE73A}" srcOrd="3" destOrd="0" presId="urn:microsoft.com/office/officeart/2005/8/layout/radial1"/>
    <dgm:cxn modelId="{9F22BE83-5A73-45EB-87F9-D1CFD571DD82}" type="presParOf" srcId="{C562B88B-0209-4121-98DB-5B9EA6CFE73A}" destId="{311865AA-565F-409A-A7AA-A0B74AC5F7B6}" srcOrd="0" destOrd="0" presId="urn:microsoft.com/office/officeart/2005/8/layout/radial1"/>
    <dgm:cxn modelId="{9B8FB977-3197-4B13-B874-1461CD1269F6}" type="presParOf" srcId="{74A8B6B4-9179-4B01-B2EF-BDFA1CEA0755}" destId="{5F3BCAE4-0241-4374-A751-FC015FD9B0F7}" srcOrd="4" destOrd="0" presId="urn:microsoft.com/office/officeart/2005/8/layout/radial1"/>
    <dgm:cxn modelId="{695C6B7A-7CB6-4845-B974-9D801B449839}" type="presParOf" srcId="{74A8B6B4-9179-4B01-B2EF-BDFA1CEA0755}" destId="{4A0CFB14-450B-42CC-BD59-5920ADE5637B}" srcOrd="5" destOrd="0" presId="urn:microsoft.com/office/officeart/2005/8/layout/radial1"/>
    <dgm:cxn modelId="{F28702B0-A198-48F9-BDC8-B28241DE0949}" type="presParOf" srcId="{4A0CFB14-450B-42CC-BD59-5920ADE5637B}" destId="{EE860C8F-60F0-4111-8E8E-447F1120B656}" srcOrd="0" destOrd="0" presId="urn:microsoft.com/office/officeart/2005/8/layout/radial1"/>
    <dgm:cxn modelId="{8B793664-3DEB-489F-B99E-104038F2492A}" type="presParOf" srcId="{74A8B6B4-9179-4B01-B2EF-BDFA1CEA0755}" destId="{990D9461-DDFD-47D1-BD5B-0F1809346072}" srcOrd="6" destOrd="0" presId="urn:microsoft.com/office/officeart/2005/8/layout/radial1"/>
    <dgm:cxn modelId="{AAA3860E-60A7-4341-BB30-6E315AA74293}" type="presParOf" srcId="{74A8B6B4-9179-4B01-B2EF-BDFA1CEA0755}" destId="{826962C8-3351-4521-BA5E-144EC304B8DC}" srcOrd="7" destOrd="0" presId="urn:microsoft.com/office/officeart/2005/8/layout/radial1"/>
    <dgm:cxn modelId="{9C29B6E0-6774-4C2A-8969-F31D93DE8FA6}" type="presParOf" srcId="{826962C8-3351-4521-BA5E-144EC304B8DC}" destId="{905D4D46-0EC7-4D38-9E77-C81FFFAB5C9B}" srcOrd="0" destOrd="0" presId="urn:microsoft.com/office/officeart/2005/8/layout/radial1"/>
    <dgm:cxn modelId="{46DFFBAD-1D13-4F97-B9F3-1136872897FE}" type="presParOf" srcId="{74A8B6B4-9179-4B01-B2EF-BDFA1CEA0755}" destId="{1025E598-F663-4026-82B2-2FA6CDD3AB50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555A9-86ED-4FE4-BC74-96BB9E4CCA3C}">
      <dsp:nvSpPr>
        <dsp:cNvPr id="0" name=""/>
        <dsp:cNvSpPr/>
      </dsp:nvSpPr>
      <dsp:spPr>
        <a:xfrm>
          <a:off x="1164336" y="964167"/>
          <a:ext cx="583444" cy="6573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/>
            <a:t>How LiDAR Works</a:t>
          </a:r>
        </a:p>
      </dsp:txBody>
      <dsp:txXfrm>
        <a:off x="1249779" y="1060436"/>
        <a:ext cx="412558" cy="464829"/>
      </dsp:txXfrm>
    </dsp:sp>
    <dsp:sp modelId="{ADC91632-5F91-4542-9B84-50C9792341AC}">
      <dsp:nvSpPr>
        <dsp:cNvPr id="0" name=""/>
        <dsp:cNvSpPr/>
      </dsp:nvSpPr>
      <dsp:spPr>
        <a:xfrm rot="16200000">
          <a:off x="1405989" y="892101"/>
          <a:ext cx="100137" cy="43994"/>
        </a:xfrm>
        <a:custGeom>
          <a:avLst/>
          <a:gdLst/>
          <a:ahLst/>
          <a:cxnLst/>
          <a:rect l="0" t="0" r="0" b="0"/>
          <a:pathLst>
            <a:path>
              <a:moveTo>
                <a:pt x="0" y="21997"/>
              </a:moveTo>
              <a:lnTo>
                <a:pt x="100137" y="2199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53555" y="911595"/>
        <a:ext cx="5006" cy="5006"/>
      </dsp:txXfrm>
    </dsp:sp>
    <dsp:sp modelId="{19CF4D69-F19A-4BD4-80D6-B0C38C9B2CB1}">
      <dsp:nvSpPr>
        <dsp:cNvPr id="0" name=""/>
        <dsp:cNvSpPr/>
      </dsp:nvSpPr>
      <dsp:spPr>
        <a:xfrm>
          <a:off x="784366" y="-128925"/>
          <a:ext cx="1343383" cy="992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0" i="0" kern="1200" dirty="0"/>
            <a:t>1. Sends short laser pulses</a:t>
          </a:r>
          <a:endParaRPr lang="en-US" sz="1100" kern="1200" dirty="0"/>
        </a:p>
      </dsp:txBody>
      <dsp:txXfrm>
        <a:off x="981100" y="16490"/>
        <a:ext cx="949915" cy="702125"/>
      </dsp:txXfrm>
    </dsp:sp>
    <dsp:sp modelId="{C562B88B-0209-4121-98DB-5B9EA6CFE73A}">
      <dsp:nvSpPr>
        <dsp:cNvPr id="0" name=""/>
        <dsp:cNvSpPr/>
      </dsp:nvSpPr>
      <dsp:spPr>
        <a:xfrm rot="10800000">
          <a:off x="1710712" y="1270854"/>
          <a:ext cx="37068" cy="43994"/>
        </a:xfrm>
        <a:custGeom>
          <a:avLst/>
          <a:gdLst/>
          <a:ahLst/>
          <a:cxnLst/>
          <a:rect l="0" t="0" r="0" b="0"/>
          <a:pathLst>
            <a:path>
              <a:moveTo>
                <a:pt x="0" y="21997"/>
              </a:moveTo>
              <a:lnTo>
                <a:pt x="37068" y="2199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728319" y="1291924"/>
        <a:ext cx="1853" cy="1853"/>
      </dsp:txXfrm>
    </dsp:sp>
    <dsp:sp modelId="{5F3BCAE4-0241-4374-A751-FC015FD9B0F7}">
      <dsp:nvSpPr>
        <dsp:cNvPr id="0" name=""/>
        <dsp:cNvSpPr/>
      </dsp:nvSpPr>
      <dsp:spPr>
        <a:xfrm>
          <a:off x="1710712" y="796373"/>
          <a:ext cx="1343383" cy="992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</a:t>
          </a:r>
          <a:r>
            <a:rPr lang="en-US" sz="1100" b="0" i="0" kern="1200" dirty="0"/>
            <a:t>Measures time for light to return</a:t>
          </a:r>
          <a:endParaRPr lang="en-US" sz="1100" kern="1200" dirty="0"/>
        </a:p>
      </dsp:txBody>
      <dsp:txXfrm>
        <a:off x="1907446" y="941788"/>
        <a:ext cx="949915" cy="702125"/>
      </dsp:txXfrm>
    </dsp:sp>
    <dsp:sp modelId="{4A0CFB14-450B-42CC-BD59-5920ADE5637B}">
      <dsp:nvSpPr>
        <dsp:cNvPr id="0" name=""/>
        <dsp:cNvSpPr/>
      </dsp:nvSpPr>
      <dsp:spPr>
        <a:xfrm rot="5400000">
          <a:off x="1405466" y="1650130"/>
          <a:ext cx="101184" cy="43994"/>
        </a:xfrm>
        <a:custGeom>
          <a:avLst/>
          <a:gdLst/>
          <a:ahLst/>
          <a:cxnLst/>
          <a:rect l="0" t="0" r="0" b="0"/>
          <a:pathLst>
            <a:path>
              <a:moveTo>
                <a:pt x="0" y="21997"/>
              </a:moveTo>
              <a:lnTo>
                <a:pt x="101184" y="2199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53528" y="1669597"/>
        <a:ext cx="5059" cy="5059"/>
      </dsp:txXfrm>
    </dsp:sp>
    <dsp:sp modelId="{990D9461-DDFD-47D1-BD5B-0F1809346072}">
      <dsp:nvSpPr>
        <dsp:cNvPr id="0" name=""/>
        <dsp:cNvSpPr/>
      </dsp:nvSpPr>
      <dsp:spPr>
        <a:xfrm>
          <a:off x="784366" y="1722719"/>
          <a:ext cx="1343383" cy="992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</a:t>
          </a:r>
          <a:r>
            <a:rPr lang="en-US" sz="1100" b="0" i="0" kern="1200" dirty="0"/>
            <a:t>Calculates very accurate distance</a:t>
          </a:r>
          <a:endParaRPr lang="en-US" sz="1100" kern="1200" dirty="0"/>
        </a:p>
      </dsp:txBody>
      <dsp:txXfrm>
        <a:off x="981100" y="1868134"/>
        <a:ext cx="949915" cy="702125"/>
      </dsp:txXfrm>
    </dsp:sp>
    <dsp:sp modelId="{826962C8-3351-4521-BA5E-144EC304B8DC}">
      <dsp:nvSpPr>
        <dsp:cNvPr id="0" name=""/>
        <dsp:cNvSpPr/>
      </dsp:nvSpPr>
      <dsp:spPr>
        <a:xfrm>
          <a:off x="1164336" y="1270854"/>
          <a:ext cx="37068" cy="43994"/>
        </a:xfrm>
        <a:custGeom>
          <a:avLst/>
          <a:gdLst/>
          <a:ahLst/>
          <a:cxnLst/>
          <a:rect l="0" t="0" r="0" b="0"/>
          <a:pathLst>
            <a:path>
              <a:moveTo>
                <a:pt x="0" y="21997"/>
              </a:moveTo>
              <a:lnTo>
                <a:pt x="37068" y="2199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81943" y="1291924"/>
        <a:ext cx="1853" cy="1853"/>
      </dsp:txXfrm>
    </dsp:sp>
    <dsp:sp modelId="{1025E598-F663-4026-82B2-2FA6CDD3AB50}">
      <dsp:nvSpPr>
        <dsp:cNvPr id="0" name=""/>
        <dsp:cNvSpPr/>
      </dsp:nvSpPr>
      <dsp:spPr>
        <a:xfrm>
          <a:off x="-141979" y="796373"/>
          <a:ext cx="1343383" cy="9929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</a:t>
          </a:r>
          <a:r>
            <a:rPr lang="en-US" sz="1100" b="0" i="0" kern="1200" dirty="0"/>
            <a:t>Repeats measurements to detect motion</a:t>
          </a:r>
          <a:endParaRPr lang="en-US" sz="1100" kern="1200" dirty="0"/>
        </a:p>
      </dsp:txBody>
      <dsp:txXfrm>
        <a:off x="54755" y="941788"/>
        <a:ext cx="949915" cy="702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A657-38CD-C08A-9C1B-B9CD7AC4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27432-D777-E332-0F94-ABB4525D7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29F61-B842-CCB8-1ABF-372A5F3A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884-AC4C-4119-B1F3-CB5E5B1F0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4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DF72-239B-2727-0741-72937FFF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B9894-365C-F1BB-C6D1-80520BA77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1D379-0A6D-3B73-FF18-8C52247F6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8C640-6E38-186E-E4E5-20F5F6977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076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FC5A-F5F3-56B6-0321-C12BDD1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7FEB2-D58C-82EF-30C4-D7690F253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9F48F-90DE-A1A7-AC91-8D253534D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E226-7E9E-3C4F-1080-0B98C8849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54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C545-ADA7-787D-6D7C-2C63B378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1A81B-C275-BE86-D6D6-F14BD32A9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F224-9798-4EFB-9B22-9F6ED7FF8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80CE-72EA-0238-243D-FD70A6059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916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231E-5A67-3A7D-9899-E9C3D164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6000-FC93-AF5B-725E-3B0F00E45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B7B2-B716-A1D9-3ECD-FE9CB36C2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ED5D-D283-566F-3508-C5310D95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841A-68C1-E977-EF10-2F13702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3C6E-A737-72C2-AA57-F437EC30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D82A-8C4C-1044-594E-580A10C1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D6B7-AC09-0DC6-468A-449328D32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39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10</a:t>
            </a:r>
          </a:p>
          <a:p>
            <a:r>
              <a:rPr lang="it-IT" sz="2000" dirty="0"/>
              <a:t>Date: 02/12/2025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Presenter  – Md Aman</a:t>
            </a:r>
          </a:p>
          <a:p>
            <a:pPr algn="ctr"/>
            <a:endParaRPr lang="en-US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4158" y="6528076"/>
            <a:ext cx="433176" cy="365125"/>
          </a:xfrm>
        </p:spPr>
        <p:txBody>
          <a:bodyPr/>
          <a:lstStyle/>
          <a:p>
            <a:pPr algn="ctr"/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 algn="ctr"/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25/11/2025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OpenFAST</a:t>
            </a:r>
            <a:r>
              <a:rPr lang="en-US" sz="2400" dirty="0">
                <a:cs typeface="Times New Roman" panose="02020603050405020304" pitchFamily="18" charset="0"/>
              </a:rPr>
              <a:t> With LiDAR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All DLC Application &amp;  Simulation </a:t>
            </a:r>
            <a:r>
              <a:rPr lang="en-US" sz="2400" dirty="0" err="1">
                <a:cs typeface="Times New Roman" panose="02020603050405020304" pitchFamily="18" charset="0"/>
              </a:rPr>
              <a:t>Updation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Conclusion &amp; Future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6048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568D94-AF6A-68C5-CAEA-EBE1FF802F4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A0BF8-D04C-9D69-012E-654B8A52187D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8FF8-26DF-DC06-1B1F-F4D35D45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2FA550B-EB6E-3B35-199D-08961285DE1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9242A21-7A46-18F7-EA7C-13BC6DD6066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4AA6590-F0D8-22DD-ED57-A88257127BE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F413404-13D4-6412-411C-C04E3A7567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B54AB6-8A88-1136-3EFD-86057EF7213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5BA4BB8-3F22-F9EA-D25E-727719E5DF0D}"/>
              </a:ext>
            </a:extLst>
          </p:cNvPr>
          <p:cNvSpPr txBox="1">
            <a:spLocks/>
          </p:cNvSpPr>
          <p:nvPr/>
        </p:nvSpPr>
        <p:spPr>
          <a:xfrm>
            <a:off x="1833304" y="6515527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8BC5F-AD6B-0BFD-8145-2C691A0D10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20E2D1-B8F9-295C-5F3E-269F0C17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OpenFAST</a:t>
            </a:r>
            <a:r>
              <a:rPr lang="en-US" dirty="0"/>
              <a:t> with LiDAR Simulation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A9557-5815-05F1-D6CD-78B10B62A90E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FD1270-9221-0DAC-D5F4-77955139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6" y="2850774"/>
            <a:ext cx="4405468" cy="1021505"/>
          </a:xfrm>
          <a:prstGeom prst="rect">
            <a:avLst/>
          </a:prstGeom>
        </p:spPr>
      </p:pic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2C7DCC3-10C4-DC1A-3DD5-887F5B466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16" y="1282746"/>
            <a:ext cx="4405468" cy="157732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E993940-4BCE-F7DE-1D83-12083736AFD2}"/>
              </a:ext>
            </a:extLst>
          </p:cNvPr>
          <p:cNvSpPr txBox="1"/>
          <p:nvPr/>
        </p:nvSpPr>
        <p:spPr>
          <a:xfrm>
            <a:off x="7649802" y="1165932"/>
            <a:ext cx="362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LiDAR – Light Detection &amp; Ranging</a:t>
            </a:r>
          </a:p>
          <a:p>
            <a:endParaRPr lang="en-US" dirty="0"/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29007ECE-5297-D910-549D-A8FB80985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153491"/>
              </p:ext>
            </p:extLst>
          </p:nvPr>
        </p:nvGraphicFramePr>
        <p:xfrm>
          <a:off x="5058903" y="1584188"/>
          <a:ext cx="2912117" cy="2585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E057E6-20E2-A320-1D1E-120CA2928E52}"/>
              </a:ext>
            </a:extLst>
          </p:cNvPr>
          <p:cNvCxnSpPr>
            <a:cxnSpLocks/>
          </p:cNvCxnSpPr>
          <p:nvPr/>
        </p:nvCxnSpPr>
        <p:spPr>
          <a:xfrm>
            <a:off x="7003486" y="3342697"/>
            <a:ext cx="1609572" cy="4534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A854C18-054D-3D3E-0C34-BD2EFCD7D2F7}"/>
              </a:ext>
            </a:extLst>
          </p:cNvPr>
          <p:cNvSpPr txBox="1"/>
          <p:nvPr/>
        </p:nvSpPr>
        <p:spPr>
          <a:xfrm>
            <a:off x="7516555" y="3966829"/>
            <a:ext cx="4664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Scans many points in space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Builds detailed 3D maps of terrain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Creates 3D maps of the atmosphere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Provides vertical wind profiles (wind vs. height)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55D376-17AB-0546-DA5A-C78B426ED216}"/>
              </a:ext>
            </a:extLst>
          </p:cNvPr>
          <p:cNvSpPr txBox="1"/>
          <p:nvPr/>
        </p:nvSpPr>
        <p:spPr>
          <a:xfrm>
            <a:off x="256729" y="4753872"/>
            <a:ext cx="5740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fkGroteskNeue"/>
              </a:rPr>
              <a:t>Lidar in </a:t>
            </a:r>
            <a:r>
              <a:rPr lang="en-US" b="0" i="0" dirty="0" err="1">
                <a:effectLst/>
                <a:latin typeface="fkGroteskNeue"/>
              </a:rPr>
              <a:t>OpenFAST</a:t>
            </a:r>
            <a:r>
              <a:rPr lang="en-US" b="0" i="0" dirty="0">
                <a:effectLst/>
                <a:latin typeface="fkGroteskNeue"/>
              </a:rPr>
              <a:t>: Preview wind for realistic loads, control design. Reduces rotor speed (40%), tower moments (17%), power variation (20%). Essential for </a:t>
            </a:r>
            <a:r>
              <a:rPr lang="en-US" dirty="0">
                <a:latin typeface="fkGroteskNeue"/>
              </a:rPr>
              <a:t>turbine protection and it also </a:t>
            </a:r>
            <a:r>
              <a:rPr lang="en-US" b="0" i="0" dirty="0">
                <a:effectLst/>
                <a:latin typeface="fkGroteskNeue"/>
              </a:rPr>
              <a:t>accurate simulation.</a:t>
            </a:r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885F611-749D-97EA-DC42-930F1E12C002}"/>
              </a:ext>
            </a:extLst>
          </p:cNvPr>
          <p:cNvSpPr/>
          <p:nvPr/>
        </p:nvSpPr>
        <p:spPr>
          <a:xfrm>
            <a:off x="8613058" y="3395059"/>
            <a:ext cx="2013409" cy="497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it Generates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167C7130-F231-7C62-27E1-C517583F5C0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97678" y="4677727"/>
            <a:ext cx="1376516" cy="564047"/>
          </a:xfrm>
          <a:prstGeom prst="curvedConnector3">
            <a:avLst>
              <a:gd name="adj1" fmla="val 35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F93A93F-802E-5928-BC46-D707CB216A89}"/>
              </a:ext>
            </a:extLst>
          </p:cNvPr>
          <p:cNvSpPr/>
          <p:nvPr/>
        </p:nvSpPr>
        <p:spPr>
          <a:xfrm>
            <a:off x="6194324" y="5316419"/>
            <a:ext cx="1376517" cy="4139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Effect On Wind Turbine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611742-B291-7B2A-6390-B052ACEE949C}"/>
              </a:ext>
            </a:extLst>
          </p:cNvPr>
          <p:cNvSpPr txBox="1"/>
          <p:nvPr/>
        </p:nvSpPr>
        <p:spPr>
          <a:xfrm>
            <a:off x="412717" y="5930663"/>
            <a:ext cx="2560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Source: wes.copernicus.org LAC for wind turbines Feng Guo1, David Schlipf1, and Po Wen Cheng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A0823B-0911-A81B-8BFB-7D4A3C9AE519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</p:spTree>
    <p:extLst>
      <p:ext uri="{BB962C8B-B14F-4D97-AF65-F5344CB8AC3E}">
        <p14:creationId xmlns:p14="http://schemas.microsoft.com/office/powerpoint/2010/main" val="26281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0BD9-DCF0-C18F-CBB5-2240AFCB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159757D-E8D1-CE00-CF03-A7F07B52089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D42583EF-B99F-25C0-6636-4C358972E86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A481050-6497-E015-F00B-773A6709737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E3724C-C897-174D-25D3-46EBDC40CF0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FC496C-7C4C-B904-0F4A-0008FCB8205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1B0BF1-DB42-C121-AE22-C67847C8C00B}"/>
              </a:ext>
            </a:extLst>
          </p:cNvPr>
          <p:cNvSpPr txBox="1">
            <a:spLocks/>
          </p:cNvSpPr>
          <p:nvPr/>
        </p:nvSpPr>
        <p:spPr>
          <a:xfrm>
            <a:off x="1833304" y="6559592"/>
            <a:ext cx="457612" cy="259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220A-BD95-30F8-877F-4F2054D7BA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441F367E-5E58-F8AE-5DB3-99B5E1361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All DLC </a:t>
            </a:r>
            <a:r>
              <a:rPr lang="en-US" dirty="0" err="1"/>
              <a:t>Updation</a:t>
            </a:r>
            <a:r>
              <a:rPr lang="en-US" dirty="0"/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27E474-614F-C114-4CED-406EC4E4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075954"/>
              </p:ext>
            </p:extLst>
          </p:nvPr>
        </p:nvGraphicFramePr>
        <p:xfrm>
          <a:off x="793409" y="1541211"/>
          <a:ext cx="9805764" cy="2853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588">
                  <a:extLst>
                    <a:ext uri="{9D8B030D-6E8A-4147-A177-3AD203B41FA5}">
                      <a16:colId xmlns:a16="http://schemas.microsoft.com/office/drawing/2014/main" val="618016475"/>
                    </a:ext>
                  </a:extLst>
                </a:gridCol>
                <a:gridCol w="3268588">
                  <a:extLst>
                    <a:ext uri="{9D8B030D-6E8A-4147-A177-3AD203B41FA5}">
                      <a16:colId xmlns:a16="http://schemas.microsoft.com/office/drawing/2014/main" val="1536885498"/>
                    </a:ext>
                  </a:extLst>
                </a:gridCol>
                <a:gridCol w="3268588">
                  <a:extLst>
                    <a:ext uri="{9D8B030D-6E8A-4147-A177-3AD203B41FA5}">
                      <a16:colId xmlns:a16="http://schemas.microsoft.com/office/drawing/2014/main" val="3863608526"/>
                    </a:ext>
                  </a:extLst>
                </a:gridCol>
              </a:tblGrid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111794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1.2 Power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 &lt; </a:t>
                      </a:r>
                      <a:r>
                        <a:rPr lang="en-US" dirty="0" err="1"/>
                        <a:t>Vhub</a:t>
                      </a:r>
                      <a:r>
                        <a:rPr lang="en-US" dirty="0"/>
                        <a:t> &lt; </a:t>
                      </a:r>
                      <a:r>
                        <a:rPr lang="en-US" dirty="0" err="1"/>
                        <a:t>Vout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616908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4.2 Normal Shut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Vhub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Vr</a:t>
                      </a:r>
                      <a:r>
                        <a:rPr lang="en-US" dirty="0"/>
                        <a:t> ± 2 m/s and </a:t>
                      </a:r>
                      <a:r>
                        <a:rPr lang="en-US" dirty="0" err="1"/>
                        <a:t>Vout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700369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5.1 Emergency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Vhub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Vr</a:t>
                      </a:r>
                      <a:r>
                        <a:rPr lang="en-US" dirty="0"/>
                        <a:t> ± 2 m/s and </a:t>
                      </a:r>
                      <a:r>
                        <a:rPr lang="en-US" dirty="0" err="1"/>
                        <a:t>Vout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07996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6.1 Parked &amp; Idling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Vhub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Vref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EWM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907248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r>
                        <a:rPr lang="en-US" dirty="0"/>
                        <a:t>7.1 Parked + 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Vhub</a:t>
                      </a:r>
                      <a:r>
                        <a:rPr lang="en-US" dirty="0"/>
                        <a:t> =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EWM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852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5F474F-9F93-1962-E159-B7EB5239D59D}"/>
              </a:ext>
            </a:extLst>
          </p:cNvPr>
          <p:cNvSpPr txBox="1"/>
          <p:nvPr/>
        </p:nvSpPr>
        <p:spPr>
          <a:xfrm>
            <a:off x="1022554" y="5043948"/>
            <a:ext cx="10176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Final DLC for our Optimus Syria 5 MW project.</a:t>
            </a:r>
          </a:p>
          <a:p>
            <a:r>
              <a:rPr lang="en-US" dirty="0"/>
              <a:t>Calculation Updated with LiDAR Simulation. Calculation are also update with including safety factor.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2E73E-E65B-7B98-F994-B54103782821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50B1E-CC30-B45E-F98D-69431C3DAD30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</p:spTree>
    <p:extLst>
      <p:ext uri="{BB962C8B-B14F-4D97-AF65-F5344CB8AC3E}">
        <p14:creationId xmlns:p14="http://schemas.microsoft.com/office/powerpoint/2010/main" val="195538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C398-AA62-E157-8B6E-26DDC152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500D61-2F05-A114-2FE5-0FA952AEAA1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1EB7822-EC27-D6D4-056B-15BFB169EB73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F7CCEA3-81D0-2017-AF1B-CB1F32B243C1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C725B46-0C45-739A-5F70-B406CA67BC5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FD7E98-668B-EE0C-ECD9-FB998C3BF60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459639-8F72-2FCD-7C82-A30A1850B3D7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F50F0-ADA0-B781-ECDF-7D5AC366A851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83F850BC-A0BF-35F6-B142-67BAECB5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Update – DLC 1.2 Normal Operation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2CAAA4-9FE5-4749-B9BF-926353AB6F31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C4E52E-2408-1EE7-9837-5E35FD33572A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  <p:pic>
        <p:nvPicPr>
          <p:cNvPr id="15" name="Picture 14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F0F4B04F-0810-8D4C-4D34-96A556FE9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7" y="2113935"/>
            <a:ext cx="10168177" cy="41881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6BB6DF-33C6-CDF2-54C3-EB0D67691732}"/>
              </a:ext>
            </a:extLst>
          </p:cNvPr>
          <p:cNvSpPr txBox="1"/>
          <p:nvPr/>
        </p:nvSpPr>
        <p:spPr>
          <a:xfrm>
            <a:off x="1200774" y="1280425"/>
            <a:ext cx="953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Including Safety Factors For Lidar On simulation, Wind Speed @ 25ms, wind Type NTM</a:t>
            </a:r>
          </a:p>
        </p:txBody>
      </p:sp>
    </p:spTree>
    <p:extLst>
      <p:ext uri="{BB962C8B-B14F-4D97-AF65-F5344CB8AC3E}">
        <p14:creationId xmlns:p14="http://schemas.microsoft.com/office/powerpoint/2010/main" val="834871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6DC0-382D-7F4F-F8B0-FF65B0CB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7F99DAC-6BDB-79AA-BCB7-38A44ED489A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95D4429-EAB1-ADCB-E8C6-EDC5716D9F5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AA599E5-54FF-7800-4481-5906F90CB03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4D8B95-A993-7077-85E5-6FD48F2C21F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AA462A-A5CF-B513-33F9-8CB107B9E72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FD726-7276-05C8-A4CC-92285796EB94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F8DAA-5442-FF59-DF02-86A6F8A8208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2FA6040-7294-F5A9-14B5-37DCE55E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Simulation Update – DLC 5.1 Emergency Stop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77F2C6-B3EA-EB3A-52E6-9271E798028B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9E3759-3FE8-59EB-F5E7-71BC75816DEB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  <p:pic>
        <p:nvPicPr>
          <p:cNvPr id="12" name="Picture 11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9DC17DE1-3B64-C235-EA8B-478CAA081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2" y="2088664"/>
            <a:ext cx="10048568" cy="42454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A7E453-F1C6-2EF7-E6EF-F2EDE16E2F62}"/>
              </a:ext>
            </a:extLst>
          </p:cNvPr>
          <p:cNvSpPr txBox="1"/>
          <p:nvPr/>
        </p:nvSpPr>
        <p:spPr>
          <a:xfrm>
            <a:off x="1200774" y="1280425"/>
            <a:ext cx="953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Including Safety Factors For Lidar On simulation, Wind Speed @ 25ms, wind Type NTM</a:t>
            </a:r>
          </a:p>
        </p:txBody>
      </p:sp>
    </p:spTree>
    <p:extLst>
      <p:ext uri="{BB962C8B-B14F-4D97-AF65-F5344CB8AC3E}">
        <p14:creationId xmlns:p14="http://schemas.microsoft.com/office/powerpoint/2010/main" val="413423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06B-41C3-447D-33BA-0D095651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126A9F-06B4-29D1-C004-78EB4398FCB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8160115-CB47-939B-646F-5DF9D9A5CD7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475720C-15ED-C4E1-573A-2EAB3788DA3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6AF1D8-C329-CDBE-C1DE-0A432B3C26B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A00BD-51B9-1925-C5F5-CA0097FBBF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C65F497-F6BF-58E3-28B0-4EF64451C25E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048A1B-615F-FD29-6EA3-DA58C1AC200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CFC4D300-B489-7D27-17D0-ABFC6397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Simulation Update- DLC 6.1 Parked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E7B72-B588-5953-5676-A8AE22841D5B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195FC-D55E-38E5-D26F-7FB39CAB1A9E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997ED-904A-6E8B-0FD9-BD4F4830C030}"/>
              </a:ext>
            </a:extLst>
          </p:cNvPr>
          <p:cNvSpPr txBox="1"/>
          <p:nvPr/>
        </p:nvSpPr>
        <p:spPr>
          <a:xfrm>
            <a:off x="953729" y="1280425"/>
            <a:ext cx="978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Including Safety Factors For Lidar On simulation, Wind Speed @ 42.5ms, wind Type EWM for 50 yr period</a:t>
            </a:r>
          </a:p>
        </p:txBody>
      </p:sp>
      <p:pic>
        <p:nvPicPr>
          <p:cNvPr id="17" name="Picture 16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3E850D00-FA75-7667-2F42-F1F47241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64" y="2092404"/>
            <a:ext cx="9863777" cy="40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5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0EFD-879B-333A-DADF-811203A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1146A40-1723-98E5-0A30-1B424176E4E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A702EAB-710C-AE5B-0FAC-DE25147E387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63D863B-C1BD-E06D-7371-B341E5FB197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9F3BE4-1887-9E96-1479-96A7764214B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7EE61D-15D7-3F86-7CDD-CCB0A1FC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 &amp; Future Plan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2EB72-B6B0-6F50-0553-8A7EBA47EF3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F80CF7-D661-ECEA-C323-8A635239A2B9}"/>
              </a:ext>
            </a:extLst>
          </p:cNvPr>
          <p:cNvSpPr txBox="1"/>
          <p:nvPr/>
        </p:nvSpPr>
        <p:spPr>
          <a:xfrm>
            <a:off x="573779" y="1557134"/>
            <a:ext cx="91559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last week we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Did not received OPTIMUS Syria Blade Data from Blade Team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Updated previous DLC Simulations with Lidar Controller from Control Team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Installed </a:t>
            </a:r>
            <a:r>
              <a:rPr lang="en-US" dirty="0" err="1"/>
              <a:t>Mextremes</a:t>
            </a:r>
            <a:r>
              <a:rPr lang="en-US" dirty="0"/>
              <a:t> Performed Basic tests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Provided forces and moments at different section of turbine to other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120C60-37B7-21C9-2762-545988EF49AC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270B-C2B0-1B61-E8C4-35B5C0C53617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F063-5965-7429-D9BA-AB5A1465307A}"/>
              </a:ext>
            </a:extLst>
          </p:cNvPr>
          <p:cNvSpPr txBox="1"/>
          <p:nvPr/>
        </p:nvSpPr>
        <p:spPr>
          <a:xfrm>
            <a:off x="573779" y="3909159"/>
            <a:ext cx="99139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next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tower groups for generating twr.dat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</a:t>
            </a:r>
            <a:r>
              <a:rPr lang="en-US" dirty="0" err="1"/>
              <a:t>OpenFAST</a:t>
            </a:r>
            <a:r>
              <a:rPr lang="en-US" dirty="0"/>
              <a:t> for DLC 4.2 (EOG) &amp; DLC 7.1(</a:t>
            </a:r>
            <a:r>
              <a:rPr lang="en-US" dirty="0" err="1"/>
              <a:t>Parked+Fault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Calculation of </a:t>
            </a:r>
            <a:r>
              <a:rPr lang="en-US" dirty="0" err="1"/>
              <a:t>MExtremes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75CCE-AD69-92AE-88F4-1ED7081624E4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885A4-D252-0E04-BF15-3691EED3AF0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</p:spTree>
    <p:extLst>
      <p:ext uri="{BB962C8B-B14F-4D97-AF65-F5344CB8AC3E}">
        <p14:creationId xmlns:p14="http://schemas.microsoft.com/office/powerpoint/2010/main" val="407804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Load Reports of the OPTIMUS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GL Guideline for the Certification of Wind Turbines Edition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Standard, DNVGL-ST-0376 – Edition December 2015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IEC 61400-1 2019-02, Ed. 4.0/ DNVGL-ST-0437 Loads and site conditions for wind turbines 11-2016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OpenFAST_v3.0 &amp; NREL 5 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wes.copernicus.org LAC for wind turbines Feng Guo1, David Schlipf1, and Po Wen Cheng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2AF1D-2691-AD78-B856-830D7BAB4213}"/>
              </a:ext>
            </a:extLst>
          </p:cNvPr>
          <p:cNvSpPr txBox="1"/>
          <p:nvPr/>
        </p:nvSpPr>
        <p:spPr>
          <a:xfrm>
            <a:off x="4629394" y="6576994"/>
            <a:ext cx="288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Md Aman</a:t>
            </a:r>
          </a:p>
          <a:p>
            <a:pPr algn="ctr"/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414DE-2525-9224-21F5-F832149CDC1C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02/12/2025</a:t>
            </a: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597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fkGroteskNeue</vt:lpstr>
      <vt:lpstr>Times New Roman</vt:lpstr>
      <vt:lpstr>Office Theme</vt:lpstr>
      <vt:lpstr>Custom Design</vt:lpstr>
      <vt:lpstr>Weekly report: Load &amp; Dynamics</vt:lpstr>
      <vt:lpstr>Agenda For Loads &amp; Dynamics</vt:lpstr>
      <vt:lpstr>OpenFAST with LiDAR Simulation</vt:lpstr>
      <vt:lpstr>All DLC Updation </vt:lpstr>
      <vt:lpstr>Simulation Update – DLC 1.2 Normal Operation</vt:lpstr>
      <vt:lpstr>Simulation Update – DLC 5.1 Emergency Stop</vt:lpstr>
      <vt:lpstr>Simulation Update- DLC 6.1 Parked</vt:lpstr>
      <vt:lpstr>Conclusion &amp; Future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94</cp:revision>
  <dcterms:created xsi:type="dcterms:W3CDTF">2025-07-21T13:11:31Z</dcterms:created>
  <dcterms:modified xsi:type="dcterms:W3CDTF">2025-12-01T11:48:33Z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