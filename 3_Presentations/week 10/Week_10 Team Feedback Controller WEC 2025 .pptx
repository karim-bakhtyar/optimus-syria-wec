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0" r:id="rId2"/>
  </p:sldMasterIdLst>
  <p:notesMasterIdLst>
    <p:notesMasterId r:id="rId17"/>
  </p:notesMasterIdLst>
  <p:sldIdLst>
    <p:sldId id="257" r:id="rId3"/>
    <p:sldId id="259" r:id="rId4"/>
    <p:sldId id="261" r:id="rId5"/>
    <p:sldId id="291" r:id="rId6"/>
    <p:sldId id="299" r:id="rId7"/>
    <p:sldId id="292" r:id="rId8"/>
    <p:sldId id="301" r:id="rId9"/>
    <p:sldId id="297" r:id="rId10"/>
    <p:sldId id="295" r:id="rId11"/>
    <p:sldId id="300" r:id="rId12"/>
    <p:sldId id="296" r:id="rId13"/>
    <p:sldId id="298" r:id="rId14"/>
    <p:sldId id="264" r:id="rId15"/>
    <p:sldId id="29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ECE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33" autoAdjust="0"/>
    <p:restoredTop sz="96247" autoAdjust="0"/>
  </p:normalViewPr>
  <p:slideViewPr>
    <p:cSldViewPr snapToGrid="0">
      <p:cViewPr varScale="1">
        <p:scale>
          <a:sx n="91" d="100"/>
          <a:sy n="91" d="100"/>
        </p:scale>
        <p:origin x="11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93C7D5-49C9-4310-99B0-74BF8F98F62E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834A5A-C299-4527-A106-DBD1B2885A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361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834A5A-C299-4527-A106-DBD1B2885A9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76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ybib.com/tools/ieee-citation-generator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st of te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58857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12. </a:t>
            </a:r>
            <a:r>
              <a:rPr lang="de-DE" dirty="0" err="1"/>
              <a:t>Machine</a:t>
            </a:r>
            <a:r>
              <a:rPr lang="de-DE" dirty="0"/>
              <a:t> </a:t>
            </a:r>
            <a:r>
              <a:rPr lang="de-DE" dirty="0" err="1"/>
              <a:t>Bed</a:t>
            </a:r>
            <a:r>
              <a:rPr lang="de-DE" dirty="0"/>
              <a:t> &amp; Yaw System  </a:t>
            </a:r>
          </a:p>
          <a:p>
            <a:pPr lvl="1"/>
            <a:r>
              <a:rPr lang="de-DE" dirty="0"/>
              <a:t>13. Tower  </a:t>
            </a:r>
          </a:p>
          <a:p>
            <a:pPr lvl="1"/>
            <a:r>
              <a:rPr lang="de-DE" dirty="0"/>
              <a:t>14. </a:t>
            </a:r>
            <a:r>
              <a:rPr lang="de-DE" dirty="0" err="1"/>
              <a:t>Foundation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15. Storage System 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Teams</a:t>
            </a:r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2466CB9-E665-36BA-2132-8519CA303C9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38200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 algn="l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1.  </a:t>
            </a:r>
            <a:r>
              <a:rPr lang="de-DE" dirty="0" err="1"/>
              <a:t>Windfarm</a:t>
            </a:r>
            <a:r>
              <a:rPr lang="de-DE" dirty="0"/>
              <a:t> Project Development  </a:t>
            </a:r>
          </a:p>
          <a:p>
            <a:pPr lvl="1"/>
            <a:r>
              <a:rPr lang="de-DE" dirty="0"/>
              <a:t>2.  Loads and Dynamics  </a:t>
            </a:r>
          </a:p>
          <a:p>
            <a:pPr lvl="1"/>
            <a:r>
              <a:rPr lang="de-DE" dirty="0"/>
              <a:t>3.  Feedback Controller  </a:t>
            </a:r>
          </a:p>
          <a:p>
            <a:pPr lvl="1"/>
            <a:r>
              <a:rPr lang="de-DE" dirty="0"/>
              <a:t>4.  Lidar-</a:t>
            </a:r>
            <a:r>
              <a:rPr lang="de-DE" dirty="0" err="1"/>
              <a:t>Assisted</a:t>
            </a:r>
            <a:r>
              <a:rPr lang="de-DE" dirty="0"/>
              <a:t> Controller  </a:t>
            </a:r>
          </a:p>
          <a:p>
            <a:pPr lvl="1"/>
            <a:r>
              <a:rPr lang="de-DE" dirty="0"/>
              <a:t>5.  Rotor Blade </a:t>
            </a:r>
            <a:r>
              <a:rPr lang="de-DE" dirty="0" err="1"/>
              <a:t>Aerodynamics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6.  Rotor Blade </a:t>
            </a:r>
            <a:r>
              <a:rPr lang="de-DE" dirty="0" err="1"/>
              <a:t>Structures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7.  </a:t>
            </a:r>
            <a:r>
              <a:rPr lang="de-DE" dirty="0" err="1"/>
              <a:t>Electrical</a:t>
            </a:r>
            <a:r>
              <a:rPr lang="de-DE" dirty="0"/>
              <a:t> </a:t>
            </a:r>
            <a:r>
              <a:rPr lang="de-DE" dirty="0" err="1"/>
              <a:t>Drivetrain</a:t>
            </a:r>
            <a:r>
              <a:rPr lang="de-DE" dirty="0"/>
              <a:t> (EDT)  </a:t>
            </a:r>
          </a:p>
          <a:p>
            <a:pPr lvl="1"/>
            <a:r>
              <a:rPr lang="de-DE" dirty="0"/>
              <a:t>8.  </a:t>
            </a:r>
            <a:r>
              <a:rPr lang="de-DE" dirty="0" err="1"/>
              <a:t>Grid</a:t>
            </a:r>
            <a:r>
              <a:rPr lang="de-DE" dirty="0"/>
              <a:t> Code Development (GCD)  </a:t>
            </a:r>
          </a:p>
          <a:p>
            <a:pPr lvl="1"/>
            <a:r>
              <a:rPr lang="de-DE" dirty="0"/>
              <a:t>9.  Rotor Hub &amp; Pitch System  </a:t>
            </a:r>
          </a:p>
          <a:p>
            <a:pPr lvl="1"/>
            <a:r>
              <a:rPr lang="de-DE" dirty="0"/>
              <a:t>10. Rotor </a:t>
            </a:r>
            <a:r>
              <a:rPr lang="de-DE" dirty="0" err="1"/>
              <a:t>Bearing</a:t>
            </a:r>
            <a:r>
              <a:rPr lang="de-DE" dirty="0"/>
              <a:t> System  </a:t>
            </a:r>
          </a:p>
          <a:p>
            <a:pPr lvl="1"/>
            <a:r>
              <a:rPr lang="de-DE" dirty="0"/>
              <a:t>11. </a:t>
            </a:r>
            <a:r>
              <a:rPr lang="de-DE" dirty="0" err="1"/>
              <a:t>Gearbox</a:t>
            </a:r>
            <a:r>
              <a:rPr lang="de-DE" dirty="0"/>
              <a:t>, Brake, Coupling  </a:t>
            </a:r>
          </a:p>
          <a:p>
            <a:pPr lvl="1"/>
            <a:r>
              <a:rPr lang="de-DE" dirty="0"/>
              <a:t>						</a:t>
            </a:r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FD841E35-8D66-8DA2-B806-8C18E5D2806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02/12/2025</a:t>
            </a:r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6C28938A-3748-78F8-3D01-B82DF87C9B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3A903679-8273-AC0E-AD57-A9C78EE236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048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st of contents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6">
            <a:extLst>
              <a:ext uri="{FF2B5EF4-FFF2-40B4-BE49-F238E27FC236}">
                <a16:creationId xmlns:a16="http://schemas.microsoft.com/office/drawing/2014/main" id="{170C5CF7-7129-6BD6-B815-EAF32508EFB5}"/>
              </a:ext>
            </a:extLst>
          </p:cNvPr>
          <p:cNvSpPr/>
          <p:nvPr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C7BE5E88-0734-5426-D3DF-C7901A7359D4}"/>
              </a:ext>
            </a:extLst>
          </p:cNvPr>
          <p:cNvSpPr/>
          <p:nvPr/>
        </p:nvSpPr>
        <p:spPr>
          <a:xfrm>
            <a:off x="4025317" y="4094711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b="1" dirty="0"/>
              <a:t>BUT</a:t>
            </a:r>
            <a:br>
              <a:rPr lang="it-IT" dirty="0"/>
            </a:br>
            <a:r>
              <a:rPr lang="it-IT" dirty="0"/>
              <a:t>use the </a:t>
            </a:r>
            <a:r>
              <a:rPr lang="it-IT" dirty="0" err="1"/>
              <a:t>same</a:t>
            </a:r>
            <a:r>
              <a:rPr lang="it-IT" dirty="0"/>
              <a:t> style and short, concise bullet points) </a:t>
            </a:r>
            <a:br>
              <a:rPr lang="it-IT" dirty="0"/>
            </a:br>
            <a:r>
              <a:rPr lang="it-IT" dirty="0" err="1"/>
              <a:t>Only</a:t>
            </a:r>
            <a:r>
              <a:rPr lang="it-IT" dirty="0"/>
              <a:t> </a:t>
            </a:r>
            <a:r>
              <a:rPr lang="it-IT" dirty="0" err="1"/>
              <a:t>topics</a:t>
            </a:r>
            <a:r>
              <a:rPr lang="it-IT" dirty="0"/>
              <a:t> for the 4 min </a:t>
            </a:r>
            <a:r>
              <a:rPr lang="it-IT" dirty="0" err="1"/>
              <a:t>timeslot</a:t>
            </a:r>
            <a:r>
              <a:rPr lang="it-IT" dirty="0"/>
              <a:t>!</a:t>
            </a:r>
            <a:endParaRPr lang="en-GB" dirty="0"/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11100C08-BD4D-E3E4-CE88-2FD7DF2770C3}"/>
              </a:ext>
            </a:extLst>
          </p:cNvPr>
          <p:cNvSpPr/>
          <p:nvPr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65B86036-57A0-C8C5-C8BB-699A37ABA2A8}"/>
              </a:ext>
            </a:extLst>
          </p:cNvPr>
          <p:cNvSpPr/>
          <p:nvPr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64195E91-DEC0-2198-8D7F-F5D7511FB31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02/12/2025</a:t>
            </a:r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0EC107A6-E0D9-69FD-44BC-CFD5F05D7C8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8CC2EBC5-DD43-6B7E-A5D7-5CD5B0E30A5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E7DFBCC3-CC46-17B2-DF15-92940A3865D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335032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List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8F6D1F16-A947-CEE2-C58A-50217E901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02/12/2025</a:t>
            </a:r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873EF994-6CA7-B763-F215-A7D1723E2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67F2F56B-9E4F-A460-92A9-87055C42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3A8B7922-CD64-E421-B5E5-B7BA56CBCB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266624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marL="971550" marR="0" lvl="1" indent="-5143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1"/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6">
            <a:extLst>
              <a:ext uri="{FF2B5EF4-FFF2-40B4-BE49-F238E27FC236}">
                <a16:creationId xmlns:a16="http://schemas.microsoft.com/office/drawing/2014/main" id="{3272B118-64EE-99BB-8728-CE26B185DCFC}"/>
              </a:ext>
            </a:extLst>
          </p:cNvPr>
          <p:cNvSpPr/>
          <p:nvPr/>
        </p:nvSpPr>
        <p:spPr>
          <a:xfrm>
            <a:off x="8353959" y="1690688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CCA8528F-A469-ED70-E9CA-F25798C1A305}"/>
              </a:ext>
            </a:extLst>
          </p:cNvPr>
          <p:cNvSpPr/>
          <p:nvPr/>
        </p:nvSpPr>
        <p:spPr>
          <a:xfrm>
            <a:off x="2209800" y="3095720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Use [1], [2], [3] for </a:t>
            </a:r>
            <a:r>
              <a:rPr lang="it-IT" dirty="0" err="1"/>
              <a:t>everything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from a source (</a:t>
            </a:r>
            <a:r>
              <a:rPr lang="it-IT" dirty="0" err="1"/>
              <a:t>numbers</a:t>
            </a:r>
            <a:r>
              <a:rPr lang="it-IT" dirty="0"/>
              <a:t> </a:t>
            </a:r>
            <a:r>
              <a:rPr lang="it-IT" dirty="0" err="1"/>
              <a:t>should</a:t>
            </a:r>
            <a:r>
              <a:rPr lang="it-IT" dirty="0"/>
              <a:t> be the </a:t>
            </a:r>
            <a:r>
              <a:rPr lang="it-IT" dirty="0" err="1"/>
              <a:t>same</a:t>
            </a:r>
            <a:r>
              <a:rPr lang="it-IT" dirty="0"/>
              <a:t> like in the </a:t>
            </a:r>
            <a:r>
              <a:rPr lang="it-IT" dirty="0" err="1"/>
              <a:t>bibliography</a:t>
            </a:r>
            <a:r>
              <a:rPr lang="it-IT" dirty="0"/>
              <a:t>) (</a:t>
            </a:r>
            <a:r>
              <a:rPr lang="it-IT" dirty="0" err="1"/>
              <a:t>incl</a:t>
            </a:r>
            <a:r>
              <a:rPr lang="it-IT" dirty="0"/>
              <a:t>. pictures /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created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by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own</a:t>
            </a:r>
            <a:r>
              <a:rPr lang="it-IT" dirty="0"/>
              <a:t>, </a:t>
            </a:r>
            <a:r>
              <a:rPr lang="it-IT" dirty="0" err="1"/>
              <a:t>declare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a </a:t>
            </a:r>
            <a:r>
              <a:rPr lang="it-IT" dirty="0" err="1"/>
              <a:t>thing</a:t>
            </a:r>
            <a:r>
              <a:rPr lang="it-IT" dirty="0"/>
              <a:t> </a:t>
            </a:r>
            <a:r>
              <a:rPr lang="it-IT" dirty="0" err="1"/>
              <a:t>you’ve</a:t>
            </a:r>
            <a:r>
              <a:rPr lang="it-IT" dirty="0"/>
              <a:t> </a:t>
            </a:r>
            <a:r>
              <a:rPr lang="it-IT" dirty="0" err="1"/>
              <a:t>done</a:t>
            </a:r>
            <a:r>
              <a:rPr lang="it-IT" dirty="0"/>
              <a:t> ) [Style </a:t>
            </a:r>
            <a:r>
              <a:rPr lang="it-IT" dirty="0" err="1"/>
              <a:t>Aptos</a:t>
            </a:r>
            <a:r>
              <a:rPr lang="it-IT" dirty="0"/>
              <a:t>/14]</a:t>
            </a:r>
            <a:endParaRPr lang="en-GB" dirty="0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E1F8C099-06EF-7661-9A3C-60FE5CD4C5D5}"/>
              </a:ext>
            </a:extLst>
          </p:cNvPr>
          <p:cNvSpPr/>
          <p:nvPr/>
        </p:nvSpPr>
        <p:spPr>
          <a:xfrm>
            <a:off x="8862928" y="1838850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6E31FDF0-C963-BED4-C97E-FF9F67C07D21}"/>
              </a:ext>
            </a:extLst>
          </p:cNvPr>
          <p:cNvSpPr/>
          <p:nvPr/>
        </p:nvSpPr>
        <p:spPr>
          <a:xfrm>
            <a:off x="7312803" y="3084777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b="1" dirty="0"/>
              <a:t>BUT</a:t>
            </a:r>
          </a:p>
          <a:p>
            <a:pPr algn="ctr"/>
            <a:r>
              <a:rPr lang="it-IT" dirty="0"/>
              <a:t>an </a:t>
            </a:r>
            <a:r>
              <a:rPr lang="it-IT" dirty="0" err="1"/>
              <a:t>intial</a:t>
            </a:r>
            <a:r>
              <a:rPr lang="it-IT" dirty="0"/>
              <a:t> slide with </a:t>
            </a:r>
            <a:r>
              <a:rPr lang="it-IT" dirty="0" err="1"/>
              <a:t>all</a:t>
            </a:r>
            <a:r>
              <a:rPr lang="it-IT" dirty="0"/>
              <a:t> the tasks </a:t>
            </a:r>
            <a:r>
              <a:rPr lang="it-IT" dirty="0" err="1"/>
              <a:t>completed</a:t>
            </a:r>
            <a:r>
              <a:rPr lang="it-IT" dirty="0"/>
              <a:t> for the week </a:t>
            </a:r>
            <a:r>
              <a:rPr lang="it-IT" dirty="0" err="1"/>
              <a:t>should</a:t>
            </a:r>
            <a:r>
              <a:rPr lang="it-IT" dirty="0"/>
              <a:t> </a:t>
            </a:r>
            <a:r>
              <a:rPr lang="it-IT" dirty="0" err="1"/>
              <a:t>always</a:t>
            </a:r>
            <a:r>
              <a:rPr lang="it-IT" dirty="0"/>
              <a:t> be </a:t>
            </a:r>
            <a:r>
              <a:rPr lang="it-IT" dirty="0" err="1"/>
              <a:t>included</a:t>
            </a:r>
            <a:br>
              <a:rPr lang="it-IT" dirty="0"/>
            </a:br>
            <a:r>
              <a:rPr lang="it-IT" dirty="0"/>
              <a:t>Use the </a:t>
            </a:r>
            <a:r>
              <a:rPr lang="it-IT" dirty="0" err="1"/>
              <a:t>same</a:t>
            </a:r>
            <a:r>
              <a:rPr lang="it-IT" dirty="0"/>
              <a:t> style, do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write</a:t>
            </a:r>
            <a:r>
              <a:rPr lang="it-IT" dirty="0"/>
              <a:t> more text </a:t>
            </a:r>
            <a:r>
              <a:rPr lang="it-IT" dirty="0" err="1"/>
              <a:t>than</a:t>
            </a:r>
            <a:r>
              <a:rPr lang="it-IT" dirty="0"/>
              <a:t> </a:t>
            </a:r>
            <a:r>
              <a:rPr lang="it-IT" dirty="0" err="1"/>
              <a:t>necessary</a:t>
            </a:r>
            <a:r>
              <a:rPr lang="it-IT" dirty="0"/>
              <a:t> (short, concise bullet points are </a:t>
            </a:r>
            <a:r>
              <a:rPr lang="it-IT" dirty="0" err="1"/>
              <a:t>often</a:t>
            </a:r>
            <a:r>
              <a:rPr lang="it-IT" dirty="0"/>
              <a:t> </a:t>
            </a:r>
            <a:r>
              <a:rPr lang="it-IT" dirty="0" err="1"/>
              <a:t>enough</a:t>
            </a:r>
            <a:r>
              <a:rPr lang="it-IT" dirty="0"/>
              <a:t>)</a:t>
            </a:r>
            <a:endParaRPr lang="en-GB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BA9FE0F-4438-A90E-178E-370DFB88F067}"/>
              </a:ext>
            </a:extLst>
          </p:cNvPr>
          <p:cNvSpPr txBox="1"/>
          <p:nvPr/>
        </p:nvSpPr>
        <p:spPr>
          <a:xfrm>
            <a:off x="812800" y="6219031"/>
            <a:ext cx="2120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[1], [2]….</a:t>
            </a:r>
          </a:p>
        </p:txBody>
      </p:sp>
      <p:cxnSp>
        <p:nvCxnSpPr>
          <p:cNvPr id="13" name="Straight Arrow Connector 21">
            <a:extLst>
              <a:ext uri="{FF2B5EF4-FFF2-40B4-BE49-F238E27FC236}">
                <a16:creationId xmlns:a16="http://schemas.microsoft.com/office/drawing/2014/main" id="{C9F1C9AE-6377-666B-8F06-CF0B8B317160}"/>
              </a:ext>
            </a:extLst>
          </p:cNvPr>
          <p:cNvCxnSpPr>
            <a:cxnSpLocks/>
          </p:cNvCxnSpPr>
          <p:nvPr/>
        </p:nvCxnSpPr>
        <p:spPr>
          <a:xfrm flipH="1">
            <a:off x="1502229" y="4898571"/>
            <a:ext cx="1487714" cy="131838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7">
            <a:extLst>
              <a:ext uri="{FF2B5EF4-FFF2-40B4-BE49-F238E27FC236}">
                <a16:creationId xmlns:a16="http://schemas.microsoft.com/office/drawing/2014/main" id="{8C56F642-24B4-9889-6DFF-DDDACEFB7E68}"/>
              </a:ext>
            </a:extLst>
          </p:cNvPr>
          <p:cNvSpPr/>
          <p:nvPr/>
        </p:nvSpPr>
        <p:spPr>
          <a:xfrm>
            <a:off x="5256400" y="16343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F5B6D5E1-3173-F7DB-AFEA-577613F3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02/12/2025</a:t>
            </a:r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4201E827-9609-58AA-70BC-996E2AD05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DE013F6E-0CEE-85C3-4AD1-ADEED88F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8" name="Textplatzhalter 16">
            <a:extLst>
              <a:ext uri="{FF2B5EF4-FFF2-40B4-BE49-F238E27FC236}">
                <a16:creationId xmlns:a16="http://schemas.microsoft.com/office/drawing/2014/main" id="{4C7AB516-D061-772D-6849-99EBB44689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765741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ex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479D6A9B-7716-D398-EE18-2F2D6AC11B7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45BE17EA-55E6-D579-4D1F-7901F944C6A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02/12/2025</a:t>
            </a:r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810CEF70-3482-4FC0-A3A4-7FB408C94A4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4879E7A9-C563-396E-C6B6-B45497D433B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AB8CDF8-03C0-DF20-0ABC-80A78BDABFB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233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item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22)</a:t>
            </a:r>
          </a:p>
          <a:p>
            <a:pPr lvl="1"/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20)</a:t>
            </a:r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6">
            <a:extLst>
              <a:ext uri="{FF2B5EF4-FFF2-40B4-BE49-F238E27FC236}">
                <a16:creationId xmlns:a16="http://schemas.microsoft.com/office/drawing/2014/main" id="{703A19AF-E449-D353-12E1-A3DAF32E3EAB}"/>
              </a:ext>
            </a:extLst>
          </p:cNvPr>
          <p:cNvSpPr/>
          <p:nvPr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650D751B-3D4C-8864-D7F4-6EC8348A31EE}"/>
              </a:ext>
            </a:extLst>
          </p:cNvPr>
          <p:cNvSpPr/>
          <p:nvPr/>
        </p:nvSpPr>
        <p:spPr>
          <a:xfrm>
            <a:off x="4025317" y="4094711"/>
            <a:ext cx="3933255" cy="1298198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BUT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use </a:t>
            </a:r>
            <a:r>
              <a:rPr lang="it-IT" dirty="0" err="1"/>
              <a:t>underpoints</a:t>
            </a:r>
            <a:r>
              <a:rPr lang="it-IT" dirty="0"/>
              <a:t> </a:t>
            </a:r>
            <a:r>
              <a:rPr lang="it-IT" dirty="0" err="1"/>
              <a:t>please</a:t>
            </a:r>
            <a:r>
              <a:rPr lang="it-IT" dirty="0"/>
              <a:t> with the i, ii, iii….</a:t>
            </a:r>
            <a:endParaRPr lang="en-GB" dirty="0"/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9BDEC9EB-F30A-F42A-26C3-F9AE08765705}"/>
              </a:ext>
            </a:extLst>
          </p:cNvPr>
          <p:cNvSpPr/>
          <p:nvPr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4BA2A1-6BBA-CA7A-578A-6529C5AD3CFE}"/>
              </a:ext>
            </a:extLst>
          </p:cNvPr>
          <p:cNvSpPr/>
          <p:nvPr/>
        </p:nvSpPr>
        <p:spPr>
          <a:xfrm>
            <a:off x="927758" y="2796999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19E5AF50-94A3-4308-3B68-BAD76E7A7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02/12/2025</a:t>
            </a:r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9798D87B-B794-AD8A-40F1-DEA4D547F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5E6253E5-E305-7986-3017-8FAC6F34D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7E202380-1BD6-7A10-C51A-497A42391B9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366636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ub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5228F91E-E7AD-B275-5A60-89428222D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02/12/2025</a:t>
            </a:r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F4F81C7-2C44-8CF8-2928-655E74DC8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60D8F3F-3088-D685-66AD-D2110FD40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29BD9540-0DAC-F607-0D84-145CAF084DC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4" name="Textplatzhalter 4">
            <a:extLst>
              <a:ext uri="{FF2B5EF4-FFF2-40B4-BE49-F238E27FC236}">
                <a16:creationId xmlns:a16="http://schemas.microsoft.com/office/drawing/2014/main" id="{9943038B-A8F9-48D6-0A29-94D4AA659F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45341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ph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8" name="Connector: Elbow 6">
            <a:extLst>
              <a:ext uri="{FF2B5EF4-FFF2-40B4-BE49-F238E27FC236}">
                <a16:creationId xmlns:a16="http://schemas.microsoft.com/office/drawing/2014/main" id="{7A01EE56-12C5-DD96-C172-C145A0ED64CB}"/>
              </a:ext>
            </a:extLst>
          </p:cNvPr>
          <p:cNvCxnSpPr>
            <a:cxnSpLocks/>
          </p:cNvCxnSpPr>
          <p:nvPr/>
        </p:nvCxnSpPr>
        <p:spPr>
          <a:xfrm rot="10800000" flipV="1">
            <a:off x="3791371" y="4238699"/>
            <a:ext cx="4563205" cy="1222134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15">
            <a:extLst>
              <a:ext uri="{FF2B5EF4-FFF2-40B4-BE49-F238E27FC236}">
                <a16:creationId xmlns:a16="http://schemas.microsoft.com/office/drawing/2014/main" id="{EE3D1715-661B-80A0-F167-264ACC369A68}"/>
              </a:ext>
            </a:extLst>
          </p:cNvPr>
          <p:cNvSpPr/>
          <p:nvPr/>
        </p:nvSpPr>
        <p:spPr>
          <a:xfrm>
            <a:off x="7796637" y="3405202"/>
            <a:ext cx="3922209" cy="2011693"/>
          </a:xfrm>
          <a:prstGeom prst="ellips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400" dirty="0" err="1"/>
              <a:t>Add</a:t>
            </a:r>
            <a:r>
              <a:rPr lang="it-IT" sz="1400" dirty="0"/>
              <a:t> a link to the </a:t>
            </a:r>
            <a:r>
              <a:rPr lang="it-IT" sz="1400" dirty="0" err="1"/>
              <a:t>reference</a:t>
            </a:r>
            <a:r>
              <a:rPr lang="it-IT" sz="1400" dirty="0"/>
              <a:t> </a:t>
            </a:r>
            <a:r>
              <a:rPr lang="it-IT" sz="1400" dirty="0" err="1"/>
              <a:t>number</a:t>
            </a:r>
            <a:r>
              <a:rPr lang="it-IT" sz="1400" dirty="0"/>
              <a:t> </a:t>
            </a:r>
            <a:r>
              <a:rPr lang="it-IT" sz="1400" dirty="0" err="1"/>
              <a:t>that</a:t>
            </a:r>
            <a:r>
              <a:rPr lang="it-IT" sz="1400" dirty="0"/>
              <a:t> </a:t>
            </a:r>
            <a:r>
              <a:rPr lang="it-IT" sz="1400" dirty="0" err="1"/>
              <a:t>goes</a:t>
            </a:r>
            <a:r>
              <a:rPr lang="it-IT" sz="1400" dirty="0"/>
              <a:t> to the last slide: highlight the </a:t>
            </a:r>
            <a:r>
              <a:rPr lang="it-IT" sz="1400" dirty="0" err="1"/>
              <a:t>number</a:t>
            </a:r>
            <a:r>
              <a:rPr lang="it-IT" sz="1400" dirty="0"/>
              <a:t>-&gt;</a:t>
            </a:r>
            <a:r>
              <a:rPr lang="it-IT" sz="1400" dirty="0" err="1"/>
              <a:t>right</a:t>
            </a:r>
            <a:r>
              <a:rPr lang="it-IT" sz="1400" dirty="0"/>
              <a:t> click-&gt;</a:t>
            </a:r>
            <a:r>
              <a:rPr lang="it-IT" sz="1400" dirty="0" err="1"/>
              <a:t>select</a:t>
            </a:r>
            <a:r>
              <a:rPr lang="it-IT" sz="1400" dirty="0"/>
              <a:t> link-&gt;place in </a:t>
            </a:r>
            <a:r>
              <a:rPr lang="it-IT" sz="1400" dirty="0" err="1"/>
              <a:t>this</a:t>
            </a:r>
            <a:r>
              <a:rPr lang="it-IT" sz="1400" dirty="0"/>
              <a:t> </a:t>
            </a:r>
            <a:r>
              <a:rPr lang="it-IT" sz="1400" dirty="0" err="1"/>
              <a:t>document</a:t>
            </a:r>
            <a:r>
              <a:rPr lang="it-IT" sz="1400" dirty="0"/>
              <a:t>-&gt;</a:t>
            </a:r>
            <a:r>
              <a:rPr lang="it-IT" sz="1400" dirty="0" err="1"/>
              <a:t>select</a:t>
            </a:r>
            <a:r>
              <a:rPr lang="it-IT" sz="1400" dirty="0"/>
              <a:t> last slide</a:t>
            </a:r>
            <a:endParaRPr lang="en-GB" sz="14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7">
            <a:extLst>
              <a:ext uri="{FF2B5EF4-FFF2-40B4-BE49-F238E27FC236}">
                <a16:creationId xmlns:a16="http://schemas.microsoft.com/office/drawing/2014/main" id="{A1188C36-D6CB-FA53-013E-FC56AD427952}"/>
              </a:ext>
            </a:extLst>
          </p:cNvPr>
          <p:cNvSpPr/>
          <p:nvPr/>
        </p:nvSpPr>
        <p:spPr>
          <a:xfrm>
            <a:off x="6495002" y="1875014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749D4654-CB69-04EA-986A-2264B7AF4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02/12/2025</a:t>
            </a:r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FC28337D-790B-E06F-0074-04AA48B92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A2A63292-0139-33E2-79E8-D1F485A4C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596BA109-7562-188F-19E6-BAFF28DC5C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9461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8D8651D-3525-44E9-EF74-5AE1C96E2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02/12/2025</a:t>
            </a:r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FC35C132-0CB8-F9A6-EC6C-F3AC1F1B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722F58FF-5AD5-CF97-4FEE-FB1F38CD9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platzhalter 16">
            <a:extLst>
              <a:ext uri="{FF2B5EF4-FFF2-40B4-BE49-F238E27FC236}">
                <a16:creationId xmlns:a16="http://schemas.microsoft.com/office/drawing/2014/main" id="{DC21B0DD-4D97-871C-E587-F10AD55D8B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24660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bliography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6" name="Straight Arrow Connector 21">
            <a:extLst>
              <a:ext uri="{FF2B5EF4-FFF2-40B4-BE49-F238E27FC236}">
                <a16:creationId xmlns:a16="http://schemas.microsoft.com/office/drawing/2014/main" id="{9B5BA113-ABD0-9B33-1E2F-5863B083FE29}"/>
              </a:ext>
            </a:extLst>
          </p:cNvPr>
          <p:cNvCxnSpPr>
            <a:cxnSpLocks/>
          </p:cNvCxnSpPr>
          <p:nvPr/>
        </p:nvCxnSpPr>
        <p:spPr>
          <a:xfrm flipH="1" flipV="1">
            <a:off x="4994031" y="2734408"/>
            <a:ext cx="1245576" cy="18375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22">
            <a:extLst>
              <a:ext uri="{FF2B5EF4-FFF2-40B4-BE49-F238E27FC236}">
                <a16:creationId xmlns:a16="http://schemas.microsoft.com/office/drawing/2014/main" id="{59531AAE-8AA3-6039-F69E-EDD1AF57C810}"/>
              </a:ext>
            </a:extLst>
          </p:cNvPr>
          <p:cNvSpPr/>
          <p:nvPr/>
        </p:nvSpPr>
        <p:spPr>
          <a:xfrm>
            <a:off x="4475285" y="4572000"/>
            <a:ext cx="5969977" cy="167786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The style </a:t>
            </a:r>
            <a:r>
              <a:rPr lang="it-IT" dirty="0" err="1"/>
              <a:t>chosen</a:t>
            </a:r>
            <a:r>
              <a:rPr lang="it-IT" dirty="0"/>
              <a:t> for </a:t>
            </a:r>
            <a:r>
              <a:rPr lang="it-IT" dirty="0" err="1"/>
              <a:t>citation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IEEE, so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citation</a:t>
            </a:r>
            <a:r>
              <a:rPr lang="it-IT" dirty="0"/>
              <a:t> follow </a:t>
            </a:r>
            <a:r>
              <a:rPr lang="it-IT" dirty="0" err="1"/>
              <a:t>that</a:t>
            </a:r>
            <a:r>
              <a:rPr lang="it-IT" dirty="0"/>
              <a:t> style.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an IEEE </a:t>
            </a:r>
            <a:r>
              <a:rPr lang="it-IT" dirty="0" err="1"/>
              <a:t>citation</a:t>
            </a:r>
            <a:r>
              <a:rPr lang="it-IT" dirty="0"/>
              <a:t> from a website, </a:t>
            </a:r>
            <a:r>
              <a:rPr lang="it-IT" dirty="0" err="1"/>
              <a:t>you</a:t>
            </a:r>
            <a:r>
              <a:rPr lang="it-IT" dirty="0"/>
              <a:t> can use some free </a:t>
            </a:r>
            <a:r>
              <a:rPr lang="it-IT" dirty="0" err="1"/>
              <a:t>converters</a:t>
            </a:r>
            <a:r>
              <a:rPr lang="it-IT" dirty="0"/>
              <a:t> </a:t>
            </a:r>
            <a:r>
              <a:rPr lang="it-IT" dirty="0" err="1"/>
              <a:t>available</a:t>
            </a:r>
            <a:r>
              <a:rPr lang="it-IT" dirty="0"/>
              <a:t> on the internet, like:</a:t>
            </a:r>
          </a:p>
          <a:p>
            <a:pPr algn="ctr"/>
            <a:r>
              <a:rPr lang="en-GB" b="1" dirty="0">
                <a:hlinkClick r:id="rId2"/>
              </a:rPr>
              <a:t>https://www.mybib.com/tools/ieee-citation-generator</a:t>
            </a:r>
            <a:r>
              <a:rPr lang="en-GB" b="1" dirty="0"/>
              <a:t> </a:t>
            </a:r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7">
            <a:extLst>
              <a:ext uri="{FF2B5EF4-FFF2-40B4-BE49-F238E27FC236}">
                <a16:creationId xmlns:a16="http://schemas.microsoft.com/office/drawing/2014/main" id="{226F6F8F-D65D-4B43-5785-E89E617F8616}"/>
              </a:ext>
            </a:extLst>
          </p:cNvPr>
          <p:cNvSpPr/>
          <p:nvPr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376AEEC7-3E6C-8FE6-7104-34FC9379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02/12/2025</a:t>
            </a:r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527D13C7-4982-3CF9-E6C0-8109C888A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44A0136B-0337-50A8-941C-6DC048DC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A21B8924-2541-A57C-7990-899E2DC11F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943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ibl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9BDC2AF-40F8-8529-16FE-AE51A8BD4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02/12/2025</a:t>
            </a:r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A36B392-F5AC-41D8-5903-3EE036BA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595A811-7A18-1583-7B9C-87A7CBB7F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5E735FEA-D591-2E8E-B9B4-2A6BAFE00D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502916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3920-E451-6E8D-B0CB-C3FB9C0F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FBA5-B73E-6B89-322D-7C32A35A1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F8199-371A-141A-1CD7-D551EEEF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16092FF3-E2C2-B5C5-579F-21F140EB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02/12/2025</a:t>
            </a:r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5AD0AE9-D3B7-2239-8DBB-350367E7D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E1BD0BA0-666C-E532-C68B-11386947B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027E2607-9D4B-3DD5-A6A2-FC3CB80BCC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2320933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F7B7-87CF-1A3E-E33E-44DC6E01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1B8D-C5F5-5242-4069-B1546B4B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D26CD-98BD-17E2-BE55-DBB74BBC6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B8D60-279E-D76A-9222-12B704BAE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AF34B-F683-41AD-C71C-8E8C66CC4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4EB4231A-B976-E0CE-75F3-D34A6911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02/12/2025</a:t>
            </a:r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2E601F58-36C8-D2D9-A619-7EE495853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EBFB4D11-F600-12A5-E5C2-DCA390332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platzhalter 16">
            <a:extLst>
              <a:ext uri="{FF2B5EF4-FFF2-40B4-BE49-F238E27FC236}">
                <a16:creationId xmlns:a16="http://schemas.microsoft.com/office/drawing/2014/main" id="{39AFE95F-2805-F887-3AF4-313C835B17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7789921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9CAB1E-C3D8-B43B-64D5-963D13F3D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02/12/2025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B3E84C0-2A5E-8136-84E3-1F57CD264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79EE80A-8782-7800-16FF-963D026BC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CFBF4831-0820-F79B-E15A-914A0E578D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8880533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D20E-7D43-D4CD-1058-46300B8E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584A-B476-0EA1-C12B-07C273F7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94232-1597-B186-D108-397BCF214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63342531-5FA3-5F71-CEB1-CFCD86F17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02/12/2025</a:t>
            </a:r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0D108632-F456-C23D-6809-CF44E36A5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4F6375C-67FA-9BF2-A821-A5611C211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E6CFA6E-C964-BB71-3D6D-D966EE46607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6114136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DC87-27CE-5A07-9629-719DC91D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5E744-3606-1D16-E7B2-58DAFC3E8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9C703-BF20-85AF-358A-01ADED33C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0DAC50BC-A24B-779F-0533-7A27D611B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02/12/2025</a:t>
            </a:r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2B06DBDC-0EA1-59AB-DB5D-AEE297E61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3EB43FC5-BB47-1A87-75C6-C0AFB5C72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80B36F8-3A7C-6F05-A0AB-F3F43BA0922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0998859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4B09-72C5-4D15-0E4C-46764EB8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70E9-1D3C-D5B3-7A54-66BD90099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C34C088-08EA-3896-8F05-16D82C511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02/12/2025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8EA7E74-7B1F-8648-209E-BFE07FF1E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2B97D1D-1741-1791-CBA3-FA5CA67CA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6A2FA29E-F5F4-39E0-E0C6-CACC20E04F1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5552020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8A110-A33F-744D-89CB-FFCF49E08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6FACB-31E5-361F-D71D-18FCBA55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5945ED5-EBD1-3567-F959-B92E831E5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02/12/2025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BB6A4D0-1BA6-C02F-BE18-391B96E98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412E4BF-484F-C87E-8228-534B62A6B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A24C13F3-9C79-1E9F-ED48-61D2AD9586E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2070059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58792-EDF0-A005-2CE2-24C261AC64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B3DE22-B4B9-EA44-EF61-D733C53BE7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D83C22-FDA0-3E63-68DD-4A6E7DD4C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02/12/2025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D04B19-AF55-A977-1451-9DC5DC1FE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9D61A8-50FB-0E57-BC6B-11987F025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7888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6E28C-7B17-1432-D698-5D8867EE337B}"/>
              </a:ext>
            </a:extLst>
          </p:cNvPr>
          <p:cNvSpPr txBox="1">
            <a:spLocks/>
          </p:cNvSpPr>
          <p:nvPr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 Syria</a:t>
            </a:r>
            <a:endParaRPr kumimoji="0" lang="en-GB" sz="6600" b="1" i="0" u="none" strike="noStrike" kern="1200" cap="none" spc="0" normalizeH="0" baseline="0" noProof="0" dirty="0">
              <a:ln/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>
            <a:extLst>
              <a:ext uri="{FF2B5EF4-FFF2-40B4-BE49-F238E27FC236}">
                <a16:creationId xmlns:a16="http://schemas.microsoft.com/office/drawing/2014/main" id="{A98E8D30-71DB-C779-1E77-2B8D1F3246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FC9E882-BB5D-1CC3-9AD4-1ADE555B83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EFF5A11-92DF-BC35-55CA-EECA202C55B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671"/>
          <a:stretch/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D0057AC6-E958-18E0-BF43-7A806C66C9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>
            <a:extLst>
              <a:ext uri="{FF2B5EF4-FFF2-40B4-BE49-F238E27FC236}">
                <a16:creationId xmlns:a16="http://schemas.microsoft.com/office/drawing/2014/main" id="{233C0D9D-B26B-1DCE-8493-626ABDD067F7}"/>
              </a:ext>
            </a:extLst>
          </p:cNvPr>
          <p:cNvSpPr/>
          <p:nvPr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>
            <a:extLst>
              <a:ext uri="{FF2B5EF4-FFF2-40B4-BE49-F238E27FC236}">
                <a16:creationId xmlns:a16="http://schemas.microsoft.com/office/drawing/2014/main" id="{95CC7C89-8F0E-07BF-6D89-44A0358FDFC8}"/>
              </a:ext>
            </a:extLst>
          </p:cNvPr>
          <p:cNvSpPr/>
          <p:nvPr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>
            <a:extLst>
              <a:ext uri="{FF2B5EF4-FFF2-40B4-BE49-F238E27FC236}">
                <a16:creationId xmlns:a16="http://schemas.microsoft.com/office/drawing/2014/main" id="{4FB94905-8FF2-701D-A980-9368DF7EB04F}"/>
              </a:ext>
            </a:extLst>
          </p:cNvPr>
          <p:cNvSpPr/>
          <p:nvPr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62B0D505-239D-592F-D28C-2537FD6A64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92399" y="4130862"/>
            <a:ext cx="3822700" cy="164669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1st Week Kick Off Presentation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Date: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202X</a:t>
            </a:r>
          </a:p>
          <a:p>
            <a:pPr lvl="4"/>
            <a:endParaRPr lang="de-DE" dirty="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4AB9256-03E9-9046-0C0F-540CE5905E92}"/>
              </a:ext>
            </a:extLst>
          </p:cNvPr>
          <p:cNvSpPr/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9BDED722-8EE5-8B7F-02CA-CF3939A785C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4915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up starting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33" name="Isosceles Triangle 6">
            <a:extLst>
              <a:ext uri="{FF2B5EF4-FFF2-40B4-BE49-F238E27FC236}">
                <a16:creationId xmlns:a16="http://schemas.microsoft.com/office/drawing/2014/main" id="{8F14EFAA-BA4A-16CF-D530-1409613BCF5B}"/>
              </a:ext>
            </a:extLst>
          </p:cNvPr>
          <p:cNvSpPr/>
          <p:nvPr/>
        </p:nvSpPr>
        <p:spPr>
          <a:xfrm>
            <a:off x="1412841" y="3797919"/>
            <a:ext cx="1380683" cy="886192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Rectangle 7">
            <a:extLst>
              <a:ext uri="{FF2B5EF4-FFF2-40B4-BE49-F238E27FC236}">
                <a16:creationId xmlns:a16="http://schemas.microsoft.com/office/drawing/2014/main" id="{8CE1E011-6342-172C-03D6-BB39C24A4CCA}"/>
              </a:ext>
            </a:extLst>
          </p:cNvPr>
          <p:cNvSpPr/>
          <p:nvPr/>
        </p:nvSpPr>
        <p:spPr>
          <a:xfrm>
            <a:off x="354584" y="4714776"/>
            <a:ext cx="3512337" cy="95079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First slide for groups</a:t>
            </a:r>
            <a:endParaRPr lang="en-GB" dirty="0"/>
          </a:p>
        </p:txBody>
      </p:sp>
      <p:sp>
        <p:nvSpPr>
          <p:cNvPr id="35" name="Rectangle 11">
            <a:extLst>
              <a:ext uri="{FF2B5EF4-FFF2-40B4-BE49-F238E27FC236}">
                <a16:creationId xmlns:a16="http://schemas.microsoft.com/office/drawing/2014/main" id="{6845F127-8728-66DF-03BE-17119A20BE05}"/>
              </a:ext>
            </a:extLst>
          </p:cNvPr>
          <p:cNvSpPr/>
          <p:nvPr/>
        </p:nvSpPr>
        <p:spPr>
          <a:xfrm>
            <a:off x="1860787" y="3750629"/>
            <a:ext cx="484789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C16AED5E-219C-C34B-7790-17DE2532E62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: 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64DF9F8D-C604-6899-2A9F-B743F135F77F}"/>
              </a:ext>
            </a:extLst>
          </p:cNvPr>
          <p:cNvSpPr/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Rectangle 7">
            <a:extLst>
              <a:ext uri="{FF2B5EF4-FFF2-40B4-BE49-F238E27FC236}">
                <a16:creationId xmlns:a16="http://schemas.microsoft.com/office/drawing/2014/main" id="{CA471AD5-5F65-3AF9-9ABB-E6F7475B2672}"/>
              </a:ext>
            </a:extLst>
          </p:cNvPr>
          <p:cNvSpPr/>
          <p:nvPr/>
        </p:nvSpPr>
        <p:spPr>
          <a:xfrm>
            <a:off x="8606553" y="40430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92481298-4C0F-EA65-5B6C-A8C69906505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02/12/2025</a:t>
            </a:r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FE2B40EC-630A-E9C4-E03F-6B44073220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363FCB4-D064-121D-B878-2F16074058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619560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up start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5588F89-BF05-8BCF-9834-AE05DA2404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: 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83077A87-075C-C9F1-CF08-7A350F77E612}"/>
              </a:ext>
            </a:extLst>
          </p:cNvPr>
          <p:cNvSpPr/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B3C889B-2F55-2C2F-122E-E89ABE6A2D9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02/12/2025</a:t>
            </a:r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2877DC7-CA1E-181B-77C7-99C60829ED5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GB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43E1ABD-9DAE-E035-8B0B-D41EFED3FC8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35209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CD36E4AE-BF2C-D504-0887-03D81D07CDC8}"/>
              </a:ext>
            </a:extLst>
          </p:cNvPr>
          <p:cNvSpPr/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Free-form: Shape 13">
            <a:extLst>
              <a:ext uri="{FF2B5EF4-FFF2-40B4-BE49-F238E27FC236}">
                <a16:creationId xmlns:a16="http://schemas.microsoft.com/office/drawing/2014/main" id="{7608A32D-44F3-01F2-D6ED-924DFF3CC333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8" name="Free-form: Shape 13">
            <a:extLst>
              <a:ext uri="{FF2B5EF4-FFF2-40B4-BE49-F238E27FC236}">
                <a16:creationId xmlns:a16="http://schemas.microsoft.com/office/drawing/2014/main" id="{1DE142EE-E501-93E6-565D-AB4A5A647F0F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776A7918-93DA-D7CE-97A3-DDF18B379B65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4827E-F028-4C94-EB63-600BCABC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02/12/2025</a:t>
            </a:r>
          </a:p>
        </p:txBody>
      </p:sp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1ABD3F4B-4853-EC8E-00EB-5109F86CE0F1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Free-form: Shape 13">
            <a:extLst>
              <a:ext uri="{FF2B5EF4-FFF2-40B4-BE49-F238E27FC236}">
                <a16:creationId xmlns:a16="http://schemas.microsoft.com/office/drawing/2014/main" id="{2BF40EC9-0D42-5E08-04BD-F330229C7518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-form: Shape 13">
            <a:extLst>
              <a:ext uri="{FF2B5EF4-FFF2-40B4-BE49-F238E27FC236}">
                <a16:creationId xmlns:a16="http://schemas.microsoft.com/office/drawing/2014/main" id="{0BB1BAA4-B843-57F3-9FCE-C9585D332FAE}"/>
              </a:ext>
            </a:extLst>
          </p:cNvPr>
          <p:cNvSpPr/>
          <p:nvPr/>
        </p:nvSpPr>
        <p:spPr>
          <a:xfrm rot="10800000">
            <a:off x="-26376" y="-254312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4598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5620995-1DFE-FB81-B1FD-1F43AD25E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F9FFA78-25BC-8AF7-71C4-CCA91A932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CB32A29-5E71-00A9-66DA-1FED8EA8FA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sv-SE"/>
              <a:t>Feedback &amp; Lidar Controller  / Optimus Syria</a:t>
            </a:r>
            <a:endParaRPr lang="en-GB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5A1141D-8ADF-66F7-AB0C-CAA4E1B2C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7138566-A99B-8C60-010B-13E0F43C56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02/12/2025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45194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13D3613-1229-23C4-BBAC-0C4D5D5524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76908"/>
            <a:ext cx="12192000" cy="912598"/>
          </a:xfrm>
        </p:spPr>
        <p:txBody>
          <a:bodyPr/>
          <a:lstStyle/>
          <a:p>
            <a:r>
              <a:rPr lang="en-US" noProof="0" dirty="0"/>
              <a:t>Weekly report: Feedback &amp; Lidar – Assisted Controller</a:t>
            </a:r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811943A6-016A-175F-ED49-9090C8C309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2000" noProof="0" dirty="0"/>
              <a:t>Week number: 10</a:t>
            </a:r>
          </a:p>
          <a:p>
            <a:r>
              <a:rPr lang="en-US" sz="2000" noProof="0" dirty="0"/>
              <a:t>Date: 02/12/2025</a:t>
            </a:r>
          </a:p>
          <a:p>
            <a:r>
              <a:rPr lang="en-US" sz="2000" noProof="0" dirty="0"/>
              <a:t>Supervisor: Prof. Dr.-Ing. David Schlipf</a:t>
            </a:r>
          </a:p>
          <a:p>
            <a:endParaRPr lang="en-US" sz="2000" noProof="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1D66077-75E8-B72F-9B4E-64E062858EC5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2982755" y="4653709"/>
            <a:ext cx="6226490" cy="758312"/>
          </a:xfrm>
        </p:spPr>
        <p:txBody>
          <a:bodyPr/>
          <a:lstStyle/>
          <a:p>
            <a:r>
              <a:rPr lang="en-US" noProof="0" dirty="0"/>
              <a:t>Group members: Mirza Dincer, Saurabh Pankaj Jha, Midhun </a:t>
            </a:r>
            <a:r>
              <a:rPr lang="en-US" noProof="0" dirty="0" err="1"/>
              <a:t>Kanichattu</a:t>
            </a:r>
            <a:r>
              <a:rPr lang="en-US" noProof="0" dirty="0"/>
              <a:t> Venu</a:t>
            </a:r>
          </a:p>
          <a:p>
            <a:r>
              <a:rPr lang="en-US" noProof="0" dirty="0"/>
              <a:t>Presenter: Mirza Dincer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D51974-AA80-93E7-DE29-6B240912C06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noProof="0" dirty="0"/>
              <a:t>02/12/2025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51378A-4F01-6B30-CC0C-0D06C211A4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US" noProof="0" smtClean="0"/>
              <a:pPr/>
              <a:t>1</a:t>
            </a:fld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1D90F1C-B0AB-81E1-63B6-F10AE37370C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474613" y="6566803"/>
            <a:ext cx="3055971" cy="365125"/>
          </a:xfrm>
        </p:spPr>
        <p:txBody>
          <a:bodyPr/>
          <a:lstStyle/>
          <a:p>
            <a:r>
              <a:rPr lang="en-US" noProof="0" dirty="0"/>
              <a:t>Feedback &amp; Lidar Controller  / Optimus Syria</a:t>
            </a:r>
          </a:p>
        </p:txBody>
      </p:sp>
    </p:spTree>
    <p:extLst>
      <p:ext uri="{BB962C8B-B14F-4D97-AF65-F5344CB8AC3E}">
        <p14:creationId xmlns:p14="http://schemas.microsoft.com/office/powerpoint/2010/main" val="1114542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396C42-5C8A-4DF6-469E-AA02488B5D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Tasks of the week</a:t>
            </a:r>
          </a:p>
          <a:p>
            <a:r>
              <a:rPr lang="en-US" noProof="0" dirty="0"/>
              <a:t>Torque Controller for Optimus</a:t>
            </a:r>
          </a:p>
          <a:p>
            <a:r>
              <a:rPr lang="en-US" noProof="0" dirty="0"/>
              <a:t>Lidar Measurement Distance</a:t>
            </a:r>
          </a:p>
          <a:p>
            <a:r>
              <a:rPr lang="en-US" noProof="0" dirty="0"/>
              <a:t>Conclusion</a:t>
            </a:r>
          </a:p>
          <a:p>
            <a:endParaRPr lang="en-US" noProof="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AE0BEDA-D340-0E86-7B6A-D958296C7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List of Contents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AF26A6A-DC19-EFAF-AC42-F8701A3F5C4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noProof="0" dirty="0"/>
              <a:t>Mirza Dincer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1A55B5-D29A-D64C-52F3-986289E5F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02/12/2025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B052D8F-1675-605E-CB1B-9CD5E63E8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noProof="0" smtClean="0"/>
              <a:t>2</a:t>
            </a:fld>
            <a:endParaRPr lang="en-US" noProof="0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0B39CA5-143A-78A6-B398-AAF845BF2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83757" y="6564113"/>
            <a:ext cx="3165698" cy="365125"/>
          </a:xfrm>
        </p:spPr>
        <p:txBody>
          <a:bodyPr/>
          <a:lstStyle/>
          <a:p>
            <a:r>
              <a:rPr lang="en-US" noProof="0" dirty="0"/>
              <a:t>Feedback &amp; Lidar Controller  / Optimus Syria</a:t>
            </a:r>
          </a:p>
        </p:txBody>
      </p:sp>
    </p:spTree>
    <p:extLst>
      <p:ext uri="{BB962C8B-B14F-4D97-AF65-F5344CB8AC3E}">
        <p14:creationId xmlns:p14="http://schemas.microsoft.com/office/powerpoint/2010/main" val="2657761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BD1F737-C9E5-D61C-802C-D8AA46A86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Tasks of the Week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ECE80E-4A9A-B819-E481-DA6D7AC2FA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802112" cy="4351338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noProof="0" dirty="0"/>
              <a:t>Torque controller for Optimus.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noProof="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noProof="0" dirty="0"/>
              <a:t>Determining lidar measurement distance</a:t>
            </a:r>
            <a:r>
              <a:rPr lang="tr-TR" noProof="0"/>
              <a:t>.</a:t>
            </a:r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C22DFD0-8551-3A05-D2F0-A2FEDE79CBF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Mirza Dincer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189547C-E522-4813-C302-A8977F7E7964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noProof="0" dirty="0"/>
              <a:t>02/12/2025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804BE1C-7C80-B8F9-3A23-EBD96702EECE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3A84E93A-72FE-4BB6-A500-FB6DD421822B}" type="slidenum">
              <a:rPr lang="en-US" noProof="0" smtClean="0"/>
              <a:t>3</a:t>
            </a:fld>
            <a:endParaRPr lang="en-US" noProof="0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2FC9593-3854-FCA1-E2BE-010AAED06C6C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8483757" y="6564113"/>
            <a:ext cx="3165699" cy="365125"/>
          </a:xfrm>
        </p:spPr>
        <p:txBody>
          <a:bodyPr/>
          <a:lstStyle/>
          <a:p>
            <a:r>
              <a:rPr lang="en-US" noProof="0" dirty="0"/>
              <a:t>Feedback &amp; Lidar Controller  / Optimus Syria</a:t>
            </a:r>
          </a:p>
        </p:txBody>
      </p:sp>
    </p:spTree>
    <p:extLst>
      <p:ext uri="{BB962C8B-B14F-4D97-AF65-F5344CB8AC3E}">
        <p14:creationId xmlns:p14="http://schemas.microsoft.com/office/powerpoint/2010/main" val="3245172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0887E-98F0-E908-2489-2B0203970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Torque Controller for Optimus Syria​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0F96F-503C-8CE4-D418-2EFD4ED9B5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Starting </a:t>
            </a:r>
            <a:r>
              <a:rPr lang="en-US" noProof="0" dirty="0" err="1"/>
              <a:t>Kp</a:t>
            </a:r>
            <a:r>
              <a:rPr lang="en-US" noProof="0" dirty="0"/>
              <a:t> same as IEA 3.4 MW, </a:t>
            </a:r>
            <a:r>
              <a:rPr lang="tr-TR" noProof="0" dirty="0" err="1"/>
              <a:t>Values</a:t>
            </a:r>
            <a:r>
              <a:rPr lang="tr-TR" noProof="0" dirty="0"/>
              <a:t> </a:t>
            </a:r>
            <a:r>
              <a:rPr lang="tr-TR" noProof="0" dirty="0" err="1"/>
              <a:t>similar</a:t>
            </a:r>
            <a:r>
              <a:rPr lang="tr-TR" noProof="0" dirty="0"/>
              <a:t> </a:t>
            </a:r>
            <a:r>
              <a:rPr lang="tr-TR" noProof="0" dirty="0" err="1"/>
              <a:t>to</a:t>
            </a:r>
            <a:r>
              <a:rPr lang="tr-TR" noProof="0" dirty="0"/>
              <a:t> </a:t>
            </a:r>
            <a:r>
              <a:rPr lang="en-US" noProof="0" dirty="0"/>
              <a:t>IEA 3.4 MW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en-US" noProof="0" dirty="0"/>
              <a:t>Optimus Syria</a:t>
            </a:r>
          </a:p>
          <a:p>
            <a:r>
              <a:rPr lang="tr-TR" dirty="0" err="1"/>
              <a:t>Assuming</a:t>
            </a:r>
            <a:r>
              <a:rPr lang="tr-TR" dirty="0"/>
              <a:t> </a:t>
            </a:r>
            <a:r>
              <a:rPr lang="en-US" noProof="0" dirty="0"/>
              <a:t>Ki = </a:t>
            </a:r>
            <a:r>
              <a:rPr lang="en-US" noProof="0" dirty="0" err="1"/>
              <a:t>Kp</a:t>
            </a:r>
            <a:r>
              <a:rPr lang="en-US" noProof="0" dirty="0"/>
              <a:t>/Ti, Ti equals to 1P time</a:t>
            </a:r>
          </a:p>
          <a:p>
            <a:endParaRPr lang="en-US" noProof="0" dirty="0"/>
          </a:p>
          <a:p>
            <a:r>
              <a:rPr lang="en-US" noProof="0" dirty="0"/>
              <a:t>PI controller of torque controller only on the region 1.5 and region 2.5.</a:t>
            </a:r>
          </a:p>
          <a:p>
            <a:endParaRPr lang="en-US" noProof="0" dirty="0"/>
          </a:p>
          <a:p>
            <a:r>
              <a:rPr lang="en-US" noProof="0" dirty="0"/>
              <a:t>In region 2, we need to have constant TSR, for Optimus it is 8.5.</a:t>
            </a:r>
          </a:p>
          <a:p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DF87F-7C58-A5AF-52B3-0EA2FB2231B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noProof="0" dirty="0"/>
              <a:t>Mirza Dincer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5AAB66-1CA7-3365-6BE3-880327187289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noProof="0" dirty="0"/>
              <a:t>02/12/2025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EB98-B6EF-132B-0C0E-0B12EF21521C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8483757" y="6564113"/>
            <a:ext cx="3165698" cy="365125"/>
          </a:xfrm>
        </p:spPr>
        <p:txBody>
          <a:bodyPr/>
          <a:lstStyle/>
          <a:p>
            <a:r>
              <a:rPr lang="en-US" noProof="0" dirty="0"/>
              <a:t>Feedback &amp; Lidar Controller  / Optimus Syria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E46EEA-70CA-782B-7A18-55F92EFE74B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3A84E93A-72FE-4BB6-A500-FB6DD421822B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46335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B7ED3-3829-AEBF-C01C-D2197B28C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Updated Torque Controller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879E9D-B412-F22D-5961-2D9555FFE27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noProof="0" dirty="0"/>
              <a:t>Mirza Dincer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F2DCE7-F97B-B70F-F700-89966650A52D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noProof="0" dirty="0"/>
              <a:t>02/12/2025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0EEE4C-04AA-59A2-937D-9BB825662BCC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8483757" y="6564113"/>
            <a:ext cx="3165698" cy="365125"/>
          </a:xfrm>
        </p:spPr>
        <p:txBody>
          <a:bodyPr/>
          <a:lstStyle/>
          <a:p>
            <a:r>
              <a:rPr lang="en-US" noProof="0" dirty="0"/>
              <a:t>Feedback &amp; Lidar Controller  / Optimus Syria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9DBCCA-873C-2D3B-26B1-57830B4AD512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3A84E93A-72FE-4BB6-A500-FB6DD421822B}" type="slidenum">
              <a:rPr lang="en-US" noProof="0" smtClean="0"/>
              <a:t>5</a:t>
            </a:fld>
            <a:endParaRPr lang="en-US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B58559-32E6-5BA3-9C41-DB22F5942082}"/>
              </a:ext>
            </a:extLst>
          </p:cNvPr>
          <p:cNvSpPr txBox="1"/>
          <p:nvPr/>
        </p:nvSpPr>
        <p:spPr>
          <a:xfrm>
            <a:off x="8353610" y="1465652"/>
            <a:ext cx="3086663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noProof="0" dirty="0"/>
              <a:t>Region 1.5: Transition to region 2, PI controller is used for low loads and increased energy.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US" noProof="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noProof="0" dirty="0"/>
              <a:t>Region 2: Between 800 and 1200 rpm controller keeps the TSR constant, to stay at optimal Cp.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noProof="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noProof="0" dirty="0"/>
              <a:t>Region 2.5: Transition to region 3, PI controller is used for low loads and increased energy. Also transition to pitch controller.</a:t>
            </a:r>
          </a:p>
          <a:p>
            <a:pPr algn="l"/>
            <a:endParaRPr lang="en-US" sz="2000" noProof="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3A6135-9F19-0AFB-C7AD-A6AACBBCCCD7}"/>
              </a:ext>
            </a:extLst>
          </p:cNvPr>
          <p:cNvSpPr txBox="1"/>
          <p:nvPr/>
        </p:nvSpPr>
        <p:spPr>
          <a:xfrm>
            <a:off x="1892684" y="6215876"/>
            <a:ext cx="37838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noProof="0" dirty="0"/>
              <a:t>Figure 1: Torque controller for Optimus Syria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9669ED93-86C1-1665-C9C6-2B899B35212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69660" y="6297744"/>
            <a:ext cx="568540" cy="30985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noProof="0" dirty="0"/>
              <a:t>[1]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F87340D-47DD-891D-D8D9-3247C470C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43194" y="1106208"/>
            <a:ext cx="9547589" cy="5201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038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17B04-21FD-3D4F-F677-598671499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Lidar Measurement Distance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02C99-DEC1-4402-1322-ADAC51B6F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dirty="0"/>
              <a:t>The measuring distances of lidar for 70, 90,110, 130, 150, 160 meter with four </a:t>
            </a:r>
            <a:r>
              <a:rPr lang="en-US" dirty="0" err="1"/>
              <a:t>beampulsed</a:t>
            </a:r>
            <a:r>
              <a:rPr lang="en-US" dirty="0"/>
              <a:t> lidar is checked for IEA 3.4 MW.​</a:t>
            </a:r>
          </a:p>
          <a:p>
            <a:pPr marL="0" indent="0" fontAlgn="base">
              <a:buNone/>
            </a:pPr>
            <a:endParaRPr lang="en-US" dirty="0"/>
          </a:p>
          <a:p>
            <a:pPr fontAlgn="base"/>
            <a:r>
              <a:rPr lang="en-US" dirty="0"/>
              <a:t>The </a:t>
            </a:r>
            <a:r>
              <a:rPr lang="en-US" b="1" dirty="0"/>
              <a:t>smallest detectable eddy size </a:t>
            </a:r>
            <a:r>
              <a:rPr lang="en-US" dirty="0"/>
              <a:t>(SDES) is a measure preview quality. It is the</a:t>
            </a:r>
            <a:r>
              <a:rPr lang="tr-TR" dirty="0"/>
              <a:t> </a:t>
            </a:r>
            <a:r>
              <a:rPr lang="en-US" b="1" dirty="0"/>
              <a:t>coherence bandwidth </a:t>
            </a:r>
            <a:r>
              <a:rPr lang="en-US" dirty="0"/>
              <a:t>(k at coherence=0.5) normalized by rotor diameter: 1D is</a:t>
            </a:r>
            <a:r>
              <a:rPr lang="tr-TR" dirty="0"/>
              <a:t> </a:t>
            </a:r>
            <a:r>
              <a:rPr lang="en-US" dirty="0"/>
              <a:t>very good and 3D is sufficient. IEA 3.4 MW turbine has a rotor diameter D = 130 m.​</a:t>
            </a:r>
          </a:p>
          <a:p>
            <a:pPr marL="0" indent="0" fontAlgn="base">
              <a:buNone/>
            </a:pPr>
            <a:endParaRPr lang="en-US" dirty="0"/>
          </a:p>
          <a:p>
            <a:pPr fontAlgn="base"/>
            <a:r>
              <a:rPr lang="en-US" dirty="0"/>
              <a:t>A small SDES is needed, which shows higher correlation between rotor effective</a:t>
            </a:r>
            <a:r>
              <a:rPr lang="tr-TR" dirty="0"/>
              <a:t> </a:t>
            </a:r>
            <a:r>
              <a:rPr lang="en-US" dirty="0"/>
              <a:t>speed that is measured from wind turbine and rotor effective speed that is</a:t>
            </a:r>
            <a:r>
              <a:rPr lang="tr-TR" dirty="0"/>
              <a:t> </a:t>
            </a:r>
            <a:r>
              <a:rPr lang="en-US" dirty="0"/>
              <a:t>calculated from lidar measurement.​</a:t>
            </a:r>
          </a:p>
          <a:p>
            <a:pPr marL="0" indent="0" fontAlgn="base">
              <a:buNone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EFDC80-0973-2054-F72D-175568D0AB4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noProof="0" dirty="0"/>
              <a:t>Mirza Dincer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71C059-9A13-0AB2-FB35-A0AE7711A667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noProof="0" dirty="0"/>
              <a:t>02/12/2025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29A127-C572-368B-66B4-C3E6182CDB16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8483757" y="6564113"/>
            <a:ext cx="3165698" cy="365125"/>
          </a:xfrm>
        </p:spPr>
        <p:txBody>
          <a:bodyPr/>
          <a:lstStyle/>
          <a:p>
            <a:r>
              <a:rPr lang="en-US" noProof="0" dirty="0"/>
              <a:t>Feedback &amp; Lidar Controller  / Optimus Syria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9F0F8C-2B07-E22C-2486-69A871E800CF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3A84E93A-72FE-4BB6-A500-FB6DD421822B}" type="slidenum">
              <a:rPr lang="en-US" noProof="0" smtClean="0"/>
              <a:t>6</a:t>
            </a:fld>
            <a:endParaRPr lang="en-US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605322-F6AB-CD02-F9CA-3B23EE00C32D}"/>
              </a:ext>
            </a:extLst>
          </p:cNvPr>
          <p:cNvSpPr txBox="1"/>
          <p:nvPr/>
        </p:nvSpPr>
        <p:spPr>
          <a:xfrm>
            <a:off x="269660" y="6215613"/>
            <a:ext cx="568540" cy="309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noProof="0" dirty="0"/>
              <a:t>[1]</a:t>
            </a:r>
          </a:p>
        </p:txBody>
      </p:sp>
    </p:spTree>
    <p:extLst>
      <p:ext uri="{BB962C8B-B14F-4D97-AF65-F5344CB8AC3E}">
        <p14:creationId xmlns:p14="http://schemas.microsoft.com/office/powerpoint/2010/main" val="34949533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2A1BC-704C-55F4-6D4E-1D942944B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7D8AE-981B-7737-1540-070629002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to optimize the distance for SDES?​</a:t>
            </a:r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60A998-00E9-63C2-F531-91861F054E3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noProof="0" dirty="0"/>
              <a:t>Mirza Dincer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29007-D48D-0139-2548-CD7A6E306340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noProof="0" dirty="0"/>
              <a:t>02/12/2025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869E68-0B54-F30F-B99B-A9C01CE6F613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8483757" y="6564113"/>
            <a:ext cx="3165698" cy="365125"/>
          </a:xfrm>
        </p:spPr>
        <p:txBody>
          <a:bodyPr/>
          <a:lstStyle/>
          <a:p>
            <a:r>
              <a:rPr lang="en-US" noProof="0" dirty="0"/>
              <a:t>Feedback &amp; Lidar Controller  / Optimus Syria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8C4F76-39B3-A9D3-786A-9BF8C7335284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3A84E93A-72FE-4BB6-A500-FB6DD421822B}" type="slidenum">
              <a:rPr lang="en-US" noProof="0" smtClean="0"/>
              <a:t>7</a:t>
            </a:fld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3FA40A5-E6C1-87B9-7BAC-2982D4D55544}"/>
                  </a:ext>
                </a:extLst>
              </p:cNvPr>
              <p:cNvSpPr txBox="1"/>
              <p:nvPr/>
            </p:nvSpPr>
            <p:spPr>
              <a:xfrm>
                <a:off x="838201" y="1487383"/>
                <a:ext cx="10515600" cy="50165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tr-TR" sz="1600" dirty="0" err="1"/>
                  <a:t>Coherence</a:t>
                </a:r>
                <a:r>
                  <a:rPr lang="en-US" sz="1600" dirty="0"/>
                  <a:t> shows how well lidar system measurement is where 0 indicates no correlation and 1 represents perfect correlation</a:t>
                </a:r>
              </a:p>
              <a:p>
                <a:pPr algn="l"/>
                <a:endParaRPr lang="tr-TR" sz="1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600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𝑅𝐿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𝑅𝐿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𝑅𝑅</m:t>
                              </m:r>
                            </m:sub>
                          </m:s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 </m:t>
                          </m:r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𝐿𝐿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1600" dirty="0"/>
              </a:p>
              <a:p>
                <a:pPr algn="l"/>
                <a:endParaRPr lang="tr-TR" sz="12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𝑅𝐿</m:t>
                        </m:r>
                      </m:sub>
                    </m:sSub>
                  </m:oMath>
                </a14:m>
                <a:r>
                  <a:rPr lang="tr-TR" sz="1600" dirty="0"/>
                  <a:t> </a:t>
                </a:r>
                <a:r>
                  <a:rPr lang="en-GB" sz="1600" dirty="0"/>
                  <a:t>is the cross</a:t>
                </a:r>
                <a:r>
                  <a:rPr lang="tr-TR" sz="1600" dirty="0"/>
                  <a:t>-</a:t>
                </a:r>
                <a:r>
                  <a:rPr lang="en-GB" sz="1600" dirty="0"/>
                  <a:t>spectrum between rotor effective wind speed from turbine and rotor effective speed calculated from lidar measurement.</a:t>
                </a:r>
                <a:endParaRPr lang="tr-TR" sz="1600" dirty="0"/>
              </a:p>
              <a:p>
                <a:endParaRPr lang="tr-TR" sz="16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𝑅𝑅</m:t>
                        </m:r>
                      </m:sub>
                    </m:sSub>
                  </m:oMath>
                </a14:m>
                <a:r>
                  <a:rPr lang="tr-TR" sz="1600" dirty="0"/>
                  <a:t> is </a:t>
                </a:r>
                <a:r>
                  <a:rPr lang="tr-TR" sz="1600" dirty="0" err="1"/>
                  <a:t>the</a:t>
                </a:r>
                <a:r>
                  <a:rPr lang="tr-TR" sz="1600" dirty="0"/>
                  <a:t> </a:t>
                </a:r>
                <a:r>
                  <a:rPr lang="tr-TR" sz="1600" dirty="0" err="1"/>
                  <a:t>auto-spectrum</a:t>
                </a:r>
                <a:r>
                  <a:rPr lang="tr-TR" sz="1600" dirty="0"/>
                  <a:t> of REWS </a:t>
                </a:r>
                <a:r>
                  <a:rPr lang="tr-TR" sz="1600" dirty="0" err="1"/>
                  <a:t>from</a:t>
                </a:r>
                <a:r>
                  <a:rPr lang="tr-TR" sz="1600" dirty="0"/>
                  <a:t> </a:t>
                </a:r>
                <a:r>
                  <a:rPr lang="tr-TR" sz="1600" dirty="0" err="1"/>
                  <a:t>turbine</a:t>
                </a:r>
                <a:r>
                  <a:rPr lang="tr-TR" sz="1600" dirty="0"/>
                  <a:t>.</a:t>
                </a:r>
              </a:p>
              <a:p>
                <a:endParaRPr lang="tr-TR" sz="16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𝐿𝐿</m:t>
                        </m:r>
                      </m:sub>
                    </m:sSub>
                  </m:oMath>
                </a14:m>
                <a:r>
                  <a:rPr lang="tr-TR" sz="1600" dirty="0"/>
                  <a:t> is </a:t>
                </a:r>
                <a:r>
                  <a:rPr lang="tr-TR" sz="1600" dirty="0" err="1"/>
                  <a:t>the</a:t>
                </a:r>
                <a:r>
                  <a:rPr lang="tr-TR" sz="1600" dirty="0"/>
                  <a:t> </a:t>
                </a:r>
                <a:r>
                  <a:rPr lang="tr-TR" sz="1600" dirty="0" err="1"/>
                  <a:t>auto</a:t>
                </a:r>
                <a:r>
                  <a:rPr lang="tr-TR" sz="1600" dirty="0"/>
                  <a:t> </a:t>
                </a:r>
                <a:r>
                  <a:rPr lang="tr-TR" sz="1600" dirty="0" err="1"/>
                  <a:t>spectrum</a:t>
                </a:r>
                <a:r>
                  <a:rPr lang="tr-TR" sz="1600" dirty="0"/>
                  <a:t> of </a:t>
                </a:r>
                <a:r>
                  <a:rPr lang="tr-TR" sz="1600" dirty="0" err="1"/>
                  <a:t>calculated</a:t>
                </a:r>
                <a:r>
                  <a:rPr lang="tr-TR" sz="1600" dirty="0"/>
                  <a:t> REWS </a:t>
                </a:r>
                <a:r>
                  <a:rPr lang="tr-TR" sz="1600" dirty="0" err="1"/>
                  <a:t>from</a:t>
                </a:r>
                <a:r>
                  <a:rPr lang="tr-TR" sz="1600" dirty="0"/>
                  <a:t> </a:t>
                </a:r>
                <a:r>
                  <a:rPr lang="tr-TR" sz="1600" dirty="0" err="1"/>
                  <a:t>lidar</a:t>
                </a:r>
                <a:r>
                  <a:rPr lang="tr-TR" sz="1600" dirty="0"/>
                  <a:t> </a:t>
                </a:r>
                <a:r>
                  <a:rPr lang="tr-TR" sz="1600" dirty="0" err="1"/>
                  <a:t>measurement</a:t>
                </a:r>
                <a:r>
                  <a:rPr lang="tr-TR" sz="1600" dirty="0"/>
                  <a:t>.</a:t>
                </a:r>
              </a:p>
              <a:p>
                <a:endParaRPr lang="tr-TR" sz="1600" dirty="0"/>
              </a:p>
              <a:p>
                <a:endParaRPr lang="tr-TR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𝑆𝐷𝐸𝑆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1600" dirty="0"/>
              </a:p>
              <a:p>
                <a:endParaRPr lang="tr-TR" sz="1600" dirty="0"/>
              </a:p>
              <a:p>
                <a:endParaRPr lang="tr-TR" sz="1600" dirty="0"/>
              </a:p>
              <a:p>
                <a:endParaRPr lang="tr-TR" sz="1600" dirty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3FA40A5-E6C1-87B9-7BAC-2982D4D555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1" y="1487383"/>
                <a:ext cx="10515600" cy="5016501"/>
              </a:xfrm>
              <a:prstGeom prst="rect">
                <a:avLst/>
              </a:prstGeom>
              <a:blipFill>
                <a:blip r:embed="rId2"/>
                <a:stretch>
                  <a:fillRect l="-348" t="-3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33A2ED9A-CA04-B506-37F2-1B6D97DA953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69660" y="6297744"/>
            <a:ext cx="568540" cy="30985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noProof="0" dirty="0"/>
              <a:t>[1]</a:t>
            </a:r>
          </a:p>
        </p:txBody>
      </p:sp>
    </p:spTree>
    <p:extLst>
      <p:ext uri="{BB962C8B-B14F-4D97-AF65-F5344CB8AC3E}">
        <p14:creationId xmlns:p14="http://schemas.microsoft.com/office/powerpoint/2010/main" val="1903181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261A6-EBC9-9711-72B9-D8F42DFA4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to optimize the distance for SDES?​</a:t>
            </a:r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1D7466-C600-200B-BEDC-1FFEF77D46B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noProof="0" dirty="0"/>
              <a:t>Mirza Dincer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6CD144-1856-678E-41E6-64577B97C913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noProof="0" dirty="0"/>
              <a:t>02/12/2025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D5AA28-D3DF-A2BF-E24F-D14282B5DD5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8483757" y="6564113"/>
            <a:ext cx="3165698" cy="365125"/>
          </a:xfrm>
        </p:spPr>
        <p:txBody>
          <a:bodyPr/>
          <a:lstStyle/>
          <a:p>
            <a:r>
              <a:rPr lang="en-US" noProof="0" dirty="0"/>
              <a:t>Feedback &amp; Lidar Controller  / Optimus Syria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E2A4D6-9641-994F-1DA1-757DDD87707F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3A84E93A-72FE-4BB6-A500-FB6DD421822B}" type="slidenum">
              <a:rPr lang="en-US" noProof="0" smtClean="0"/>
              <a:t>8</a:t>
            </a:fld>
            <a:endParaRPr lang="en-US" noProof="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87BA5F9-238D-9E42-51D4-0F854E941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392" y="1097155"/>
            <a:ext cx="9547589" cy="520144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E4E0AE3-BAC5-03EA-53A2-283E47AB9782}"/>
              </a:ext>
            </a:extLst>
          </p:cNvPr>
          <p:cNvSpPr txBox="1"/>
          <p:nvPr/>
        </p:nvSpPr>
        <p:spPr>
          <a:xfrm>
            <a:off x="4494276" y="6145929"/>
            <a:ext cx="37838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noProof="0" dirty="0"/>
              <a:t>Figure </a:t>
            </a:r>
            <a:r>
              <a:rPr lang="tr-TR" sz="1200" noProof="0" dirty="0"/>
              <a:t>2</a:t>
            </a:r>
            <a:r>
              <a:rPr lang="en-US" sz="1200" noProof="0" dirty="0"/>
              <a:t>:</a:t>
            </a:r>
            <a:r>
              <a:rPr lang="tr-TR" sz="1200" noProof="0" dirty="0"/>
              <a:t> </a:t>
            </a:r>
            <a:r>
              <a:rPr lang="tr-TR" sz="1200" noProof="0" dirty="0" err="1"/>
              <a:t>Coherence</a:t>
            </a:r>
            <a:r>
              <a:rPr lang="tr-TR" sz="1200" noProof="0" dirty="0"/>
              <a:t> </a:t>
            </a:r>
            <a:r>
              <a:rPr lang="tr-TR" sz="1200" noProof="0" dirty="0" err="1"/>
              <a:t>for</a:t>
            </a:r>
            <a:r>
              <a:rPr lang="tr-TR" sz="1200" noProof="0" dirty="0"/>
              <a:t> 4 </a:t>
            </a:r>
            <a:r>
              <a:rPr lang="tr-TR" sz="1200" noProof="0" dirty="0" err="1"/>
              <a:t>beam</a:t>
            </a:r>
            <a:r>
              <a:rPr lang="tr-TR" sz="1200" noProof="0" dirty="0"/>
              <a:t> </a:t>
            </a:r>
            <a:r>
              <a:rPr lang="tr-TR" sz="1200" noProof="0" dirty="0" err="1"/>
              <a:t>pulsed</a:t>
            </a:r>
            <a:r>
              <a:rPr lang="tr-TR" sz="1200" noProof="0" dirty="0"/>
              <a:t> </a:t>
            </a:r>
            <a:r>
              <a:rPr lang="tr-TR" sz="1200" noProof="0" dirty="0" err="1"/>
              <a:t>lidar</a:t>
            </a:r>
            <a:r>
              <a:rPr lang="tr-TR" sz="1200" noProof="0" dirty="0"/>
              <a:t> </a:t>
            </a:r>
            <a:r>
              <a:rPr lang="tr-TR" sz="1200" noProof="0" dirty="0" err="1"/>
              <a:t>measured</a:t>
            </a:r>
            <a:r>
              <a:rPr lang="tr-TR" sz="1200" noProof="0" dirty="0"/>
              <a:t> at 90 </a:t>
            </a:r>
            <a:r>
              <a:rPr lang="tr-TR" sz="1200" noProof="0" dirty="0" err="1"/>
              <a:t>meter</a:t>
            </a:r>
            <a:endParaRPr lang="en-US" sz="1200" noProof="0" dirty="0"/>
          </a:p>
        </p:txBody>
      </p:sp>
    </p:spTree>
    <p:extLst>
      <p:ext uri="{BB962C8B-B14F-4D97-AF65-F5344CB8AC3E}">
        <p14:creationId xmlns:p14="http://schemas.microsoft.com/office/powerpoint/2010/main" val="30580803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7DA8B-07C7-24AD-6CF6-B5FDF8965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D5033-97AF-E97E-F3CE-74032FF29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Lidar Measurement Distance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A50D6E-D0A5-45AB-4E01-B966695C03E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noProof="0" dirty="0"/>
              <a:t>Mirza Dincer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0119CC-5D1F-197F-BF41-9D5EAF3E6119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noProof="0" dirty="0"/>
              <a:t>02/12/2025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FC53D4-7B20-9A1A-D490-3A41E5496C9C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8483757" y="6564113"/>
            <a:ext cx="3165698" cy="365125"/>
          </a:xfrm>
        </p:spPr>
        <p:txBody>
          <a:bodyPr/>
          <a:lstStyle/>
          <a:p>
            <a:r>
              <a:rPr lang="en-US" noProof="0" dirty="0"/>
              <a:t>Feedback &amp; Lidar Controller  / Optimus Syria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FCEFE-9F43-1BFC-B8C9-E4328C40F16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3A84E93A-72FE-4BB6-A500-FB6DD421822B}" type="slidenum">
              <a:rPr lang="en-US" noProof="0" smtClean="0"/>
              <a:t>9</a:t>
            </a:fld>
            <a:endParaRPr lang="en-US" noProof="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8A87971-0F57-B169-82CD-74A9377A127F}"/>
              </a:ext>
            </a:extLst>
          </p:cNvPr>
          <p:cNvSpPr txBox="1"/>
          <p:nvPr/>
        </p:nvSpPr>
        <p:spPr>
          <a:xfrm>
            <a:off x="4204057" y="6099758"/>
            <a:ext cx="37838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noProof="0" dirty="0"/>
              <a:t>Figure 2: Coherence Bandwidth and SDES comparison between different measurement distances.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F6546D8-8DDD-6F3C-4112-5EA3AE0DE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392" y="1097155"/>
            <a:ext cx="9547589" cy="5201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4863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04887-47B4-301B-4796-394AEE4C1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Lidar-Assisted Control Simulations​</a:t>
            </a:r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A3B690-A9CC-F8F1-50D5-6ADA9F86579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noProof="0" dirty="0"/>
              <a:t>Mirza Dincer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29A520-50BB-4CAB-1883-2464CCC9A2C2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noProof="0" dirty="0"/>
              <a:t>02/12/2025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1E0529-AB0B-E7E8-6784-2FF8AD0ED2F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8483757" y="6564113"/>
            <a:ext cx="3165698" cy="365125"/>
          </a:xfrm>
        </p:spPr>
        <p:txBody>
          <a:bodyPr/>
          <a:lstStyle/>
          <a:p>
            <a:r>
              <a:rPr lang="en-US" noProof="0" dirty="0"/>
              <a:t>Feedback &amp; Lidar Controller  / Optimus Syria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1F5032-ADB2-F54F-F01D-DC2217EE338A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3A84E93A-72FE-4BB6-A500-FB6DD421822B}" type="slidenum">
              <a:rPr lang="en-US" noProof="0" smtClean="0"/>
              <a:t>10</a:t>
            </a:fld>
            <a:endParaRPr lang="en-US" noProof="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1478A19-76FF-1E3D-6776-5C61F3FC08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b="1" noProof="0" dirty="0"/>
              <a:t>660 seconds </a:t>
            </a:r>
            <a:r>
              <a:rPr lang="en-US" noProof="0" dirty="0"/>
              <a:t>of simulation. Evaluation of values starts at t = 60 second to get settled values. Additionally, wind wraps around.</a:t>
            </a:r>
          </a:p>
          <a:p>
            <a:endParaRPr lang="en-US" noProof="0" dirty="0"/>
          </a:p>
          <a:p>
            <a:r>
              <a:rPr lang="en-US" b="1" noProof="0" dirty="0"/>
              <a:t>DLC 1.2 </a:t>
            </a:r>
            <a:r>
              <a:rPr lang="en-US" noProof="0" dirty="0"/>
              <a:t>wind fields with average </a:t>
            </a:r>
            <a:r>
              <a:rPr lang="en-US" b="1" noProof="0" dirty="0"/>
              <a:t>20</a:t>
            </a:r>
            <a:r>
              <a:rPr lang="en-US" noProof="0" dirty="0"/>
              <a:t> </a:t>
            </a:r>
            <a:r>
              <a:rPr lang="en-US" b="1" noProof="0" dirty="0"/>
              <a:t>m/s</a:t>
            </a:r>
            <a:r>
              <a:rPr lang="en-US" noProof="0" dirty="0"/>
              <a:t> </a:t>
            </a:r>
          </a:p>
          <a:p>
            <a:endParaRPr lang="en-US" b="1" noProof="0" dirty="0"/>
          </a:p>
          <a:p>
            <a:r>
              <a:rPr lang="en-US" b="1" noProof="0" dirty="0"/>
              <a:t>Enabled all DOFs. </a:t>
            </a:r>
            <a:endParaRPr lang="en-US" b="1" noProof="0" dirty="0">
              <a:solidFill>
                <a:srgbClr val="FF0000"/>
              </a:solidFill>
            </a:endParaRPr>
          </a:p>
          <a:p>
            <a:endParaRPr lang="en-US" b="1" noProof="0" dirty="0"/>
          </a:p>
          <a:p>
            <a:r>
              <a:rPr lang="en-US" b="1" noProof="0" dirty="0"/>
              <a:t>Initial conditions of pitch angle, rotor speed</a:t>
            </a:r>
            <a:r>
              <a:rPr lang="en-US" noProof="0" dirty="0"/>
              <a:t> and </a:t>
            </a:r>
            <a:r>
              <a:rPr lang="en-US" b="1" noProof="0" dirty="0"/>
              <a:t>fore-aft tower position</a:t>
            </a:r>
            <a:r>
              <a:rPr lang="en-US" noProof="0" dirty="0"/>
              <a:t> for every corresponding wind speed.</a:t>
            </a:r>
          </a:p>
          <a:p>
            <a:endParaRPr lang="en-US" noProof="0" dirty="0"/>
          </a:p>
          <a:p>
            <a:r>
              <a:rPr lang="en-US" noProof="0" dirty="0"/>
              <a:t>Running both </a:t>
            </a:r>
            <a:r>
              <a:rPr lang="en-US" b="1" noProof="0" dirty="0"/>
              <a:t>feedback controller </a:t>
            </a:r>
            <a:r>
              <a:rPr lang="en-US" noProof="0" dirty="0"/>
              <a:t>and</a:t>
            </a:r>
            <a:r>
              <a:rPr lang="en-US" b="1" noProof="0" dirty="0"/>
              <a:t> lidar-assisted controller</a:t>
            </a:r>
            <a:r>
              <a:rPr lang="en-US" noProof="0" dirty="0"/>
              <a:t>.</a:t>
            </a:r>
            <a:endParaRPr lang="tr-TR" noProof="0" dirty="0"/>
          </a:p>
          <a:p>
            <a:endParaRPr lang="tr-TR" noProof="0" dirty="0"/>
          </a:p>
          <a:p>
            <a:r>
              <a:rPr lang="en-US" dirty="0"/>
              <a:t>First try: </a:t>
            </a:r>
            <a:r>
              <a:rPr lang="en-US" b="1" dirty="0"/>
              <a:t>no filter</a:t>
            </a:r>
            <a:r>
              <a:rPr lang="en-US" dirty="0"/>
              <a:t>, so uncorrelated frequencies are still used</a:t>
            </a:r>
            <a:r>
              <a:rPr lang="tr-TR" dirty="0"/>
              <a:t>.</a:t>
            </a:r>
            <a:r>
              <a:rPr lang="en-US" dirty="0"/>
              <a:t>​</a:t>
            </a:r>
          </a:p>
          <a:p>
            <a:endParaRPr lang="en-US" noProof="0" dirty="0"/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692106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08301-5C05-900F-1516-41E71D479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Lidar-Assisted Control Simulations​</a:t>
            </a:r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47599C-B8D1-799F-E5ED-EBBA0768350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noProof="0" dirty="0"/>
              <a:t>Mirza Dincer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DF4E25-6FDB-3F0E-855B-3F677456C631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noProof="0" dirty="0"/>
              <a:t>02/12/2025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126C40-3DEB-B954-499F-337F04C594A5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8483757" y="6564113"/>
            <a:ext cx="3165698" cy="365125"/>
          </a:xfrm>
        </p:spPr>
        <p:txBody>
          <a:bodyPr/>
          <a:lstStyle/>
          <a:p>
            <a:r>
              <a:rPr lang="en-US" noProof="0" dirty="0"/>
              <a:t>Feedback &amp; Lidar Controller  / Optimus Syria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F81F51-B6E7-FDC9-2E25-527D5532ACA4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3A84E93A-72FE-4BB6-A500-FB6DD421822B}" type="slidenum">
              <a:rPr lang="en-US" noProof="0" smtClean="0"/>
              <a:t>11</a:t>
            </a:fld>
            <a:endParaRPr lang="en-US" noProof="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55A6D2-F883-91B2-1640-42ADDC3D9028}"/>
              </a:ext>
            </a:extLst>
          </p:cNvPr>
          <p:cNvSpPr txBox="1"/>
          <p:nvPr/>
        </p:nvSpPr>
        <p:spPr>
          <a:xfrm>
            <a:off x="4204057" y="6099758"/>
            <a:ext cx="37838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noProof="0" dirty="0"/>
              <a:t>Figure 3: Comparison of feedback only and feedback-feedforward controller under turbulent wind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B8E7DD-8DC7-1848-2FF9-40B60C727C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392" y="1097155"/>
            <a:ext cx="9547589" cy="5201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3471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66680-AECB-745A-74FF-67A3CF85E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FC184-03AB-7ECB-A44C-91DB20545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Lidar-Assisted Control Simulations​</a:t>
            </a:r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96FB02-6D4D-B547-A13E-07C510B1386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noProof="0" dirty="0"/>
              <a:t>Mirza Dincer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479463-84A8-B092-0CF3-4CB02D4B3DB6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noProof="0" dirty="0"/>
              <a:t>02/12/2025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BF233E-1005-C6E1-204D-FBD06BE01C18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8483757" y="6564113"/>
            <a:ext cx="3165698" cy="365125"/>
          </a:xfrm>
        </p:spPr>
        <p:txBody>
          <a:bodyPr/>
          <a:lstStyle/>
          <a:p>
            <a:r>
              <a:rPr lang="en-US" noProof="0" dirty="0"/>
              <a:t>Feedback &amp; Lidar Controller  / Optimus Syria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826B22-367D-52CF-FAD2-E1536A562DF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3A84E93A-72FE-4BB6-A500-FB6DD421822B}" type="slidenum">
              <a:rPr lang="en-US" noProof="0" smtClean="0"/>
              <a:t>12</a:t>
            </a:fld>
            <a:endParaRPr lang="en-US" noProof="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6431C8-BD6D-0D31-BC9D-B8497AEF9354}"/>
              </a:ext>
            </a:extLst>
          </p:cNvPr>
          <p:cNvSpPr txBox="1"/>
          <p:nvPr/>
        </p:nvSpPr>
        <p:spPr>
          <a:xfrm>
            <a:off x="1835841" y="6101103"/>
            <a:ext cx="42325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noProof="0" dirty="0"/>
              <a:t>Figure 4: Power spectral density of rotor speed comparison between feedback only and feedback-feedforward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D94149E-D8A0-E072-0FB0-A7BDAA3C0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43194" y="1106208"/>
            <a:ext cx="9547589" cy="520144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CA8CEDE-4E25-52F6-B763-9111DC512959}"/>
              </a:ext>
            </a:extLst>
          </p:cNvPr>
          <p:cNvSpPr txBox="1"/>
          <p:nvPr/>
        </p:nvSpPr>
        <p:spPr>
          <a:xfrm>
            <a:off x="8474612" y="1584356"/>
            <a:ext cx="251761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noProof="0" dirty="0"/>
              <a:t>Decrease of power spectrum in high frequency shows that there is less fluctuation in rotor speed in shorter times.</a:t>
            </a:r>
            <a:endParaRPr lang="tr-TR" noProof="0" dirty="0"/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tr-TR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Still unnecessary</a:t>
            </a:r>
            <a:r>
              <a:rPr lang="tr-TR" dirty="0"/>
              <a:t> </a:t>
            </a:r>
            <a:r>
              <a:rPr lang="en-US" dirty="0"/>
              <a:t>higher frequencies</a:t>
            </a:r>
            <a:r>
              <a:rPr lang="en-US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141145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4FF05-E4FA-0C0D-C7B9-03579DF81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Conclusion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3B4F11E-0379-23D5-BA8E-334FB43B28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4335"/>
            <a:ext cx="10515600" cy="4672628"/>
          </a:xfrm>
        </p:spPr>
        <p:txBody>
          <a:bodyPr>
            <a:normAutofit/>
          </a:bodyPr>
          <a:lstStyle/>
          <a:p>
            <a:r>
              <a:rPr lang="en-US" noProof="0" dirty="0"/>
              <a:t>For IEA 3.4 MW, it looks like 90-meter measurement is the optimal point with smallest detectable eddy size and highest measurement coherence </a:t>
            </a:r>
            <a:r>
              <a:rPr lang="en-US" noProof="0" dirty="0" err="1"/>
              <a:t>bandwith</a:t>
            </a:r>
            <a:r>
              <a:rPr lang="en-US" noProof="0" dirty="0"/>
              <a:t>.</a:t>
            </a:r>
          </a:p>
          <a:p>
            <a:r>
              <a:rPr lang="en-US" noProof="0" dirty="0"/>
              <a:t>REWS needs to be filtered by low pass filter which will help reduce the noises in pitch angle signal.</a:t>
            </a:r>
          </a:p>
          <a:p>
            <a:r>
              <a:rPr lang="en-US" noProof="0" dirty="0"/>
              <a:t>We learned how should we determine measurement distance of lidar.</a:t>
            </a:r>
          </a:p>
          <a:p>
            <a:pPr marL="0" indent="0">
              <a:buNone/>
            </a:pPr>
            <a:endParaRPr lang="en-US" noProof="0" dirty="0"/>
          </a:p>
          <a:p>
            <a:pPr fontAlgn="base"/>
            <a:r>
              <a:rPr lang="en-US" b="1" noProof="0" dirty="0"/>
              <a:t>Next weeks:</a:t>
            </a:r>
          </a:p>
          <a:p>
            <a:pPr fontAlgn="base"/>
            <a:r>
              <a:rPr lang="en-US" noProof="0" dirty="0"/>
              <a:t>Start to prepare control files for OpenFAST and provide to the Loads and Dynamics team. We need to stay updated and speed up.</a:t>
            </a:r>
          </a:p>
          <a:p>
            <a:pPr fontAlgn="base"/>
            <a:r>
              <a:rPr lang="en-US" noProof="0" dirty="0"/>
              <a:t>Calculate cut-off frequency for low pass filter of feedforward pitch</a:t>
            </a:r>
            <a:r>
              <a:rPr lang="tr-TR" noProof="0" dirty="0"/>
              <a:t>.</a:t>
            </a:r>
            <a:endParaRPr lang="en-US" noProof="0" dirty="0"/>
          </a:p>
          <a:p>
            <a:pPr fontAlgn="base"/>
            <a:r>
              <a:rPr lang="en-US" dirty="0"/>
              <a:t>Check the rotor speed and tower base bending moment spectra again for 6 seeds of</a:t>
            </a:r>
            <a:r>
              <a:rPr lang="tr-TR" dirty="0"/>
              <a:t> </a:t>
            </a:r>
            <a:r>
              <a:rPr lang="en-US" dirty="0"/>
              <a:t>20 m/s, and if it fits the theory. </a:t>
            </a:r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257715-04AD-1733-D6EE-3ED2075EF0C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noProof="0" dirty="0"/>
              <a:t>Mirza Dincer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E55E15D-A89A-0E88-0C10-DCC57A700420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noProof="0" dirty="0"/>
              <a:t>02/12/2025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4600388-DD13-10AE-D6E8-C3B2B3F8980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8483757" y="6564113"/>
            <a:ext cx="3165698" cy="365125"/>
          </a:xfrm>
        </p:spPr>
        <p:txBody>
          <a:bodyPr/>
          <a:lstStyle/>
          <a:p>
            <a:r>
              <a:rPr lang="en-US" noProof="0" dirty="0"/>
              <a:t>Feedback &amp; Lidar Controller  / Optimus Syria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20AAE9-4FCB-81C8-9E6C-E44698F413FA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3A84E93A-72FE-4BB6-A500-FB6DD421822B}" type="slidenum">
              <a:rPr lang="en-US" noProof="0" smtClean="0"/>
              <a:t>13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236501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Biblography</a:t>
            </a:r>
            <a:r>
              <a:rPr lang="en-US" noProof="0" dirty="0"/>
              <a:t> 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B94B39AC-2823-5055-28A5-B1E3CF0ECA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90688"/>
            <a:ext cx="10515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noProof="0" dirty="0">
                <a:latin typeface="Arial" panose="020B0604020202020204" pitchFamily="34" charset="0"/>
              </a:rPr>
              <a:t>[1] </a:t>
            </a:r>
            <a:r>
              <a:rPr lang="en-US" sz="1800" noProof="0" dirty="0"/>
              <a:t>D. Schlipf, "Lidar-Assisted Control for Wind Turbines I," Class Lecture, Topic: "Controller Design for Wind Turbines and Wind Farms," Wind Energy Engineering Master, Hochschule Flensburg, Flensburg, Germany, [17/11/2025].</a:t>
            </a:r>
            <a:endParaRPr lang="en-US" sz="1800" noProof="0" dirty="0">
              <a:latin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02/12/2025</a:t>
            </a:r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06D7C134-F599-F3C8-D2EE-3F01D112F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83757" y="6564113"/>
            <a:ext cx="3165698" cy="365125"/>
          </a:xfrm>
        </p:spPr>
        <p:txBody>
          <a:bodyPr/>
          <a:lstStyle/>
          <a:p>
            <a:r>
              <a:rPr lang="en-US" noProof="0" dirty="0"/>
              <a:t>Feedback &amp; Lidar Controller  / Optimus Syria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BAA63EF-07A4-B8A9-5F4A-67D1EE8E6BD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noProof="0" dirty="0"/>
              <a:t>Mirza Dincer</a:t>
            </a:r>
          </a:p>
        </p:txBody>
      </p:sp>
    </p:spTree>
    <p:extLst>
      <p:ext uri="{BB962C8B-B14F-4D97-AF65-F5344CB8AC3E}">
        <p14:creationId xmlns:p14="http://schemas.microsoft.com/office/powerpoint/2010/main" val="4288072816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2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heme1" id="{E7258755-3B8A-428F-9B71-020BDB6F6014}" vid="{2CB19E59-5F41-4D40-98BC-C6D4E668C96F}"/>
    </a:ext>
  </a:extLst>
</a:theme>
</file>

<file path=ppt/theme/theme2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3" id="{489382AE-0E20-4DDB-AC58-6881343BCB06}" vid="{BC3BCC29-301C-4D70-A384-97DBC337907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9479</TotalTime>
  <Words>918</Words>
  <Application>Microsoft Office PowerPoint</Application>
  <PresentationFormat>Widescreen</PresentationFormat>
  <Paragraphs>143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Aptos</vt:lpstr>
      <vt:lpstr>Aptos (Textkörper)</vt:lpstr>
      <vt:lpstr>Aptos Display</vt:lpstr>
      <vt:lpstr>Arial</vt:lpstr>
      <vt:lpstr>Calibri</vt:lpstr>
      <vt:lpstr>Calibri Light</vt:lpstr>
      <vt:lpstr>Cambria Math</vt:lpstr>
      <vt:lpstr>Times New Roman</vt:lpstr>
      <vt:lpstr>Wingdings</vt:lpstr>
      <vt:lpstr>Theme1</vt:lpstr>
      <vt:lpstr>Benutzerdefiniertes Design</vt:lpstr>
      <vt:lpstr>Weekly report: Feedback &amp; Lidar – Assisted Controller</vt:lpstr>
      <vt:lpstr>List of Contents</vt:lpstr>
      <vt:lpstr>Tasks of the Week</vt:lpstr>
      <vt:lpstr>Torque Controller for Optimus Syria​</vt:lpstr>
      <vt:lpstr>Updated Torque Controller</vt:lpstr>
      <vt:lpstr>Lidar Measurement Distance</vt:lpstr>
      <vt:lpstr>How to optimize the distance for SDES?​</vt:lpstr>
      <vt:lpstr>How to optimize the distance for SDES?​</vt:lpstr>
      <vt:lpstr>Lidar Measurement Distance</vt:lpstr>
      <vt:lpstr>Lidar-Assisted Control Simulations​</vt:lpstr>
      <vt:lpstr>Lidar-Assisted Control Simulations​</vt:lpstr>
      <vt:lpstr>Lidar-Assisted Control Simulations​</vt:lpstr>
      <vt:lpstr>Conclusion</vt:lpstr>
      <vt:lpstr>Biblography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Mirza Dincer</dc:creator>
  <cp:lastModifiedBy>Mirza Dincer</cp:lastModifiedBy>
  <cp:revision>149</cp:revision>
  <dcterms:created xsi:type="dcterms:W3CDTF">2025-10-04T12:59:06Z</dcterms:created>
  <dcterms:modified xsi:type="dcterms:W3CDTF">2025-12-01T11:28:54Z</dcterms:modified>
</cp:coreProperties>
</file>