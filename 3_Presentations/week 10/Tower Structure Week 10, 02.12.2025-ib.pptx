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1" r:id="rId2"/>
    <p:sldMasterId id="2147483672" r:id="rId3"/>
  </p:sldMasterIdLst>
  <p:notesMasterIdLst>
    <p:notesMasterId r:id="rId17"/>
  </p:notesMasterIdLst>
  <p:handoutMasterIdLst>
    <p:handoutMasterId r:id="rId18"/>
  </p:handoutMasterIdLst>
  <p:sldIdLst>
    <p:sldId id="270" r:id="rId4"/>
    <p:sldId id="259" r:id="rId5"/>
    <p:sldId id="284" r:id="rId6"/>
    <p:sldId id="303" r:id="rId7"/>
    <p:sldId id="304" r:id="rId8"/>
    <p:sldId id="305" r:id="rId9"/>
    <p:sldId id="306" r:id="rId10"/>
    <p:sldId id="308" r:id="rId11"/>
    <p:sldId id="309" r:id="rId12"/>
    <p:sldId id="310" r:id="rId13"/>
    <p:sldId id="311" r:id="rId14"/>
    <p:sldId id="294" r:id="rId15"/>
    <p:sldId id="30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>
            <p14:sldId id="270"/>
          </p14:sldIdLst>
        </p14:section>
        <p14:section name="List of contents" id="{65043596-36B7-4360-BB5C-7A99EFAEC5C9}">
          <p14:sldIdLst>
            <p14:sldId id="259"/>
          </p14:sldIdLst>
        </p14:section>
        <p14:section name="Title, main slides" id="{B26F6679-C236-4D3D-BC2F-CAE5ED400718}">
          <p14:sldIdLst>
            <p14:sldId id="284"/>
            <p14:sldId id="303"/>
            <p14:sldId id="304"/>
            <p14:sldId id="305"/>
            <p14:sldId id="306"/>
            <p14:sldId id="308"/>
            <p14:sldId id="309"/>
            <p14:sldId id="310"/>
            <p14:sldId id="311"/>
            <p14:sldId id="294"/>
          </p14:sldIdLst>
        </p14:section>
        <p14:section name="bibliography" id="{2ECB0A3B-7D16-4F98-AD6A-5308DF7BF078}">
          <p14:sldIdLst>
            <p14:sldId id="30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16CE"/>
    <a:srgbClr val="FFFFFF"/>
    <a:srgbClr val="8ECEFA"/>
    <a:srgbClr val="92C6E6"/>
    <a:srgbClr val="80D2F7"/>
    <a:srgbClr val="7ED1F7"/>
    <a:srgbClr val="A1DFFD"/>
    <a:srgbClr val="C0F5FF"/>
    <a:srgbClr val="3C96FA"/>
    <a:srgbClr val="BDE5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002" autoAdjust="0"/>
    <p:restoredTop sz="94660"/>
  </p:normalViewPr>
  <p:slideViewPr>
    <p:cSldViewPr snapToGrid="0">
      <p:cViewPr>
        <p:scale>
          <a:sx n="66" d="100"/>
          <a:sy n="66" d="100"/>
        </p:scale>
        <p:origin x="708" y="-1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984966E-98CC-6A78-1424-04B6E1F267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153D721-EFB9-BC0E-1DC1-4F7A40F312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53E7D-EEC7-43DF-AF05-49FE1E0C7B25}" type="datetimeFigureOut">
              <a:rPr lang="de-DE" smtClean="0"/>
              <a:t>30.11.2025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7BF23EC-0BC1-545E-D00A-3466D80002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716600C-B63A-8960-82FD-8DC4BB46C8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B05C7-DCB9-437C-9E32-70E8134153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50978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679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bib.com/tools/ieee-citation-generator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8857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12. </a:t>
            </a:r>
            <a:r>
              <a:rPr lang="de-DE" dirty="0" err="1"/>
              <a:t>Machine</a:t>
            </a:r>
            <a:r>
              <a:rPr lang="de-DE" dirty="0"/>
              <a:t> </a:t>
            </a:r>
            <a:r>
              <a:rPr lang="de-DE" dirty="0" err="1"/>
              <a:t>Bed</a:t>
            </a:r>
            <a:r>
              <a:rPr lang="de-DE" dirty="0"/>
              <a:t> &amp; Yaw System  </a:t>
            </a:r>
          </a:p>
          <a:p>
            <a:pPr lvl="1"/>
            <a:r>
              <a:rPr lang="de-DE" dirty="0"/>
              <a:t>13. Tower  </a:t>
            </a:r>
          </a:p>
          <a:p>
            <a:pPr lvl="1"/>
            <a:r>
              <a:rPr lang="de-DE" dirty="0"/>
              <a:t>14. </a:t>
            </a:r>
            <a:r>
              <a:rPr lang="de-DE" dirty="0" err="1"/>
              <a:t>Foundation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15. Storage System 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Teams</a:t>
            </a:r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466CB9-E665-36BA-2132-8519CA303C9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38200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 algn="l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1.  </a:t>
            </a:r>
            <a:r>
              <a:rPr lang="de-DE" dirty="0" err="1"/>
              <a:t>Windfarm</a:t>
            </a:r>
            <a:r>
              <a:rPr lang="de-DE" dirty="0"/>
              <a:t> Project Development  </a:t>
            </a:r>
          </a:p>
          <a:p>
            <a:pPr lvl="1"/>
            <a:r>
              <a:rPr lang="de-DE" dirty="0"/>
              <a:t>2.  Loads and Dynamics  </a:t>
            </a:r>
          </a:p>
          <a:p>
            <a:pPr lvl="1"/>
            <a:r>
              <a:rPr lang="de-DE" dirty="0"/>
              <a:t>3.  Feedback Controller  </a:t>
            </a:r>
          </a:p>
          <a:p>
            <a:pPr lvl="1"/>
            <a:r>
              <a:rPr lang="de-DE" dirty="0"/>
              <a:t>4.  Lidar-</a:t>
            </a:r>
            <a:r>
              <a:rPr lang="de-DE" dirty="0" err="1"/>
              <a:t>Assisted</a:t>
            </a:r>
            <a:r>
              <a:rPr lang="de-DE" dirty="0"/>
              <a:t> Controller  </a:t>
            </a:r>
          </a:p>
          <a:p>
            <a:pPr lvl="1"/>
            <a:r>
              <a:rPr lang="de-DE" dirty="0"/>
              <a:t>5.  Rotor Blade </a:t>
            </a:r>
            <a:r>
              <a:rPr lang="de-DE" dirty="0" err="1"/>
              <a:t>Aerodynamics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6.  Rotor Blade </a:t>
            </a:r>
            <a:r>
              <a:rPr lang="de-DE" dirty="0" err="1"/>
              <a:t>Structures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7.  </a:t>
            </a:r>
            <a:r>
              <a:rPr lang="de-DE" dirty="0" err="1"/>
              <a:t>Electrical</a:t>
            </a:r>
            <a:r>
              <a:rPr lang="de-DE" dirty="0"/>
              <a:t> </a:t>
            </a:r>
            <a:r>
              <a:rPr lang="de-DE" dirty="0" err="1"/>
              <a:t>Drivetrain</a:t>
            </a:r>
            <a:r>
              <a:rPr lang="de-DE" dirty="0"/>
              <a:t> (EDT)  </a:t>
            </a:r>
          </a:p>
          <a:p>
            <a:pPr lvl="1"/>
            <a:r>
              <a:rPr lang="de-DE" dirty="0"/>
              <a:t>8.  </a:t>
            </a:r>
            <a:r>
              <a:rPr lang="de-DE" dirty="0" err="1"/>
              <a:t>Grid</a:t>
            </a:r>
            <a:r>
              <a:rPr lang="de-DE" dirty="0"/>
              <a:t> Code Development (GCD)  </a:t>
            </a:r>
          </a:p>
          <a:p>
            <a:pPr lvl="1"/>
            <a:r>
              <a:rPr lang="de-DE" dirty="0"/>
              <a:t>9.  Rotor Hub &amp; Pitch System  </a:t>
            </a:r>
          </a:p>
          <a:p>
            <a:pPr lvl="1"/>
            <a:r>
              <a:rPr lang="de-DE" dirty="0"/>
              <a:t>10. Rotor </a:t>
            </a:r>
            <a:r>
              <a:rPr lang="de-DE" dirty="0" err="1"/>
              <a:t>Bearing</a:t>
            </a:r>
            <a:r>
              <a:rPr lang="de-DE" dirty="0"/>
              <a:t> System  </a:t>
            </a:r>
          </a:p>
          <a:p>
            <a:pPr lvl="1"/>
            <a:r>
              <a:rPr lang="de-DE" dirty="0"/>
              <a:t>11. </a:t>
            </a:r>
            <a:r>
              <a:rPr lang="de-DE" dirty="0" err="1"/>
              <a:t>Gearbox</a:t>
            </a:r>
            <a:r>
              <a:rPr lang="de-DE" dirty="0"/>
              <a:t>, Brake, Coupling  </a:t>
            </a:r>
          </a:p>
          <a:p>
            <a:pPr lvl="1"/>
            <a:r>
              <a:rPr lang="de-DE" dirty="0"/>
              <a:t>						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FD841E35-8D66-8DA2-B806-8C18E5D2806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30/11/2025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C28938A-3748-78F8-3D01-B82DF87C9B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3A903679-8273-AC0E-AD57-A9C78EE236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3313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contents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6">
            <a:extLst>
              <a:ext uri="{FF2B5EF4-FFF2-40B4-BE49-F238E27FC236}">
                <a16:creationId xmlns:a16="http://schemas.microsoft.com/office/drawing/2014/main" id="{170C5CF7-7129-6BD6-B815-EAF32508EFB5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C7BE5E88-0734-5426-D3DF-C7901A7359D4}"/>
              </a:ext>
            </a:extLst>
          </p:cNvPr>
          <p:cNvSpPr/>
          <p:nvPr userDrawn="1"/>
        </p:nvSpPr>
        <p:spPr>
          <a:xfrm>
            <a:off x="4025317" y="4094711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 and short, concise bullet points) </a:t>
            </a:r>
            <a:br>
              <a:rPr lang="it-IT" dirty="0"/>
            </a:b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topics</a:t>
            </a:r>
            <a:r>
              <a:rPr lang="it-IT" dirty="0"/>
              <a:t> for the 4 min </a:t>
            </a:r>
            <a:r>
              <a:rPr lang="it-IT" dirty="0" err="1"/>
              <a:t>timeslot</a:t>
            </a:r>
            <a:r>
              <a:rPr lang="it-IT" dirty="0"/>
              <a:t>!</a:t>
            </a:r>
            <a:endParaRPr lang="en-GB" dirty="0"/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11100C08-BD4D-E3E4-CE88-2FD7DF2770C3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65B86036-57A0-C8C5-C8BB-699A37ABA2A8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64195E91-DEC0-2198-8D7F-F5D7511FB31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30/11/2025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0EC107A6-E0D9-69FD-44BC-CFD5F05D7C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8CC2EBC5-DD43-6B7E-A5D7-5CD5B0E30A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E7DFBCC3-CC46-17B2-DF15-92940A3865D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984858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30/11/2025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873EF994-6CA7-B763-F215-A7D1723E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3A8B7922-CD64-E421-B5E5-B7BA56CBCB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54527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1"/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6">
            <a:extLst>
              <a:ext uri="{FF2B5EF4-FFF2-40B4-BE49-F238E27FC236}">
                <a16:creationId xmlns:a16="http://schemas.microsoft.com/office/drawing/2014/main" id="{3272B118-64EE-99BB-8728-CE26B185DCFC}"/>
              </a:ext>
            </a:extLst>
          </p:cNvPr>
          <p:cNvSpPr/>
          <p:nvPr userDrawn="1"/>
        </p:nvSpPr>
        <p:spPr>
          <a:xfrm>
            <a:off x="8353959" y="1690688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CCA8528F-A469-ED70-E9CA-F25798C1A305}"/>
              </a:ext>
            </a:extLst>
          </p:cNvPr>
          <p:cNvSpPr/>
          <p:nvPr userDrawn="1"/>
        </p:nvSpPr>
        <p:spPr>
          <a:xfrm>
            <a:off x="2209800" y="3095720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Use [1], [2], [3] for </a:t>
            </a:r>
            <a:r>
              <a:rPr lang="it-IT" dirty="0" err="1"/>
              <a:t>everything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from a source (</a:t>
            </a:r>
            <a:r>
              <a:rPr lang="it-IT" dirty="0" err="1"/>
              <a:t>numbers</a:t>
            </a:r>
            <a:r>
              <a:rPr lang="it-IT" dirty="0"/>
              <a:t> </a:t>
            </a:r>
            <a:r>
              <a:rPr lang="it-IT" dirty="0" err="1"/>
              <a:t>should</a:t>
            </a:r>
            <a:r>
              <a:rPr lang="it-IT" dirty="0"/>
              <a:t> be the </a:t>
            </a:r>
            <a:r>
              <a:rPr lang="it-IT" dirty="0" err="1"/>
              <a:t>same</a:t>
            </a:r>
            <a:r>
              <a:rPr lang="it-IT" dirty="0"/>
              <a:t> like in the </a:t>
            </a:r>
            <a:r>
              <a:rPr lang="it-IT" dirty="0" err="1"/>
              <a:t>bibliography</a:t>
            </a:r>
            <a:r>
              <a:rPr lang="it-IT" dirty="0"/>
              <a:t>) (</a:t>
            </a:r>
            <a:r>
              <a:rPr lang="it-IT" dirty="0" err="1"/>
              <a:t>incl</a:t>
            </a:r>
            <a:r>
              <a:rPr lang="it-IT" dirty="0"/>
              <a:t>. pictures /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created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by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own</a:t>
            </a:r>
            <a:r>
              <a:rPr lang="it-IT" dirty="0"/>
              <a:t>, </a:t>
            </a:r>
            <a:r>
              <a:rPr lang="it-IT" dirty="0" err="1"/>
              <a:t>declare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a </a:t>
            </a:r>
            <a:r>
              <a:rPr lang="it-IT" dirty="0" err="1"/>
              <a:t>thing</a:t>
            </a:r>
            <a:r>
              <a:rPr lang="it-IT" dirty="0"/>
              <a:t> </a:t>
            </a:r>
            <a:r>
              <a:rPr lang="it-IT" dirty="0" err="1"/>
              <a:t>you’ve</a:t>
            </a:r>
            <a:r>
              <a:rPr lang="it-IT" dirty="0"/>
              <a:t> </a:t>
            </a:r>
            <a:r>
              <a:rPr lang="it-IT" dirty="0" err="1"/>
              <a:t>done</a:t>
            </a:r>
            <a:r>
              <a:rPr lang="it-IT" dirty="0"/>
              <a:t> ) [Style </a:t>
            </a:r>
            <a:r>
              <a:rPr lang="it-IT" dirty="0" err="1"/>
              <a:t>Aptos</a:t>
            </a:r>
            <a:r>
              <a:rPr lang="it-IT" dirty="0"/>
              <a:t>/14]</a:t>
            </a:r>
            <a:endParaRPr lang="en-GB" dirty="0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E1F8C099-06EF-7661-9A3C-60FE5CD4C5D5}"/>
              </a:ext>
            </a:extLst>
          </p:cNvPr>
          <p:cNvSpPr/>
          <p:nvPr userDrawn="1"/>
        </p:nvSpPr>
        <p:spPr>
          <a:xfrm>
            <a:off x="8862928" y="1838850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6E31FDF0-C963-BED4-C97E-FF9F67C07D21}"/>
              </a:ext>
            </a:extLst>
          </p:cNvPr>
          <p:cNvSpPr/>
          <p:nvPr userDrawn="1"/>
        </p:nvSpPr>
        <p:spPr>
          <a:xfrm>
            <a:off x="7312803" y="3084777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</a:p>
          <a:p>
            <a:pPr algn="ctr"/>
            <a:r>
              <a:rPr lang="it-IT" dirty="0"/>
              <a:t>an </a:t>
            </a:r>
            <a:r>
              <a:rPr lang="it-IT" dirty="0" err="1"/>
              <a:t>intial</a:t>
            </a:r>
            <a:r>
              <a:rPr lang="it-IT" dirty="0"/>
              <a:t> slide with </a:t>
            </a:r>
            <a:r>
              <a:rPr lang="it-IT" dirty="0" err="1"/>
              <a:t>all</a:t>
            </a:r>
            <a:r>
              <a:rPr lang="it-IT" dirty="0"/>
              <a:t> the tasks </a:t>
            </a:r>
            <a:r>
              <a:rPr lang="it-IT" dirty="0" err="1"/>
              <a:t>completed</a:t>
            </a:r>
            <a:r>
              <a:rPr lang="it-IT" dirty="0"/>
              <a:t> for the week </a:t>
            </a:r>
            <a:r>
              <a:rPr lang="it-IT" dirty="0" err="1"/>
              <a:t>should</a:t>
            </a:r>
            <a:r>
              <a:rPr lang="it-IT" dirty="0"/>
              <a:t> </a:t>
            </a:r>
            <a:r>
              <a:rPr lang="it-IT" dirty="0" err="1"/>
              <a:t>always</a:t>
            </a:r>
            <a:r>
              <a:rPr lang="it-IT" dirty="0"/>
              <a:t> be </a:t>
            </a:r>
            <a:r>
              <a:rPr lang="it-IT" dirty="0" err="1"/>
              <a:t>included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style, do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write</a:t>
            </a:r>
            <a:r>
              <a:rPr lang="it-IT" dirty="0"/>
              <a:t> more text </a:t>
            </a:r>
            <a:r>
              <a:rPr lang="it-IT" dirty="0" err="1"/>
              <a:t>than</a:t>
            </a:r>
            <a:r>
              <a:rPr lang="it-IT" dirty="0"/>
              <a:t> </a:t>
            </a:r>
            <a:r>
              <a:rPr lang="it-IT" dirty="0" err="1"/>
              <a:t>necessary</a:t>
            </a:r>
            <a:r>
              <a:rPr lang="it-IT" dirty="0"/>
              <a:t> (short, concise bullet points are </a:t>
            </a:r>
            <a:r>
              <a:rPr lang="it-IT" dirty="0" err="1"/>
              <a:t>often</a:t>
            </a:r>
            <a:r>
              <a:rPr lang="it-IT" dirty="0"/>
              <a:t> </a:t>
            </a:r>
            <a:r>
              <a:rPr lang="it-IT" dirty="0" err="1"/>
              <a:t>enough</a:t>
            </a:r>
            <a:r>
              <a:rPr lang="it-IT" dirty="0"/>
              <a:t>)</a:t>
            </a:r>
            <a:endParaRPr lang="en-GB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BA9FE0F-4438-A90E-178E-370DFB88F067}"/>
              </a:ext>
            </a:extLst>
          </p:cNvPr>
          <p:cNvSpPr txBox="1"/>
          <p:nvPr userDrawn="1"/>
        </p:nvSpPr>
        <p:spPr>
          <a:xfrm>
            <a:off x="812800" y="6219031"/>
            <a:ext cx="2120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[1], [2]….</a:t>
            </a:r>
          </a:p>
        </p:txBody>
      </p:sp>
      <p:cxnSp>
        <p:nvCxnSpPr>
          <p:cNvPr id="13" name="Straight Arrow Connector 21">
            <a:extLst>
              <a:ext uri="{FF2B5EF4-FFF2-40B4-BE49-F238E27FC236}">
                <a16:creationId xmlns:a16="http://schemas.microsoft.com/office/drawing/2014/main" id="{C9F1C9AE-6377-666B-8F06-CF0B8B317160}"/>
              </a:ext>
            </a:extLst>
          </p:cNvPr>
          <p:cNvCxnSpPr>
            <a:cxnSpLocks/>
          </p:cNvCxnSpPr>
          <p:nvPr userDrawn="1"/>
        </p:nvCxnSpPr>
        <p:spPr>
          <a:xfrm flipH="1">
            <a:off x="1502229" y="4898571"/>
            <a:ext cx="1487714" cy="13183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7">
            <a:extLst>
              <a:ext uri="{FF2B5EF4-FFF2-40B4-BE49-F238E27FC236}">
                <a16:creationId xmlns:a16="http://schemas.microsoft.com/office/drawing/2014/main" id="{8C56F642-24B4-9889-6DFF-DDDACEFB7E68}"/>
              </a:ext>
            </a:extLst>
          </p:cNvPr>
          <p:cNvSpPr/>
          <p:nvPr userDrawn="1"/>
        </p:nvSpPr>
        <p:spPr>
          <a:xfrm>
            <a:off x="5256400" y="16343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F5B6D5E1-3173-F7DB-AFEA-577613F3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30/11/2025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4201E827-9609-58AA-70BC-996E2AD05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E013F6E-0CEE-85C3-4AD1-ADEED88F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4C7AB516-D061-772D-6849-99EBB44689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930394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479D6A9B-7716-D398-EE18-2F2D6AC11B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5BE17EA-55E6-D579-4D1F-7901F944C6A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30/11/2025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810CEF70-3482-4FC0-A3A4-7FB408C94A4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879E7A9-C563-396E-C6B6-B45497D433B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AB8CDF8-03C0-DF20-0ABC-80A78BDABF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8435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item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22)</a:t>
            </a:r>
          </a:p>
          <a:p>
            <a:pPr lvl="1"/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20)</a:t>
            </a:r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6">
            <a:extLst>
              <a:ext uri="{FF2B5EF4-FFF2-40B4-BE49-F238E27FC236}">
                <a16:creationId xmlns:a16="http://schemas.microsoft.com/office/drawing/2014/main" id="{703A19AF-E449-D353-12E1-A3DAF32E3EAB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650D751B-3D4C-8864-D7F4-6EC8348A31EE}"/>
              </a:ext>
            </a:extLst>
          </p:cNvPr>
          <p:cNvSpPr/>
          <p:nvPr userDrawn="1"/>
        </p:nvSpPr>
        <p:spPr>
          <a:xfrm>
            <a:off x="4025317" y="4094711"/>
            <a:ext cx="3933255" cy="1298198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BUT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use </a:t>
            </a:r>
            <a:r>
              <a:rPr lang="it-IT" dirty="0" err="1"/>
              <a:t>underpoints</a:t>
            </a:r>
            <a:r>
              <a:rPr lang="it-IT" dirty="0"/>
              <a:t> </a:t>
            </a:r>
            <a:r>
              <a:rPr lang="it-IT" dirty="0" err="1"/>
              <a:t>please</a:t>
            </a:r>
            <a:r>
              <a:rPr lang="it-IT" dirty="0"/>
              <a:t> with the i, ii, iii….</a:t>
            </a:r>
            <a:endParaRPr lang="en-GB" dirty="0"/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9BDEC9EB-F30A-F42A-26C3-F9AE08765705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4BA2A1-6BBA-CA7A-578A-6529C5AD3CFE}"/>
              </a:ext>
            </a:extLst>
          </p:cNvPr>
          <p:cNvSpPr/>
          <p:nvPr userDrawn="1"/>
        </p:nvSpPr>
        <p:spPr>
          <a:xfrm>
            <a:off x="927758" y="2796999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19E5AF50-94A3-4308-3B68-BAD76E7A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30/11/2025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9798D87B-B794-AD8A-40F1-DEA4D547F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E6253E5-E305-7986-3017-8FAC6F34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7E202380-1BD6-7A10-C51A-497A42391B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73267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228F91E-E7AD-B275-5A60-89428222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/>
              <a:t>25/11/2025</a:t>
            </a: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F4F81C7-2C44-8CF8-2928-655E74DC8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60D8F3F-3088-D685-66AD-D2110FD4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29BD9540-0DAC-F607-0D84-145CAF084D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9943038B-A8F9-48D6-0A29-94D4AA659F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9733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8" name="Connector: Elbow 6">
            <a:extLst>
              <a:ext uri="{FF2B5EF4-FFF2-40B4-BE49-F238E27FC236}">
                <a16:creationId xmlns:a16="http://schemas.microsoft.com/office/drawing/2014/main" id="{7A01EE56-12C5-DD96-C172-C145A0ED64CB}"/>
              </a:ext>
            </a:extLst>
          </p:cNvPr>
          <p:cNvCxnSpPr>
            <a:cxnSpLocks/>
          </p:cNvCxnSpPr>
          <p:nvPr userDrawn="1"/>
        </p:nvCxnSpPr>
        <p:spPr>
          <a:xfrm rot="10800000" flipV="1">
            <a:off x="3791371" y="4238699"/>
            <a:ext cx="4563205" cy="122213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15">
            <a:extLst>
              <a:ext uri="{FF2B5EF4-FFF2-40B4-BE49-F238E27FC236}">
                <a16:creationId xmlns:a16="http://schemas.microsoft.com/office/drawing/2014/main" id="{EE3D1715-661B-80A0-F167-264ACC369A68}"/>
              </a:ext>
            </a:extLst>
          </p:cNvPr>
          <p:cNvSpPr/>
          <p:nvPr userDrawn="1"/>
        </p:nvSpPr>
        <p:spPr>
          <a:xfrm>
            <a:off x="7796637" y="3405202"/>
            <a:ext cx="3922209" cy="2011693"/>
          </a:xfrm>
          <a:prstGeom prst="ellips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Add</a:t>
            </a:r>
            <a:r>
              <a:rPr lang="it-IT" sz="1400" dirty="0"/>
              <a:t> a link to the </a:t>
            </a:r>
            <a:r>
              <a:rPr lang="it-IT" sz="1400" dirty="0" err="1"/>
              <a:t>reference</a:t>
            </a:r>
            <a:r>
              <a:rPr lang="it-IT" sz="1400" dirty="0"/>
              <a:t> </a:t>
            </a:r>
            <a:r>
              <a:rPr lang="it-IT" sz="1400" dirty="0" err="1"/>
              <a:t>number</a:t>
            </a:r>
            <a:r>
              <a:rPr lang="it-IT" sz="1400" dirty="0"/>
              <a:t> </a:t>
            </a:r>
            <a:r>
              <a:rPr lang="it-IT" sz="1400" dirty="0" err="1"/>
              <a:t>that</a:t>
            </a:r>
            <a:r>
              <a:rPr lang="it-IT" sz="1400" dirty="0"/>
              <a:t> </a:t>
            </a:r>
            <a:r>
              <a:rPr lang="it-IT" sz="1400" dirty="0" err="1"/>
              <a:t>goes</a:t>
            </a:r>
            <a:r>
              <a:rPr lang="it-IT" sz="1400" dirty="0"/>
              <a:t> to the last slide: highlight the </a:t>
            </a:r>
            <a:r>
              <a:rPr lang="it-IT" sz="1400" dirty="0" err="1"/>
              <a:t>number</a:t>
            </a:r>
            <a:r>
              <a:rPr lang="it-IT" sz="1400" dirty="0"/>
              <a:t>-&gt;</a:t>
            </a:r>
            <a:r>
              <a:rPr lang="it-IT" sz="1400" dirty="0" err="1"/>
              <a:t>right</a:t>
            </a:r>
            <a:r>
              <a:rPr lang="it-IT" sz="1400" dirty="0"/>
              <a:t> click-&gt;</a:t>
            </a:r>
            <a:r>
              <a:rPr lang="it-IT" sz="1400" dirty="0" err="1"/>
              <a:t>select</a:t>
            </a:r>
            <a:r>
              <a:rPr lang="it-IT" sz="1400" dirty="0"/>
              <a:t> link-&gt;place in </a:t>
            </a:r>
            <a:r>
              <a:rPr lang="it-IT" sz="1400" dirty="0" err="1"/>
              <a:t>this</a:t>
            </a:r>
            <a:r>
              <a:rPr lang="it-IT" sz="1400" dirty="0"/>
              <a:t> </a:t>
            </a:r>
            <a:r>
              <a:rPr lang="it-IT" sz="1400" dirty="0" err="1"/>
              <a:t>document</a:t>
            </a:r>
            <a:r>
              <a:rPr lang="it-IT" sz="1400" dirty="0"/>
              <a:t>-&gt;</a:t>
            </a:r>
            <a:r>
              <a:rPr lang="it-IT" sz="1400" dirty="0" err="1"/>
              <a:t>select</a:t>
            </a:r>
            <a:r>
              <a:rPr lang="it-IT" sz="1400" dirty="0"/>
              <a:t> last slide</a:t>
            </a:r>
            <a:endParaRPr lang="en-GB" sz="14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7">
            <a:extLst>
              <a:ext uri="{FF2B5EF4-FFF2-40B4-BE49-F238E27FC236}">
                <a16:creationId xmlns:a16="http://schemas.microsoft.com/office/drawing/2014/main" id="{A1188C36-D6CB-FA53-013E-FC56AD427952}"/>
              </a:ext>
            </a:extLst>
          </p:cNvPr>
          <p:cNvSpPr/>
          <p:nvPr userDrawn="1"/>
        </p:nvSpPr>
        <p:spPr>
          <a:xfrm>
            <a:off x="6495002" y="1875014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749D4654-CB69-04EA-986A-2264B7AF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30/11/2025</a:t>
            </a:fld>
            <a:endParaRPr lang="en-GB" dirty="0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FC28337D-790B-E06F-0074-04AA48B92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2A63292-0139-33E2-79E8-D1F485A4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596BA109-7562-188F-19E6-BAFF28DC5C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86484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8D8651D-3525-44E9-EF74-5AE1C96E2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30/11/2025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FC35C132-0CB8-F9A6-EC6C-F3AC1F1B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22F58FF-5AD5-CF97-4FEE-FB1F38CD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platzhalter 16">
            <a:extLst>
              <a:ext uri="{FF2B5EF4-FFF2-40B4-BE49-F238E27FC236}">
                <a16:creationId xmlns:a16="http://schemas.microsoft.com/office/drawing/2014/main" id="{DC21B0DD-4D97-871C-E587-F10AD55D8B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1072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6" name="Straight Arrow Connector 21">
            <a:extLst>
              <a:ext uri="{FF2B5EF4-FFF2-40B4-BE49-F238E27FC236}">
                <a16:creationId xmlns:a16="http://schemas.microsoft.com/office/drawing/2014/main" id="{9B5BA113-ABD0-9B33-1E2F-5863B083FE2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994031" y="2734408"/>
            <a:ext cx="1245576" cy="18375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22">
            <a:extLst>
              <a:ext uri="{FF2B5EF4-FFF2-40B4-BE49-F238E27FC236}">
                <a16:creationId xmlns:a16="http://schemas.microsoft.com/office/drawing/2014/main" id="{59531AAE-8AA3-6039-F69E-EDD1AF57C810}"/>
              </a:ext>
            </a:extLst>
          </p:cNvPr>
          <p:cNvSpPr/>
          <p:nvPr userDrawn="1"/>
        </p:nvSpPr>
        <p:spPr>
          <a:xfrm>
            <a:off x="4475285" y="4572000"/>
            <a:ext cx="5969977" cy="167786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The style </a:t>
            </a:r>
            <a:r>
              <a:rPr lang="it-IT" dirty="0" err="1"/>
              <a:t>chosen</a:t>
            </a:r>
            <a:r>
              <a:rPr lang="it-IT" dirty="0"/>
              <a:t> for </a:t>
            </a:r>
            <a:r>
              <a:rPr lang="it-IT" dirty="0" err="1"/>
              <a:t>citation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IEEE, so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citation</a:t>
            </a:r>
            <a:r>
              <a:rPr lang="it-IT" dirty="0"/>
              <a:t> follow </a:t>
            </a:r>
            <a:r>
              <a:rPr lang="it-IT" dirty="0" err="1"/>
              <a:t>that</a:t>
            </a:r>
            <a:r>
              <a:rPr lang="it-IT" dirty="0"/>
              <a:t> style.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an IEEE </a:t>
            </a:r>
            <a:r>
              <a:rPr lang="it-IT" dirty="0" err="1"/>
              <a:t>citation</a:t>
            </a:r>
            <a:r>
              <a:rPr lang="it-IT" dirty="0"/>
              <a:t> from a website, </a:t>
            </a:r>
            <a:r>
              <a:rPr lang="it-IT" dirty="0" err="1"/>
              <a:t>you</a:t>
            </a:r>
            <a:r>
              <a:rPr lang="it-IT" dirty="0"/>
              <a:t> can use some free </a:t>
            </a:r>
            <a:r>
              <a:rPr lang="it-IT" dirty="0" err="1"/>
              <a:t>converters</a:t>
            </a:r>
            <a:r>
              <a:rPr lang="it-IT" dirty="0"/>
              <a:t> </a:t>
            </a:r>
            <a:r>
              <a:rPr lang="it-IT" dirty="0" err="1"/>
              <a:t>available</a:t>
            </a:r>
            <a:r>
              <a:rPr lang="it-IT" dirty="0"/>
              <a:t> on the internet, like:</a:t>
            </a:r>
          </a:p>
          <a:p>
            <a:pPr algn="ctr"/>
            <a:r>
              <a:rPr lang="en-GB" b="1" dirty="0">
                <a:hlinkClick r:id="rId2"/>
              </a:rPr>
              <a:t>https://www.mybib.com/tools/ieee-citation-generator</a:t>
            </a:r>
            <a:r>
              <a:rPr lang="en-GB" b="1" dirty="0"/>
              <a:t> </a:t>
            </a:r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7">
            <a:extLst>
              <a:ext uri="{FF2B5EF4-FFF2-40B4-BE49-F238E27FC236}">
                <a16:creationId xmlns:a16="http://schemas.microsoft.com/office/drawing/2014/main" id="{226F6F8F-D65D-4B43-5785-E89E617F8616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30/11/2025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527D13C7-4982-3CF9-E6C0-8109C888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A21B8924-2541-A57C-7990-899E2DC11F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096439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30/11/2025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A36B392-F5AC-41D8-5903-3EE036BA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5E735FEA-D591-2E8E-B9B4-2A6BAFE00D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223280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6092FF3-E2C2-B5C5-579F-21F140EB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30/11/2025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5AD0AE9-D3B7-2239-8DBB-350367E7D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1BD0BA0-666C-E532-C68B-11386947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027E2607-9D4B-3DD5-A6A2-FC3CB80BCC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423501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4EB4231A-B976-E0CE-75F3-D34A6911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30/11/2025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2E601F58-36C8-D2D9-A619-7EE495853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BFB4D11-F600-12A5-E5C2-DCA39033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Textplatzhalter 16">
            <a:extLst>
              <a:ext uri="{FF2B5EF4-FFF2-40B4-BE49-F238E27FC236}">
                <a16:creationId xmlns:a16="http://schemas.microsoft.com/office/drawing/2014/main" id="{39AFE95F-2805-F887-3AF4-313C835B17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37897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9CAB1E-C3D8-B43B-64D5-963D13F3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30/11/2025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B3E84C0-2A5E-8136-84E3-1F57CD264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9EE80A-8782-7800-16FF-963D026B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CFBF4831-0820-F79B-E15A-914A0E578D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5370099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3342531-5FA3-5F71-CEB1-CFCD86F17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30/11/2025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0D108632-F456-C23D-6809-CF44E36A5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4F6375C-67FA-9BF2-A821-A5611C21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E6CFA6E-C964-BB71-3D6D-D966EE4660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8465591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DAC50BC-A24B-779F-0533-7A27D611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30/11/2025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2B06DBDC-0EA1-59AB-DB5D-AEE297E61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EB43FC5-BB47-1A87-75C6-C0AFB5C7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80B36F8-3A7C-6F05-A0AB-F3F43BA0922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126135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C34C088-08EA-3896-8F05-16D82C511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30/11/2025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8EA7E74-7B1F-8648-209E-BFE07FF1E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2B97D1D-1741-1791-CBA3-FA5CA67C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6A2FA29E-F5F4-39E0-E0C6-CACC20E04F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2687113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5945ED5-EBD1-3567-F959-B92E831E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30/11/2025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BB6A4D0-1BA6-C02F-BE18-391B96E9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12E4BF-484F-C87E-8228-534B62A6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A24C13F3-9C79-1E9F-ED48-61D2AD9586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0701898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30/09/2025</a:t>
            </a:r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Tower structure team/ Optimus Syria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53809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30.11.2025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03315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30.11.2025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283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30.11.2025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21964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30.11.2025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16522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30.11.2025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20082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30.11.2025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292340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30.11.2025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59258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30.11.2025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493959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30.11.2025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198523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30.11.2025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09551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 userDrawn="1"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 dirty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62B0D505-239D-592F-D28C-2537FD6A64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2399" y="4130862"/>
            <a:ext cx="3822700" cy="164669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Date: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202X</a:t>
            </a:r>
          </a:p>
          <a:p>
            <a:pPr lvl="4"/>
            <a:endParaRPr lang="de-DE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35806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33" name="Isosceles Triangle 6">
            <a:extLst>
              <a:ext uri="{FF2B5EF4-FFF2-40B4-BE49-F238E27FC236}">
                <a16:creationId xmlns:a16="http://schemas.microsoft.com/office/drawing/2014/main" id="{8F14EFAA-BA4A-16CF-D530-1409613BCF5B}"/>
              </a:ext>
            </a:extLst>
          </p:cNvPr>
          <p:cNvSpPr/>
          <p:nvPr userDrawn="1"/>
        </p:nvSpPr>
        <p:spPr>
          <a:xfrm>
            <a:off x="1412841" y="3797919"/>
            <a:ext cx="1380683" cy="886192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Rectangle 7">
            <a:extLst>
              <a:ext uri="{FF2B5EF4-FFF2-40B4-BE49-F238E27FC236}">
                <a16:creationId xmlns:a16="http://schemas.microsoft.com/office/drawing/2014/main" id="{8CE1E011-6342-172C-03D6-BB39C24A4CCA}"/>
              </a:ext>
            </a:extLst>
          </p:cNvPr>
          <p:cNvSpPr/>
          <p:nvPr userDrawn="1"/>
        </p:nvSpPr>
        <p:spPr>
          <a:xfrm>
            <a:off x="354584" y="4714776"/>
            <a:ext cx="3512337" cy="95079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First slide for groups</a:t>
            </a:r>
            <a:endParaRPr lang="en-GB" dirty="0"/>
          </a:p>
        </p:txBody>
      </p:sp>
      <p:sp>
        <p:nvSpPr>
          <p:cNvPr id="35" name="Rectangle 11">
            <a:extLst>
              <a:ext uri="{FF2B5EF4-FFF2-40B4-BE49-F238E27FC236}">
                <a16:creationId xmlns:a16="http://schemas.microsoft.com/office/drawing/2014/main" id="{6845F127-8728-66DF-03BE-17119A20BE05}"/>
              </a:ext>
            </a:extLst>
          </p:cNvPr>
          <p:cNvSpPr/>
          <p:nvPr userDrawn="1"/>
        </p:nvSpPr>
        <p:spPr>
          <a:xfrm>
            <a:off x="1860787" y="3750629"/>
            <a:ext cx="48478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C16AED5E-219C-C34B-7790-17DE2532E62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Rectangle 7">
            <a:extLst>
              <a:ext uri="{FF2B5EF4-FFF2-40B4-BE49-F238E27FC236}">
                <a16:creationId xmlns:a16="http://schemas.microsoft.com/office/drawing/2014/main" id="{CA471AD5-5F65-3AF9-9ABB-E6F7475B2672}"/>
              </a:ext>
            </a:extLst>
          </p:cNvPr>
          <p:cNvSpPr/>
          <p:nvPr userDrawn="1"/>
        </p:nvSpPr>
        <p:spPr>
          <a:xfrm>
            <a:off x="8606553" y="40430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/>
          <a:lstStyle/>
          <a:p>
            <a:fld id="{02AEE8E4-D792-40D2-B8D4-0007E21A0CF8}" type="datetime1">
              <a:rPr lang="en-GB" smtClean="0"/>
              <a:t>30/11/2025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844284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5588F89-BF05-8BCF-9834-AE05DA2404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3077A87-075C-C9F1-CF08-7A350F77E61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B3C889B-2F55-2C2F-122E-E89ABE6A2D95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/>
          <a:lstStyle/>
          <a:p>
            <a:fld id="{02AEE8E4-D792-40D2-B8D4-0007E21A0CF8}" type="datetime1">
              <a:rPr lang="en-GB" smtClean="0"/>
              <a:t>30/11/2025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2877DC7-CA1E-181B-77C7-99C60829ED5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Optimus Syria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43E1ABD-9DAE-E035-8B0B-D41EFED3FC8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47730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2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D36E4AE-BF2C-D504-0887-03D81D07CDC8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7" name="Free-form: Shape 13">
            <a:extLst>
              <a:ext uri="{FF2B5EF4-FFF2-40B4-BE49-F238E27FC236}">
                <a16:creationId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30/09/2025</a:t>
            </a:r>
          </a:p>
        </p:txBody>
      </p:sp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BD3F4B-4853-EC8E-00EB-5109F86CE0F1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Free-form: Shape 13">
            <a:extLst>
              <a:ext uri="{FF2B5EF4-FFF2-40B4-BE49-F238E27FC236}">
                <a16:creationId xmlns:a16="http://schemas.microsoft.com/office/drawing/2014/main" id="{2BF40EC9-0D42-5E08-04BD-F330229C7518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:a16="http://schemas.microsoft.com/office/drawing/2014/main" id="{0BB1BAA4-B843-57F3-9FCE-C9585D332FAE}"/>
              </a:ext>
            </a:extLst>
          </p:cNvPr>
          <p:cNvSpPr/>
          <p:nvPr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3178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63" r:id="rId2"/>
    <p:sldLayoutId id="2147483686" r:id="rId3"/>
    <p:sldLayoutId id="2147483674" r:id="rId4"/>
    <p:sldLayoutId id="2147483685" r:id="rId5"/>
    <p:sldLayoutId id="2147483684" r:id="rId6"/>
    <p:sldLayoutId id="2147483688" r:id="rId7"/>
    <p:sldLayoutId id="2147483666" r:id="rId8"/>
    <p:sldLayoutId id="2147483689" r:id="rId9"/>
    <p:sldLayoutId id="2147483662" r:id="rId10"/>
    <p:sldLayoutId id="2147483690" r:id="rId11"/>
    <p:sldLayoutId id="2147483664" r:id="rId12"/>
    <p:sldLayoutId id="2147483665" r:id="rId13"/>
    <p:sldLayoutId id="2147483667" r:id="rId14"/>
    <p:sldLayoutId id="2147483668" r:id="rId15"/>
    <p:sldLayoutId id="2147483669" r:id="rId16"/>
    <p:sldLayoutId id="2147483670" r:id="rId17"/>
    <p:sldLayoutId id="2147483671" r:id="rId1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7" name="Datumsplatzhalter 4">
            <a:extLst>
              <a:ext uri="{FF2B5EF4-FFF2-40B4-BE49-F238E27FC236}">
                <a16:creationId xmlns:a16="http://schemas.microsoft.com/office/drawing/2014/main" id="{626B2514-13D3-FEE4-A76A-25778AA004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76303"/>
            <a:ext cx="111137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r>
              <a:rPr lang="en-GB"/>
              <a:t>30/09/2025</a:t>
            </a:r>
            <a:endParaRPr lang="en-GB" dirty="0"/>
          </a:p>
        </p:txBody>
      </p:sp>
      <p:sp>
        <p:nvSpPr>
          <p:cNvPr id="8" name="Fußzeilenplatzhalter 5">
            <a:extLst>
              <a:ext uri="{FF2B5EF4-FFF2-40B4-BE49-F238E27FC236}">
                <a16:creationId xmlns:a16="http://schemas.microsoft.com/office/drawing/2014/main" id="{8F11D7F1-39D2-6CD0-A45E-2199A3CF9435}"/>
              </a:ext>
            </a:extLst>
          </p:cNvPr>
          <p:cNvSpPr txBox="1">
            <a:spLocks/>
          </p:cNvSpPr>
          <p:nvPr/>
        </p:nvSpPr>
        <p:spPr>
          <a:xfrm>
            <a:off x="8474613" y="6373613"/>
            <a:ext cx="287918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/>
              <a:t>Tower structure team/ Optimus Syria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4289160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5620995-1DFE-FB81-B1FD-1F43AD25E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9FFA78-25BC-8AF7-71C4-CCA91A932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A1141D-8ADF-66F7-AB0C-CAA4E1B2C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Datumsplatzhalter 4">
            <a:extLst>
              <a:ext uri="{FF2B5EF4-FFF2-40B4-BE49-F238E27FC236}">
                <a16:creationId xmlns:a16="http://schemas.microsoft.com/office/drawing/2014/main" id="{626B2514-13D3-FEE4-A76A-25778AA004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16003"/>
            <a:ext cx="111137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en-GB"/>
              <a:t>30/09/2025</a:t>
            </a:r>
            <a:endParaRPr lang="en-GB" dirty="0"/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8F11D7F1-39D2-6CD0-A45E-2199A3CF9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13313"/>
            <a:ext cx="2879187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en-GB"/>
              <a:t>Tower structure team/ Optimus Syria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1557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5" r:id="rId2"/>
    <p:sldLayoutId id="2147483676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7FF1E788-369D-9A8F-8F84-AD852E9D2E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b="1" dirty="0">
                <a:latin typeface="Times New Roman" pitchFamily="18" charset="0"/>
                <a:cs typeface="Times New Roman" pitchFamily="18" charset="0"/>
              </a:rPr>
              <a:t>Weekly report: Tower structure </a:t>
            </a:r>
            <a:endParaRPr lang="en-GB" b="1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77A63BB-08BE-619B-2533-3CC69CC19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2032000"/>
          </a:xfrm>
        </p:spPr>
        <p:txBody>
          <a:bodyPr>
            <a:normAutofit/>
          </a:bodyPr>
          <a:lstStyle/>
          <a:p>
            <a:r>
              <a:rPr lang="it-IT" sz="2000" dirty="0">
                <a:latin typeface="Times New Roman" pitchFamily="18" charset="0"/>
                <a:cs typeface="Times New Roman" pitchFamily="18" charset="0"/>
              </a:rPr>
              <a:t>Week number: 10</a:t>
            </a:r>
          </a:p>
          <a:p>
            <a:r>
              <a:rPr lang="it-IT" sz="2000" dirty="0">
                <a:latin typeface="Times New Roman" pitchFamily="18" charset="0"/>
                <a:cs typeface="Times New Roman" pitchFamily="18" charset="0"/>
              </a:rPr>
              <a:t>Date: 02/12/2025</a:t>
            </a:r>
          </a:p>
          <a:p>
            <a:r>
              <a:rPr lang="it-IT" sz="2000" dirty="0">
                <a:latin typeface="Times New Roman" pitchFamily="18" charset="0"/>
                <a:cs typeface="Times New Roman" pitchFamily="18" charset="0"/>
              </a:rPr>
              <a:t>Supervisor: Prof. Faber</a:t>
            </a:r>
            <a:endParaRPr lang="en-GB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132D16E5-6BE7-8FC8-CFB3-81C918BB45F1}"/>
              </a:ext>
            </a:extLst>
          </p:cNvPr>
          <p:cNvSpPr txBox="1"/>
          <p:nvPr/>
        </p:nvSpPr>
        <p:spPr>
          <a:xfrm>
            <a:off x="2172911" y="4701104"/>
            <a:ext cx="73706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latin typeface="Times New Roman" pitchFamily="18" charset="0"/>
                <a:cs typeface="Times New Roman" pitchFamily="18" charset="0"/>
              </a:rPr>
              <a:t>Group members:  Ibrahim Mostafa, Mohammed Eldemerdash, Kirollos Ghaly</a:t>
            </a:r>
          </a:p>
        </p:txBody>
      </p:sp>
      <p:sp>
        <p:nvSpPr>
          <p:cNvPr id="2" name="Textfeld 12">
            <a:extLst>
              <a:ext uri="{FF2B5EF4-FFF2-40B4-BE49-F238E27FC236}">
                <a16:creationId xmlns:a16="http://schemas.microsoft.com/office/drawing/2014/main" id="{F1A690F4-D79D-8EBC-12DE-D491129BCFF6}"/>
              </a:ext>
            </a:extLst>
          </p:cNvPr>
          <p:cNvSpPr txBox="1"/>
          <p:nvPr/>
        </p:nvSpPr>
        <p:spPr>
          <a:xfrm>
            <a:off x="2172911" y="5081052"/>
            <a:ext cx="73706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>
                <a:latin typeface="Times New Roman" pitchFamily="18" charset="0"/>
                <a:cs typeface="Times New Roman" pitchFamily="18" charset="0"/>
              </a:rPr>
              <a:t>Speaker: Ibrahim Mostafa(770134)</a:t>
            </a:r>
          </a:p>
        </p:txBody>
      </p:sp>
      <p:sp>
        <p:nvSpPr>
          <p:cNvPr id="9" name="Foliennummernplatzhalter 24">
            <a:extLst>
              <a:ext uri="{FF2B5EF4-FFF2-40B4-BE49-F238E27FC236}">
                <a16:creationId xmlns:a16="http://schemas.microsoft.com/office/drawing/2014/main" id="{98408CB7-B6A0-46F5-ABCE-5E527AA1E6EC}"/>
              </a:ext>
            </a:extLst>
          </p:cNvPr>
          <p:cNvSpPr txBox="1">
            <a:spLocks/>
          </p:cNvSpPr>
          <p:nvPr/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/>
              <a:t> </a:t>
            </a:r>
            <a:fld id="{013F6232-4F06-48BA-8F69-BF531F607829}" type="slidenum">
              <a:rPr lang="en-GB" smtClean="0"/>
              <a:pPr algn="ctr"/>
              <a:t>1</a:t>
            </a:fld>
            <a:endParaRPr lang="en-GB" dirty="0"/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6C33708F-5C1C-4DEB-9893-96704EE48E03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15" name="Datumsplatzhalter 4">
            <a:extLst>
              <a:ext uri="{FF2B5EF4-FFF2-40B4-BE49-F238E27FC236}">
                <a16:creationId xmlns:a16="http://schemas.microsoft.com/office/drawing/2014/main" id="{E62260CD-B144-4EB9-8D9D-216FC0CC9477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02/12/2025</a:t>
            </a:r>
          </a:p>
        </p:txBody>
      </p:sp>
      <p:sp>
        <p:nvSpPr>
          <p:cNvPr id="3" name="Textfeld 12">
            <a:extLst>
              <a:ext uri="{FF2B5EF4-FFF2-40B4-BE49-F238E27FC236}">
                <a16:creationId xmlns:a16="http://schemas.microsoft.com/office/drawing/2014/main" id="{3BC03542-2B92-A4E1-0654-209FC0C40074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Speaker: Ibrahim Mostafa (770134)</a:t>
            </a:r>
          </a:p>
        </p:txBody>
      </p:sp>
    </p:spTree>
    <p:extLst>
      <p:ext uri="{BB962C8B-B14F-4D97-AF65-F5344CB8AC3E}">
        <p14:creationId xmlns:p14="http://schemas.microsoft.com/office/powerpoint/2010/main" val="1515102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 21">
            <a:extLst>
              <a:ext uri="{FF2B5EF4-FFF2-40B4-BE49-F238E27FC236}">
                <a16:creationId xmlns:a16="http://schemas.microsoft.com/office/drawing/2014/main" id="{C01C5AA7-5821-01BD-1AC8-74837347C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List of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87400" y="1760220"/>
            <a:ext cx="10261600" cy="27509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50000"/>
              </a:lnSpc>
              <a:buFont typeface="Arial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Recalculation of the Eigenfrequency, Campbell diagram with the operational range</a:t>
            </a:r>
          </a:p>
          <a:p>
            <a:pPr marL="285750" indent="-285750">
              <a:lnSpc>
                <a:spcPct val="250000"/>
              </a:lnSpc>
              <a:buFont typeface="Arial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the flange connection</a:t>
            </a:r>
          </a:p>
          <a:p>
            <a:pPr marL="285750" indent="-285750">
              <a:lnSpc>
                <a:spcPct val="250000"/>
              </a:lnSpc>
              <a:buFont typeface="Arial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next task</a:t>
            </a:r>
          </a:p>
          <a:p>
            <a:pPr marL="285750" indent="-285750">
              <a:lnSpc>
                <a:spcPct val="250000"/>
              </a:lnSpc>
              <a:buFont typeface="Arial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b="1" dirty="0"/>
          </a:p>
        </p:txBody>
      </p:sp>
      <p:sp>
        <p:nvSpPr>
          <p:cNvPr id="7" name="Foliennummernplatzhalter 24">
            <a:extLst>
              <a:ext uri="{FF2B5EF4-FFF2-40B4-BE49-F238E27FC236}">
                <a16:creationId xmlns:a16="http://schemas.microsoft.com/office/drawing/2014/main" id="{0E3436C3-5E09-0CA3-6E5B-BF6116E9198C}"/>
              </a:ext>
            </a:extLst>
          </p:cNvPr>
          <p:cNvSpPr txBox="1">
            <a:spLocks/>
          </p:cNvSpPr>
          <p:nvPr/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/>
              <a:t> </a:t>
            </a:r>
            <a:fld id="{013F6232-4F06-48BA-8F69-BF531F607829}" type="slidenum">
              <a:rPr lang="en-GB" smtClean="0"/>
              <a:pPr algn="ctr"/>
              <a:t>2</a:t>
            </a:fld>
            <a:endParaRPr lang="en-GB" dirty="0"/>
          </a:p>
        </p:txBody>
      </p:sp>
      <p:sp>
        <p:nvSpPr>
          <p:cNvPr id="8" name="Fußzeilenplatzhalter 5">
            <a:extLst>
              <a:ext uri="{FF2B5EF4-FFF2-40B4-BE49-F238E27FC236}">
                <a16:creationId xmlns:a16="http://schemas.microsoft.com/office/drawing/2014/main" id="{6E1B0336-21E3-007F-1A36-C38E75573C78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9" name="Datumsplatzhalter 4">
            <a:extLst>
              <a:ext uri="{FF2B5EF4-FFF2-40B4-BE49-F238E27FC236}">
                <a16:creationId xmlns:a16="http://schemas.microsoft.com/office/drawing/2014/main" id="{9DC01AF2-16A9-2A71-F2FE-96A3B482BC49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02/12/2025</a:t>
            </a:r>
          </a:p>
        </p:txBody>
      </p:sp>
      <p:sp>
        <p:nvSpPr>
          <p:cNvPr id="10" name="Textfeld 12">
            <a:extLst>
              <a:ext uri="{FF2B5EF4-FFF2-40B4-BE49-F238E27FC236}">
                <a16:creationId xmlns:a16="http://schemas.microsoft.com/office/drawing/2014/main" id="{3B0F3E16-14CF-B35B-EF09-C2C57F747331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Speaker: Ibrahim Mostafa (770134)</a:t>
            </a:r>
          </a:p>
        </p:txBody>
      </p:sp>
    </p:spTree>
    <p:extLst>
      <p:ext uri="{BB962C8B-B14F-4D97-AF65-F5344CB8AC3E}">
        <p14:creationId xmlns:p14="http://schemas.microsoft.com/office/powerpoint/2010/main" val="1106553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E89BE0-8129-4F81-D962-85279270B1A0}"/>
              </a:ext>
            </a:extLst>
          </p:cNvPr>
          <p:cNvSpPr txBox="1"/>
          <p:nvPr/>
        </p:nvSpPr>
        <p:spPr>
          <a:xfrm>
            <a:off x="705966" y="691247"/>
            <a:ext cx="46739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Calculation of the Eigenfrequency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19C08E-F34F-522D-83E9-C18801696BD8}"/>
              </a:ext>
            </a:extLst>
          </p:cNvPr>
          <p:cNvSpPr txBox="1"/>
          <p:nvPr/>
        </p:nvSpPr>
        <p:spPr>
          <a:xfrm>
            <a:off x="4366960" y="6309629"/>
            <a:ext cx="35504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/>
              <a:t>Fig : calculation of the eigen frequency using Ansys</a:t>
            </a:r>
            <a:endParaRPr lang="en-DE" sz="1200" dirty="0"/>
          </a:p>
        </p:txBody>
      </p:sp>
      <p:pic>
        <p:nvPicPr>
          <p:cNvPr id="4" name="Picture 3" descr="A computer screen shot of a pencil&#10;&#10;AI-generated content may be incorrect.">
            <a:extLst>
              <a:ext uri="{FF2B5EF4-FFF2-40B4-BE49-F238E27FC236}">
                <a16:creationId xmlns:a16="http://schemas.microsoft.com/office/drawing/2014/main" id="{961FC0D0-F3DF-DE7E-A1D6-E37A150E9B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276" y="1324458"/>
            <a:ext cx="9305141" cy="4997025"/>
          </a:xfrm>
          <a:prstGeom prst="rect">
            <a:avLst/>
          </a:prstGeom>
        </p:spPr>
      </p:pic>
      <p:sp>
        <p:nvSpPr>
          <p:cNvPr id="6" name="Foliennummernplatzhalter 24">
            <a:extLst>
              <a:ext uri="{FF2B5EF4-FFF2-40B4-BE49-F238E27FC236}">
                <a16:creationId xmlns:a16="http://schemas.microsoft.com/office/drawing/2014/main" id="{869B8607-9161-1F2B-0A0D-5D770F75EFDD}"/>
              </a:ext>
            </a:extLst>
          </p:cNvPr>
          <p:cNvSpPr txBox="1">
            <a:spLocks/>
          </p:cNvSpPr>
          <p:nvPr/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/>
              <a:t> </a:t>
            </a:r>
            <a:fld id="{013F6232-4F06-48BA-8F69-BF531F607829}" type="slidenum">
              <a:rPr lang="en-GB" smtClean="0"/>
              <a:pPr algn="ctr"/>
              <a:t>3</a:t>
            </a:fld>
            <a:endParaRPr lang="en-GB" dirty="0"/>
          </a:p>
        </p:txBody>
      </p:sp>
      <p:sp>
        <p:nvSpPr>
          <p:cNvPr id="7" name="Fußzeilenplatzhalter 5">
            <a:extLst>
              <a:ext uri="{FF2B5EF4-FFF2-40B4-BE49-F238E27FC236}">
                <a16:creationId xmlns:a16="http://schemas.microsoft.com/office/drawing/2014/main" id="{954F10BB-1115-8BD6-5D97-35AFCA6E2864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10" name="Datumsplatzhalter 4">
            <a:extLst>
              <a:ext uri="{FF2B5EF4-FFF2-40B4-BE49-F238E27FC236}">
                <a16:creationId xmlns:a16="http://schemas.microsoft.com/office/drawing/2014/main" id="{32197F83-AFDC-5967-9B77-9B2DE31FBDA9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02/12/2025</a:t>
            </a:r>
          </a:p>
        </p:txBody>
      </p:sp>
      <p:sp>
        <p:nvSpPr>
          <p:cNvPr id="11" name="Textfeld 12">
            <a:extLst>
              <a:ext uri="{FF2B5EF4-FFF2-40B4-BE49-F238E27FC236}">
                <a16:creationId xmlns:a16="http://schemas.microsoft.com/office/drawing/2014/main" id="{2DD1F392-09AC-7534-8247-58DAC75D20CC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Speaker: Ibrahim Mostafa (770134)</a:t>
            </a:r>
          </a:p>
        </p:txBody>
      </p:sp>
    </p:spTree>
    <p:extLst>
      <p:ext uri="{BB962C8B-B14F-4D97-AF65-F5344CB8AC3E}">
        <p14:creationId xmlns:p14="http://schemas.microsoft.com/office/powerpoint/2010/main" val="1469653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23F35-37EA-7B5A-F7AB-A2F3B508D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8529976-C793-E8C7-1D75-03C78CA1045F}"/>
              </a:ext>
            </a:extLst>
          </p:cNvPr>
          <p:cNvSpPr txBox="1"/>
          <p:nvPr/>
        </p:nvSpPr>
        <p:spPr>
          <a:xfrm>
            <a:off x="705966" y="691247"/>
            <a:ext cx="26548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Campbell diagram</a:t>
            </a:r>
          </a:p>
        </p:txBody>
      </p:sp>
      <p:pic>
        <p:nvPicPr>
          <p:cNvPr id="7" name="Picture 6" descr="A screenshot of a math problem&#10;&#10;AI-generated content may be incorrect.">
            <a:extLst>
              <a:ext uri="{FF2B5EF4-FFF2-40B4-BE49-F238E27FC236}">
                <a16:creationId xmlns:a16="http://schemas.microsoft.com/office/drawing/2014/main" id="{6A695B49-336C-27F9-F48F-A1A052046B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405" y="1619872"/>
            <a:ext cx="5397777" cy="4553184"/>
          </a:xfrm>
          <a:prstGeom prst="rect">
            <a:avLst/>
          </a:prstGeom>
        </p:spPr>
      </p:pic>
      <p:pic>
        <p:nvPicPr>
          <p:cNvPr id="9" name="Picture 8" descr="A screenshot of a calculator&#10;&#10;AI-generated content may be incorrect.">
            <a:extLst>
              <a:ext uri="{FF2B5EF4-FFF2-40B4-BE49-F238E27FC236}">
                <a16:creationId xmlns:a16="http://schemas.microsoft.com/office/drawing/2014/main" id="{2654BBB0-5555-A528-7A81-A781186CE0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6122" y="1688296"/>
            <a:ext cx="5962956" cy="3549832"/>
          </a:xfrm>
          <a:prstGeom prst="rect">
            <a:avLst/>
          </a:prstGeom>
        </p:spPr>
      </p:pic>
      <p:sp>
        <p:nvSpPr>
          <p:cNvPr id="10" name="Foliennummernplatzhalter 24">
            <a:extLst>
              <a:ext uri="{FF2B5EF4-FFF2-40B4-BE49-F238E27FC236}">
                <a16:creationId xmlns:a16="http://schemas.microsoft.com/office/drawing/2014/main" id="{39AE4F53-607B-9A98-4DA5-A5AD5B719867}"/>
              </a:ext>
            </a:extLst>
          </p:cNvPr>
          <p:cNvSpPr txBox="1">
            <a:spLocks/>
          </p:cNvSpPr>
          <p:nvPr/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/>
              <a:t> </a:t>
            </a:r>
            <a:fld id="{013F6232-4F06-48BA-8F69-BF531F607829}" type="slidenum">
              <a:rPr lang="en-GB" smtClean="0"/>
              <a:pPr algn="ctr"/>
              <a:t>4</a:t>
            </a:fld>
            <a:endParaRPr lang="en-GB" dirty="0"/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519088AC-53A7-E18F-B50E-91C63CE1AC6C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12" name="Datumsplatzhalter 4">
            <a:extLst>
              <a:ext uri="{FF2B5EF4-FFF2-40B4-BE49-F238E27FC236}">
                <a16:creationId xmlns:a16="http://schemas.microsoft.com/office/drawing/2014/main" id="{F6499574-E318-75F9-9F72-4ED4ED0DE725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02/12/2025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2F123C85-CE65-0BA4-3AE1-46A748F51DD5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Speaker: Ibrahim Mostafa (770134)</a:t>
            </a:r>
          </a:p>
        </p:txBody>
      </p:sp>
    </p:spTree>
    <p:extLst>
      <p:ext uri="{BB962C8B-B14F-4D97-AF65-F5344CB8AC3E}">
        <p14:creationId xmlns:p14="http://schemas.microsoft.com/office/powerpoint/2010/main" val="3724349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E248F-0B7B-5EC0-D8F8-62DACA885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62E248F-E471-BADA-28FB-AD53EEDD6917}"/>
              </a:ext>
            </a:extLst>
          </p:cNvPr>
          <p:cNvSpPr txBox="1"/>
          <p:nvPr/>
        </p:nvSpPr>
        <p:spPr>
          <a:xfrm>
            <a:off x="705966" y="691247"/>
            <a:ext cx="26548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Campbell diagram</a:t>
            </a:r>
          </a:p>
        </p:txBody>
      </p:sp>
      <p:pic>
        <p:nvPicPr>
          <p:cNvPr id="4" name="Picture 3" descr="A graph of a motor speed&#10;&#10;AI-generated content may be incorrect.">
            <a:extLst>
              <a:ext uri="{FF2B5EF4-FFF2-40B4-BE49-F238E27FC236}">
                <a16:creationId xmlns:a16="http://schemas.microsoft.com/office/drawing/2014/main" id="{516D6C7C-7FE1-BDAB-2ADF-48F0F165CA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17463"/>
            <a:ext cx="9158870" cy="45190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E5E46A-250F-C94A-998E-10A6B7043A28}"/>
              </a:ext>
            </a:extLst>
          </p:cNvPr>
          <p:cNvSpPr txBox="1"/>
          <p:nvPr/>
        </p:nvSpPr>
        <p:spPr>
          <a:xfrm>
            <a:off x="3927083" y="6151596"/>
            <a:ext cx="38448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/>
              <a:t>Fig : operational range of the rotor on </a:t>
            </a:r>
            <a:r>
              <a:rPr lang="en-US" sz="1200" dirty="0" err="1"/>
              <a:t>campbell</a:t>
            </a:r>
            <a:r>
              <a:rPr lang="en-US" sz="1200" dirty="0"/>
              <a:t> diagram</a:t>
            </a:r>
            <a:endParaRPr lang="en-DE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DF445A-3196-0DD7-D6E5-436BDBE082B2}"/>
              </a:ext>
            </a:extLst>
          </p:cNvPr>
          <p:cNvSpPr txBox="1"/>
          <p:nvPr/>
        </p:nvSpPr>
        <p:spPr>
          <a:xfrm>
            <a:off x="2679105" y="5495661"/>
            <a:ext cx="9289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/>
              <a:t>6.6</a:t>
            </a:r>
            <a:endParaRPr lang="en-DE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19E1F5-6D54-1510-AC46-75924CBB3931}"/>
              </a:ext>
            </a:extLst>
          </p:cNvPr>
          <p:cNvSpPr txBox="1"/>
          <p:nvPr/>
        </p:nvSpPr>
        <p:spPr>
          <a:xfrm>
            <a:off x="4727682" y="5462952"/>
            <a:ext cx="9289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/>
              <a:t>16.3</a:t>
            </a:r>
            <a:endParaRPr lang="en-DE" sz="12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C422DA6-15B6-A86C-7591-CC2A4FFFAD49}"/>
              </a:ext>
            </a:extLst>
          </p:cNvPr>
          <p:cNvCxnSpPr/>
          <p:nvPr/>
        </p:nvCxnSpPr>
        <p:spPr>
          <a:xfrm flipV="1">
            <a:off x="3022333" y="1517463"/>
            <a:ext cx="0" cy="4116697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28478D1-EB6F-D034-5693-53E871CD8781}"/>
              </a:ext>
            </a:extLst>
          </p:cNvPr>
          <p:cNvCxnSpPr/>
          <p:nvPr/>
        </p:nvCxnSpPr>
        <p:spPr>
          <a:xfrm flipV="1">
            <a:off x="3800375" y="1517462"/>
            <a:ext cx="0" cy="4116697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386EFE7-CD8C-353E-B6FD-86625D8FA2EC}"/>
              </a:ext>
            </a:extLst>
          </p:cNvPr>
          <p:cNvSpPr txBox="1"/>
          <p:nvPr/>
        </p:nvSpPr>
        <p:spPr>
          <a:xfrm>
            <a:off x="2896381" y="5690235"/>
            <a:ext cx="9289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rgbClr val="7030A0"/>
                </a:solidFill>
              </a:rPr>
              <a:t>6.7</a:t>
            </a:r>
            <a:endParaRPr lang="en-DE" sz="1200" dirty="0">
              <a:solidFill>
                <a:srgbClr val="7030A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CA9190-9A99-26B3-A418-560981F5A6D1}"/>
              </a:ext>
            </a:extLst>
          </p:cNvPr>
          <p:cNvSpPr txBox="1"/>
          <p:nvPr/>
        </p:nvSpPr>
        <p:spPr>
          <a:xfrm>
            <a:off x="3608062" y="5690233"/>
            <a:ext cx="9289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rgbClr val="7030A0"/>
                </a:solidFill>
              </a:rPr>
              <a:t>10.65</a:t>
            </a:r>
            <a:endParaRPr lang="en-DE" sz="1200" dirty="0">
              <a:solidFill>
                <a:srgbClr val="7030A0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6BA8DE7-3C3A-A547-039E-5E8A2861D7F3}"/>
              </a:ext>
            </a:extLst>
          </p:cNvPr>
          <p:cNvCxnSpPr>
            <a:cxnSpLocks/>
          </p:cNvCxnSpPr>
          <p:nvPr/>
        </p:nvCxnSpPr>
        <p:spPr>
          <a:xfrm>
            <a:off x="3001182" y="1830404"/>
            <a:ext cx="79919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D1E9ED9-2425-E2D3-58BB-60785C8346EF}"/>
              </a:ext>
            </a:extLst>
          </p:cNvPr>
          <p:cNvSpPr txBox="1"/>
          <p:nvPr/>
        </p:nvSpPr>
        <p:spPr>
          <a:xfrm>
            <a:off x="3323412" y="748803"/>
            <a:ext cx="1640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1" dirty="0"/>
              <a:t>This is according to SI calculations</a:t>
            </a:r>
            <a:endParaRPr lang="en-DE" sz="1200" b="1" dirty="0"/>
          </a:p>
        </p:txBody>
      </p:sp>
      <p:sp>
        <p:nvSpPr>
          <p:cNvPr id="23" name="Speech Bubble: Oval 22">
            <a:extLst>
              <a:ext uri="{FF2B5EF4-FFF2-40B4-BE49-F238E27FC236}">
                <a16:creationId xmlns:a16="http://schemas.microsoft.com/office/drawing/2014/main" id="{A3BCC902-EF8F-B8C3-03DF-F555B66891EA}"/>
              </a:ext>
            </a:extLst>
          </p:cNvPr>
          <p:cNvSpPr/>
          <p:nvPr/>
        </p:nvSpPr>
        <p:spPr>
          <a:xfrm>
            <a:off x="3301912" y="474139"/>
            <a:ext cx="1541255" cy="1161691"/>
          </a:xfrm>
          <a:prstGeom prst="wedgeEllipseCallou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4" name="Foliennummernplatzhalter 24">
            <a:extLst>
              <a:ext uri="{FF2B5EF4-FFF2-40B4-BE49-F238E27FC236}">
                <a16:creationId xmlns:a16="http://schemas.microsoft.com/office/drawing/2014/main" id="{A27DA2A0-9E85-14AA-81A6-7D6AD0E29BCE}"/>
              </a:ext>
            </a:extLst>
          </p:cNvPr>
          <p:cNvSpPr txBox="1">
            <a:spLocks/>
          </p:cNvSpPr>
          <p:nvPr/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/>
              <a:t> </a:t>
            </a:r>
            <a:fld id="{013F6232-4F06-48BA-8F69-BF531F607829}" type="slidenum">
              <a:rPr lang="en-GB" smtClean="0"/>
              <a:pPr algn="ctr"/>
              <a:t>5</a:t>
            </a:fld>
            <a:endParaRPr lang="en-GB" dirty="0"/>
          </a:p>
        </p:txBody>
      </p:sp>
      <p:sp>
        <p:nvSpPr>
          <p:cNvPr id="25" name="Fußzeilenplatzhalter 5">
            <a:extLst>
              <a:ext uri="{FF2B5EF4-FFF2-40B4-BE49-F238E27FC236}">
                <a16:creationId xmlns:a16="http://schemas.microsoft.com/office/drawing/2014/main" id="{3DADFAEE-22E8-4E52-E171-D26E83B61D1A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26" name="Datumsplatzhalter 4">
            <a:extLst>
              <a:ext uri="{FF2B5EF4-FFF2-40B4-BE49-F238E27FC236}">
                <a16:creationId xmlns:a16="http://schemas.microsoft.com/office/drawing/2014/main" id="{FF4C3579-21C4-86F2-E033-534324AA8F7D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02/12/2025</a:t>
            </a:r>
          </a:p>
        </p:txBody>
      </p:sp>
      <p:sp>
        <p:nvSpPr>
          <p:cNvPr id="27" name="Textfeld 12">
            <a:extLst>
              <a:ext uri="{FF2B5EF4-FFF2-40B4-BE49-F238E27FC236}">
                <a16:creationId xmlns:a16="http://schemas.microsoft.com/office/drawing/2014/main" id="{C62947A1-42D7-2896-8C0A-0266B1766141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Speaker: Ibrahim Mostafa (770134)</a:t>
            </a:r>
          </a:p>
        </p:txBody>
      </p:sp>
    </p:spTree>
    <p:extLst>
      <p:ext uri="{BB962C8B-B14F-4D97-AF65-F5344CB8AC3E}">
        <p14:creationId xmlns:p14="http://schemas.microsoft.com/office/powerpoint/2010/main" val="4200867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41BE8-704D-2500-2030-753425CB9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oliennummernplatzhalter 24">
            <a:extLst>
              <a:ext uri="{FF2B5EF4-FFF2-40B4-BE49-F238E27FC236}">
                <a16:creationId xmlns:a16="http://schemas.microsoft.com/office/drawing/2014/main" id="{7AC6B26A-38BA-D51D-7E1F-4328B8AF961E}"/>
              </a:ext>
            </a:extLst>
          </p:cNvPr>
          <p:cNvSpPr txBox="1">
            <a:spLocks/>
          </p:cNvSpPr>
          <p:nvPr/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/>
              <a:t> </a:t>
            </a:r>
            <a:fld id="{013F6232-4F06-48BA-8F69-BF531F607829}" type="slidenum">
              <a:rPr lang="en-GB" smtClean="0"/>
              <a:pPr algn="ctr"/>
              <a:t>6</a:t>
            </a:fld>
            <a:endParaRPr lang="en-GB" dirty="0"/>
          </a:p>
        </p:txBody>
      </p:sp>
      <p:sp>
        <p:nvSpPr>
          <p:cNvPr id="19" name="Fußzeilenplatzhalter 5">
            <a:extLst>
              <a:ext uri="{FF2B5EF4-FFF2-40B4-BE49-F238E27FC236}">
                <a16:creationId xmlns:a16="http://schemas.microsoft.com/office/drawing/2014/main" id="{660ACE7B-6767-41C3-8176-6152B51C9B02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20" name="Datumsplatzhalter 4">
            <a:extLst>
              <a:ext uri="{FF2B5EF4-FFF2-40B4-BE49-F238E27FC236}">
                <a16:creationId xmlns:a16="http://schemas.microsoft.com/office/drawing/2014/main" id="{22E264D1-15BE-032D-348F-FF739E1E5E88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18/11/2025</a:t>
            </a:r>
          </a:p>
        </p:txBody>
      </p:sp>
      <p:sp>
        <p:nvSpPr>
          <p:cNvPr id="21" name="Textfeld 12">
            <a:extLst>
              <a:ext uri="{FF2B5EF4-FFF2-40B4-BE49-F238E27FC236}">
                <a16:creationId xmlns:a16="http://schemas.microsoft.com/office/drawing/2014/main" id="{77E809BE-7802-4C15-1DC0-48A2A7FABF13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Speaker: Mohammed </a:t>
            </a:r>
            <a:r>
              <a:rPr lang="de-DE" sz="1200" dirty="0" err="1"/>
              <a:t>Eldemerdash</a:t>
            </a:r>
            <a:r>
              <a:rPr lang="de-DE" sz="1200" dirty="0"/>
              <a:t> (760137)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D4C1F7-5E77-EC31-3656-9863CF52F7B5}"/>
              </a:ext>
            </a:extLst>
          </p:cNvPr>
          <p:cNvSpPr txBox="1"/>
          <p:nvPr/>
        </p:nvSpPr>
        <p:spPr>
          <a:xfrm>
            <a:off x="705966" y="691247"/>
            <a:ext cx="39372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the flange connection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AD6685E-C3DA-9923-D8CF-E4403C8C2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8323" y="1522244"/>
            <a:ext cx="3365477" cy="3516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8">
            <a:extLst>
              <a:ext uri="{FF2B5EF4-FFF2-40B4-BE49-F238E27FC236}">
                <a16:creationId xmlns:a16="http://schemas.microsoft.com/office/drawing/2014/main" id="{7D09AF1D-1053-F064-410D-7D8DA1B14FDC}"/>
              </a:ext>
            </a:extLst>
          </p:cNvPr>
          <p:cNvSpPr txBox="1"/>
          <p:nvPr/>
        </p:nvSpPr>
        <p:spPr>
          <a:xfrm>
            <a:off x="7988323" y="5502349"/>
            <a:ext cx="30569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/>
              <a:t>Source: </a:t>
            </a:r>
            <a:r>
              <a:rPr lang="de-DE" sz="1200" dirty="0"/>
              <a:t>Prof. Dr.-Ing. Torsten Faber </a:t>
            </a:r>
            <a:r>
              <a:rPr lang="en-US" sz="1200" dirty="0"/>
              <a:t>lectures</a:t>
            </a:r>
            <a:endParaRPr lang="de-DE" sz="1200" dirty="0"/>
          </a:p>
        </p:txBody>
      </p:sp>
      <p:pic>
        <p:nvPicPr>
          <p:cNvPr id="9" name="Picture 8" descr="A white sheet with black text&#10;&#10;AI-generated content may be incorrect.">
            <a:extLst>
              <a:ext uri="{FF2B5EF4-FFF2-40B4-BE49-F238E27FC236}">
                <a16:creationId xmlns:a16="http://schemas.microsoft.com/office/drawing/2014/main" id="{AE68EC71-40B3-C700-AF3F-8A974E3FFF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57" y="1586747"/>
            <a:ext cx="5034814" cy="3736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607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45DB5-4C54-AF9D-B26C-809218E87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B800465-1263-605E-A88B-AF808209F918}"/>
              </a:ext>
            </a:extLst>
          </p:cNvPr>
          <p:cNvSpPr txBox="1"/>
          <p:nvPr/>
        </p:nvSpPr>
        <p:spPr>
          <a:xfrm>
            <a:off x="705966" y="691247"/>
            <a:ext cx="39372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the flange connection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table with text and numbers&#10;&#10;AI-generated content may be incorrect.">
            <a:extLst>
              <a:ext uri="{FF2B5EF4-FFF2-40B4-BE49-F238E27FC236}">
                <a16:creationId xmlns:a16="http://schemas.microsoft.com/office/drawing/2014/main" id="{D504BEED-C0B1-3746-DDAF-A2AF810144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966" y="1759862"/>
            <a:ext cx="4588686" cy="3986420"/>
          </a:xfrm>
          <a:prstGeom prst="rect">
            <a:avLst/>
          </a:prstGeom>
        </p:spPr>
      </p:pic>
      <p:pic>
        <p:nvPicPr>
          <p:cNvPr id="8" name="Picture 7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041D997D-47E2-883A-E412-A828B5DA0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979"/>
          <a:stretch>
            <a:fillRect/>
          </a:stretch>
        </p:blipFill>
        <p:spPr>
          <a:xfrm>
            <a:off x="5965530" y="1759862"/>
            <a:ext cx="5623287" cy="3377832"/>
          </a:xfrm>
          <a:prstGeom prst="rect">
            <a:avLst/>
          </a:prstGeom>
        </p:spPr>
      </p:pic>
      <p:sp>
        <p:nvSpPr>
          <p:cNvPr id="10" name="Foliennummernplatzhalter 24">
            <a:extLst>
              <a:ext uri="{FF2B5EF4-FFF2-40B4-BE49-F238E27FC236}">
                <a16:creationId xmlns:a16="http://schemas.microsoft.com/office/drawing/2014/main" id="{FC180CFA-2248-C64D-E588-53EAC4487E23}"/>
              </a:ext>
            </a:extLst>
          </p:cNvPr>
          <p:cNvSpPr txBox="1">
            <a:spLocks/>
          </p:cNvSpPr>
          <p:nvPr/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/>
              <a:t> </a:t>
            </a:r>
            <a:fld id="{013F6232-4F06-48BA-8F69-BF531F607829}" type="slidenum">
              <a:rPr lang="en-GB" smtClean="0"/>
              <a:pPr algn="ctr"/>
              <a:t>7</a:t>
            </a:fld>
            <a:endParaRPr lang="en-GB" dirty="0"/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D1F2E570-68B3-1200-0AF8-9AC903369FFC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12" name="Datumsplatzhalter 4">
            <a:extLst>
              <a:ext uri="{FF2B5EF4-FFF2-40B4-BE49-F238E27FC236}">
                <a16:creationId xmlns:a16="http://schemas.microsoft.com/office/drawing/2014/main" id="{B3566A47-8557-DF0C-3975-E78514F7542E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02/12/2025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92296C8D-6B9D-FA61-3347-2FDDDF4F0764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Speaker: Ibrahim Mostafa (770134)</a:t>
            </a:r>
          </a:p>
        </p:txBody>
      </p:sp>
    </p:spTree>
    <p:extLst>
      <p:ext uri="{BB962C8B-B14F-4D97-AF65-F5344CB8AC3E}">
        <p14:creationId xmlns:p14="http://schemas.microsoft.com/office/powerpoint/2010/main" val="2189741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7033C-B0E2-7758-3584-C5804153D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4FAAD11-C52E-1EB7-389B-3A978736D071}"/>
              </a:ext>
            </a:extLst>
          </p:cNvPr>
          <p:cNvSpPr txBox="1"/>
          <p:nvPr/>
        </p:nvSpPr>
        <p:spPr>
          <a:xfrm>
            <a:off x="705966" y="691247"/>
            <a:ext cx="39372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the flange connection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30BA43F2-4441-D408-7A6A-0BC6CB62EE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3360" y="1553606"/>
            <a:ext cx="4765480" cy="4018280"/>
          </a:xfrm>
          <a:prstGeom prst="rect">
            <a:avLst/>
          </a:prstGeom>
        </p:spPr>
      </p:pic>
      <p:pic>
        <p:nvPicPr>
          <p:cNvPr id="7" name="Picture 6" descr="A math problem with numbers and symbols&#10;&#10;AI-generated content may be incorrect.">
            <a:extLst>
              <a:ext uri="{FF2B5EF4-FFF2-40B4-BE49-F238E27FC236}">
                <a16:creationId xmlns:a16="http://schemas.microsoft.com/office/drawing/2014/main" id="{70AE4EFF-6C7B-A7F9-FC02-2CF63236D4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1553606"/>
            <a:ext cx="5212848" cy="3636871"/>
          </a:xfrm>
          <a:prstGeom prst="rect">
            <a:avLst/>
          </a:prstGeom>
        </p:spPr>
      </p:pic>
      <p:sp>
        <p:nvSpPr>
          <p:cNvPr id="9" name="Foliennummernplatzhalter 24">
            <a:extLst>
              <a:ext uri="{FF2B5EF4-FFF2-40B4-BE49-F238E27FC236}">
                <a16:creationId xmlns:a16="http://schemas.microsoft.com/office/drawing/2014/main" id="{ADB07B5D-D9FB-37E5-FFC2-60C66171BE3D}"/>
              </a:ext>
            </a:extLst>
          </p:cNvPr>
          <p:cNvSpPr txBox="1">
            <a:spLocks/>
          </p:cNvSpPr>
          <p:nvPr/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/>
              <a:t> </a:t>
            </a:r>
            <a:fld id="{013F6232-4F06-48BA-8F69-BF531F607829}" type="slidenum">
              <a:rPr lang="en-GB" smtClean="0"/>
              <a:pPr algn="ctr"/>
              <a:t>8</a:t>
            </a:fld>
            <a:endParaRPr lang="en-GB" dirty="0"/>
          </a:p>
        </p:txBody>
      </p:sp>
      <p:sp>
        <p:nvSpPr>
          <p:cNvPr id="10" name="Fußzeilenplatzhalter 5">
            <a:extLst>
              <a:ext uri="{FF2B5EF4-FFF2-40B4-BE49-F238E27FC236}">
                <a16:creationId xmlns:a16="http://schemas.microsoft.com/office/drawing/2014/main" id="{9821C538-C49D-7C07-9AB3-0BDB9CC8039D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11" name="Datumsplatzhalter 4">
            <a:extLst>
              <a:ext uri="{FF2B5EF4-FFF2-40B4-BE49-F238E27FC236}">
                <a16:creationId xmlns:a16="http://schemas.microsoft.com/office/drawing/2014/main" id="{D850BE3B-E4C9-0394-E6F7-98AEEE993EDF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02/12/2025</a:t>
            </a:r>
          </a:p>
        </p:txBody>
      </p:sp>
      <p:sp>
        <p:nvSpPr>
          <p:cNvPr id="12" name="Textfeld 12">
            <a:extLst>
              <a:ext uri="{FF2B5EF4-FFF2-40B4-BE49-F238E27FC236}">
                <a16:creationId xmlns:a16="http://schemas.microsoft.com/office/drawing/2014/main" id="{A95F4B60-7ACC-71D7-3034-11E1C33D66D0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Speaker: Ibrahim Mostafa (770134)</a:t>
            </a:r>
          </a:p>
        </p:txBody>
      </p:sp>
    </p:spTree>
    <p:extLst>
      <p:ext uri="{BB962C8B-B14F-4D97-AF65-F5344CB8AC3E}">
        <p14:creationId xmlns:p14="http://schemas.microsoft.com/office/powerpoint/2010/main" val="3439582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68A87-666F-5310-89EF-BB0F35BDC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EA7A32A-FB41-76ED-45FF-BAD143FE49A2}"/>
              </a:ext>
            </a:extLst>
          </p:cNvPr>
          <p:cNvSpPr txBox="1"/>
          <p:nvPr/>
        </p:nvSpPr>
        <p:spPr>
          <a:xfrm>
            <a:off x="705966" y="691247"/>
            <a:ext cx="39372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the flange connection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screenshot of a data sheet&#10;&#10;AI-generated content may be incorrect.">
            <a:extLst>
              <a:ext uri="{FF2B5EF4-FFF2-40B4-BE49-F238E27FC236}">
                <a16:creationId xmlns:a16="http://schemas.microsoft.com/office/drawing/2014/main" id="{4B941444-CB17-C6C3-E425-DED897367C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519"/>
          <a:stretch>
            <a:fillRect/>
          </a:stretch>
        </p:blipFill>
        <p:spPr>
          <a:xfrm>
            <a:off x="6878363" y="1958898"/>
            <a:ext cx="4825957" cy="3825885"/>
          </a:xfrm>
          <a:prstGeom prst="rect">
            <a:avLst/>
          </a:prstGeom>
        </p:spPr>
      </p:pic>
      <p:pic>
        <p:nvPicPr>
          <p:cNvPr id="8" name="Picture 7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A639BB18-2719-31CF-1FB5-8E9293E10E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577" y="1958898"/>
            <a:ext cx="5685997" cy="3410125"/>
          </a:xfrm>
          <a:prstGeom prst="rect">
            <a:avLst/>
          </a:prstGeom>
        </p:spPr>
      </p:pic>
      <p:sp>
        <p:nvSpPr>
          <p:cNvPr id="9" name="Foliennummernplatzhalter 24">
            <a:extLst>
              <a:ext uri="{FF2B5EF4-FFF2-40B4-BE49-F238E27FC236}">
                <a16:creationId xmlns:a16="http://schemas.microsoft.com/office/drawing/2014/main" id="{F527FF5F-BE16-87C3-D691-DB17F3CA18DC}"/>
              </a:ext>
            </a:extLst>
          </p:cNvPr>
          <p:cNvSpPr txBox="1">
            <a:spLocks/>
          </p:cNvSpPr>
          <p:nvPr/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/>
              <a:t> </a:t>
            </a:r>
            <a:fld id="{013F6232-4F06-48BA-8F69-BF531F607829}" type="slidenum">
              <a:rPr lang="en-GB" smtClean="0"/>
              <a:pPr algn="ctr"/>
              <a:t>9</a:t>
            </a:fld>
            <a:endParaRPr lang="en-GB" dirty="0"/>
          </a:p>
        </p:txBody>
      </p:sp>
      <p:sp>
        <p:nvSpPr>
          <p:cNvPr id="10" name="Fußzeilenplatzhalter 5">
            <a:extLst>
              <a:ext uri="{FF2B5EF4-FFF2-40B4-BE49-F238E27FC236}">
                <a16:creationId xmlns:a16="http://schemas.microsoft.com/office/drawing/2014/main" id="{5942C007-255E-6F6F-EAEB-7D3DA4603712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11" name="Datumsplatzhalter 4">
            <a:extLst>
              <a:ext uri="{FF2B5EF4-FFF2-40B4-BE49-F238E27FC236}">
                <a16:creationId xmlns:a16="http://schemas.microsoft.com/office/drawing/2014/main" id="{FFD9C8BD-0B17-0098-266F-21E35591B8F9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02/12/2025</a:t>
            </a:r>
          </a:p>
        </p:txBody>
      </p:sp>
      <p:sp>
        <p:nvSpPr>
          <p:cNvPr id="12" name="Textfeld 12">
            <a:extLst>
              <a:ext uri="{FF2B5EF4-FFF2-40B4-BE49-F238E27FC236}">
                <a16:creationId xmlns:a16="http://schemas.microsoft.com/office/drawing/2014/main" id="{D554A007-8584-9962-BBC4-F526D8D98BD1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Speaker: Ibrahim Mostafa (770134)</a:t>
            </a:r>
          </a:p>
        </p:txBody>
      </p:sp>
    </p:spTree>
    <p:extLst>
      <p:ext uri="{BB962C8B-B14F-4D97-AF65-F5344CB8AC3E}">
        <p14:creationId xmlns:p14="http://schemas.microsoft.com/office/powerpoint/2010/main" val="7669956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31C28-3E85-79F6-BD49-4AF0230FC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ECE0739-3DB6-406E-D16A-21C04036ECBB}"/>
              </a:ext>
            </a:extLst>
          </p:cNvPr>
          <p:cNvSpPr txBox="1"/>
          <p:nvPr/>
        </p:nvSpPr>
        <p:spPr>
          <a:xfrm>
            <a:off x="705966" y="691247"/>
            <a:ext cx="39372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the flange connection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math equations and numbers&#10;&#10;AI-generated content may be incorrect.">
            <a:extLst>
              <a:ext uri="{FF2B5EF4-FFF2-40B4-BE49-F238E27FC236}">
                <a16:creationId xmlns:a16="http://schemas.microsoft.com/office/drawing/2014/main" id="{623836A6-45EB-9B94-06F0-5ABA76F483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5993" y="1649182"/>
            <a:ext cx="4826724" cy="4193353"/>
          </a:xfrm>
          <a:prstGeom prst="rect">
            <a:avLst/>
          </a:prstGeom>
        </p:spPr>
      </p:pic>
      <p:pic>
        <p:nvPicPr>
          <p:cNvPr id="7" name="Picture 6" descr="A math equations and numbers&#10;&#10;AI-generated content may be incorrect.">
            <a:extLst>
              <a:ext uri="{FF2B5EF4-FFF2-40B4-BE49-F238E27FC236}">
                <a16:creationId xmlns:a16="http://schemas.microsoft.com/office/drawing/2014/main" id="{5EE1C08E-AAFE-CA31-4230-776F3B621F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89" y="1649182"/>
            <a:ext cx="5706547" cy="3127766"/>
          </a:xfrm>
          <a:prstGeom prst="rect">
            <a:avLst/>
          </a:prstGeom>
        </p:spPr>
      </p:pic>
      <p:sp>
        <p:nvSpPr>
          <p:cNvPr id="9" name="Foliennummernplatzhalter 24">
            <a:extLst>
              <a:ext uri="{FF2B5EF4-FFF2-40B4-BE49-F238E27FC236}">
                <a16:creationId xmlns:a16="http://schemas.microsoft.com/office/drawing/2014/main" id="{A660FC22-2AEC-83FA-07D0-7655F652673F}"/>
              </a:ext>
            </a:extLst>
          </p:cNvPr>
          <p:cNvSpPr txBox="1">
            <a:spLocks/>
          </p:cNvSpPr>
          <p:nvPr/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/>
              <a:t> </a:t>
            </a:r>
            <a:fld id="{013F6232-4F06-48BA-8F69-BF531F607829}" type="slidenum">
              <a:rPr lang="en-GB" smtClean="0"/>
              <a:pPr algn="ctr"/>
              <a:t>10</a:t>
            </a:fld>
            <a:endParaRPr lang="en-GB" dirty="0"/>
          </a:p>
        </p:txBody>
      </p:sp>
      <p:sp>
        <p:nvSpPr>
          <p:cNvPr id="10" name="Fußzeilenplatzhalter 5">
            <a:extLst>
              <a:ext uri="{FF2B5EF4-FFF2-40B4-BE49-F238E27FC236}">
                <a16:creationId xmlns:a16="http://schemas.microsoft.com/office/drawing/2014/main" id="{CED9728D-FAB5-EEB1-9AB7-3EF126D31FFF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11" name="Datumsplatzhalter 4">
            <a:extLst>
              <a:ext uri="{FF2B5EF4-FFF2-40B4-BE49-F238E27FC236}">
                <a16:creationId xmlns:a16="http://schemas.microsoft.com/office/drawing/2014/main" id="{59FD4791-F295-241B-344B-DB6B58F944B7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02/12/2025</a:t>
            </a:r>
          </a:p>
        </p:txBody>
      </p:sp>
      <p:sp>
        <p:nvSpPr>
          <p:cNvPr id="12" name="Textfeld 12">
            <a:extLst>
              <a:ext uri="{FF2B5EF4-FFF2-40B4-BE49-F238E27FC236}">
                <a16:creationId xmlns:a16="http://schemas.microsoft.com/office/drawing/2014/main" id="{B4DF37EE-4FBE-694F-6AB2-50E844F8E2E5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Speaker: Ibrahim Mostafa (770134)</a:t>
            </a:r>
          </a:p>
        </p:txBody>
      </p:sp>
    </p:spTree>
    <p:extLst>
      <p:ext uri="{BB962C8B-B14F-4D97-AF65-F5344CB8AC3E}">
        <p14:creationId xmlns:p14="http://schemas.microsoft.com/office/powerpoint/2010/main" val="9378082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8F363-0299-BC02-55E8-6DA61B2BA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82523BF-55D9-F731-5ED7-777B10EE7922}"/>
              </a:ext>
            </a:extLst>
          </p:cNvPr>
          <p:cNvSpPr txBox="1"/>
          <p:nvPr/>
        </p:nvSpPr>
        <p:spPr>
          <a:xfrm>
            <a:off x="705966" y="691247"/>
            <a:ext cx="39372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the flange connection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51093EB-98D7-805D-7D4C-2DCB9A1C2A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6975720"/>
              </p:ext>
            </p:extLst>
          </p:nvPr>
        </p:nvGraphicFramePr>
        <p:xfrm>
          <a:off x="1858744" y="2221207"/>
          <a:ext cx="7420008" cy="28898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6668">
                  <a:extLst>
                    <a:ext uri="{9D8B030D-6E8A-4147-A177-3AD203B41FA5}">
                      <a16:colId xmlns:a16="http://schemas.microsoft.com/office/drawing/2014/main" val="3900567876"/>
                    </a:ext>
                  </a:extLst>
                </a:gridCol>
                <a:gridCol w="1236668">
                  <a:extLst>
                    <a:ext uri="{9D8B030D-6E8A-4147-A177-3AD203B41FA5}">
                      <a16:colId xmlns:a16="http://schemas.microsoft.com/office/drawing/2014/main" val="2031803221"/>
                    </a:ext>
                  </a:extLst>
                </a:gridCol>
                <a:gridCol w="1236668">
                  <a:extLst>
                    <a:ext uri="{9D8B030D-6E8A-4147-A177-3AD203B41FA5}">
                      <a16:colId xmlns:a16="http://schemas.microsoft.com/office/drawing/2014/main" val="3555465664"/>
                    </a:ext>
                  </a:extLst>
                </a:gridCol>
                <a:gridCol w="1236668">
                  <a:extLst>
                    <a:ext uri="{9D8B030D-6E8A-4147-A177-3AD203B41FA5}">
                      <a16:colId xmlns:a16="http://schemas.microsoft.com/office/drawing/2014/main" val="890189287"/>
                    </a:ext>
                  </a:extLst>
                </a:gridCol>
                <a:gridCol w="1236668">
                  <a:extLst>
                    <a:ext uri="{9D8B030D-6E8A-4147-A177-3AD203B41FA5}">
                      <a16:colId xmlns:a16="http://schemas.microsoft.com/office/drawing/2014/main" val="94732311"/>
                    </a:ext>
                  </a:extLst>
                </a:gridCol>
                <a:gridCol w="1236668">
                  <a:extLst>
                    <a:ext uri="{9D8B030D-6E8A-4147-A177-3AD203B41FA5}">
                      <a16:colId xmlns:a16="http://schemas.microsoft.com/office/drawing/2014/main" val="1416680367"/>
                    </a:ext>
                  </a:extLst>
                </a:gridCol>
              </a:tblGrid>
              <a:tr h="4812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Joint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Flange Location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Bolt Size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Bolt Grade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Number of Bolts (total)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Flange Thickness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005573"/>
                  </a:ext>
                </a:extLst>
              </a:tr>
              <a:tr h="4834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Base (20 m)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M48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10.9 HV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 mm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09671595"/>
                  </a:ext>
                </a:extLst>
              </a:tr>
              <a:tr h="4812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 m joint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M48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10.9 HV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 mm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500710515"/>
                  </a:ext>
                </a:extLst>
              </a:tr>
              <a:tr h="4812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 m joint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M48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10.9 HV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 mm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27499704"/>
                  </a:ext>
                </a:extLst>
              </a:tr>
              <a:tr h="4812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 m joint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M48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10.9 HV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 mm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91348925"/>
                  </a:ext>
                </a:extLst>
              </a:tr>
              <a:tr h="4812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Top joint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M48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10.9 HV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 mm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673714413"/>
                  </a:ext>
                </a:extLst>
              </a:tr>
            </a:tbl>
          </a:graphicData>
        </a:graphic>
      </p:graphicFrame>
      <p:sp>
        <p:nvSpPr>
          <p:cNvPr id="4" name="Foliennummernplatzhalter 24">
            <a:extLst>
              <a:ext uri="{FF2B5EF4-FFF2-40B4-BE49-F238E27FC236}">
                <a16:creationId xmlns:a16="http://schemas.microsoft.com/office/drawing/2014/main" id="{7AA17248-8C16-088B-00B8-A860B3B8785B}"/>
              </a:ext>
            </a:extLst>
          </p:cNvPr>
          <p:cNvSpPr txBox="1">
            <a:spLocks/>
          </p:cNvSpPr>
          <p:nvPr/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/>
              <a:t> </a:t>
            </a:r>
            <a:fld id="{013F6232-4F06-48BA-8F69-BF531F607829}" type="slidenum">
              <a:rPr lang="en-GB" smtClean="0"/>
              <a:pPr algn="ctr"/>
              <a:t>11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C70E0A8-8040-082C-378B-20E4F642EEF2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8" name="Datumsplatzhalter 4">
            <a:extLst>
              <a:ext uri="{FF2B5EF4-FFF2-40B4-BE49-F238E27FC236}">
                <a16:creationId xmlns:a16="http://schemas.microsoft.com/office/drawing/2014/main" id="{4EE20024-12A2-527B-0122-A52AF3A729C6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02/12/2025</a:t>
            </a:r>
          </a:p>
        </p:txBody>
      </p:sp>
      <p:sp>
        <p:nvSpPr>
          <p:cNvPr id="9" name="Textfeld 12">
            <a:extLst>
              <a:ext uri="{FF2B5EF4-FFF2-40B4-BE49-F238E27FC236}">
                <a16:creationId xmlns:a16="http://schemas.microsoft.com/office/drawing/2014/main" id="{AA804EB5-3534-AA3F-A706-1B35EEF164B9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Speaker: Ibrahim Mostafa (770134)</a:t>
            </a:r>
          </a:p>
        </p:txBody>
      </p:sp>
    </p:spTree>
    <p:extLst>
      <p:ext uri="{BB962C8B-B14F-4D97-AF65-F5344CB8AC3E}">
        <p14:creationId xmlns:p14="http://schemas.microsoft.com/office/powerpoint/2010/main" val="4342779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8EC3E-8B07-DF81-E063-8591A7044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943EB71-A80F-7219-3FDF-EE740DE97B08}"/>
              </a:ext>
            </a:extLst>
          </p:cNvPr>
          <p:cNvSpPr txBox="1"/>
          <p:nvPr/>
        </p:nvSpPr>
        <p:spPr>
          <a:xfrm>
            <a:off x="857249" y="787400"/>
            <a:ext cx="19639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next task</a:t>
            </a:r>
          </a:p>
          <a:p>
            <a:endParaRPr lang="de-D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B9464D02-4ED6-68C7-F640-4959233BC88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20420" y="2443480"/>
            <a:ext cx="5766760" cy="34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en-US" dirty="0"/>
              <a:t>Design the door opening.</a:t>
            </a:r>
          </a:p>
        </p:txBody>
      </p:sp>
      <p:sp>
        <p:nvSpPr>
          <p:cNvPr id="4" name="Foliennummernplatzhalter 24">
            <a:extLst>
              <a:ext uri="{FF2B5EF4-FFF2-40B4-BE49-F238E27FC236}">
                <a16:creationId xmlns:a16="http://schemas.microsoft.com/office/drawing/2014/main" id="{8AC358D7-CD4C-2BCB-891B-7FFA48455832}"/>
              </a:ext>
            </a:extLst>
          </p:cNvPr>
          <p:cNvSpPr txBox="1">
            <a:spLocks/>
          </p:cNvSpPr>
          <p:nvPr/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/>
              <a:t> </a:t>
            </a:r>
            <a:fld id="{013F6232-4F06-48BA-8F69-BF531F607829}" type="slidenum">
              <a:rPr lang="en-GB" smtClean="0"/>
              <a:pPr algn="ctr"/>
              <a:t>12</a:t>
            </a:fld>
            <a:endParaRPr lang="en-GB" dirty="0"/>
          </a:p>
        </p:txBody>
      </p:sp>
      <p:sp>
        <p:nvSpPr>
          <p:cNvPr id="5" name="Fußzeilenplatzhalter 5">
            <a:extLst>
              <a:ext uri="{FF2B5EF4-FFF2-40B4-BE49-F238E27FC236}">
                <a16:creationId xmlns:a16="http://schemas.microsoft.com/office/drawing/2014/main" id="{6A83C4CB-9163-B07B-DA26-16011DAB5988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6" name="Datumsplatzhalter 4">
            <a:extLst>
              <a:ext uri="{FF2B5EF4-FFF2-40B4-BE49-F238E27FC236}">
                <a16:creationId xmlns:a16="http://schemas.microsoft.com/office/drawing/2014/main" id="{26D61203-EF38-035E-D148-FF06908CA9AE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02/12/2025</a:t>
            </a:r>
          </a:p>
        </p:txBody>
      </p:sp>
      <p:sp>
        <p:nvSpPr>
          <p:cNvPr id="7" name="Textfeld 12">
            <a:extLst>
              <a:ext uri="{FF2B5EF4-FFF2-40B4-BE49-F238E27FC236}">
                <a16:creationId xmlns:a16="http://schemas.microsoft.com/office/drawing/2014/main" id="{6FD87C48-F54F-C533-C9D6-64E5B2F5C8C6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Speaker: Ibrahim Mostafa (770134)</a:t>
            </a:r>
          </a:p>
        </p:txBody>
      </p:sp>
    </p:spTree>
    <p:extLst>
      <p:ext uri="{BB962C8B-B14F-4D97-AF65-F5344CB8AC3E}">
        <p14:creationId xmlns:p14="http://schemas.microsoft.com/office/powerpoint/2010/main" val="2821521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AAC34-E000-296B-BF88-4E96CA882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7A96429-E842-C392-9543-A09CF6B3AD05}"/>
              </a:ext>
            </a:extLst>
          </p:cNvPr>
          <p:cNvSpPr txBox="1"/>
          <p:nvPr/>
        </p:nvSpPr>
        <p:spPr>
          <a:xfrm>
            <a:off x="857249" y="787400"/>
            <a:ext cx="16137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de-D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7E4483DB-7424-526E-C4CE-BA30E222D24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20420" y="2443480"/>
            <a:ext cx="5766760" cy="720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https://www.nrel.gov/wind/data-tools</a:t>
            </a:r>
            <a:endParaRPr lang="de-DE" dirty="0"/>
          </a:p>
          <a:p>
            <a:pPr indent="0">
              <a:buNone/>
            </a:pPr>
            <a:endParaRPr lang="en-US" dirty="0"/>
          </a:p>
        </p:txBody>
      </p:sp>
      <p:sp>
        <p:nvSpPr>
          <p:cNvPr id="4" name="Foliennummernplatzhalter 24">
            <a:extLst>
              <a:ext uri="{FF2B5EF4-FFF2-40B4-BE49-F238E27FC236}">
                <a16:creationId xmlns:a16="http://schemas.microsoft.com/office/drawing/2014/main" id="{F10194F4-3D37-512B-2B26-9C04B8C1650F}"/>
              </a:ext>
            </a:extLst>
          </p:cNvPr>
          <p:cNvSpPr txBox="1">
            <a:spLocks/>
          </p:cNvSpPr>
          <p:nvPr/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/>
              <a:t> </a:t>
            </a:r>
            <a:fld id="{013F6232-4F06-48BA-8F69-BF531F607829}" type="slidenum">
              <a:rPr lang="en-GB" smtClean="0"/>
              <a:pPr algn="ctr"/>
              <a:t>13</a:t>
            </a:fld>
            <a:endParaRPr lang="en-GB" dirty="0"/>
          </a:p>
        </p:txBody>
      </p:sp>
      <p:sp>
        <p:nvSpPr>
          <p:cNvPr id="5" name="Fußzeilenplatzhalter 5">
            <a:extLst>
              <a:ext uri="{FF2B5EF4-FFF2-40B4-BE49-F238E27FC236}">
                <a16:creationId xmlns:a16="http://schemas.microsoft.com/office/drawing/2014/main" id="{B93DC041-90B6-C941-52B5-00E4518378E0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6" name="Datumsplatzhalter 4">
            <a:extLst>
              <a:ext uri="{FF2B5EF4-FFF2-40B4-BE49-F238E27FC236}">
                <a16:creationId xmlns:a16="http://schemas.microsoft.com/office/drawing/2014/main" id="{03BC1F16-3018-9278-A858-729D629BD305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02/12/2025</a:t>
            </a:r>
          </a:p>
        </p:txBody>
      </p:sp>
      <p:sp>
        <p:nvSpPr>
          <p:cNvPr id="7" name="Textfeld 12">
            <a:extLst>
              <a:ext uri="{FF2B5EF4-FFF2-40B4-BE49-F238E27FC236}">
                <a16:creationId xmlns:a16="http://schemas.microsoft.com/office/drawing/2014/main" id="{CA55A9E8-514D-CAF4-1E72-6EE7A66ACFC6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Speaker: Ibrahim Mostafa (770134)</a:t>
            </a:r>
          </a:p>
        </p:txBody>
      </p:sp>
    </p:spTree>
    <p:extLst>
      <p:ext uri="{BB962C8B-B14F-4D97-AF65-F5344CB8AC3E}">
        <p14:creationId xmlns:p14="http://schemas.microsoft.com/office/powerpoint/2010/main" val="4118866447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 template_final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3" id="{489382AE-0E20-4DDB-AC58-6881343BCB06}" vid="{12EB4CDA-A9DA-4F07-A373-8B888615A8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3" id="{489382AE-0E20-4DDB-AC58-6881343BCB06}" vid="{BC3BCC29-301C-4D70-A384-97DBC337907C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525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CD039B6-C6AB-492A-94BF-C46AF895D2E7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3D784B2-E216-4A14-BE4B-F0CA301E2B20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Presentation template_final</Template>
  <TotalTime>0</TotalTime>
  <Words>423</Words>
  <Application>Microsoft Office PowerPoint</Application>
  <PresentationFormat>Widescreen</PresentationFormat>
  <Paragraphs>120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Aptos</vt:lpstr>
      <vt:lpstr>Aptos (Textkörper)</vt:lpstr>
      <vt:lpstr>Aptos Display</vt:lpstr>
      <vt:lpstr>Arial</vt:lpstr>
      <vt:lpstr>Calibri</vt:lpstr>
      <vt:lpstr>Calibri Light</vt:lpstr>
      <vt:lpstr>Times New Roman</vt:lpstr>
      <vt:lpstr>Presentation template_final</vt:lpstr>
      <vt:lpstr>Custom Design</vt:lpstr>
      <vt:lpstr>Benutzerdefiniertes Design</vt:lpstr>
      <vt:lpstr>Weekly report: Tower structure </vt:lpstr>
      <vt:lpstr>List of 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report: Tower structure</dc:title>
  <dc:creator>dell</dc:creator>
  <cp:lastModifiedBy>Ibrahim Mostafa</cp:lastModifiedBy>
  <cp:revision>82</cp:revision>
  <dcterms:created xsi:type="dcterms:W3CDTF">2025-09-28T13:42:33Z</dcterms:created>
  <dcterms:modified xsi:type="dcterms:W3CDTF">2025-11-30T22:04:33Z</dcterms:modified>
</cp:coreProperties>
</file>