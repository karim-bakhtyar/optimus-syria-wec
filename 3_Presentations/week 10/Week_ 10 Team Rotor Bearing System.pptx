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 /><Relationship Id="rId2" Type="http://schemas.openxmlformats.org/officeDocument/2006/relationships/officeDocument" Target="ppt/presentation.xml" /><Relationship Id="rId1" Type="http://schemas.microsoft.com/office/2011/relationships/webextensiontaskpanes" Target="ppt/webextensions/taskpanes.xml" /><Relationship Id="rId5" Type="http://schemas.openxmlformats.org/officeDocument/2006/relationships/extended-properties" Target="docProps/app.xml" /><Relationship Id="rId4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8"/>
  </p:notesMasterIdLst>
  <p:handoutMasterIdLst>
    <p:handoutMasterId r:id="rId19"/>
  </p:handoutMasterIdLst>
  <p:sldIdLst>
    <p:sldId id="271" r:id="rId3"/>
    <p:sldId id="263" r:id="rId4"/>
    <p:sldId id="259" r:id="rId5"/>
    <p:sldId id="308" r:id="rId6"/>
    <p:sldId id="304" r:id="rId7"/>
    <p:sldId id="306" r:id="rId8"/>
    <p:sldId id="305" r:id="rId9"/>
    <p:sldId id="303" r:id="rId10"/>
    <p:sldId id="302" r:id="rId11"/>
    <p:sldId id="309" r:id="rId12"/>
    <p:sldId id="310" r:id="rId13"/>
    <p:sldId id="311" r:id="rId14"/>
    <p:sldId id="292" r:id="rId15"/>
    <p:sldId id="312" r:id="rId16"/>
    <p:sldId id="26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1"/>
            <p14:sldId id="263"/>
          </p14:sldIdLst>
        </p14:section>
        <p14:section name="List of contents" id="{65043596-36B7-4360-BB5C-7A99EFAEC5C9}">
          <p14:sldIdLst>
            <p14:sldId id="259"/>
          </p14:sldIdLst>
        </p14:section>
        <p14:section name="Title, main slides" id="{B26F6679-C236-4D3D-BC2F-CAE5ED400718}">
          <p14:sldIdLst>
            <p14:sldId id="308"/>
            <p14:sldId id="304"/>
            <p14:sldId id="306"/>
            <p14:sldId id="305"/>
            <p14:sldId id="303"/>
            <p14:sldId id="302"/>
            <p14:sldId id="309"/>
            <p14:sldId id="310"/>
            <p14:sldId id="311"/>
            <p14:sldId id="292"/>
            <p14:sldId id="312"/>
          </p14:sldIdLst>
        </p14:section>
        <p14:section name="bibliography" id="{2ECB0A3B-7D16-4F98-AD6A-5308DF7BF078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8ECEFA"/>
    <a:srgbClr val="92C6E6"/>
    <a:srgbClr val="80D2F7"/>
    <a:srgbClr val="7ED1F7"/>
    <a:srgbClr val="A1DFFD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 /><Relationship Id="rId13" Type="http://schemas.openxmlformats.org/officeDocument/2006/relationships/slide" Target="slides/slide11.xml" /><Relationship Id="rId18" Type="http://schemas.openxmlformats.org/officeDocument/2006/relationships/notesMaster" Target="notesMasters/notesMaster1.xml" /><Relationship Id="rId3" Type="http://schemas.openxmlformats.org/officeDocument/2006/relationships/slide" Target="slides/slide1.xml" /><Relationship Id="rId21" Type="http://schemas.openxmlformats.org/officeDocument/2006/relationships/viewProps" Target="viewProps.xml" /><Relationship Id="rId7" Type="http://schemas.openxmlformats.org/officeDocument/2006/relationships/slide" Target="slides/slide5.xml" /><Relationship Id="rId12" Type="http://schemas.openxmlformats.org/officeDocument/2006/relationships/slide" Target="slides/slide10.xml" /><Relationship Id="rId17" Type="http://schemas.openxmlformats.org/officeDocument/2006/relationships/slide" Target="slides/slide15.xml" /><Relationship Id="rId2" Type="http://schemas.openxmlformats.org/officeDocument/2006/relationships/slideMaster" Target="slideMasters/slideMaster2.xml" /><Relationship Id="rId16" Type="http://schemas.openxmlformats.org/officeDocument/2006/relationships/slide" Target="slides/slide14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4.xml" /><Relationship Id="rId11" Type="http://schemas.openxmlformats.org/officeDocument/2006/relationships/slide" Target="slides/slide9.xml" /><Relationship Id="rId5" Type="http://schemas.openxmlformats.org/officeDocument/2006/relationships/slide" Target="slides/slide3.xml" /><Relationship Id="rId15" Type="http://schemas.openxmlformats.org/officeDocument/2006/relationships/slide" Target="slides/slide13.xml" /><Relationship Id="rId23" Type="http://schemas.openxmlformats.org/officeDocument/2006/relationships/tableStyles" Target="tableStyles.xml" /><Relationship Id="rId10" Type="http://schemas.openxmlformats.org/officeDocument/2006/relationships/slide" Target="slides/slide8.xml" /><Relationship Id="rId19" Type="http://schemas.openxmlformats.org/officeDocument/2006/relationships/handoutMaster" Target="handoutMasters/handoutMaster1.xml" /><Relationship Id="rId4" Type="http://schemas.openxmlformats.org/officeDocument/2006/relationships/slide" Target="slides/slide2.xml" /><Relationship Id="rId9" Type="http://schemas.openxmlformats.org/officeDocument/2006/relationships/slide" Target="slides/slide7.xml" /><Relationship Id="rId14" Type="http://schemas.openxmlformats.org/officeDocument/2006/relationships/slide" Target="slides/slide12.xml" /><Relationship Id="rId22" Type="http://schemas.openxmlformats.org/officeDocument/2006/relationships/theme" Target="theme/theme1.xml" 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01.12.2025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01/12/2025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 /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 /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 /><Relationship Id="rId7" Type="http://schemas.openxmlformats.org/officeDocument/2006/relationships/image" Target="../media/image7.png" /><Relationship Id="rId2" Type="http://schemas.openxmlformats.org/officeDocument/2006/relationships/image" Target="../media/image2.png" /><Relationship Id="rId1" Type="http://schemas.openxmlformats.org/officeDocument/2006/relationships/slideMaster" Target="../slideMasters/slideMaster2.xml" /><Relationship Id="rId6" Type="http://schemas.openxmlformats.org/officeDocument/2006/relationships/image" Target="../media/image6.jpg" /><Relationship Id="rId5" Type="http://schemas.openxmlformats.org/officeDocument/2006/relationships/image" Target="../media/image5.png" /><Relationship Id="rId4" Type="http://schemas.openxmlformats.org/officeDocument/2006/relationships/image" Target="../media/image4.png" 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 /><Relationship Id="rId2" Type="http://schemas.openxmlformats.org/officeDocument/2006/relationships/image" Target="../media/image3.png" /><Relationship Id="rId1" Type="http://schemas.openxmlformats.org/officeDocument/2006/relationships/slideMaster" Target="../slideMasters/slideMaster2.xml" /><Relationship Id="rId5" Type="http://schemas.openxmlformats.org/officeDocument/2006/relationships/image" Target="../media/image7.png" /><Relationship Id="rId4" Type="http://schemas.openxmlformats.org/officeDocument/2006/relationships/image" Target="../media/image8.png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D9B92D8-576F-E2EC-294B-2558F9D8C6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3647B16-EA31-6786-DA18-D9B47CB2860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44)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7DF5AC43-E5EF-0524-5C72-3AC43D2D1965}"/>
              </a:ext>
            </a:extLst>
          </p:cNvPr>
          <p:cNvSpPr/>
          <p:nvPr userDrawn="1"/>
        </p:nvSpPr>
        <p:spPr>
          <a:xfrm>
            <a:off x="7392013" y="172238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the </a:t>
            </a:r>
            <a:r>
              <a:rPr lang="it-IT" dirty="0" err="1"/>
              <a:t>heading</a:t>
            </a:r>
            <a:r>
              <a:rPr lang="it-IT" dirty="0"/>
              <a:t> in the </a:t>
            </a:r>
            <a:r>
              <a:rPr lang="it-IT" dirty="0" err="1"/>
              <a:t>same</a:t>
            </a:r>
            <a:r>
              <a:rPr lang="it-IT" dirty="0"/>
              <a:t> style </a:t>
            </a:r>
            <a:endParaRPr lang="en-GB" dirty="0"/>
          </a:p>
        </p:txBody>
      </p:sp>
      <p:cxnSp>
        <p:nvCxnSpPr>
          <p:cNvPr id="5" name="Straight Arrow Connector 21">
            <a:extLst>
              <a:ext uri="{FF2B5EF4-FFF2-40B4-BE49-F238E27FC236}">
                <a16:creationId xmlns:a16="http://schemas.microsoft.com/office/drawing/2014/main" id="{E14BA36E-5CEF-0525-3ADE-5A38CD19B2C1}"/>
              </a:ext>
            </a:extLst>
          </p:cNvPr>
          <p:cNvCxnSpPr>
            <a:cxnSpLocks/>
            <a:stCxn id="3" idx="0"/>
          </p:cNvCxnSpPr>
          <p:nvPr userDrawn="1"/>
        </p:nvCxnSpPr>
        <p:spPr>
          <a:xfrm flipH="1" flipV="1">
            <a:off x="7108466" y="1095661"/>
            <a:ext cx="1585182" cy="6267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3" name="Rectangle 7">
            <a:extLst>
              <a:ext uri="{FF2B5EF4-FFF2-40B4-BE49-F238E27FC236}">
                <a16:creationId xmlns:a16="http://schemas.microsoft.com/office/drawing/2014/main" id="{A08F222C-E6B4-CB18-1940-4D03D41410C5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4248E6A6-5F2B-4404-D02B-D0186EA2675E}"/>
              </a:ext>
            </a:extLst>
          </p:cNvPr>
          <p:cNvSpPr txBox="1"/>
          <p:nvPr userDrawn="1"/>
        </p:nvSpPr>
        <p:spPr>
          <a:xfrm>
            <a:off x="3913526" y="4104491"/>
            <a:ext cx="4142630" cy="9961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2st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7th 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38224568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err="1"/>
              <a:t>Presented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: </a:t>
            </a:r>
            <a:r>
              <a:rPr lang="de-DE" dirty="0" err="1"/>
              <a:t>name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presenter</a:t>
            </a:r>
            <a:r>
              <a:rPr lang="de-DE" dirty="0"/>
              <a:t> /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group</a:t>
            </a:r>
            <a:r>
              <a:rPr lang="de-DE" dirty="0"/>
              <a:t>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9413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slideLayout" Target="../slideLayouts/slideLayout13.xml" /><Relationship Id="rId18" Type="http://schemas.openxmlformats.org/officeDocument/2006/relationships/slideLayout" Target="../slideLayouts/slideLayout1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slideLayout" Target="../slideLayouts/slideLayout12.xml" /><Relationship Id="rId17" Type="http://schemas.openxmlformats.org/officeDocument/2006/relationships/slideLayout" Target="../slideLayouts/slideLayout17.xml" /><Relationship Id="rId2" Type="http://schemas.openxmlformats.org/officeDocument/2006/relationships/slideLayout" Target="../slideLayouts/slideLayout2.xml" /><Relationship Id="rId16" Type="http://schemas.openxmlformats.org/officeDocument/2006/relationships/slideLayout" Target="../slideLayouts/slideLayout16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5" Type="http://schemas.openxmlformats.org/officeDocument/2006/relationships/slideLayout" Target="../slideLayouts/slideLayout15.xml" /><Relationship Id="rId10" Type="http://schemas.openxmlformats.org/officeDocument/2006/relationships/slideLayout" Target="../slideLayouts/slideLayout10.xml" /><Relationship Id="rId19" Type="http://schemas.openxmlformats.org/officeDocument/2006/relationships/theme" Target="../theme/theme1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Relationship Id="rId14" Type="http://schemas.openxmlformats.org/officeDocument/2006/relationships/slideLayout" Target="../slideLayouts/slideLayout14.xml" 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1.xml" /><Relationship Id="rId2" Type="http://schemas.openxmlformats.org/officeDocument/2006/relationships/slideLayout" Target="../slideLayouts/slideLayout20.xml" /><Relationship Id="rId1" Type="http://schemas.openxmlformats.org/officeDocument/2006/relationships/slideLayout" Target="../slideLayouts/slideLayout19.xml" /><Relationship Id="rId5" Type="http://schemas.openxmlformats.org/officeDocument/2006/relationships/theme" Target="../theme/theme2.xml" /><Relationship Id="rId4" Type="http://schemas.openxmlformats.org/officeDocument/2006/relationships/slideLayout" Target="../slideLayouts/slideLayout22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A983DE9D-3043-CD58-EF37-FD7A4639229C}"/>
              </a:ext>
            </a:extLst>
          </p:cNvPr>
          <p:cNvSpPr txBox="1"/>
          <p:nvPr userDrawn="1"/>
        </p:nvSpPr>
        <p:spPr>
          <a:xfrm>
            <a:off x="8505523" y="6616896"/>
            <a:ext cx="2817365" cy="259558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algn="ctr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0" u="none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Rotor Bearing System/ Optimus Syria</a:t>
            </a:r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02/12/2025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3" r:id="rId2"/>
    <p:sldLayoutId id="2147483675" r:id="rId3"/>
    <p:sldLayoutId id="2147483678" r:id="rId4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 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 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 /><Relationship Id="rId1" Type="http://schemas.openxmlformats.org/officeDocument/2006/relationships/slideLayout" Target="../slideLayouts/slideLayout5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5.xml" 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 /><Relationship Id="rId2" Type="http://schemas.openxmlformats.org/officeDocument/2006/relationships/image" Target="../media/image11.png" /><Relationship Id="rId1" Type="http://schemas.openxmlformats.org/officeDocument/2006/relationships/slideLayout" Target="../slideLayouts/slideLayout5.xml" /><Relationship Id="rId4" Type="http://schemas.openxmlformats.org/officeDocument/2006/relationships/image" Target="../media/image13.png" 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 /><Relationship Id="rId2" Type="http://schemas.openxmlformats.org/officeDocument/2006/relationships/image" Target="../media/image14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17.png" /><Relationship Id="rId4" Type="http://schemas.openxmlformats.org/officeDocument/2006/relationships/image" Target="../media/image16.png" 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 /><Relationship Id="rId7" Type="http://schemas.openxmlformats.org/officeDocument/2006/relationships/image" Target="../media/image23.png" /><Relationship Id="rId2" Type="http://schemas.openxmlformats.org/officeDocument/2006/relationships/image" Target="../media/image18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2.png" /><Relationship Id="rId5" Type="http://schemas.openxmlformats.org/officeDocument/2006/relationships/image" Target="../media/image21.png" /><Relationship Id="rId4" Type="http://schemas.openxmlformats.org/officeDocument/2006/relationships/image" Target="../media/image20.png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 /><Relationship Id="rId1" Type="http://schemas.openxmlformats.org/officeDocument/2006/relationships/slideLayout" Target="../slideLayouts/slideLayout5.xml" 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 /><Relationship Id="rId7" Type="http://schemas.openxmlformats.org/officeDocument/2006/relationships/image" Target="../media/image30.png" /><Relationship Id="rId2" Type="http://schemas.openxmlformats.org/officeDocument/2006/relationships/image" Target="../media/image25.png" /><Relationship Id="rId1" Type="http://schemas.openxmlformats.org/officeDocument/2006/relationships/slideLayout" Target="../slideLayouts/slideLayout5.xml" /><Relationship Id="rId6" Type="http://schemas.openxmlformats.org/officeDocument/2006/relationships/image" Target="../media/image29.png" /><Relationship Id="rId5" Type="http://schemas.openxmlformats.org/officeDocument/2006/relationships/image" Target="../media/image28.png" /><Relationship Id="rId4" Type="http://schemas.openxmlformats.org/officeDocument/2006/relationships/image" Target="../media/image27.png" 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 /><Relationship Id="rId2" Type="http://schemas.openxmlformats.org/officeDocument/2006/relationships/image" Target="../media/image31.png" /><Relationship Id="rId1" Type="http://schemas.openxmlformats.org/officeDocument/2006/relationships/slideLayout" Target="../slideLayouts/slideLayout5.xml" /><Relationship Id="rId5" Type="http://schemas.openxmlformats.org/officeDocument/2006/relationships/image" Target="../media/image34.png" /><Relationship Id="rId4" Type="http://schemas.openxmlformats.org/officeDocument/2006/relationships/image" Target="../media/image33.png" 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 /><Relationship Id="rId2" Type="http://schemas.openxmlformats.org/officeDocument/2006/relationships/image" Target="../media/image35.png" /><Relationship Id="rId1" Type="http://schemas.openxmlformats.org/officeDocument/2006/relationships/slideLayout" Target="../slideLayouts/slideLayout5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 /><Relationship Id="rId1" Type="http://schemas.openxmlformats.org/officeDocument/2006/relationships/slideLayout" Target="../slideLayouts/slideLayout5.xml" 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th.de/schraubwerkzeuge/hydraulische-drehmomentschrauber" TargetMode="External" /><Relationship Id="rId2" Type="http://schemas.openxmlformats.org/officeDocument/2006/relationships/hyperlink" Target="https://www.skf.com/group/products/rolling-bearings/roller-bearings/spherical-roller-bearings/productid-240%2F1120" TargetMode="External" /><Relationship Id="rId1" Type="http://schemas.openxmlformats.org/officeDocument/2006/relationships/slideLayout" Target="../slideLayouts/slideLayout11.xml" /><Relationship Id="rId6" Type="http://schemas.openxmlformats.org/officeDocument/2006/relationships/hyperlink" Target="https://www.iso.org/standard/38102.html" TargetMode="External" /><Relationship Id="rId5" Type="http://schemas.openxmlformats.org/officeDocument/2006/relationships/hyperlink" Target="https://archive.org/details/manualofsteelcon0000amer" TargetMode="External" /><Relationship Id="rId4" Type="http://schemas.openxmlformats.org/officeDocument/2006/relationships/hyperlink" Target="https://studylib.net/doc/18166049/din-en-10083-steel-for-quenching-and-tempering-part-3-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FC7EDF-25D6-28E8-DCE0-52ED50209C25}"/>
              </a:ext>
            </a:extLst>
          </p:cNvPr>
          <p:cNvSpPr txBox="1"/>
          <p:nvPr/>
        </p:nvSpPr>
        <p:spPr>
          <a:xfrm>
            <a:off x="3913526" y="4104491"/>
            <a:ext cx="4142630" cy="6186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Date: 02</a:t>
            </a:r>
            <a:r>
              <a:rPr lang="it-IT" dirty="0">
                <a:solidFill>
                  <a:srgbClr val="0E2841">
                    <a:lumMod val="90000"/>
                    <a:lumOff val="10000"/>
                  </a:srgbClr>
                </a:solidFill>
                <a:latin typeface="Aptos (Textkörper)"/>
                <a:cs typeface="Times New Roman" panose="02020603050405020304" pitchFamily="18" charset="0"/>
              </a:rPr>
              <a:t> December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 panose="02020603050405020304" pitchFamily="18" charset="0"/>
              </a:rPr>
              <a:t>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8867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E6549-3E86-5AE5-9E5E-148C592FC8CE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00F9B30-73C2-F457-56BA-0324B85690F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9ACFA37C-C6C3-881E-9DEF-5A96ED2C1D15}"/>
              </a:ext>
            </a:extLst>
          </p:cNvPr>
          <p:cNvSpPr txBox="1">
            <a:spLocks/>
          </p:cNvSpPr>
          <p:nvPr/>
        </p:nvSpPr>
        <p:spPr>
          <a:xfrm>
            <a:off x="1565241" y="235849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endParaRPr lang="en-GB" sz="4000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103C8AC-ACFF-082C-E04A-301598446FCB}"/>
              </a:ext>
            </a:extLst>
          </p:cNvPr>
          <p:cNvSpPr txBox="1">
            <a:spLocks/>
          </p:cNvSpPr>
          <p:nvPr/>
        </p:nvSpPr>
        <p:spPr>
          <a:xfrm>
            <a:off x="1158240" y="2516402"/>
            <a:ext cx="10414000" cy="912598"/>
          </a:xfrm>
          <a:prstGeom prst="rect">
            <a:avLst/>
          </a:prstGeom>
        </p:spPr>
        <p:txBody>
          <a:bodyPr numCol="1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ptos (Textkörper)"/>
                <a:ea typeface="+mj-ea"/>
                <a:cs typeface="+mj-cs"/>
              </a:defRPr>
            </a:lvl1pPr>
          </a:lstStyle>
          <a:p>
            <a:r>
              <a:rPr lang="it-IT" sz="4000" dirty="0"/>
              <a:t>Weekly Presentation : Rotor Bearing System</a:t>
            </a:r>
            <a:endParaRPr lang="en-GB" sz="4000" dirty="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C45C6A5A-D647-B958-532A-B6FD2180F534}"/>
              </a:ext>
            </a:extLst>
          </p:cNvPr>
          <p:cNvSpPr txBox="1"/>
          <p:nvPr/>
        </p:nvSpPr>
        <p:spPr>
          <a:xfrm>
            <a:off x="3591498" y="3539230"/>
            <a:ext cx="4786685" cy="12926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it-IT" sz="2000" dirty="0">
                <a:latin typeface="Aptos (Textkörper)"/>
              </a:rPr>
              <a:t>Week number: 10</a:t>
            </a:r>
          </a:p>
          <a:p>
            <a:pPr algn="ctr"/>
            <a:r>
              <a:rPr lang="it-IT" sz="2000" dirty="0">
                <a:latin typeface="Aptos (Textkörper)"/>
              </a:rPr>
              <a:t>Date: 02 /12/2025</a:t>
            </a:r>
          </a:p>
          <a:p>
            <a:pPr algn="ctr"/>
            <a:r>
              <a:rPr lang="it-IT" sz="2000" dirty="0">
                <a:latin typeface="Aptos (Textkörper)"/>
              </a:rPr>
              <a:t>Supervisor: </a:t>
            </a:r>
            <a:r>
              <a:rPr lang="it-IT" sz="2000" dirty="0"/>
              <a:t>Prof.  Peter Quell </a:t>
            </a:r>
            <a:endParaRPr lang="it-IT" sz="2000" dirty="0">
              <a:latin typeface="Aptos (Textkörper)"/>
            </a:endParaRPr>
          </a:p>
          <a:p>
            <a:endParaRPr lang="en-GB" dirty="0"/>
          </a:p>
        </p:txBody>
      </p:sp>
      <p:sp>
        <p:nvSpPr>
          <p:cNvPr id="5" name="Textfeld 12">
            <a:extLst>
              <a:ext uri="{FF2B5EF4-FFF2-40B4-BE49-F238E27FC236}">
                <a16:creationId xmlns:a16="http://schemas.microsoft.com/office/drawing/2014/main" id="{D9A567B7-3E99-FE45-F4F9-8DF602E8F987}"/>
              </a:ext>
            </a:extLst>
          </p:cNvPr>
          <p:cNvSpPr txBox="1">
            <a:spLocks/>
          </p:cNvSpPr>
          <p:nvPr/>
        </p:nvSpPr>
        <p:spPr>
          <a:xfrm>
            <a:off x="1393885" y="4570995"/>
            <a:ext cx="10450286" cy="3711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members: Divyesh Mistry,  Venkata Sreekanth .K , Sreehari Padachery, Jill Sadariya 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BEA2004-2B46-4FBB-0674-B520F411077A}"/>
              </a:ext>
            </a:extLst>
          </p:cNvPr>
          <p:cNvSpPr txBox="1">
            <a:spLocks/>
          </p:cNvSpPr>
          <p:nvPr/>
        </p:nvSpPr>
        <p:spPr>
          <a:xfrm>
            <a:off x="4801762" y="4942122"/>
            <a:ext cx="3399846" cy="36512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DE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 : Venkata Sreekanth .K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3159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0C666DE2-1276-7519-CD3A-64862C4F70A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r>
              <a:rPr lang="de-DE" sz="2400" dirty="0"/>
              <a:t>Bearing Housing.</a:t>
            </a:r>
          </a:p>
          <a:p>
            <a:r>
              <a:rPr lang="de-DE" sz="2400" dirty="0"/>
              <a:t>Static Safety Calculation of Bearing. </a:t>
            </a:r>
          </a:p>
          <a:p>
            <a:r>
              <a:rPr lang="en-US" sz="2400" dirty="0"/>
              <a:t>Lock nut.</a:t>
            </a:r>
          </a:p>
          <a:p>
            <a:r>
              <a:rPr lang="en-US" sz="2400" dirty="0"/>
              <a:t>Shaft.</a:t>
            </a:r>
          </a:p>
          <a:p>
            <a:r>
              <a:rPr lang="de-DE" sz="2400" dirty="0"/>
              <a:t>Rotor Bearing Assembly.</a:t>
            </a:r>
          </a:p>
          <a:p>
            <a:r>
              <a:rPr lang="en-US" sz="2400" dirty="0"/>
              <a:t>Force calculation on Bolts</a:t>
            </a:r>
            <a:endParaRPr lang="de-DE" sz="2400" dirty="0"/>
          </a:p>
          <a:p>
            <a:r>
              <a:rPr lang="en-US" sz="2400" dirty="0"/>
              <a:t>Bibliography.</a:t>
            </a:r>
          </a:p>
          <a:p>
            <a:pPr lvl="1"/>
            <a:endParaRPr lang="de-DE" dirty="0"/>
          </a:p>
        </p:txBody>
      </p:sp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23" name="Datumsplatzhalter 22">
            <a:extLst>
              <a:ext uri="{FF2B5EF4-FFF2-40B4-BE49-F238E27FC236}">
                <a16:creationId xmlns:a16="http://schemas.microsoft.com/office/drawing/2014/main" id="{278CF838-7112-4F3F-EAE6-B2D4ED8F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02/12/2025</a:t>
            </a:r>
            <a:endParaRPr lang="en-GB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  <p:sp>
        <p:nvSpPr>
          <p:cNvPr id="3" name="Datumsplatzhalter 22">
            <a:extLst>
              <a:ext uri="{FF2B5EF4-FFF2-40B4-BE49-F238E27FC236}">
                <a16:creationId xmlns:a16="http://schemas.microsoft.com/office/drawing/2014/main" id="{A6E2EAB9-B1A6-2D7F-9370-FA47D0E5A727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7FC6A-4A46-EA54-71F5-786625E30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Bearing Housing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C3985E-3E0D-30EA-A141-3DD0D20225D4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98A39C-E6FB-AF11-A80B-1D9A52BC1C2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4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5ED3664-9497-D57A-5AD3-1BE3BD660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530220"/>
            <a:ext cx="5708470" cy="4413380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10472B5-E182-CF63-766B-0A736076DE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510071"/>
              </p:ext>
            </p:extLst>
          </p:nvPr>
        </p:nvGraphicFramePr>
        <p:xfrm>
          <a:off x="7632325" y="1530220"/>
          <a:ext cx="4083360" cy="2000079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1866788">
                  <a:extLst>
                    <a:ext uri="{9D8B030D-6E8A-4147-A177-3AD203B41FA5}">
                      <a16:colId xmlns:a16="http://schemas.microsoft.com/office/drawing/2014/main" val="31356471"/>
                    </a:ext>
                  </a:extLst>
                </a:gridCol>
                <a:gridCol w="2216572">
                  <a:extLst>
                    <a:ext uri="{9D8B030D-6E8A-4147-A177-3AD203B41FA5}">
                      <a16:colId xmlns:a16="http://schemas.microsoft.com/office/drawing/2014/main" val="4175256219"/>
                    </a:ext>
                  </a:extLst>
                </a:gridCol>
              </a:tblGrid>
              <a:tr h="22503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parameter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6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value </a:t>
                      </a:r>
                      <a:endParaRPr lang="en-US" sz="1600" b="1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ctr"/>
                </a:tc>
                <a:extLst>
                  <a:ext uri="{0D108BD9-81ED-4DB2-BD59-A6C34878D82A}">
                    <a16:rowId xmlns:a16="http://schemas.microsoft.com/office/drawing/2014/main" val="2507814175"/>
                  </a:ext>
                </a:extLst>
              </a:tr>
              <a:tr h="34429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OD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2500mm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extLst>
                  <a:ext uri="{0D108BD9-81ED-4DB2-BD59-A6C34878D82A}">
                    <a16:rowId xmlns:a16="http://schemas.microsoft.com/office/drawing/2014/main" val="318004745"/>
                  </a:ext>
                </a:extLst>
              </a:tr>
              <a:tr h="34429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Rib radius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1400mm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extLst>
                  <a:ext uri="{0D108BD9-81ED-4DB2-BD59-A6C34878D82A}">
                    <a16:rowId xmlns:a16="http://schemas.microsoft.com/office/drawing/2014/main" val="1248877626"/>
                  </a:ext>
                </a:extLst>
              </a:tr>
              <a:tr h="34429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ID/Bore </a:t>
                      </a:r>
                      <a:r>
                        <a:rPr lang="en-US" sz="1600" b="0" u="none" strike="noStrike" dirty="0" err="1">
                          <a:solidFill>
                            <a:srgbClr val="000000"/>
                          </a:solidFill>
                          <a:effectLst/>
                        </a:rPr>
                        <a:t>dia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2240mm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extLst>
                  <a:ext uri="{0D108BD9-81ED-4DB2-BD59-A6C34878D82A}">
                    <a16:rowId xmlns:a16="http://schemas.microsoft.com/office/drawing/2014/main" val="3223776375"/>
                  </a:ext>
                </a:extLst>
              </a:tr>
              <a:tr h="34429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</a:rPr>
                        <a:t>Width 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640mm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extLst>
                  <a:ext uri="{0D108BD9-81ED-4DB2-BD59-A6C34878D82A}">
                    <a16:rowId xmlns:a16="http://schemas.microsoft.com/office/drawing/2014/main" val="2716429236"/>
                  </a:ext>
                </a:extLst>
              </a:tr>
              <a:tr h="344298"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Total length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effectLst/>
                        </a:rPr>
                        <a:t>3200mm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4964" marR="4964" marT="4964" marB="29785" anchor="b"/>
                </a:tc>
                <a:extLst>
                  <a:ext uri="{0D108BD9-81ED-4DB2-BD59-A6C34878D82A}">
                    <a16:rowId xmlns:a16="http://schemas.microsoft.com/office/drawing/2014/main" val="3966633745"/>
                  </a:ext>
                </a:extLst>
              </a:tr>
            </a:tbl>
          </a:graphicData>
        </a:graphic>
      </p:graphicFrame>
      <p:sp>
        <p:nvSpPr>
          <p:cNvPr id="11" name="Datumsplatzhalter 22">
            <a:extLst>
              <a:ext uri="{FF2B5EF4-FFF2-40B4-BE49-F238E27FC236}">
                <a16:creationId xmlns:a16="http://schemas.microsoft.com/office/drawing/2014/main" id="{5F130CA0-FE85-EAF4-E91F-DD866EAAB310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8867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170683-0914-CE87-EB5E-80566F254AF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22FCE-BFF2-BDC1-3A2D-61176113F79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5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6C061D2-74D4-ECAE-7AE9-FF5CF622B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8582" y="1520888"/>
            <a:ext cx="4347152" cy="40308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DF4D349-25AD-E0DC-0FC0-4C578B59B7B0}"/>
              </a:ext>
            </a:extLst>
          </p:cNvPr>
          <p:cNvSpPr txBox="1"/>
          <p:nvPr/>
        </p:nvSpPr>
        <p:spPr>
          <a:xfrm>
            <a:off x="260513" y="1520888"/>
            <a:ext cx="642020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highlight>
                  <a:srgbClr val="FFFF00"/>
                </a:highlight>
              </a:rPr>
              <a:t>L1: Distance between hub and bearing A  </a:t>
            </a:r>
            <a:r>
              <a:rPr lang="en-US" sz="1600" dirty="0"/>
              <a:t>=( half length of bearing +  space  between flange and bearing housing+ Integrated rotor lock disc flange thickness+  hub center distance)=  </a:t>
            </a:r>
          </a:p>
          <a:p>
            <a:pPr algn="l"/>
            <a:r>
              <a:rPr lang="en-US" sz="1600" dirty="0"/>
              <a:t>        L1 = 315mm+300mm+250mm+1705mm = 2570mm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L2: Distance between hub and bearing B=  L1+bearing A center to  Bearing B center distance     = 2570+3000mm</a:t>
            </a:r>
          </a:p>
          <a:p>
            <a:r>
              <a:rPr lang="en-US" sz="1600" dirty="0"/>
              <a:t>                                                                  =5570mm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Hub-</a:t>
            </a:r>
            <a:r>
              <a:rPr lang="en-US" sz="1600" dirty="0" err="1"/>
              <a:t>CoG</a:t>
            </a:r>
            <a:r>
              <a:rPr lang="en-US" sz="1600" dirty="0"/>
              <a:t> Shaft Ls=  Length of shaft until its Center of Mass + 1705 mm</a:t>
            </a:r>
          </a:p>
          <a:p>
            <a:r>
              <a:rPr lang="en-US" sz="1600" dirty="0"/>
              <a:t>                                                =929.69mm+ 1705mm</a:t>
            </a:r>
          </a:p>
          <a:p>
            <a:r>
              <a:rPr lang="en-US" sz="1600" dirty="0"/>
              <a:t>                                               =2634.69mm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/>
              <a:t>Hub- </a:t>
            </a:r>
            <a:r>
              <a:rPr lang="en-US" sz="1600" dirty="0" err="1"/>
              <a:t>CoG</a:t>
            </a:r>
            <a:r>
              <a:rPr lang="en-US" sz="1600" dirty="0"/>
              <a:t> Gearbox Lg =  1600mm(half of gear box width) + 75mm+3000mm+1705mm =6380mm</a:t>
            </a:r>
          </a:p>
          <a:p>
            <a:r>
              <a:rPr lang="en-US" sz="1600" dirty="0"/>
              <a:t>      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9B9FF-602D-6F16-7F2A-038D31492639}"/>
              </a:ext>
            </a:extLst>
          </p:cNvPr>
          <p:cNvSpPr txBox="1"/>
          <p:nvPr/>
        </p:nvSpPr>
        <p:spPr>
          <a:xfrm>
            <a:off x="9675845" y="6206060"/>
            <a:ext cx="2516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Optimus Syria ,Rotor Hub</a:t>
            </a:r>
            <a:r>
              <a:rPr lang="en-US" sz="1200" b="0" i="0" dirty="0">
                <a:effectLst/>
              </a:rPr>
              <a:t> </a:t>
            </a:r>
            <a:endParaRPr lang="en-US" sz="1200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1DDFEFFB-697E-3BC6-4BCD-EBC8E4211B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574"/>
            <a:ext cx="10515600" cy="1325563"/>
          </a:xfrm>
        </p:spPr>
        <p:txBody>
          <a:bodyPr>
            <a:normAutofit/>
          </a:bodyPr>
          <a:lstStyle/>
          <a:p>
            <a:r>
              <a:rPr lang="de-DE" sz="2400" b="1" dirty="0"/>
              <a:t>Static Safety Calculation of Bearing </a:t>
            </a:r>
            <a:r>
              <a:rPr lang="de-DE" sz="2400" dirty="0"/>
              <a:t> (Based on Assumption and scaling up factor)</a:t>
            </a:r>
          </a:p>
        </p:txBody>
      </p:sp>
      <p:sp>
        <p:nvSpPr>
          <p:cNvPr id="12" name="Datumsplatzhalter 22">
            <a:extLst>
              <a:ext uri="{FF2B5EF4-FFF2-40B4-BE49-F238E27FC236}">
                <a16:creationId xmlns:a16="http://schemas.microsoft.com/office/drawing/2014/main" id="{E30A641C-7B5B-859F-4C6B-C8C0A48A8591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6559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05AE9-AF87-198E-C7C7-23F9E5C0EC2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F783E7-4804-6B8F-D045-31D0B869B83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6</a:t>
            </a:fld>
            <a:endParaRPr lang="en-GB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F1B35C-52BD-7549-4975-36F5FA8D7C3A}"/>
              </a:ext>
            </a:extLst>
          </p:cNvPr>
          <p:cNvSpPr txBox="1"/>
          <p:nvPr/>
        </p:nvSpPr>
        <p:spPr>
          <a:xfrm>
            <a:off x="838199" y="1436914"/>
            <a:ext cx="105156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Scaled  up value of  inputs  from Optimus Shakti , for the forces required for the bearing selection process 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CE61C97-FEE5-FB1C-EE95-C8102D2D10F2}"/>
              </a:ext>
            </a:extLst>
          </p:cNvPr>
          <p:cNvGrpSpPr/>
          <p:nvPr/>
        </p:nvGrpSpPr>
        <p:grpSpPr>
          <a:xfrm>
            <a:off x="9081871" y="3350629"/>
            <a:ext cx="3495613" cy="689035"/>
            <a:chOff x="5665388" y="3857812"/>
            <a:chExt cx="3495613" cy="6890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3E2E930-EFDD-F3AD-01B6-BB6E1ADFC032}"/>
                    </a:ext>
                  </a:extLst>
                </p:cNvPr>
                <p:cNvSpPr txBox="1"/>
                <p:nvPr/>
              </p:nvSpPr>
              <p:spPr>
                <a:xfrm>
                  <a:off x="6941319" y="3857812"/>
                  <a:ext cx="543236" cy="68903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24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nor/>
                              </m:rPr>
                              <a:rPr lang="en-US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𝐌</m:t>
                            </m:r>
                            <m:r>
                              <m:rPr>
                                <m:nor/>
                              </m:rPr>
                              <a:rPr lang="en-US" sz="2400" b="0" i="0" baseline="-25000" dirty="0" smtClean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Shakti</m:t>
                            </m:r>
                            <m:r>
                              <m:rPr>
                                <m:nor/>
                              </m:rPr>
                              <a:rPr lang="en-US" sz="2400" b="0" i="0" baseline="-25000" dirty="0" smtClean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m:rPr>
                                <m:nor/>
                              </m:rPr>
                              <a:rPr lang="en-US" sz="24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𝐌</m:t>
                            </m:r>
                            <m:r>
                              <m:rPr>
                                <m:nor/>
                              </m:rPr>
                              <a:rPr lang="en-US" sz="2400" baseline="-25000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Syria</m:t>
                            </m:r>
                          </m:num>
                          <m:den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oMath>
                    </m:oMathPara>
                  </a14:m>
                  <a:endParaRPr lang="en-US" sz="24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93E2E930-EFDD-F3AD-01B6-BB6E1ADFC0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41319" y="3857812"/>
                  <a:ext cx="543236" cy="689035"/>
                </a:xfrm>
                <a:prstGeom prst="rect">
                  <a:avLst/>
                </a:prstGeom>
                <a:blipFill>
                  <a:blip r:embed="rId2"/>
                  <a:stretch>
                    <a:fillRect r="-19438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5F95CAF4-6D6D-8960-45DB-FCF609335960}"/>
                </a:ext>
              </a:extLst>
            </p:cNvPr>
            <p:cNvSpPr txBox="1"/>
            <p:nvPr/>
          </p:nvSpPr>
          <p:spPr>
            <a:xfrm>
              <a:off x="5665388" y="4002274"/>
              <a:ext cx="349561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𝐌</a:t>
              </a:r>
              <a:r>
                <a:rPr lang="en-US" sz="2000" baseline="-25000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Syria,II</a:t>
              </a:r>
              <a:r>
                <a:rPr lang="en-US" sz="20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 </a:t>
              </a:r>
              <a:r>
                <a:rPr lang="en-US" sz="18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=</a:t>
              </a:r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026F6AF-555E-1462-E4AA-AE1938DB8A37}"/>
              </a:ext>
            </a:extLst>
          </p:cNvPr>
          <p:cNvGrpSpPr/>
          <p:nvPr/>
        </p:nvGrpSpPr>
        <p:grpSpPr>
          <a:xfrm>
            <a:off x="8977815" y="2088491"/>
            <a:ext cx="2955720" cy="1160687"/>
            <a:chOff x="432247" y="1713111"/>
            <a:chExt cx="3128371" cy="128665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6426488-18C9-B777-E255-796BBD9B4F5F}"/>
                    </a:ext>
                  </a:extLst>
                </p:cNvPr>
                <p:cNvSpPr txBox="1"/>
                <p:nvPr/>
              </p:nvSpPr>
              <p:spPr>
                <a:xfrm>
                  <a:off x="838200" y="1963931"/>
                  <a:ext cx="1323109" cy="62966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14:m>
                    <m:oMath xmlns:m="http://schemas.openxmlformats.org/officeDocument/2006/math">
                      <m:f>
                        <m:fPr>
                          <m:ctrlPr>
                            <a:rPr lang="en-US" sz="2400" i="1" baseline="-250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𝐌</m:t>
                          </m:r>
                          <m:r>
                            <m:rPr>
                              <m:nor/>
                            </m:rP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Shakti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sz="24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𝐌</m:t>
                          </m:r>
                          <m:r>
                            <m:rPr>
                              <m:nor/>
                            </m:rPr>
                            <a:rPr lang="en-US" sz="2400" baseline="-25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Syri</m:t>
                          </m:r>
                          <m:r>
                            <a:rPr lang="en-US" sz="2400" b="0" i="1" baseline="-2500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  <m:r>
                            <a:rPr lang="en-US" sz="2400" b="0" i="1" baseline="-2500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400" b="0" i="1" baseline="-25000" dirty="0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𝐼𝐼𝐼𝐴</m:t>
                          </m:r>
                        </m:den>
                      </m:f>
                    </m:oMath>
                  </a14:m>
                  <a:r>
                    <a:rPr lang="en-US" sz="2400" baseline="-250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=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36426488-18C9-B777-E255-796BBD9B4F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1963931"/>
                  <a:ext cx="1323109" cy="629660"/>
                </a:xfrm>
                <a:prstGeom prst="rect">
                  <a:avLst/>
                </a:prstGeom>
                <a:blipFill>
                  <a:blip r:embed="rId3"/>
                  <a:stretch>
                    <a:fillRect l="-488" r="-3902" b="-3548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90839D6-6EB9-2BF7-BFF5-5AD7649A9238}"/>
                    </a:ext>
                  </a:extLst>
                </p:cNvPr>
                <p:cNvSpPr txBox="1"/>
                <p:nvPr/>
              </p:nvSpPr>
              <p:spPr>
                <a:xfrm>
                  <a:off x="1921755" y="1975450"/>
                  <a:ext cx="1427475" cy="701539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i="1" baseline="-25000">
                                        <a:latin typeface="Cambria Math" panose="02040503050406030204" pitchFamily="18" charset="0"/>
                                      </a:rPr>
                                      <m:t>𝑠h𝑎𝑘𝑡h𝑖</m:t>
                                    </m:r>
                                  </m:num>
                                  <m:den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𝐷</m:t>
                                    </m:r>
                                    <m:r>
                                      <a:rPr lang="en-US" i="1" baseline="-25000">
                                        <a:latin typeface="Cambria Math" panose="02040503050406030204" pitchFamily="18" charset="0"/>
                                      </a:rPr>
                                      <m:t>𝑠𝑦𝑟𝑖𝑎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190839D6-6EB9-2BF7-BFF5-5AD7649A923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21755" y="1975450"/>
                  <a:ext cx="1427475" cy="701539"/>
                </a:xfrm>
                <a:prstGeom prst="rect">
                  <a:avLst/>
                </a:prstGeom>
                <a:blipFill>
                  <a:blip r:embed="rId4"/>
                  <a:stretch>
                    <a:fillRect b="-769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9E0A721F-E256-8756-494A-9F37BA6E65D1}"/>
                </a:ext>
              </a:extLst>
            </p:cNvPr>
            <p:cNvSpPr/>
            <p:nvPr/>
          </p:nvSpPr>
          <p:spPr>
            <a:xfrm>
              <a:off x="432247" y="1713111"/>
              <a:ext cx="3128371" cy="1286650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78BDBA90-634E-E383-2038-DD15A4A639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4603244"/>
              </p:ext>
            </p:extLst>
          </p:nvPr>
        </p:nvGraphicFramePr>
        <p:xfrm>
          <a:off x="762719" y="2237032"/>
          <a:ext cx="3858116" cy="3437650"/>
        </p:xfrm>
        <a:graphic>
          <a:graphicData uri="http://schemas.openxmlformats.org/drawingml/2006/table">
            <a:tbl>
              <a:tblPr/>
              <a:tblGrid>
                <a:gridCol w="964529">
                  <a:extLst>
                    <a:ext uri="{9D8B030D-6E8A-4147-A177-3AD203B41FA5}">
                      <a16:colId xmlns:a16="http://schemas.microsoft.com/office/drawing/2014/main" val="1440911189"/>
                    </a:ext>
                  </a:extLst>
                </a:gridCol>
                <a:gridCol w="964529">
                  <a:extLst>
                    <a:ext uri="{9D8B030D-6E8A-4147-A177-3AD203B41FA5}">
                      <a16:colId xmlns:a16="http://schemas.microsoft.com/office/drawing/2014/main" val="1180478264"/>
                    </a:ext>
                  </a:extLst>
                </a:gridCol>
                <a:gridCol w="1344878">
                  <a:extLst>
                    <a:ext uri="{9D8B030D-6E8A-4147-A177-3AD203B41FA5}">
                      <a16:colId xmlns:a16="http://schemas.microsoft.com/office/drawing/2014/main" val="2580388253"/>
                    </a:ext>
                  </a:extLst>
                </a:gridCol>
                <a:gridCol w="584180">
                  <a:extLst>
                    <a:ext uri="{9D8B030D-6E8A-4147-A177-3AD203B41FA5}">
                      <a16:colId xmlns:a16="http://schemas.microsoft.com/office/drawing/2014/main" val="2307653815"/>
                    </a:ext>
                  </a:extLst>
                </a:gridCol>
              </a:tblGrid>
              <a:tr h="19240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Type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Variable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Value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Unit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6371464"/>
                  </a:ext>
                </a:extLst>
              </a:tr>
              <a:tr h="19240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Moments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</a:t>
                      </a:r>
                      <a:r>
                        <a:rPr lang="en-US" sz="1600" baseline="-25000" dirty="0">
                          <a:effectLst/>
                        </a:rPr>
                        <a:t>XR</a:t>
                      </a:r>
                      <a:r>
                        <a:rPr lang="en-US" sz="1600" dirty="0">
                          <a:effectLst/>
                        </a:rPr>
                        <a:t>​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600">
                          <a:effectLst/>
                        </a:rPr>
                        <a:t>14308.27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kNm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6685185"/>
                  </a:ext>
                </a:extLst>
              </a:tr>
              <a:tr h="19240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>
                        <a:effectLst/>
                      </a:endParaRP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</a:t>
                      </a:r>
                      <a:r>
                        <a:rPr lang="en-US" sz="1600" baseline="-25000" dirty="0">
                          <a:effectLst/>
                        </a:rPr>
                        <a:t>YR</a:t>
                      </a:r>
                      <a:r>
                        <a:rPr lang="en-US" sz="1600" dirty="0">
                          <a:effectLst/>
                        </a:rPr>
                        <a:t>​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600">
                          <a:effectLst/>
                        </a:rPr>
                        <a:t>19001.85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kNm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5059649"/>
                  </a:ext>
                </a:extLst>
              </a:tr>
              <a:tr h="28354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 dirty="0">
                        <a:effectLst/>
                      </a:endParaRP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</a:t>
                      </a:r>
                      <a:r>
                        <a:rPr lang="en-US" sz="1600" baseline="-25000" dirty="0">
                          <a:effectLst/>
                        </a:rPr>
                        <a:t>ZR</a:t>
                      </a:r>
                      <a:r>
                        <a:rPr lang="en-US" sz="1600" dirty="0">
                          <a:effectLst/>
                        </a:rPr>
                        <a:t>​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-1861.05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kNm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059469"/>
                  </a:ext>
                </a:extLst>
              </a:tr>
              <a:tr h="19240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Reaction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</a:rPr>
                        <a:t>F</a:t>
                      </a:r>
                      <a:r>
                        <a:rPr lang="en-US" sz="1600" baseline="-25000" dirty="0">
                          <a:effectLst/>
                          <a:highlight>
                            <a:srgbClr val="FFFF00"/>
                          </a:highlight>
                        </a:rPr>
                        <a:t>XR</a:t>
                      </a: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</a:rPr>
                        <a:t>​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600" dirty="0">
                          <a:effectLst/>
                          <a:highlight>
                            <a:srgbClr val="FFFF00"/>
                          </a:highlight>
                        </a:rPr>
                        <a:t>1404.5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 err="1">
                          <a:effectLst/>
                          <a:highlight>
                            <a:srgbClr val="FFFF00"/>
                          </a:highlight>
                        </a:rPr>
                        <a:t>kN</a:t>
                      </a:r>
                      <a:endParaRPr lang="en-US" sz="1600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8580982"/>
                  </a:ext>
                </a:extLst>
              </a:tr>
              <a:tr h="19240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Forces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</a:t>
                      </a:r>
                      <a:r>
                        <a:rPr lang="en-US" sz="1600" baseline="-25000" dirty="0">
                          <a:effectLst/>
                        </a:rPr>
                        <a:t>YR</a:t>
                      </a:r>
                      <a:r>
                        <a:rPr lang="en-US" sz="1600" dirty="0">
                          <a:effectLst/>
                        </a:rPr>
                        <a:t>​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1570.59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kN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494825"/>
                  </a:ext>
                </a:extLst>
              </a:tr>
              <a:tr h="19240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>
                        <a:effectLst/>
                      </a:endParaRP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</a:t>
                      </a:r>
                      <a:r>
                        <a:rPr lang="en-US" sz="1600" baseline="-25000" dirty="0">
                          <a:effectLst/>
                        </a:rPr>
                        <a:t>ZR</a:t>
                      </a:r>
                      <a:r>
                        <a:rPr lang="en-US" sz="1600" dirty="0">
                          <a:effectLst/>
                        </a:rPr>
                        <a:t>​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1566.97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kN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1116353"/>
                  </a:ext>
                </a:extLst>
              </a:tr>
              <a:tr h="19240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Weights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F</a:t>
                      </a:r>
                      <a:r>
                        <a:rPr lang="en-US" sz="1600" baseline="-25000" dirty="0">
                          <a:effectLst/>
                        </a:rPr>
                        <a:t>s</a:t>
                      </a:r>
                      <a:r>
                        <a:rPr lang="en-US" sz="1600" dirty="0">
                          <a:effectLst/>
                        </a:rPr>
                        <a:t>​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339.54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kN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8127231"/>
                  </a:ext>
                </a:extLst>
              </a:tr>
              <a:tr h="139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>
                        <a:effectLst/>
                      </a:endParaRP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 err="1">
                          <a:effectLst/>
                        </a:rPr>
                        <a:t>Fg</a:t>
                      </a:r>
                      <a:r>
                        <a:rPr lang="en-US" sz="1600" dirty="0">
                          <a:effectLst/>
                        </a:rPr>
                        <a:t>​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83.385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kN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1168849"/>
                  </a:ext>
                </a:extLst>
              </a:tr>
              <a:tr h="19240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Lengths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l1​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2570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mm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0117822"/>
                  </a:ext>
                </a:extLst>
              </a:tr>
              <a:tr h="139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>
                        <a:effectLst/>
                      </a:endParaRP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l2​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600">
                          <a:effectLst/>
                        </a:rPr>
                        <a:t>5570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mm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7148635"/>
                  </a:ext>
                </a:extLst>
              </a:tr>
              <a:tr h="192406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>
                        <a:effectLst/>
                      </a:endParaRP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ls​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600">
                          <a:effectLst/>
                        </a:rPr>
                        <a:t>2634.69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mm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059490"/>
                  </a:ext>
                </a:extLst>
              </a:tr>
              <a:tr h="139020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endParaRPr lang="en-US" sz="1600">
                        <a:effectLst/>
                      </a:endParaRP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>
                          <a:effectLst/>
                        </a:rPr>
                        <a:t>lg​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600">
                          <a:effectLst/>
                        </a:rPr>
                        <a:t>6380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600" dirty="0">
                          <a:effectLst/>
                        </a:rPr>
                        <a:t>mm</a:t>
                      </a:r>
                    </a:p>
                  </a:txBody>
                  <a:tcPr marL="14251" marR="14251" marT="9501" marB="9501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5390889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2D263D8-818A-C205-0D27-40C71722F1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4448974"/>
              </p:ext>
            </p:extLst>
          </p:nvPr>
        </p:nvGraphicFramePr>
        <p:xfrm>
          <a:off x="5236983" y="2453656"/>
          <a:ext cx="3612504" cy="1586008"/>
        </p:xfrm>
        <a:graphic>
          <a:graphicData uri="http://schemas.openxmlformats.org/drawingml/2006/table">
            <a:tbl>
              <a:tblPr/>
              <a:tblGrid>
                <a:gridCol w="1475700">
                  <a:extLst>
                    <a:ext uri="{9D8B030D-6E8A-4147-A177-3AD203B41FA5}">
                      <a16:colId xmlns:a16="http://schemas.microsoft.com/office/drawing/2014/main" val="2960834935"/>
                    </a:ext>
                  </a:extLst>
                </a:gridCol>
                <a:gridCol w="932636">
                  <a:extLst>
                    <a:ext uri="{9D8B030D-6E8A-4147-A177-3AD203B41FA5}">
                      <a16:colId xmlns:a16="http://schemas.microsoft.com/office/drawing/2014/main" val="1534638722"/>
                    </a:ext>
                  </a:extLst>
                </a:gridCol>
                <a:gridCol w="1204168">
                  <a:extLst>
                    <a:ext uri="{9D8B030D-6E8A-4147-A177-3AD203B41FA5}">
                      <a16:colId xmlns:a16="http://schemas.microsoft.com/office/drawing/2014/main" val="2923188962"/>
                    </a:ext>
                  </a:extLst>
                </a:gridCol>
              </a:tblGrid>
              <a:tr h="3510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Force Component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>
                          <a:effectLst/>
                        </a:rPr>
                        <a:t>Value (kN)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>
                          <a:effectLst/>
                        </a:rPr>
                        <a:t>Unit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7153060"/>
                  </a:ext>
                </a:extLst>
              </a:tr>
              <a:tr h="3510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F</a:t>
                      </a:r>
                      <a:r>
                        <a:rPr lang="en-US" sz="1800" baseline="-25000" dirty="0">
                          <a:effectLst/>
                        </a:rPr>
                        <a:t>AY</a:t>
                      </a:r>
                      <a:r>
                        <a:rPr lang="en-US" sz="1800" dirty="0">
                          <a:effectLst/>
                        </a:rPr>
                        <a:t>​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-3536.41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>
                          <a:effectLst/>
                        </a:rPr>
                        <a:t>kN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4679801"/>
                  </a:ext>
                </a:extLst>
              </a:tr>
              <a:tr h="351044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F</a:t>
                      </a:r>
                      <a:r>
                        <a:rPr lang="en-US" sz="1800" baseline="-25000" dirty="0">
                          <a:effectLst/>
                        </a:rPr>
                        <a:t>AZ</a:t>
                      </a:r>
                      <a:r>
                        <a:rPr lang="en-US" sz="1800" dirty="0">
                          <a:effectLst/>
                        </a:rPr>
                        <a:t>​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800" dirty="0">
                          <a:effectLst/>
                        </a:rPr>
                        <a:t>-8888.56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>
                          <a:effectLst/>
                        </a:rPr>
                        <a:t>kN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962145"/>
                  </a:ext>
                </a:extLst>
              </a:tr>
              <a:tr h="238208"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</a:rPr>
                        <a:t>F</a:t>
                      </a:r>
                      <a:r>
                        <a:rPr lang="en-US" sz="1800" baseline="-25000" dirty="0">
                          <a:effectLst/>
                          <a:highlight>
                            <a:srgbClr val="FFFF00"/>
                          </a:highlight>
                        </a:rPr>
                        <a:t>A ,result</a:t>
                      </a: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</a:rPr>
                        <a:t>​​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rtl="0" fontAlgn="b">
                        <a:buNone/>
                      </a:pPr>
                      <a:r>
                        <a:rPr lang="en-US" sz="1800" dirty="0">
                          <a:effectLst/>
                          <a:highlight>
                            <a:srgbClr val="FFFF00"/>
                          </a:highlight>
                        </a:rPr>
                        <a:t>9566.23</a:t>
                      </a: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b">
                        <a:buNone/>
                      </a:pPr>
                      <a:r>
                        <a:rPr lang="en-US" sz="1800" dirty="0" err="1">
                          <a:effectLst/>
                          <a:highlight>
                            <a:srgbClr val="FFFF00"/>
                          </a:highlight>
                        </a:rPr>
                        <a:t>kN</a:t>
                      </a:r>
                      <a:endParaRPr lang="en-US" sz="1800" dirty="0">
                        <a:effectLst/>
                        <a:highlight>
                          <a:srgbClr val="FFFF00"/>
                        </a:highlight>
                      </a:endParaRPr>
                    </a:p>
                  </a:txBody>
                  <a:tcPr marL="22860" marR="22860" marT="15240" marB="15240" anchor="b">
                    <a:lnL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196744"/>
                  </a:ext>
                </a:extLst>
              </a:tr>
            </a:tbl>
          </a:graphicData>
        </a:graphic>
      </p:graphicFrame>
      <p:sp>
        <p:nvSpPr>
          <p:cNvPr id="27" name="Arrow: Right 26">
            <a:extLst>
              <a:ext uri="{FF2B5EF4-FFF2-40B4-BE49-F238E27FC236}">
                <a16:creationId xmlns:a16="http://schemas.microsoft.com/office/drawing/2014/main" id="{F507EEE3-A15F-014F-A655-C5610D675E72}"/>
              </a:ext>
            </a:extLst>
          </p:cNvPr>
          <p:cNvSpPr/>
          <p:nvPr/>
        </p:nvSpPr>
        <p:spPr>
          <a:xfrm>
            <a:off x="4749163" y="3249178"/>
            <a:ext cx="401335" cy="17982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itel 1">
            <a:extLst>
              <a:ext uri="{FF2B5EF4-FFF2-40B4-BE49-F238E27FC236}">
                <a16:creationId xmlns:a16="http://schemas.microsoft.com/office/drawing/2014/main" id="{6E07F892-8840-9A7C-12C9-E53D071654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574"/>
            <a:ext cx="10515600" cy="1325563"/>
          </a:xfrm>
        </p:spPr>
        <p:txBody>
          <a:bodyPr>
            <a:normAutofit/>
          </a:bodyPr>
          <a:lstStyle/>
          <a:p>
            <a:r>
              <a:rPr lang="de-DE" sz="2400" dirty="0"/>
              <a:t>Static Safety Calculation of Bearing  (Based on Assumption and scaling up factor)</a:t>
            </a:r>
          </a:p>
        </p:txBody>
      </p:sp>
      <p:sp>
        <p:nvSpPr>
          <p:cNvPr id="31" name="Datumsplatzhalter 22">
            <a:extLst>
              <a:ext uri="{FF2B5EF4-FFF2-40B4-BE49-F238E27FC236}">
                <a16:creationId xmlns:a16="http://schemas.microsoft.com/office/drawing/2014/main" id="{D3A7E765-7BBA-9235-0F7F-FE785F71CA0E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963187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19B21-B2AF-4C80-39C5-1B932BC4C1A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343A96-E0A1-20FA-2B95-E13B7EB6081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7</a:t>
            </a:fld>
            <a:endParaRPr lang="en-GB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A7C7DC-E08D-7CE2-8FE4-3F618186CF80}"/>
              </a:ext>
            </a:extLst>
          </p:cNvPr>
          <p:cNvSpPr txBox="1"/>
          <p:nvPr/>
        </p:nvSpPr>
        <p:spPr>
          <a:xfrm>
            <a:off x="551984" y="1720840"/>
            <a:ext cx="962919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</a:t>
            </a:r>
            <a:r>
              <a:rPr lang="en-US" baseline="-25000" dirty="0"/>
              <a:t>𝑜 </a:t>
            </a:r>
            <a:r>
              <a:rPr lang="en-US" dirty="0"/>
              <a:t>= Equivalent static loading by </a:t>
            </a:r>
            <a:r>
              <a:rPr lang="en-US" dirty="0" err="1"/>
              <a:t>releavant</a:t>
            </a:r>
            <a:r>
              <a:rPr lang="en-US" dirty="0"/>
              <a:t>  Load cases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     P</a:t>
            </a:r>
            <a:r>
              <a:rPr lang="en-US" baseline="-25000" dirty="0"/>
              <a:t>𝑜</a:t>
            </a:r>
            <a:r>
              <a:rPr lang="en-US" dirty="0"/>
              <a:t>=𝑋𝑜𝐹A𝑅𝑒𝑠𝑢𝑙𝑡𝑎𝑛𝑡+(𝑌𝑜∗𝐹𝑎,x)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From ISO 281 , X0=1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Y</a:t>
            </a:r>
            <a:r>
              <a:rPr lang="en-US" baseline="-25000" dirty="0"/>
              <a:t>0</a:t>
            </a:r>
            <a:r>
              <a:rPr lang="en-US" dirty="0"/>
              <a:t>= 2.5  Assumed value  from SKF catalogue of 240 series.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</a:t>
            </a:r>
            <a:r>
              <a:rPr lang="en-US" baseline="-25000" dirty="0" err="1"/>
              <a:t>a,x</a:t>
            </a:r>
            <a:r>
              <a:rPr lang="en-US" dirty="0"/>
              <a:t>  =-F </a:t>
            </a:r>
            <a:r>
              <a:rPr lang="en-US" dirty="0" err="1"/>
              <a:t>r,x</a:t>
            </a:r>
            <a:r>
              <a:rPr lang="en-US" dirty="0"/>
              <a:t> = -1404.5KN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Fa,resultant</a:t>
            </a:r>
            <a:r>
              <a:rPr lang="en-US" dirty="0"/>
              <a:t> = 9566.23KN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P0= 6054.98KN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highlight>
                <a:srgbClr val="FFFF00"/>
              </a:highligh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5A68517-2D1B-E2AD-4E07-576883B1878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" r="3134"/>
          <a:stretch>
            <a:fillRect/>
          </a:stretch>
        </p:blipFill>
        <p:spPr>
          <a:xfrm>
            <a:off x="7366442" y="1420765"/>
            <a:ext cx="4618806" cy="2008235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DCF63A85-9C0E-E63C-3053-0A18FD74DD56}"/>
              </a:ext>
            </a:extLst>
          </p:cNvPr>
          <p:cNvSpPr txBox="1"/>
          <p:nvPr/>
        </p:nvSpPr>
        <p:spPr>
          <a:xfrm>
            <a:off x="9675845" y="6206060"/>
            <a:ext cx="25161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ISO 281:2007</a:t>
            </a:r>
            <a:r>
              <a:rPr lang="en-US" sz="1200" b="0" i="0" dirty="0">
                <a:effectLst/>
              </a:rPr>
              <a:t> </a:t>
            </a:r>
            <a:endParaRPr lang="en-US" sz="1200" dirty="0"/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4032BDDB-B2E1-4ADD-3AAC-F2953DD80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574"/>
            <a:ext cx="10515600" cy="1325563"/>
          </a:xfrm>
        </p:spPr>
        <p:txBody>
          <a:bodyPr>
            <a:normAutofit/>
          </a:bodyPr>
          <a:lstStyle/>
          <a:p>
            <a:r>
              <a:rPr lang="de-DE" sz="2400" dirty="0"/>
              <a:t>Static Safety Calculation of Bearing  (Based on Assumption and scaling up factor)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8BBFFFC-B5E9-8898-C3C5-8AA31E292BB3}"/>
                  </a:ext>
                </a:extLst>
              </p:cNvPr>
              <p:cNvSpPr txBox="1"/>
              <p:nvPr/>
            </p:nvSpPr>
            <p:spPr>
              <a:xfrm>
                <a:off x="551984" y="3811597"/>
                <a:ext cx="8041510" cy="159550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S</a:t>
                </a:r>
                <a:r>
                  <a:rPr lang="en-US" baseline="-25000" dirty="0"/>
                  <a:t>0</a:t>
                </a:r>
                <a:r>
                  <a:rPr lang="en-US" dirty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endParaRPr lang="en-US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S</a:t>
                </a:r>
                <a:r>
                  <a:rPr lang="en-US" baseline="-25000" dirty="0"/>
                  <a:t>0</a:t>
                </a:r>
                <a:r>
                  <a:rPr lang="en-US" dirty="0"/>
                  <a:t>= Static safety factor 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r>
                  <a:rPr lang="en-US" dirty="0"/>
                  <a:t>C</a:t>
                </a:r>
                <a:r>
                  <a:rPr lang="en-US" baseline="-25000" dirty="0"/>
                  <a:t>o</a:t>
                </a:r>
                <a:r>
                  <a:rPr lang="en-US" dirty="0"/>
                  <a:t>= Static Load rating, Assuming  </a:t>
                </a:r>
                <a:r>
                  <a:rPr lang="en-US" dirty="0">
                    <a:highlight>
                      <a:srgbClr val="FFFF00"/>
                    </a:highlight>
                  </a:rPr>
                  <a:t>60000KN , </a:t>
                </a:r>
                <a:r>
                  <a:rPr lang="en-US" dirty="0"/>
                  <a:t>From SKF catalogue 240 Series. 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:endParaRPr lang="en-US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8BBFFFC-B5E9-8898-C3C5-8AA31E292B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4" y="3811597"/>
                <a:ext cx="8041510" cy="1595501"/>
              </a:xfrm>
              <a:prstGeom prst="rect">
                <a:avLst/>
              </a:prstGeom>
              <a:blipFill>
                <a:blip r:embed="rId3"/>
                <a:stretch>
                  <a:fillRect l="-5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FDD95C-E5D8-F7AF-A6EA-8AD8ED2255E0}"/>
                  </a:ext>
                </a:extLst>
              </p:cNvPr>
              <p:cNvSpPr txBox="1"/>
              <p:nvPr/>
            </p:nvSpPr>
            <p:spPr>
              <a:xfrm>
                <a:off x="551984" y="5231238"/>
                <a:ext cx="6139542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</a:t>
                </a:r>
                <a:r>
                  <a:rPr kumimoji="0" lang="en-US" sz="1800" b="0" i="0" u="none" strike="noStrike" kern="1200" cap="none" spc="0" normalizeH="0" baseline="-2500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0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60000 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𝐾𝑁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6054.98 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𝑘𝑁</m:t>
                        </m:r>
                      </m:den>
                    </m:f>
                  </m:oMath>
                </a14:m>
                <a:r>
                  <a:rPr lang="en-US" dirty="0"/>
                  <a:t> = </a:t>
                </a:r>
                <a:r>
                  <a:rPr lang="en-US" dirty="0">
                    <a:highlight>
                      <a:srgbClr val="FFFF00"/>
                    </a:highlight>
                  </a:rPr>
                  <a:t>9.08</a:t>
                </a:r>
                <a:r>
                  <a:rPr lang="en-US" dirty="0"/>
                  <a:t> , which is very much greater than “2”, 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FDD95C-E5D8-F7AF-A6EA-8AD8ED2255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984" y="5231238"/>
                <a:ext cx="6139542" cy="485774"/>
              </a:xfrm>
              <a:prstGeom prst="rect">
                <a:avLst/>
              </a:prstGeom>
              <a:blipFill>
                <a:blip r:embed="rId4"/>
                <a:stretch>
                  <a:fillRect l="-695" b="-8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" name="Picture 29">
            <a:extLst>
              <a:ext uri="{FF2B5EF4-FFF2-40B4-BE49-F238E27FC236}">
                <a16:creationId xmlns:a16="http://schemas.microsoft.com/office/drawing/2014/main" id="{81539E02-C144-B9EB-36A8-9CB1E659D5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6394" y="3340360"/>
            <a:ext cx="3248854" cy="278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509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4D31-93FC-4DE6-3D3A-B46CC8ACB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Lock nut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3440F-D9C5-04AA-4385-8CDB2C599149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0B9EA-9762-7176-C8EC-B96A1C0A9D2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8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B00773-1E25-A015-826C-34253B2F3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200" y="1525207"/>
            <a:ext cx="3147694" cy="258561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1C29294-2E46-8B0E-2CE1-0010B97B9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34" y="4146666"/>
            <a:ext cx="3374626" cy="21250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0B6FC0-DBF6-573F-C3DE-3177DB0F17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33" t="5260"/>
          <a:stretch>
            <a:fillRect/>
          </a:stretch>
        </p:blipFill>
        <p:spPr>
          <a:xfrm>
            <a:off x="4170782" y="1525207"/>
            <a:ext cx="7725747" cy="15075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F9FF8D0C-F535-5238-5B02-F9873BA5F16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195"/>
          <a:stretch>
            <a:fillRect/>
          </a:stretch>
        </p:blipFill>
        <p:spPr>
          <a:xfrm>
            <a:off x="4170781" y="3032726"/>
            <a:ext cx="7725747" cy="58755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A9100EE-6432-FDF1-043D-5998837A0E87}"/>
              </a:ext>
            </a:extLst>
          </p:cNvPr>
          <p:cNvSpPr txBox="1"/>
          <p:nvPr/>
        </p:nvSpPr>
        <p:spPr>
          <a:xfrm>
            <a:off x="3312367" y="3569749"/>
            <a:ext cx="40774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highlight>
                  <a:srgbClr val="FFFF00"/>
                </a:highlight>
              </a:rPr>
              <a:t>Assuming      Tr 1600x 8   1650          110         40           M24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0F6C39C-1AED-3302-1379-1AD3B5C52FFD}"/>
              </a:ext>
            </a:extLst>
          </p:cNvPr>
          <p:cNvSpPr txBox="1"/>
          <p:nvPr/>
        </p:nvSpPr>
        <p:spPr>
          <a:xfrm>
            <a:off x="10101943" y="6262043"/>
            <a:ext cx="20900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SKF</a:t>
            </a:r>
            <a:r>
              <a:rPr lang="en-US" sz="1200" b="0" i="0" dirty="0">
                <a:effectLst/>
              </a:rPr>
              <a:t> </a:t>
            </a: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E56473E-1FA8-CDAD-CEEC-D065FF1652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5958"/>
          <a:stretch>
            <a:fillRect/>
          </a:stretch>
        </p:blipFill>
        <p:spPr>
          <a:xfrm>
            <a:off x="8257592" y="3739302"/>
            <a:ext cx="3638936" cy="236140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B4D7C6C-FDAA-385E-E24A-79FD73E735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77373" y="3931609"/>
            <a:ext cx="3913205" cy="2392376"/>
          </a:xfrm>
          <a:prstGeom prst="rect">
            <a:avLst/>
          </a:prstGeom>
        </p:spPr>
      </p:pic>
      <p:sp>
        <p:nvSpPr>
          <p:cNvPr id="3" name="Datumsplatzhalter 22">
            <a:extLst>
              <a:ext uri="{FF2B5EF4-FFF2-40B4-BE49-F238E27FC236}">
                <a16:creationId xmlns:a16="http://schemas.microsoft.com/office/drawing/2014/main" id="{C7CEDD16-DAC1-A6F2-FD84-430ACD31EAA7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44892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23360-C419-8135-5DA7-6EE58FF75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ADA28F-A84E-1BB7-1FB4-21BDA2870C8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D37854-92E1-A67A-9C9C-A408E89D036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9</a:t>
            </a:fld>
            <a:endParaRPr lang="en-GB" dirty="0"/>
          </a:p>
        </p:txBody>
      </p:sp>
      <p:sp>
        <p:nvSpPr>
          <p:cNvPr id="16" name="Titel 4">
            <a:extLst>
              <a:ext uri="{FF2B5EF4-FFF2-40B4-BE49-F238E27FC236}">
                <a16:creationId xmlns:a16="http://schemas.microsoft.com/office/drawing/2014/main" id="{A45C4106-E156-8535-290A-85008260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7201"/>
            <a:ext cx="10515600" cy="1325563"/>
          </a:xfrm>
        </p:spPr>
        <p:txBody>
          <a:bodyPr>
            <a:normAutofit/>
          </a:bodyPr>
          <a:lstStyle/>
          <a:p>
            <a:r>
              <a:rPr lang="de-DE" sz="4800" dirty="0"/>
              <a:t> Rotor </a:t>
            </a:r>
            <a:r>
              <a:rPr lang="en-US" sz="4800" dirty="0"/>
              <a:t>Shaft </a:t>
            </a:r>
            <a:endParaRPr lang="en-GB" sz="48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2C18C04-601A-0D52-C695-037334B899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65" y="1569069"/>
            <a:ext cx="6033979" cy="4486498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DE8532A-FF1C-1FD2-3C5F-2A98BEED2B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568725"/>
              </p:ext>
            </p:extLst>
          </p:nvPr>
        </p:nvGraphicFramePr>
        <p:xfrm>
          <a:off x="6991320" y="1599841"/>
          <a:ext cx="4966461" cy="2379092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319520">
                  <a:extLst>
                    <a:ext uri="{9D8B030D-6E8A-4147-A177-3AD203B41FA5}">
                      <a16:colId xmlns:a16="http://schemas.microsoft.com/office/drawing/2014/main" val="2533635215"/>
                    </a:ext>
                  </a:extLst>
                </a:gridCol>
                <a:gridCol w="1211934">
                  <a:extLst>
                    <a:ext uri="{9D8B030D-6E8A-4147-A177-3AD203B41FA5}">
                      <a16:colId xmlns:a16="http://schemas.microsoft.com/office/drawing/2014/main" val="4063132216"/>
                    </a:ext>
                  </a:extLst>
                </a:gridCol>
                <a:gridCol w="1048369">
                  <a:extLst>
                    <a:ext uri="{9D8B030D-6E8A-4147-A177-3AD203B41FA5}">
                      <a16:colId xmlns:a16="http://schemas.microsoft.com/office/drawing/2014/main" val="116457611"/>
                    </a:ext>
                  </a:extLst>
                </a:gridCol>
                <a:gridCol w="386638">
                  <a:extLst>
                    <a:ext uri="{9D8B030D-6E8A-4147-A177-3AD203B41FA5}">
                      <a16:colId xmlns:a16="http://schemas.microsoft.com/office/drawing/2014/main" val="423459598"/>
                    </a:ext>
                  </a:extLst>
                </a:gridCol>
              </a:tblGrid>
              <a:tr h="31397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Description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Symbol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Value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1" dirty="0">
                          <a:effectLst/>
                        </a:rPr>
                        <a:t>Unit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114745481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Outer screw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dt2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2040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1265938367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Inner screw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dt1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1800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2019828821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No. of screws per bolt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400" dirty="0">
                          <a:effectLst/>
                        </a:rPr>
                        <a:t>N</a:t>
                      </a:r>
                      <a:r>
                        <a:rPr lang="pt-BR" sz="1400" baseline="-25000" dirty="0">
                          <a:effectLst/>
                        </a:rPr>
                        <a:t>total</a:t>
                      </a:r>
                      <a:r>
                        <a:rPr lang="pt-BR" sz="1400" dirty="0">
                          <a:effectLst/>
                        </a:rPr>
                        <a:t> = N</a:t>
                      </a:r>
                      <a:r>
                        <a:rPr lang="pt-BR" sz="1400" baseline="-25000" dirty="0">
                          <a:effectLst/>
                        </a:rPr>
                        <a:t>ICB</a:t>
                      </a:r>
                      <a:r>
                        <a:rPr lang="pt-BR" sz="1400" dirty="0">
                          <a:effectLst/>
                        </a:rPr>
                        <a:t> + N</a:t>
                      </a:r>
                      <a:r>
                        <a:rPr lang="pt-BR" sz="1400" baseline="-25000" dirty="0">
                          <a:effectLst/>
                        </a:rPr>
                        <a:t>OCB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75+85=160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991108475"/>
                  </a:ext>
                </a:extLst>
              </a:tr>
              <a:tr h="283821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Integrated </a:t>
                      </a:r>
                      <a:r>
                        <a:rPr lang="en-US" sz="1400" dirty="0" err="1">
                          <a:effectLst/>
                        </a:rPr>
                        <a:t>rotorlock</a:t>
                      </a:r>
                      <a:r>
                        <a:rPr lang="en-US" sz="1400" dirty="0">
                          <a:effectLst/>
                        </a:rPr>
                        <a:t> Flange outer </a:t>
                      </a:r>
                      <a:r>
                        <a:rPr lang="en-US" sz="1400" dirty="0" err="1">
                          <a:effectLst/>
                        </a:rPr>
                        <a:t>dia</a:t>
                      </a:r>
                      <a:endParaRPr lang="en-US" sz="14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400" baseline="0" dirty="0">
                          <a:effectLst/>
                        </a:rPr>
                        <a:t>D</a:t>
                      </a:r>
                      <a:r>
                        <a:rPr lang="pt-BR" sz="1400" baseline="-25000" dirty="0">
                          <a:effectLst/>
                        </a:rPr>
                        <a:t>flange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3190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331701992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F879C6CA-377A-5819-128B-0BCA8E5C343C}"/>
              </a:ext>
            </a:extLst>
          </p:cNvPr>
          <p:cNvSpPr txBox="1"/>
          <p:nvPr/>
        </p:nvSpPr>
        <p:spPr>
          <a:xfrm>
            <a:off x="7147250" y="4149396"/>
            <a:ext cx="305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u="sng" dirty="0"/>
              <a:t>Gear box Side Flange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6976937E-6616-E83D-E6FB-593998949F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951412"/>
              </p:ext>
            </p:extLst>
          </p:nvPr>
        </p:nvGraphicFramePr>
        <p:xfrm>
          <a:off x="6967217" y="4518728"/>
          <a:ext cx="5154980" cy="2013215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407565">
                  <a:extLst>
                    <a:ext uri="{9D8B030D-6E8A-4147-A177-3AD203B41FA5}">
                      <a16:colId xmlns:a16="http://schemas.microsoft.com/office/drawing/2014/main" val="2533635215"/>
                    </a:ext>
                  </a:extLst>
                </a:gridCol>
                <a:gridCol w="1364469">
                  <a:extLst>
                    <a:ext uri="{9D8B030D-6E8A-4147-A177-3AD203B41FA5}">
                      <a16:colId xmlns:a16="http://schemas.microsoft.com/office/drawing/2014/main" val="4063132216"/>
                    </a:ext>
                  </a:extLst>
                </a:gridCol>
                <a:gridCol w="981632">
                  <a:extLst>
                    <a:ext uri="{9D8B030D-6E8A-4147-A177-3AD203B41FA5}">
                      <a16:colId xmlns:a16="http://schemas.microsoft.com/office/drawing/2014/main" val="116457611"/>
                    </a:ext>
                  </a:extLst>
                </a:gridCol>
                <a:gridCol w="401314">
                  <a:extLst>
                    <a:ext uri="{9D8B030D-6E8A-4147-A177-3AD203B41FA5}">
                      <a16:colId xmlns:a16="http://schemas.microsoft.com/office/drawing/2014/main" val="423459598"/>
                    </a:ext>
                  </a:extLst>
                </a:gridCol>
              </a:tblGrid>
              <a:tr h="43241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Description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Symbol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Value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b="1" dirty="0">
                          <a:effectLst/>
                        </a:rPr>
                        <a:t>Unit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114745481"/>
                  </a:ext>
                </a:extLst>
              </a:tr>
              <a:tr h="413493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screw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dt1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1500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2019828821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No. of screws per bolt circle diameter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pt-BR" sz="1400" dirty="0">
                          <a:effectLst/>
                        </a:rPr>
                        <a:t>N</a:t>
                      </a:r>
                      <a:r>
                        <a:rPr lang="pt-BR" sz="1400" baseline="-25000" dirty="0">
                          <a:effectLst/>
                        </a:rPr>
                        <a:t>total</a:t>
                      </a:r>
                      <a:r>
                        <a:rPr lang="pt-BR" sz="1400" dirty="0">
                          <a:effectLst/>
                        </a:rPr>
                        <a:t> </a:t>
                      </a:r>
                      <a:endParaRPr lang="pt-BR" sz="1400" baseline="-250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58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14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991108475"/>
                  </a:ext>
                </a:extLst>
              </a:tr>
              <a:tr h="583654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Flange outer </a:t>
                      </a:r>
                      <a:r>
                        <a:rPr lang="en-US" sz="1400" dirty="0" err="1">
                          <a:effectLst/>
                        </a:rPr>
                        <a:t>dia</a:t>
                      </a:r>
                      <a:endParaRPr lang="en-US" sz="14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aseline="0" dirty="0">
                          <a:effectLst/>
                        </a:rPr>
                        <a:t>D</a:t>
                      </a:r>
                      <a:r>
                        <a:rPr lang="pt-BR" sz="1400" baseline="-25000" dirty="0">
                          <a:effectLst/>
                        </a:rPr>
                        <a:t>flange</a:t>
                      </a:r>
                    </a:p>
                    <a:p>
                      <a:pPr algn="ctr" rtl="0" fontAlgn="b">
                        <a:buNone/>
                      </a:pPr>
                      <a:endParaRPr lang="pt-BR" sz="1400" baseline="-25000" dirty="0">
                        <a:effectLst/>
                      </a:endParaRP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1595</a:t>
                      </a:r>
                    </a:p>
                  </a:txBody>
                  <a:tcPr marL="20270" marR="20270" marT="13513" marB="13513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400" dirty="0">
                          <a:effectLst/>
                        </a:rPr>
                        <a:t>mm</a:t>
                      </a:r>
                    </a:p>
                  </a:txBody>
                  <a:tcPr marL="20270" marR="20270" marT="13513" marB="13513" anchor="b"/>
                </a:tc>
                <a:extLst>
                  <a:ext uri="{0D108BD9-81ED-4DB2-BD59-A6C34878D82A}">
                    <a16:rowId xmlns:a16="http://schemas.microsoft.com/office/drawing/2014/main" val="3320718721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76AF81C8-B9D4-6C71-7878-5A3AB3CCC600}"/>
              </a:ext>
            </a:extLst>
          </p:cNvPr>
          <p:cNvSpPr txBox="1"/>
          <p:nvPr/>
        </p:nvSpPr>
        <p:spPr>
          <a:xfrm>
            <a:off x="7449717" y="1257349"/>
            <a:ext cx="30511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1" u="sng" dirty="0"/>
              <a:t>Hub Side Flange</a:t>
            </a:r>
          </a:p>
        </p:txBody>
      </p:sp>
      <p:sp>
        <p:nvSpPr>
          <p:cNvPr id="15" name="Datumsplatzhalter 22">
            <a:extLst>
              <a:ext uri="{FF2B5EF4-FFF2-40B4-BE49-F238E27FC236}">
                <a16:creationId xmlns:a16="http://schemas.microsoft.com/office/drawing/2014/main" id="{42167137-8A9B-6EC1-740D-4FC92F3EDE1B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215614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74A59-C449-73EE-D62B-A0E4BE0E5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Force calculation on Bolts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2D884-E7EC-7F75-D3F4-8D026A3BAF96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C47E6D-9859-AD6B-EFE9-7E85F5D3F32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10</a:t>
            </a:fld>
            <a:endParaRPr lang="en-GB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E05C21-9D6A-0A58-3FD9-EE958F60A7C5}"/>
              </a:ext>
            </a:extLst>
          </p:cNvPr>
          <p:cNvGrpSpPr/>
          <p:nvPr/>
        </p:nvGrpSpPr>
        <p:grpSpPr>
          <a:xfrm>
            <a:off x="838200" y="1783184"/>
            <a:ext cx="9244674" cy="853514"/>
            <a:chOff x="838200" y="1783184"/>
            <a:chExt cx="9244674" cy="853514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4C9F2C7D-DEF2-4DE1-A98C-4F90B7686A64}"/>
                </a:ext>
              </a:extLst>
            </p:cNvPr>
            <p:cNvGrpSpPr/>
            <p:nvPr/>
          </p:nvGrpSpPr>
          <p:grpSpPr>
            <a:xfrm>
              <a:off x="838200" y="1783184"/>
              <a:ext cx="6139542" cy="586791"/>
              <a:chOff x="838200" y="1783184"/>
              <a:chExt cx="6139542" cy="586791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A6CE69B-0FE4-1D26-0ED0-6BB0A46999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806586" y="1783184"/>
                <a:ext cx="1813717" cy="586791"/>
              </a:xfrm>
              <a:prstGeom prst="rect">
                <a:avLst/>
              </a:prstGeom>
            </p:spPr>
          </p:pic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AF5E556-4340-9B03-7C9F-C2B43BC5CF5F}"/>
                  </a:ext>
                </a:extLst>
              </p:cNvPr>
              <p:cNvSpPr txBox="1"/>
              <p:nvPr/>
            </p:nvSpPr>
            <p:spPr>
              <a:xfrm>
                <a:off x="838200" y="1891914"/>
                <a:ext cx="61395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Shear force load on individual screw :</a:t>
                </a:r>
              </a:p>
            </p:txBody>
          </p:sp>
        </p:grp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7FAE1C64-D1A7-9DA3-B97C-5CF354E03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05059" y="1783184"/>
              <a:ext cx="3177815" cy="853514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4B6A28-0C11-A02E-A780-C8A4D2DCA1FE}"/>
                  </a:ext>
                </a:extLst>
              </p:cNvPr>
              <p:cNvSpPr txBox="1"/>
              <p:nvPr/>
            </p:nvSpPr>
            <p:spPr>
              <a:xfrm>
                <a:off x="838200" y="2502541"/>
                <a:ext cx="6139542" cy="485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prstClr val="black"/>
                    </a:solidFill>
                    <a:latin typeface="Aptos" panose="02110004020202020204"/>
                  </a:rPr>
                  <a:t>F</a:t>
                </a:r>
                <a:r>
                  <a:rPr lang="en-US" baseline="-25000" dirty="0">
                    <a:solidFill>
                      <a:prstClr val="black"/>
                    </a:solidFill>
                    <a:latin typeface="Aptos" panose="02110004020202020204"/>
                  </a:rPr>
                  <a:t>q,mt</a:t>
                </a:r>
                <a:r>
                  <a: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fPr>
                      <m:num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12800 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𝐾𝑁𝑚</m:t>
                        </m:r>
                      </m:num>
                      <m:den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.750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𝑚</m:t>
                        </m:r>
                        <m:r>
                          <a:rPr kumimoji="0" lang="en-US" sz="18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∗58</m:t>
                        </m:r>
                      </m:den>
                    </m:f>
                  </m:oMath>
                </a14:m>
                <a:r>
                  <a:rPr lang="en-US" dirty="0"/>
                  <a:t> = 294.25KN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14B6A28-0C11-A02E-A780-C8A4D2DCA1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502541"/>
                <a:ext cx="6139542" cy="485774"/>
              </a:xfrm>
              <a:prstGeom prst="rect">
                <a:avLst/>
              </a:prstGeom>
              <a:blipFill>
                <a:blip r:embed="rId4"/>
                <a:stretch>
                  <a:fillRect l="-695" b="-101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D657DF5F-C88D-8912-7893-0DA709ED7D84}"/>
              </a:ext>
            </a:extLst>
          </p:cNvPr>
          <p:cNvSpPr txBox="1"/>
          <p:nvPr/>
        </p:nvSpPr>
        <p:spPr>
          <a:xfrm>
            <a:off x="979714" y="1430086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highlight>
                  <a:srgbClr val="FFFF00"/>
                </a:highlight>
              </a:rPr>
              <a:t>At Gearbox flange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5DCCED-DF12-ABEF-8DA5-543EB674C83C}"/>
              </a:ext>
            </a:extLst>
          </p:cNvPr>
          <p:cNvSpPr txBox="1"/>
          <p:nvPr/>
        </p:nvSpPr>
        <p:spPr>
          <a:xfrm>
            <a:off x="979714" y="2998202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highlight>
                  <a:srgbClr val="FFFF00"/>
                </a:highlight>
              </a:rPr>
              <a:t>At Rotor Hub flange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542E7416-8697-6E39-44E2-5E0152CBA4EF}"/>
              </a:ext>
            </a:extLst>
          </p:cNvPr>
          <p:cNvGrpSpPr/>
          <p:nvPr/>
        </p:nvGrpSpPr>
        <p:grpSpPr>
          <a:xfrm>
            <a:off x="838200" y="3510206"/>
            <a:ext cx="11070190" cy="844902"/>
            <a:chOff x="838200" y="3526756"/>
            <a:chExt cx="11070190" cy="84490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C37E852-069F-19EC-59CF-59DF9E32203B}"/>
                </a:ext>
              </a:extLst>
            </p:cNvPr>
            <p:cNvGrpSpPr/>
            <p:nvPr/>
          </p:nvGrpSpPr>
          <p:grpSpPr>
            <a:xfrm>
              <a:off x="838200" y="3526756"/>
              <a:ext cx="7917947" cy="685859"/>
              <a:chOff x="480761" y="3366717"/>
              <a:chExt cx="7917947" cy="685859"/>
            </a:xfrm>
          </p:grpSpPr>
          <p:pic>
            <p:nvPicPr>
              <p:cNvPr id="20" name="Picture 19">
                <a:extLst>
                  <a:ext uri="{FF2B5EF4-FFF2-40B4-BE49-F238E27FC236}">
                    <a16:creationId xmlns:a16="http://schemas.microsoft.com/office/drawing/2014/main" id="{0D61FC23-9D71-331F-AC61-D0055295903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11409" y="3366717"/>
                <a:ext cx="2987299" cy="685859"/>
              </a:xfrm>
              <a:prstGeom prst="rect">
                <a:avLst/>
              </a:prstGeom>
            </p:spPr>
          </p:pic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AC601DB-684E-5CF6-6EDA-127D4F093DD6}"/>
                  </a:ext>
                </a:extLst>
              </p:cNvPr>
              <p:cNvSpPr txBox="1"/>
              <p:nvPr/>
            </p:nvSpPr>
            <p:spPr>
              <a:xfrm>
                <a:off x="480761" y="3490467"/>
                <a:ext cx="613954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Shear force on screw by torsional moment M t</a:t>
                </a:r>
              </a:p>
            </p:txBody>
          </p: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789845A-C5CF-8CE9-68E3-4637D266A1DA}"/>
                </a:ext>
              </a:extLst>
            </p:cNvPr>
            <p:cNvGrpSpPr/>
            <p:nvPr/>
          </p:nvGrpSpPr>
          <p:grpSpPr>
            <a:xfrm>
              <a:off x="8493966" y="3526756"/>
              <a:ext cx="3414424" cy="844902"/>
              <a:chOff x="6548074" y="4105874"/>
              <a:chExt cx="4452764" cy="844902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77106411-CB26-6A82-8176-F9D97263DE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r="14949" b="7452"/>
              <a:stretch>
                <a:fillRect/>
              </a:stretch>
            </p:blipFill>
            <p:spPr>
              <a:xfrm>
                <a:off x="6548074" y="4105874"/>
                <a:ext cx="4452764" cy="296214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26108CE8-A862-A101-C753-DEE952DF16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620303" y="4402088"/>
                <a:ext cx="3604572" cy="548688"/>
              </a:xfrm>
              <a:prstGeom prst="rect">
                <a:avLst/>
              </a:prstGeom>
            </p:spPr>
          </p:pic>
        </p:grp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3BA53329-99FC-C086-26AE-C2BA45C343FD}"/>
              </a:ext>
            </a:extLst>
          </p:cNvPr>
          <p:cNvSpPr txBox="1"/>
          <p:nvPr/>
        </p:nvSpPr>
        <p:spPr>
          <a:xfrm>
            <a:off x="7119256" y="6215876"/>
            <a:ext cx="5777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 err="1"/>
              <a:t>Macninery</a:t>
            </a:r>
            <a:r>
              <a:rPr lang="en-US" sz="1200" dirty="0"/>
              <a:t> components lectures and LLM(Large language models)</a:t>
            </a:r>
          </a:p>
        </p:txBody>
      </p:sp>
      <p:sp>
        <p:nvSpPr>
          <p:cNvPr id="31" name="Datumsplatzhalter 22">
            <a:extLst>
              <a:ext uri="{FF2B5EF4-FFF2-40B4-BE49-F238E27FC236}">
                <a16:creationId xmlns:a16="http://schemas.microsoft.com/office/drawing/2014/main" id="{D6B2E6D7-0B87-803A-3F34-B27AD1F4C344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07168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E6993-2713-EFF9-BC0D-8C3F6CCCAA2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B23B50-76B4-CC7D-8499-BBBFD9DCD2C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11</a:t>
            </a:fld>
            <a:endParaRPr lang="en-GB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17B735C-3515-D1F6-24CD-EDCAC7359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315" y="1814185"/>
            <a:ext cx="4599924" cy="16994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E69846-F185-2288-3F48-D65A3B3B4D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8463"/>
          <a:stretch>
            <a:fillRect/>
          </a:stretch>
        </p:blipFill>
        <p:spPr>
          <a:xfrm>
            <a:off x="612315" y="3429000"/>
            <a:ext cx="4532425" cy="177189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CF6AC01-502F-DD77-6971-4759E1B580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5224" y="1533908"/>
            <a:ext cx="5777169" cy="145752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10E41134-CFDF-CD13-D870-66267218C2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0013" b="60447"/>
          <a:stretch>
            <a:fillRect/>
          </a:stretch>
        </p:blipFill>
        <p:spPr>
          <a:xfrm>
            <a:off x="5911924" y="4467212"/>
            <a:ext cx="5615794" cy="90053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D13BB5C-F2B3-AEC7-F085-54FBB446999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0972" t="41689" r="6631" b="-1"/>
          <a:stretch>
            <a:fillRect/>
          </a:stretch>
        </p:blipFill>
        <p:spPr>
          <a:xfrm>
            <a:off x="5576995" y="2991436"/>
            <a:ext cx="5784979" cy="132763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B5ECF47-36D2-A967-E221-7D9F0214F13C}"/>
              </a:ext>
            </a:extLst>
          </p:cNvPr>
          <p:cNvSpPr txBox="1"/>
          <p:nvPr/>
        </p:nvSpPr>
        <p:spPr>
          <a:xfrm>
            <a:off x="7089745" y="6289804"/>
            <a:ext cx="57771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Source: </a:t>
            </a:r>
            <a:r>
              <a:rPr lang="en-US" sz="1200" dirty="0" err="1"/>
              <a:t>Macninery</a:t>
            </a:r>
            <a:r>
              <a:rPr lang="en-US" sz="1200" dirty="0"/>
              <a:t> components lectures and LLM(Large language models)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2F7001E-3336-6D48-5652-AE79E6E13CC4}"/>
              </a:ext>
            </a:extLst>
          </p:cNvPr>
          <p:cNvSpPr txBox="1"/>
          <p:nvPr/>
        </p:nvSpPr>
        <p:spPr>
          <a:xfrm>
            <a:off x="612315" y="1382581"/>
            <a:ext cx="61395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highlight>
                  <a:srgbClr val="FFFF00"/>
                </a:highlight>
              </a:rPr>
              <a:t>At Rotor Hub flange</a:t>
            </a:r>
          </a:p>
        </p:txBody>
      </p:sp>
      <p:sp>
        <p:nvSpPr>
          <p:cNvPr id="22" name="Datumsplatzhalter 22">
            <a:extLst>
              <a:ext uri="{FF2B5EF4-FFF2-40B4-BE49-F238E27FC236}">
                <a16:creationId xmlns:a16="http://schemas.microsoft.com/office/drawing/2014/main" id="{B0F372AC-8FE6-23A6-9C08-34A4BAEEC2AB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598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81C28-4B95-538E-E0ED-6EACA3D6C88B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BC9CE4-C181-8041-BEAA-DDE8C05BBB9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12</a:t>
            </a:fld>
            <a:endParaRPr lang="en-GB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6B5238-377E-0E43-D464-0524C9D6E834}"/>
              </a:ext>
            </a:extLst>
          </p:cNvPr>
          <p:cNvGrpSpPr/>
          <p:nvPr/>
        </p:nvGrpSpPr>
        <p:grpSpPr>
          <a:xfrm>
            <a:off x="563807" y="1971472"/>
            <a:ext cx="7182852" cy="2740384"/>
            <a:chOff x="563807" y="1971472"/>
            <a:chExt cx="7182852" cy="274038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A451DE9-948F-FB05-3963-846549E1BA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3807" y="1971472"/>
              <a:ext cx="7182852" cy="2010056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D2A48CC-8C7B-C28C-E20B-DF8BD06ED8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42929" y="3806855"/>
              <a:ext cx="6411220" cy="905001"/>
            </a:xfrm>
            <a:prstGeom prst="rect">
              <a:avLst/>
            </a:prstGeom>
          </p:spPr>
        </p:pic>
      </p:grpSp>
      <p:sp>
        <p:nvSpPr>
          <p:cNvPr id="12" name="Datumsplatzhalter 22">
            <a:extLst>
              <a:ext uri="{FF2B5EF4-FFF2-40B4-BE49-F238E27FC236}">
                <a16:creationId xmlns:a16="http://schemas.microsoft.com/office/drawing/2014/main" id="{FA4B0113-4D6D-1049-18CF-0E3CE45B369D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36046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2BCFC-C01F-F901-E135-349BFC146502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9361D1-C8CB-69C7-0D73-E3696CCF4A1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95378A32-4F0F-FB4F-6AB0-6C9A008995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574"/>
            <a:ext cx="10515600" cy="1325563"/>
          </a:xfrm>
        </p:spPr>
        <p:txBody>
          <a:bodyPr/>
          <a:lstStyle/>
          <a:p>
            <a:r>
              <a:rPr lang="de-DE" dirty="0"/>
              <a:t>Rotor Bearing Assembly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E4F44F-F640-B875-5B96-539043FD1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960" y="1635500"/>
            <a:ext cx="7326086" cy="4345422"/>
          </a:xfrm>
          <a:prstGeom prst="rect">
            <a:avLst/>
          </a:prstGeom>
        </p:spPr>
      </p:pic>
      <p:sp>
        <p:nvSpPr>
          <p:cNvPr id="7" name="Datumsplatzhalter 22">
            <a:extLst>
              <a:ext uri="{FF2B5EF4-FFF2-40B4-BE49-F238E27FC236}">
                <a16:creationId xmlns:a16="http://schemas.microsoft.com/office/drawing/2014/main" id="{0C6C9BA2-94E3-2686-7EE3-0FFFA1BCC3CB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2032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8640A-DBF6-C995-5F5E-53951F841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421109"/>
            <a:ext cx="11039669" cy="1325563"/>
          </a:xfrm>
        </p:spPr>
        <p:txBody>
          <a:bodyPr/>
          <a:lstStyle/>
          <a:p>
            <a:r>
              <a:rPr lang="en-US" dirty="0"/>
              <a:t>Cost Calculation(</a:t>
            </a:r>
            <a:r>
              <a:rPr lang="en-US" sz="2000" dirty="0"/>
              <a:t>Assumption based on Mass</a:t>
            </a:r>
            <a:r>
              <a:rPr lang="en-US" dirty="0"/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41877-0D96-0520-A81F-068DB6411348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EAFC0-38C2-9B68-33A1-1F563AC8C04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14</a:t>
            </a:fld>
            <a:endParaRPr lang="en-GB" dirty="0"/>
          </a:p>
        </p:txBody>
      </p:sp>
      <p:sp>
        <p:nvSpPr>
          <p:cNvPr id="7" name="Datumsplatzhalter 22">
            <a:extLst>
              <a:ext uri="{FF2B5EF4-FFF2-40B4-BE49-F238E27FC236}">
                <a16:creationId xmlns:a16="http://schemas.microsoft.com/office/drawing/2014/main" id="{54388934-E3CC-6640-39E1-8C2FFFFFC9BA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 </a:t>
            </a:r>
            <a:endParaRPr lang="en-GB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6AC9FCDD-C4D1-53F0-FF16-C267230E0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60943"/>
              </p:ext>
            </p:extLst>
          </p:nvPr>
        </p:nvGraphicFramePr>
        <p:xfrm>
          <a:off x="838199" y="1653365"/>
          <a:ext cx="8103015" cy="3364657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2122796">
                  <a:extLst>
                    <a:ext uri="{9D8B030D-6E8A-4147-A177-3AD203B41FA5}">
                      <a16:colId xmlns:a16="http://schemas.microsoft.com/office/drawing/2014/main" val="1978554712"/>
                    </a:ext>
                  </a:extLst>
                </a:gridCol>
                <a:gridCol w="1213027">
                  <a:extLst>
                    <a:ext uri="{9D8B030D-6E8A-4147-A177-3AD203B41FA5}">
                      <a16:colId xmlns:a16="http://schemas.microsoft.com/office/drawing/2014/main" val="3634729925"/>
                    </a:ext>
                  </a:extLst>
                </a:gridCol>
                <a:gridCol w="2304749">
                  <a:extLst>
                    <a:ext uri="{9D8B030D-6E8A-4147-A177-3AD203B41FA5}">
                      <a16:colId xmlns:a16="http://schemas.microsoft.com/office/drawing/2014/main" val="382104347"/>
                    </a:ext>
                  </a:extLst>
                </a:gridCol>
                <a:gridCol w="2462443">
                  <a:extLst>
                    <a:ext uri="{9D8B030D-6E8A-4147-A177-3AD203B41FA5}">
                      <a16:colId xmlns:a16="http://schemas.microsoft.com/office/drawing/2014/main" val="332324713"/>
                    </a:ext>
                  </a:extLst>
                </a:gridCol>
              </a:tblGrid>
              <a:tr h="1108357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 dirty="0">
                          <a:effectLst/>
                        </a:rPr>
                        <a:t>Component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 dirty="0">
                          <a:effectLst/>
                        </a:rPr>
                        <a:t>Mass (Kg)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 dirty="0">
                          <a:effectLst/>
                        </a:rPr>
                        <a:t>Cost in USD (USD 10.00/Kg)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b="1" dirty="0">
                          <a:effectLst/>
                        </a:rPr>
                        <a:t>Cost in EUR (€ 8.60/Kg)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405781270"/>
                  </a:ext>
                </a:extLst>
              </a:tr>
              <a:tr h="7521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Main Bearing Housing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7,422.54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USD 74,225.40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€63,854.63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66808887"/>
                  </a:ext>
                </a:extLst>
              </a:tr>
              <a:tr h="7521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Shaft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33,162.20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USD 331,622.00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€285,287.77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2845365452"/>
                  </a:ext>
                </a:extLst>
              </a:tr>
              <a:tr h="75210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TOTAL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40,584.74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>
                          <a:effectLst/>
                        </a:rPr>
                        <a:t>USD 405,847.40</a:t>
                      </a:r>
                    </a:p>
                  </a:txBody>
                  <a:tcPr marL="22860" marR="22860" marT="15240" marB="1524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dirty="0">
                          <a:effectLst/>
                        </a:rPr>
                        <a:t>€349,142.40</a:t>
                      </a:r>
                    </a:p>
                  </a:txBody>
                  <a:tcPr marL="22860" marR="22860" marT="15240" marB="15240" anchor="b"/>
                </a:tc>
                <a:extLst>
                  <a:ext uri="{0D108BD9-81ED-4DB2-BD59-A6C34878D82A}">
                    <a16:rowId xmlns:a16="http://schemas.microsoft.com/office/drawing/2014/main" val="38075631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C9DAC02-36FE-5F76-E147-03B68CA2F9A6}"/>
              </a:ext>
            </a:extLst>
          </p:cNvPr>
          <p:cNvSpPr txBox="1"/>
          <p:nvPr/>
        </p:nvSpPr>
        <p:spPr>
          <a:xfrm>
            <a:off x="705238" y="5184126"/>
            <a:ext cx="105809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Finished Cost = Raw Material + Casting Cost + Machining Cost + Quality/Testing + Profit Margin</a:t>
            </a:r>
          </a:p>
        </p:txBody>
      </p:sp>
    </p:spTree>
    <p:extLst>
      <p:ext uri="{BB962C8B-B14F-4D97-AF65-F5344CB8AC3E}">
        <p14:creationId xmlns:p14="http://schemas.microsoft.com/office/powerpoint/2010/main" val="9748439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CB6ED1-18E3-9640-3D93-84F8B0B15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Bibliography – Rotor Bearing System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5C19340-9D16-A981-A772-1E4CF9E8643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690688"/>
            <a:ext cx="10988040" cy="4351338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342900" indent="-342900">
              <a:buFont typeface="+mj-lt"/>
              <a:buAutoNum type="arabicPeriod"/>
            </a:pPr>
            <a:r>
              <a:rPr lang="en-US" dirty="0"/>
              <a:t>SKF. (n.d.). </a:t>
            </a:r>
            <a:r>
              <a:rPr lang="en-US" i="1" dirty="0"/>
              <a:t>240/1120 CAF/W33 - Spherical roller bearings</a:t>
            </a:r>
            <a:r>
              <a:rPr lang="en-US" dirty="0"/>
              <a:t>. Retrieved October 29, 2025, from </a:t>
            </a:r>
            <a:r>
              <a:rPr lang="en-US" dirty="0">
                <a:hlinkClick r:id="rId2"/>
              </a:rPr>
              <a:t>https://www.skf.com/group/products/rolling-bearings/roller-bearings/spherical-roller-bearings/productid-240%2F1120</a:t>
            </a:r>
            <a:r>
              <a:rPr lang="en-US" dirty="0"/>
              <a:t> CAF%2FW33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Optimus Shakti, Optimus 60E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ITH. (n.d.). ITH Hydraulic Torque Wrenches Catalog. Retrieved November 08, 2025, from </a:t>
            </a:r>
            <a:r>
              <a:rPr lang="en-US" dirty="0">
                <a:hlinkClick r:id="rId3"/>
              </a:rPr>
              <a:t>www.ITH.de/schraubwerkzeuge/hydraulische-drehmomentschrauber</a:t>
            </a: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i="1" dirty="0"/>
              <a:t>DIN EN 10083-3: Steels for quenching and tempering – Part 3: Technical delivery conditions for alloy steels</a:t>
            </a:r>
            <a:r>
              <a:rPr lang="en-US" dirty="0"/>
              <a:t>. Retrieved November 22, 2025, from </a:t>
            </a:r>
            <a:r>
              <a:rPr lang="en-US" dirty="0">
                <a:hlinkClick r:id="rId4"/>
              </a:rPr>
              <a:t>https://studylib.net/doc/18166049/din-en-10083-steel-for-quenching-and-tempering-part-3-</a:t>
            </a:r>
            <a:r>
              <a:rPr lang="en-US" dirty="0"/>
              <a:t>        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altLang="en-US" dirty="0"/>
              <a:t>American Institute of Steel Construction. (1989). </a:t>
            </a:r>
            <a:r>
              <a:rPr lang="en-US" altLang="en-US" i="1" dirty="0"/>
              <a:t>Manual of Steel Construction: Allowable Stress Design</a:t>
            </a:r>
            <a:r>
              <a:rPr lang="en-US" altLang="en-US" dirty="0"/>
              <a:t> (9th ed.). Chicago, IL: Author. Retrieved November 22, 2025, from </a:t>
            </a:r>
            <a:r>
              <a:rPr lang="en-US" altLang="en-US" dirty="0">
                <a:hlinkClick r:id="rId5"/>
              </a:rPr>
              <a:t>Internet Archive (Manual of Steel Construction: Allowable Stress Design, 9th Edition)</a:t>
            </a:r>
            <a:endParaRPr lang="en-US" alt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/>
              <a:t>International Organization for Standardization (ISO) (2007). </a:t>
            </a:r>
            <a:r>
              <a:rPr lang="en-US" i="1" dirty="0"/>
              <a:t>ISO 281:2007: Rolling bearings — Dynamic load ratings and rating life</a:t>
            </a:r>
            <a:r>
              <a:rPr lang="en-US" dirty="0"/>
              <a:t>. Retrieved December 1, 2025, from </a:t>
            </a:r>
            <a:r>
              <a:rPr lang="en-US" dirty="0">
                <a:hlinkClick r:id="rId6"/>
              </a:rPr>
              <a:t>https://www.iso.org/standard/38102.html</a:t>
            </a:r>
            <a:r>
              <a:rPr lang="en-US" dirty="0"/>
              <a:t>.</a:t>
            </a:r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endParaRPr lang="en-US" dirty="0"/>
          </a:p>
          <a:p>
            <a:pPr marL="342900" lvl="0" indent="-3429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dirty="0"/>
              <a:t>LLM(Large Language Models).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lvl="0" indent="-342900">
              <a:buFont typeface="+mj-lt"/>
              <a:buAutoNum type="arabicPeriod"/>
              <a:defRPr/>
            </a:pPr>
            <a:endParaRPr lang="en-US" dirty="0"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it-IT" dirty="0"/>
          </a:p>
          <a:p>
            <a:pPr lvl="0"/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0D8ED35-2E13-75BD-2A2E-AC637478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02/12/2025</a:t>
            </a:r>
            <a:endParaRPr lang="en-GB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62673D2-F682-F630-F59F-C4FFF6A9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15</a:t>
            </a:fld>
            <a:endParaRPr lang="en-GB" dirty="0"/>
          </a:p>
        </p:txBody>
      </p:sp>
      <p:sp>
        <p:nvSpPr>
          <p:cNvPr id="3" name="Datumsplatzhalter 22">
            <a:extLst>
              <a:ext uri="{FF2B5EF4-FFF2-40B4-BE49-F238E27FC236}">
                <a16:creationId xmlns:a16="http://schemas.microsoft.com/office/drawing/2014/main" id="{B7DDE3BB-7425-D43C-D05F-0C5296FA5FBC}"/>
              </a:ext>
            </a:extLst>
          </p:cNvPr>
          <p:cNvSpPr txBox="1">
            <a:spLocks/>
          </p:cNvSpPr>
          <p:nvPr/>
        </p:nvSpPr>
        <p:spPr>
          <a:xfrm>
            <a:off x="5124060" y="6408846"/>
            <a:ext cx="2433736" cy="6810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Venkata Sreekanth .K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12449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2F211972-A5F6-4C5A-812C-358509A8F2F3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 template final.pptx" id="{035502AD-7CD3-43A3-812C-A08912B73661}" vid="{EEC5F849-3D6F-4317-9095-D7FC4779F13D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 /><Relationship Id="rId1" Type="http://schemas.microsoft.com/office/2011/relationships/webextension" Target="webextension1.xml" 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4586</TotalTime>
  <Words>985</Words>
  <Application>Microsoft Office PowerPoint</Application>
  <PresentationFormat>Widescreen</PresentationFormat>
  <Paragraphs>248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Office</vt:lpstr>
      <vt:lpstr>Benutzerdefiniertes Design</vt:lpstr>
      <vt:lpstr>PowerPoint Presentation</vt:lpstr>
      <vt:lpstr>PowerPoint Presentation</vt:lpstr>
      <vt:lpstr>Agenda</vt:lpstr>
      <vt:lpstr>Bearing Housing</vt:lpstr>
      <vt:lpstr>Static Safety Calculation of Bearing  (Based on Assumption and scaling up factor)</vt:lpstr>
      <vt:lpstr>Static Safety Calculation of Bearing  (Based on Assumption and scaling up factor)</vt:lpstr>
      <vt:lpstr>Static Safety Calculation of Bearing  (Based on Assumption and scaling up factor)</vt:lpstr>
      <vt:lpstr>Lock nut</vt:lpstr>
      <vt:lpstr> Rotor Shaft </vt:lpstr>
      <vt:lpstr>Force calculation on Bolts</vt:lpstr>
      <vt:lpstr>PowerPoint Presentation</vt:lpstr>
      <vt:lpstr>PowerPoint Presentation</vt:lpstr>
      <vt:lpstr>Rotor Bearing Assembly</vt:lpstr>
      <vt:lpstr>Cost Calculation(Assumption based on Mass)</vt:lpstr>
      <vt:lpstr>Bibliography – Rotor Bearing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Josef Remberger</dc:creator>
  <cp:lastModifiedBy>Divyesh Satishkumar Mistry</cp:lastModifiedBy>
  <cp:revision>114</cp:revision>
  <dcterms:created xsi:type="dcterms:W3CDTF">2025-10-24T16:53:52Z</dcterms:created>
  <dcterms:modified xsi:type="dcterms:W3CDTF">2025-12-01T17:15:37Z</dcterms:modified>
</cp:coreProperties>
</file>