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63" r:id="rId3"/>
    <p:sldId id="285" r:id="rId4"/>
    <p:sldId id="308" r:id="rId5"/>
    <p:sldId id="291" r:id="rId6"/>
    <p:sldId id="309" r:id="rId7"/>
    <p:sldId id="310" r:id="rId8"/>
    <p:sldId id="312" r:id="rId9"/>
    <p:sldId id="311" r:id="rId10"/>
    <p:sldId id="2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08"/>
            <p14:sldId id="291"/>
            <p14:sldId id="309"/>
            <p14:sldId id="310"/>
            <p14:sldId id="312"/>
            <p14:sldId id="311"/>
            <p14:sldId id="290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6E86C-2CF9-4FB8-9059-46DA22F4F4A9}" v="1" dt="2025-11-02T23:26:02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hari Kadam" userId="2975c0cf8db45c5b" providerId="LiveId" clId="{4A6C52EC-CDA7-4BAC-A7FC-C9018DFA74BA}"/>
    <pc:docChg chg="addSld modSld">
      <pc:chgData name="Shrihari Kadam" userId="2975c0cf8db45c5b" providerId="LiveId" clId="{4A6C52EC-CDA7-4BAC-A7FC-C9018DFA74BA}" dt="2025-11-02T23:26:02.058" v="0"/>
      <pc:docMkLst>
        <pc:docMk/>
      </pc:docMkLst>
      <pc:sldChg chg="add">
        <pc:chgData name="Shrihari Kadam" userId="2975c0cf8db45c5b" providerId="LiveId" clId="{4A6C52EC-CDA7-4BAC-A7FC-C9018DFA74BA}" dt="2025-11-02T23:26:02.058" v="0"/>
        <pc:sldMkLst>
          <pc:docMk/>
          <pc:sldMk cId="1440517077" sldId="280"/>
        </pc:sldMkLst>
      </pc:sldChg>
      <pc:sldChg chg="add">
        <pc:chgData name="Shrihari Kadam" userId="2975c0cf8db45c5b" providerId="LiveId" clId="{4A6C52EC-CDA7-4BAC-A7FC-C9018DFA74BA}" dt="2025-11-02T23:26:02.058" v="0"/>
        <pc:sldMkLst>
          <pc:docMk/>
          <pc:sldMk cId="388888518" sldId="283"/>
        </pc:sldMkLst>
      </pc:sldChg>
      <pc:sldChg chg="add">
        <pc:chgData name="Shrihari Kadam" userId="2975c0cf8db45c5b" providerId="LiveId" clId="{4A6C52EC-CDA7-4BAC-A7FC-C9018DFA74BA}" dt="2025-11-02T23:26:02.058" v="0"/>
        <pc:sldMkLst>
          <pc:docMk/>
          <pc:sldMk cId="1882264925" sldId="3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03/11/2025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nfiglioli.com/_default_upload_bucket/TR_CAT_WIND_STD_ENG_R05_0.pdf" TargetMode="External"/><Relationship Id="rId2" Type="http://schemas.openxmlformats.org/officeDocument/2006/relationships/slide" Target="slide7.xml"/><Relationship Id="rId1" Type="http://schemas.openxmlformats.org/officeDocument/2006/relationships/slideLayout" Target="../slideLayouts/slideLayout4.xml"/><Relationship Id="rId5" Type="http://schemas.openxmlformats.org/officeDocument/2006/relationships/hyperlink" Target="Report_Optimus92LE_Machinebed_Yawsystem_Rev1%20(1).pdf" TargetMode="External"/><Relationship Id="rId4" Type="http://schemas.openxmlformats.org/officeDocument/2006/relationships/hyperlink" Target="Final%20report%20Machine%20bed,%20yaw%20system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Sathishkumar Venkatachalam, Shrihari G Kadam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Machine Bed &amp; Yaw System/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- 6</a:t>
            </a:r>
          </a:p>
          <a:p>
            <a:r>
              <a:rPr lang="it-IT" sz="2000" dirty="0"/>
              <a:t>Date: 04.11.2025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8376D06-4672-9EF6-7B17-FCFA47C3FDDF}"/>
              </a:ext>
            </a:extLst>
          </p:cNvPr>
          <p:cNvSpPr txBox="1">
            <a:spLocks/>
          </p:cNvSpPr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</a:t>
            </a:r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5D8C-3E5B-E602-A935-521A1581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C580E-2809-B049-3D67-5D7769A1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143C-9BB0-DF67-AD4B-795FC4CF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0ED4E-7AD5-F9DB-3A70-EE05E34F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CB104A-0713-9C47-0F5D-96E287DF59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6F67C-5EB1-0CA7-ADE3-F3774EDCB671}"/>
              </a:ext>
            </a:extLst>
          </p:cNvPr>
          <p:cNvSpPr txBox="1"/>
          <p:nvPr/>
        </p:nvSpPr>
        <p:spPr>
          <a:xfrm>
            <a:off x="1393885" y="1651539"/>
            <a:ext cx="626136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Number of Yaw Drives Calculation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Number of Yaw Drives – Syria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Yaw Bearing type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Machine Bed 2D sketching with proper Dimensions</a:t>
            </a:r>
            <a:endParaRPr lang="en-IN" sz="200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solidFill>
                  <a:prstClr val="black"/>
                </a:solidFill>
              </a:rPr>
              <a:t>References</a:t>
            </a:r>
          </a:p>
          <a:p>
            <a:pPr>
              <a:defRPr/>
            </a:pPr>
            <a:endParaRPr lang="en-IN" sz="2000" dirty="0">
              <a:solidFill>
                <a:prstClr val="black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0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000" dirty="0">
              <a:solidFill>
                <a:prstClr val="black"/>
              </a:solidFill>
              <a:latin typeface="Aptos" panose="021100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D5F662-FC69-5BA9-74AF-843D9516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43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EAAE-BA35-A8A2-25C5-DD12271A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9983F-38B4-BEAB-5B92-A13758AC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BE329-24E5-1CA5-6F29-488AA9E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6FAC-A587-5ADC-8AB6-2786487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AEB46C-8D4C-77DA-D4ED-E81CA97C6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70D2F-927D-50CB-38FF-21871E51E011}"/>
              </a:ext>
            </a:extLst>
          </p:cNvPr>
          <p:cNvSpPr txBox="1"/>
          <p:nvPr/>
        </p:nvSpPr>
        <p:spPr>
          <a:xfrm>
            <a:off x="1127329" y="1354365"/>
            <a:ext cx="9192328" cy="539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2200" b="1" dirty="0"/>
              <a:t>Bonfiglioli 716 T4 drive (suggestion). 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2200" i="1" dirty="0"/>
              <a:t>Assumptions: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Pitch circle diameter of yaw bearing PCD Bearing(Syria) =3800 𝑚𝑚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Nominal torque: 90 </a:t>
            </a:r>
            <a:r>
              <a:rPr lang="en-US" sz="2000" dirty="0" err="1"/>
              <a:t>kNm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Pitch circle diameter of pinion PCD Pinion=288 𝑚𝑚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Operational yaw moment </a:t>
            </a:r>
            <a:r>
              <a:rPr lang="en-US" sz="2000" dirty="0" err="1"/>
              <a:t>Mz,op</a:t>
            </a:r>
            <a:r>
              <a:rPr lang="en-US" sz="2000" dirty="0"/>
              <a:t>(Syria)= 7164 </a:t>
            </a:r>
            <a:r>
              <a:rPr lang="en-US" sz="2000" dirty="0" err="1"/>
              <a:t>kNm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Pinion module= 24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Pinion teeth number = </a:t>
            </a:r>
            <a:r>
              <a:rPr lang="en-US" sz="2000" dirty="0" err="1"/>
              <a:t>PCDpin</a:t>
            </a:r>
            <a:r>
              <a:rPr lang="en-US" sz="2000" dirty="0"/>
              <a:t>/Pinion module=288/24=12 </a:t>
            </a:r>
            <a:br>
              <a:rPr lang="en-US" dirty="0"/>
            </a:br>
            <a:r>
              <a:rPr lang="en-US" dirty="0"/>
              <a:t> </a:t>
            </a:r>
          </a:p>
          <a:p>
            <a:pPr lvl="0">
              <a:lnSpc>
                <a:spcPct val="150000"/>
              </a:lnSpc>
              <a:defRPr/>
            </a:pPr>
            <a:br>
              <a:rPr lang="en-US" dirty="0"/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A82073-D53B-4D6B-A04A-11E1C6B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Number of Yaw Drives Calculation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4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60AA31-782F-49C7-4800-0509FD0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Number of Yaw Drives – Syria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0C294-9C64-BB8C-8BE2-54541D18B4E5}"/>
              </a:ext>
            </a:extLst>
          </p:cNvPr>
          <p:cNvSpPr txBox="1"/>
          <p:nvPr/>
        </p:nvSpPr>
        <p:spPr>
          <a:xfrm>
            <a:off x="590525" y="1633171"/>
            <a:ext cx="9012821" cy="42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Bearing teeth number =(</a:t>
            </a:r>
            <a:r>
              <a:rPr lang="en-US" sz="2000" dirty="0" err="1"/>
              <a:t>PCD</a:t>
            </a:r>
            <a:r>
              <a:rPr lang="en-US" dirty="0" err="1"/>
              <a:t>bearing</a:t>
            </a:r>
            <a:r>
              <a:rPr lang="en-US" sz="2000" dirty="0"/>
              <a:t>)/ Bearing module =3800/24 = 158.33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rounded to 158.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The external gear ratio (</a:t>
            </a:r>
            <a:r>
              <a:rPr lang="en-US" sz="2000" b="1" dirty="0" err="1"/>
              <a:t>i</a:t>
            </a:r>
            <a:r>
              <a:rPr lang="en-US" b="1" dirty="0" err="1"/>
              <a:t>ex</a:t>
            </a:r>
            <a:r>
              <a:rPr lang="en-US" sz="2000" b="1" dirty="0"/>
              <a:t>) </a:t>
            </a:r>
            <a:br>
              <a:rPr lang="en-US" sz="2000" dirty="0"/>
            </a:br>
            <a:r>
              <a:rPr lang="en-US" sz="2000" dirty="0"/>
              <a:t>PCD Bearing = Bearing module × Bearing teeth number = 24 × 158 = 3792mm </a:t>
            </a:r>
            <a:br>
              <a:rPr lang="en-US" sz="2000" dirty="0"/>
            </a:br>
            <a:r>
              <a:rPr lang="en-US" sz="2000" dirty="0" err="1"/>
              <a:t>i</a:t>
            </a:r>
            <a:r>
              <a:rPr lang="en-US" dirty="0" err="1"/>
              <a:t>ex</a:t>
            </a:r>
            <a:r>
              <a:rPr lang="en-US" sz="2000" dirty="0"/>
              <a:t> = </a:t>
            </a:r>
            <a:r>
              <a:rPr lang="en-US" sz="2000" dirty="0" err="1"/>
              <a:t>PCD</a:t>
            </a:r>
            <a:r>
              <a:rPr lang="en-US" dirty="0" err="1"/>
              <a:t>Bearing</a:t>
            </a:r>
            <a:r>
              <a:rPr lang="en-US" sz="2000" dirty="0"/>
              <a:t> /</a:t>
            </a:r>
            <a:r>
              <a:rPr lang="en-US" sz="2000" dirty="0" err="1"/>
              <a:t>PCD</a:t>
            </a:r>
            <a:r>
              <a:rPr lang="en-US" dirty="0" err="1"/>
              <a:t>Pinion</a:t>
            </a:r>
            <a:r>
              <a:rPr lang="en-US" sz="2000" dirty="0"/>
              <a:t>=3792/288 = 13.16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number of yaw drives (N) is determined using the following formula:</a:t>
            </a:r>
            <a:br>
              <a:rPr lang="en-US" sz="2000" dirty="0"/>
            </a:br>
            <a:r>
              <a:rPr lang="en-US" sz="2000" dirty="0"/>
              <a:t> N=Total yaw moment/Each drive nominal torque × </a:t>
            </a:r>
            <a:r>
              <a:rPr lang="en-US" sz="2000" dirty="0" err="1"/>
              <a:t>i</a:t>
            </a:r>
            <a:r>
              <a:rPr lang="en-US" dirty="0" err="1"/>
              <a:t>ex</a:t>
            </a:r>
            <a:br>
              <a:rPr lang="en-US" sz="2000" dirty="0"/>
            </a:br>
            <a:r>
              <a:rPr lang="en-US" sz="2000" dirty="0"/>
              <a:t>N =7164/90 × 13.16 = </a:t>
            </a:r>
            <a:r>
              <a:rPr lang="en-US" sz="2000" b="1" dirty="0"/>
              <a:t>6.04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rounded up to </a:t>
            </a:r>
            <a:r>
              <a:rPr lang="en-US" sz="2000" b="1" dirty="0"/>
              <a:t>6</a:t>
            </a:r>
            <a:r>
              <a:rPr lang="en-US" sz="2000" dirty="0"/>
              <a:t> no of yaw drives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671" y="1633171"/>
            <a:ext cx="2837468" cy="3999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044710" y="5728909"/>
            <a:ext cx="345938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 i="1" dirty="0">
                <a:solidFill>
                  <a:prstClr val="black"/>
                </a:solidFill>
              </a:rPr>
              <a:t>Source</a:t>
            </a:r>
            <a:r>
              <a:rPr lang="en-IN" b="1" i="1" dirty="0">
                <a:solidFill>
                  <a:prstClr val="black"/>
                </a:solidFill>
              </a:rPr>
              <a:t>: </a:t>
            </a:r>
            <a:r>
              <a:rPr lang="en-US" altLang="en-US" sz="1400" i="1" dirty="0" err="1">
                <a:solidFill>
                  <a:prstClr val="black"/>
                </a:solidFill>
              </a:rPr>
              <a:t>Bonfiglioli</a:t>
            </a:r>
            <a:r>
              <a:rPr lang="en-US" altLang="en-US" sz="1400" i="1" dirty="0">
                <a:solidFill>
                  <a:prstClr val="black"/>
                </a:solidFill>
              </a:rPr>
              <a:t> 716 </a:t>
            </a:r>
            <a:r>
              <a:rPr lang="en-IN" sz="1400" i="1" dirty="0">
                <a:solidFill>
                  <a:prstClr val="black"/>
                </a:solidFill>
              </a:rPr>
              <a:t>T4F + BE160 + DGM Inverter </a:t>
            </a:r>
            <a:r>
              <a:rPr lang="en-IN" sz="1400" i="1" dirty="0">
                <a:solidFill>
                  <a:prstClr val="black"/>
                </a:solidFill>
                <a:hlinkClick r:id="rId3" action="ppaction://hlinksldjump"/>
              </a:rPr>
              <a:t>[1]</a:t>
            </a:r>
            <a:endParaRPr lang="en-IN" sz="1400" i="1" dirty="0">
              <a:solidFill>
                <a:prstClr val="black"/>
              </a:solidFill>
            </a:endParaRPr>
          </a:p>
          <a:p>
            <a:pPr lvl="0">
              <a:defRPr/>
            </a:pPr>
            <a:endParaRPr lang="en-IN" sz="14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6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837-D0A8-9473-D329-97844B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7C539C-E88F-524D-F12D-B989452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2ECA-2223-DDFB-0160-FFEF721D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FEAF8B-B5BF-11F6-E77B-A9C9692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F77C54-941F-05B0-B686-B6E9A99C2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EF60FA-DEFE-899A-8E9C-75BDAC7C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281150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ptos" panose="020B0004020202020204" pitchFamily="34" charset="0"/>
                <a:cs typeface="Times New Roman" panose="02020603050405020304" pitchFamily="18" charset="0"/>
              </a:rPr>
              <a:t>Yaw Bearing (Double-row 4-point Bearing)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28704-7434-DCB2-4901-54A1A65740F5}"/>
              </a:ext>
            </a:extLst>
          </p:cNvPr>
          <p:cNvSpPr txBox="1"/>
          <p:nvPr/>
        </p:nvSpPr>
        <p:spPr>
          <a:xfrm>
            <a:off x="941618" y="1489743"/>
            <a:ext cx="11360502" cy="429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Advantages –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Matches a larger tower-top geometry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tilting moments for future load revisions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Sized for high loads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Conservative margin &amp; system integration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Disadvantages –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Approximate and needs vendor verification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Higher cost/lead time and potential custom 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Upscaling by section modulus is approximate</a:t>
            </a:r>
          </a:p>
        </p:txBody>
      </p:sp>
      <p:pic>
        <p:nvPicPr>
          <p:cNvPr id="12" name="Picture 11" descr="A circular metal ring with many small teeth&#10;&#10;AI-generated content may be incorrect.">
            <a:extLst>
              <a:ext uri="{FF2B5EF4-FFF2-40B4-BE49-F238E27FC236}">
                <a16:creationId xmlns:a16="http://schemas.microsoft.com/office/drawing/2014/main" id="{E30309B7-C04B-416E-691F-FD6E1673E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5" t="15559" r="7833" b="18351"/>
          <a:stretch>
            <a:fillRect/>
          </a:stretch>
        </p:blipFill>
        <p:spPr>
          <a:xfrm>
            <a:off x="7165910" y="2192194"/>
            <a:ext cx="4534678" cy="28903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D80D255-B815-AB3C-EA74-36D654681F3C}"/>
              </a:ext>
            </a:extLst>
          </p:cNvPr>
          <p:cNvSpPr/>
          <p:nvPr/>
        </p:nvSpPr>
        <p:spPr>
          <a:xfrm>
            <a:off x="7703554" y="5406441"/>
            <a:ext cx="34593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altLang="en-US" sz="1400" b="1" i="1" dirty="0">
                <a:solidFill>
                  <a:prstClr val="black"/>
                </a:solidFill>
              </a:rPr>
              <a:t>Thyssenkrupp </a:t>
            </a:r>
            <a:r>
              <a:rPr lang="en-IN" altLang="en-US" sz="1400" i="1" dirty="0">
                <a:solidFill>
                  <a:prstClr val="black"/>
                </a:solidFill>
              </a:rPr>
              <a:t>Double-row four-point yaw bearings (Series 09) </a:t>
            </a:r>
            <a:r>
              <a:rPr lang="en-IN" altLang="en-US" sz="1400" i="1" dirty="0">
                <a:solidFill>
                  <a:prstClr val="black"/>
                </a:solidFill>
                <a:hlinkClick r:id="rId3" action="ppaction://hlinksldjump"/>
              </a:rPr>
              <a:t>[2]</a:t>
            </a:r>
            <a:endParaRPr lang="en-IN" sz="14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74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74E5-EA3C-DF73-0F68-250666FD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F45EB5-2CE9-428B-8728-9BDFF32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3F572-5B6D-309F-27BD-C7105859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1AB53-3CE5-5714-38EA-C13DEC96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FDD505-E63B-3CE9-E5F5-A2E0C5DDB2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1048661" name="Title 1">
            <a:extLst>
              <a:ext uri="{FF2B5EF4-FFF2-40B4-BE49-F238E27FC236}">
                <a16:creationId xmlns:a16="http://schemas.microsoft.com/office/drawing/2014/main" id="{5A22A91E-DECF-F37B-11BF-28FD0B77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9" y="355794"/>
            <a:ext cx="11905861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ptos" panose="020B0004020202020204" pitchFamily="34" charset="0"/>
                <a:cs typeface="Times New Roman" panose="02020603050405020304" pitchFamily="18" charset="0"/>
              </a:rPr>
              <a:t> Double row 4 - Point Bearing (External Gearing)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AC2E8-66FB-D0BF-AD76-6130B250CC91}"/>
              </a:ext>
            </a:extLst>
          </p:cNvPr>
          <p:cNvSpPr txBox="1"/>
          <p:nvPr/>
        </p:nvSpPr>
        <p:spPr>
          <a:xfrm>
            <a:off x="1019649" y="1704568"/>
            <a:ext cx="8945444" cy="3156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Why does this choice fit Optimus Syria?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Tower-top diameter is 3.8 m (very close to Shakti’s final ~4.0 m PCD choice).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Similar interface and allows standard gear teeth dimensions/pinion geometry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Tilting moments are likely closer to Shakti’s loads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Double row four-point slewing bearing with external gearing (ThyssenKrupp style)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Sized close to the tower top / pitch-circle diameter (PCD)</a:t>
            </a:r>
          </a:p>
        </p:txBody>
      </p:sp>
    </p:spTree>
    <p:extLst>
      <p:ext uri="{BB962C8B-B14F-4D97-AF65-F5344CB8AC3E}">
        <p14:creationId xmlns:p14="http://schemas.microsoft.com/office/powerpoint/2010/main" val="12632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5800-EC69-568A-64E8-CABD9FB8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5D838F-B728-8747-8413-279F3B31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9DDED5-0523-0FA9-B702-6FD26087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3F2FE-85E4-4079-97D1-D58D1F08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4BCC4B-CA7C-283E-2A4E-E12B4ED5F7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FA0D95-0A93-31B3-2A9A-954A4B60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644" y="337133"/>
            <a:ext cx="9758712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</a:rPr>
              <a:t>Bed Casting - 2D Dimension Defined</a:t>
            </a:r>
            <a:r>
              <a:rPr lang="en-US" sz="4000" b="1" dirty="0">
                <a:latin typeface="Aptos" panose="020B0004020202020204" pitchFamily="34" charset="0"/>
              </a:rPr>
              <a:t> </a:t>
            </a:r>
            <a:endParaRPr lang="en-IN" altLang="en-US" sz="40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repot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120" y="1515745"/>
            <a:ext cx="6183630" cy="4487545"/>
          </a:xfrm>
          <a:prstGeom prst="rect">
            <a:avLst/>
          </a:prstGeom>
        </p:spPr>
      </p:pic>
      <p:sp>
        <p:nvSpPr>
          <p:cNvPr id="11" name="Text Box 3"/>
          <p:cNvSpPr txBox="1"/>
          <p:nvPr/>
        </p:nvSpPr>
        <p:spPr>
          <a:xfrm>
            <a:off x="2904892" y="6003290"/>
            <a:ext cx="5596085" cy="3873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>
              <a:lnSpc>
                <a:spcPct val="150000"/>
              </a:lnSpc>
              <a:buClrTx/>
              <a:buSzTx/>
              <a:buFontTx/>
            </a:pPr>
            <a:r>
              <a:rPr lang="en-IN" sz="1200" b="1" dirty="0">
                <a:sym typeface="+mn-ea"/>
              </a:rPr>
              <a:t>Note: </a:t>
            </a:r>
            <a:r>
              <a:rPr lang="en-IN" sz="1200" dirty="0">
                <a:sym typeface="+mn-ea"/>
              </a:rPr>
              <a:t>For Defining of Dimension, we utilize Optimus 92LE Concept 2D drawing. </a:t>
            </a:r>
            <a:r>
              <a:rPr lang="en-IN" sz="1200" dirty="0">
                <a:sym typeface="+mn-ea"/>
                <a:hlinkClick r:id="rId3" action="ppaction://hlinksldjump"/>
              </a:rPr>
              <a:t>[3]</a:t>
            </a:r>
            <a:endParaRPr lang="en-IN" sz="12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328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ABE-EC2D-4168-9C33-C738DCB4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610F1-4F52-FD59-D357-C2535E30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BC7725-8C07-1A4E-52F0-CC65E652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9E2AC4-D631-580A-3885-C23B67BB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447CCDC-97AD-F098-2112-52C8043AFC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</a:rPr>
              <a:t>Bed Casting - Updation</a:t>
            </a:r>
            <a:r>
              <a:rPr lang="en-US" sz="4000" b="1" dirty="0">
                <a:latin typeface="Aptos" panose="020B0004020202020204" pitchFamily="34" charset="0"/>
              </a:rPr>
              <a:t> 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1244292"/>
            <a:ext cx="10601250" cy="3545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1. Shaft Dimension - </a:t>
            </a:r>
            <a:r>
              <a:rPr lang="en-IN" sz="2000" dirty="0"/>
              <a:t>Looking for the proper dim. values of a shaft to fix the total length of the bed.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2. Yaw drives &amp; Bearing - </a:t>
            </a:r>
            <a:r>
              <a:rPr lang="en-IN" sz="2000" dirty="0"/>
              <a:t>As per the calculation, we are going to use 6 yaw drives. Bed design update in progress.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ym typeface="+mn-ea"/>
              </a:rPr>
              <a:t>3. Main Bearing and Gearbox </a:t>
            </a:r>
            <a:r>
              <a:rPr lang="en-IN" sz="2000" dirty="0">
                <a:sym typeface="+mn-ea"/>
              </a:rPr>
              <a:t>Fixing Details Needed.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ym typeface="+mn-ea"/>
              </a:rPr>
              <a:t>4. </a:t>
            </a:r>
            <a:r>
              <a:rPr lang="en-IN" sz="2000" dirty="0">
                <a:sym typeface="+mn-ea"/>
              </a:rPr>
              <a:t>3D Model on process - Reference </a:t>
            </a:r>
            <a:r>
              <a:rPr lang="en-IN" sz="2000" b="1" dirty="0">
                <a:sym typeface="+mn-ea"/>
              </a:rPr>
              <a:t>Senvion MM92</a:t>
            </a:r>
            <a:endParaRPr lang="en-IN" sz="2000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0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1E73-431B-337A-40D3-E44968F2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7CF9A-AF1E-DE4C-5542-AFD79E20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04/11/2025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D4D10B-EF4E-8992-F714-5452E953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8931" y="6564113"/>
            <a:ext cx="3114869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FAF555-36E5-6E79-9CE7-E34DD6DC3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5D76317-4E32-A375-D1E7-F959EE6846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Luksh</a:t>
            </a:r>
            <a:r>
              <a:rPr lang="en-GB" dirty="0"/>
              <a:t> Chawla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4769B-9C93-869E-68EB-A306AC19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32" y="581510"/>
            <a:ext cx="10537267" cy="853344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References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1BA660E-A8A9-FC72-F129-4F4CEB73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60238"/>
            <a:ext cx="10604136" cy="217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[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 action="ppaction://hlinksldjump"/>
              </a:rPr>
              <a:t>].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Bonfiglioli (accessed 19 Oct 2025). Solutions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for Wind.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3"/>
              </a:rPr>
              <a:t>https://www.bonfiglioli.com/_default_upload_bucket/TR_CAT_WIND_STD_ENG_R05_0.pdf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prstClr val="black"/>
                </a:solidFill>
                <a:hlinkClick r:id="rId4" action="ppaction://hlinkfile"/>
              </a:rPr>
              <a:t>[2]. </a:t>
            </a:r>
            <a:r>
              <a:rPr lang="en-US" sz="2000" dirty="0"/>
              <a:t>WEC Development Project</a:t>
            </a:r>
            <a:r>
              <a:rPr lang="en-GB" sz="2000" dirty="0"/>
              <a:t>: Optimus Shakti 5.0 Machine Bed and Yaw System Final Report.</a:t>
            </a:r>
          </a:p>
          <a:p>
            <a:pPr marL="0" indent="0">
              <a:buNone/>
            </a:pPr>
            <a:r>
              <a:rPr lang="en-GB" altLang="en-US" sz="2000" dirty="0">
                <a:solidFill>
                  <a:prstClr val="black"/>
                </a:solidFill>
                <a:hlinkClick r:id="rId5" action="ppaction://hlinkfile"/>
              </a:rPr>
              <a:t>[3]. </a:t>
            </a:r>
            <a:r>
              <a:rPr lang="en-US" sz="2000" dirty="0"/>
              <a:t>Master Wind Engineering Project Optimus 92LE </a:t>
            </a:r>
            <a:r>
              <a:rPr lang="en-GB" sz="2000" dirty="0"/>
              <a:t>Machine Bed and Yaw System </a:t>
            </a:r>
            <a:endParaRPr kumimoji="0" lang="en-GB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buNone/>
            </a:pP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64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270</TotalTime>
  <Words>669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Number of Yaw Drives Calculation</vt:lpstr>
      <vt:lpstr>Number of Yaw Drives – Syria</vt:lpstr>
      <vt:lpstr>Yaw Bearing (Double-row 4-point Bearing)</vt:lpstr>
      <vt:lpstr> Double row 4 - Point Bearing (External Gearing)</vt:lpstr>
      <vt:lpstr>Bed Casting - 2D Dimension Defined </vt:lpstr>
      <vt:lpstr>Bed Casting - Updation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36</cp:revision>
  <dcterms:created xsi:type="dcterms:W3CDTF">2025-10-26T22:40:44Z</dcterms:created>
  <dcterms:modified xsi:type="dcterms:W3CDTF">2025-11-03T10:08:48Z</dcterms:modified>
</cp:coreProperties>
</file>