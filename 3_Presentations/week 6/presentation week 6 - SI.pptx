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sldIdLst>
    <p:sldId id="256" r:id="rId3"/>
    <p:sldId id="258" r:id="rId4"/>
    <p:sldId id="257" r:id="rId5"/>
    <p:sldId id="259" r:id="rId6"/>
    <p:sldId id="260" r:id="rId7"/>
    <p:sldId id="263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248931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1C1F126-0E13-CA3E-498A-E7954A2B9995}"/>
              </a:ext>
            </a:extLst>
          </p:cNvPr>
          <p:cNvSpPr txBox="1"/>
          <p:nvPr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401224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0227E7A-95F2-446F-B89C-29967E006B57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523716-443A-4FDC-8DFA-374D24D922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840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0227E7A-95F2-446F-B89C-29967E006B57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523716-443A-4FDC-8DFA-374D24D922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17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86FD-6932-5639-FFAB-0360A03A9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6A2E4-A5E7-C212-78C9-E45840FE3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9DC7E-02F1-152A-53C4-D7F71CDD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27E7A-95F2-446F-B89C-29967E006B57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BB3FC-6610-4BAD-AA35-C8E7CED0B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B33D0-09EE-BAA1-E85E-4DC13627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3716-443A-4FDC-8DFA-374D24D922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73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187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44)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96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platzhalter 16">
            <a:extLst>
              <a:ext uri="{FF2B5EF4-FFF2-40B4-BE49-F238E27FC236}">
                <a16:creationId xmlns:a16="http://schemas.microsoft.com/office/drawing/2014/main" id="{A0746787-A71B-3101-F4E0-165F029F82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9904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31FE3A22-F1D6-3850-D81B-DD4F77B827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23479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BA7DE9E2-5976-409B-74ED-F5C045CB9E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27334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1BC93905-B480-E460-1D44-26A228083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94762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30FA5F45-068D-BBFD-7B46-6551EBDAF3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91063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platzhalter 16">
            <a:extLst>
              <a:ext uri="{FF2B5EF4-FFF2-40B4-BE49-F238E27FC236}">
                <a16:creationId xmlns:a16="http://schemas.microsoft.com/office/drawing/2014/main" id="{ACB52842-737E-C895-CC6D-4485164F51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46249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platzhalter 16">
            <a:extLst>
              <a:ext uri="{FF2B5EF4-FFF2-40B4-BE49-F238E27FC236}">
                <a16:creationId xmlns:a16="http://schemas.microsoft.com/office/drawing/2014/main" id="{CAE99AAC-B9F4-9A81-7449-F0AD86025D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60273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0F1EAC69-AAD5-6642-BC87-38032AD96E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08317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C3177AEF-EE91-2F3B-231A-9331378532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65654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475DD45E-1DB9-89F1-CBF9-95AE6F74FA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81318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platzhalter 16">
            <a:extLst>
              <a:ext uri="{FF2B5EF4-FFF2-40B4-BE49-F238E27FC236}">
                <a16:creationId xmlns:a16="http://schemas.microsoft.com/office/drawing/2014/main" id="{196BD2AD-E7A1-DE6C-9A07-133446C495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0603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platzhalter 16">
            <a:extLst>
              <a:ext uri="{FF2B5EF4-FFF2-40B4-BE49-F238E27FC236}">
                <a16:creationId xmlns:a16="http://schemas.microsoft.com/office/drawing/2014/main" id="{7754F249-321F-31A6-A0F1-3FCBDDE48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548262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0996E08A-65AD-2A73-B59F-C0AFAB18C2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70003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570F5318-3FC1-CA32-B06D-CD0FA24B31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09600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C165C5F0-B1A9-D2FB-3178-F4469730C3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410596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FA2057B9-A012-D06C-457D-BD6CAFDBEA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26084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A2523716-443A-4FDC-8DFA-374D24D9220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0227E7A-95F2-446F-B89C-29967E006B57}" type="datetimeFigureOut">
              <a:rPr lang="en-GB" smtClean="0"/>
              <a:t>02/11/2025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20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8813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C35CFD1-C204-7AD4-3AEA-79CB1A683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66C7A94-AF37-0A1B-D73C-8CC8FC764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2841" y="3429000"/>
            <a:ext cx="91440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96F0E3B-EE68-4427-C1AB-EB515C603F9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16826" y="4882309"/>
            <a:ext cx="5128821" cy="33171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87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659085-D2A7-4274-DC23-E0BF9B76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Project planning </a:t>
            </a:r>
          </a:p>
          <a:p>
            <a:r>
              <a:rPr lang="it-IT" dirty="0" err="1"/>
              <a:t>Interfaces</a:t>
            </a:r>
            <a:endParaRPr lang="it-IT" dirty="0"/>
          </a:p>
          <a:p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remarks</a:t>
            </a:r>
            <a:endParaRPr lang="it-IT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083135-F282-7A8F-BFE2-1A6B1D729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List of </a:t>
            </a:r>
            <a:r>
              <a:rPr lang="it-IT" dirty="0" err="1"/>
              <a:t>contents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FBDD8-7330-C9DC-F637-5BC0CC32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07B20-DA5C-8F7B-E3DD-D6B74AA7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DA657-E8F6-2DAA-DD32-40E5BC90B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D1648-AA24-1806-0B19-1C8C6044C5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30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4C915C-5614-CF17-354B-CC7B6A830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050" t="54556" r="8375" b="4117"/>
          <a:stretch>
            <a:fillRect/>
          </a:stretch>
        </p:blipFill>
        <p:spPr>
          <a:xfrm>
            <a:off x="398586" y="2344933"/>
            <a:ext cx="6274777" cy="27784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179DF4-43B8-6E76-E526-4C38AADF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1. Project planning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680B1-DD5E-C7F6-F492-C8CC9BFEC93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ED794-A770-49B1-6598-61CA86FD7C7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9E013-B484-5DCA-9500-70354F05732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33B905-6736-A2D0-51FA-00DD6E05F73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1046D0-460A-E46B-F7A7-DCFE0463AB6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0335BF-B10E-1317-BAA1-595E01CC25E9}"/>
              </a:ext>
            </a:extLst>
          </p:cNvPr>
          <p:cNvSpPr txBox="1"/>
          <p:nvPr/>
        </p:nvSpPr>
        <p:spPr>
          <a:xfrm>
            <a:off x="677008" y="1690688"/>
            <a:ext cx="2787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timeline</a:t>
            </a:r>
            <a:endParaRPr lang="en-GB" sz="20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31C5F5-F431-86AB-B995-43CE04B83F1A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8456441" y="2168540"/>
            <a:ext cx="0" cy="4691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626694C-935F-53E8-3540-911B7323DE9E}"/>
              </a:ext>
            </a:extLst>
          </p:cNvPr>
          <p:cNvSpPr/>
          <p:nvPr/>
        </p:nvSpPr>
        <p:spPr>
          <a:xfrm>
            <a:off x="7125286" y="2645177"/>
            <a:ext cx="2650002" cy="783824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 err="1"/>
              <a:t>Safety</a:t>
            </a:r>
            <a:r>
              <a:rPr lang="it-IT" sz="1600" dirty="0"/>
              <a:t> </a:t>
            </a:r>
            <a:r>
              <a:rPr lang="it-IT" sz="1600" dirty="0" err="1"/>
              <a:t>calculation</a:t>
            </a:r>
            <a:r>
              <a:rPr lang="it-IT" sz="1600" dirty="0"/>
              <a:t> for the </a:t>
            </a:r>
            <a:r>
              <a:rPr lang="it-IT" sz="1600" dirty="0" err="1"/>
              <a:t>designed</a:t>
            </a:r>
            <a:r>
              <a:rPr lang="it-IT" sz="1600" dirty="0"/>
              <a:t> </a:t>
            </a:r>
            <a:r>
              <a:rPr lang="it-IT" sz="1600" dirty="0" err="1"/>
              <a:t>parameters</a:t>
            </a:r>
            <a:r>
              <a:rPr lang="it-IT" sz="1600" dirty="0"/>
              <a:t> with </a:t>
            </a:r>
            <a:r>
              <a:rPr lang="it-IT" sz="1600" dirty="0" err="1"/>
              <a:t>Shakti</a:t>
            </a:r>
            <a:r>
              <a:rPr lang="it-IT" sz="1600" dirty="0"/>
              <a:t> loads</a:t>
            </a:r>
            <a:endParaRPr lang="en-GB" sz="16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7E7DA35-33A2-A153-ECAF-3EF2CABD96CB}"/>
              </a:ext>
            </a:extLst>
          </p:cNvPr>
          <p:cNvCxnSpPr>
            <a:cxnSpLocks/>
          </p:cNvCxnSpPr>
          <p:nvPr/>
        </p:nvCxnSpPr>
        <p:spPr>
          <a:xfrm>
            <a:off x="9757703" y="1765387"/>
            <a:ext cx="1336430" cy="1149894"/>
          </a:xfrm>
          <a:prstGeom prst="bentConnector3">
            <a:avLst>
              <a:gd name="adj1" fmla="val 100000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0E11A22-9D5E-A5A0-AFAE-EE8AF869C64C}"/>
              </a:ext>
            </a:extLst>
          </p:cNvPr>
          <p:cNvSpPr/>
          <p:nvPr/>
        </p:nvSpPr>
        <p:spPr>
          <a:xfrm>
            <a:off x="7137595" y="1362233"/>
            <a:ext cx="2637692" cy="80630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Design </a:t>
            </a:r>
            <a:r>
              <a:rPr lang="it-IT" sz="1600" dirty="0" err="1"/>
              <a:t>parameters</a:t>
            </a:r>
            <a:r>
              <a:rPr lang="it-IT" sz="1600" dirty="0"/>
              <a:t> </a:t>
            </a:r>
            <a:r>
              <a:rPr lang="it-IT" sz="1600" dirty="0" err="1"/>
              <a:t>assumption</a:t>
            </a:r>
            <a:r>
              <a:rPr lang="it-IT" sz="1600" dirty="0"/>
              <a:t>/</a:t>
            </a:r>
            <a:r>
              <a:rPr lang="it-IT" sz="1600" dirty="0" err="1"/>
              <a:t>calculation</a:t>
            </a:r>
            <a:endParaRPr lang="en-GB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0C2BE-E9A6-C9B7-5821-E5821F5C6E63}"/>
              </a:ext>
            </a:extLst>
          </p:cNvPr>
          <p:cNvSpPr/>
          <p:nvPr/>
        </p:nvSpPr>
        <p:spPr>
          <a:xfrm>
            <a:off x="433928" y="2585563"/>
            <a:ext cx="6212732" cy="427612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C4916C-F164-2F30-67D8-AA6B6EC601B3}"/>
              </a:ext>
            </a:extLst>
          </p:cNvPr>
          <p:cNvSpPr/>
          <p:nvPr/>
        </p:nvSpPr>
        <p:spPr>
          <a:xfrm>
            <a:off x="10234245" y="2916690"/>
            <a:ext cx="1780149" cy="730254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3 D models </a:t>
            </a:r>
            <a:r>
              <a:rPr lang="it-IT" sz="1600" dirty="0" err="1"/>
              <a:t>initialization</a:t>
            </a:r>
            <a:endParaRPr lang="en-GB" sz="16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F9AD296-1C65-1C72-A588-74A11426142E}"/>
              </a:ext>
            </a:extLst>
          </p:cNvPr>
          <p:cNvCxnSpPr>
            <a:cxnSpLocks/>
          </p:cNvCxnSpPr>
          <p:nvPr/>
        </p:nvCxnSpPr>
        <p:spPr>
          <a:xfrm>
            <a:off x="8444131" y="3415042"/>
            <a:ext cx="0" cy="45472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7BFB413-E48C-944F-2989-A3D439BE59A5}"/>
              </a:ext>
            </a:extLst>
          </p:cNvPr>
          <p:cNvSpPr/>
          <p:nvPr/>
        </p:nvSpPr>
        <p:spPr>
          <a:xfrm>
            <a:off x="7125285" y="3869770"/>
            <a:ext cx="2637691" cy="403154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 err="1"/>
              <a:t>Dimensions</a:t>
            </a:r>
            <a:r>
              <a:rPr lang="it-IT" sz="1600" dirty="0"/>
              <a:t> </a:t>
            </a:r>
            <a:r>
              <a:rPr lang="it-IT" sz="1600" dirty="0" err="1"/>
              <a:t>approval</a:t>
            </a:r>
            <a:endParaRPr lang="en-GB" sz="16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BC805D-54A4-3620-C8CE-17A4061E3937}"/>
              </a:ext>
            </a:extLst>
          </p:cNvPr>
          <p:cNvCxnSpPr>
            <a:cxnSpLocks/>
          </p:cNvCxnSpPr>
          <p:nvPr/>
        </p:nvCxnSpPr>
        <p:spPr>
          <a:xfrm>
            <a:off x="8444715" y="4272924"/>
            <a:ext cx="0" cy="4119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A167CEA-366C-3E80-12E2-1AEAE289DF6E}"/>
              </a:ext>
            </a:extLst>
          </p:cNvPr>
          <p:cNvSpPr/>
          <p:nvPr/>
        </p:nvSpPr>
        <p:spPr>
          <a:xfrm>
            <a:off x="7101841" y="4666753"/>
            <a:ext cx="2709199" cy="54646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dirty="0"/>
              <a:t>New loads </a:t>
            </a:r>
            <a:r>
              <a:rPr lang="it-IT" sz="1600" dirty="0" err="1"/>
              <a:t>calculated</a:t>
            </a:r>
            <a:r>
              <a:rPr lang="it-IT" sz="1600" dirty="0"/>
              <a:t> for </a:t>
            </a:r>
            <a:r>
              <a:rPr lang="it-IT" sz="1600" dirty="0" err="1"/>
              <a:t>our</a:t>
            </a:r>
            <a:r>
              <a:rPr lang="it-IT" sz="1600" dirty="0"/>
              <a:t> turbine</a:t>
            </a:r>
            <a:endParaRPr lang="en-GB" sz="160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89A2B3-459D-7C3B-550F-2A9CF69601B8}"/>
              </a:ext>
            </a:extLst>
          </p:cNvPr>
          <p:cNvCxnSpPr>
            <a:cxnSpLocks/>
          </p:cNvCxnSpPr>
          <p:nvPr/>
        </p:nvCxnSpPr>
        <p:spPr>
          <a:xfrm>
            <a:off x="8432405" y="5213213"/>
            <a:ext cx="0" cy="4119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A40F8553-FBD3-7B8B-3594-70E8474877B9}"/>
              </a:ext>
            </a:extLst>
          </p:cNvPr>
          <p:cNvSpPr/>
          <p:nvPr/>
        </p:nvSpPr>
        <p:spPr>
          <a:xfrm>
            <a:off x="7089531" y="5607042"/>
            <a:ext cx="2709199" cy="5464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FINAL DESIGN APPROVAL!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938008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301D8-B53E-D654-2A5C-1F27DFF4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31FC2-573C-A7D3-AE26-78B29A14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2. New </a:t>
            </a:r>
            <a:r>
              <a:rPr lang="it-IT" dirty="0" err="1"/>
              <a:t>interface</a:t>
            </a:r>
            <a:r>
              <a:rPr lang="it-IT" dirty="0"/>
              <a:t> updates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19CC3-AC38-01FC-E9BA-6FEDB77FB7B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4A07-1C7F-C064-96A4-83C1F176300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54713-D51A-6ACD-1460-16B3D109B70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AA25B4-552A-0785-C616-EF577ABD74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[1]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BDBBBCC-C1CC-F120-FFE8-531BCEBFC62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78F87F-1412-ABF2-6DCB-881302ACE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025" y="2464411"/>
            <a:ext cx="3799775" cy="2465768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E27B445-7F85-3D54-B256-B4FED0E5A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535296"/>
              </p:ext>
            </p:extLst>
          </p:nvPr>
        </p:nvGraphicFramePr>
        <p:xfrm>
          <a:off x="475753" y="2519772"/>
          <a:ext cx="6538544" cy="2243816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003078">
                  <a:extLst>
                    <a:ext uri="{9D8B030D-6E8A-4147-A177-3AD203B41FA5}">
                      <a16:colId xmlns:a16="http://schemas.microsoft.com/office/drawing/2014/main" val="317625718"/>
                    </a:ext>
                  </a:extLst>
                </a:gridCol>
                <a:gridCol w="498175">
                  <a:extLst>
                    <a:ext uri="{9D8B030D-6E8A-4147-A177-3AD203B41FA5}">
                      <a16:colId xmlns:a16="http://schemas.microsoft.com/office/drawing/2014/main" val="375477043"/>
                    </a:ext>
                  </a:extLst>
                </a:gridCol>
                <a:gridCol w="332117">
                  <a:extLst>
                    <a:ext uri="{9D8B030D-6E8A-4147-A177-3AD203B41FA5}">
                      <a16:colId xmlns:a16="http://schemas.microsoft.com/office/drawing/2014/main" val="389688404"/>
                    </a:ext>
                  </a:extLst>
                </a:gridCol>
                <a:gridCol w="1608689">
                  <a:extLst>
                    <a:ext uri="{9D8B030D-6E8A-4147-A177-3AD203B41FA5}">
                      <a16:colId xmlns:a16="http://schemas.microsoft.com/office/drawing/2014/main" val="1383064096"/>
                    </a:ext>
                  </a:extLst>
                </a:gridCol>
                <a:gridCol w="2096485">
                  <a:extLst>
                    <a:ext uri="{9D8B030D-6E8A-4147-A177-3AD203B41FA5}">
                      <a16:colId xmlns:a16="http://schemas.microsoft.com/office/drawing/2014/main" val="36644646"/>
                    </a:ext>
                  </a:extLst>
                </a:gridCol>
              </a:tblGrid>
              <a:tr h="1784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name of the parameter</a:t>
                      </a:r>
                      <a:endParaRPr lang="en-GB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value </a:t>
                      </a:r>
                      <a:endParaRPr lang="en-GB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unit</a:t>
                      </a:r>
                      <a:endParaRPr lang="en-GB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status (fixed/not fixed)</a:t>
                      </a:r>
                      <a:endParaRPr lang="en-GB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SI remark</a:t>
                      </a:r>
                      <a:endParaRPr lang="en-GB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20954"/>
                  </a:ext>
                </a:extLst>
              </a:tr>
              <a:tr h="3569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internal row bolt circle diameter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1940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not fixed</a:t>
                      </a:r>
                      <a:endParaRPr lang="en-GB" sz="1100" b="0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based on the new value of shaft outer diameter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105811"/>
                  </a:ext>
                </a:extLst>
              </a:tr>
              <a:tr h="3569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external row bolt circle diameter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2140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not fixed</a:t>
                      </a:r>
                      <a:endParaRPr lang="en-GB" sz="1100" b="0" i="0" u="none" strike="noStrike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based on the new value of shaft outer diameter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497303"/>
                  </a:ext>
                </a:extLst>
              </a:tr>
              <a:tr h="178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max diameter flange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2200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not fixed</a:t>
                      </a:r>
                      <a:endParaRPr lang="en-GB" sz="1100" b="0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835877"/>
                  </a:ext>
                </a:extLst>
              </a:tr>
              <a:tr h="178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flange thickness for shaft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150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not fixed</a:t>
                      </a:r>
                      <a:endParaRPr lang="en-GB" sz="1100" b="0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same as shakti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200145"/>
                  </a:ext>
                </a:extLst>
              </a:tr>
              <a:tr h="178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flange thickness for hub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150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not fixed</a:t>
                      </a:r>
                      <a:endParaRPr lang="en-GB" sz="1100" b="0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same as shakti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107325"/>
                  </a:ext>
                </a:extLst>
              </a:tr>
              <a:tr h="236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Bolt </a:t>
                      </a: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holes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diameter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mm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not fixed</a:t>
                      </a:r>
                      <a:endParaRPr lang="en-GB" sz="1100" b="0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Because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M39 are </a:t>
                      </a: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used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9664"/>
                  </a:ext>
                </a:extLst>
              </a:tr>
              <a:tr h="236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Bolt </a:t>
                      </a: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tighening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tool max </a:t>
                      </a: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dimension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mm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fixed</a:t>
                      </a:r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1378"/>
                  </a:ext>
                </a:extLst>
              </a:tr>
              <a:tr h="236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flange </a:t>
                      </a: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radial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thickness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100" b="0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Needs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to be </a:t>
                      </a: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decided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based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on the </a:t>
                      </a: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dimension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of the tool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32679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A53759A-6B6C-57FC-78A2-378560424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162409"/>
              </p:ext>
            </p:extLst>
          </p:nvPr>
        </p:nvGraphicFramePr>
        <p:xfrm>
          <a:off x="475753" y="2289630"/>
          <a:ext cx="6538544" cy="236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38544">
                  <a:extLst>
                    <a:ext uri="{9D8B030D-6E8A-4147-A177-3AD203B41FA5}">
                      <a16:colId xmlns:a16="http://schemas.microsoft.com/office/drawing/2014/main" val="3556130347"/>
                    </a:ext>
                  </a:extLst>
                </a:gridCol>
              </a:tblGrid>
              <a:tr h="222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500" b="1" i="0" u="none" strike="noStrike" dirty="0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R</a:t>
                      </a:r>
                      <a:r>
                        <a:rPr lang="en-GB" sz="1500" b="1" i="0" u="none" strike="noStrike" dirty="0" err="1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otor</a:t>
                      </a:r>
                      <a:r>
                        <a:rPr lang="en-GB" sz="1500" b="1" i="0" u="none" strike="noStrike" dirty="0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 hub – Low Speed shaft flanged connection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0492796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43B9FEE-132C-8203-0B2C-88443BD5620E}"/>
              </a:ext>
            </a:extLst>
          </p:cNvPr>
          <p:cNvSpPr txBox="1"/>
          <p:nvPr/>
        </p:nvSpPr>
        <p:spPr>
          <a:xfrm>
            <a:off x="7554025" y="4930179"/>
            <a:ext cx="379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/>
              <a:t>Shaft</a:t>
            </a:r>
            <a:r>
              <a:rPr lang="it-IT" sz="1200" dirty="0"/>
              <a:t> from </a:t>
            </a:r>
            <a:r>
              <a:rPr lang="it-IT" sz="1200" dirty="0" err="1"/>
              <a:t>Optimus</a:t>
            </a:r>
            <a:r>
              <a:rPr lang="it-IT" sz="1200" dirty="0"/>
              <a:t> 92 LE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30183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4327-9249-18B1-5C0E-4037BB44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2. New </a:t>
            </a:r>
            <a:r>
              <a:rPr lang="it-IT" dirty="0" err="1"/>
              <a:t>interface</a:t>
            </a:r>
            <a:r>
              <a:rPr lang="it-IT" dirty="0"/>
              <a:t> updates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83D1A-4C94-E009-4788-4FCBCE9535E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01AF1-8AFA-89C9-7E7B-22FCFB59FFD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27720-B492-F2AB-692E-567C019DA9A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65272D-9FD0-996A-46B4-8E29C5F982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[2],[3]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472DB7-580C-9303-148D-0F57A5746E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F613290-64D6-E29A-BAC6-F911DCEC2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101867"/>
              </p:ext>
            </p:extLst>
          </p:nvPr>
        </p:nvGraphicFramePr>
        <p:xfrm>
          <a:off x="584190" y="1964213"/>
          <a:ext cx="7314797" cy="1331272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734503">
                  <a:extLst>
                    <a:ext uri="{9D8B030D-6E8A-4147-A177-3AD203B41FA5}">
                      <a16:colId xmlns:a16="http://schemas.microsoft.com/office/drawing/2014/main" val="317625718"/>
                    </a:ext>
                  </a:extLst>
                </a:gridCol>
                <a:gridCol w="618592">
                  <a:extLst>
                    <a:ext uri="{9D8B030D-6E8A-4147-A177-3AD203B41FA5}">
                      <a16:colId xmlns:a16="http://schemas.microsoft.com/office/drawing/2014/main" val="375477043"/>
                    </a:ext>
                  </a:extLst>
                </a:gridCol>
                <a:gridCol w="412396">
                  <a:extLst>
                    <a:ext uri="{9D8B030D-6E8A-4147-A177-3AD203B41FA5}">
                      <a16:colId xmlns:a16="http://schemas.microsoft.com/office/drawing/2014/main" val="389688404"/>
                    </a:ext>
                  </a:extLst>
                </a:gridCol>
                <a:gridCol w="1596263">
                  <a:extLst>
                    <a:ext uri="{9D8B030D-6E8A-4147-A177-3AD203B41FA5}">
                      <a16:colId xmlns:a16="http://schemas.microsoft.com/office/drawing/2014/main" val="1383064096"/>
                    </a:ext>
                  </a:extLst>
                </a:gridCol>
                <a:gridCol w="2953043">
                  <a:extLst>
                    <a:ext uri="{9D8B030D-6E8A-4147-A177-3AD203B41FA5}">
                      <a16:colId xmlns:a16="http://schemas.microsoft.com/office/drawing/2014/main" val="36644646"/>
                    </a:ext>
                  </a:extLst>
                </a:gridCol>
              </a:tblGrid>
              <a:tr h="185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name of the parameter</a:t>
                      </a:r>
                      <a:endParaRPr lang="en-GB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value </a:t>
                      </a:r>
                      <a:endParaRPr lang="en-GB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unit</a:t>
                      </a:r>
                      <a:endParaRPr lang="en-GB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status (fixed/not fixed)</a:t>
                      </a:r>
                      <a:endParaRPr lang="en-GB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SI remark</a:t>
                      </a:r>
                      <a:endParaRPr lang="en-GB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20954"/>
                  </a:ext>
                </a:extLst>
              </a:tr>
              <a:tr h="268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Flange 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outer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diameter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1595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mm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Fixed</a:t>
                      </a: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Decided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with professor from 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shaft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diameter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835877"/>
                  </a:ext>
                </a:extLst>
              </a:tr>
              <a:tr h="1854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Space for the 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tightening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tool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mm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fixed</a:t>
                      </a: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200145"/>
                  </a:ext>
                </a:extLst>
              </a:tr>
              <a:tr h="1854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Flange 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radial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thickness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170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mm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Not </a:t>
                      </a:r>
                      <a:r>
                        <a:rPr lang="it-IT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fixed</a:t>
                      </a: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107325"/>
                  </a:ext>
                </a:extLst>
              </a:tr>
              <a:tr h="2457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Shaft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min 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diameter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mm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Not </a:t>
                      </a:r>
                      <a:r>
                        <a:rPr lang="it-IT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fixed</a:t>
                      </a: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9664"/>
                  </a:ext>
                </a:extLst>
              </a:tr>
              <a:tr h="2457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Bolt 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circle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diameter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1435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mm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Not </a:t>
                      </a:r>
                      <a:r>
                        <a:rPr lang="it-IT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fixed</a:t>
                      </a: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1378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DDFFBEB-0672-30D8-17A5-2E341F346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604978"/>
              </p:ext>
            </p:extLst>
          </p:nvPr>
        </p:nvGraphicFramePr>
        <p:xfrm>
          <a:off x="584189" y="1727993"/>
          <a:ext cx="7314797" cy="236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4797">
                  <a:extLst>
                    <a:ext uri="{9D8B030D-6E8A-4147-A177-3AD203B41FA5}">
                      <a16:colId xmlns:a16="http://schemas.microsoft.com/office/drawing/2014/main" val="3556130347"/>
                    </a:ext>
                  </a:extLst>
                </a:gridCol>
              </a:tblGrid>
              <a:tr h="222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500" b="1" i="0" u="none" strike="noStrike" dirty="0" err="1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Gearbox</a:t>
                      </a:r>
                      <a:r>
                        <a:rPr lang="it-IT" sz="1500" b="1" i="0" u="none" strike="noStrike" dirty="0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GB" sz="1500" b="1" i="0" u="none" strike="noStrike" dirty="0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– Low Speed shaft flanged connection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04927967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6FF12354-B22C-694E-8EE8-883044CA3CEF}"/>
              </a:ext>
            </a:extLst>
          </p:cNvPr>
          <p:cNvGrpSpPr/>
          <p:nvPr/>
        </p:nvGrpSpPr>
        <p:grpSpPr>
          <a:xfrm>
            <a:off x="8839199" y="1347600"/>
            <a:ext cx="2136532" cy="2208300"/>
            <a:chOff x="8027376" y="1708272"/>
            <a:chExt cx="2980593" cy="310158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B6B8A2-DE01-5CD1-7F90-7E1F436F3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596" r="41273" b="29009"/>
            <a:stretch>
              <a:fillRect/>
            </a:stretch>
          </p:blipFill>
          <p:spPr>
            <a:xfrm>
              <a:off x="8027376" y="1708272"/>
              <a:ext cx="2980593" cy="3101588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A508170-AC60-491F-F5A0-7B8320A83329}"/>
                </a:ext>
              </a:extLst>
            </p:cNvPr>
            <p:cNvSpPr/>
            <p:nvPr/>
          </p:nvSpPr>
          <p:spPr>
            <a:xfrm>
              <a:off x="8963757" y="2919046"/>
              <a:ext cx="1164982" cy="1213338"/>
            </a:xfrm>
            <a:prstGeom prst="ellipse">
              <a:avLst/>
            </a:prstGeom>
            <a:noFill/>
            <a:ln w="571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C74681D-738E-4E3D-4939-80D558129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827158"/>
              </p:ext>
            </p:extLst>
          </p:nvPr>
        </p:nvGraphicFramePr>
        <p:xfrm>
          <a:off x="599451" y="4240898"/>
          <a:ext cx="7314797" cy="158881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734503">
                  <a:extLst>
                    <a:ext uri="{9D8B030D-6E8A-4147-A177-3AD203B41FA5}">
                      <a16:colId xmlns:a16="http://schemas.microsoft.com/office/drawing/2014/main" val="317625718"/>
                    </a:ext>
                  </a:extLst>
                </a:gridCol>
                <a:gridCol w="618592">
                  <a:extLst>
                    <a:ext uri="{9D8B030D-6E8A-4147-A177-3AD203B41FA5}">
                      <a16:colId xmlns:a16="http://schemas.microsoft.com/office/drawing/2014/main" val="375477043"/>
                    </a:ext>
                  </a:extLst>
                </a:gridCol>
                <a:gridCol w="412396">
                  <a:extLst>
                    <a:ext uri="{9D8B030D-6E8A-4147-A177-3AD203B41FA5}">
                      <a16:colId xmlns:a16="http://schemas.microsoft.com/office/drawing/2014/main" val="389688404"/>
                    </a:ext>
                  </a:extLst>
                </a:gridCol>
                <a:gridCol w="1596263">
                  <a:extLst>
                    <a:ext uri="{9D8B030D-6E8A-4147-A177-3AD203B41FA5}">
                      <a16:colId xmlns:a16="http://schemas.microsoft.com/office/drawing/2014/main" val="1383064096"/>
                    </a:ext>
                  </a:extLst>
                </a:gridCol>
                <a:gridCol w="2953043">
                  <a:extLst>
                    <a:ext uri="{9D8B030D-6E8A-4147-A177-3AD203B41FA5}">
                      <a16:colId xmlns:a16="http://schemas.microsoft.com/office/drawing/2014/main" val="36644646"/>
                    </a:ext>
                  </a:extLst>
                </a:gridCol>
              </a:tblGrid>
              <a:tr h="185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name of the parameter</a:t>
                      </a:r>
                      <a:endParaRPr lang="en-GB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value </a:t>
                      </a:r>
                      <a:endParaRPr lang="en-GB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unit</a:t>
                      </a:r>
                      <a:endParaRPr lang="en-GB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>
                          <a:effectLst/>
                        </a:rPr>
                        <a:t>status (fixed/not fixed)</a:t>
                      </a:r>
                      <a:endParaRPr lang="en-GB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u="none" strike="noStrike" dirty="0">
                          <a:effectLst/>
                        </a:rPr>
                        <a:t>SI remark</a:t>
                      </a:r>
                      <a:endParaRPr lang="en-GB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20954"/>
                  </a:ext>
                </a:extLst>
              </a:tr>
              <a:tr h="2682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External (outer) Blade Diameter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3520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fixed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(Need to get permision from Professor)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835877"/>
                  </a:ext>
                </a:extLst>
              </a:tr>
              <a:tr h="18543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External (inner) Blade Diameter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3280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fixed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(Need to get permision from Professor)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200145"/>
                  </a:ext>
                </a:extLst>
              </a:tr>
              <a:tr h="18543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Bolt Circle diameter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3400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fixed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Fixed by Prof. Quell &amp; Team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107325"/>
                  </a:ext>
                </a:extLst>
              </a:tr>
              <a:tr h="24576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Bolt Details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fixed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(The Bolt Type is M36)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9664"/>
                  </a:ext>
                </a:extLst>
              </a:tr>
              <a:tr h="24576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Root Thickness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fixed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(Need to get 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permision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from Professor)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137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6E06CCD-295B-F5F7-EC31-93ADE0429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608042"/>
              </p:ext>
            </p:extLst>
          </p:nvPr>
        </p:nvGraphicFramePr>
        <p:xfrm>
          <a:off x="584189" y="4003333"/>
          <a:ext cx="7314797" cy="236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4797">
                  <a:extLst>
                    <a:ext uri="{9D8B030D-6E8A-4147-A177-3AD203B41FA5}">
                      <a16:colId xmlns:a16="http://schemas.microsoft.com/office/drawing/2014/main" val="3556130347"/>
                    </a:ext>
                  </a:extLst>
                </a:gridCol>
              </a:tblGrid>
              <a:tr h="222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500" b="1" i="0" u="none" strike="noStrike" dirty="0" err="1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Blade</a:t>
                      </a:r>
                      <a:r>
                        <a:rPr lang="it-IT" sz="1500" b="1" i="0" u="none" strike="noStrike" dirty="0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 root – </a:t>
                      </a:r>
                      <a:r>
                        <a:rPr lang="it-IT" sz="1500" b="1" i="0" u="none" strike="noStrike" dirty="0" err="1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rotor</a:t>
                      </a:r>
                      <a:r>
                        <a:rPr lang="it-IT" sz="1500" b="1" i="0" u="none" strike="noStrike" dirty="0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 hub </a:t>
                      </a:r>
                      <a:r>
                        <a:rPr lang="it-IT" sz="1500" b="1" i="0" u="none" strike="noStrike" dirty="0" err="1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flanged</a:t>
                      </a:r>
                      <a:r>
                        <a:rPr lang="it-IT" sz="1500" b="1" i="0" u="none" strike="noStrike" dirty="0">
                          <a:solidFill>
                            <a:srgbClr val="0E2841"/>
                          </a:solidFill>
                          <a:effectLst/>
                          <a:latin typeface="Aptos Narrow" panose="020B0004020202020204" pitchFamily="34" charset="0"/>
                        </a:rPr>
                        <a:t> connection</a:t>
                      </a:r>
                      <a:endParaRPr lang="en-GB" sz="1500" b="1" i="0" u="none" strike="noStrike" dirty="0">
                        <a:solidFill>
                          <a:srgbClr val="0E284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04927967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0E17BB26-05D3-07DF-C753-5E1A56440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841" y="4134049"/>
            <a:ext cx="1841770" cy="182236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BCC091-093B-ACAF-DE6D-B48297896DAC}"/>
              </a:ext>
            </a:extLst>
          </p:cNvPr>
          <p:cNvSpPr txBox="1"/>
          <p:nvPr/>
        </p:nvSpPr>
        <p:spPr>
          <a:xfrm>
            <a:off x="8334717" y="3578076"/>
            <a:ext cx="3186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/>
              <a:t>Shaft</a:t>
            </a:r>
            <a:r>
              <a:rPr lang="it-IT" sz="1200" dirty="0"/>
              <a:t> – </a:t>
            </a:r>
            <a:r>
              <a:rPr lang="it-IT" sz="1200" dirty="0" err="1"/>
              <a:t>gearbox</a:t>
            </a:r>
            <a:r>
              <a:rPr lang="it-IT" sz="1200" dirty="0"/>
              <a:t> flange connection in a 3 point </a:t>
            </a:r>
            <a:r>
              <a:rPr lang="it-IT" sz="1200" dirty="0" err="1"/>
              <a:t>suspension</a:t>
            </a:r>
            <a:r>
              <a:rPr lang="it-IT" sz="1200" dirty="0"/>
              <a:t> system</a:t>
            </a:r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C5AF5D-A8F4-6AE9-F39E-BAA7762F8F45}"/>
              </a:ext>
            </a:extLst>
          </p:cNvPr>
          <p:cNvSpPr txBox="1"/>
          <p:nvPr/>
        </p:nvSpPr>
        <p:spPr>
          <a:xfrm>
            <a:off x="8314234" y="5978340"/>
            <a:ext cx="3186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Hub – </a:t>
            </a:r>
            <a:r>
              <a:rPr lang="it-IT" sz="1200" dirty="0" err="1"/>
              <a:t>blade</a:t>
            </a:r>
            <a:r>
              <a:rPr lang="it-IT" sz="1200" dirty="0"/>
              <a:t> connection, </a:t>
            </a:r>
            <a:r>
              <a:rPr lang="it-IT" sz="1200" dirty="0" err="1"/>
              <a:t>Machinery</a:t>
            </a:r>
            <a:r>
              <a:rPr lang="it-IT" sz="1200" dirty="0"/>
              <a:t> </a:t>
            </a:r>
            <a:r>
              <a:rPr lang="it-IT" sz="1200" dirty="0" err="1"/>
              <a:t>components</a:t>
            </a:r>
            <a:r>
              <a:rPr lang="it-IT" sz="1200" dirty="0"/>
              <a:t> </a:t>
            </a:r>
            <a:r>
              <a:rPr lang="it-IT" sz="1200" dirty="0" err="1"/>
              <a:t>presentation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39479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F1C85-058F-8DA9-9BC6-AA8A43E6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3. </a:t>
            </a:r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remarks</a:t>
            </a:r>
            <a:r>
              <a:rPr lang="it-IT" dirty="0"/>
              <a:t>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5F010-B7AA-D890-B34B-948D481C2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309"/>
            <a:ext cx="10515600" cy="4351338"/>
          </a:xfrm>
        </p:spPr>
        <p:txBody>
          <a:bodyPr/>
          <a:lstStyle/>
          <a:p>
            <a:r>
              <a:rPr lang="it-IT" dirty="0"/>
              <a:t>Next week the deadline must be </a:t>
            </a:r>
            <a:r>
              <a:rPr lang="it-IT" dirty="0" err="1"/>
              <a:t>met</a:t>
            </a:r>
            <a:r>
              <a:rPr lang="it-IT" dirty="0"/>
              <a:t> by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mechanical</a:t>
            </a:r>
            <a:r>
              <a:rPr lang="it-IT" dirty="0"/>
              <a:t> groups: </a:t>
            </a:r>
            <a:r>
              <a:rPr lang="it-IT" dirty="0" err="1"/>
              <a:t>most</a:t>
            </a:r>
            <a:r>
              <a:rPr lang="it-IT" dirty="0"/>
              <a:t> of the </a:t>
            </a:r>
            <a:r>
              <a:rPr lang="it-IT" dirty="0" err="1"/>
              <a:t>components</a:t>
            </a:r>
            <a:r>
              <a:rPr lang="it-IT" dirty="0"/>
              <a:t> must be </a:t>
            </a:r>
            <a:r>
              <a:rPr lang="it-IT" dirty="0" err="1"/>
              <a:t>designed</a:t>
            </a:r>
            <a:r>
              <a:rPr lang="it-IT" dirty="0"/>
              <a:t> and the </a:t>
            </a:r>
            <a:r>
              <a:rPr lang="it-IT" b="1" dirty="0"/>
              <a:t>3D models must </a:t>
            </a:r>
            <a:r>
              <a:rPr lang="it-IT" b="1" dirty="0" err="1"/>
              <a:t>have</a:t>
            </a:r>
            <a:r>
              <a:rPr lang="it-IT" b="1" dirty="0"/>
              <a:t> </a:t>
            </a:r>
            <a:r>
              <a:rPr lang="it-IT" b="1" dirty="0" err="1"/>
              <a:t>all</a:t>
            </a:r>
            <a:r>
              <a:rPr lang="it-IT" b="1" dirty="0"/>
              <a:t> </a:t>
            </a:r>
            <a:r>
              <a:rPr lang="it-IT" b="1" dirty="0" err="1"/>
              <a:t>been</a:t>
            </a:r>
            <a:r>
              <a:rPr lang="it-IT" b="1" dirty="0"/>
              <a:t> </a:t>
            </a:r>
            <a:r>
              <a:rPr lang="it-IT" b="1" dirty="0" err="1"/>
              <a:t>started</a:t>
            </a:r>
            <a:endParaRPr lang="it-IT" b="1" dirty="0"/>
          </a:p>
          <a:p>
            <a:r>
              <a:rPr lang="it-IT" dirty="0"/>
              <a:t>The </a:t>
            </a:r>
            <a:r>
              <a:rPr lang="it-IT" dirty="0" err="1"/>
              <a:t>parameters</a:t>
            </a:r>
            <a:r>
              <a:rPr lang="it-IT" dirty="0"/>
              <a:t> </a:t>
            </a:r>
            <a:r>
              <a:rPr lang="it-IT" dirty="0" err="1"/>
              <a:t>requested</a:t>
            </a:r>
            <a:r>
              <a:rPr lang="it-IT" dirty="0"/>
              <a:t> by the Load &amp; Dynamics team for the </a:t>
            </a:r>
            <a:r>
              <a:rPr lang="it-IT" dirty="0" err="1"/>
              <a:t>simulations</a:t>
            </a:r>
            <a:r>
              <a:rPr lang="it-IT" dirty="0"/>
              <a:t> must be </a:t>
            </a:r>
            <a:r>
              <a:rPr lang="it-IT" dirty="0" err="1"/>
              <a:t>provided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soon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: look </a:t>
            </a:r>
            <a:r>
              <a:rPr lang="it-IT" dirty="0" err="1"/>
              <a:t>at</a:t>
            </a:r>
            <a:r>
              <a:rPr lang="it-IT" dirty="0"/>
              <a:t> ‘</a:t>
            </a:r>
            <a:r>
              <a:rPr lang="it-IT" dirty="0" err="1"/>
              <a:t>result</a:t>
            </a:r>
            <a:r>
              <a:rPr lang="it-IT" dirty="0"/>
              <a:t> file – Loads &amp; dynamics’ and </a:t>
            </a:r>
            <a:r>
              <a:rPr lang="it-IT" dirty="0" err="1"/>
              <a:t>try</a:t>
            </a:r>
            <a:r>
              <a:rPr lang="it-IT" dirty="0"/>
              <a:t> to </a:t>
            </a:r>
            <a:r>
              <a:rPr lang="it-IT" dirty="0" err="1"/>
              <a:t>provide</a:t>
            </a:r>
            <a:r>
              <a:rPr lang="it-IT" dirty="0"/>
              <a:t> the </a:t>
            </a:r>
            <a:r>
              <a:rPr lang="it-IT" dirty="0" err="1"/>
              <a:t>parameters</a:t>
            </a:r>
            <a:r>
              <a:rPr lang="it-IT" dirty="0"/>
              <a:t> </a:t>
            </a:r>
            <a:r>
              <a:rPr lang="it-IT" dirty="0" err="1"/>
              <a:t>asked</a:t>
            </a:r>
            <a:r>
              <a:rPr lang="it-IT" dirty="0"/>
              <a:t> to </a:t>
            </a:r>
            <a:r>
              <a:rPr lang="it-IT" dirty="0" err="1"/>
              <a:t>your</a:t>
            </a:r>
            <a:r>
              <a:rPr lang="it-IT" dirty="0"/>
              <a:t> group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B99F8-4ABD-70E9-785A-5EFB78188A7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66C33-69E6-C6DE-FF2F-2A6131C1D5B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2499C-6963-CE0F-8199-7D1703F8E54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A923B2-E825-7A09-CD32-CC5580B590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DB6660-D7DE-1920-0E22-CDDA8C158C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77"/>
          <a:stretch>
            <a:fillRect/>
          </a:stretch>
        </p:blipFill>
        <p:spPr>
          <a:xfrm>
            <a:off x="1204545" y="3342669"/>
            <a:ext cx="5272226" cy="297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58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7477-A9FE-ADEA-C453-EE623443F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36971-C43A-2208-69D9-F1889F44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3. </a:t>
            </a:r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remarks</a:t>
            </a:r>
            <a:r>
              <a:rPr lang="it-IT" dirty="0"/>
              <a:t>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9C9D5-D5B4-5300-12C4-5A75D80CA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309"/>
            <a:ext cx="10515600" cy="4351338"/>
          </a:xfrm>
        </p:spPr>
        <p:txBody>
          <a:bodyPr>
            <a:normAutofit/>
          </a:bodyPr>
          <a:lstStyle/>
          <a:p>
            <a:r>
              <a:rPr lang="it-IT" dirty="0"/>
              <a:t>Update the </a:t>
            </a:r>
            <a:r>
              <a:rPr lang="it-IT" b="1" dirty="0"/>
              <a:t>status of the CAD models</a:t>
            </a:r>
            <a:r>
              <a:rPr lang="it-IT" dirty="0"/>
              <a:t> on the </a:t>
            </a:r>
            <a:r>
              <a:rPr lang="it-IT" dirty="0" err="1"/>
              <a:t>result</a:t>
            </a:r>
            <a:r>
              <a:rPr lang="it-IT" dirty="0"/>
              <a:t> file!!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89225-CA49-708E-7531-DCAC0B1655B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CDB2B-60A4-E492-5964-22FAA137A30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5413D-1326-1DDB-EC48-3DC4AB5764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817C0A-6E88-ACA2-F098-26C5954345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151D4E-B238-32A1-2791-665E8BE27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54" y="1877125"/>
            <a:ext cx="6951784" cy="310374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438FEA6-4983-E799-53C7-93A152CCC77B}"/>
              </a:ext>
            </a:extLst>
          </p:cNvPr>
          <p:cNvSpPr/>
          <p:nvPr/>
        </p:nvSpPr>
        <p:spPr>
          <a:xfrm>
            <a:off x="6096000" y="2066192"/>
            <a:ext cx="955431" cy="2004646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73017D-DB35-92A4-EC35-B76E9C6015FE}"/>
              </a:ext>
            </a:extLst>
          </p:cNvPr>
          <p:cNvCxnSpPr/>
          <p:nvPr/>
        </p:nvCxnSpPr>
        <p:spPr>
          <a:xfrm flipH="1">
            <a:off x="7051431" y="2066192"/>
            <a:ext cx="1423181" cy="76493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EB994FB-F309-D333-F490-D3CC1A7BAE28}"/>
              </a:ext>
            </a:extLst>
          </p:cNvPr>
          <p:cNvSpPr txBox="1"/>
          <p:nvPr/>
        </p:nvSpPr>
        <p:spPr>
          <a:xfrm>
            <a:off x="685800" y="5257800"/>
            <a:ext cx="1066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some new </a:t>
            </a:r>
            <a:r>
              <a:rPr lang="it-IT" dirty="0" err="1"/>
              <a:t>dimensions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upload </a:t>
            </a:r>
            <a:r>
              <a:rPr lang="it-IT" dirty="0" err="1"/>
              <a:t>them</a:t>
            </a:r>
            <a:r>
              <a:rPr lang="it-IT" dirty="0"/>
              <a:t> on the </a:t>
            </a:r>
            <a:r>
              <a:rPr lang="it-IT" b="1" dirty="0" err="1"/>
              <a:t>result</a:t>
            </a:r>
            <a:r>
              <a:rPr lang="it-IT" b="1" dirty="0"/>
              <a:t> file </a:t>
            </a:r>
            <a:r>
              <a:rPr lang="it-IT" dirty="0"/>
              <a:t>and </a:t>
            </a:r>
            <a:r>
              <a:rPr lang="it-IT" dirty="0" err="1"/>
              <a:t>possibly</a:t>
            </a:r>
            <a:r>
              <a:rPr lang="it-IT" dirty="0"/>
              <a:t> </a:t>
            </a:r>
            <a:r>
              <a:rPr lang="it-IT" b="1" dirty="0" err="1"/>
              <a:t>send</a:t>
            </a:r>
            <a:r>
              <a:rPr lang="it-IT" b="1" dirty="0"/>
              <a:t> </a:t>
            </a:r>
            <a:r>
              <a:rPr lang="it-IT" b="1" dirty="0" err="1"/>
              <a:t>them</a:t>
            </a:r>
            <a:r>
              <a:rPr lang="it-IT" b="1" dirty="0"/>
              <a:t> to </a:t>
            </a:r>
            <a:r>
              <a:rPr lang="it-IT" b="1" dirty="0" err="1"/>
              <a:t>your</a:t>
            </a:r>
            <a:r>
              <a:rPr lang="it-IT" b="1" dirty="0"/>
              <a:t> supervisor </a:t>
            </a:r>
            <a:r>
              <a:rPr lang="it-IT" dirty="0" err="1"/>
              <a:t>who</a:t>
            </a:r>
            <a:r>
              <a:rPr lang="it-IT" dirty="0"/>
              <a:t> can check </a:t>
            </a:r>
            <a:r>
              <a:rPr lang="it-IT" dirty="0" err="1"/>
              <a:t>them</a:t>
            </a:r>
            <a:r>
              <a:rPr lang="it-IT" dirty="0"/>
              <a:t>:</a:t>
            </a:r>
            <a:r>
              <a:rPr lang="it-IT" b="1" dirty="0"/>
              <a:t> WE NEED TO ALWAYS MAKE SURE THAT THE RESULTS ARE CORRECT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17905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BB2A-94B0-0937-6562-F14F637A0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CE2A3-D92D-7859-0622-60954CACF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3. </a:t>
            </a:r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remarks</a:t>
            </a:r>
            <a:r>
              <a:rPr lang="it-IT" dirty="0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D89BD-FF0D-77BC-C18D-7812B4BAC1F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8DE14-81BA-0A3A-9CF4-7076BE8AB8C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429CA-3534-BA3D-0282-92B0F9C6D7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0BE70E-A34A-A728-3B75-534E580213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6B9694-FC45-83FD-1559-7F7885E082B4}"/>
              </a:ext>
            </a:extLst>
          </p:cNvPr>
          <p:cNvSpPr txBox="1"/>
          <p:nvPr/>
        </p:nvSpPr>
        <p:spPr>
          <a:xfrm>
            <a:off x="439615" y="1690688"/>
            <a:ext cx="1066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2400" dirty="0" err="1"/>
              <a:t>This</a:t>
            </a:r>
            <a:r>
              <a:rPr lang="it-IT" sz="2400" dirty="0"/>
              <a:t> week a </a:t>
            </a:r>
            <a:r>
              <a:rPr lang="it-IT" sz="2400" dirty="0" err="1"/>
              <a:t>great</a:t>
            </a:r>
            <a:r>
              <a:rPr lang="it-IT" sz="2400" dirty="0"/>
              <a:t> </a:t>
            </a:r>
            <a:r>
              <a:rPr lang="it-IT" sz="2400" dirty="0" err="1"/>
              <a:t>improvement</a:t>
            </a:r>
            <a:r>
              <a:rPr lang="it-IT" sz="2400" dirty="0"/>
              <a:t> in pace and </a:t>
            </a:r>
            <a:r>
              <a:rPr lang="it-IT" sz="2400" dirty="0" err="1"/>
              <a:t>quality</a:t>
            </a:r>
            <a:r>
              <a:rPr lang="it-IT" sz="2400" dirty="0"/>
              <a:t> of the work </a:t>
            </a:r>
            <a:r>
              <a:rPr lang="it-IT" sz="2400" dirty="0" err="1"/>
              <a:t>has</a:t>
            </a:r>
            <a:r>
              <a:rPr lang="it-IT" sz="2400" dirty="0"/>
              <a:t> </a:t>
            </a:r>
            <a:r>
              <a:rPr lang="it-IT" sz="2400" dirty="0" err="1"/>
              <a:t>been</a:t>
            </a:r>
            <a:r>
              <a:rPr lang="it-IT" sz="2400" dirty="0"/>
              <a:t> </a:t>
            </a:r>
            <a:r>
              <a:rPr lang="it-IT" sz="2400" dirty="0" err="1"/>
              <a:t>performed</a:t>
            </a:r>
            <a:r>
              <a:rPr lang="it-IT" sz="2400" dirty="0">
                <a:sym typeface="Wingdings" panose="05000000000000000000" pitchFamily="2" charset="2"/>
              </a:rPr>
              <a:t> </a:t>
            </a:r>
            <a:r>
              <a:rPr lang="it-IT" sz="2400" dirty="0" err="1">
                <a:sym typeface="Wingdings" panose="05000000000000000000" pitchFamily="2" charset="2"/>
              </a:rPr>
              <a:t>let’s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dirty="0" err="1">
                <a:sym typeface="Wingdings" panose="05000000000000000000" pitchFamily="2" charset="2"/>
              </a:rPr>
              <a:t>try</a:t>
            </a:r>
            <a:r>
              <a:rPr lang="it-IT" sz="2400" dirty="0">
                <a:sym typeface="Wingdings" panose="05000000000000000000" pitchFamily="2" charset="2"/>
              </a:rPr>
              <a:t> to continue with </a:t>
            </a:r>
            <a:r>
              <a:rPr lang="it-IT" sz="2400" dirty="0" err="1">
                <a:sym typeface="Wingdings" panose="05000000000000000000" pitchFamily="2" charset="2"/>
              </a:rPr>
              <a:t>this</a:t>
            </a:r>
            <a:r>
              <a:rPr lang="it-IT" sz="2400" dirty="0">
                <a:sym typeface="Wingdings" panose="05000000000000000000" pitchFamily="2" charset="2"/>
              </a:rPr>
              <a:t> regime!!!!</a:t>
            </a:r>
            <a:endParaRPr lang="en-GB" sz="2400" dirty="0"/>
          </a:p>
        </p:txBody>
      </p:sp>
      <p:pic>
        <p:nvPicPr>
          <p:cNvPr id="3074" name="Picture 2" descr="EXP exponential function calculator and graph">
            <a:extLst>
              <a:ext uri="{FF2B5EF4-FFF2-40B4-BE49-F238E27FC236}">
                <a16:creationId xmlns:a16="http://schemas.microsoft.com/office/drawing/2014/main" id="{77C3A2C7-9A2B-FC5A-EF2B-4CC99888B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767" y="2521685"/>
            <a:ext cx="5687404" cy="378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A8AACDA-C9DF-CF5B-4A4E-51EFF7CA7CD8}"/>
              </a:ext>
            </a:extLst>
          </p:cNvPr>
          <p:cNvSpPr/>
          <p:nvPr/>
        </p:nvSpPr>
        <p:spPr>
          <a:xfrm>
            <a:off x="3516923" y="5820508"/>
            <a:ext cx="3261946" cy="2858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474C0B-FD42-B396-61B0-FB330252B8DB}"/>
              </a:ext>
            </a:extLst>
          </p:cNvPr>
          <p:cNvSpPr/>
          <p:nvPr/>
        </p:nvSpPr>
        <p:spPr>
          <a:xfrm>
            <a:off x="7988772" y="5883470"/>
            <a:ext cx="3261946" cy="2858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3E2968-F2C0-0FA5-C3C1-5A93C6318135}"/>
              </a:ext>
            </a:extLst>
          </p:cNvPr>
          <p:cNvSpPr/>
          <p:nvPr/>
        </p:nvSpPr>
        <p:spPr>
          <a:xfrm rot="5400000">
            <a:off x="1835071" y="4127765"/>
            <a:ext cx="3099658" cy="2858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CBB5CA-EB31-D2A9-480D-04760E18A458}"/>
              </a:ext>
            </a:extLst>
          </p:cNvPr>
          <p:cNvSpPr txBox="1"/>
          <p:nvPr/>
        </p:nvSpPr>
        <p:spPr>
          <a:xfrm>
            <a:off x="1949570" y="2718161"/>
            <a:ext cx="1484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dirty="0"/>
              <a:t>Progress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0B97D8-050D-9005-6C30-6FAA65F91A64}"/>
              </a:ext>
            </a:extLst>
          </p:cNvPr>
          <p:cNvSpPr txBox="1"/>
          <p:nvPr/>
        </p:nvSpPr>
        <p:spPr>
          <a:xfrm>
            <a:off x="7600605" y="5746377"/>
            <a:ext cx="1484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dirty="0"/>
              <a:t>Time (d)</a:t>
            </a:r>
            <a:endParaRPr lang="en-GB" sz="20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BB20C6-241F-6173-E492-555487AE8A80}"/>
              </a:ext>
            </a:extLst>
          </p:cNvPr>
          <p:cNvCxnSpPr/>
          <p:nvPr/>
        </p:nvCxnSpPr>
        <p:spPr>
          <a:xfrm flipV="1">
            <a:off x="4747846" y="5963423"/>
            <a:ext cx="2233246" cy="34297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EE92A9-A79D-9B09-440C-A93D0DEE271E}"/>
              </a:ext>
            </a:extLst>
          </p:cNvPr>
          <p:cNvSpPr txBox="1"/>
          <p:nvPr/>
        </p:nvSpPr>
        <p:spPr>
          <a:xfrm>
            <a:off x="2368705" y="6116012"/>
            <a:ext cx="2573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600" dirty="0"/>
              <a:t>The teams from </a:t>
            </a:r>
            <a:r>
              <a:rPr lang="it-IT" sz="1600" dirty="0" err="1"/>
              <a:t>now</a:t>
            </a:r>
            <a:r>
              <a:rPr lang="it-IT" sz="1600" dirty="0"/>
              <a:t> on!!!</a:t>
            </a:r>
            <a:endParaRPr lang="en-GB" sz="16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AE93A7-2086-E12E-5BFE-4DABBDF9157A}"/>
              </a:ext>
            </a:extLst>
          </p:cNvPr>
          <p:cNvCxnSpPr/>
          <p:nvPr/>
        </p:nvCxnSpPr>
        <p:spPr>
          <a:xfrm>
            <a:off x="3655213" y="2779404"/>
            <a:ext cx="4978833" cy="0"/>
          </a:xfrm>
          <a:prstGeom prst="line">
            <a:avLst/>
          </a:prstGeom>
          <a:ln w="57150">
            <a:solidFill>
              <a:srgbClr val="C0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97DEEC5-7E88-69B2-E5C0-710AAA8E3AB4}"/>
              </a:ext>
            </a:extLst>
          </p:cNvPr>
          <p:cNvSpPr txBox="1"/>
          <p:nvPr/>
        </p:nvSpPr>
        <p:spPr>
          <a:xfrm>
            <a:off x="8135103" y="2771415"/>
            <a:ext cx="1484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SUCCESS!!</a:t>
            </a:r>
            <a:endParaRPr lang="en-GB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2944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1B1BE-045B-16D3-AB0F-002949A6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Bibliography</a:t>
            </a:r>
            <a:r>
              <a:rPr lang="it-IT" dirty="0"/>
              <a:t> – Management team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EA5E3-F89B-78CE-4CA8-4D3F8DBBB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[1]	Optimus 92LE final presentation</a:t>
            </a:r>
          </a:p>
          <a:p>
            <a:r>
              <a:rPr lang="en-GB" dirty="0"/>
              <a:t>[2]	W. Teng, X. Ding, S. Tang, J. Xu, B. Shi, and Y. Liu, “Vibration Analysis for Fault Detection of Wind Turbine Drivetrains—A Comprehensive Investigation,” </a:t>
            </a:r>
            <a:r>
              <a:rPr lang="en-GB" i="1" dirty="0"/>
              <a:t>Sensors 2021, Vol. 21, Page 1686</a:t>
            </a:r>
            <a:r>
              <a:rPr lang="en-GB" dirty="0"/>
              <a:t>, vol. 21, no. 5, p. 1686, Mar. 2021, </a:t>
            </a:r>
            <a:r>
              <a:rPr lang="en-GB" dirty="0" err="1"/>
              <a:t>doi</a:t>
            </a:r>
            <a:r>
              <a:rPr lang="en-GB" dirty="0"/>
              <a:t>: 10.3390/S21051686. – last access: 02/11/2025 – 20:30</a:t>
            </a:r>
          </a:p>
          <a:p>
            <a:r>
              <a:rPr lang="en-GB" dirty="0"/>
              <a:t>[3]	P. Quell, “Machinery components lecture – Rotor hubs and flanges”, 2025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DCFDA-231B-19B5-9BD6-C286A3EE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B7E1A-2367-FCFA-EFAB-D982EC292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2C1F7-0EA4-37F4-D42C-63002DAA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A8A897-26FD-6016-0195-7D9752F482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482391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FAF026A4-FAA2-4B3F-9818-6FE8267138C8}" vid="{90728898-6A8E-4A9D-99E4-96286F346DC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FAF026A4-FAA2-4B3F-9818-6FE8267138C8}" vid="{40D391B5-CD9D-4991-B15A-0D3091F998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1969</TotalTime>
  <Words>705</Words>
  <Application>Microsoft Office PowerPoint</Application>
  <PresentationFormat>Widescreen</PresentationFormat>
  <Paragraphs>164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Aptos (Textkörper)</vt:lpstr>
      <vt:lpstr>Aptos Display</vt:lpstr>
      <vt:lpstr>Aptos Narrow</vt:lpstr>
      <vt:lpstr>Arial</vt:lpstr>
      <vt:lpstr>Calibri</vt:lpstr>
      <vt:lpstr>Calibri Light</vt:lpstr>
      <vt:lpstr>Times New Roman</vt:lpstr>
      <vt:lpstr>Wingdings</vt:lpstr>
      <vt:lpstr>Benutzerdefiniertes Design</vt:lpstr>
      <vt:lpstr>Office</vt:lpstr>
      <vt:lpstr>PowerPoint Presentation</vt:lpstr>
      <vt:lpstr>List of contents</vt:lpstr>
      <vt:lpstr>1. Project planning</vt:lpstr>
      <vt:lpstr>2. New interface updates</vt:lpstr>
      <vt:lpstr>2. New interface updates</vt:lpstr>
      <vt:lpstr>3. Final remarks </vt:lpstr>
      <vt:lpstr>3. Final remarks </vt:lpstr>
      <vt:lpstr>3. Final remarks </vt:lpstr>
      <vt:lpstr>Bibliography – Management team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Federico De Mita</dc:creator>
  <cp:lastModifiedBy>Federico De Mita</cp:lastModifiedBy>
  <cp:revision>1</cp:revision>
  <dcterms:created xsi:type="dcterms:W3CDTF">2025-11-02T10:36:16Z</dcterms:created>
  <dcterms:modified xsi:type="dcterms:W3CDTF">2025-11-03T19:25:38Z</dcterms:modified>
</cp:coreProperties>
</file>