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2"/>
  </p:notesMasterIdLst>
  <p:handoutMasterIdLst>
    <p:handoutMasterId r:id="rId13"/>
  </p:handoutMasterIdLst>
  <p:sldIdLst>
    <p:sldId id="263" r:id="rId3"/>
    <p:sldId id="265" r:id="rId4"/>
    <p:sldId id="271" r:id="rId5"/>
    <p:sldId id="292" r:id="rId6"/>
    <p:sldId id="279" r:id="rId7"/>
    <p:sldId id="281" r:id="rId8"/>
    <p:sldId id="291" r:id="rId9"/>
    <p:sldId id="293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65"/>
            <p14:sldId id="271"/>
            <p14:sldId id="292"/>
            <p14:sldId id="279"/>
            <p14:sldId id="281"/>
            <p14:sldId id="291"/>
            <p14:sldId id="293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E8BA"/>
    <a:srgbClr val="CCCC00"/>
    <a:srgbClr val="FFFF99"/>
    <a:srgbClr val="FFFFFF"/>
    <a:srgbClr val="8ECEFA"/>
    <a:srgbClr val="92C6E6"/>
    <a:srgbClr val="80D2F7"/>
    <a:srgbClr val="7ED1F7"/>
    <a:srgbClr val="A1DF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6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doi.org/10.1016/j.marstruc.2020.102858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Team 5 – Rotor Blade Structures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E6C0A47-C45A-EB0C-4C45-15C9C28E75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878528" y="4648808"/>
            <a:ext cx="7678313" cy="793842"/>
          </a:xfrm>
        </p:spPr>
        <p:txBody>
          <a:bodyPr/>
          <a:lstStyle/>
          <a:p>
            <a:r>
              <a:rPr lang="en-GB" sz="1800" b="1" dirty="0">
                <a:solidFill>
                  <a:srgbClr val="0000FF"/>
                </a:solidFill>
              </a:rPr>
              <a:t>Presented by – Dongsuk Kim(770143)</a:t>
            </a:r>
          </a:p>
          <a:p>
            <a:r>
              <a:rPr lang="en-GB" sz="1600" b="1" dirty="0"/>
              <a:t>Team Members - </a:t>
            </a:r>
            <a:r>
              <a:rPr lang="en-GB" sz="1600" dirty="0"/>
              <a:t>Bhima B Masare, Anudeep Allanki, Dongsuk Kim, Mithun Shetty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Rotor Blades Structure/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412841" y="358691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Week No - 6</a:t>
            </a:r>
            <a:endParaRPr lang="it-IT" sz="2000" dirty="0"/>
          </a:p>
          <a:p>
            <a:r>
              <a:rPr lang="it-IT" sz="2000" b="1" dirty="0"/>
              <a:t>Date -</a:t>
            </a:r>
            <a:r>
              <a:rPr lang="it-IT" sz="2000" dirty="0"/>
              <a:t> 04.11.2025</a:t>
            </a:r>
          </a:p>
          <a:p>
            <a:r>
              <a:rPr lang="it-IT" sz="2000" b="1" dirty="0"/>
              <a:t>Supervisor -</a:t>
            </a:r>
            <a:r>
              <a:rPr lang="it-IT" sz="2000" dirty="0"/>
              <a:t> Dr. Laurence Alhrshy</a:t>
            </a: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806E567-AC3D-0689-0EEB-854383B4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3168"/>
            <a:ext cx="9287577" cy="4151663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Rotor Blade Structures Team Time line</a:t>
            </a:r>
          </a:p>
          <a:p>
            <a:pPr lvl="0"/>
            <a:r>
              <a:rPr lang="en-US" dirty="0"/>
              <a:t>Team Responsibilities and Output Flow</a:t>
            </a:r>
          </a:p>
          <a:p>
            <a:pPr lvl="0"/>
            <a:r>
              <a:rPr lang="en-US" altLang="ko-KR" dirty="0"/>
              <a:t>Temporary Structural Design limits for 80m Blade </a:t>
            </a:r>
          </a:p>
          <a:p>
            <a:pPr lvl="0"/>
            <a:r>
              <a:rPr lang="en-IN" altLang="ko-KR" dirty="0"/>
              <a:t>Material selection for 80m Blade </a:t>
            </a:r>
          </a:p>
          <a:p>
            <a:pPr marL="0" lvl="0" indent="0">
              <a:buNone/>
            </a:pPr>
            <a:r>
              <a:rPr lang="de-DE" dirty="0"/>
              <a:t>         4.1 </a:t>
            </a:r>
            <a:r>
              <a:rPr lang="en-IN" altLang="ko-KR" dirty="0">
                <a:solidFill>
                  <a:sysClr val="windowText" lastClr="000000"/>
                </a:solidFill>
              </a:rPr>
              <a:t>Design limit and comparison</a:t>
            </a:r>
          </a:p>
          <a:p>
            <a:pPr marL="0" lvl="0" indent="0">
              <a:buNone/>
            </a:pPr>
            <a:r>
              <a:rPr lang="en-US" dirty="0"/>
              <a:t>         4.2 </a:t>
            </a:r>
            <a:r>
              <a:rPr lang="en-IN" altLang="ko-KR" dirty="0">
                <a:solidFill>
                  <a:sysClr val="windowText" lastClr="000000"/>
                </a:solidFill>
              </a:rPr>
              <a:t>Main Blade Materials and Cost 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marL="0" lvl="0" indent="0">
              <a:buNone/>
            </a:pPr>
            <a:r>
              <a:rPr lang="en-US" dirty="0"/>
              <a:t>         4.3 </a:t>
            </a:r>
            <a:r>
              <a:rPr lang="en-IN" altLang="ko-KR" dirty="0">
                <a:solidFill>
                  <a:sysClr val="windowText" lastClr="000000"/>
                </a:solidFill>
              </a:rPr>
              <a:t>Cost Reduction Strategies </a:t>
            </a:r>
            <a:endParaRPr lang="en-US" dirty="0"/>
          </a:p>
          <a:p>
            <a:pPr marL="0" lvl="0" indent="0">
              <a:buNone/>
            </a:pPr>
            <a:r>
              <a:rPr lang="de-DE" dirty="0"/>
              <a:t>Bibliography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BD01935-82E5-D79D-C490-ED5502D3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Contents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BF55D9-EF5B-9E26-40AE-1F3D5F503D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CE93207-F383-AC91-863A-7D6EA64773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E8728EB-C9D6-BA17-3C43-0FC592952D3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3296396-1FEB-B93E-574C-0DB4C24D23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Dongsuk Kim</a:t>
            </a:r>
          </a:p>
        </p:txBody>
      </p:sp>
    </p:spTree>
    <p:extLst>
      <p:ext uri="{BB962C8B-B14F-4D97-AF65-F5344CB8AC3E}">
        <p14:creationId xmlns:p14="http://schemas.microsoft.com/office/powerpoint/2010/main" val="3678816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473E-38C4-BEFD-6925-717C4000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258190-4173-9845-4929-910A187D3EE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E9C03F-67D2-06AE-8AE4-7C60E10673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64A788-CAF6-E48E-0AEF-D66FD742D7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F420E8-A760-809C-426B-6B1BB6D9C2D6}"/>
              </a:ext>
            </a:extLst>
          </p:cNvPr>
          <p:cNvSpPr txBox="1"/>
          <p:nvPr/>
        </p:nvSpPr>
        <p:spPr>
          <a:xfrm>
            <a:off x="685800" y="667929"/>
            <a:ext cx="99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1. </a:t>
            </a:r>
            <a:r>
              <a:rPr lang="en-US" sz="2800" b="1" dirty="0"/>
              <a:t>Rotor Blade Structures Team Time line 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3DCE7-771E-9080-D19C-2878E7CB4E88}"/>
              </a:ext>
            </a:extLst>
          </p:cNvPr>
          <p:cNvSpPr txBox="1"/>
          <p:nvPr/>
        </p:nvSpPr>
        <p:spPr>
          <a:xfrm>
            <a:off x="838200" y="1259975"/>
            <a:ext cx="7788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dirty="0"/>
              <a:t>1.1 From Oct  to Nov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7E40436-4E05-BC1E-5E79-EE69033A1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38" y="1886672"/>
            <a:ext cx="11721569" cy="41496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785449-F0A0-2912-E7C0-7BC5CA509A02}"/>
              </a:ext>
            </a:extLst>
          </p:cNvPr>
          <p:cNvSpPr txBox="1"/>
          <p:nvPr/>
        </p:nvSpPr>
        <p:spPr>
          <a:xfrm>
            <a:off x="2714573" y="3978803"/>
            <a:ext cx="9273941" cy="527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EA1A8F67-088F-BBCB-D924-172CA1A234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altLang="ko-KR" dirty="0"/>
              <a:t>Dongsuk Kim</a:t>
            </a:r>
          </a:p>
        </p:txBody>
      </p:sp>
    </p:spTree>
    <p:extLst>
      <p:ext uri="{BB962C8B-B14F-4D97-AF65-F5344CB8AC3E}">
        <p14:creationId xmlns:p14="http://schemas.microsoft.com/office/powerpoint/2010/main" val="1169156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970E9-45A2-D232-323F-B7094E0BC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05148A-3B47-2F62-21FE-C9B5E2F27A3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4410EBF-F478-C909-4C89-F724F0B9E68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955FA71-8A0B-DE25-6A5B-7C560DB3BF9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BB502E3-332D-E845-FC31-7365A72E71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4B4973-3CA3-AC55-A186-06A368FF25ED}"/>
              </a:ext>
            </a:extLst>
          </p:cNvPr>
          <p:cNvSpPr txBox="1"/>
          <p:nvPr/>
        </p:nvSpPr>
        <p:spPr>
          <a:xfrm>
            <a:off x="685800" y="721989"/>
            <a:ext cx="693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2. Tem responsibilities and Output Flow–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9AB88F-60F4-9386-856F-5BA607A0EF40}"/>
              </a:ext>
            </a:extLst>
          </p:cNvPr>
          <p:cNvSpPr/>
          <p:nvPr/>
        </p:nvSpPr>
        <p:spPr>
          <a:xfrm>
            <a:off x="838200" y="2416658"/>
            <a:ext cx="3142404" cy="6371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AD47FA-1DFF-DB87-B212-8B0561595222}"/>
              </a:ext>
            </a:extLst>
          </p:cNvPr>
          <p:cNvSpPr/>
          <p:nvPr/>
        </p:nvSpPr>
        <p:spPr>
          <a:xfrm>
            <a:off x="4198456" y="1881581"/>
            <a:ext cx="2693919" cy="1685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BBA3D0-4DBB-539E-2029-FF052CBF6521}"/>
              </a:ext>
            </a:extLst>
          </p:cNvPr>
          <p:cNvSpPr txBox="1"/>
          <p:nvPr/>
        </p:nvSpPr>
        <p:spPr>
          <a:xfrm>
            <a:off x="1045092" y="2562132"/>
            <a:ext cx="298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a typeface="Calibri" panose="020F0502020204030204" pitchFamily="34" charset="0"/>
                <a:cs typeface="Calibri" panose="020F0502020204030204" pitchFamily="34" charset="0"/>
              </a:rPr>
              <a:t>Rotor Blade Design Team </a:t>
            </a:r>
            <a:endParaRPr lang="ko-KR" altLang="en-US" b="1" dirty="0">
              <a:cs typeface="Calibri" panose="020F050202020403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51E8C7B-38FF-FA90-F920-A2D8D7338287}"/>
              </a:ext>
            </a:extLst>
          </p:cNvPr>
          <p:cNvSpPr/>
          <p:nvPr/>
        </p:nvSpPr>
        <p:spPr>
          <a:xfrm>
            <a:off x="4180307" y="1374382"/>
            <a:ext cx="2711918" cy="442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Output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2804110-F120-8BEA-9E08-11707354D665}"/>
              </a:ext>
            </a:extLst>
          </p:cNvPr>
          <p:cNvSpPr/>
          <p:nvPr/>
        </p:nvSpPr>
        <p:spPr>
          <a:xfrm>
            <a:off x="838200" y="3709622"/>
            <a:ext cx="3142404" cy="6371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2A12B8-737A-E894-C6A3-23573005FD4D}"/>
              </a:ext>
            </a:extLst>
          </p:cNvPr>
          <p:cNvSpPr txBox="1"/>
          <p:nvPr/>
        </p:nvSpPr>
        <p:spPr>
          <a:xfrm>
            <a:off x="894617" y="3855096"/>
            <a:ext cx="3039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a typeface="Calibri" panose="020F0502020204030204" pitchFamily="34" charset="0"/>
                <a:cs typeface="Calibri" panose="020F0502020204030204" pitchFamily="34" charset="0"/>
              </a:rPr>
              <a:t>Rotor Blade Structure Team</a:t>
            </a:r>
            <a:endParaRPr lang="ko-KR" altLang="en-US" b="1" dirty="0">
              <a:cs typeface="Calibri" panose="020F0502020204030204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8FB85D1-60E7-8DA4-F065-5E8650E86E8C}"/>
              </a:ext>
            </a:extLst>
          </p:cNvPr>
          <p:cNvSpPr/>
          <p:nvPr/>
        </p:nvSpPr>
        <p:spPr>
          <a:xfrm>
            <a:off x="838200" y="5003643"/>
            <a:ext cx="3142404" cy="6371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6C2E99-335B-ED2E-E4FB-30B5434B59A6}"/>
              </a:ext>
            </a:extLst>
          </p:cNvPr>
          <p:cNvSpPr txBox="1"/>
          <p:nvPr/>
        </p:nvSpPr>
        <p:spPr>
          <a:xfrm>
            <a:off x="1045092" y="5137542"/>
            <a:ext cx="2799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a typeface="Calibri" panose="020F0502020204030204" pitchFamily="34" charset="0"/>
                <a:cs typeface="Calibri" panose="020F0502020204030204" pitchFamily="34" charset="0"/>
              </a:rPr>
              <a:t>Load &amp; Dynamics Team </a:t>
            </a:r>
            <a:endParaRPr lang="ko-KR" altLang="en-US" b="1" dirty="0">
              <a:cs typeface="Calibri" panose="020F0502020204030204" pitchFamily="34" charset="0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765059A-7D22-8EA3-2582-60BD4A7A1BB7}"/>
              </a:ext>
            </a:extLst>
          </p:cNvPr>
          <p:cNvCxnSpPr>
            <a:endCxn id="5" idx="0"/>
          </p:cNvCxnSpPr>
          <p:nvPr/>
        </p:nvCxnSpPr>
        <p:spPr>
          <a:xfrm flipH="1">
            <a:off x="2409402" y="1611137"/>
            <a:ext cx="150" cy="80552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F7A42E7-CCB1-E47E-957A-1AC1E539643A}"/>
              </a:ext>
            </a:extLst>
          </p:cNvPr>
          <p:cNvCxnSpPr>
            <a:stCxn id="5" idx="2"/>
            <a:endCxn id="18" idx="0"/>
          </p:cNvCxnSpPr>
          <p:nvPr/>
        </p:nvCxnSpPr>
        <p:spPr>
          <a:xfrm>
            <a:off x="2409402" y="3053788"/>
            <a:ext cx="0" cy="65583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7D61411-CD34-2714-5A78-C5AC249F02E2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2409402" y="4417258"/>
            <a:ext cx="0" cy="58638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DABBF69-9068-EAA8-984B-4A47F8D743C8}"/>
              </a:ext>
            </a:extLst>
          </p:cNvPr>
          <p:cNvCxnSpPr>
            <a:stCxn id="20" idx="2"/>
          </p:cNvCxnSpPr>
          <p:nvPr/>
        </p:nvCxnSpPr>
        <p:spPr>
          <a:xfrm>
            <a:off x="2409402" y="5640773"/>
            <a:ext cx="0" cy="7517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20424C7-AC2A-54C4-8980-6E7BC084388C}"/>
              </a:ext>
            </a:extLst>
          </p:cNvPr>
          <p:cNvSpPr txBox="1"/>
          <p:nvPr/>
        </p:nvSpPr>
        <p:spPr>
          <a:xfrm>
            <a:off x="4249979" y="1914536"/>
            <a:ext cx="253837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AutoNum type="arabicParenR"/>
            </a:pPr>
            <a:r>
              <a:rPr lang="en-US" altLang="ko-KR" sz="1400" dirty="0"/>
              <a:t>Airfoil sequence</a:t>
            </a:r>
          </a:p>
          <a:p>
            <a:pPr marL="228600" indent="-228600" algn="l">
              <a:buAutoNum type="arabicParenR"/>
            </a:pPr>
            <a:r>
              <a:rPr lang="en-US" altLang="ko-KR" sz="1400" dirty="0"/>
              <a:t>Chord length(m)</a:t>
            </a:r>
          </a:p>
          <a:p>
            <a:pPr marL="228600" indent="-228600" algn="l">
              <a:buAutoNum type="arabicParenR"/>
            </a:pPr>
            <a:r>
              <a:rPr lang="en-US" altLang="ko-KR" sz="1400" dirty="0"/>
              <a:t>Relative thickness(t/c)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Twist distribution(deg)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Design Tip Speed Ratio(TSR)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Power coefficient(cp)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Radial positions(m)</a:t>
            </a:r>
            <a:endParaRPr lang="ko-KR" altLang="en-US" sz="1400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F4ED3D8-DC12-5C76-B7C9-F2801EB951D6}"/>
              </a:ext>
            </a:extLst>
          </p:cNvPr>
          <p:cNvCxnSpPr>
            <a:cxnSpLocks/>
          </p:cNvCxnSpPr>
          <p:nvPr/>
        </p:nvCxnSpPr>
        <p:spPr>
          <a:xfrm flipV="1">
            <a:off x="2652620" y="4369902"/>
            <a:ext cx="0" cy="6303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D332DDBA-7EC5-F2F6-7642-764E74373DB8}"/>
              </a:ext>
            </a:extLst>
          </p:cNvPr>
          <p:cNvCxnSpPr/>
          <p:nvPr/>
        </p:nvCxnSpPr>
        <p:spPr>
          <a:xfrm flipV="1">
            <a:off x="2652620" y="3053788"/>
            <a:ext cx="0" cy="60401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A6AB162-E301-525A-686F-C923DD7C2770}"/>
              </a:ext>
            </a:extLst>
          </p:cNvPr>
          <p:cNvSpPr txBox="1"/>
          <p:nvPr/>
        </p:nvSpPr>
        <p:spPr>
          <a:xfrm>
            <a:off x="1721885" y="3219943"/>
            <a:ext cx="578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0070C0"/>
                </a:solidFill>
              </a:rPr>
              <a:t>Yes</a:t>
            </a:r>
            <a:endParaRPr lang="ko-KR" altLang="en-US" sz="1600" b="1" dirty="0">
              <a:solidFill>
                <a:srgbClr val="0070C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03C655-9FAD-6F7B-21FD-658F11DCA30D}"/>
              </a:ext>
            </a:extLst>
          </p:cNvPr>
          <p:cNvSpPr txBox="1"/>
          <p:nvPr/>
        </p:nvSpPr>
        <p:spPr>
          <a:xfrm>
            <a:off x="1721885" y="4494104"/>
            <a:ext cx="578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0070C0"/>
                </a:solidFill>
              </a:rPr>
              <a:t>Yes</a:t>
            </a:r>
            <a:endParaRPr lang="ko-KR" altLang="en-US" sz="1600" b="1" dirty="0">
              <a:solidFill>
                <a:srgbClr val="0070C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210C7D-1391-698E-FD38-6EE7F55C5D6A}"/>
              </a:ext>
            </a:extLst>
          </p:cNvPr>
          <p:cNvSpPr txBox="1"/>
          <p:nvPr/>
        </p:nvSpPr>
        <p:spPr>
          <a:xfrm>
            <a:off x="2809179" y="4505920"/>
            <a:ext cx="569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C00000"/>
                </a:solidFill>
              </a:rPr>
              <a:t>No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094B7C-71C4-5BD7-E9D1-52CF77BDDBE7}"/>
              </a:ext>
            </a:extLst>
          </p:cNvPr>
          <p:cNvSpPr txBox="1"/>
          <p:nvPr/>
        </p:nvSpPr>
        <p:spPr>
          <a:xfrm>
            <a:off x="2764798" y="3219943"/>
            <a:ext cx="569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C00000"/>
                </a:solidFill>
              </a:rPr>
              <a:t>No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86D9F18-A318-5009-0705-FF672AF192FA}"/>
              </a:ext>
            </a:extLst>
          </p:cNvPr>
          <p:cNvSpPr/>
          <p:nvPr/>
        </p:nvSpPr>
        <p:spPr>
          <a:xfrm>
            <a:off x="4198456" y="3667111"/>
            <a:ext cx="2693919" cy="10620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901679-8B08-43A1-8BD9-2A29184E737B}"/>
              </a:ext>
            </a:extLst>
          </p:cNvPr>
          <p:cNvSpPr txBox="1"/>
          <p:nvPr/>
        </p:nvSpPr>
        <p:spPr>
          <a:xfrm>
            <a:off x="4249979" y="3700066"/>
            <a:ext cx="26422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pt-BR" altLang="ko-KR" sz="1400" dirty="0"/>
              <a:t>Deflection, δ(r) / δ_tip</a:t>
            </a:r>
            <a:r>
              <a:rPr lang="en-US" altLang="ko-KR" sz="1400" dirty="0"/>
              <a:t>Chord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Spar Cap Thickness, </a:t>
            </a:r>
            <a:r>
              <a:rPr lang="en-US" altLang="ko-KR" sz="1400" dirty="0" err="1"/>
              <a:t>t_spar</a:t>
            </a:r>
            <a:r>
              <a:rPr lang="en-US" altLang="ko-KR" sz="1400" dirty="0"/>
              <a:t>(r)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Elastic Modulus, E_L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Mass Distribution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EB4C64D-22CC-8F4E-532C-1AB46677C563}"/>
              </a:ext>
            </a:extLst>
          </p:cNvPr>
          <p:cNvSpPr/>
          <p:nvPr/>
        </p:nvSpPr>
        <p:spPr>
          <a:xfrm>
            <a:off x="4198306" y="4892635"/>
            <a:ext cx="2693919" cy="8926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97D739-CAA2-94B5-D513-BB74464FF5FF}"/>
              </a:ext>
            </a:extLst>
          </p:cNvPr>
          <p:cNvSpPr txBox="1"/>
          <p:nvPr/>
        </p:nvSpPr>
        <p:spPr>
          <a:xfrm>
            <a:off x="4249829" y="4948740"/>
            <a:ext cx="25383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en-US" altLang="ko-KR" sz="1400" dirty="0"/>
              <a:t>Static Load Cases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Dynamic Load Cases, DLC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Natural Frequencies</a:t>
            </a: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D23B66DC-5102-B08D-A8A8-CECF596703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9910" b="28899"/>
          <a:stretch>
            <a:fillRect/>
          </a:stretch>
        </p:blipFill>
        <p:spPr>
          <a:xfrm>
            <a:off x="8364010" y="1478610"/>
            <a:ext cx="1691130" cy="4298185"/>
          </a:xfrm>
          <a:prstGeom prst="rect">
            <a:avLst/>
          </a:prstGeom>
        </p:spPr>
      </p:pic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BA74D959-4C5C-4FF6-C2DE-1F2569767649}"/>
              </a:ext>
            </a:extLst>
          </p:cNvPr>
          <p:cNvCxnSpPr>
            <a:cxnSpLocks/>
          </p:cNvCxnSpPr>
          <p:nvPr/>
        </p:nvCxnSpPr>
        <p:spPr>
          <a:xfrm flipV="1">
            <a:off x="10396596" y="1492293"/>
            <a:ext cx="0" cy="3670014"/>
          </a:xfrm>
          <a:prstGeom prst="straightConnector1">
            <a:avLst/>
          </a:prstGeom>
          <a:ln w="63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FD0BDEC-5671-A4B8-7A16-ECEBBE9A1544}"/>
              </a:ext>
            </a:extLst>
          </p:cNvPr>
          <p:cNvCxnSpPr/>
          <p:nvPr/>
        </p:nvCxnSpPr>
        <p:spPr>
          <a:xfrm>
            <a:off x="9469493" y="1450570"/>
            <a:ext cx="1361150" cy="0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4CE1E05C-08D1-1841-9833-6707B9095FBD}"/>
              </a:ext>
            </a:extLst>
          </p:cNvPr>
          <p:cNvCxnSpPr/>
          <p:nvPr/>
        </p:nvCxnSpPr>
        <p:spPr>
          <a:xfrm>
            <a:off x="9816118" y="5884826"/>
            <a:ext cx="1428551" cy="0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70DD4FE-BB57-93EF-13BD-66681B85E8FD}"/>
              </a:ext>
            </a:extLst>
          </p:cNvPr>
          <p:cNvSpPr/>
          <p:nvPr/>
        </p:nvSpPr>
        <p:spPr>
          <a:xfrm>
            <a:off x="4180307" y="5782707"/>
            <a:ext cx="8011693" cy="492557"/>
          </a:xfrm>
          <a:prstGeom prst="rect">
            <a:avLst/>
          </a:prstGeom>
          <a:solidFill>
            <a:srgbClr val="D0D0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E5503C6C-A930-E03A-D0DD-3DCF4092E1D9}"/>
              </a:ext>
            </a:extLst>
          </p:cNvPr>
          <p:cNvCxnSpPr/>
          <p:nvPr/>
        </p:nvCxnSpPr>
        <p:spPr>
          <a:xfrm flipV="1">
            <a:off x="9036569" y="2828246"/>
            <a:ext cx="0" cy="2908564"/>
          </a:xfrm>
          <a:prstGeom prst="straightConnector1">
            <a:avLst/>
          </a:prstGeom>
          <a:ln w="63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740CD01-C025-5E19-B190-FC27520A4AC7}"/>
              </a:ext>
            </a:extLst>
          </p:cNvPr>
          <p:cNvCxnSpPr/>
          <p:nvPr/>
        </p:nvCxnSpPr>
        <p:spPr>
          <a:xfrm>
            <a:off x="9575591" y="5162307"/>
            <a:ext cx="1361150" cy="0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4A30D58-BB16-0E1C-328F-60141083EC00}"/>
              </a:ext>
            </a:extLst>
          </p:cNvPr>
          <p:cNvSpPr/>
          <p:nvPr/>
        </p:nvSpPr>
        <p:spPr>
          <a:xfrm>
            <a:off x="10581193" y="2868000"/>
            <a:ext cx="1299600" cy="32077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RD 160m</a:t>
            </a:r>
            <a:endParaRPr lang="ko-KR" alt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5E0696D-8E22-758A-E730-5AFB700036BC}"/>
              </a:ext>
            </a:extLst>
          </p:cNvPr>
          <p:cNvSpPr/>
          <p:nvPr/>
        </p:nvSpPr>
        <p:spPr>
          <a:xfrm>
            <a:off x="7667729" y="3567226"/>
            <a:ext cx="1297814" cy="32077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HH 120m</a:t>
            </a:r>
            <a:endParaRPr lang="ko-KR" alt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62C5D6-4F0A-376C-BB8E-CEF10265D4AD}"/>
              </a:ext>
            </a:extLst>
          </p:cNvPr>
          <p:cNvSpPr txBox="1"/>
          <p:nvPr/>
        </p:nvSpPr>
        <p:spPr>
          <a:xfrm>
            <a:off x="7967501" y="3183382"/>
            <a:ext cx="698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0000FF"/>
                </a:solidFill>
              </a:rPr>
              <a:t>Fixed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A69C6D-C814-6F89-7BD9-79D751ABD5E1}"/>
              </a:ext>
            </a:extLst>
          </p:cNvPr>
          <p:cNvSpPr txBox="1"/>
          <p:nvPr/>
        </p:nvSpPr>
        <p:spPr>
          <a:xfrm>
            <a:off x="8790823" y="2616080"/>
            <a:ext cx="720000" cy="144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 anchor="ctr">
            <a:spAutoFit/>
          </a:bodyPr>
          <a:lstStyle/>
          <a:p>
            <a:pPr algn="l"/>
            <a:r>
              <a:rPr lang="en-US" altLang="ko-KR" sz="800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Optimus</a:t>
            </a:r>
            <a:endParaRPr lang="ko-KR" altLang="en-US" sz="800" b="1" i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5C9F9CC-CF4D-4687-C75A-378E98F0C08E}"/>
              </a:ext>
            </a:extLst>
          </p:cNvPr>
          <p:cNvSpPr/>
          <p:nvPr/>
        </p:nvSpPr>
        <p:spPr>
          <a:xfrm>
            <a:off x="7667729" y="2099050"/>
            <a:ext cx="1297814" cy="32077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WTG 5MW</a:t>
            </a:r>
            <a:endParaRPr lang="ko-KR" alt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AA33184-EB1F-A726-663D-754D3FF840BD}"/>
              </a:ext>
            </a:extLst>
          </p:cNvPr>
          <p:cNvSpPr txBox="1"/>
          <p:nvPr/>
        </p:nvSpPr>
        <p:spPr>
          <a:xfrm>
            <a:off x="7968876" y="1722538"/>
            <a:ext cx="698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0000FF"/>
                </a:solidFill>
              </a:rPr>
              <a:t>Fixed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6" name="오른쪽 중괄호 5">
            <a:extLst>
              <a:ext uri="{FF2B5EF4-FFF2-40B4-BE49-F238E27FC236}">
                <a16:creationId xmlns:a16="http://schemas.microsoft.com/office/drawing/2014/main" id="{C9CD1875-42C2-61D0-3F2E-98BBB2292EB6}"/>
              </a:ext>
            </a:extLst>
          </p:cNvPr>
          <p:cNvSpPr/>
          <p:nvPr/>
        </p:nvSpPr>
        <p:spPr>
          <a:xfrm>
            <a:off x="6985000" y="1914536"/>
            <a:ext cx="248831" cy="161856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B8F78-0505-8783-E029-27062CF91C7C}"/>
              </a:ext>
            </a:extLst>
          </p:cNvPr>
          <p:cNvSpPr txBox="1"/>
          <p:nvPr/>
        </p:nvSpPr>
        <p:spPr>
          <a:xfrm>
            <a:off x="7208120" y="2552120"/>
            <a:ext cx="698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/>
              <a:t>BEM</a:t>
            </a:r>
            <a:endParaRPr lang="ko-KR" altLang="en-US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8BA302-E481-8298-284B-E0958ECD731C}"/>
              </a:ext>
            </a:extLst>
          </p:cNvPr>
          <p:cNvSpPr txBox="1"/>
          <p:nvPr/>
        </p:nvSpPr>
        <p:spPr>
          <a:xfrm>
            <a:off x="7208120" y="4051821"/>
            <a:ext cx="1230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/>
              <a:t>EB Theory</a:t>
            </a:r>
            <a:endParaRPr lang="ko-KR" altLang="en-US" sz="1600" b="1" dirty="0"/>
          </a:p>
        </p:txBody>
      </p:sp>
      <p:sp>
        <p:nvSpPr>
          <p:cNvPr id="11" name="오른쪽 중괄호 10">
            <a:extLst>
              <a:ext uri="{FF2B5EF4-FFF2-40B4-BE49-F238E27FC236}">
                <a16:creationId xmlns:a16="http://schemas.microsoft.com/office/drawing/2014/main" id="{C202E4BA-78B1-F7F8-DE73-1B0C394A7652}"/>
              </a:ext>
            </a:extLst>
          </p:cNvPr>
          <p:cNvSpPr/>
          <p:nvPr/>
        </p:nvSpPr>
        <p:spPr>
          <a:xfrm>
            <a:off x="6992381" y="3728859"/>
            <a:ext cx="248831" cy="96663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오른쪽 중괄호 11">
            <a:extLst>
              <a:ext uri="{FF2B5EF4-FFF2-40B4-BE49-F238E27FC236}">
                <a16:creationId xmlns:a16="http://schemas.microsoft.com/office/drawing/2014/main" id="{EE3CF623-2DCA-6A17-F0E1-CCF96A7E9DDC}"/>
              </a:ext>
            </a:extLst>
          </p:cNvPr>
          <p:cNvSpPr/>
          <p:nvPr/>
        </p:nvSpPr>
        <p:spPr>
          <a:xfrm>
            <a:off x="7028263" y="4916481"/>
            <a:ext cx="248831" cy="82032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922FE8-49B2-C57A-7F7B-C415BA3E97D1}"/>
              </a:ext>
            </a:extLst>
          </p:cNvPr>
          <p:cNvSpPr txBox="1"/>
          <p:nvPr/>
        </p:nvSpPr>
        <p:spPr>
          <a:xfrm>
            <a:off x="7243964" y="5164192"/>
            <a:ext cx="1003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/>
              <a:t>SLC,DLC</a:t>
            </a:r>
            <a:endParaRPr lang="ko-KR" altLang="en-US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F8CD30-1DF1-8F60-3D42-076CA983B728}"/>
              </a:ext>
            </a:extLst>
          </p:cNvPr>
          <p:cNvSpPr txBox="1"/>
          <p:nvPr/>
        </p:nvSpPr>
        <p:spPr>
          <a:xfrm>
            <a:off x="10881858" y="2477563"/>
            <a:ext cx="698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0000FF"/>
                </a:solidFill>
              </a:rPr>
              <a:t>Fixed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215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910F5-EB4A-204F-B734-9177E62CA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7A40FF-C924-2563-1E7F-B8BCA4EC67E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8E0F548-7C01-E29C-7951-CE4046AB2B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F9F0B11-AF04-8C91-58BA-5B1C04CC06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98B3A0D-F0D6-BA11-60B5-6D6E670685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AFD8F-E1AD-BD92-33B5-F86C5C35C823}"/>
              </a:ext>
            </a:extLst>
          </p:cNvPr>
          <p:cNvSpPr txBox="1"/>
          <p:nvPr/>
        </p:nvSpPr>
        <p:spPr>
          <a:xfrm>
            <a:off x="685799" y="667929"/>
            <a:ext cx="8906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Temporary Structural Design limits for 80m Blade </a:t>
            </a:r>
            <a:r>
              <a:rPr lang="en-IN" sz="2800" b="1" dirty="0"/>
              <a:t>–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29A34F8-6A97-3CFE-7808-F1B2DD4D6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254384"/>
              </p:ext>
            </p:extLst>
          </p:nvPr>
        </p:nvGraphicFramePr>
        <p:xfrm>
          <a:off x="804328" y="1352669"/>
          <a:ext cx="10524067" cy="4607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897">
                  <a:extLst>
                    <a:ext uri="{9D8B030D-6E8A-4147-A177-3AD203B41FA5}">
                      <a16:colId xmlns:a16="http://schemas.microsoft.com/office/drawing/2014/main" val="1249714768"/>
                    </a:ext>
                  </a:extLst>
                </a:gridCol>
                <a:gridCol w="1765328">
                  <a:extLst>
                    <a:ext uri="{9D8B030D-6E8A-4147-A177-3AD203B41FA5}">
                      <a16:colId xmlns:a16="http://schemas.microsoft.com/office/drawing/2014/main" val="216819438"/>
                    </a:ext>
                  </a:extLst>
                </a:gridCol>
                <a:gridCol w="2138763">
                  <a:extLst>
                    <a:ext uri="{9D8B030D-6E8A-4147-A177-3AD203B41FA5}">
                      <a16:colId xmlns:a16="http://schemas.microsoft.com/office/drawing/2014/main" val="4116736744"/>
                    </a:ext>
                  </a:extLst>
                </a:gridCol>
                <a:gridCol w="2130274">
                  <a:extLst>
                    <a:ext uri="{9D8B030D-6E8A-4147-A177-3AD203B41FA5}">
                      <a16:colId xmlns:a16="http://schemas.microsoft.com/office/drawing/2014/main" val="428825084"/>
                    </a:ext>
                  </a:extLst>
                </a:gridCol>
                <a:gridCol w="2147250">
                  <a:extLst>
                    <a:ext uri="{9D8B030D-6E8A-4147-A177-3AD203B41FA5}">
                      <a16:colId xmlns:a16="http://schemas.microsoft.com/office/drawing/2014/main" val="397719325"/>
                    </a:ext>
                  </a:extLst>
                </a:gridCol>
                <a:gridCol w="1943555">
                  <a:extLst>
                    <a:ext uri="{9D8B030D-6E8A-4147-A177-3AD203B41FA5}">
                      <a16:colId xmlns:a16="http://schemas.microsoft.com/office/drawing/2014/main" val="3801516377"/>
                    </a:ext>
                  </a:extLst>
                </a:gridCol>
              </a:tblGrid>
              <a:tr h="3969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No.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Parameter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NREL 5 MW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(61.5 m Blade)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Scaling 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(Calculation Method)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Optimus Syria 5MW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(80 m Blade)</a:t>
                      </a: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Remark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943934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1.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Tip Deflection Limit (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δ_tip,max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8 m (≈ 0.13 · R)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Proportional to Blade Length (R₈₀/R₆₁.₅ = 1.30)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≈ 10 m (0.125 · R)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Structural limit for stiffness design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363971"/>
                  </a:ext>
                </a:extLst>
              </a:tr>
              <a:tr h="5838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2.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First Aerodynamic Profile Location (r/R)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0.08 – 0.10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Non-dimensional (no scaling)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0.10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(allowable 0.08 – 0.12)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 – 0.10 R = structural root (cylindrical region)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458928"/>
                  </a:ext>
                </a:extLst>
              </a:tr>
              <a:tr h="5556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3.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Maximum Chord (C&lt;sub&gt;max&lt;/sub&gt;)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4.65 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Manufacturing / transport limited; not strictly ∝ R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≤ 5.0 m </a:t>
                      </a: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(recommended 4.9–5.0 m)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5 m is practical for mold and road transport width limits.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489927"/>
                  </a:ext>
                </a:extLst>
              </a:tr>
              <a:tr h="5556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4.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Maximum Twist Angle (θ&lt;sub&gt;max&lt;/sub&gt;)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~14.5°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Manufacturing limit (mold and laminate lay-up complexity)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≤ 18° </a:t>
                      </a: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(recommended 16–18°)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Twist &gt; 20° causes tooling issues; limit gradient ≈ ≤ 2° per 5 % span.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889414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5.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Blade Mass (per Blade)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≈ 18 t @ 61.5 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Mass ∝ (R₈₀/R₆₁.₅)³ = (1.30)³ ≈ 2.2 × m₆₁.₅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≈ 35 – 40 t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Weight scaling estimate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933458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6.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Tip Clearance Guide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≈ 4 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Scaled by R ratio (×1.3)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≥ 5 m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To avoid tower strike under load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888396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7.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Manufacturing Guide for Spar Cap Thickness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1200" b="0" dirty="0">
                          <a:solidFill>
                            <a:schemeClr val="tx1"/>
                          </a:solidFill>
                        </a:rPr>
                        <a:t>t_tip ≥ 2 mm, t_root ≤ 60 mm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Scaled by R ratio (×1.3)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1200" b="1" dirty="0">
                          <a:solidFill>
                            <a:srgbClr val="FF0000"/>
                          </a:solidFill>
                        </a:rPr>
                        <a:t>t_tip ≥ 3 mm, t_root ≤ 80 mm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Manufacturing envelope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195286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8.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Estimated Spar Cap (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h_cap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1200" b="0" dirty="0">
                          <a:solidFill>
                            <a:schemeClr val="tx1"/>
                          </a:solidFill>
                        </a:rPr>
                        <a:t>h_cap ≈ 0.6 · (t/c) · chord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Empirical relation maintained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1200" b="0" dirty="0"/>
                        <a:t>h_cap ≈ 0.6 · (t/c) · chord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/>
                        <a:t>To be confirmed after geometry fix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669125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3B48E64B-5B02-5555-3C85-3E73511FA0E1}"/>
              </a:ext>
            </a:extLst>
          </p:cNvPr>
          <p:cNvSpPr/>
          <p:nvPr/>
        </p:nvSpPr>
        <p:spPr>
          <a:xfrm>
            <a:off x="838200" y="6059407"/>
            <a:ext cx="10498664" cy="492557"/>
          </a:xfrm>
          <a:prstGeom prst="rect">
            <a:avLst/>
          </a:prstGeom>
          <a:solidFill>
            <a:srgbClr val="D0D0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0D94C-99EA-A794-A277-B6BD1CA7435A}"/>
              </a:ext>
            </a:extLst>
          </p:cNvPr>
          <p:cNvSpPr txBox="1"/>
          <p:nvPr/>
        </p:nvSpPr>
        <p:spPr>
          <a:xfrm>
            <a:off x="829732" y="6040893"/>
            <a:ext cx="10498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0000FF"/>
                </a:solidFill>
              </a:rPr>
              <a:t>※ All scaled values are based on geometric similarity: </a:t>
            </a:r>
            <a:r>
              <a:rPr lang="pt-BR" altLang="ko-KR" sz="1400" b="1" dirty="0">
                <a:solidFill>
                  <a:srgbClr val="0000FF"/>
                </a:solidFill>
              </a:rPr>
              <a:t>geometry ∝ R, mass ∝ R³, loads ∝ R³, </a:t>
            </a:r>
            <a:r>
              <a:rPr lang="en-US" altLang="ko-KR" sz="1400" b="1" dirty="0">
                <a:solidFill>
                  <a:srgbClr val="0000FF"/>
                </a:solidFill>
              </a:rPr>
              <a:t>Keeping </a:t>
            </a:r>
            <a:r>
              <a:rPr lang="en-US" altLang="ko-KR" sz="1400" b="1" dirty="0" err="1">
                <a:solidFill>
                  <a:srgbClr val="0000FF"/>
                </a:solidFill>
              </a:rPr>
              <a:t>t_spar</a:t>
            </a:r>
            <a:r>
              <a:rPr lang="en-US" altLang="ko-KR" sz="1400" b="1" dirty="0">
                <a:solidFill>
                  <a:srgbClr val="0000FF"/>
                </a:solidFill>
              </a:rPr>
              <a:t> ∝ R maintains similar stress and deflection behavior so the new limits (e.g., </a:t>
            </a:r>
            <a:r>
              <a:rPr lang="en-US" altLang="ko-KR" sz="1400" b="1" dirty="0" err="1">
                <a:solidFill>
                  <a:srgbClr val="0000FF"/>
                </a:solidFill>
              </a:rPr>
              <a:t>δ_tip</a:t>
            </a:r>
            <a:r>
              <a:rPr lang="en-US" altLang="ko-KR" sz="1400" b="1" dirty="0">
                <a:solidFill>
                  <a:srgbClr val="0000FF"/>
                </a:solidFill>
              </a:rPr>
              <a:t> ≈ 10 m) are physically consistent with the NREL 5 MW reference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60BD93-96AA-2D16-B99F-3EE19118AD4A}"/>
              </a:ext>
            </a:extLst>
          </p:cNvPr>
          <p:cNvSpPr/>
          <p:nvPr/>
        </p:nvSpPr>
        <p:spPr>
          <a:xfrm>
            <a:off x="7267575" y="1349980"/>
            <a:ext cx="2113275" cy="460314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533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E526-C795-3A41-ADF2-26018E88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AF081A-8F16-AD7E-EF07-C59133E4A4B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8B7079B-81B3-5984-37D7-2337EF3B4A1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B45FC7B-5BD9-9BE0-0E1F-7344E27B61E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9BD1678-CD41-8017-D7CB-E9EE01D357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6C4529-FA87-0ACB-5D28-9CBEAF01F586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4. </a:t>
            </a:r>
            <a:r>
              <a:rPr lang="en-IN" altLang="ko-KR" sz="2800" b="1" dirty="0"/>
              <a:t>Material selection for </a:t>
            </a:r>
            <a:r>
              <a:rPr lang="en-US" altLang="ko-KR" sz="2800" b="1" dirty="0"/>
              <a:t>80m Blade</a:t>
            </a:r>
            <a:r>
              <a:rPr lang="en-IN" altLang="ko-KR" sz="2800" b="1" dirty="0"/>
              <a:t>–</a:t>
            </a:r>
            <a:endParaRPr lang="en-US" sz="28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D35844-55FB-B116-F435-9C127D731732}"/>
              </a:ext>
            </a:extLst>
          </p:cNvPr>
          <p:cNvSpPr txBox="1">
            <a:spLocks/>
          </p:cNvSpPr>
          <p:nvPr/>
        </p:nvSpPr>
        <p:spPr>
          <a:xfrm>
            <a:off x="838200" y="1279097"/>
            <a:ext cx="10683240" cy="523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altLang="ko-KR" sz="2400" b="1" dirty="0">
                <a:solidFill>
                  <a:sysClr val="windowText" lastClr="000000"/>
                </a:solidFill>
              </a:rPr>
              <a:t>4.1 Design limit and comparison  </a:t>
            </a:r>
            <a:r>
              <a:rPr lang="en-US" altLang="ko-KR" sz="2400" b="1" dirty="0">
                <a:solidFill>
                  <a:sysClr val="windowText" lastClr="000000"/>
                </a:solidFill>
              </a:rPr>
              <a:t>–</a:t>
            </a:r>
            <a:endParaRPr lang="en-IN" altLang="ko-KR" sz="2400" b="1" dirty="0">
              <a:solidFill>
                <a:sysClr val="windowText" lastClr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A2AD75-4792-1423-521E-10E8F7A8B603}"/>
              </a:ext>
            </a:extLst>
          </p:cNvPr>
          <p:cNvSpPr txBox="1"/>
          <p:nvPr/>
        </p:nvSpPr>
        <p:spPr>
          <a:xfrm>
            <a:off x="237067" y="5844877"/>
            <a:ext cx="36118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Source: </a:t>
            </a:r>
            <a:r>
              <a:rPr lang="en-US" altLang="ko-KR" sz="1100" dirty="0">
                <a:hlinkClick r:id="rId2" tooltip="Persistent link using digital object identifi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https://doi.org/10.1016/j.marstruc.2020.102858</a:t>
            </a:r>
            <a:endParaRPr lang="en-US" altLang="ko-KR" sz="1100" dirty="0"/>
          </a:p>
          <a:p>
            <a:pPr algn="l"/>
            <a:endParaRPr lang="ko-KR" altLang="en-US" sz="1100" dirty="0"/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47E8AC5-AF60-226E-79D6-787B27024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697982"/>
              </p:ext>
            </p:extLst>
          </p:nvPr>
        </p:nvGraphicFramePr>
        <p:xfrm>
          <a:off x="384108" y="1802317"/>
          <a:ext cx="11423784" cy="4408278"/>
        </p:xfrm>
        <a:graphic>
          <a:graphicData uri="http://schemas.openxmlformats.org/drawingml/2006/table">
            <a:tbl>
              <a:tblPr/>
              <a:tblGrid>
                <a:gridCol w="3256559">
                  <a:extLst>
                    <a:ext uri="{9D8B030D-6E8A-4147-A177-3AD203B41FA5}">
                      <a16:colId xmlns:a16="http://schemas.microsoft.com/office/drawing/2014/main" val="394663625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4055172568"/>
                    </a:ext>
                  </a:extLst>
                </a:gridCol>
                <a:gridCol w="2015066">
                  <a:extLst>
                    <a:ext uri="{9D8B030D-6E8A-4147-A177-3AD203B41FA5}">
                      <a16:colId xmlns:a16="http://schemas.microsoft.com/office/drawing/2014/main" val="194476169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517464175"/>
                    </a:ext>
                  </a:extLst>
                </a:gridCol>
                <a:gridCol w="2265959">
                  <a:extLst>
                    <a:ext uri="{9D8B030D-6E8A-4147-A177-3AD203B41FA5}">
                      <a16:colId xmlns:a16="http://schemas.microsoft.com/office/drawing/2014/main" val="2731350634"/>
                    </a:ext>
                  </a:extLst>
                </a:gridCol>
              </a:tblGrid>
              <a:tr h="3031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Airfoil Structure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Blade Region</a:t>
                      </a:r>
                      <a:endParaRPr lang="en-US" sz="120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NREL 5 MW (61.5 m)</a:t>
                      </a:r>
                      <a:endParaRPr lang="en-US" sz="120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rgbClr val="0000FF"/>
                          </a:solidFill>
                        </a:rPr>
                        <a:t>Optimus 5NW (80.0m)</a:t>
                      </a:r>
                      <a:endParaRPr lang="en-US" sz="1200" dirty="0">
                        <a:solidFill>
                          <a:srgbClr val="0000FF"/>
                        </a:solidFill>
                      </a:endParaRP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Reason</a:t>
                      </a:r>
                      <a:endParaRPr lang="en-US" sz="120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181926"/>
                  </a:ext>
                </a:extLst>
              </a:tr>
              <a:tr h="6929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Spar Cap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Hybrid Carbon + Glass UD (0°)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Full Carbon UD (0°)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Higher bending moment.</a:t>
                      </a:r>
                    </a:p>
                    <a:p>
                      <a:pPr>
                        <a:buNone/>
                      </a:pPr>
                      <a:r>
                        <a:rPr lang="en-US" sz="1050" b="0" dirty="0"/>
                        <a:t>- Increase EI and reduce tip deflection &amp; mass.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15657"/>
                  </a:ext>
                </a:extLst>
              </a:tr>
              <a:tr h="6606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Shell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1" dirty="0"/>
                        <a:t> (Suction/Pressure)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Glass </a:t>
                      </a:r>
                      <a:r>
                        <a:rPr lang="en-US" sz="1050" b="0" i="1" dirty="0" err="1"/>
                        <a:t>Triax</a:t>
                      </a:r>
                      <a:r>
                        <a:rPr lang="en-US" sz="1050" b="0" i="1" dirty="0"/>
                        <a:t> (±45/0/90)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/>
                        <a:t>Lay-up: [±45 / 0 / 90 / ±45 / 0]ₛ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Glass </a:t>
                      </a:r>
                      <a:r>
                        <a:rPr lang="en-US" sz="1050" b="0" i="1" dirty="0" err="1">
                          <a:solidFill>
                            <a:srgbClr val="0000FF"/>
                          </a:solidFill>
                        </a:rPr>
                        <a:t>Triax</a:t>
                      </a: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 (±45 dominant)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Lay-up: [±45 / 0 / ±45 / 90 / ±45 / 0 / ±45]ₛ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More ±45° plies increase torsional stiffness (GJ) </a:t>
                      </a:r>
                    </a:p>
                    <a:p>
                      <a:pPr>
                        <a:buNone/>
                      </a:pPr>
                      <a:r>
                        <a:rPr lang="en-US" sz="1050" b="0" dirty="0"/>
                        <a:t>- shear resistance for longer, flexible blades.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67314"/>
                  </a:ext>
                </a:extLst>
              </a:tr>
              <a:tr h="563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Shear Webs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Glass ±45 + thin foam core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/>
                        <a:t>Lay-up: [±45/G] + Core + [±45/G]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Glass ±45 + thicker foam core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 (50 → 80 mm)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Lay-up: [±45/G] + Core(↑t) + [±45/G]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Shear load ↑ → thicker core improves shear stiffness &amp; buckling resistance.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869850"/>
                  </a:ext>
                </a:extLst>
              </a:tr>
              <a:tr h="563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Core (in Shell)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PVC / Balsa Foam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i="1" dirty="0"/>
                        <a:t> (</a:t>
                      </a:r>
                      <a:r>
                        <a:rPr lang="el-GR" sz="1050" b="0" i="1" dirty="0"/>
                        <a:t>ρ ≈ 60 </a:t>
                      </a:r>
                      <a:r>
                        <a:rPr lang="en-US" sz="1050" b="0" i="1" dirty="0"/>
                        <a:t>kg/m³)</a:t>
                      </a:r>
                      <a:endParaRPr lang="en-US" sz="1050" b="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High-density PVC or PET Foam 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(ρ ≈ 80–100 kg/m³)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Thickness tapered along span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Prevent shear failure &amp; skin buckling under higher spanwise loads.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908569"/>
                  </a:ext>
                </a:extLst>
              </a:tr>
              <a:tr h="6606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Trailing Edge (TE)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Glass + thin foam core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/>
                        <a:t>Lay-up: [±45 / 0]ₛ + core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Glass + thicker foam + reinforcement patch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Lay-up: [±45 / 0 / ±45]ₛ + core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50" b="0" dirty="0"/>
                        <a:t>Local buckling risk ↑; reinforced TE prevents opening, improves fatigue resistance.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600991"/>
                  </a:ext>
                </a:extLst>
              </a:tr>
              <a:tr h="4330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Leading Edge (LE)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Glass + solid insert</a:t>
                      </a:r>
                      <a:endParaRPr lang="en-US" sz="1050" b="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0" i="1" dirty="0">
                          <a:solidFill>
                            <a:srgbClr val="0000FF"/>
                          </a:solidFill>
                        </a:rPr>
                        <a:t>Glass + Carbon Hybrid (optional)</a:t>
                      </a:r>
                      <a:endParaRPr lang="en-US" altLang="ko-KR" sz="1050" b="0" dirty="0">
                        <a:solidFill>
                          <a:srgbClr val="0000FF"/>
                        </a:solidFill>
                      </a:endParaRP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Improve impact, erosion resistance in longer blades.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82835"/>
                  </a:ext>
                </a:extLst>
              </a:tr>
              <a:tr h="5064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Root Region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Thick Glass + Adhesive Joint</a:t>
                      </a:r>
                      <a:endParaRPr lang="en-US" sz="1050" b="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Glass + Carbon Hybrid (optional)</a:t>
                      </a:r>
                      <a:endParaRPr lang="en-US" sz="1050" b="0" dirty="0">
                        <a:solidFill>
                          <a:srgbClr val="0000FF"/>
                        </a:solidFill>
                      </a:endParaRP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Increase root strength and reduce weight for bolt interface.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390433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8E3DA002-CD65-9B4C-E96A-A9C4894B1F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08" y="2711127"/>
            <a:ext cx="3132077" cy="253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34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3E2BC-879D-FD01-00A6-4A1E94C49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BC30AD-8ABE-2C28-4A44-730FEF4F78F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B17E5D6-143F-1F84-C48A-A18C56E4F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5EC9E4D-D5D7-388E-C0BB-5E78BF6D7D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E62FAD8-8B25-185B-43C1-84D45C3563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7C99BB-4438-815F-F9E1-E04B1A50A3D2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4. Material selection for 80m Blade</a:t>
            </a:r>
            <a:r>
              <a:rPr lang="en-IN" altLang="ko-KR" sz="2800" b="1" dirty="0"/>
              <a:t> –</a:t>
            </a:r>
            <a:endParaRPr lang="en-IN" sz="28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CC13A5-9695-0DCD-F855-C4AC2812FD38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515600" cy="930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4.2 Main Blade Materials and Cost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  <a:endParaRPr lang="en-IN" sz="2400" b="1" dirty="0">
              <a:solidFill>
                <a:sysClr val="windowText" lastClr="000000"/>
              </a:solidFill>
            </a:endParaRPr>
          </a:p>
          <a:p>
            <a:pPr lvl="2" indent="-342900"/>
            <a:endParaRPr kumimoji="0" lang="en-IN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70D88EB-1AC7-603E-F542-0054FB42B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03" y="1774824"/>
            <a:ext cx="1826340" cy="131049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B989EC8-7EB3-A0DD-83B0-AC286B864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03" y="3503583"/>
            <a:ext cx="1826340" cy="119574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195F672-E308-AA48-6465-99C48FEC8272}"/>
              </a:ext>
            </a:extLst>
          </p:cNvPr>
          <p:cNvSpPr txBox="1"/>
          <p:nvPr/>
        </p:nvSpPr>
        <p:spPr>
          <a:xfrm>
            <a:off x="1205378" y="3120039"/>
            <a:ext cx="13253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600" b="1" dirty="0">
                <a:solidFill>
                  <a:schemeClr val="tx1"/>
                </a:solidFill>
              </a:rPr>
              <a:t>E-glass fiber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DE935D-9C1E-C15B-6B5C-D762D0EA61B0}"/>
              </a:ext>
            </a:extLst>
          </p:cNvPr>
          <p:cNvSpPr txBox="1"/>
          <p:nvPr/>
        </p:nvSpPr>
        <p:spPr>
          <a:xfrm>
            <a:off x="954603" y="4782373"/>
            <a:ext cx="1826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600" b="1" dirty="0">
                <a:solidFill>
                  <a:schemeClr val="tx1"/>
                </a:solidFill>
              </a:rPr>
              <a:t>Carbon fiber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DDF466-D0D1-64B1-C5A8-8A959C3B5BF1}"/>
              </a:ext>
            </a:extLst>
          </p:cNvPr>
          <p:cNvSpPr txBox="1"/>
          <p:nvPr/>
        </p:nvSpPr>
        <p:spPr>
          <a:xfrm>
            <a:off x="644187" y="6264694"/>
            <a:ext cx="23901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600" b="1" dirty="0">
                <a:solidFill>
                  <a:schemeClr val="tx1"/>
                </a:solidFill>
              </a:rPr>
              <a:t>Epoxy resin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BBE053E7-3D75-65FC-793D-5CBA7BEC7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017330"/>
              </p:ext>
            </p:extLst>
          </p:nvPr>
        </p:nvGraphicFramePr>
        <p:xfrm>
          <a:off x="2878527" y="1774824"/>
          <a:ext cx="8894570" cy="4609040"/>
        </p:xfrm>
        <a:graphic>
          <a:graphicData uri="http://schemas.openxmlformats.org/drawingml/2006/table">
            <a:tbl>
              <a:tblPr/>
              <a:tblGrid>
                <a:gridCol w="1490273">
                  <a:extLst>
                    <a:ext uri="{9D8B030D-6E8A-4147-A177-3AD203B41FA5}">
                      <a16:colId xmlns:a16="http://schemas.microsoft.com/office/drawing/2014/main" val="3891223730"/>
                    </a:ext>
                  </a:extLst>
                </a:gridCol>
                <a:gridCol w="1634067">
                  <a:extLst>
                    <a:ext uri="{9D8B030D-6E8A-4147-A177-3AD203B41FA5}">
                      <a16:colId xmlns:a16="http://schemas.microsoft.com/office/drawing/2014/main" val="53119954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117761162"/>
                    </a:ext>
                  </a:extLst>
                </a:gridCol>
                <a:gridCol w="988878">
                  <a:extLst>
                    <a:ext uri="{9D8B030D-6E8A-4147-A177-3AD203B41FA5}">
                      <a16:colId xmlns:a16="http://schemas.microsoft.com/office/drawing/2014/main" val="2747704736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368794254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514853700"/>
                    </a:ext>
                  </a:extLst>
                </a:gridCol>
                <a:gridCol w="658085">
                  <a:extLst>
                    <a:ext uri="{9D8B030D-6E8A-4147-A177-3AD203B41FA5}">
                      <a16:colId xmlns:a16="http://schemas.microsoft.com/office/drawing/2014/main" val="1574380295"/>
                    </a:ext>
                  </a:extLst>
                </a:gridCol>
              </a:tblGrid>
              <a:tr h="5724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Material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Main Features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Where Used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Unit Cost (€/kg)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Est. Weight of NREL5MW (kg)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Subtotal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Share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597886"/>
                  </a:ext>
                </a:extLst>
              </a:tr>
              <a:tr h="5970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E-glass fiber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Strong, </a:t>
                      </a:r>
                    </a:p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Low cost, Heavy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Shell skin, shear web, root reinforcements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1.8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~13,000</a:t>
                      </a: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€ </a:t>
                      </a:r>
                      <a:r>
                        <a:rPr lang="en-US" altLang="ko-KR" sz="1100" b="1" dirty="0">
                          <a:latin typeface="+mn-lt"/>
                        </a:rPr>
                        <a:t>23,400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38%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80488"/>
                  </a:ext>
                </a:extLst>
              </a:tr>
              <a:tr h="4851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Carbon fiber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High stiffness/strength, lightweight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Spar caps </a:t>
                      </a:r>
                    </a:p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(load-carrying beam)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25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~500</a:t>
                      </a: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€ </a:t>
                      </a:r>
                      <a:r>
                        <a:rPr lang="en-US" altLang="ko-KR" sz="1100" b="1" dirty="0">
                          <a:latin typeface="+mn-lt"/>
                        </a:rPr>
                        <a:t>12,500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20%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056984"/>
                  </a:ext>
                </a:extLst>
              </a:tr>
              <a:tr h="4851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Epoxy resin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Excellent bonding, heat/chem. resistance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Matrix for all composites (fiber wet-out)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4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~5,000</a:t>
                      </a: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€ </a:t>
                      </a:r>
                      <a:r>
                        <a:rPr lang="en-US" altLang="ko-KR" sz="1100" b="1" dirty="0">
                          <a:latin typeface="+mn-lt"/>
                        </a:rPr>
                        <a:t>20,000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33%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028759"/>
                  </a:ext>
                </a:extLst>
              </a:tr>
              <a:tr h="3794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Core </a:t>
                      </a:r>
                    </a:p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(PET/PVC/Balsa)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+mn-lt"/>
                        </a:rPr>
                        <a:t>Lightweight sandwich material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Shell and shear web core panels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4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~1,200</a:t>
                      </a: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€ </a:t>
                      </a:r>
                      <a:r>
                        <a:rPr lang="en-US" altLang="ko-KR" sz="1100" b="1" dirty="0">
                          <a:latin typeface="+mn-lt"/>
                        </a:rPr>
                        <a:t>4,800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8%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917653"/>
                  </a:ext>
                </a:extLst>
              </a:tr>
              <a:tr h="4851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Adhesive &amp; gel coat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Bonding, sealing, surface finish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Bond lines, LE/TE joints, outer surface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10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~100</a:t>
                      </a: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€ </a:t>
                      </a:r>
                      <a:r>
                        <a:rPr lang="en-US" altLang="ko-KR" sz="1100" b="1" dirty="0">
                          <a:latin typeface="+mn-lt"/>
                        </a:rPr>
                        <a:t>1,000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1%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464597"/>
                  </a:ext>
                </a:extLst>
              </a:tr>
              <a:tr h="373171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Total  Material Cost (55%)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19,800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≈ € </a:t>
                      </a:r>
                      <a:r>
                        <a:rPr lang="en-US" altLang="ko-KR" sz="1100" b="1" dirty="0">
                          <a:latin typeface="+mn-lt"/>
                        </a:rPr>
                        <a:t>61,700 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+mn-lt"/>
                        </a:rPr>
                        <a:t>100%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516926"/>
                  </a:ext>
                </a:extLst>
              </a:tr>
              <a:tr h="485123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+ Manufacturing (35%)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ko-KR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≈ € </a:t>
                      </a:r>
                      <a:r>
                        <a:rPr lang="en-US" altLang="ko-KR" sz="1100" b="1" dirty="0">
                          <a:latin typeface="+mn-lt"/>
                        </a:rPr>
                        <a:t>39,200 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544959"/>
                  </a:ext>
                </a:extLst>
              </a:tr>
              <a:tr h="373171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+ Quality &amp; Process (10%)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ko-KR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≈ € </a:t>
                      </a:r>
                      <a:r>
                        <a:rPr lang="en-US" altLang="ko-KR" sz="1100" b="1" dirty="0">
                          <a:latin typeface="+mn-lt"/>
                        </a:rPr>
                        <a:t>11,200 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11661"/>
                  </a:ext>
                </a:extLst>
              </a:tr>
              <a:tr h="373171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= Total Production Cost (100%)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ko-KR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+mn-lt"/>
                        </a:rPr>
                        <a:t>≈ </a:t>
                      </a:r>
                      <a:r>
                        <a:rPr lang="ko-KR" altLang="en-US" sz="1100" b="1" dirty="0">
                          <a:solidFill>
                            <a:srgbClr val="FF0000"/>
                          </a:solidFill>
                          <a:latin typeface="+mn-lt"/>
                        </a:rPr>
                        <a:t>€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+mn-lt"/>
                        </a:rPr>
                        <a:t>112,000 / blade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439103"/>
                  </a:ext>
                </a:extLst>
              </a:tr>
            </a:tbl>
          </a:graphicData>
        </a:graphic>
      </p:graphicFrame>
      <p:pic>
        <p:nvPicPr>
          <p:cNvPr id="49" name="그림 48">
            <a:extLst>
              <a:ext uri="{FF2B5EF4-FFF2-40B4-BE49-F238E27FC236}">
                <a16:creationId xmlns:a16="http://schemas.microsoft.com/office/drawing/2014/main" id="{A8A313F8-571B-CE6A-E8E6-A285BAC62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103" y="5152407"/>
            <a:ext cx="1826340" cy="1089137"/>
          </a:xfrm>
          <a:prstGeom prst="rect">
            <a:avLst/>
          </a:prstGeom>
        </p:spPr>
      </p:pic>
      <p:sp>
        <p:nvSpPr>
          <p:cNvPr id="50" name="직사각형 49">
            <a:extLst>
              <a:ext uri="{FF2B5EF4-FFF2-40B4-BE49-F238E27FC236}">
                <a16:creationId xmlns:a16="http://schemas.microsoft.com/office/drawing/2014/main" id="{0172D847-D9FE-AA28-2B7A-0A9CC5F809A2}"/>
              </a:ext>
            </a:extLst>
          </p:cNvPr>
          <p:cNvSpPr/>
          <p:nvPr/>
        </p:nvSpPr>
        <p:spPr>
          <a:xfrm>
            <a:off x="2878527" y="2345265"/>
            <a:ext cx="8894570" cy="1032303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64F547-99C3-C6C4-B409-6E7E888CADD0}"/>
              </a:ext>
            </a:extLst>
          </p:cNvPr>
          <p:cNvSpPr txBox="1"/>
          <p:nvPr/>
        </p:nvSpPr>
        <p:spPr>
          <a:xfrm>
            <a:off x="7858762" y="6320121"/>
            <a:ext cx="43332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Source: Wind Turbine Reliability:  A Database and Analysis Approach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182778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F606E-DE99-431A-0737-284247614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4A4084-A8CD-3997-127B-60DB0BE60A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8CAB110-BA41-4D61-8348-B183AD0CA10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D7A273-ADB8-BE31-CD6D-77827DA356F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2B4CE6E-89AD-7613-449B-ADCADF3632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053D60-E6B3-C658-7D06-06F8DC3A3768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4. Material selection for 80m Blade</a:t>
            </a:r>
            <a:r>
              <a:rPr lang="en-IN" altLang="ko-KR" sz="2800" b="1" dirty="0"/>
              <a:t> –</a:t>
            </a:r>
            <a:endParaRPr lang="en-IN" sz="28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68AA41-122F-562A-2E25-CA15B75FAD3C}"/>
              </a:ext>
            </a:extLst>
          </p:cNvPr>
          <p:cNvSpPr txBox="1">
            <a:spLocks/>
          </p:cNvSpPr>
          <p:nvPr/>
        </p:nvSpPr>
        <p:spPr>
          <a:xfrm>
            <a:off x="838200" y="1297230"/>
            <a:ext cx="10515600" cy="930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4.3 Cost Reduction Strategies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  <a:endParaRPr lang="en-IN" sz="2400" b="1" dirty="0">
              <a:solidFill>
                <a:sysClr val="windowText" lastClr="000000"/>
              </a:solidFill>
            </a:endParaRPr>
          </a:p>
          <a:p>
            <a:pPr lvl="2" indent="-342900"/>
            <a:endParaRPr kumimoji="0" lang="en-IN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A82650E-45AC-F3B9-BBD3-408070E26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98" b="3714"/>
          <a:stretch>
            <a:fillRect/>
          </a:stretch>
        </p:blipFill>
        <p:spPr>
          <a:xfrm>
            <a:off x="787774" y="2445482"/>
            <a:ext cx="2740334" cy="1857629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C7D6B139-DEF9-0D31-F0BB-AE0B94954327}"/>
              </a:ext>
            </a:extLst>
          </p:cNvPr>
          <p:cNvGrpSpPr/>
          <p:nvPr/>
        </p:nvGrpSpPr>
        <p:grpSpPr>
          <a:xfrm>
            <a:off x="4286804" y="2095825"/>
            <a:ext cx="3372697" cy="2960437"/>
            <a:chOff x="4141664" y="1921657"/>
            <a:chExt cx="3372697" cy="2960437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17DC6213-0C49-59A6-4558-396E5DF25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86"/>
            <a:stretch>
              <a:fillRect/>
            </a:stretch>
          </p:blipFill>
          <p:spPr>
            <a:xfrm>
              <a:off x="4573456" y="1921657"/>
              <a:ext cx="2940905" cy="1980363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AB0BAE19-E7DD-5EC1-95E3-9E6C982DF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86"/>
            <a:stretch>
              <a:fillRect/>
            </a:stretch>
          </p:blipFill>
          <p:spPr>
            <a:xfrm>
              <a:off x="4357560" y="2408090"/>
              <a:ext cx="2940905" cy="1980363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1EFDE8BF-574B-D2FC-0A33-45505C60A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86"/>
            <a:stretch>
              <a:fillRect/>
            </a:stretch>
          </p:blipFill>
          <p:spPr>
            <a:xfrm>
              <a:off x="4141664" y="2901731"/>
              <a:ext cx="2940905" cy="1980363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3EB314A-29FF-8DE7-2428-E7416C898C07}"/>
              </a:ext>
            </a:extLst>
          </p:cNvPr>
          <p:cNvSpPr txBox="1"/>
          <p:nvPr/>
        </p:nvSpPr>
        <p:spPr>
          <a:xfrm>
            <a:off x="461794" y="5250080"/>
            <a:ext cx="35852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600" b="1" dirty="0"/>
              <a:t>€ </a:t>
            </a:r>
            <a:r>
              <a:rPr lang="en-US" altLang="ko-KR" sz="1600" b="1" dirty="0"/>
              <a:t>112,000  * (1.3)</a:t>
            </a:r>
            <a:r>
              <a:rPr lang="pt-BR" altLang="ko-KR" sz="1600" b="1" dirty="0"/>
              <a:t>³ = </a:t>
            </a:r>
          </a:p>
          <a:p>
            <a:pPr algn="ctr">
              <a:buNone/>
            </a:pPr>
            <a:r>
              <a:rPr lang="pt-BR" altLang="ko-KR" sz="1600" b="1" dirty="0"/>
              <a:t>Max </a:t>
            </a:r>
            <a:r>
              <a:rPr lang="ko-KR" altLang="en-US" sz="1600" b="1" dirty="0"/>
              <a:t>€ </a:t>
            </a:r>
            <a:r>
              <a:rPr lang="pt-BR" altLang="ko-KR" sz="1600" b="1" dirty="0"/>
              <a:t>246,000</a:t>
            </a:r>
            <a:endParaRPr lang="en-US" altLang="ko-KR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F8D4E8-D6B3-350A-A069-98548A9D2CFC}"/>
              </a:ext>
            </a:extLst>
          </p:cNvPr>
          <p:cNvSpPr txBox="1"/>
          <p:nvPr/>
        </p:nvSpPr>
        <p:spPr>
          <a:xfrm>
            <a:off x="4141664" y="5215272"/>
            <a:ext cx="38593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600" b="1" dirty="0"/>
              <a:t>€ </a:t>
            </a:r>
            <a:r>
              <a:rPr lang="en-US" altLang="ko-KR" sz="1600" b="1" dirty="0"/>
              <a:t>246,000  * 3 </a:t>
            </a:r>
            <a:r>
              <a:rPr lang="en-US" altLang="ko-KR" sz="1600" b="1" dirty="0" err="1"/>
              <a:t>ea</a:t>
            </a:r>
            <a:r>
              <a:rPr lang="pt-BR" altLang="ko-KR" sz="1600" b="1" dirty="0"/>
              <a:t> = </a:t>
            </a:r>
          </a:p>
          <a:p>
            <a:pPr algn="ctr">
              <a:buNone/>
            </a:pPr>
            <a:r>
              <a:rPr lang="en-US" altLang="ko-KR" sz="1600" b="1" dirty="0"/>
              <a:t>Min </a:t>
            </a:r>
            <a:r>
              <a:rPr lang="ko-KR" altLang="en-US" sz="1600" b="1" dirty="0"/>
              <a:t>€ </a:t>
            </a:r>
            <a:r>
              <a:rPr lang="en-US" altLang="ko-KR" sz="1600" b="1" dirty="0"/>
              <a:t>600,000 ~ Max </a:t>
            </a:r>
            <a:r>
              <a:rPr lang="ko-KR" altLang="en-US" sz="1600" b="1" dirty="0"/>
              <a:t>€ </a:t>
            </a:r>
            <a:r>
              <a:rPr lang="pt-BR" altLang="ko-KR" sz="1600" b="1" dirty="0"/>
              <a:t>738,000</a:t>
            </a:r>
            <a:endParaRPr lang="en-US" altLang="ko-KR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BAD6C5-A2E2-36E8-D5CA-A55E84186C9C}"/>
              </a:ext>
            </a:extLst>
          </p:cNvPr>
          <p:cNvSpPr txBox="1"/>
          <p:nvPr/>
        </p:nvSpPr>
        <p:spPr>
          <a:xfrm>
            <a:off x="8001011" y="1844831"/>
            <a:ext cx="44233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solidFill>
                  <a:srgbClr val="0000FF"/>
                </a:solidFill>
              </a:rPr>
              <a:t>Ⅰ. Material Optimization</a:t>
            </a:r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</a:t>
            </a:r>
            <a:r>
              <a:rPr lang="en-US" altLang="ko-KR" dirty="0"/>
              <a:t>C</a:t>
            </a:r>
            <a:r>
              <a:rPr lang="en-US" altLang="ko-KR" dirty="0">
                <a:solidFill>
                  <a:schemeClr val="tx1"/>
                </a:solidFill>
              </a:rPr>
              <a:t>arbon </a:t>
            </a:r>
            <a:r>
              <a:rPr lang="ko-KR" altLang="en-US" dirty="0">
                <a:solidFill>
                  <a:schemeClr val="tx1"/>
                </a:solidFill>
              </a:rPr>
              <a:t>↓</a:t>
            </a:r>
            <a:endParaRPr lang="en-US" altLang="ko-KR" dirty="0"/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Glass </a:t>
            </a:r>
            <a:r>
              <a:rPr lang="ko-KR" altLang="en-US" dirty="0">
                <a:solidFill>
                  <a:schemeClr val="tx1"/>
                </a:solidFill>
              </a:rPr>
              <a:t>↑</a:t>
            </a:r>
            <a:endParaRPr lang="en-US" altLang="ko-KR" dirty="0"/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PVC</a:t>
            </a:r>
            <a:r>
              <a:rPr lang="ko-KR" altLang="en-US" dirty="0">
                <a:solidFill>
                  <a:schemeClr val="tx1"/>
                </a:solidFill>
              </a:rPr>
              <a:t>↔</a:t>
            </a:r>
            <a:r>
              <a:rPr lang="en-US" altLang="ko-KR" dirty="0">
                <a:solidFill>
                  <a:schemeClr val="tx1"/>
                </a:solidFill>
              </a:rPr>
              <a:t>PET</a:t>
            </a:r>
          </a:p>
          <a:p>
            <a:pPr>
              <a:buNone/>
            </a:pPr>
            <a:endParaRPr lang="en-US" altLang="ko-KR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00FF"/>
                </a:solidFill>
              </a:rPr>
              <a:t>Ⅱ. Geometric Simplification</a:t>
            </a:r>
          </a:p>
          <a:p>
            <a:pPr>
              <a:buNone/>
            </a:pPr>
            <a:r>
              <a:rPr lang="en-US" altLang="ko-KR" dirty="0"/>
              <a:t>       - Reduce number of unique molds</a:t>
            </a:r>
            <a:endParaRPr lang="en-US" altLang="ko-KR" dirty="0">
              <a:solidFill>
                <a:schemeClr val="tx1"/>
              </a:solidFill>
            </a:endParaRPr>
          </a:p>
          <a:p>
            <a:pPr>
              <a:buNone/>
            </a:pPr>
            <a:endParaRPr lang="en-US" altLang="ko-KR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00FF"/>
                </a:solidFill>
              </a:rPr>
              <a:t>Ⅲ. Manufacturing Process Efficiency</a:t>
            </a:r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</a:t>
            </a:r>
            <a:r>
              <a:rPr lang="en-US" altLang="ko-KR" dirty="0"/>
              <a:t>High-speed infusion</a:t>
            </a:r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</a:t>
            </a:r>
            <a:r>
              <a:rPr lang="en-US" altLang="ko-KR" dirty="0"/>
              <a:t>Automation</a:t>
            </a:r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Reuse of existing molds/platforms</a:t>
            </a: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A4069DE0-383B-6410-3471-EB3ECEFFD780}"/>
              </a:ext>
            </a:extLst>
          </p:cNvPr>
          <p:cNvSpPr/>
          <p:nvPr/>
        </p:nvSpPr>
        <p:spPr>
          <a:xfrm>
            <a:off x="3715657" y="3599543"/>
            <a:ext cx="371149" cy="3651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C5923A7-CF4A-0487-7CC8-0CD328ECFD33}"/>
              </a:ext>
            </a:extLst>
          </p:cNvPr>
          <p:cNvSpPr/>
          <p:nvPr/>
        </p:nvSpPr>
        <p:spPr>
          <a:xfrm>
            <a:off x="685800" y="1799771"/>
            <a:ext cx="7220543" cy="4180115"/>
          </a:xfrm>
          <a:prstGeom prst="rect">
            <a:avLst/>
          </a:pr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725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Bibliography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04/11/2025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055318-CDFF-2436-5D76-D30CE5CB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7705" y="6564113"/>
            <a:ext cx="3846095" cy="365125"/>
          </a:xfrm>
        </p:spPr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F89852-0382-5806-3356-FA1C77F6D2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08B34B-CE26-1470-1701-E04971C52B8A}"/>
              </a:ext>
            </a:extLst>
          </p:cNvPr>
          <p:cNvSpPr txBox="1"/>
          <p:nvPr/>
        </p:nvSpPr>
        <p:spPr>
          <a:xfrm>
            <a:off x="484417" y="1465091"/>
            <a:ext cx="11078691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MW/61.5m Wind Turbine Blade Reference Model by Brian R. Resor, Sandia National Laboratories, California, USA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 Reference Wind Turbine for Offshore System Development, J. Jonkman, S. Butterfield, W. Musial, and G. Scott, National Renewable Energy Laboratory, USA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from Optimus Shakthi 2024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Francesco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Previtali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Laurence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Alhrshy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analysis of an offshore vertical axis wind turbine composite blade experiencing an extreme wind 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load,Brian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P, Hand, university College Cork</a:t>
            </a:r>
            <a:r>
              <a:rPr lang="en-US" altLang="ko-K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09. 2020</a:t>
            </a:r>
          </a:p>
          <a:p>
            <a:pPr marL="457200" indent="-457200">
              <a:buAutoNum type="arabicPeriod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Sandia National Laboratories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 Turbine Blade Manufacturing Cost Studies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(SAND2006-1100)</a:t>
            </a:r>
          </a:p>
          <a:p>
            <a:endParaRPr lang="en-US" altLang="ko-KR" dirty="0"/>
          </a:p>
          <a:p>
            <a:br>
              <a:rPr lang="en-US" altLang="ko-KR" dirty="0"/>
            </a:br>
            <a:endParaRPr lang="en-US" altLang="ko-KR" dirty="0"/>
          </a:p>
          <a:p>
            <a:pPr marL="457200" indent="-4572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1214</TotalTime>
  <Words>1535</Words>
  <Application>Microsoft Office PowerPoint</Application>
  <PresentationFormat>와이드스크린</PresentationFormat>
  <Paragraphs>285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Aptos (Textkörper)</vt:lpstr>
      <vt:lpstr>Aptos</vt:lpstr>
      <vt:lpstr>Aptos Display</vt:lpstr>
      <vt:lpstr>Arial</vt:lpstr>
      <vt:lpstr>Calibri</vt:lpstr>
      <vt:lpstr>Calibri Light</vt:lpstr>
      <vt:lpstr>Times New Roman</vt:lpstr>
      <vt:lpstr>Office</vt:lpstr>
      <vt:lpstr>Benutzerdefiniertes Design</vt:lpstr>
      <vt:lpstr>Team 5 – Rotor Blade Structures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Bhima Masare</dc:creator>
  <cp:lastModifiedBy>Dongsuk Kim</cp:lastModifiedBy>
  <cp:revision>150</cp:revision>
  <dcterms:created xsi:type="dcterms:W3CDTF">2025-10-05T16:20:08Z</dcterms:created>
  <dcterms:modified xsi:type="dcterms:W3CDTF">2025-11-02T19:05:45Z</dcterms:modified>
</cp:coreProperties>
</file>