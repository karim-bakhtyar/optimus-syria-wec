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7" r:id="rId1"/>
    <p:sldMasterId id="2147483725" r:id="rId2"/>
  </p:sldMasterIdLst>
  <p:notesMasterIdLst>
    <p:notesMasterId r:id="rId14"/>
  </p:notesMasterIdLst>
  <p:handoutMasterIdLst>
    <p:handoutMasterId r:id="rId15"/>
  </p:handoutMasterIdLst>
  <p:sldIdLst>
    <p:sldId id="263" r:id="rId3"/>
    <p:sldId id="259" r:id="rId4"/>
    <p:sldId id="258" r:id="rId5"/>
    <p:sldId id="279" r:id="rId6"/>
    <p:sldId id="294" r:id="rId7"/>
    <p:sldId id="292" r:id="rId8"/>
    <p:sldId id="293" r:id="rId9"/>
    <p:sldId id="290" r:id="rId10"/>
    <p:sldId id="280" r:id="rId11"/>
    <p:sldId id="272" r:id="rId12"/>
    <p:sldId id="2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irst slide" id="{EBA04D78-D1FF-49F4-BDD6-03EE135E606E}">
          <p14:sldIdLst>
            <p14:sldId id="263"/>
          </p14:sldIdLst>
        </p14:section>
        <p14:section name="List of contents" id="{65043596-36B7-4360-BB5C-7A99EFAEC5C9}">
          <p14:sldIdLst>
            <p14:sldId id="259"/>
            <p14:sldId id="258"/>
            <p14:sldId id="279"/>
            <p14:sldId id="294"/>
            <p14:sldId id="292"/>
            <p14:sldId id="293"/>
            <p14:sldId id="290"/>
            <p14:sldId id="280"/>
          </p14:sldIdLst>
        </p14:section>
        <p14:section name="Next Step" id="{B26F6679-C236-4D3D-BC2F-CAE5ED400718}">
          <p14:sldIdLst>
            <p14:sldId id="272"/>
          </p14:sldIdLst>
        </p14:section>
        <p14:section name="bibliography" id="{2ECB0A3B-7D16-4F98-AD6A-5308DF7BF078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8ECEFA"/>
    <a:srgbClr val="92C6E6"/>
    <a:srgbClr val="80D2F7"/>
    <a:srgbClr val="7ED1F7"/>
    <a:srgbClr val="A1DFFD"/>
    <a:srgbClr val="C0F5FF"/>
    <a:srgbClr val="3C96FA"/>
    <a:srgbClr val="BDE5F9"/>
    <a:srgbClr val="C1E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37" autoAdjust="0"/>
    <p:restoredTop sz="94648"/>
  </p:normalViewPr>
  <p:slideViewPr>
    <p:cSldViewPr snapToGrid="0">
      <p:cViewPr varScale="1">
        <p:scale>
          <a:sx n="93" d="100"/>
          <a:sy n="93" d="100"/>
        </p:scale>
        <p:origin x="13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F984966E-98CC-6A78-1424-04B6E1F2673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153D721-EFB9-BC0E-1DC1-4F7A40F3125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753E7D-EEC7-43DF-AF05-49FE1E0C7B25}" type="datetimeFigureOut">
              <a:rPr lang="de-DE" smtClean="0"/>
              <a:t>02.11.2025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7BF23EC-0BC1-545E-D00A-3466D80002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de-DE"/>
              <a:t>Aiswarya Vijayan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716600C-B63A-8960-82FD-8DC4BB46C81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1B05C7-DCB9-437C-9E32-70E81341534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5097842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52B7C8-164C-4140-932B-122F288D33CD}" type="datetimeFigureOut">
              <a:rPr lang="en-GB" smtClean="0"/>
              <a:t>02/11/2025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GB"/>
              <a:t>Aiswarya Vijayan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3327E-A3FE-4279-B080-AD6DAF9EDC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5679127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1" name="Google Shape;9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B8759F7A-9406-7814-5373-68EE63A92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:notes">
            <a:extLst>
              <a:ext uri="{FF2B5EF4-FFF2-40B4-BE49-F238E27FC236}">
                <a16:creationId xmlns:a16="http://schemas.microsoft.com/office/drawing/2014/main" id="{5EF16B55-AC58-B35A-C83A-357E3B464C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1" name="Google Shape;91;p3:notes">
            <a:extLst>
              <a:ext uri="{FF2B5EF4-FFF2-40B4-BE49-F238E27FC236}">
                <a16:creationId xmlns:a16="http://schemas.microsoft.com/office/drawing/2014/main" id="{870B5692-B798-B47C-FFD3-D2FF05EEB8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457404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3327E-A3FE-4279-B080-AD6DAF9EDC39}" type="slidenum">
              <a:rPr lang="en-GB" smtClean="0"/>
              <a:t>9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21E2A2-CA5E-6DC4-3C73-4D98FF6316B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GB"/>
              <a:t>Aiswarya Vijayan</a:t>
            </a:r>
          </a:p>
        </p:txBody>
      </p:sp>
    </p:spTree>
    <p:extLst>
      <p:ext uri="{BB962C8B-B14F-4D97-AF65-F5344CB8AC3E}">
        <p14:creationId xmlns:p14="http://schemas.microsoft.com/office/powerpoint/2010/main" val="7438728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4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Aptos" charset="0"/>
                <a:ea typeface="等线" charset="0"/>
                <a:cs typeface="Aptos" charset="0"/>
              </a:rPr>
              <a:t>11</a:t>
            </a:fld>
            <a:endParaRPr lang="zh-CN" altLang="en-US" sz="1200"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E49688-41AC-DE61-6A14-1E1D413817D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GB"/>
              <a:t>Aiswarya Vijayan</a:t>
            </a:r>
          </a:p>
        </p:txBody>
      </p:sp>
    </p:spTree>
    <p:extLst>
      <p:ext uri="{BB962C8B-B14F-4D97-AF65-F5344CB8AC3E}">
        <p14:creationId xmlns:p14="http://schemas.microsoft.com/office/powerpoint/2010/main" val="18866199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ybib.com/tools/ieee-citation-generator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ybib.com/tools/ieee-citation-generator" TargetMode="Externa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slide 1"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7E6E28C-7B17-1432-D698-5D8867EE337B}"/>
              </a:ext>
            </a:extLst>
          </p:cNvPr>
          <p:cNvSpPr txBox="1">
            <a:spLocks/>
          </p:cNvSpPr>
          <p:nvPr/>
        </p:nvSpPr>
        <p:spPr>
          <a:xfrm>
            <a:off x="1412841" y="228114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6600" b="1" i="0" u="none" strike="noStrike" kern="1200" cap="none" spc="0" normalizeH="0" baseline="0" noProof="0">
                <a:ln/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Optimus Syria</a:t>
            </a:r>
            <a:endParaRPr kumimoji="0" lang="en-GB" sz="6600" b="1" i="0" u="none" strike="noStrike" kern="1200" cap="none" spc="0" normalizeH="0" baseline="0" noProof="0">
              <a:ln/>
              <a:solidFill>
                <a:srgbClr val="15608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9" name="Picture 8" descr="Hochschule Flensburg (Fachhochschule) – Wikipedia">
            <a:extLst>
              <a:ext uri="{FF2B5EF4-FFF2-40B4-BE49-F238E27FC236}">
                <a16:creationId xmlns:a16="http://schemas.microsoft.com/office/drawing/2014/main" id="{A98E8D30-71DB-C779-1E77-2B8D1F3246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77870" y="80932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7FC9E882-BB5D-1CC3-9AD4-1ADE555B83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5999" y="33018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EFF5A11-92DF-BC35-55CA-EECA202C55B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671"/>
          <a:stretch/>
        </p:blipFill>
        <p:spPr>
          <a:xfrm>
            <a:off x="135741" y="211147"/>
            <a:ext cx="3179298" cy="15419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D0057AC6-E958-18E0-BF43-7A806C66C90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029" y="191498"/>
            <a:ext cx="2355285" cy="21500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Free-form: Shape 13">
            <a:extLst>
              <a:ext uri="{FF2B5EF4-FFF2-40B4-BE49-F238E27FC236}">
                <a16:creationId xmlns:a16="http://schemas.microsoft.com/office/drawing/2014/main" id="{233C0D9D-B26B-1DCE-8493-626ABDD067F7}"/>
              </a:ext>
            </a:extLst>
          </p:cNvPr>
          <p:cNvSpPr/>
          <p:nvPr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Free-form: Shape 13">
            <a:extLst>
              <a:ext uri="{FF2B5EF4-FFF2-40B4-BE49-F238E27FC236}">
                <a16:creationId xmlns:a16="http://schemas.microsoft.com/office/drawing/2014/main" id="{95CC7C89-8F0E-07BF-6D89-44A0358FDFC8}"/>
              </a:ext>
            </a:extLst>
          </p:cNvPr>
          <p:cNvSpPr/>
          <p:nvPr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Free-form: Shape 13">
            <a:extLst>
              <a:ext uri="{FF2B5EF4-FFF2-40B4-BE49-F238E27FC236}">
                <a16:creationId xmlns:a16="http://schemas.microsoft.com/office/drawing/2014/main" id="{4FB94905-8FF2-701D-A980-9368DF7EB04F}"/>
              </a:ext>
            </a:extLst>
          </p:cNvPr>
          <p:cNvSpPr/>
          <p:nvPr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62B0D505-239D-592F-D28C-2537FD6A64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92399" y="4130862"/>
            <a:ext cx="3822700" cy="164669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1st Week Kick Off Presentation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Date: </a:t>
            </a:r>
            <a:r>
              <a:rPr kumimoji="0" lang="it-IT" sz="1800" b="0" i="0" u="none" strike="noStrike" kern="1200" cap="none" spc="0" normalizeH="0" baseline="0" noProof="0" err="1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</a:t>
            </a: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202X</a:t>
            </a:r>
          </a:p>
          <a:p>
            <a:pPr lvl="4"/>
            <a:endParaRPr lang="de-DE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64AB9256-03E9-9046-0C0F-540CE5905E92}"/>
              </a:ext>
            </a:extLst>
          </p:cNvPr>
          <p:cNvSpPr/>
          <p:nvPr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9BDED722-8EE5-8B7F-02CA-CF3939A785C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608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up starting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/>
              <a:t>Weekly report: Team X</a:t>
            </a:r>
            <a:endParaRPr lang="en-GB" sz="400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05E4BCC5-2CED-6F6C-22B8-AF74FB7ECFF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/>
              <a:t>Week </a:t>
            </a:r>
            <a:r>
              <a:rPr lang="it-IT" sz="2000" err="1"/>
              <a:t>number</a:t>
            </a:r>
            <a:r>
              <a:rPr lang="it-IT" sz="2000"/>
              <a:t>: X</a:t>
            </a:r>
          </a:p>
          <a:p>
            <a:r>
              <a:rPr lang="it-IT" sz="2000"/>
              <a:t>Date: DD/MM/20JJ</a:t>
            </a:r>
          </a:p>
          <a:p>
            <a:r>
              <a:rPr lang="it-IT" sz="2000"/>
              <a:t>Supervisor: X</a:t>
            </a:r>
          </a:p>
        </p:txBody>
      </p:sp>
      <p:sp>
        <p:nvSpPr>
          <p:cNvPr id="33" name="Isosceles Triangle 6">
            <a:extLst>
              <a:ext uri="{FF2B5EF4-FFF2-40B4-BE49-F238E27FC236}">
                <a16:creationId xmlns:a16="http://schemas.microsoft.com/office/drawing/2014/main" id="{8F14EFAA-BA4A-16CF-D530-1409613BCF5B}"/>
              </a:ext>
            </a:extLst>
          </p:cNvPr>
          <p:cNvSpPr/>
          <p:nvPr/>
        </p:nvSpPr>
        <p:spPr>
          <a:xfrm>
            <a:off x="1412841" y="3797919"/>
            <a:ext cx="1380683" cy="886192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Rectangle 7">
            <a:extLst>
              <a:ext uri="{FF2B5EF4-FFF2-40B4-BE49-F238E27FC236}">
                <a16:creationId xmlns:a16="http://schemas.microsoft.com/office/drawing/2014/main" id="{8CE1E011-6342-172C-03D6-BB39C24A4CCA}"/>
              </a:ext>
            </a:extLst>
          </p:cNvPr>
          <p:cNvSpPr/>
          <p:nvPr/>
        </p:nvSpPr>
        <p:spPr>
          <a:xfrm>
            <a:off x="354584" y="4714776"/>
            <a:ext cx="3512337" cy="95079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/>
              <a:t>First slide for groups</a:t>
            </a:r>
            <a:endParaRPr lang="en-GB"/>
          </a:p>
        </p:txBody>
      </p:sp>
      <p:sp>
        <p:nvSpPr>
          <p:cNvPr id="35" name="Rectangle 11">
            <a:extLst>
              <a:ext uri="{FF2B5EF4-FFF2-40B4-BE49-F238E27FC236}">
                <a16:creationId xmlns:a16="http://schemas.microsoft.com/office/drawing/2014/main" id="{6845F127-8728-66DF-03BE-17119A20BE05}"/>
              </a:ext>
            </a:extLst>
          </p:cNvPr>
          <p:cNvSpPr/>
          <p:nvPr/>
        </p:nvSpPr>
        <p:spPr>
          <a:xfrm>
            <a:off x="1860787" y="3750629"/>
            <a:ext cx="484789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C16AED5E-219C-C34B-7790-17DE2532E623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: 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64DF9F8D-C604-6899-2A9F-B743F135F77F}"/>
              </a:ext>
            </a:extLst>
          </p:cNvPr>
          <p:cNvSpPr/>
          <p:nvPr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5" name="Rectangle 7">
            <a:extLst>
              <a:ext uri="{FF2B5EF4-FFF2-40B4-BE49-F238E27FC236}">
                <a16:creationId xmlns:a16="http://schemas.microsoft.com/office/drawing/2014/main" id="{CA471AD5-5F65-3AF9-9ABB-E6F7475B2672}"/>
              </a:ext>
            </a:extLst>
          </p:cNvPr>
          <p:cNvSpPr/>
          <p:nvPr/>
        </p:nvSpPr>
        <p:spPr>
          <a:xfrm>
            <a:off x="8606553" y="40430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slide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only</a:t>
            </a:r>
            <a:r>
              <a:rPr lang="it-IT"/>
              <a:t> for </a:t>
            </a:r>
            <a:r>
              <a:rPr lang="it-IT" err="1"/>
              <a:t>explanation</a:t>
            </a:r>
            <a:r>
              <a:rPr lang="it-IT"/>
              <a:t>, </a:t>
            </a:r>
            <a:r>
              <a:rPr lang="it-IT" err="1"/>
              <a:t>dont´t</a:t>
            </a:r>
            <a:r>
              <a:rPr lang="it-IT"/>
              <a:t> use </a:t>
            </a:r>
            <a:r>
              <a:rPr lang="it-IT" err="1"/>
              <a:t>it!</a:t>
            </a:r>
            <a:endParaRPr lang="en-GB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92481298-4C0F-EA65-5B6C-A8C69906505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10/21/2025</a:t>
            </a:r>
            <a:endParaRPr lang="en-GB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FE2B40EC-630A-E9C4-E03F-6B44073220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B363FCB4-D064-121D-B878-2F160740580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6182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up start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/>
              <a:t>Weekly report: Team X</a:t>
            </a:r>
            <a:endParaRPr lang="en-GB" sz="400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05E4BCC5-2CED-6F6C-22B8-AF74FB7ECFF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/>
              <a:t>Week </a:t>
            </a:r>
            <a:r>
              <a:rPr lang="it-IT" sz="2000" err="1"/>
              <a:t>number</a:t>
            </a:r>
            <a:r>
              <a:rPr lang="it-IT" sz="2000"/>
              <a:t>: X</a:t>
            </a:r>
          </a:p>
          <a:p>
            <a:r>
              <a:rPr lang="it-IT" sz="2000"/>
              <a:t>Date: DD/MM/20JJ</a:t>
            </a:r>
          </a:p>
          <a:p>
            <a:r>
              <a:rPr lang="it-IT" sz="2000"/>
              <a:t>Supervisor: X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5588F89-BF05-8BCF-9834-AE05DA2404B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: 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83077A87-075C-C9F1-CF08-7A350F77E612}"/>
              </a:ext>
            </a:extLst>
          </p:cNvPr>
          <p:cNvSpPr/>
          <p:nvPr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B3C889B-2F55-2C2F-122E-E89ABE6A2D9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10/21/2025</a:t>
            </a:r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2877DC7-CA1E-181B-77C7-99C60829ED5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43E1ABD-9DAE-E035-8B0B-D41EFED3FC8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08538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List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/>
              <a:t>Title, </a:t>
            </a:r>
            <a:r>
              <a:rPr lang="de-DE" err="1"/>
              <a:t>example</a:t>
            </a:r>
            <a:r>
              <a:rPr lang="de-DE"/>
              <a:t>: Tasks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endParaRPr lang="de-DE"/>
          </a:p>
          <a:p>
            <a:pPr lvl="1"/>
            <a:r>
              <a:rPr lang="de-DE" err="1"/>
              <a:t>Example</a:t>
            </a:r>
            <a:r>
              <a:rPr lang="de-DE"/>
              <a:t>: </a:t>
            </a:r>
            <a:r>
              <a:rPr lang="de-DE" err="1"/>
              <a:t>drawings</a:t>
            </a:r>
            <a:r>
              <a:rPr lang="de-DE"/>
              <a:t> </a:t>
            </a:r>
            <a:r>
              <a:rPr lang="de-DE" err="1"/>
              <a:t>from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endParaRPr lang="de-DE"/>
          </a:p>
          <a:p>
            <a:pPr lvl="0"/>
            <a:r>
              <a:rPr lang="de-DE"/>
              <a:t>X</a:t>
            </a:r>
          </a:p>
          <a:p>
            <a:pPr lvl="1"/>
            <a:endParaRPr lang="de-DE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List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contents</a:t>
            </a:r>
            <a:endParaRPr lang="en-GB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8F6D1F16-A947-CEE2-C58A-50217E901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10/21/2025</a:t>
            </a:r>
            <a:endParaRPr lang="en-GB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873EF994-6CA7-B763-F215-A7D1723E2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67F2F56B-9E4F-A460-92A9-87055C42B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3A8B7922-CD64-E421-B5E5-B7BA56CBCB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Vijay </a:t>
            </a:r>
            <a:r>
              <a:rPr lang="de-DE" err="1"/>
              <a:t>Simha</a:t>
            </a:r>
            <a:r>
              <a:rPr lang="de-DE"/>
              <a:t> Reddy </a:t>
            </a:r>
            <a:r>
              <a:rPr lang="de-DE" err="1"/>
              <a:t>Bogala</a:t>
            </a:r>
            <a:r>
              <a:rPr lang="de-DE"/>
              <a:t>, Josef Remberger</a:t>
            </a:r>
          </a:p>
        </p:txBody>
      </p:sp>
    </p:spTree>
    <p:extLst>
      <p:ext uri="{BB962C8B-B14F-4D97-AF65-F5344CB8AC3E}">
        <p14:creationId xmlns:p14="http://schemas.microsoft.com/office/powerpoint/2010/main" val="296636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ibliography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err="1"/>
              <a:t>Bibliography</a:t>
            </a:r>
            <a:r>
              <a:rPr lang="de-DE"/>
              <a:t> – </a:t>
            </a:r>
            <a:r>
              <a:rPr lang="de-DE" err="1"/>
              <a:t>team</a:t>
            </a:r>
            <a:r>
              <a:rPr lang="de-DE"/>
              <a:t> </a:t>
            </a:r>
            <a:r>
              <a:rPr lang="de-DE" err="1"/>
              <a:t>name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/>
              <a:t>[1] </a:t>
            </a:r>
            <a:r>
              <a:rPr lang="en-GB"/>
              <a:t>“How HOMER Calculates Wind Turbine Power Output,” </a:t>
            </a:r>
            <a:r>
              <a:rPr lang="en-GB" i="1"/>
              <a:t>Homerenergy.com</a:t>
            </a:r>
            <a:r>
              <a:rPr lang="en-GB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[2] …..</a:t>
            </a:r>
            <a:endParaRPr lang="it-IT"/>
          </a:p>
          <a:p>
            <a:pPr lvl="0"/>
            <a:endParaRPr lang="de-DE"/>
          </a:p>
        </p:txBody>
      </p:sp>
      <p:cxnSp>
        <p:nvCxnSpPr>
          <p:cNvPr id="6" name="Straight Arrow Connector 21">
            <a:extLst>
              <a:ext uri="{FF2B5EF4-FFF2-40B4-BE49-F238E27FC236}">
                <a16:creationId xmlns:a16="http://schemas.microsoft.com/office/drawing/2014/main" id="{9B5BA113-ABD0-9B33-1E2F-5863B083FE29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4994031" y="2734408"/>
            <a:ext cx="1245576" cy="18375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22">
            <a:extLst>
              <a:ext uri="{FF2B5EF4-FFF2-40B4-BE49-F238E27FC236}">
                <a16:creationId xmlns:a16="http://schemas.microsoft.com/office/drawing/2014/main" id="{59531AAE-8AA3-6039-F69E-EDD1AF57C810}"/>
              </a:ext>
            </a:extLst>
          </p:cNvPr>
          <p:cNvSpPr/>
          <p:nvPr userDrawn="1"/>
        </p:nvSpPr>
        <p:spPr>
          <a:xfrm>
            <a:off x="4475285" y="4572000"/>
            <a:ext cx="5969977" cy="167786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/>
              <a:t>The style </a:t>
            </a:r>
            <a:r>
              <a:rPr lang="it-IT" err="1"/>
              <a:t>chosen</a:t>
            </a:r>
            <a:r>
              <a:rPr lang="it-IT"/>
              <a:t> for </a:t>
            </a:r>
            <a:r>
              <a:rPr lang="it-IT" err="1"/>
              <a:t>citation</a:t>
            </a:r>
            <a:r>
              <a:rPr lang="it-IT"/>
              <a:t> </a:t>
            </a:r>
            <a:r>
              <a:rPr lang="it-IT" err="1"/>
              <a:t>is</a:t>
            </a:r>
            <a:r>
              <a:rPr lang="it-IT"/>
              <a:t> IEEE, so </a:t>
            </a:r>
            <a:r>
              <a:rPr lang="it-IT" err="1"/>
              <a:t>if</a:t>
            </a:r>
            <a:r>
              <a:rPr lang="it-IT"/>
              <a:t> </a:t>
            </a:r>
            <a:r>
              <a:rPr lang="it-IT" err="1"/>
              <a:t>you</a:t>
            </a:r>
            <a:r>
              <a:rPr lang="it-IT"/>
              <a:t> </a:t>
            </a:r>
            <a:r>
              <a:rPr lang="it-IT" err="1"/>
              <a:t>want</a:t>
            </a:r>
            <a:r>
              <a:rPr lang="it-IT"/>
              <a:t> to create </a:t>
            </a:r>
            <a:r>
              <a:rPr lang="it-IT" err="1"/>
              <a:t>your</a:t>
            </a:r>
            <a:r>
              <a:rPr lang="it-IT"/>
              <a:t> </a:t>
            </a:r>
            <a:r>
              <a:rPr lang="it-IT" err="1"/>
              <a:t>citation</a:t>
            </a:r>
            <a:r>
              <a:rPr lang="it-IT"/>
              <a:t> follow </a:t>
            </a:r>
            <a:r>
              <a:rPr lang="it-IT" err="1"/>
              <a:t>that</a:t>
            </a:r>
            <a:r>
              <a:rPr lang="it-IT"/>
              <a:t> style. </a:t>
            </a:r>
            <a:r>
              <a:rPr lang="it-IT" err="1"/>
              <a:t>If</a:t>
            </a:r>
            <a:r>
              <a:rPr lang="it-IT"/>
              <a:t> </a:t>
            </a:r>
            <a:r>
              <a:rPr lang="it-IT" err="1"/>
              <a:t>you</a:t>
            </a:r>
            <a:r>
              <a:rPr lang="it-IT"/>
              <a:t> </a:t>
            </a:r>
            <a:r>
              <a:rPr lang="it-IT" err="1"/>
              <a:t>want</a:t>
            </a:r>
            <a:r>
              <a:rPr lang="it-IT"/>
              <a:t> to create an IEEE </a:t>
            </a:r>
            <a:r>
              <a:rPr lang="it-IT" err="1"/>
              <a:t>citation</a:t>
            </a:r>
            <a:r>
              <a:rPr lang="it-IT"/>
              <a:t> from a website, </a:t>
            </a:r>
            <a:r>
              <a:rPr lang="it-IT" err="1"/>
              <a:t>you</a:t>
            </a:r>
            <a:r>
              <a:rPr lang="it-IT"/>
              <a:t> can use some free </a:t>
            </a:r>
            <a:r>
              <a:rPr lang="it-IT" err="1"/>
              <a:t>converters</a:t>
            </a:r>
            <a:r>
              <a:rPr lang="it-IT"/>
              <a:t> </a:t>
            </a:r>
            <a:r>
              <a:rPr lang="it-IT" err="1"/>
              <a:t>available</a:t>
            </a:r>
            <a:r>
              <a:rPr lang="it-IT"/>
              <a:t> on the internet, like:</a:t>
            </a:r>
          </a:p>
          <a:p>
            <a:pPr algn="ctr"/>
            <a:r>
              <a:rPr lang="en-GB" b="1">
                <a:hlinkClick r:id="rId2"/>
              </a:rPr>
              <a:t>https://www.mybib.com/tools/ieee-citation-generator</a:t>
            </a:r>
            <a:r>
              <a:rPr lang="en-GB" b="1"/>
              <a:t> </a:t>
            </a:r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7">
            <a:extLst>
              <a:ext uri="{FF2B5EF4-FFF2-40B4-BE49-F238E27FC236}">
                <a16:creationId xmlns:a16="http://schemas.microsoft.com/office/drawing/2014/main" id="{226F6F8F-D65D-4B43-5785-E89E617F8616}"/>
              </a:ext>
            </a:extLst>
          </p:cNvPr>
          <p:cNvSpPr/>
          <p:nvPr userDrawn="1"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slide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only</a:t>
            </a:r>
            <a:r>
              <a:rPr lang="it-IT"/>
              <a:t> for </a:t>
            </a:r>
            <a:r>
              <a:rPr lang="it-IT" err="1"/>
              <a:t>explanation</a:t>
            </a:r>
            <a:r>
              <a:rPr lang="it-IT"/>
              <a:t>, </a:t>
            </a:r>
            <a:r>
              <a:rPr lang="it-IT" err="1"/>
              <a:t>dont´t</a:t>
            </a:r>
            <a:r>
              <a:rPr lang="it-IT"/>
              <a:t> use </a:t>
            </a:r>
            <a:r>
              <a:rPr lang="it-IT" err="1"/>
              <a:t>it!</a:t>
            </a:r>
            <a:endParaRPr lang="en-GB"/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376AEEC7-3E6C-8FE6-7104-34FC93794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10/21/2025</a:t>
            </a:r>
            <a:endParaRPr lang="en-GB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527D13C7-4982-3CF9-E6C0-8109C888A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44A0136B-0337-50A8-941C-6DC048DC6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A21B8924-2541-A57C-7990-899E2DC11F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279193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ibliograp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err="1"/>
              <a:t>Bibliography</a:t>
            </a:r>
            <a:r>
              <a:rPr lang="de-DE"/>
              <a:t> – </a:t>
            </a:r>
            <a:r>
              <a:rPr lang="de-DE" err="1"/>
              <a:t>team</a:t>
            </a:r>
            <a:r>
              <a:rPr lang="de-DE"/>
              <a:t> </a:t>
            </a:r>
            <a:r>
              <a:rPr lang="de-DE" err="1"/>
              <a:t>name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/>
              <a:t>[1] </a:t>
            </a:r>
            <a:r>
              <a:rPr lang="en-GB"/>
              <a:t>“How HOMER Calculates Wind Turbine Power Output,” </a:t>
            </a:r>
            <a:r>
              <a:rPr lang="en-GB" i="1"/>
              <a:t>Homerenergy.com</a:t>
            </a:r>
            <a:r>
              <a:rPr lang="en-GB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[2] …..</a:t>
            </a:r>
            <a:endParaRPr lang="it-IT"/>
          </a:p>
          <a:p>
            <a:pPr lvl="0"/>
            <a:endParaRPr lang="de-DE"/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79BDC2AF-40F8-8529-16FE-AE51A8BD4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10/21/2025</a:t>
            </a:r>
            <a:endParaRPr lang="en-GB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3A36B392-F5AC-41D8-5903-3EE036BA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7595A811-7A18-1583-7B9C-87A7CBB7F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5E735FEA-D591-2E8E-B9B4-2A6BAFE00D4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Vijay </a:t>
            </a:r>
            <a:r>
              <a:rPr lang="de-DE" err="1"/>
              <a:t>Simha</a:t>
            </a:r>
            <a:r>
              <a:rPr lang="de-DE"/>
              <a:t> Reddy </a:t>
            </a:r>
            <a:r>
              <a:rPr lang="de-DE" err="1"/>
              <a:t>Bogala</a:t>
            </a:r>
            <a:r>
              <a:rPr lang="de-DE"/>
              <a:t>, Josef Remberger</a:t>
            </a:r>
          </a:p>
        </p:txBody>
      </p:sp>
    </p:spTree>
    <p:extLst>
      <p:ext uri="{BB962C8B-B14F-4D97-AF65-F5344CB8AC3E}">
        <p14:creationId xmlns:p14="http://schemas.microsoft.com/office/powerpoint/2010/main" val="3861503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tea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458857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/>
              <a:t>12. </a:t>
            </a:r>
            <a:r>
              <a:rPr lang="de-DE" err="1"/>
              <a:t>Machine</a:t>
            </a:r>
            <a:r>
              <a:rPr lang="de-DE"/>
              <a:t> </a:t>
            </a:r>
            <a:r>
              <a:rPr lang="de-DE" err="1"/>
              <a:t>Bed</a:t>
            </a:r>
            <a:r>
              <a:rPr lang="de-DE"/>
              <a:t> &amp; Yaw System  </a:t>
            </a:r>
          </a:p>
          <a:p>
            <a:pPr lvl="1"/>
            <a:r>
              <a:rPr lang="de-DE"/>
              <a:t>13. Tower  </a:t>
            </a:r>
          </a:p>
          <a:p>
            <a:pPr lvl="1"/>
            <a:r>
              <a:rPr lang="de-DE"/>
              <a:t>14. </a:t>
            </a:r>
            <a:r>
              <a:rPr lang="de-DE" err="1"/>
              <a:t>Foundation</a:t>
            </a:r>
            <a:r>
              <a:rPr lang="de-DE"/>
              <a:t>  </a:t>
            </a:r>
          </a:p>
          <a:p>
            <a:pPr lvl="1"/>
            <a:r>
              <a:rPr lang="de-DE"/>
              <a:t>15. Storage System </a:t>
            </a:r>
          </a:p>
          <a:p>
            <a:pPr lvl="1"/>
            <a:endParaRPr lang="de-DE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Teams</a:t>
            </a:r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2466CB9-E665-36BA-2132-8519CA303C9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38200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 algn="l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/>
              <a:t>1.  </a:t>
            </a:r>
            <a:r>
              <a:rPr lang="de-DE" err="1"/>
              <a:t>Windfarm</a:t>
            </a:r>
            <a:r>
              <a:rPr lang="de-DE"/>
              <a:t> Project Development  </a:t>
            </a:r>
          </a:p>
          <a:p>
            <a:pPr lvl="1"/>
            <a:r>
              <a:rPr lang="de-DE"/>
              <a:t>2.  Loads and Dynamics  </a:t>
            </a:r>
          </a:p>
          <a:p>
            <a:pPr lvl="1"/>
            <a:r>
              <a:rPr lang="de-DE"/>
              <a:t>3.  Feedback Controller  </a:t>
            </a:r>
          </a:p>
          <a:p>
            <a:pPr lvl="1"/>
            <a:r>
              <a:rPr lang="de-DE"/>
              <a:t>4.  Lidar-</a:t>
            </a:r>
            <a:r>
              <a:rPr lang="de-DE" err="1"/>
              <a:t>Assisted</a:t>
            </a:r>
            <a:r>
              <a:rPr lang="de-DE"/>
              <a:t> Controller  </a:t>
            </a:r>
          </a:p>
          <a:p>
            <a:pPr lvl="1"/>
            <a:r>
              <a:rPr lang="de-DE"/>
              <a:t>5.  Rotor Blade </a:t>
            </a:r>
            <a:r>
              <a:rPr lang="de-DE" err="1"/>
              <a:t>Aerodynamics</a:t>
            </a:r>
            <a:r>
              <a:rPr lang="de-DE"/>
              <a:t>  </a:t>
            </a:r>
          </a:p>
          <a:p>
            <a:pPr lvl="1"/>
            <a:r>
              <a:rPr lang="de-DE"/>
              <a:t>6.  Rotor Blade </a:t>
            </a:r>
            <a:r>
              <a:rPr lang="de-DE" err="1"/>
              <a:t>Structures</a:t>
            </a:r>
            <a:r>
              <a:rPr lang="de-DE"/>
              <a:t>  </a:t>
            </a:r>
          </a:p>
          <a:p>
            <a:pPr lvl="1"/>
            <a:r>
              <a:rPr lang="de-DE"/>
              <a:t>7.  </a:t>
            </a:r>
            <a:r>
              <a:rPr lang="de-DE" err="1"/>
              <a:t>Electrical</a:t>
            </a:r>
            <a:r>
              <a:rPr lang="de-DE"/>
              <a:t> </a:t>
            </a:r>
            <a:r>
              <a:rPr lang="de-DE" err="1"/>
              <a:t>Drivetrain</a:t>
            </a:r>
            <a:r>
              <a:rPr lang="de-DE"/>
              <a:t> (EDT)  </a:t>
            </a:r>
          </a:p>
          <a:p>
            <a:pPr lvl="1"/>
            <a:r>
              <a:rPr lang="de-DE"/>
              <a:t>8.  </a:t>
            </a:r>
            <a:r>
              <a:rPr lang="de-DE" err="1"/>
              <a:t>Grid</a:t>
            </a:r>
            <a:r>
              <a:rPr lang="de-DE"/>
              <a:t> Code Development (GCD)  </a:t>
            </a:r>
          </a:p>
          <a:p>
            <a:pPr lvl="1"/>
            <a:r>
              <a:rPr lang="de-DE"/>
              <a:t>9.  Rotor Hub &amp; Pitch System  </a:t>
            </a:r>
          </a:p>
          <a:p>
            <a:pPr lvl="1"/>
            <a:r>
              <a:rPr lang="de-DE"/>
              <a:t>10. Rotor </a:t>
            </a:r>
            <a:r>
              <a:rPr lang="de-DE" err="1"/>
              <a:t>Bearing</a:t>
            </a:r>
            <a:r>
              <a:rPr lang="de-DE"/>
              <a:t> System  </a:t>
            </a:r>
          </a:p>
          <a:p>
            <a:pPr lvl="1"/>
            <a:r>
              <a:rPr lang="de-DE"/>
              <a:t>11. </a:t>
            </a:r>
            <a:r>
              <a:rPr lang="de-DE" err="1"/>
              <a:t>Gearbox</a:t>
            </a:r>
            <a:r>
              <a:rPr lang="de-DE"/>
              <a:t>, Brake, Coupling  </a:t>
            </a:r>
          </a:p>
          <a:p>
            <a:pPr lvl="1"/>
            <a:r>
              <a:rPr lang="de-DE"/>
              <a:t>						</a:t>
            </a:r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FD841E35-8D66-8DA2-B806-8C18E5D2806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10/21/2025</a:t>
            </a:r>
            <a:endParaRPr lang="en-GB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6C28938A-3748-78F8-3D01-B82DF87C9B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3A903679-8273-AC0E-AD57-A9C78EE236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7237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contents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/>
              <a:t>Title, </a:t>
            </a:r>
            <a:r>
              <a:rPr lang="de-DE" err="1"/>
              <a:t>example</a:t>
            </a:r>
            <a:r>
              <a:rPr lang="de-DE"/>
              <a:t>: Tasks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r>
              <a:rPr lang="de-DE"/>
              <a:t>   (</a:t>
            </a:r>
            <a:r>
              <a:rPr lang="de-DE" err="1"/>
              <a:t>Aptos</a:t>
            </a:r>
            <a:r>
              <a:rPr lang="de-DE"/>
              <a:t>, 22)</a:t>
            </a:r>
          </a:p>
          <a:p>
            <a:pPr lvl="1"/>
            <a:r>
              <a:rPr lang="de-DE" err="1"/>
              <a:t>Example</a:t>
            </a:r>
            <a:r>
              <a:rPr lang="de-DE"/>
              <a:t>: </a:t>
            </a:r>
            <a:r>
              <a:rPr lang="de-DE" err="1"/>
              <a:t>drawings</a:t>
            </a:r>
            <a:r>
              <a:rPr lang="de-DE"/>
              <a:t> </a:t>
            </a:r>
            <a:r>
              <a:rPr lang="de-DE" err="1"/>
              <a:t>from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r>
              <a:rPr lang="de-DE"/>
              <a:t>  (</a:t>
            </a:r>
            <a:r>
              <a:rPr lang="de-DE" err="1"/>
              <a:t>Aptos</a:t>
            </a:r>
            <a:r>
              <a:rPr lang="de-DE"/>
              <a:t>, 20)</a:t>
            </a:r>
          </a:p>
          <a:p>
            <a:pPr lvl="0"/>
            <a:r>
              <a:rPr lang="de-DE"/>
              <a:t>X</a:t>
            </a:r>
          </a:p>
          <a:p>
            <a:pPr lvl="1"/>
            <a:endParaRPr lang="de-DE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List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contents</a:t>
            </a:r>
            <a:endParaRPr lang="en-GB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6">
            <a:extLst>
              <a:ext uri="{FF2B5EF4-FFF2-40B4-BE49-F238E27FC236}">
                <a16:creationId xmlns:a16="http://schemas.microsoft.com/office/drawing/2014/main" id="{170C5CF7-7129-6BD6-B815-EAF32508EFB5}"/>
              </a:ext>
            </a:extLst>
          </p:cNvPr>
          <p:cNvSpPr/>
          <p:nvPr userDrawn="1"/>
        </p:nvSpPr>
        <p:spPr>
          <a:xfrm>
            <a:off x="5218873" y="2853022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C7BE5E88-0734-5426-D3DF-C7901A7359D4}"/>
              </a:ext>
            </a:extLst>
          </p:cNvPr>
          <p:cNvSpPr/>
          <p:nvPr userDrawn="1"/>
        </p:nvSpPr>
        <p:spPr>
          <a:xfrm>
            <a:off x="4025317" y="4094711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</a:t>
            </a:r>
            <a:r>
              <a:rPr lang="it-IT" err="1"/>
              <a:t>is</a:t>
            </a:r>
            <a:r>
              <a:rPr lang="it-IT"/>
              <a:t> an </a:t>
            </a:r>
            <a:r>
              <a:rPr lang="it-IT" err="1"/>
              <a:t>example</a:t>
            </a:r>
            <a:r>
              <a:rPr lang="it-IT"/>
              <a:t> </a:t>
            </a:r>
            <a:r>
              <a:rPr lang="it-IT" b="1"/>
              <a:t>BUT</a:t>
            </a:r>
            <a:br>
              <a:rPr lang="it-IT"/>
            </a:br>
            <a:r>
              <a:rPr lang="it-IT"/>
              <a:t>use the </a:t>
            </a:r>
            <a:r>
              <a:rPr lang="it-IT" err="1"/>
              <a:t>same</a:t>
            </a:r>
            <a:r>
              <a:rPr lang="it-IT"/>
              <a:t> style and short, concise bullet points) </a:t>
            </a:r>
            <a:br>
              <a:rPr lang="it-IT"/>
            </a:br>
            <a:r>
              <a:rPr lang="it-IT" err="1"/>
              <a:t>Only</a:t>
            </a:r>
            <a:r>
              <a:rPr lang="it-IT"/>
              <a:t> </a:t>
            </a:r>
            <a:r>
              <a:rPr lang="it-IT" err="1"/>
              <a:t>topics</a:t>
            </a:r>
            <a:r>
              <a:rPr lang="it-IT"/>
              <a:t> for the 4 min </a:t>
            </a:r>
            <a:r>
              <a:rPr lang="it-IT" err="1"/>
              <a:t>timeslot</a:t>
            </a:r>
            <a:r>
              <a:rPr lang="it-IT"/>
              <a:t>!</a:t>
            </a:r>
            <a:endParaRPr lang="en-GB"/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11100C08-BD4D-E3E4-CE88-2FD7DF2770C3}"/>
              </a:ext>
            </a:extLst>
          </p:cNvPr>
          <p:cNvSpPr/>
          <p:nvPr userDrawn="1"/>
        </p:nvSpPr>
        <p:spPr>
          <a:xfrm>
            <a:off x="5727842" y="3001184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65B86036-57A0-C8C5-C8BB-699A37ABA2A8}"/>
              </a:ext>
            </a:extLst>
          </p:cNvPr>
          <p:cNvSpPr/>
          <p:nvPr userDrawn="1"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slide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only</a:t>
            </a:r>
            <a:r>
              <a:rPr lang="it-IT"/>
              <a:t> for </a:t>
            </a:r>
            <a:r>
              <a:rPr lang="it-IT" err="1"/>
              <a:t>explanation</a:t>
            </a:r>
            <a:r>
              <a:rPr lang="it-IT"/>
              <a:t>, </a:t>
            </a:r>
            <a:r>
              <a:rPr lang="it-IT" err="1"/>
              <a:t>dont´t</a:t>
            </a:r>
            <a:r>
              <a:rPr lang="it-IT"/>
              <a:t> use </a:t>
            </a:r>
            <a:r>
              <a:rPr lang="it-IT" err="1"/>
              <a:t>it!</a:t>
            </a:r>
            <a:endParaRPr lang="en-GB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64195E91-DEC0-2198-8D7F-F5D7511FB31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10/21/2025</a:t>
            </a:r>
            <a:endParaRPr lang="en-GB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0EC107A6-E0D9-69FD-44BC-CFD5F05D7C8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8CC2EBC5-DD43-6B7E-A5D7-5CD5B0E30A5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E7DFBCC3-CC46-17B2-DF15-92940A3865D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Vijay </a:t>
            </a:r>
            <a:r>
              <a:rPr lang="de-DE" err="1"/>
              <a:t>Simha</a:t>
            </a:r>
            <a:r>
              <a:rPr lang="de-DE"/>
              <a:t> Reddy </a:t>
            </a:r>
            <a:r>
              <a:rPr lang="de-DE" err="1"/>
              <a:t>Bogala</a:t>
            </a:r>
            <a:r>
              <a:rPr lang="de-DE"/>
              <a:t>, Josef Remberger</a:t>
            </a:r>
          </a:p>
        </p:txBody>
      </p:sp>
    </p:spTree>
    <p:extLst>
      <p:ext uri="{BB962C8B-B14F-4D97-AF65-F5344CB8AC3E}">
        <p14:creationId xmlns:p14="http://schemas.microsoft.com/office/powerpoint/2010/main" val="4136817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ist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/>
              <a:t>Title, </a:t>
            </a:r>
            <a:r>
              <a:rPr lang="de-DE" err="1"/>
              <a:t>example</a:t>
            </a:r>
            <a:r>
              <a:rPr lang="de-DE"/>
              <a:t>: Tasks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endParaRPr lang="de-DE"/>
          </a:p>
          <a:p>
            <a:pPr lvl="1"/>
            <a:r>
              <a:rPr lang="de-DE" err="1"/>
              <a:t>Example</a:t>
            </a:r>
            <a:r>
              <a:rPr lang="de-DE"/>
              <a:t>: </a:t>
            </a:r>
            <a:r>
              <a:rPr lang="de-DE" err="1"/>
              <a:t>drawings</a:t>
            </a:r>
            <a:r>
              <a:rPr lang="de-DE"/>
              <a:t> </a:t>
            </a:r>
            <a:r>
              <a:rPr lang="de-DE" err="1"/>
              <a:t>from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endParaRPr lang="de-DE"/>
          </a:p>
          <a:p>
            <a:pPr lvl="0"/>
            <a:r>
              <a:rPr lang="de-DE"/>
              <a:t>X</a:t>
            </a:r>
          </a:p>
          <a:p>
            <a:pPr lvl="1"/>
            <a:endParaRPr lang="de-DE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List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contents</a:t>
            </a:r>
            <a:endParaRPr lang="en-GB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8F6D1F16-A947-CEE2-C58A-50217E901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10/21/2025</a:t>
            </a:r>
            <a:endParaRPr lang="en-GB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873EF994-6CA7-B763-F215-A7D1723E2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67F2F56B-9E4F-A460-92A9-87055C42B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3A8B7922-CD64-E421-B5E5-B7BA56CBCB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Vijay </a:t>
            </a:r>
            <a:r>
              <a:rPr lang="de-DE" err="1"/>
              <a:t>Simha</a:t>
            </a:r>
            <a:r>
              <a:rPr lang="de-DE"/>
              <a:t> Reddy </a:t>
            </a:r>
            <a:r>
              <a:rPr lang="de-DE" err="1"/>
              <a:t>Bogala</a:t>
            </a:r>
            <a:r>
              <a:rPr lang="de-DE"/>
              <a:t>, Josef Remberger</a:t>
            </a:r>
          </a:p>
        </p:txBody>
      </p:sp>
    </p:spTree>
    <p:extLst>
      <p:ext uri="{BB962C8B-B14F-4D97-AF65-F5344CB8AC3E}">
        <p14:creationId xmlns:p14="http://schemas.microsoft.com/office/powerpoint/2010/main" val="1317300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/>
              <a:t>1. Title, </a:t>
            </a:r>
            <a:r>
              <a:rPr lang="de-DE" err="1"/>
              <a:t>example</a:t>
            </a:r>
            <a:r>
              <a:rPr lang="de-DE"/>
              <a:t>: Tasks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r>
              <a:rPr lang="de-DE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err="1"/>
              <a:t>Abcd</a:t>
            </a:r>
            <a:r>
              <a:rPr lang="de-DE"/>
              <a:t> (</a:t>
            </a:r>
            <a:r>
              <a:rPr lang="de-DE" err="1"/>
              <a:t>Aptos</a:t>
            </a:r>
            <a:r>
              <a:rPr lang="de-DE"/>
              <a:t>, 22)</a:t>
            </a:r>
          </a:p>
          <a:p>
            <a:pPr marL="971550" marR="0" lvl="1" indent="-5143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/>
            </a:pPr>
            <a:r>
              <a:rPr lang="de-DE" err="1"/>
              <a:t>efgh</a:t>
            </a:r>
            <a:r>
              <a:rPr lang="de-DE"/>
              <a:t> (</a:t>
            </a:r>
            <a:r>
              <a:rPr lang="de-DE" err="1"/>
              <a:t>Aptos</a:t>
            </a:r>
            <a:r>
              <a:rPr lang="de-DE"/>
              <a:t>, 20)</a:t>
            </a:r>
          </a:p>
          <a:p>
            <a:pPr lvl="1"/>
            <a:endParaRPr lang="de-DE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6">
            <a:extLst>
              <a:ext uri="{FF2B5EF4-FFF2-40B4-BE49-F238E27FC236}">
                <a16:creationId xmlns:a16="http://schemas.microsoft.com/office/drawing/2014/main" id="{3272B118-64EE-99BB-8728-CE26B185DCFC}"/>
              </a:ext>
            </a:extLst>
          </p:cNvPr>
          <p:cNvSpPr/>
          <p:nvPr userDrawn="1"/>
        </p:nvSpPr>
        <p:spPr>
          <a:xfrm>
            <a:off x="8353959" y="1690688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CCA8528F-A469-ED70-E9CA-F25798C1A305}"/>
              </a:ext>
            </a:extLst>
          </p:cNvPr>
          <p:cNvSpPr/>
          <p:nvPr userDrawn="1"/>
        </p:nvSpPr>
        <p:spPr>
          <a:xfrm>
            <a:off x="2209800" y="3095720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/>
              <a:t>Use [1], [2], [3] for </a:t>
            </a:r>
            <a:r>
              <a:rPr lang="it-IT" err="1"/>
              <a:t>everything</a:t>
            </a:r>
            <a:r>
              <a:rPr lang="it-IT"/>
              <a:t> </a:t>
            </a:r>
            <a:r>
              <a:rPr lang="it-IT" err="1"/>
              <a:t>you</a:t>
            </a:r>
            <a:r>
              <a:rPr lang="it-IT"/>
              <a:t> </a:t>
            </a:r>
            <a:r>
              <a:rPr lang="it-IT" err="1"/>
              <a:t>have</a:t>
            </a:r>
            <a:r>
              <a:rPr lang="it-IT"/>
              <a:t> from a source (</a:t>
            </a:r>
            <a:r>
              <a:rPr lang="it-IT" err="1"/>
              <a:t>numbers</a:t>
            </a:r>
            <a:r>
              <a:rPr lang="it-IT"/>
              <a:t> </a:t>
            </a:r>
            <a:r>
              <a:rPr lang="it-IT" err="1"/>
              <a:t>should</a:t>
            </a:r>
            <a:r>
              <a:rPr lang="it-IT"/>
              <a:t> be the </a:t>
            </a:r>
            <a:r>
              <a:rPr lang="it-IT" err="1"/>
              <a:t>same</a:t>
            </a:r>
            <a:r>
              <a:rPr lang="it-IT"/>
              <a:t> like in the </a:t>
            </a:r>
            <a:r>
              <a:rPr lang="it-IT" err="1"/>
              <a:t>bibliography</a:t>
            </a:r>
            <a:r>
              <a:rPr lang="it-IT"/>
              <a:t>) (</a:t>
            </a:r>
            <a:r>
              <a:rPr lang="it-IT" err="1"/>
              <a:t>incl</a:t>
            </a:r>
            <a:r>
              <a:rPr lang="it-IT"/>
              <a:t>. pictures / </a:t>
            </a:r>
            <a:r>
              <a:rPr lang="it-IT" err="1"/>
              <a:t>if</a:t>
            </a:r>
            <a:r>
              <a:rPr lang="it-IT"/>
              <a:t> </a:t>
            </a:r>
            <a:r>
              <a:rPr lang="it-IT" err="1"/>
              <a:t>you</a:t>
            </a:r>
            <a:r>
              <a:rPr lang="it-IT"/>
              <a:t> </a:t>
            </a:r>
            <a:r>
              <a:rPr lang="it-IT" err="1"/>
              <a:t>created</a:t>
            </a:r>
            <a:r>
              <a:rPr lang="it-IT"/>
              <a:t> </a:t>
            </a:r>
            <a:r>
              <a:rPr lang="it-IT" err="1"/>
              <a:t>them</a:t>
            </a:r>
            <a:r>
              <a:rPr lang="it-IT"/>
              <a:t> by </a:t>
            </a:r>
            <a:r>
              <a:rPr lang="it-IT" err="1"/>
              <a:t>your</a:t>
            </a:r>
            <a:r>
              <a:rPr lang="it-IT"/>
              <a:t> </a:t>
            </a:r>
            <a:r>
              <a:rPr lang="it-IT" err="1"/>
              <a:t>own</a:t>
            </a:r>
            <a:r>
              <a:rPr lang="it-IT"/>
              <a:t>, </a:t>
            </a:r>
            <a:r>
              <a:rPr lang="it-IT" err="1"/>
              <a:t>declare</a:t>
            </a:r>
            <a:r>
              <a:rPr lang="it-IT"/>
              <a:t> </a:t>
            </a:r>
            <a:r>
              <a:rPr lang="it-IT" err="1"/>
              <a:t>them</a:t>
            </a:r>
            <a:r>
              <a:rPr lang="it-IT"/>
              <a:t> </a:t>
            </a:r>
            <a:r>
              <a:rPr lang="it-IT" err="1"/>
              <a:t>as</a:t>
            </a:r>
            <a:r>
              <a:rPr lang="it-IT"/>
              <a:t> a </a:t>
            </a:r>
            <a:r>
              <a:rPr lang="it-IT" err="1"/>
              <a:t>thing</a:t>
            </a:r>
            <a:r>
              <a:rPr lang="it-IT"/>
              <a:t> </a:t>
            </a:r>
            <a:r>
              <a:rPr lang="it-IT" err="1"/>
              <a:t>you’ve</a:t>
            </a:r>
            <a:r>
              <a:rPr lang="it-IT"/>
              <a:t> </a:t>
            </a:r>
            <a:r>
              <a:rPr lang="it-IT" err="1"/>
              <a:t>done</a:t>
            </a:r>
            <a:r>
              <a:rPr lang="it-IT"/>
              <a:t> )</a:t>
            </a:r>
            <a:endParaRPr lang="en-GB"/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E1F8C099-06EF-7661-9A3C-60FE5CD4C5D5}"/>
              </a:ext>
            </a:extLst>
          </p:cNvPr>
          <p:cNvSpPr/>
          <p:nvPr userDrawn="1"/>
        </p:nvSpPr>
        <p:spPr>
          <a:xfrm>
            <a:off x="8862928" y="1838850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6E31FDF0-C963-BED4-C97E-FF9F67C07D21}"/>
              </a:ext>
            </a:extLst>
          </p:cNvPr>
          <p:cNvSpPr/>
          <p:nvPr userDrawn="1"/>
        </p:nvSpPr>
        <p:spPr>
          <a:xfrm>
            <a:off x="7312803" y="3084777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</a:t>
            </a:r>
            <a:r>
              <a:rPr lang="it-IT" err="1"/>
              <a:t>is</a:t>
            </a:r>
            <a:r>
              <a:rPr lang="it-IT"/>
              <a:t> an </a:t>
            </a:r>
            <a:r>
              <a:rPr lang="it-IT" err="1"/>
              <a:t>example</a:t>
            </a:r>
            <a:r>
              <a:rPr lang="it-IT"/>
              <a:t> </a:t>
            </a:r>
            <a:r>
              <a:rPr lang="it-IT" b="1"/>
              <a:t>BUT</a:t>
            </a:r>
          </a:p>
          <a:p>
            <a:pPr algn="ctr"/>
            <a:r>
              <a:rPr lang="it-IT"/>
              <a:t>an </a:t>
            </a:r>
            <a:r>
              <a:rPr lang="it-IT" err="1"/>
              <a:t>intial</a:t>
            </a:r>
            <a:r>
              <a:rPr lang="it-IT"/>
              <a:t> slide with </a:t>
            </a:r>
            <a:r>
              <a:rPr lang="it-IT" err="1"/>
              <a:t>all</a:t>
            </a:r>
            <a:r>
              <a:rPr lang="it-IT"/>
              <a:t> the tasks </a:t>
            </a:r>
            <a:r>
              <a:rPr lang="it-IT" err="1"/>
              <a:t>completed</a:t>
            </a:r>
            <a:r>
              <a:rPr lang="it-IT"/>
              <a:t> for the week </a:t>
            </a:r>
            <a:r>
              <a:rPr lang="it-IT" err="1"/>
              <a:t>should</a:t>
            </a:r>
            <a:r>
              <a:rPr lang="it-IT"/>
              <a:t> </a:t>
            </a:r>
            <a:r>
              <a:rPr lang="it-IT" err="1"/>
              <a:t>always</a:t>
            </a:r>
            <a:r>
              <a:rPr lang="it-IT"/>
              <a:t> be </a:t>
            </a:r>
            <a:r>
              <a:rPr lang="it-IT" err="1"/>
              <a:t>included</a:t>
            </a:r>
            <a:br>
              <a:rPr lang="it-IT"/>
            </a:br>
            <a:r>
              <a:rPr lang="it-IT"/>
              <a:t>Use the </a:t>
            </a:r>
            <a:r>
              <a:rPr lang="it-IT" err="1"/>
              <a:t>same</a:t>
            </a:r>
            <a:r>
              <a:rPr lang="it-IT"/>
              <a:t> style, do </a:t>
            </a:r>
            <a:r>
              <a:rPr lang="it-IT" err="1"/>
              <a:t>not</a:t>
            </a:r>
            <a:r>
              <a:rPr lang="it-IT"/>
              <a:t> </a:t>
            </a:r>
            <a:r>
              <a:rPr lang="it-IT" err="1"/>
              <a:t>write</a:t>
            </a:r>
            <a:r>
              <a:rPr lang="it-IT"/>
              <a:t> more text </a:t>
            </a:r>
            <a:r>
              <a:rPr lang="it-IT" err="1"/>
              <a:t>than</a:t>
            </a:r>
            <a:r>
              <a:rPr lang="it-IT"/>
              <a:t> </a:t>
            </a:r>
            <a:r>
              <a:rPr lang="it-IT" err="1"/>
              <a:t>necessary</a:t>
            </a:r>
            <a:r>
              <a:rPr lang="it-IT"/>
              <a:t> (short, concise bullet points are </a:t>
            </a:r>
            <a:r>
              <a:rPr lang="it-IT" err="1"/>
              <a:t>often</a:t>
            </a:r>
            <a:r>
              <a:rPr lang="it-IT"/>
              <a:t> </a:t>
            </a:r>
            <a:r>
              <a:rPr lang="it-IT" err="1"/>
              <a:t>enough</a:t>
            </a:r>
            <a:r>
              <a:rPr lang="it-IT"/>
              <a:t>)</a:t>
            </a:r>
            <a:endParaRPr lang="en-GB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BA9FE0F-4438-A90E-178E-370DFB88F067}"/>
              </a:ext>
            </a:extLst>
          </p:cNvPr>
          <p:cNvSpPr txBox="1"/>
          <p:nvPr userDrawn="1"/>
        </p:nvSpPr>
        <p:spPr>
          <a:xfrm>
            <a:off x="812800" y="6219031"/>
            <a:ext cx="21209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/>
              <a:t>[1], [2]….</a:t>
            </a:r>
          </a:p>
        </p:txBody>
      </p:sp>
      <p:cxnSp>
        <p:nvCxnSpPr>
          <p:cNvPr id="13" name="Straight Arrow Connector 21">
            <a:extLst>
              <a:ext uri="{FF2B5EF4-FFF2-40B4-BE49-F238E27FC236}">
                <a16:creationId xmlns:a16="http://schemas.microsoft.com/office/drawing/2014/main" id="{C9F1C9AE-6377-666B-8F06-CF0B8B317160}"/>
              </a:ext>
            </a:extLst>
          </p:cNvPr>
          <p:cNvCxnSpPr>
            <a:cxnSpLocks/>
          </p:cNvCxnSpPr>
          <p:nvPr userDrawn="1"/>
        </p:nvCxnSpPr>
        <p:spPr>
          <a:xfrm flipH="1">
            <a:off x="1502229" y="4898571"/>
            <a:ext cx="1487714" cy="131838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7">
            <a:extLst>
              <a:ext uri="{FF2B5EF4-FFF2-40B4-BE49-F238E27FC236}">
                <a16:creationId xmlns:a16="http://schemas.microsoft.com/office/drawing/2014/main" id="{8C56F642-24B4-9889-6DFF-DDDACEFB7E68}"/>
              </a:ext>
            </a:extLst>
          </p:cNvPr>
          <p:cNvSpPr/>
          <p:nvPr userDrawn="1"/>
        </p:nvSpPr>
        <p:spPr>
          <a:xfrm>
            <a:off x="5256400" y="16343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slide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only</a:t>
            </a:r>
            <a:r>
              <a:rPr lang="it-IT"/>
              <a:t> for </a:t>
            </a:r>
            <a:r>
              <a:rPr lang="it-IT" err="1"/>
              <a:t>explanation</a:t>
            </a:r>
            <a:r>
              <a:rPr lang="it-IT"/>
              <a:t>, </a:t>
            </a:r>
            <a:r>
              <a:rPr lang="it-IT" err="1"/>
              <a:t>dont´t</a:t>
            </a:r>
            <a:r>
              <a:rPr lang="it-IT"/>
              <a:t> use </a:t>
            </a:r>
            <a:r>
              <a:rPr lang="it-IT" err="1"/>
              <a:t>it!</a:t>
            </a:r>
            <a:endParaRPr lang="en-GB"/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F5B6D5E1-3173-F7DB-AFEA-577613F3A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10/21/2025</a:t>
            </a:r>
            <a:endParaRPr lang="en-GB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4201E827-9609-58AA-70BC-996E2AD05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DE013F6E-0CEE-85C3-4AD1-ADEED88F5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8" name="Textplatzhalter 16">
            <a:extLst>
              <a:ext uri="{FF2B5EF4-FFF2-40B4-BE49-F238E27FC236}">
                <a16:creationId xmlns:a16="http://schemas.microsoft.com/office/drawing/2014/main" id="{4C7AB516-D061-772D-6849-99EBB44689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819884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/>
              <a:t>1. Title, </a:t>
            </a:r>
            <a:r>
              <a:rPr lang="de-DE" err="1"/>
              <a:t>example</a:t>
            </a:r>
            <a:r>
              <a:rPr lang="de-DE"/>
              <a:t>: Tasks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r>
              <a:rPr lang="de-DE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err="1"/>
              <a:t>Abcd</a:t>
            </a:r>
            <a:endParaRPr lang="de-DE"/>
          </a:p>
          <a:p>
            <a:pPr lvl="1"/>
            <a:r>
              <a:rPr lang="de-DE" err="1"/>
              <a:t>efgh</a:t>
            </a:r>
            <a:endParaRPr lang="de-DE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479D6A9B-7716-D398-EE18-2F2D6AC11B7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Vijay </a:t>
            </a:r>
            <a:r>
              <a:rPr lang="de-DE" err="1"/>
              <a:t>Simha</a:t>
            </a:r>
            <a:r>
              <a:rPr lang="de-DE"/>
              <a:t> Reddy </a:t>
            </a:r>
            <a:r>
              <a:rPr lang="de-DE" err="1"/>
              <a:t>Bogala</a:t>
            </a:r>
            <a:r>
              <a:rPr lang="de-DE"/>
              <a:t>, Josef Remberger</a:t>
            </a:r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45BE17EA-55E6-D579-4D1F-7901F944C6AA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/>
              <a:t>10/21/2025</a:t>
            </a:r>
            <a:endParaRPr lang="en-GB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810CEF70-3482-4FC0-A3A4-7FB408C94A4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4879E7A9-C563-396E-C6B6-B45497D433B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AB8CDF8-03C0-DF20-0ABC-80A78BDABFB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62453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item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/>
              <a:t>1-i. </a:t>
            </a:r>
            <a:r>
              <a:rPr lang="de-DE" err="1"/>
              <a:t>Example</a:t>
            </a:r>
            <a:r>
              <a:rPr lang="de-DE"/>
              <a:t>: </a:t>
            </a:r>
            <a:r>
              <a:rPr lang="de-DE" err="1"/>
              <a:t>Drawings</a:t>
            </a:r>
            <a:r>
              <a:rPr lang="de-DE"/>
              <a:t> </a:t>
            </a:r>
            <a:r>
              <a:rPr lang="de-DE" err="1"/>
              <a:t>from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err="1"/>
              <a:t>Abcd</a:t>
            </a:r>
            <a:r>
              <a:rPr lang="de-DE"/>
              <a:t> (</a:t>
            </a:r>
            <a:r>
              <a:rPr lang="de-DE" err="1"/>
              <a:t>Aptos</a:t>
            </a:r>
            <a:r>
              <a:rPr lang="de-DE"/>
              <a:t> 22)</a:t>
            </a:r>
          </a:p>
          <a:p>
            <a:pPr lvl="1"/>
            <a:r>
              <a:rPr lang="de-DE" err="1"/>
              <a:t>efgh</a:t>
            </a:r>
            <a:r>
              <a:rPr lang="de-DE"/>
              <a:t> (</a:t>
            </a:r>
            <a:r>
              <a:rPr lang="de-DE" err="1"/>
              <a:t>Aptos</a:t>
            </a:r>
            <a:r>
              <a:rPr lang="de-DE"/>
              <a:t> 20)</a:t>
            </a:r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6">
            <a:extLst>
              <a:ext uri="{FF2B5EF4-FFF2-40B4-BE49-F238E27FC236}">
                <a16:creationId xmlns:a16="http://schemas.microsoft.com/office/drawing/2014/main" id="{703A19AF-E449-D353-12E1-A3DAF32E3EAB}"/>
              </a:ext>
            </a:extLst>
          </p:cNvPr>
          <p:cNvSpPr/>
          <p:nvPr userDrawn="1"/>
        </p:nvSpPr>
        <p:spPr>
          <a:xfrm>
            <a:off x="5218873" y="2853022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650D751B-3D4C-8864-D7F4-6EC8348A31EE}"/>
              </a:ext>
            </a:extLst>
          </p:cNvPr>
          <p:cNvSpPr/>
          <p:nvPr userDrawn="1"/>
        </p:nvSpPr>
        <p:spPr>
          <a:xfrm>
            <a:off x="4025317" y="4094711"/>
            <a:ext cx="3933255" cy="1298198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</a:t>
            </a:r>
            <a:r>
              <a:rPr lang="it-IT" err="1"/>
              <a:t>is</a:t>
            </a:r>
            <a:r>
              <a:rPr lang="it-IT"/>
              <a:t> an </a:t>
            </a:r>
            <a:r>
              <a:rPr lang="it-IT" err="1"/>
              <a:t>example</a:t>
            </a:r>
            <a:r>
              <a:rPr lang="it-IT"/>
              <a:t> BUT </a:t>
            </a:r>
            <a:r>
              <a:rPr lang="it-IT" err="1"/>
              <a:t>if</a:t>
            </a:r>
            <a:r>
              <a:rPr lang="it-IT"/>
              <a:t> </a:t>
            </a:r>
            <a:r>
              <a:rPr lang="it-IT" err="1"/>
              <a:t>you</a:t>
            </a:r>
            <a:r>
              <a:rPr lang="it-IT"/>
              <a:t> use </a:t>
            </a:r>
            <a:r>
              <a:rPr lang="it-IT" err="1"/>
              <a:t>underpoints</a:t>
            </a:r>
            <a:r>
              <a:rPr lang="it-IT"/>
              <a:t> </a:t>
            </a:r>
            <a:r>
              <a:rPr lang="it-IT" err="1"/>
              <a:t>please</a:t>
            </a:r>
            <a:r>
              <a:rPr lang="it-IT"/>
              <a:t> with the i, ii, iii….</a:t>
            </a:r>
            <a:endParaRPr lang="en-GB"/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9BDEC9EB-F30A-F42A-26C3-F9AE08765705}"/>
              </a:ext>
            </a:extLst>
          </p:cNvPr>
          <p:cNvSpPr/>
          <p:nvPr userDrawn="1"/>
        </p:nvSpPr>
        <p:spPr>
          <a:xfrm>
            <a:off x="5727842" y="3001184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4BA2A1-6BBA-CA7A-578A-6529C5AD3CFE}"/>
              </a:ext>
            </a:extLst>
          </p:cNvPr>
          <p:cNvSpPr/>
          <p:nvPr userDrawn="1"/>
        </p:nvSpPr>
        <p:spPr>
          <a:xfrm>
            <a:off x="927758" y="2796999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slide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only</a:t>
            </a:r>
            <a:r>
              <a:rPr lang="it-IT"/>
              <a:t> for </a:t>
            </a:r>
            <a:r>
              <a:rPr lang="it-IT" err="1"/>
              <a:t>explanation</a:t>
            </a:r>
            <a:r>
              <a:rPr lang="it-IT"/>
              <a:t>, </a:t>
            </a:r>
            <a:r>
              <a:rPr lang="it-IT" err="1"/>
              <a:t>dont´t</a:t>
            </a:r>
            <a:r>
              <a:rPr lang="it-IT"/>
              <a:t> use </a:t>
            </a:r>
            <a:r>
              <a:rPr lang="it-IT" err="1"/>
              <a:t>it!</a:t>
            </a:r>
            <a:endParaRPr lang="en-GB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19E5AF50-94A3-4308-3B68-BAD76E7A7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10/21/2025</a:t>
            </a:r>
            <a:endParaRPr lang="en-GB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9798D87B-B794-AD8A-40F1-DEA4D547F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5E6253E5-E305-7986-3017-8FAC6F34D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7E202380-1BD6-7A10-C51A-497A42391B9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2382285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i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/>
              <a:t>1-i. </a:t>
            </a:r>
            <a:r>
              <a:rPr lang="de-DE" err="1"/>
              <a:t>Example</a:t>
            </a:r>
            <a:r>
              <a:rPr lang="de-DE"/>
              <a:t>: </a:t>
            </a:r>
            <a:r>
              <a:rPr lang="de-DE" err="1"/>
              <a:t>Drawings</a:t>
            </a:r>
            <a:r>
              <a:rPr lang="de-DE"/>
              <a:t> </a:t>
            </a:r>
            <a:r>
              <a:rPr lang="de-DE" err="1"/>
              <a:t>from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err="1"/>
              <a:t>Abcd</a:t>
            </a:r>
            <a:endParaRPr lang="de-DE"/>
          </a:p>
          <a:p>
            <a:pPr lvl="1"/>
            <a:r>
              <a:rPr lang="de-DE" err="1"/>
              <a:t>efgh</a:t>
            </a:r>
            <a:endParaRPr lang="de-DE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5228F91E-E7AD-B275-5A60-89428222D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10/21/2025</a:t>
            </a:r>
            <a:endParaRPr lang="en-GB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F4F81C7-2C44-8CF8-2928-655E74DC8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260D8F3F-3088-D685-66AD-D2110FD40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29BD9540-0DAC-F607-0D84-145CAF084DC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Vijay </a:t>
            </a:r>
            <a:r>
              <a:rPr lang="de-DE" err="1"/>
              <a:t>Simha</a:t>
            </a:r>
            <a:r>
              <a:rPr lang="de-DE"/>
              <a:t> Reddy </a:t>
            </a:r>
            <a:r>
              <a:rPr lang="de-DE" err="1"/>
              <a:t>Bogala</a:t>
            </a:r>
            <a:r>
              <a:rPr lang="de-DE"/>
              <a:t>, Josef Remberger</a:t>
            </a:r>
          </a:p>
        </p:txBody>
      </p:sp>
      <p:sp>
        <p:nvSpPr>
          <p:cNvPr id="4" name="Textplatzhalter 4">
            <a:extLst>
              <a:ext uri="{FF2B5EF4-FFF2-40B4-BE49-F238E27FC236}">
                <a16:creationId xmlns:a16="http://schemas.microsoft.com/office/drawing/2014/main" id="{9943038B-A8F9-48D6-0A29-94D4AA659F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84912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X. Graph</a:t>
            </a:r>
            <a:endParaRPr lang="en-GB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/>
              <a:t>(</a:t>
            </a:r>
            <a:r>
              <a:rPr lang="it-IT" sz="1100" err="1"/>
              <a:t>Description</a:t>
            </a:r>
            <a:r>
              <a:rPr lang="it-IT" sz="1100"/>
              <a:t> of the </a:t>
            </a:r>
            <a:r>
              <a:rPr lang="it-IT" sz="1100" err="1"/>
              <a:t>graph</a:t>
            </a:r>
            <a:r>
              <a:rPr lang="it-IT" sz="1100"/>
              <a:t>, </a:t>
            </a:r>
            <a:r>
              <a:rPr lang="it-IT" sz="1100" err="1"/>
              <a:t>example</a:t>
            </a:r>
            <a:r>
              <a:rPr lang="it-IT" sz="1100"/>
              <a:t>: </a:t>
            </a:r>
            <a:r>
              <a:rPr lang="it-IT" sz="1100" i="1"/>
              <a:t>power curve power over wind speed</a:t>
            </a:r>
            <a:r>
              <a:rPr lang="it-IT" sz="1100"/>
              <a:t> )</a:t>
            </a:r>
          </a:p>
          <a:p>
            <a:r>
              <a:rPr lang="it-IT" sz="1100"/>
              <a:t>(</a:t>
            </a:r>
            <a:r>
              <a:rPr lang="it-IT" sz="1100" err="1"/>
              <a:t>Citation</a:t>
            </a:r>
            <a:r>
              <a:rPr lang="it-IT" sz="1100"/>
              <a:t> of the sources, </a:t>
            </a:r>
            <a:r>
              <a:rPr lang="it-IT" sz="1100" err="1"/>
              <a:t>example</a:t>
            </a:r>
            <a:r>
              <a:rPr lang="it-IT" sz="1100"/>
              <a:t>:</a:t>
            </a:r>
            <a:r>
              <a:rPr lang="it-IT" sz="1100" b="1"/>
              <a:t> </a:t>
            </a:r>
            <a:r>
              <a:rPr lang="it-IT" sz="1100" b="0"/>
              <a:t>[1] </a:t>
            </a:r>
            <a:r>
              <a:rPr lang="it-IT" sz="1100"/>
              <a:t>)  </a:t>
            </a:r>
          </a:p>
          <a:p>
            <a:r>
              <a:rPr lang="it-IT" sz="1100"/>
              <a:t>(Last date of access, </a:t>
            </a:r>
            <a:r>
              <a:rPr lang="it-IT" sz="1100" err="1"/>
              <a:t>example</a:t>
            </a:r>
            <a:r>
              <a:rPr lang="it-IT" sz="1100"/>
              <a:t>: 21/12/2015)</a:t>
            </a:r>
            <a:endParaRPr lang="en-GB" sz="1100"/>
          </a:p>
        </p:txBody>
      </p:sp>
      <p:cxnSp>
        <p:nvCxnSpPr>
          <p:cNvPr id="8" name="Connector: Elbow 6">
            <a:extLst>
              <a:ext uri="{FF2B5EF4-FFF2-40B4-BE49-F238E27FC236}">
                <a16:creationId xmlns:a16="http://schemas.microsoft.com/office/drawing/2014/main" id="{7A01EE56-12C5-DD96-C172-C145A0ED64CB}"/>
              </a:ext>
            </a:extLst>
          </p:cNvPr>
          <p:cNvCxnSpPr>
            <a:cxnSpLocks/>
          </p:cNvCxnSpPr>
          <p:nvPr userDrawn="1"/>
        </p:nvCxnSpPr>
        <p:spPr>
          <a:xfrm rot="10800000" flipV="1">
            <a:off x="3791371" y="4238699"/>
            <a:ext cx="4563205" cy="1222134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15">
            <a:extLst>
              <a:ext uri="{FF2B5EF4-FFF2-40B4-BE49-F238E27FC236}">
                <a16:creationId xmlns:a16="http://schemas.microsoft.com/office/drawing/2014/main" id="{EE3D1715-661B-80A0-F167-264ACC369A68}"/>
              </a:ext>
            </a:extLst>
          </p:cNvPr>
          <p:cNvSpPr/>
          <p:nvPr userDrawn="1"/>
        </p:nvSpPr>
        <p:spPr>
          <a:xfrm>
            <a:off x="7796637" y="3405202"/>
            <a:ext cx="3922209" cy="2011693"/>
          </a:xfrm>
          <a:prstGeom prst="ellips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400" err="1"/>
              <a:t>Add</a:t>
            </a:r>
            <a:r>
              <a:rPr lang="it-IT" sz="1400"/>
              <a:t> a link to the </a:t>
            </a:r>
            <a:r>
              <a:rPr lang="it-IT" sz="1400" err="1"/>
              <a:t>reference</a:t>
            </a:r>
            <a:r>
              <a:rPr lang="it-IT" sz="1400"/>
              <a:t> </a:t>
            </a:r>
            <a:r>
              <a:rPr lang="it-IT" sz="1400" err="1"/>
              <a:t>number</a:t>
            </a:r>
            <a:r>
              <a:rPr lang="it-IT" sz="1400"/>
              <a:t> </a:t>
            </a:r>
            <a:r>
              <a:rPr lang="it-IT" sz="1400" err="1"/>
              <a:t>that</a:t>
            </a:r>
            <a:r>
              <a:rPr lang="it-IT" sz="1400"/>
              <a:t> </a:t>
            </a:r>
            <a:r>
              <a:rPr lang="it-IT" sz="1400" err="1"/>
              <a:t>goes</a:t>
            </a:r>
            <a:r>
              <a:rPr lang="it-IT" sz="1400"/>
              <a:t> to the last slide: highlight the </a:t>
            </a:r>
            <a:r>
              <a:rPr lang="it-IT" sz="1400" err="1"/>
              <a:t>number</a:t>
            </a:r>
            <a:r>
              <a:rPr lang="it-IT" sz="1400"/>
              <a:t>-&gt;</a:t>
            </a:r>
            <a:r>
              <a:rPr lang="it-IT" sz="1400" err="1"/>
              <a:t>right</a:t>
            </a:r>
            <a:r>
              <a:rPr lang="it-IT" sz="1400"/>
              <a:t> click-&gt;</a:t>
            </a:r>
            <a:r>
              <a:rPr lang="it-IT" sz="1400" err="1"/>
              <a:t>select</a:t>
            </a:r>
            <a:r>
              <a:rPr lang="it-IT" sz="1400"/>
              <a:t> link-&gt;place in </a:t>
            </a:r>
            <a:r>
              <a:rPr lang="it-IT" sz="1400" err="1"/>
              <a:t>this</a:t>
            </a:r>
            <a:r>
              <a:rPr lang="it-IT" sz="1400"/>
              <a:t> </a:t>
            </a:r>
            <a:r>
              <a:rPr lang="it-IT" sz="1400" err="1"/>
              <a:t>document</a:t>
            </a:r>
            <a:r>
              <a:rPr lang="it-IT" sz="1400"/>
              <a:t>-&gt;</a:t>
            </a:r>
            <a:r>
              <a:rPr lang="it-IT" sz="1400" err="1"/>
              <a:t>select</a:t>
            </a:r>
            <a:r>
              <a:rPr lang="it-IT" sz="1400"/>
              <a:t> last slide</a:t>
            </a:r>
            <a:endParaRPr lang="en-GB" sz="140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7">
            <a:extLst>
              <a:ext uri="{FF2B5EF4-FFF2-40B4-BE49-F238E27FC236}">
                <a16:creationId xmlns:a16="http://schemas.microsoft.com/office/drawing/2014/main" id="{A1188C36-D6CB-FA53-013E-FC56AD427952}"/>
              </a:ext>
            </a:extLst>
          </p:cNvPr>
          <p:cNvSpPr/>
          <p:nvPr userDrawn="1"/>
        </p:nvSpPr>
        <p:spPr>
          <a:xfrm>
            <a:off x="6495002" y="1875014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slide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only</a:t>
            </a:r>
            <a:r>
              <a:rPr lang="it-IT"/>
              <a:t> for </a:t>
            </a:r>
            <a:r>
              <a:rPr lang="it-IT" err="1"/>
              <a:t>explanation</a:t>
            </a:r>
            <a:r>
              <a:rPr lang="it-IT"/>
              <a:t>, </a:t>
            </a:r>
            <a:r>
              <a:rPr lang="it-IT" err="1"/>
              <a:t>dont´t</a:t>
            </a:r>
            <a:r>
              <a:rPr lang="it-IT"/>
              <a:t> use </a:t>
            </a:r>
            <a:r>
              <a:rPr lang="it-IT" err="1"/>
              <a:t>it!</a:t>
            </a:r>
            <a:endParaRPr lang="en-GB"/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749D4654-CB69-04EA-986A-2264B7AF4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10/21/2025</a:t>
            </a:r>
            <a:endParaRPr lang="en-GB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FC28337D-790B-E06F-0074-04AA48B92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A2A63292-0139-33E2-79E8-D1F485A4C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596BA109-7562-188F-19E6-BAFF28DC5C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9951101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X. Graph</a:t>
            </a:r>
            <a:endParaRPr lang="en-GB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/>
              <a:t>(</a:t>
            </a:r>
            <a:r>
              <a:rPr lang="it-IT" sz="1100" err="1"/>
              <a:t>Description</a:t>
            </a:r>
            <a:r>
              <a:rPr lang="it-IT" sz="1100"/>
              <a:t> of the </a:t>
            </a:r>
            <a:r>
              <a:rPr lang="it-IT" sz="1100" err="1"/>
              <a:t>graph</a:t>
            </a:r>
            <a:r>
              <a:rPr lang="it-IT" sz="1100"/>
              <a:t>, </a:t>
            </a:r>
            <a:r>
              <a:rPr lang="it-IT" sz="1100" err="1"/>
              <a:t>example</a:t>
            </a:r>
            <a:r>
              <a:rPr lang="it-IT" sz="1100"/>
              <a:t>: </a:t>
            </a:r>
            <a:r>
              <a:rPr lang="it-IT" sz="1100" i="1"/>
              <a:t>power curve power over wind speed</a:t>
            </a:r>
            <a:r>
              <a:rPr lang="it-IT" sz="1100"/>
              <a:t> )</a:t>
            </a:r>
          </a:p>
          <a:p>
            <a:r>
              <a:rPr lang="it-IT" sz="1100"/>
              <a:t>(</a:t>
            </a:r>
            <a:r>
              <a:rPr lang="it-IT" sz="1100" err="1"/>
              <a:t>Citation</a:t>
            </a:r>
            <a:r>
              <a:rPr lang="it-IT" sz="1100"/>
              <a:t> of the sources, </a:t>
            </a:r>
            <a:r>
              <a:rPr lang="it-IT" sz="1100" err="1"/>
              <a:t>example</a:t>
            </a:r>
            <a:r>
              <a:rPr lang="it-IT" sz="1100"/>
              <a:t>:</a:t>
            </a:r>
            <a:r>
              <a:rPr lang="it-IT" sz="1100" b="1"/>
              <a:t> </a:t>
            </a:r>
            <a:r>
              <a:rPr lang="it-IT" sz="1100" b="0"/>
              <a:t>[1] </a:t>
            </a:r>
            <a:r>
              <a:rPr lang="it-IT" sz="1100"/>
              <a:t>)  </a:t>
            </a:r>
          </a:p>
          <a:p>
            <a:r>
              <a:rPr lang="it-IT" sz="1100"/>
              <a:t>(Last date of access, </a:t>
            </a:r>
            <a:r>
              <a:rPr lang="it-IT" sz="1100" err="1"/>
              <a:t>example</a:t>
            </a:r>
            <a:r>
              <a:rPr lang="it-IT" sz="1100"/>
              <a:t>: 21/12/2015)</a:t>
            </a:r>
            <a:endParaRPr lang="en-GB" sz="110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8D8651D-3525-44E9-EF74-5AE1C96E2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10/21/2025</a:t>
            </a:r>
            <a:endParaRPr lang="en-GB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FC35C132-0CB8-F9A6-EC6C-F3AC1F1B3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722F58FF-5AD5-CF97-4FEE-FB1F38CD9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2" name="Textplatzhalter 16">
            <a:extLst>
              <a:ext uri="{FF2B5EF4-FFF2-40B4-BE49-F238E27FC236}">
                <a16:creationId xmlns:a16="http://schemas.microsoft.com/office/drawing/2014/main" id="{DC21B0DD-4D97-871C-E587-F10AD55D8B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Vijay </a:t>
            </a:r>
            <a:r>
              <a:rPr lang="de-DE" err="1"/>
              <a:t>Simha</a:t>
            </a:r>
            <a:r>
              <a:rPr lang="de-DE"/>
              <a:t> Reddy </a:t>
            </a:r>
            <a:r>
              <a:rPr lang="de-DE" err="1"/>
              <a:t>Bogala</a:t>
            </a:r>
            <a:r>
              <a:rPr lang="de-DE"/>
              <a:t>, Josef Remberger</a:t>
            </a:r>
          </a:p>
        </p:txBody>
      </p:sp>
    </p:spTree>
    <p:extLst>
      <p:ext uri="{BB962C8B-B14F-4D97-AF65-F5344CB8AC3E}">
        <p14:creationId xmlns:p14="http://schemas.microsoft.com/office/powerpoint/2010/main" val="34346517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bliography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err="1"/>
              <a:t>Bibliography</a:t>
            </a:r>
            <a:r>
              <a:rPr lang="de-DE"/>
              <a:t> – </a:t>
            </a:r>
            <a:r>
              <a:rPr lang="de-DE" err="1"/>
              <a:t>team</a:t>
            </a:r>
            <a:r>
              <a:rPr lang="de-DE"/>
              <a:t> </a:t>
            </a:r>
            <a:r>
              <a:rPr lang="de-DE" err="1"/>
              <a:t>name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/>
              <a:t>[1] </a:t>
            </a:r>
            <a:r>
              <a:rPr lang="en-GB"/>
              <a:t>“How HOMER Calculates Wind Turbine Power Output,” </a:t>
            </a:r>
            <a:r>
              <a:rPr lang="en-GB" i="1"/>
              <a:t>Homerenergy.com</a:t>
            </a:r>
            <a:r>
              <a:rPr lang="en-GB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[2] …..</a:t>
            </a:r>
            <a:endParaRPr lang="it-IT"/>
          </a:p>
          <a:p>
            <a:pPr lvl="0"/>
            <a:endParaRPr lang="de-DE"/>
          </a:p>
        </p:txBody>
      </p:sp>
      <p:cxnSp>
        <p:nvCxnSpPr>
          <p:cNvPr id="6" name="Straight Arrow Connector 21">
            <a:extLst>
              <a:ext uri="{FF2B5EF4-FFF2-40B4-BE49-F238E27FC236}">
                <a16:creationId xmlns:a16="http://schemas.microsoft.com/office/drawing/2014/main" id="{9B5BA113-ABD0-9B33-1E2F-5863B083FE29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4994031" y="2734408"/>
            <a:ext cx="1245576" cy="18375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22">
            <a:extLst>
              <a:ext uri="{FF2B5EF4-FFF2-40B4-BE49-F238E27FC236}">
                <a16:creationId xmlns:a16="http://schemas.microsoft.com/office/drawing/2014/main" id="{59531AAE-8AA3-6039-F69E-EDD1AF57C810}"/>
              </a:ext>
            </a:extLst>
          </p:cNvPr>
          <p:cNvSpPr/>
          <p:nvPr userDrawn="1"/>
        </p:nvSpPr>
        <p:spPr>
          <a:xfrm>
            <a:off x="4475285" y="4572000"/>
            <a:ext cx="5969977" cy="167786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/>
              <a:t>The style </a:t>
            </a:r>
            <a:r>
              <a:rPr lang="it-IT" err="1"/>
              <a:t>chosen</a:t>
            </a:r>
            <a:r>
              <a:rPr lang="it-IT"/>
              <a:t> for </a:t>
            </a:r>
            <a:r>
              <a:rPr lang="it-IT" err="1"/>
              <a:t>citation</a:t>
            </a:r>
            <a:r>
              <a:rPr lang="it-IT"/>
              <a:t> </a:t>
            </a:r>
            <a:r>
              <a:rPr lang="it-IT" err="1"/>
              <a:t>is</a:t>
            </a:r>
            <a:r>
              <a:rPr lang="it-IT"/>
              <a:t> IEEE, so </a:t>
            </a:r>
            <a:r>
              <a:rPr lang="it-IT" err="1"/>
              <a:t>if</a:t>
            </a:r>
            <a:r>
              <a:rPr lang="it-IT"/>
              <a:t> </a:t>
            </a:r>
            <a:r>
              <a:rPr lang="it-IT" err="1"/>
              <a:t>you</a:t>
            </a:r>
            <a:r>
              <a:rPr lang="it-IT"/>
              <a:t> </a:t>
            </a:r>
            <a:r>
              <a:rPr lang="it-IT" err="1"/>
              <a:t>want</a:t>
            </a:r>
            <a:r>
              <a:rPr lang="it-IT"/>
              <a:t> to create </a:t>
            </a:r>
            <a:r>
              <a:rPr lang="it-IT" err="1"/>
              <a:t>your</a:t>
            </a:r>
            <a:r>
              <a:rPr lang="it-IT"/>
              <a:t> </a:t>
            </a:r>
            <a:r>
              <a:rPr lang="it-IT" err="1"/>
              <a:t>citation</a:t>
            </a:r>
            <a:r>
              <a:rPr lang="it-IT"/>
              <a:t> follow </a:t>
            </a:r>
            <a:r>
              <a:rPr lang="it-IT" err="1"/>
              <a:t>that</a:t>
            </a:r>
            <a:r>
              <a:rPr lang="it-IT"/>
              <a:t> style. </a:t>
            </a:r>
            <a:r>
              <a:rPr lang="it-IT" err="1"/>
              <a:t>If</a:t>
            </a:r>
            <a:r>
              <a:rPr lang="it-IT"/>
              <a:t> </a:t>
            </a:r>
            <a:r>
              <a:rPr lang="it-IT" err="1"/>
              <a:t>you</a:t>
            </a:r>
            <a:r>
              <a:rPr lang="it-IT"/>
              <a:t> </a:t>
            </a:r>
            <a:r>
              <a:rPr lang="it-IT" err="1"/>
              <a:t>want</a:t>
            </a:r>
            <a:r>
              <a:rPr lang="it-IT"/>
              <a:t> to create an IEEE </a:t>
            </a:r>
            <a:r>
              <a:rPr lang="it-IT" err="1"/>
              <a:t>citation</a:t>
            </a:r>
            <a:r>
              <a:rPr lang="it-IT"/>
              <a:t> from a website, </a:t>
            </a:r>
            <a:r>
              <a:rPr lang="it-IT" err="1"/>
              <a:t>you</a:t>
            </a:r>
            <a:r>
              <a:rPr lang="it-IT"/>
              <a:t> can use some free </a:t>
            </a:r>
            <a:r>
              <a:rPr lang="it-IT" err="1"/>
              <a:t>converters</a:t>
            </a:r>
            <a:r>
              <a:rPr lang="it-IT"/>
              <a:t> </a:t>
            </a:r>
            <a:r>
              <a:rPr lang="it-IT" err="1"/>
              <a:t>available</a:t>
            </a:r>
            <a:r>
              <a:rPr lang="it-IT"/>
              <a:t> on the internet, like:</a:t>
            </a:r>
          </a:p>
          <a:p>
            <a:pPr algn="ctr"/>
            <a:r>
              <a:rPr lang="en-GB" b="1">
                <a:hlinkClick r:id="rId2"/>
              </a:rPr>
              <a:t>https://www.mybib.com/tools/ieee-citation-generator</a:t>
            </a:r>
            <a:r>
              <a:rPr lang="en-GB" b="1"/>
              <a:t> </a:t>
            </a:r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7">
            <a:extLst>
              <a:ext uri="{FF2B5EF4-FFF2-40B4-BE49-F238E27FC236}">
                <a16:creationId xmlns:a16="http://schemas.microsoft.com/office/drawing/2014/main" id="{226F6F8F-D65D-4B43-5785-E89E617F8616}"/>
              </a:ext>
            </a:extLst>
          </p:cNvPr>
          <p:cNvSpPr/>
          <p:nvPr userDrawn="1"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slide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only</a:t>
            </a:r>
            <a:r>
              <a:rPr lang="it-IT"/>
              <a:t> for </a:t>
            </a:r>
            <a:r>
              <a:rPr lang="it-IT" err="1"/>
              <a:t>explanation</a:t>
            </a:r>
            <a:r>
              <a:rPr lang="it-IT"/>
              <a:t>, </a:t>
            </a:r>
            <a:r>
              <a:rPr lang="it-IT" err="1"/>
              <a:t>dont´t</a:t>
            </a:r>
            <a:r>
              <a:rPr lang="it-IT"/>
              <a:t> use </a:t>
            </a:r>
            <a:r>
              <a:rPr lang="it-IT" err="1"/>
              <a:t>it!</a:t>
            </a:r>
            <a:endParaRPr lang="en-GB"/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376AEEC7-3E6C-8FE6-7104-34FC93794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10/21/2025</a:t>
            </a:r>
            <a:endParaRPr lang="en-GB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527D13C7-4982-3CF9-E6C0-8109C888A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44A0136B-0337-50A8-941C-6DC048DC6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A21B8924-2541-A57C-7990-899E2DC11F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4725558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bliograp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err="1"/>
              <a:t>Bibliography</a:t>
            </a:r>
            <a:r>
              <a:rPr lang="de-DE"/>
              <a:t> – </a:t>
            </a:r>
            <a:r>
              <a:rPr lang="de-DE" err="1"/>
              <a:t>team</a:t>
            </a:r>
            <a:r>
              <a:rPr lang="de-DE"/>
              <a:t> </a:t>
            </a:r>
            <a:r>
              <a:rPr lang="de-DE" err="1"/>
              <a:t>name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/>
              <a:t>[1] </a:t>
            </a:r>
            <a:r>
              <a:rPr lang="en-GB"/>
              <a:t>“How HOMER Calculates Wind Turbine Power Output,” </a:t>
            </a:r>
            <a:r>
              <a:rPr lang="en-GB" i="1"/>
              <a:t>Homerenergy.com</a:t>
            </a:r>
            <a:r>
              <a:rPr lang="en-GB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[2] …..</a:t>
            </a:r>
            <a:endParaRPr lang="it-IT"/>
          </a:p>
          <a:p>
            <a:pPr lvl="0"/>
            <a:endParaRPr lang="de-DE"/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79BDC2AF-40F8-8529-16FE-AE51A8BD4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10/21/2025</a:t>
            </a:r>
            <a:endParaRPr lang="en-GB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3A36B392-F5AC-41D8-5903-3EE036BA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7595A811-7A18-1583-7B9C-87A7CBB7F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5E735FEA-D591-2E8E-B9B4-2A6BAFE00D4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Vijay </a:t>
            </a:r>
            <a:r>
              <a:rPr lang="de-DE" err="1"/>
              <a:t>Simha</a:t>
            </a:r>
            <a:r>
              <a:rPr lang="de-DE"/>
              <a:t> Reddy </a:t>
            </a:r>
            <a:r>
              <a:rPr lang="de-DE" err="1"/>
              <a:t>Bogala</a:t>
            </a:r>
            <a:r>
              <a:rPr lang="de-DE"/>
              <a:t>, Josef Remberger</a:t>
            </a:r>
          </a:p>
        </p:txBody>
      </p:sp>
    </p:spTree>
    <p:extLst>
      <p:ext uri="{BB962C8B-B14F-4D97-AF65-F5344CB8AC3E}">
        <p14:creationId xmlns:p14="http://schemas.microsoft.com/office/powerpoint/2010/main" val="23327956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13920-E451-6E8D-B0CB-C3FB9C0F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CFBA5-B73E-6B89-322D-7C32A35A12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BF8199-371A-141A-1CD7-D551EEEFD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16092FF3-E2C2-B5C5-579F-21F140EB3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10/21/2025</a:t>
            </a:r>
            <a:endParaRPr lang="en-GB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5AD0AE9-D3B7-2239-8DBB-350367E7D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E1BD0BA0-666C-E532-C68B-11386947B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027E2607-9D4B-3DD5-A6A2-FC3CB80BCC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4011222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BF7B7-87CF-1A3E-E33E-44DC6E015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21B8D-C5F5-5242-4069-B1546B4BC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D26CD-98BD-17E2-BE55-DBB74BBC6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3B8D60-279E-D76A-9222-12B704BAEB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1AF34B-F683-41AD-C71C-8E8C66CC4C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4EB4231A-B976-E0CE-75F3-D34A6911E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10/21/2025</a:t>
            </a:r>
            <a:endParaRPr lang="en-GB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2E601F58-36C8-D2D9-A619-7EE495853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EBFB4D11-F600-12A5-E5C2-DCA390332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3" name="Textplatzhalter 16">
            <a:extLst>
              <a:ext uri="{FF2B5EF4-FFF2-40B4-BE49-F238E27FC236}">
                <a16:creationId xmlns:a16="http://schemas.microsoft.com/office/drawing/2014/main" id="{39AFE95F-2805-F887-3AF4-313C835B173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7209829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A9CAB1E-C3D8-B43B-64D5-963D13F3D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10/21/2025</a:t>
            </a:r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B3E84C0-2A5E-8136-84E3-1F57CD264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79EE80A-8782-7800-16FF-963D026BC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CFBF4831-0820-F79B-E15A-914A0E578D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13652204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D20E-7D43-D4CD-1058-46300B8EE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6584A-B476-0EA1-C12B-07C273F70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694232-1597-B186-D108-397BCF214D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63342531-5FA3-5F71-CEB1-CFCD86F17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10/21/2025</a:t>
            </a:r>
            <a:endParaRPr lang="en-GB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0D108632-F456-C23D-6809-CF44E36A5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14F6375C-67FA-9BF2-A821-A5611C211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6E6CFA6E-C964-BB71-3D6D-D966EE46607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85264688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2DC87-27CE-5A07-9629-719DC91DE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65E744-3606-1D16-E7B2-58DAFC3E88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A9C703-BF20-85AF-358A-01ADED33CF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0DAC50BC-A24B-779F-0533-7A27D611B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10/21/2025</a:t>
            </a:r>
            <a:endParaRPr lang="en-GB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2B06DBDC-0EA1-59AB-DB5D-AEE297E61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3EB43FC5-BB47-1A87-75C6-C0AFB5C72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680B36F8-3A7C-6F05-A0AB-F3F43BA0922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8560794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44B09-72C5-4D15-0E4C-46764EB8C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B470E9-1D3C-D5B3-7A54-66BD900997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C34C088-08EA-3896-8F05-16D82C511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10/21/2025</a:t>
            </a:r>
            <a:endParaRPr lang="en-GB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8EA7E74-7B1F-8648-209E-BFE07FF1E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2B97D1D-1741-1791-CBA3-FA5CA67CA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6A2FA29E-F5F4-39E0-E0C6-CACC20E04F1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15715030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68A110-A33F-744D-89CB-FFCF49E08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B6FACB-31E5-361F-D71D-18FCBA550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5945ED5-EBD1-3567-F959-B92E831E5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10/21/2025</a:t>
            </a:r>
            <a:endParaRPr lang="en-GB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BB6A4D0-1BA6-C02F-BE18-391B96E98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412E4BF-484F-C87E-8228-534B62A6B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A24C13F3-9C79-1E9F-ED48-61D2AD9586E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82793277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矩形"/>
          <p:cNvSpPr>
            <a:spLocks/>
          </p:cNvSpPr>
          <p:nvPr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 w="19050" cap="flat" cmpd="sng">
            <a:solidFill>
              <a:srgbClr val="FFFFFF"/>
            </a:solidFill>
            <a:prstDash val="solid"/>
            <a:round/>
          </a:ln>
        </p:spPr>
      </p:sp>
      <p:sp>
        <p:nvSpPr>
          <p:cNvPr id="148" name="曲线"/>
          <p:cNvSpPr>
            <a:spLocks/>
          </p:cNvSpPr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cxnLst/>
            <a:rect l="T1" t="T2" r="T3" b="T4"/>
            <a:pathLst>
              <a:path w="21600" h="21600">
                <a:moveTo>
                  <a:pt x="35" y="5690"/>
                </a:moveTo>
                <a:cubicBezTo>
                  <a:pt x="1542" y="5786"/>
                  <a:pt x="2912" y="-6663"/>
                  <a:pt x="5378" y="4969"/>
                </a:cubicBezTo>
                <a:cubicBezTo>
                  <a:pt x="8165" y="16409"/>
                  <a:pt x="9886" y="955"/>
                  <a:pt x="11677" y="1897"/>
                </a:cubicBezTo>
                <a:cubicBezTo>
                  <a:pt x="13469" y="2838"/>
                  <a:pt x="14737" y="9220"/>
                  <a:pt x="16128" y="10617"/>
                </a:cubicBezTo>
                <a:cubicBezTo>
                  <a:pt x="17519" y="12013"/>
                  <a:pt x="18571" y="12576"/>
                  <a:pt x="19479" y="11755"/>
                </a:cubicBezTo>
                <a:cubicBezTo>
                  <a:pt x="20386" y="10934"/>
                  <a:pt x="21317" y="3979"/>
                  <a:pt x="21572" y="5690"/>
                </a:cubicBezTo>
                <a:cubicBezTo>
                  <a:pt x="21565" y="10641"/>
                  <a:pt x="21605" y="16648"/>
                  <a:pt x="21599" y="21600"/>
                </a:cubicBezTo>
                <a:lnTo>
                  <a:pt x="16482" y="21455"/>
                </a:lnTo>
                <a:lnTo>
                  <a:pt x="10994" y="20831"/>
                </a:lnTo>
                <a:lnTo>
                  <a:pt x="6321" y="21321"/>
                </a:lnTo>
                <a:lnTo>
                  <a:pt x="0" y="20878"/>
                </a:lnTo>
                <a:cubicBezTo>
                  <a:pt x="6" y="16216"/>
                  <a:pt x="8" y="10641"/>
                  <a:pt x="35" y="5690"/>
                </a:cubicBezTo>
                <a:close/>
              </a:path>
            </a:pathLst>
          </a:custGeom>
          <a:gradFill rotWithShape="1">
            <a:gsLst>
              <a:gs pos="0">
                <a:srgbClr val="0F9ED5">
                  <a:lumMod val="20000"/>
                  <a:lumOff val="80000"/>
                  <a:alpha val="100000"/>
                </a:srgbClr>
              </a:gs>
              <a:gs pos="50000">
                <a:srgbClr val="FFFFFF">
                  <a:alpha val="100000"/>
                </a:srgbClr>
              </a:gs>
              <a:gs pos="100000">
                <a:srgbClr val="0F9ED5">
                  <a:lumMod val="20000"/>
                  <a:lumOff val="80000"/>
                  <a:alpha val="100000"/>
                </a:srgbClr>
              </a:gs>
            </a:gsLst>
            <a:lin ang="0" scaled="1"/>
          </a:gradFill>
          <a:ln w="15875" cap="flat" cmpd="sng">
            <a:solidFill>
              <a:srgbClr val="156082">
                <a:alpha val="0"/>
              </a:srgbClr>
            </a:solidFill>
            <a:prstDash val="solid"/>
            <a:round/>
          </a:ln>
          <a:effectLst>
            <a:glow>
              <a:srgbClr val="FFFF00"/>
            </a:glow>
            <a:outerShdw algn="ctr" rotWithShape="0">
              <a:srgbClr val="000000">
                <a:alpha val="99607"/>
              </a:srgbClr>
            </a:outerShdw>
          </a:effectLst>
          <a:scene3d>
            <a:camera prst="legacyObliqueFront"/>
            <a:lightRig rig="legacyFlat4" dir="t"/>
          </a:scene3d>
          <a:sp3d prstMaterial="legacyMatte">
            <a:bevelT w="13500" h="13500" prst="angle"/>
            <a:bevelB w="13500" h="13500" prst="angle"/>
          </a:sp3d>
        </p:spPr>
      </p:sp>
      <p:sp>
        <p:nvSpPr>
          <p:cNvPr id="147" name="曲线"/>
          <p:cNvSpPr>
            <a:spLocks/>
          </p:cNvSpPr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cxnLst/>
            <a:rect l="T1" t="T2" r="T3" b="T4"/>
            <a:pathLst>
              <a:path w="21600" h="21600">
                <a:moveTo>
                  <a:pt x="20" y="5943"/>
                </a:moveTo>
                <a:cubicBezTo>
                  <a:pt x="1529" y="6043"/>
                  <a:pt x="2217" y="-6829"/>
                  <a:pt x="4688" y="5198"/>
                </a:cubicBezTo>
                <a:cubicBezTo>
                  <a:pt x="7480" y="17027"/>
                  <a:pt x="9070" y="10367"/>
                  <a:pt x="10158" y="6391"/>
                </a:cubicBezTo>
                <a:cubicBezTo>
                  <a:pt x="13044" y="-3797"/>
                  <a:pt x="14166" y="-119"/>
                  <a:pt x="15989" y="5794"/>
                </a:cubicBezTo>
                <a:cubicBezTo>
                  <a:pt x="19763" y="16580"/>
                  <a:pt x="19729" y="5894"/>
                  <a:pt x="21600" y="5943"/>
                </a:cubicBezTo>
                <a:cubicBezTo>
                  <a:pt x="21593" y="11063"/>
                  <a:pt x="21586" y="16182"/>
                  <a:pt x="21579" y="21301"/>
                </a:cubicBezTo>
                <a:lnTo>
                  <a:pt x="16530" y="21152"/>
                </a:lnTo>
                <a:lnTo>
                  <a:pt x="11000" y="21600"/>
                </a:lnTo>
                <a:lnTo>
                  <a:pt x="6271" y="21450"/>
                </a:lnTo>
                <a:lnTo>
                  <a:pt x="0" y="20556"/>
                </a:lnTo>
                <a:cubicBezTo>
                  <a:pt x="6" y="15735"/>
                  <a:pt x="-6" y="11063"/>
                  <a:pt x="20" y="5943"/>
                </a:cubicBezTo>
                <a:close/>
              </a:path>
            </a:pathLst>
          </a:custGeom>
          <a:gradFill rotWithShape="1">
            <a:gsLst>
              <a:gs pos="0">
                <a:srgbClr val="156082">
                  <a:lumMod val="5000"/>
                  <a:lumOff val="95000"/>
                  <a:alpha val="100000"/>
                </a:srgbClr>
              </a:gs>
              <a:gs pos="74000">
                <a:srgbClr val="156082">
                  <a:lumMod val="45000"/>
                  <a:lumOff val="55000"/>
                  <a:alpha val="100000"/>
                </a:srgbClr>
              </a:gs>
              <a:gs pos="83000">
                <a:srgbClr val="156082">
                  <a:lumMod val="45000"/>
                  <a:lumOff val="55000"/>
                  <a:alpha val="100000"/>
                </a:srgbClr>
              </a:gs>
              <a:gs pos="100000">
                <a:srgbClr val="156082">
                  <a:lumMod val="30000"/>
                  <a:lumOff val="70000"/>
                  <a:alpha val="100000"/>
                </a:srgbClr>
              </a:gs>
            </a:gsLst>
            <a:lin ang="5400000" scaled="1"/>
          </a:gradFill>
          <a:ln w="19050" cap="flat" cmpd="sng">
            <a:noFill/>
            <a:prstDash val="solid"/>
            <a:round/>
          </a:ln>
          <a:effectLst>
            <a:glow>
              <a:srgbClr val="FFFF00"/>
            </a:glow>
            <a:outerShdw algn="ctr" rotWithShape="0">
              <a:srgbClr val="000000">
                <a:alpha val="99607"/>
              </a:srgbClr>
            </a:outerShdw>
          </a:effectLst>
          <a:scene3d>
            <a:camera prst="legacyObliqueFront"/>
            <a:lightRig rig="legacyFlat4" dir="t"/>
          </a:scene3d>
          <a:sp3d prstMaterial="legacyMatte">
            <a:bevelT w="13500" h="13500" prst="angle"/>
            <a:bevelB w="13500" h="13500" prst="angle"/>
          </a:sp3d>
        </p:spPr>
      </p:sp>
      <p:sp>
        <p:nvSpPr>
          <p:cNvPr id="146" name="曲线"/>
          <p:cNvSpPr>
            <a:spLocks/>
          </p:cNvSpPr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cxnLst/>
            <a:rect l="T1" t="T2" r="T3" b="T4"/>
            <a:pathLst>
              <a:path w="21600" h="21600">
                <a:moveTo>
                  <a:pt x="19" y="8758"/>
                </a:moveTo>
                <a:cubicBezTo>
                  <a:pt x="1526" y="8840"/>
                  <a:pt x="2212" y="-1717"/>
                  <a:pt x="4678" y="8147"/>
                </a:cubicBezTo>
                <a:cubicBezTo>
                  <a:pt x="7464" y="17849"/>
                  <a:pt x="7149" y="17331"/>
                  <a:pt x="8411" y="16166"/>
                </a:cubicBezTo>
                <a:cubicBezTo>
                  <a:pt x="9673" y="15002"/>
                  <a:pt x="10993" y="3240"/>
                  <a:pt x="12248" y="1159"/>
                </a:cubicBezTo>
                <a:cubicBezTo>
                  <a:pt x="13502" y="-920"/>
                  <a:pt x="14698" y="-273"/>
                  <a:pt x="15939" y="3681"/>
                </a:cubicBezTo>
                <a:cubicBezTo>
                  <a:pt x="17387" y="8525"/>
                  <a:pt x="18200" y="14960"/>
                  <a:pt x="19133" y="14981"/>
                </a:cubicBezTo>
                <a:cubicBezTo>
                  <a:pt x="20066" y="15001"/>
                  <a:pt x="21194" y="3480"/>
                  <a:pt x="21599" y="5108"/>
                </a:cubicBezTo>
                <a:cubicBezTo>
                  <a:pt x="21593" y="9306"/>
                  <a:pt x="21540" y="17156"/>
                  <a:pt x="21533" y="21355"/>
                </a:cubicBezTo>
                <a:lnTo>
                  <a:pt x="16494" y="21233"/>
                </a:lnTo>
                <a:lnTo>
                  <a:pt x="10976" y="21600"/>
                </a:lnTo>
                <a:lnTo>
                  <a:pt x="6258" y="21477"/>
                </a:lnTo>
                <a:lnTo>
                  <a:pt x="0" y="20743"/>
                </a:lnTo>
                <a:cubicBezTo>
                  <a:pt x="6" y="16789"/>
                  <a:pt x="-6" y="12957"/>
                  <a:pt x="19" y="8758"/>
                </a:cubicBezTo>
                <a:close/>
              </a:path>
            </a:pathLst>
          </a:custGeom>
          <a:gradFill rotWithShape="1">
            <a:gsLst>
              <a:gs pos="0">
                <a:srgbClr val="EFFCFF">
                  <a:alpha val="100000"/>
                </a:srgbClr>
              </a:gs>
              <a:gs pos="50000">
                <a:srgbClr val="0F9ED5">
                  <a:lumMod val="40000"/>
                  <a:lumOff val="60000"/>
                  <a:alpha val="100000"/>
                </a:srgbClr>
              </a:gs>
              <a:gs pos="100000">
                <a:srgbClr val="FFFFFF">
                  <a:alpha val="100000"/>
                </a:srgbClr>
              </a:gs>
            </a:gsLst>
            <a:lin ang="5400000" scaled="1"/>
          </a:gradFill>
          <a:ln w="19050" cap="flat" cmpd="sng">
            <a:noFill/>
            <a:prstDash val="solid"/>
            <a:round/>
          </a:ln>
          <a:effectLst>
            <a:glow>
              <a:srgbClr val="FFFF00"/>
            </a:glow>
            <a:outerShdw algn="ctr" rotWithShape="0">
              <a:srgbClr val="000000">
                <a:alpha val="99607"/>
              </a:srgbClr>
            </a:outerShdw>
          </a:effectLst>
          <a:scene3d>
            <a:camera prst="legacyObliqueFront"/>
            <a:lightRig rig="legacyFlat4" dir="t"/>
          </a:scene3d>
          <a:sp3d prstMaterial="legacyMatte">
            <a:bevelT w="13500" h="13500" prst="angle"/>
            <a:bevelB w="13500" h="13500" prst="angle"/>
          </a:sp3d>
        </p:spPr>
      </p:sp>
      <p:sp>
        <p:nvSpPr>
          <p:cNvPr id="145" name="曲线"/>
          <p:cNvSpPr>
            <a:spLocks/>
          </p:cNvSpPr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cxnLst/>
            <a:rect l="T1" t="T2" r="T3" b="T4"/>
            <a:pathLst>
              <a:path w="21600" h="21600">
                <a:moveTo>
                  <a:pt x="35" y="5690"/>
                </a:moveTo>
                <a:cubicBezTo>
                  <a:pt x="1542" y="5786"/>
                  <a:pt x="2912" y="-6663"/>
                  <a:pt x="5378" y="4969"/>
                </a:cubicBezTo>
                <a:cubicBezTo>
                  <a:pt x="8165" y="16409"/>
                  <a:pt x="9886" y="955"/>
                  <a:pt x="11677" y="1897"/>
                </a:cubicBezTo>
                <a:cubicBezTo>
                  <a:pt x="13469" y="2838"/>
                  <a:pt x="14737" y="9220"/>
                  <a:pt x="16128" y="10617"/>
                </a:cubicBezTo>
                <a:cubicBezTo>
                  <a:pt x="17519" y="12013"/>
                  <a:pt x="18571" y="12576"/>
                  <a:pt x="19479" y="11755"/>
                </a:cubicBezTo>
                <a:cubicBezTo>
                  <a:pt x="20386" y="10934"/>
                  <a:pt x="21317" y="3979"/>
                  <a:pt x="21572" y="5690"/>
                </a:cubicBezTo>
                <a:cubicBezTo>
                  <a:pt x="21565" y="10641"/>
                  <a:pt x="21605" y="16648"/>
                  <a:pt x="21599" y="21600"/>
                </a:cubicBezTo>
                <a:lnTo>
                  <a:pt x="16482" y="21455"/>
                </a:lnTo>
                <a:lnTo>
                  <a:pt x="10994" y="20831"/>
                </a:lnTo>
                <a:lnTo>
                  <a:pt x="6321" y="21321"/>
                </a:lnTo>
                <a:lnTo>
                  <a:pt x="0" y="20878"/>
                </a:lnTo>
                <a:cubicBezTo>
                  <a:pt x="6" y="16216"/>
                  <a:pt x="8" y="10641"/>
                  <a:pt x="35" y="5690"/>
                </a:cubicBezTo>
                <a:close/>
              </a:path>
            </a:pathLst>
          </a:custGeom>
          <a:gradFill rotWithShape="1">
            <a:gsLst>
              <a:gs pos="0">
                <a:srgbClr val="0F9ED5">
                  <a:lumMod val="20000"/>
                  <a:lumOff val="80000"/>
                  <a:alpha val="100000"/>
                </a:srgbClr>
              </a:gs>
              <a:gs pos="50000">
                <a:srgbClr val="FFFFFF">
                  <a:alpha val="100000"/>
                </a:srgbClr>
              </a:gs>
              <a:gs pos="100000">
                <a:srgbClr val="0F9ED5">
                  <a:lumMod val="20000"/>
                  <a:lumOff val="80000"/>
                  <a:alpha val="100000"/>
                </a:srgbClr>
              </a:gs>
            </a:gsLst>
            <a:lin ang="0" scaled="1"/>
          </a:gradFill>
          <a:ln w="15875" cap="flat" cmpd="sng">
            <a:solidFill>
              <a:srgbClr val="156082">
                <a:alpha val="0"/>
              </a:srgbClr>
            </a:solidFill>
            <a:prstDash val="solid"/>
            <a:round/>
          </a:ln>
          <a:effectLst>
            <a:glow>
              <a:srgbClr val="FFFF00"/>
            </a:glow>
            <a:outerShdw algn="ctr" rotWithShape="0">
              <a:srgbClr val="000000">
                <a:alpha val="99607"/>
              </a:srgbClr>
            </a:outerShdw>
          </a:effectLst>
          <a:scene3d>
            <a:camera prst="legacyObliqueFront"/>
            <a:lightRig rig="legacyFlat4" dir="t"/>
          </a:scene3d>
          <a:sp3d prstMaterial="legacyMatte">
            <a:bevelT w="13500" h="13500" prst="angle"/>
            <a:bevelB w="13500" h="13500" prst="angle"/>
          </a:sp3d>
        </p:spPr>
      </p:sp>
      <p:sp>
        <p:nvSpPr>
          <p:cNvPr id="144" name="曲线"/>
          <p:cNvSpPr>
            <a:spLocks/>
          </p:cNvSpPr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cxnLst/>
            <a:rect l="T1" t="T2" r="T3" b="T4"/>
            <a:pathLst>
              <a:path w="21600" h="21600">
                <a:moveTo>
                  <a:pt x="20" y="5943"/>
                </a:moveTo>
                <a:cubicBezTo>
                  <a:pt x="1529" y="6043"/>
                  <a:pt x="2217" y="-6829"/>
                  <a:pt x="4688" y="5198"/>
                </a:cubicBezTo>
                <a:cubicBezTo>
                  <a:pt x="7480" y="17027"/>
                  <a:pt x="9070" y="10367"/>
                  <a:pt x="10158" y="6391"/>
                </a:cubicBezTo>
                <a:cubicBezTo>
                  <a:pt x="13044" y="-3797"/>
                  <a:pt x="14166" y="-119"/>
                  <a:pt x="15989" y="5794"/>
                </a:cubicBezTo>
                <a:cubicBezTo>
                  <a:pt x="19763" y="16580"/>
                  <a:pt x="19729" y="5894"/>
                  <a:pt x="21600" y="5943"/>
                </a:cubicBezTo>
                <a:cubicBezTo>
                  <a:pt x="21593" y="11063"/>
                  <a:pt x="21586" y="16182"/>
                  <a:pt x="21579" y="21301"/>
                </a:cubicBezTo>
                <a:lnTo>
                  <a:pt x="16530" y="21152"/>
                </a:lnTo>
                <a:lnTo>
                  <a:pt x="11000" y="21600"/>
                </a:lnTo>
                <a:lnTo>
                  <a:pt x="6271" y="21450"/>
                </a:lnTo>
                <a:lnTo>
                  <a:pt x="0" y="20556"/>
                </a:lnTo>
                <a:cubicBezTo>
                  <a:pt x="6" y="15735"/>
                  <a:pt x="-6" y="11063"/>
                  <a:pt x="20" y="5943"/>
                </a:cubicBezTo>
                <a:close/>
              </a:path>
            </a:pathLst>
          </a:custGeom>
          <a:gradFill rotWithShape="1">
            <a:gsLst>
              <a:gs pos="0">
                <a:srgbClr val="156082">
                  <a:lumMod val="5000"/>
                  <a:lumOff val="95000"/>
                  <a:alpha val="100000"/>
                </a:srgbClr>
              </a:gs>
              <a:gs pos="74000">
                <a:srgbClr val="156082">
                  <a:lumMod val="45000"/>
                  <a:lumOff val="55000"/>
                  <a:alpha val="100000"/>
                </a:srgbClr>
              </a:gs>
              <a:gs pos="83000">
                <a:srgbClr val="156082">
                  <a:lumMod val="45000"/>
                  <a:lumOff val="55000"/>
                  <a:alpha val="100000"/>
                </a:srgbClr>
              </a:gs>
              <a:gs pos="100000">
                <a:srgbClr val="156082">
                  <a:lumMod val="30000"/>
                  <a:lumOff val="70000"/>
                  <a:alpha val="100000"/>
                </a:srgbClr>
              </a:gs>
            </a:gsLst>
            <a:lin ang="5400000" scaled="1"/>
          </a:gradFill>
          <a:ln w="19050" cap="flat" cmpd="sng">
            <a:noFill/>
            <a:prstDash val="solid"/>
            <a:round/>
          </a:ln>
          <a:effectLst>
            <a:glow>
              <a:srgbClr val="FFFF00"/>
            </a:glow>
            <a:outerShdw algn="ctr" rotWithShape="0">
              <a:srgbClr val="000000">
                <a:alpha val="99607"/>
              </a:srgbClr>
            </a:outerShdw>
          </a:effectLst>
          <a:scene3d>
            <a:camera prst="legacyObliqueFront"/>
            <a:lightRig rig="legacyFlat4" dir="t"/>
          </a:scene3d>
          <a:sp3d prstMaterial="legacyMatte">
            <a:bevelT w="13500" h="13500" prst="angle"/>
            <a:bevelB w="13500" h="13500" prst="angle"/>
          </a:sp3d>
        </p:spPr>
      </p:sp>
      <p:sp>
        <p:nvSpPr>
          <p:cNvPr id="143" name="曲线"/>
          <p:cNvSpPr>
            <a:spLocks/>
          </p:cNvSpPr>
          <p:nvPr/>
        </p:nvSpPr>
        <p:spPr>
          <a:xfrm rot="10800000">
            <a:off x="-26376" y="-254312"/>
            <a:ext cx="12218376" cy="965187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cxnLst/>
            <a:rect l="T1" t="T2" r="T3" b="T4"/>
            <a:pathLst>
              <a:path w="21600" h="21600">
                <a:moveTo>
                  <a:pt x="19" y="8758"/>
                </a:moveTo>
                <a:cubicBezTo>
                  <a:pt x="1526" y="8840"/>
                  <a:pt x="2212" y="-1717"/>
                  <a:pt x="4678" y="8147"/>
                </a:cubicBezTo>
                <a:cubicBezTo>
                  <a:pt x="7464" y="17849"/>
                  <a:pt x="7149" y="17331"/>
                  <a:pt x="8411" y="16166"/>
                </a:cubicBezTo>
                <a:cubicBezTo>
                  <a:pt x="9673" y="15002"/>
                  <a:pt x="10993" y="3240"/>
                  <a:pt x="12248" y="1159"/>
                </a:cubicBezTo>
                <a:cubicBezTo>
                  <a:pt x="13502" y="-920"/>
                  <a:pt x="14698" y="-273"/>
                  <a:pt x="15939" y="3681"/>
                </a:cubicBezTo>
                <a:cubicBezTo>
                  <a:pt x="17387" y="8525"/>
                  <a:pt x="18200" y="14960"/>
                  <a:pt x="19133" y="14981"/>
                </a:cubicBezTo>
                <a:cubicBezTo>
                  <a:pt x="20066" y="15001"/>
                  <a:pt x="21194" y="3480"/>
                  <a:pt x="21599" y="5108"/>
                </a:cubicBezTo>
                <a:cubicBezTo>
                  <a:pt x="21593" y="9306"/>
                  <a:pt x="21540" y="17156"/>
                  <a:pt x="21533" y="21355"/>
                </a:cubicBezTo>
                <a:lnTo>
                  <a:pt x="16494" y="21233"/>
                </a:lnTo>
                <a:lnTo>
                  <a:pt x="10976" y="21600"/>
                </a:lnTo>
                <a:lnTo>
                  <a:pt x="6258" y="21477"/>
                </a:lnTo>
                <a:lnTo>
                  <a:pt x="0" y="20743"/>
                </a:lnTo>
                <a:cubicBezTo>
                  <a:pt x="6" y="16789"/>
                  <a:pt x="-6" y="12957"/>
                  <a:pt x="19" y="8758"/>
                </a:cubicBezTo>
                <a:close/>
              </a:path>
            </a:pathLst>
          </a:custGeom>
          <a:gradFill rotWithShape="1">
            <a:gsLst>
              <a:gs pos="0">
                <a:srgbClr val="EFFCFF">
                  <a:alpha val="100000"/>
                </a:srgbClr>
              </a:gs>
              <a:gs pos="50000">
                <a:srgbClr val="0F9ED5">
                  <a:lumMod val="40000"/>
                  <a:lumOff val="60000"/>
                  <a:alpha val="100000"/>
                </a:srgbClr>
              </a:gs>
              <a:gs pos="100000">
                <a:srgbClr val="FFFFFF">
                  <a:alpha val="100000"/>
                </a:srgbClr>
              </a:gs>
            </a:gsLst>
            <a:lin ang="5400000" scaled="1"/>
          </a:gradFill>
          <a:ln w="19050" cap="flat" cmpd="sng">
            <a:noFill/>
            <a:prstDash val="solid"/>
            <a:round/>
          </a:ln>
          <a:effectLst>
            <a:glow>
              <a:srgbClr val="FFFF00"/>
            </a:glow>
            <a:outerShdw algn="ctr" rotWithShape="0">
              <a:srgbClr val="000000">
                <a:alpha val="99607"/>
              </a:srgbClr>
            </a:outerShdw>
          </a:effectLst>
          <a:scene3d>
            <a:camera prst="legacyObliqueFront"/>
            <a:lightRig rig="legacyFlat4" dir="t"/>
          </a:scene3d>
          <a:sp3d prstMaterial="legacyMatte">
            <a:bevelT w="13500" h="13500" prst="angle"/>
            <a:bevelB w="13500" h="13500" prst="angle"/>
          </a:sp3d>
        </p:spPr>
      </p:sp>
      <p:sp>
        <p:nvSpPr>
          <p:cNvPr id="135" name="文本框"/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en-US" altLang="zh-CN" sz="4400"/>
              <a:t>1. Title, example: Tasks of the week   </a:t>
            </a:r>
            <a:endParaRPr lang="zh-CN" altLang="en-US" sz="4400"/>
          </a:p>
        </p:txBody>
      </p:sp>
      <p:sp>
        <p:nvSpPr>
          <p:cNvPr id="136" name="文本框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en-US" altLang="zh-CN" sz="2200"/>
              <a:t>Abcd</a:t>
            </a:r>
          </a:p>
          <a:p>
            <a:pPr marL="971550" lvl="1" indent="-514350">
              <a:buFontTx/>
              <a:buAutoNum type="romanLcPeriod"/>
            </a:pPr>
            <a:r>
              <a:rPr lang="en-US" altLang="zh-CN" sz="2000"/>
              <a:t>efgh</a:t>
            </a:r>
            <a:endParaRPr lang="zh-CN" altLang="en-US" sz="2000"/>
          </a:p>
        </p:txBody>
      </p:sp>
      <p:sp>
        <p:nvSpPr>
          <p:cNvPr id="137" name="直线"/>
          <p:cNvSpPr>
            <a:spLocks/>
          </p:cNvSpPr>
          <p:nvPr/>
        </p:nvSpPr>
        <p:spPr>
          <a:xfrm>
            <a:off x="838200" y="1251708"/>
            <a:ext cx="10515600" cy="0"/>
          </a:xfrm>
          <a:prstGeom prst="line">
            <a:avLst/>
          </a:prstGeom>
          <a:noFill/>
          <a:ln w="38100" cap="flat" cmpd="sng">
            <a:solidFill>
              <a:srgbClr val="8ECEFA"/>
            </a:solidFill>
            <a:prstDash val="solid"/>
            <a:round/>
          </a:ln>
        </p:spPr>
      </p:sp>
      <p:sp>
        <p:nvSpPr>
          <p:cNvPr id="138" name="文本框"/>
          <p:cNvSpPr>
            <a:spLocks noGrp="1"/>
          </p:cNvSpPr>
          <p:nvPr>
            <p:ph type="body"/>
          </p:nvPr>
        </p:nvSpPr>
        <p:spPr>
          <a:xfrm>
            <a:off x="2878527" y="6564113"/>
            <a:ext cx="5596085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buNone/>
            </a:pPr>
            <a:r>
              <a:rPr lang="en-US" altLang="zh-CN" sz="1200" kern="1200">
                <a:solidFill>
                  <a:schemeClr val="bg1"/>
                </a:solidFill>
                <a:latin typeface="Aptos" charset="0"/>
                <a:ea typeface="等线" charset="0"/>
                <a:cs typeface="Droid Sans" charset="0"/>
              </a:rPr>
              <a:t>Vijay Simha Reddy Bogala, Josef Remberger</a:t>
            </a:r>
            <a:endParaRPr lang="zh-CN" altLang="en-US" sz="1200" kern="1200">
              <a:solidFill>
                <a:schemeClr val="bg1"/>
              </a:solidFill>
              <a:latin typeface="Aptos" charset="0"/>
              <a:ea typeface="等线" charset="0"/>
              <a:cs typeface="Droid Sans" charset="0"/>
            </a:endParaRPr>
          </a:p>
        </p:txBody>
      </p:sp>
      <p:sp>
        <p:nvSpPr>
          <p:cNvPr id="139" name="文本框"/>
          <p:cNvSpPr>
            <a:spLocks noGrp="1"/>
          </p:cNvSpPr>
          <p:nvPr>
            <p:ph type="dt"/>
          </p:nvPr>
        </p:nvSpPr>
        <p:spPr>
          <a:xfrm>
            <a:off x="838200" y="6566803"/>
            <a:ext cx="1111369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l"/>
            <a:r>
              <a:rPr lang="en-US" altLang="zh-CN" sz="1200">
                <a:solidFill>
                  <a:schemeClr val="bg1"/>
                </a:solidFill>
                <a:latin typeface="Aptos" charset="0"/>
                <a:ea typeface="等线" charset="0"/>
                <a:cs typeface="Aptos" charset="0"/>
              </a:rPr>
              <a:t>10/21/2025</a:t>
            </a:r>
            <a:endParaRPr lang="zh-CN" altLang="en-US" sz="1200">
              <a:solidFill>
                <a:schemeClr val="bg1"/>
              </a:solidFill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140" name="文本框"/>
          <p:cNvSpPr>
            <a:spLocks noGrp="1"/>
          </p:cNvSpPr>
          <p:nvPr>
            <p:ph type="ftr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r"/>
            <a:r>
              <a:rPr lang="en-US" altLang="zh-CN" sz="1200">
                <a:solidFill>
                  <a:schemeClr val="bg1"/>
                </a:solidFill>
                <a:latin typeface="Aptos" charset="0"/>
                <a:ea typeface="等线" charset="0"/>
                <a:cs typeface="Aptos" charset="0"/>
              </a:rPr>
              <a:t>Electrical Drivetrain / Optimus Syria</a:t>
            </a:r>
            <a:endParaRPr lang="zh-CN" altLang="en-US" sz="1200">
              <a:solidFill>
                <a:schemeClr val="bg1"/>
              </a:solidFill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141" name="文本框"/>
          <p:cNvSpPr>
            <a:spLocks noGrp="1"/>
          </p:cNvSpPr>
          <p:nvPr>
            <p:ph type="sldNum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ct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bg1"/>
                </a:solidFill>
                <a:latin typeface="Aptos" charset="0"/>
                <a:ea typeface="等线" charset="0"/>
                <a:cs typeface="Aptos" charset="0"/>
              </a:rPr>
              <a:t>‹#›</a:t>
            </a:fld>
            <a:endParaRPr lang="zh-CN" altLang="en-US" sz="1200">
              <a:solidFill>
                <a:schemeClr val="bg1"/>
              </a:solidFill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142" name="文本框"/>
          <p:cNvSpPr>
            <a:spLocks noGrp="1"/>
          </p:cNvSpPr>
          <p:nvPr>
            <p:ph type="body"/>
          </p:nvPr>
        </p:nvSpPr>
        <p:spPr>
          <a:xfrm>
            <a:off x="749023" y="6216958"/>
            <a:ext cx="2248453" cy="30985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000000"/>
                </a:solidFill>
                <a:latin typeface="Aptos" charset="0"/>
                <a:ea typeface="等线" charset="0"/>
                <a:cs typeface="Droid Sans" charset="0"/>
              </a:rPr>
              <a:t>[1], [2]….</a:t>
            </a:r>
          </a:p>
          <a:p>
            <a:pPr marL="457200" lvl="1" indent="0">
              <a:buNone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892809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gleich" type="twoTxTwoObj">
  <p:cSld name="1_Vergleich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dt" idx="10"/>
          </p:nvPr>
        </p:nvSpPr>
        <p:spPr>
          <a:xfrm>
            <a:off x="838200" y="645874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ftr" idx="11"/>
          </p:nvPr>
        </p:nvSpPr>
        <p:spPr>
          <a:xfrm>
            <a:off x="4038600" y="645874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610600" y="645874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70927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9.xml"/><Relationship Id="rId21" Type="http://schemas.openxmlformats.org/officeDocument/2006/relationships/theme" Target="../theme/theme2.xml"/><Relationship Id="rId7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23.xml"/><Relationship Id="rId2" Type="http://schemas.openxmlformats.org/officeDocument/2006/relationships/slideLayout" Target="../slideLayouts/slideLayout8.xml"/><Relationship Id="rId16" Type="http://schemas.openxmlformats.org/officeDocument/2006/relationships/slideLayout" Target="../slideLayouts/slideLayout22.xml"/><Relationship Id="rId20" Type="http://schemas.openxmlformats.org/officeDocument/2006/relationships/slideLayout" Target="../slideLayouts/slideLayout26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5620995-1DFE-FB81-B1FD-1F43AD25E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F9FFA78-25BC-8AF7-71C4-CCA91A932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CB32A29-5E71-00A9-66DA-1FED8EA8FA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/>
              <a:t>Electrical Drivetrain / Optimus Syria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5A1141D-8ADF-66F7-AB0C-CAA4E1B2CB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07138566-A99B-8C60-010B-13E0F43C56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10/21/2025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4869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3" r:id="rId5"/>
    <p:sldLayoutId id="2147483724" r:id="rId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CD36E4AE-BF2C-D504-0887-03D81D07CDC8}"/>
              </a:ext>
            </a:extLst>
          </p:cNvPr>
          <p:cNvSpPr/>
          <p:nvPr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Free-form: Shape 13">
            <a:extLst>
              <a:ext uri="{FF2B5EF4-FFF2-40B4-BE49-F238E27FC236}">
                <a16:creationId xmlns:a16="http://schemas.microsoft.com/office/drawing/2014/main" id="{7608A32D-44F3-01F2-D6ED-924DFF3CC333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B4C36-B64B-F839-789E-0C40D5E60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8" name="Free-form: Shape 13">
            <a:extLst>
              <a:ext uri="{FF2B5EF4-FFF2-40B4-BE49-F238E27FC236}">
                <a16:creationId xmlns:a16="http://schemas.microsoft.com/office/drawing/2014/main" id="{1DE142EE-E501-93E6-565D-AB4A5A647F0F}"/>
              </a:ext>
            </a:extLst>
          </p:cNvPr>
          <p:cNvSpPr/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776A7918-93DA-D7CE-97A3-DDF18B379B65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4827E-F028-4C94-EB63-600BCABCD1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/>
              <a:t>Electrical Drivetrain /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8DD39-3F07-862A-3C91-AC5245291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593D3-E60D-CF97-AC8A-2B02D933B0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10/21/2025</a:t>
            </a:r>
            <a:endParaRPr lang="en-GB"/>
          </a:p>
        </p:txBody>
      </p:sp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1ABD3F4B-4853-EC8E-00EB-5109F86CE0F1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Free-form: Shape 13">
            <a:extLst>
              <a:ext uri="{FF2B5EF4-FFF2-40B4-BE49-F238E27FC236}">
                <a16:creationId xmlns:a16="http://schemas.microsoft.com/office/drawing/2014/main" id="{2BF40EC9-0D42-5E08-04BD-F330229C7518}"/>
              </a:ext>
            </a:extLst>
          </p:cNvPr>
          <p:cNvSpPr/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ree-form: Shape 13">
            <a:extLst>
              <a:ext uri="{FF2B5EF4-FFF2-40B4-BE49-F238E27FC236}">
                <a16:creationId xmlns:a16="http://schemas.microsoft.com/office/drawing/2014/main" id="{0BB1BAA4-B843-57F3-9FCE-C9585D332FAE}"/>
              </a:ext>
            </a:extLst>
          </p:cNvPr>
          <p:cNvSpPr/>
          <p:nvPr/>
        </p:nvSpPr>
        <p:spPr>
          <a:xfrm rot="10800000">
            <a:off x="-26376" y="-254312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A75E23-C68E-95B1-6539-4A187BBC4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1392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  <p:sldLayoutId id="2147483739" r:id="rId14"/>
    <p:sldLayoutId id="2147483740" r:id="rId15"/>
    <p:sldLayoutId id="2147483741" r:id="rId16"/>
    <p:sldLayoutId id="2147483742" r:id="rId17"/>
    <p:sldLayoutId id="2147483743" r:id="rId18"/>
    <p:sldLayoutId id="2147483744" r:id="rId19"/>
    <p:sldLayoutId id="2147483745" r:id="rId2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6.xml"/><Relationship Id="rId4" Type="http://schemas.openxmlformats.org/officeDocument/2006/relationships/hyperlink" Target="https://www.researchgate.net/publication/263364715_Electrical_machines_and_power-electronic_systems_for_high-power_wind_energy_generation_applications_Part_II_-_Power_electronics_and_control_systems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searchgate.net/publication/224697059_Optimized_Direct_Power_Control_Strategy_using_Output_Regulation_Subspaces_and_Pulse_Width_Modulation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geteam.com/us/en-us/power-electronics/wind-power-energy" TargetMode="External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hyperlink" Target="https://product.tdk.com/en/catalog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Relationship Id="rId6" Type="http://schemas.openxmlformats.org/officeDocument/2006/relationships/hyperlink" Target="https://www.semikron-danfoss.com/" TargetMode="External"/><Relationship Id="rId5" Type="http://schemas.openxmlformats.org/officeDocument/2006/relationships/hyperlink" Target="https://new.abb.com/drives" TargetMode="External"/><Relationship Id="rId4" Type="http://schemas.openxmlformats.org/officeDocument/2006/relationships/hyperlink" Target="https://publications.lib.chalmers.se/records/fulltext/169777/169777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6BE6549-3E86-5AE5-9E5E-148C592FC8C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 dirty="0"/>
              <a:t>11/04/2025</a:t>
            </a:r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1D6649A-1E87-C9DD-E3C2-12FE7407BD3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  <a:endParaRPr lang="en-GB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00F9B30-73C2-F457-56BA-0324B85690F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</a:t>
            </a:fld>
            <a:endParaRPr lang="en-GB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9ACFA37C-C6C3-881E-9DEF-5A96ED2C1D15}"/>
              </a:ext>
            </a:extLst>
          </p:cNvPr>
          <p:cNvSpPr txBox="1">
            <a:spLocks/>
          </p:cNvSpPr>
          <p:nvPr/>
        </p:nvSpPr>
        <p:spPr>
          <a:xfrm>
            <a:off x="1565241" y="235849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ptos (Textkörper)"/>
                <a:ea typeface="+mj-ea"/>
                <a:cs typeface="+mj-cs"/>
              </a:defRPr>
            </a:lvl1pPr>
          </a:lstStyle>
          <a:p>
            <a:r>
              <a:rPr lang="it-IT" sz="4000" dirty="0"/>
              <a:t>Weekly report: Electrical Drivetrain</a:t>
            </a:r>
            <a:endParaRPr lang="en-GB" sz="4000" dirty="0"/>
          </a:p>
        </p:txBody>
      </p:sp>
      <p:sp>
        <p:nvSpPr>
          <p:cNvPr id="27" name="Subtitle 2">
            <a:extLst>
              <a:ext uri="{FF2B5EF4-FFF2-40B4-BE49-F238E27FC236}">
                <a16:creationId xmlns:a16="http://schemas.microsoft.com/office/drawing/2014/main" id="{1E0415E7-E053-E995-249A-5B86E4F96002}"/>
              </a:ext>
            </a:extLst>
          </p:cNvPr>
          <p:cNvSpPr txBox="1">
            <a:spLocks/>
          </p:cNvSpPr>
          <p:nvPr/>
        </p:nvSpPr>
        <p:spPr>
          <a:xfrm>
            <a:off x="1565241" y="3581400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Aptos (Textkörper)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2000" dirty="0"/>
              <a:t>Week number: 6</a:t>
            </a:r>
            <a:endParaRPr lang="en-US" dirty="0"/>
          </a:p>
          <a:p>
            <a:r>
              <a:rPr lang="it-IT" sz="2000" dirty="0"/>
              <a:t>Date: 04/11/2025</a:t>
            </a:r>
          </a:p>
          <a:p>
            <a:r>
              <a:rPr lang="it-IT" sz="2000" dirty="0"/>
              <a:t>Supervisor: </a:t>
            </a:r>
            <a:r>
              <a:rPr lang="it-IT" sz="2000" dirty="0">
                <a:latin typeface="Aptos"/>
              </a:rPr>
              <a:t>Prof. Dr.-Ing. Saiju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0F5F1D8B-AA3D-0259-5E4F-2CDC8B30563D}"/>
              </a:ext>
            </a:extLst>
          </p:cNvPr>
          <p:cNvSpPr txBox="1">
            <a:spLocks/>
          </p:cNvSpPr>
          <p:nvPr/>
        </p:nvSpPr>
        <p:spPr>
          <a:xfrm>
            <a:off x="3531588" y="3967804"/>
            <a:ext cx="5128821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Aptos (Textkörper)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Group members:  Aiswarya Vijayan, Vishranti Shivajirao Patil , Girish Mahadeo Padalkar, Cristina Milene Vergara Hernandez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8E339F-29BC-C621-536B-8758FA6723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7693" y="3246104"/>
            <a:ext cx="5596613" cy="36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159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0C666DE2-1276-7519-CD3A-64862C4F70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marL="457200" lvl="1" indent="0">
              <a:buNone/>
            </a:pPr>
            <a:endParaRPr lang="de-DE" dirty="0"/>
          </a:p>
          <a:p>
            <a:pPr lvl="1">
              <a:buAutoNum type="arabicPeriod"/>
            </a:pPr>
            <a:r>
              <a:rPr lang="en-US" dirty="0"/>
              <a:t>Converter Size and Configuration </a:t>
            </a:r>
          </a:p>
          <a:p>
            <a:pPr lvl="1">
              <a:buAutoNum type="arabicPeriod"/>
            </a:pPr>
            <a:r>
              <a:rPr lang="en-IN" dirty="0"/>
              <a:t>IGBT Module Structure </a:t>
            </a:r>
          </a:p>
          <a:p>
            <a:pPr lvl="1">
              <a:buAutoNum type="arabicPeriod"/>
            </a:pPr>
            <a:r>
              <a:rPr lang="en-IN" dirty="0"/>
              <a:t>IGBT Configuration</a:t>
            </a:r>
          </a:p>
          <a:p>
            <a:pPr lvl="1">
              <a:buAutoNum type="arabicPeriod"/>
            </a:pPr>
            <a:r>
              <a:rPr lang="en-US" dirty="0"/>
              <a:t>How IGBT is connected </a:t>
            </a:r>
          </a:p>
          <a:p>
            <a:pPr lvl="1">
              <a:buAutoNum type="arabicPeriod"/>
            </a:pPr>
            <a:r>
              <a:rPr lang="en-IN" dirty="0"/>
              <a:t>Control Structure Overview </a:t>
            </a:r>
          </a:p>
          <a:p>
            <a:pPr lvl="1">
              <a:buAutoNum type="arabicPeriod"/>
            </a:pPr>
            <a:r>
              <a:rPr lang="en-US" dirty="0"/>
              <a:t>Control structure of Converter </a:t>
            </a:r>
          </a:p>
          <a:p>
            <a:pPr lvl="1">
              <a:buAutoNum type="arabicPeriod"/>
            </a:pPr>
            <a:r>
              <a:rPr lang="en-US" dirty="0"/>
              <a:t>Component Dimensions &amp; Parameters</a:t>
            </a:r>
          </a:p>
          <a:p>
            <a:pPr lvl="1">
              <a:buAutoNum type="arabicPeriod"/>
            </a:pPr>
            <a:r>
              <a:rPr lang="en-US" dirty="0"/>
              <a:t>Next steps</a:t>
            </a:r>
            <a:endParaRPr lang="de-DE" dirty="0"/>
          </a:p>
        </p:txBody>
      </p:sp>
      <p:sp>
        <p:nvSpPr>
          <p:cNvPr id="22" name="Titel 21">
            <a:extLst>
              <a:ext uri="{FF2B5EF4-FFF2-40B4-BE49-F238E27FC236}">
                <a16:creationId xmlns:a16="http://schemas.microsoft.com/office/drawing/2014/main" id="{C01C5AA7-5821-01BD-1AC8-74837347C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List of contents</a:t>
            </a:r>
          </a:p>
        </p:txBody>
      </p:sp>
      <p:sp>
        <p:nvSpPr>
          <p:cNvPr id="25" name="Foliennummernplatzhalter 24">
            <a:extLst>
              <a:ext uri="{FF2B5EF4-FFF2-40B4-BE49-F238E27FC236}">
                <a16:creationId xmlns:a16="http://schemas.microsoft.com/office/drawing/2014/main" id="{1F1D02DB-C1C0-0C64-772D-D708982E9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2</a:t>
            </a:fld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3E5D9FF-3E62-4877-0B46-5730AAEC1D9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dirty="0"/>
              <a:t>Aiswarya Vijayan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222E4B11-7E37-C65A-E83B-0056FA29D311}"/>
              </a:ext>
            </a:extLst>
          </p:cNvPr>
          <p:cNvSpPr txBox="1">
            <a:spLocks/>
          </p:cNvSpPr>
          <p:nvPr/>
        </p:nvSpPr>
        <p:spPr>
          <a:xfrm>
            <a:off x="8802836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Electrical Drive Train/ Optimus Syria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B56400E-FF4C-7F4E-6257-267CD3B1856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567488"/>
            <a:ext cx="1111250" cy="365125"/>
          </a:xfrm>
        </p:spPr>
        <p:txBody>
          <a:bodyPr/>
          <a:lstStyle/>
          <a:p>
            <a:r>
              <a:rPr lang="en-US" dirty="0"/>
              <a:t>11/04/2025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6553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"/>
          <p:cNvSpPr txBox="1">
            <a:spLocks noGrp="1"/>
          </p:cNvSpPr>
          <p:nvPr>
            <p:ph type="title"/>
          </p:nvPr>
        </p:nvSpPr>
        <p:spPr>
          <a:xfrm>
            <a:off x="0" y="47017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1.Converter Size and Configuration</a:t>
            </a:r>
            <a:endParaRPr dirty="0"/>
          </a:p>
        </p:txBody>
      </p:sp>
      <p:sp>
        <p:nvSpPr>
          <p:cNvPr id="95" name="Google Shape;95;p3"/>
          <p:cNvSpPr txBox="1">
            <a:spLocks noGrp="1"/>
          </p:cNvSpPr>
          <p:nvPr>
            <p:ph type="ftr" idx="11"/>
          </p:nvPr>
        </p:nvSpPr>
        <p:spPr>
          <a:xfrm>
            <a:off x="4038600" y="6541123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Aiswarya Vijayan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D0A8E22-75F4-BB13-7C51-1DAD277A3E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3810" y="1611284"/>
            <a:ext cx="7257534" cy="383392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F45C951-0907-2508-3516-546DFEBB244E}"/>
              </a:ext>
            </a:extLst>
          </p:cNvPr>
          <p:cNvSpPr txBox="1"/>
          <p:nvPr/>
        </p:nvSpPr>
        <p:spPr>
          <a:xfrm>
            <a:off x="401593" y="2302643"/>
            <a:ext cx="442577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Type: 2-Level Back-to-Back Voltage Source Converter (VSC)</a:t>
            </a:r>
          </a:p>
          <a:p>
            <a:r>
              <a:rPr lang="en-IN" dirty="0"/>
              <a:t>• Power rating: ~25% - 30% of 5 MW → ≈1.25 - 1.5 MW </a:t>
            </a:r>
          </a:p>
          <a:p>
            <a:r>
              <a:rPr lang="en-IN" dirty="0"/>
              <a:t>• DC-link voltage ≈ 1.2 kV</a:t>
            </a:r>
          </a:p>
          <a:p>
            <a:r>
              <a:rPr lang="en-IN" dirty="0"/>
              <a:t>• Converter cabinet: ~1.8×1.0×2.0 m, ~2 tons each side</a:t>
            </a:r>
          </a:p>
          <a:p>
            <a:r>
              <a:rPr lang="en-IN" dirty="0"/>
              <a:t>• Components: Rotor-Side Converter (RSC), Grid-Side Converter (GSC), DC-link capacitors</a:t>
            </a:r>
          </a:p>
        </p:txBody>
      </p:sp>
      <p:sp>
        <p:nvSpPr>
          <p:cNvPr id="6" name="Datumsplatzhalter 3">
            <a:extLst>
              <a:ext uri="{FF2B5EF4-FFF2-40B4-BE49-F238E27FC236}">
                <a16:creationId xmlns:a16="http://schemas.microsoft.com/office/drawing/2014/main" id="{2CAB0417-4491-1783-56B3-979C96E340E1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780535" y="6534065"/>
            <a:ext cx="2743200" cy="365125"/>
          </a:xfrm>
        </p:spPr>
        <p:txBody>
          <a:bodyPr/>
          <a:lstStyle/>
          <a:p>
            <a:r>
              <a:rPr lang="en-US" dirty="0"/>
              <a:t>11/04/2025</a:t>
            </a:r>
            <a:endParaRPr lang="en-GB" dirty="0"/>
          </a:p>
        </p:txBody>
      </p:sp>
      <p:sp>
        <p:nvSpPr>
          <p:cNvPr id="7" name="Fußzeilenplatzhalter 1">
            <a:extLst>
              <a:ext uri="{FF2B5EF4-FFF2-40B4-BE49-F238E27FC236}">
                <a16:creationId xmlns:a16="http://schemas.microsoft.com/office/drawing/2014/main" id="{88204B84-8D11-4658-D0D6-AF61BEE29788}"/>
              </a:ext>
            </a:extLst>
          </p:cNvPr>
          <p:cNvSpPr txBox="1">
            <a:spLocks/>
          </p:cNvSpPr>
          <p:nvPr/>
        </p:nvSpPr>
        <p:spPr>
          <a:xfrm>
            <a:off x="8802836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Electrical Drive Train/ Optimus Syria</a:t>
            </a:r>
          </a:p>
        </p:txBody>
      </p:sp>
      <p:sp>
        <p:nvSpPr>
          <p:cNvPr id="8" name="Foliennummernplatzhalter 24">
            <a:extLst>
              <a:ext uri="{FF2B5EF4-FFF2-40B4-BE49-F238E27FC236}">
                <a16:creationId xmlns:a16="http://schemas.microsoft.com/office/drawing/2014/main" id="{19C92765-C4F3-2B0C-AA96-7586831E1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49570" y="6566803"/>
            <a:ext cx="928958" cy="365125"/>
          </a:xfrm>
        </p:spPr>
        <p:txBody>
          <a:bodyPr/>
          <a:lstStyle/>
          <a:p>
            <a:fld id="{013F6232-4F06-48BA-8F69-BF531F607829}" type="slidenum">
              <a:rPr lang="en-GB" sz="1200" smtClean="0"/>
              <a:t>3</a:t>
            </a:fld>
            <a:endParaRPr lang="en-GB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14AC69-2024-F583-EEB3-85CB1592F7E2}"/>
              </a:ext>
            </a:extLst>
          </p:cNvPr>
          <p:cNvSpPr txBox="1"/>
          <p:nvPr/>
        </p:nvSpPr>
        <p:spPr>
          <a:xfrm>
            <a:off x="5387546" y="5305168"/>
            <a:ext cx="648317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hlinkClick r:id="rId4"/>
              </a:rPr>
              <a:t>Source: https://www.researchgate.net/publication/263364715_Electrical_machines_and_power-electronic_systems_for_high-power_wind_energy_generation_applications_Part_II_-_Power_electronics_and_control_systems</a:t>
            </a:r>
            <a:endParaRPr lang="en-US" sz="1200" dirty="0"/>
          </a:p>
          <a:p>
            <a:endParaRPr lang="en-IN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0FFFC-EA4D-45CD-F191-1DF29F057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el 21">
            <a:extLst>
              <a:ext uri="{FF2B5EF4-FFF2-40B4-BE49-F238E27FC236}">
                <a16:creationId xmlns:a16="http://schemas.microsoft.com/office/drawing/2014/main" id="{98DFFB6D-844E-271D-92E1-F6D64602C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6882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2. </a:t>
            </a:r>
            <a:r>
              <a:rPr lang="en-IN" dirty="0"/>
              <a:t>IGBT Module Structure</a:t>
            </a:r>
            <a:br>
              <a:rPr lang="en-IN" dirty="0"/>
            </a:br>
            <a:br>
              <a:rPr lang="en-US" dirty="0"/>
            </a:br>
            <a:endParaRPr lang="de-DE" dirty="0"/>
          </a:p>
        </p:txBody>
      </p:sp>
      <p:sp>
        <p:nvSpPr>
          <p:cNvPr id="25" name="Foliennummernplatzhalter 24">
            <a:extLst>
              <a:ext uri="{FF2B5EF4-FFF2-40B4-BE49-F238E27FC236}">
                <a16:creationId xmlns:a16="http://schemas.microsoft.com/office/drawing/2014/main" id="{F621C0A3-BB33-1527-D918-6A5187EE2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4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3F90A21E-A30B-36B9-EE48-832B9542694B}"/>
              </a:ext>
            </a:extLst>
          </p:cNvPr>
          <p:cNvSpPr txBox="1">
            <a:spLocks/>
          </p:cNvSpPr>
          <p:nvPr/>
        </p:nvSpPr>
        <p:spPr>
          <a:xfrm>
            <a:off x="8802836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Electrical Drive Train/ Optimus Syria</a:t>
            </a:r>
          </a:p>
        </p:txBody>
      </p:sp>
      <p:sp>
        <p:nvSpPr>
          <p:cNvPr id="13" name="Textplatzhalter 2">
            <a:extLst>
              <a:ext uri="{FF2B5EF4-FFF2-40B4-BE49-F238E27FC236}">
                <a16:creationId xmlns:a16="http://schemas.microsoft.com/office/drawing/2014/main" id="{6A1FC874-F8E1-0698-70FE-DAA014A87478}"/>
              </a:ext>
            </a:extLst>
          </p:cNvPr>
          <p:cNvSpPr txBox="1">
            <a:spLocks/>
          </p:cNvSpPr>
          <p:nvPr/>
        </p:nvSpPr>
        <p:spPr>
          <a:xfrm>
            <a:off x="3024809" y="6564112"/>
            <a:ext cx="55960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Aiswarya Vijayan</a:t>
            </a: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92BBD4EF-0F05-C9C5-759F-0929249C5AB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2606040" cy="2606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F5E2EF-33CA-4DD4-F1F7-F82AC5C11A6E}"/>
              </a:ext>
            </a:extLst>
          </p:cNvPr>
          <p:cNvSpPr txBox="1"/>
          <p:nvPr/>
        </p:nvSpPr>
        <p:spPr>
          <a:xfrm>
            <a:off x="838200" y="1833085"/>
            <a:ext cx="439282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Each converter leg uses 2 IGBTs per phase, often paralleled for current rating</a:t>
            </a:r>
          </a:p>
          <a:p>
            <a:r>
              <a:rPr lang="en-US" dirty="0"/>
              <a:t>• Gate-driver boards mounted close to IGBTs to minimize inductance</a:t>
            </a:r>
          </a:p>
          <a:p>
            <a:r>
              <a:rPr lang="en-US" dirty="0"/>
              <a:t>• Liquid cooling manifold distributes coolant through all modules</a:t>
            </a:r>
          </a:p>
          <a:p>
            <a:r>
              <a:rPr lang="en-US" dirty="0"/>
              <a:t>• Compact cabinet includes filter inductors, DC-link capacitors, and control boards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15D1E7A-F71D-FF2C-49A3-5216E3945296}"/>
              </a:ext>
            </a:extLst>
          </p:cNvPr>
          <p:cNvSpPr txBox="1">
            <a:spLocks/>
          </p:cNvSpPr>
          <p:nvPr/>
        </p:nvSpPr>
        <p:spPr>
          <a:xfrm>
            <a:off x="320040" y="1962445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9FD87B6-DE9B-CD02-BB39-14F0927FD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2685" y="2091805"/>
            <a:ext cx="6439458" cy="2591025"/>
          </a:xfrm>
          <a:prstGeom prst="rect">
            <a:avLst/>
          </a:prstGeom>
        </p:spPr>
      </p:pic>
      <p:sp>
        <p:nvSpPr>
          <p:cNvPr id="17" name="Datumsplatzhalter 3">
            <a:extLst>
              <a:ext uri="{FF2B5EF4-FFF2-40B4-BE49-F238E27FC236}">
                <a16:creationId xmlns:a16="http://schemas.microsoft.com/office/drawing/2014/main" id="{CE0427A6-0904-6E6A-8252-389AE38E63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567488"/>
            <a:ext cx="1111250" cy="365125"/>
          </a:xfrm>
        </p:spPr>
        <p:txBody>
          <a:bodyPr/>
          <a:lstStyle/>
          <a:p>
            <a:r>
              <a:rPr lang="en-US" dirty="0"/>
              <a:t>11/04/2025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303817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C0DDC-B8EF-E67E-8F51-74A3C1116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el 21">
            <a:extLst>
              <a:ext uri="{FF2B5EF4-FFF2-40B4-BE49-F238E27FC236}">
                <a16:creationId xmlns:a16="http://schemas.microsoft.com/office/drawing/2014/main" id="{0B456E0F-2F2C-4689-B9A0-D82864CEC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6882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3. </a:t>
            </a:r>
            <a:r>
              <a:rPr lang="en-IN" dirty="0"/>
              <a:t>IGBT Configuration</a:t>
            </a:r>
            <a:br>
              <a:rPr lang="en-IN" dirty="0"/>
            </a:br>
            <a:br>
              <a:rPr lang="en-US" dirty="0"/>
            </a:br>
            <a:endParaRPr lang="de-DE" dirty="0"/>
          </a:p>
        </p:txBody>
      </p:sp>
      <p:sp>
        <p:nvSpPr>
          <p:cNvPr id="25" name="Foliennummernplatzhalter 24">
            <a:extLst>
              <a:ext uri="{FF2B5EF4-FFF2-40B4-BE49-F238E27FC236}">
                <a16:creationId xmlns:a16="http://schemas.microsoft.com/office/drawing/2014/main" id="{0384CFBD-B261-32F2-8428-ECAA8DB7D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3BB56FA9-8013-9DED-8EB9-48BC7A6EFE22}"/>
              </a:ext>
            </a:extLst>
          </p:cNvPr>
          <p:cNvSpPr txBox="1">
            <a:spLocks/>
          </p:cNvSpPr>
          <p:nvPr/>
        </p:nvSpPr>
        <p:spPr>
          <a:xfrm>
            <a:off x="8802836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Electrical Drive Train/ Optimus Syria</a:t>
            </a:r>
          </a:p>
        </p:txBody>
      </p:sp>
      <p:sp>
        <p:nvSpPr>
          <p:cNvPr id="13" name="Textplatzhalter 2">
            <a:extLst>
              <a:ext uri="{FF2B5EF4-FFF2-40B4-BE49-F238E27FC236}">
                <a16:creationId xmlns:a16="http://schemas.microsoft.com/office/drawing/2014/main" id="{5369482E-E3F4-23AB-FFB0-437A893E823D}"/>
              </a:ext>
            </a:extLst>
          </p:cNvPr>
          <p:cNvSpPr txBox="1">
            <a:spLocks/>
          </p:cNvSpPr>
          <p:nvPr/>
        </p:nvSpPr>
        <p:spPr>
          <a:xfrm>
            <a:off x="3024809" y="6564112"/>
            <a:ext cx="55960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Aiswarya Vijayan</a:t>
            </a: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D0D8E15F-76D4-F133-03F8-84ADDE1809B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2606040" cy="2606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1BAFE74A-1348-5E66-FF85-C0EF30B0ACC2}"/>
              </a:ext>
            </a:extLst>
          </p:cNvPr>
          <p:cNvSpPr txBox="1">
            <a:spLocks/>
          </p:cNvSpPr>
          <p:nvPr/>
        </p:nvSpPr>
        <p:spPr>
          <a:xfrm>
            <a:off x="320040" y="1962445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dirty="0"/>
          </a:p>
        </p:txBody>
      </p:sp>
      <p:sp>
        <p:nvSpPr>
          <p:cNvPr id="17" name="Datumsplatzhalter 3">
            <a:extLst>
              <a:ext uri="{FF2B5EF4-FFF2-40B4-BE49-F238E27FC236}">
                <a16:creationId xmlns:a16="http://schemas.microsoft.com/office/drawing/2014/main" id="{0389B656-4434-80DE-DD37-5C06CD5E9AC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567488"/>
            <a:ext cx="1111250" cy="365125"/>
          </a:xfrm>
        </p:spPr>
        <p:txBody>
          <a:bodyPr/>
          <a:lstStyle/>
          <a:p>
            <a:r>
              <a:rPr lang="en-US" dirty="0"/>
              <a:t>11/04/2025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8401BB-881A-1496-680D-7D24466E5B2F}"/>
              </a:ext>
            </a:extLst>
          </p:cNvPr>
          <p:cNvSpPr txBox="1"/>
          <p:nvPr/>
        </p:nvSpPr>
        <p:spPr>
          <a:xfrm>
            <a:off x="1027670" y="1653153"/>
            <a:ext cx="5475072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Converter Device Configuration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2-level, 3-phase bridge per converter (RSC &amp; GSC)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Each phase leg = 2 IGBTs (upper &amp; lower) + anti-parallel diodes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3 legs × 2 IGBTs = </a:t>
            </a:r>
            <a:r>
              <a:rPr lang="en-IN" b="1" dirty="0"/>
              <a:t>6 IGBTs per converter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RSC + GSC → </a:t>
            </a:r>
            <a:r>
              <a:rPr lang="en-IN" b="1" dirty="0"/>
              <a:t>12 IGBTs total</a:t>
            </a:r>
            <a:endParaRPr lang="en-IN" dirty="0"/>
          </a:p>
          <a:p>
            <a:pPr>
              <a:buNone/>
            </a:pPr>
            <a:r>
              <a:rPr lang="en-IN" b="1" dirty="0"/>
              <a:t>Parallel Module Sizing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Converter power = 1.25 MW, V = 690 V LL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Phase current ≈ P / (√3 × V) = 1 046 A RMS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Module rating = 1 200 A @ 1 700 V → derated to </a:t>
            </a:r>
          </a:p>
          <a:p>
            <a:r>
              <a:rPr lang="en-IN" dirty="0"/>
              <a:t>0.85 × 1 200 = 1 020 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Required parallels  = </a:t>
            </a:r>
            <a:r>
              <a:rPr lang="en-IN" b="1" dirty="0"/>
              <a:t>2 modules per leg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6 half-bridge modules per converter</a:t>
            </a:r>
            <a:r>
              <a:rPr lang="en-IN" dirty="0"/>
              <a:t> (3 legs × 2 parallel)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12 modules total for back-to-back converter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F1C356C-965A-3C45-DF2A-AF1252A1C5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5184" y="1962445"/>
            <a:ext cx="5475073" cy="280987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7491D55-D2FD-CE3C-F023-EBC98D4DA9F7}"/>
              </a:ext>
            </a:extLst>
          </p:cNvPr>
          <p:cNvSpPr txBox="1"/>
          <p:nvPr/>
        </p:nvSpPr>
        <p:spPr>
          <a:xfrm>
            <a:off x="6096000" y="5027398"/>
            <a:ext cx="6141308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dirty="0">
                <a:hlinkClick r:id="rId3"/>
              </a:rPr>
              <a:t>https://www.researchgate.net/publication/224697059_Optimized_Direct_Power_Control_Strategy_using_Output_Regulation_Subspaces_and_Pulse_Width_Modulation</a:t>
            </a:r>
            <a:endParaRPr lang="en-IN" sz="1100" dirty="0"/>
          </a:p>
          <a:p>
            <a:endParaRPr lang="en-IN" sz="1100" dirty="0"/>
          </a:p>
        </p:txBody>
      </p:sp>
    </p:spTree>
    <p:extLst>
      <p:ext uri="{BB962C8B-B14F-4D97-AF65-F5344CB8AC3E}">
        <p14:creationId xmlns:p14="http://schemas.microsoft.com/office/powerpoint/2010/main" val="17679474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261C5-F09A-3CA9-D2EF-5BF27106E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el 21">
            <a:extLst>
              <a:ext uri="{FF2B5EF4-FFF2-40B4-BE49-F238E27FC236}">
                <a16:creationId xmlns:a16="http://schemas.microsoft.com/office/drawing/2014/main" id="{33641D34-77DE-AF8E-9513-B9D5D4B3E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6882"/>
            <a:ext cx="10515600" cy="1325563"/>
          </a:xfrm>
        </p:spPr>
        <p:txBody>
          <a:bodyPr/>
          <a:lstStyle/>
          <a:p>
            <a:r>
              <a:rPr lang="en-US" dirty="0"/>
              <a:t>3. How IGBT is connected</a:t>
            </a:r>
            <a:br>
              <a:rPr lang="en-US" dirty="0"/>
            </a:br>
            <a:endParaRPr lang="de-DE" dirty="0"/>
          </a:p>
        </p:txBody>
      </p:sp>
      <p:sp>
        <p:nvSpPr>
          <p:cNvPr id="25" name="Foliennummernplatzhalter 24">
            <a:extLst>
              <a:ext uri="{FF2B5EF4-FFF2-40B4-BE49-F238E27FC236}">
                <a16:creationId xmlns:a16="http://schemas.microsoft.com/office/drawing/2014/main" id="{FC911A9B-DC85-6EAB-D99E-66E092F48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6</a:t>
            </a:fld>
            <a:endParaRPr lang="en-GB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B17DC63D-7F92-EF40-3494-E4F2A489CD2C}"/>
              </a:ext>
            </a:extLst>
          </p:cNvPr>
          <p:cNvSpPr txBox="1">
            <a:spLocks/>
          </p:cNvSpPr>
          <p:nvPr/>
        </p:nvSpPr>
        <p:spPr>
          <a:xfrm>
            <a:off x="8802836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Electrical Drive Train/ Optimus Syria</a:t>
            </a:r>
          </a:p>
        </p:txBody>
      </p:sp>
      <p:sp>
        <p:nvSpPr>
          <p:cNvPr id="13" name="Textplatzhalter 2">
            <a:extLst>
              <a:ext uri="{FF2B5EF4-FFF2-40B4-BE49-F238E27FC236}">
                <a16:creationId xmlns:a16="http://schemas.microsoft.com/office/drawing/2014/main" id="{F47FB181-C206-6C54-1D19-A1D7636AA5C9}"/>
              </a:ext>
            </a:extLst>
          </p:cNvPr>
          <p:cNvSpPr txBox="1">
            <a:spLocks/>
          </p:cNvSpPr>
          <p:nvPr/>
        </p:nvSpPr>
        <p:spPr>
          <a:xfrm>
            <a:off x="3024809" y="6564112"/>
            <a:ext cx="55960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Aiswarya Vijayan</a:t>
            </a: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4CD3E247-75B9-7D77-6463-7C0352CA724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2606040" cy="2606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15E266-4C91-AFE8-BCA1-1B9932107A98}"/>
              </a:ext>
            </a:extLst>
          </p:cNvPr>
          <p:cNvSpPr txBox="1"/>
          <p:nvPr/>
        </p:nvSpPr>
        <p:spPr>
          <a:xfrm>
            <a:off x="838200" y="1833085"/>
            <a:ext cx="439282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Each converter (RSC or GSC) has: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Three phase legs (A, B, C)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Each leg:</a:t>
            </a:r>
            <a:r>
              <a:rPr lang="en-US" dirty="0"/>
              <a:t> Two IGBTs connected in series is connected through a DC-link capacitor.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RSC controls rotor current (torque + reactive power).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GSC controls DC-link &amp; grid reactive power.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3A3CC2-89A0-0883-EB5A-D833CA85DB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0" y="1581665"/>
            <a:ext cx="5753100" cy="4098324"/>
          </a:xfrm>
          <a:prstGeom prst="rect">
            <a:avLst/>
          </a:prstGeo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05F51A8-E9A5-8623-171A-661B4400B2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567488"/>
            <a:ext cx="1111250" cy="365125"/>
          </a:xfrm>
        </p:spPr>
        <p:txBody>
          <a:bodyPr/>
          <a:lstStyle/>
          <a:p>
            <a:r>
              <a:rPr lang="en-US" dirty="0"/>
              <a:t>11/04/2025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489282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72B15-74DD-ED6C-8FC2-9B4E530DE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el 21">
            <a:extLst>
              <a:ext uri="{FF2B5EF4-FFF2-40B4-BE49-F238E27FC236}">
                <a16:creationId xmlns:a16="http://schemas.microsoft.com/office/drawing/2014/main" id="{806A0812-45DB-12ED-D132-888E0B66D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6882"/>
            <a:ext cx="10515600" cy="1325563"/>
          </a:xfrm>
        </p:spPr>
        <p:txBody>
          <a:bodyPr/>
          <a:lstStyle/>
          <a:p>
            <a:r>
              <a:rPr lang="en-US" dirty="0"/>
              <a:t>4. </a:t>
            </a:r>
            <a:r>
              <a:rPr lang="en-IN" dirty="0"/>
              <a:t>Control Structure Overview</a:t>
            </a:r>
            <a:br>
              <a:rPr lang="en-US" dirty="0"/>
            </a:br>
            <a:endParaRPr lang="de-DE" dirty="0"/>
          </a:p>
        </p:txBody>
      </p:sp>
      <p:sp>
        <p:nvSpPr>
          <p:cNvPr id="25" name="Foliennummernplatzhalter 24">
            <a:extLst>
              <a:ext uri="{FF2B5EF4-FFF2-40B4-BE49-F238E27FC236}">
                <a16:creationId xmlns:a16="http://schemas.microsoft.com/office/drawing/2014/main" id="{7188C518-FDF0-E8CF-D4F3-5E67F0FE6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7</a:t>
            </a:fld>
            <a:endParaRPr lang="en-GB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CC610B10-3008-43AB-1814-84EC66DEC7DE}"/>
              </a:ext>
            </a:extLst>
          </p:cNvPr>
          <p:cNvSpPr txBox="1">
            <a:spLocks/>
          </p:cNvSpPr>
          <p:nvPr/>
        </p:nvSpPr>
        <p:spPr>
          <a:xfrm>
            <a:off x="8802836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Electrical Drive Train/ Optimus Syria</a:t>
            </a:r>
          </a:p>
        </p:txBody>
      </p:sp>
      <p:sp>
        <p:nvSpPr>
          <p:cNvPr id="13" name="Textplatzhalter 2">
            <a:extLst>
              <a:ext uri="{FF2B5EF4-FFF2-40B4-BE49-F238E27FC236}">
                <a16:creationId xmlns:a16="http://schemas.microsoft.com/office/drawing/2014/main" id="{3C413BCE-C80A-A910-419E-034223B14829}"/>
              </a:ext>
            </a:extLst>
          </p:cNvPr>
          <p:cNvSpPr txBox="1">
            <a:spLocks/>
          </p:cNvSpPr>
          <p:nvPr/>
        </p:nvSpPr>
        <p:spPr>
          <a:xfrm>
            <a:off x="3024809" y="6564112"/>
            <a:ext cx="55960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Aiswarya Vijayan</a:t>
            </a: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133A9819-7F11-2EF1-F097-5CFB1387ECF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2606040" cy="2606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DB2DF3-1814-834D-9CE7-C9AAB838D3D6}"/>
              </a:ext>
            </a:extLst>
          </p:cNvPr>
          <p:cNvSpPr txBox="1"/>
          <p:nvPr/>
        </p:nvSpPr>
        <p:spPr>
          <a:xfrm>
            <a:off x="1105312" y="1747100"/>
            <a:ext cx="3508633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DFIG uses two converters:</a:t>
            </a:r>
          </a:p>
          <a:p>
            <a:r>
              <a:rPr lang="en-IN" dirty="0"/>
              <a:t>  1. Rotor-Side Converter (RSC) – controls torque and reactive power</a:t>
            </a:r>
          </a:p>
          <a:p>
            <a:r>
              <a:rPr lang="en-IN" dirty="0"/>
              <a:t>  2. Grid-Side Converter (GSC) – maintains DC-link voltage and power factor</a:t>
            </a:r>
          </a:p>
          <a:p>
            <a:r>
              <a:rPr lang="en-IN" dirty="0"/>
              <a:t>• Control performed in </a:t>
            </a:r>
            <a:r>
              <a:rPr lang="en-IN" dirty="0" err="1"/>
              <a:t>dq</a:t>
            </a:r>
            <a:r>
              <a:rPr lang="en-IN" dirty="0"/>
              <a:t> synchronous reference frame using vector control</a:t>
            </a:r>
          </a:p>
          <a:p>
            <a:r>
              <a:rPr lang="en-IN" dirty="0"/>
              <a:t>• Communication between RSC and GSC through DC-link voltage feedback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CA9B62-F573-737C-D887-F0BA65AC53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7265" y="1843299"/>
            <a:ext cx="6961093" cy="3532230"/>
          </a:xfrm>
          <a:prstGeom prst="rect">
            <a:avLst/>
          </a:prstGeom>
        </p:spPr>
      </p:pic>
      <p:sp>
        <p:nvSpPr>
          <p:cNvPr id="8" name="Datumsplatzhalter 3">
            <a:extLst>
              <a:ext uri="{FF2B5EF4-FFF2-40B4-BE49-F238E27FC236}">
                <a16:creationId xmlns:a16="http://schemas.microsoft.com/office/drawing/2014/main" id="{F434787E-EC9A-A9A0-B5E3-E3C9199F295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567488"/>
            <a:ext cx="1111250" cy="365125"/>
          </a:xfrm>
        </p:spPr>
        <p:txBody>
          <a:bodyPr/>
          <a:lstStyle/>
          <a:p>
            <a:r>
              <a:rPr lang="en-US" dirty="0"/>
              <a:t>11/04/2025</a:t>
            </a:r>
            <a:endParaRPr lang="en-GB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72C85E6-A10A-0D48-9919-691752049529}"/>
              </a:ext>
            </a:extLst>
          </p:cNvPr>
          <p:cNvSpPr txBox="1"/>
          <p:nvPr/>
        </p:nvSpPr>
        <p:spPr>
          <a:xfrm>
            <a:off x="5212492" y="5448268"/>
            <a:ext cx="614130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Source : </a:t>
            </a:r>
            <a:r>
              <a:rPr lang="en-IN" sz="1200" dirty="0">
                <a:hlinkClick r:id="rId3"/>
              </a:rPr>
              <a:t>https://www.ingeteam.com/us/en-us/power-electronics/wind-power-energy</a:t>
            </a:r>
            <a:endParaRPr lang="en-IN" sz="12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04977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>
          <a:extLst>
            <a:ext uri="{FF2B5EF4-FFF2-40B4-BE49-F238E27FC236}">
              <a16:creationId xmlns:a16="http://schemas.microsoft.com/office/drawing/2014/main" id="{172F80FB-3875-6A45-49D8-A64CD2321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">
            <a:extLst>
              <a:ext uri="{FF2B5EF4-FFF2-40B4-BE49-F238E27FC236}">
                <a16:creationId xmlns:a16="http://schemas.microsoft.com/office/drawing/2014/main" id="{51C4EE8D-8A62-53B3-960B-7D593D9BBB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5. Control structure of Converter </a:t>
            </a:r>
            <a:endParaRPr dirty="0"/>
          </a:p>
        </p:txBody>
      </p:sp>
      <p:sp>
        <p:nvSpPr>
          <p:cNvPr id="95" name="Google Shape;95;p3">
            <a:extLst>
              <a:ext uri="{FF2B5EF4-FFF2-40B4-BE49-F238E27FC236}">
                <a16:creationId xmlns:a16="http://schemas.microsoft.com/office/drawing/2014/main" id="{D9D0B894-693F-E34F-A03B-7115E89E44C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557599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Aiswarya Vijayan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56D7DA-44B1-37DD-0094-8D9AAB21F1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7039" y="1330423"/>
            <a:ext cx="8666204" cy="4880909"/>
          </a:xfrm>
          <a:prstGeom prst="rect">
            <a:avLst/>
          </a:prstGeom>
        </p:spPr>
      </p:pic>
      <p:sp>
        <p:nvSpPr>
          <p:cNvPr id="5" name="Datumsplatzhalter 3">
            <a:extLst>
              <a:ext uri="{FF2B5EF4-FFF2-40B4-BE49-F238E27FC236}">
                <a16:creationId xmlns:a16="http://schemas.microsoft.com/office/drawing/2014/main" id="{FCC49ECF-EA43-3448-503C-AB41685F3454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532092"/>
            <a:ext cx="2743200" cy="365125"/>
          </a:xfrm>
        </p:spPr>
        <p:txBody>
          <a:bodyPr/>
          <a:lstStyle/>
          <a:p>
            <a:r>
              <a:rPr lang="en-US" dirty="0"/>
              <a:t>11/04/2025</a:t>
            </a:r>
            <a:endParaRPr lang="en-GB" dirty="0"/>
          </a:p>
        </p:txBody>
      </p:sp>
      <p:sp>
        <p:nvSpPr>
          <p:cNvPr id="7" name="Foliennummernplatzhalter 24">
            <a:extLst>
              <a:ext uri="{FF2B5EF4-FFF2-40B4-BE49-F238E27FC236}">
                <a16:creationId xmlns:a16="http://schemas.microsoft.com/office/drawing/2014/main" id="{4A484F03-1779-5762-0E39-5B9DAD46A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49570" y="6566803"/>
            <a:ext cx="928958" cy="365125"/>
          </a:xfrm>
        </p:spPr>
        <p:txBody>
          <a:bodyPr/>
          <a:lstStyle/>
          <a:p>
            <a:r>
              <a:rPr lang="en-GB" sz="1200" dirty="0"/>
              <a:t>7</a:t>
            </a:r>
          </a:p>
        </p:txBody>
      </p:sp>
      <p:sp>
        <p:nvSpPr>
          <p:cNvPr id="8" name="Fußzeilenplatzhalter 1">
            <a:extLst>
              <a:ext uri="{FF2B5EF4-FFF2-40B4-BE49-F238E27FC236}">
                <a16:creationId xmlns:a16="http://schemas.microsoft.com/office/drawing/2014/main" id="{981770B8-661B-C5B1-3AB7-47C2DBC33326}"/>
              </a:ext>
            </a:extLst>
          </p:cNvPr>
          <p:cNvSpPr txBox="1">
            <a:spLocks/>
          </p:cNvSpPr>
          <p:nvPr/>
        </p:nvSpPr>
        <p:spPr>
          <a:xfrm>
            <a:off x="8802836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Electrical Drive Train/ Optimus Syria</a:t>
            </a:r>
          </a:p>
        </p:txBody>
      </p:sp>
    </p:spTree>
    <p:extLst>
      <p:ext uri="{BB962C8B-B14F-4D97-AF65-F5344CB8AC3E}">
        <p14:creationId xmlns:p14="http://schemas.microsoft.com/office/powerpoint/2010/main" val="8782209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B9958-6338-6EFB-B8E8-DBB1A307A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oliennummernplatzhalter 24">
            <a:extLst>
              <a:ext uri="{FF2B5EF4-FFF2-40B4-BE49-F238E27FC236}">
                <a16:creationId xmlns:a16="http://schemas.microsoft.com/office/drawing/2014/main" id="{0F6D551C-54AA-79DE-6D93-E2E2644B7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9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2F3BA7C6-136E-05EB-94F7-BCF8C7BC1D7C}"/>
              </a:ext>
            </a:extLst>
          </p:cNvPr>
          <p:cNvSpPr txBox="1">
            <a:spLocks/>
          </p:cNvSpPr>
          <p:nvPr/>
        </p:nvSpPr>
        <p:spPr>
          <a:xfrm>
            <a:off x="8802836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Electrical Drive Train/ Optimus Syria</a:t>
            </a:r>
          </a:p>
        </p:txBody>
      </p:sp>
      <p:sp>
        <p:nvSpPr>
          <p:cNvPr id="5" name="Titel 21">
            <a:extLst>
              <a:ext uri="{FF2B5EF4-FFF2-40B4-BE49-F238E27FC236}">
                <a16:creationId xmlns:a16="http://schemas.microsoft.com/office/drawing/2014/main" id="{B5FB31FF-24DF-8782-1105-3171EF747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21157"/>
            <a:ext cx="10515600" cy="1325563"/>
          </a:xfrm>
        </p:spPr>
        <p:txBody>
          <a:bodyPr/>
          <a:lstStyle/>
          <a:p>
            <a:r>
              <a:rPr lang="en-US" dirty="0"/>
              <a:t>6. Component Dimensions &amp; Parameters</a:t>
            </a:r>
            <a:br>
              <a:rPr lang="en-US" dirty="0"/>
            </a:br>
            <a:endParaRPr lang="de-DE" dirty="0"/>
          </a:p>
        </p:txBody>
      </p:sp>
      <p:sp>
        <p:nvSpPr>
          <p:cNvPr id="9" name="Textplatzhalter 2">
            <a:extLst>
              <a:ext uri="{FF2B5EF4-FFF2-40B4-BE49-F238E27FC236}">
                <a16:creationId xmlns:a16="http://schemas.microsoft.com/office/drawing/2014/main" id="{DD0F4874-9038-8932-1C41-2F45532BC52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878527" y="6564113"/>
            <a:ext cx="5596085" cy="365125"/>
          </a:xfrm>
        </p:spPr>
        <p:txBody>
          <a:bodyPr/>
          <a:lstStyle/>
          <a:p>
            <a:r>
              <a:rPr lang="en-GB" dirty="0"/>
              <a:t>Aiswarya Vijayan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C209EA4C-E4F7-8401-E715-A902F0E2531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38284922"/>
                  </p:ext>
                </p:extLst>
              </p:nvPr>
            </p:nvGraphicFramePr>
            <p:xfrm>
              <a:off x="1143061" y="1510114"/>
              <a:ext cx="9566128" cy="4688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91532">
                      <a:extLst>
                        <a:ext uri="{9D8B030D-6E8A-4147-A177-3AD203B41FA5}">
                          <a16:colId xmlns:a16="http://schemas.microsoft.com/office/drawing/2014/main" val="1197773679"/>
                        </a:ext>
                      </a:extLst>
                    </a:gridCol>
                    <a:gridCol w="1474012">
                      <a:extLst>
                        <a:ext uri="{9D8B030D-6E8A-4147-A177-3AD203B41FA5}">
                          <a16:colId xmlns:a16="http://schemas.microsoft.com/office/drawing/2014/main" val="2951635172"/>
                        </a:ext>
                      </a:extLst>
                    </a:gridCol>
                    <a:gridCol w="2718487">
                      <a:extLst>
                        <a:ext uri="{9D8B030D-6E8A-4147-A177-3AD203B41FA5}">
                          <a16:colId xmlns:a16="http://schemas.microsoft.com/office/drawing/2014/main" val="109454763"/>
                        </a:ext>
                      </a:extLst>
                    </a:gridCol>
                    <a:gridCol w="2982097">
                      <a:extLst>
                        <a:ext uri="{9D8B030D-6E8A-4147-A177-3AD203B41FA5}">
                          <a16:colId xmlns:a16="http://schemas.microsoft.com/office/drawing/2014/main" val="188733229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Parameter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Symbol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Typical value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Description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08928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dirty="0"/>
                            <a:t>Rated converter power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AE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ar-AE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1.25 MW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dirty="0"/>
                            <a:t>25 % of 5 MW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3820057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Rated DC link voltage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AE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𝑑𝑐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ar-AE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1200 V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dirty="0"/>
                            <a:t>Intermediate link voltage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691877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Converter current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dirty="0"/>
                            <a:t>                 </a:t>
                          </a:r>
                          <a:r>
                            <a:rPr lang="en-IN" dirty="0" err="1"/>
                            <a:t>Ic</a:t>
                          </a:r>
                          <a:r>
                            <a:rPr lang="en-IN" dirty="0"/>
                            <a:t>​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dirty="0"/>
                            <a:t>≈ 1060 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da-DK" dirty="0"/>
                            <a:t>At 1.25 MW, 1200 V</a:t>
                          </a:r>
                          <a:endParaRPr lang="en-IN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854640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dirty="0"/>
                            <a:t>DC link capacitance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IN" smtClean="0"/>
                                  <m:t>Cdc</m:t>
                                </m:r>
                                <m:r>
                                  <m:rPr>
                                    <m:nor/>
                                  </m:rPr>
                                  <a:rPr lang="en-IN" smtClean="0"/>
                                  <m:t>​</m:t>
                                </m:r>
                              </m:oMath>
                            </m:oMathPara>
                          </a14:m>
                          <a:endParaRPr lang="ar-AE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dirty="0"/>
                            <a:t>≈ 0.107 F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dirty="0"/>
                            <a:t>For </a:t>
                          </a:r>
                          <a:r>
                            <a:rPr lang="el-GR" dirty="0"/>
                            <a:t>Δ</a:t>
                          </a:r>
                          <a:r>
                            <a:rPr lang="en-IN" dirty="0"/>
                            <a:t>V = 5 %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531410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dirty="0"/>
                            <a:t>IGBTs per converter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lang="ar-AE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dirty="0"/>
                            <a:t>     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dirty="0"/>
                            <a:t>Two per phase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811552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Cooling</a:t>
                          </a:r>
                          <a:endParaRPr lang="en-IN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           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oMath>
                          </a14:m>
                          <a:endParaRPr lang="ar-AE" dirty="0"/>
                        </a:p>
                        <a:p>
                          <a:pPr>
                            <a:buNone/>
                          </a:pPr>
                          <a:endParaRPr lang="ar-AE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Liquid or forced air</a:t>
                          </a:r>
                          <a:endParaRPr lang="en-IN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Required for continuous operation</a:t>
                          </a:r>
                          <a:endParaRPr lang="en-IN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491564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Mounting</a:t>
                          </a:r>
                          <a:endParaRPr lang="en-IN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lang="ar-AE" dirty="0"/>
                        </a:p>
                        <a:p>
                          <a:pPr>
                            <a:buNone/>
                          </a:pPr>
                          <a:endParaRPr lang="ar-AE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Inverter cabinet </a:t>
                          </a:r>
                        </a:p>
                        <a:p>
                          <a:pPr>
                            <a:buNone/>
                          </a:pPr>
                          <a:r>
                            <a:rPr lang="en-US" dirty="0"/>
                            <a:t>(</a:t>
                          </a:r>
                          <a:r>
                            <a:rPr lang="en-IN" dirty="0"/>
                            <a:t>≈ 1.6 x 0.8x 0.6 m 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Installed in nacelle</a:t>
                          </a:r>
                          <a:endParaRPr lang="en-IN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555219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Total converter mass</a:t>
                          </a:r>
                          <a:endParaRPr lang="en-IN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lang="ar-AE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dirty="0"/>
                            <a:t>≈ 2 tonnes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Including </a:t>
                          </a:r>
                          <a:r>
                            <a:rPr lang="en-US" dirty="0" err="1"/>
                            <a:t>heatsinks,busbars</a:t>
                          </a:r>
                          <a:r>
                            <a:rPr lang="en-US" dirty="0"/>
                            <a:t>,</a:t>
                          </a:r>
                        </a:p>
                        <a:p>
                          <a:pPr>
                            <a:buNone/>
                          </a:pPr>
                          <a:r>
                            <a:rPr lang="en-US" dirty="0"/>
                            <a:t>filter</a:t>
                          </a:r>
                          <a:endParaRPr lang="en-IN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8741096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C209EA4C-E4F7-8401-E715-A902F0E2531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38284922"/>
                  </p:ext>
                </p:extLst>
              </p:nvPr>
            </p:nvGraphicFramePr>
            <p:xfrm>
              <a:off x="1143061" y="1510114"/>
              <a:ext cx="9566128" cy="4688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91532">
                      <a:extLst>
                        <a:ext uri="{9D8B030D-6E8A-4147-A177-3AD203B41FA5}">
                          <a16:colId xmlns:a16="http://schemas.microsoft.com/office/drawing/2014/main" val="1197773679"/>
                        </a:ext>
                      </a:extLst>
                    </a:gridCol>
                    <a:gridCol w="1474012">
                      <a:extLst>
                        <a:ext uri="{9D8B030D-6E8A-4147-A177-3AD203B41FA5}">
                          <a16:colId xmlns:a16="http://schemas.microsoft.com/office/drawing/2014/main" val="2951635172"/>
                        </a:ext>
                      </a:extLst>
                    </a:gridCol>
                    <a:gridCol w="2718487">
                      <a:extLst>
                        <a:ext uri="{9D8B030D-6E8A-4147-A177-3AD203B41FA5}">
                          <a16:colId xmlns:a16="http://schemas.microsoft.com/office/drawing/2014/main" val="109454763"/>
                        </a:ext>
                      </a:extLst>
                    </a:gridCol>
                    <a:gridCol w="2982097">
                      <a:extLst>
                        <a:ext uri="{9D8B030D-6E8A-4147-A177-3AD203B41FA5}">
                          <a16:colId xmlns:a16="http://schemas.microsoft.com/office/drawing/2014/main" val="188733229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Parameter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Symbol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Typical value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Description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08928878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dirty="0"/>
                            <a:t>Rated converter power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63485" t="-61905" r="-390041" b="-59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1.25 MW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dirty="0"/>
                            <a:t>25 % of 5 MW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3820057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Rated DC link voltage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63485" t="-278689" r="-390041" b="-9180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1200 V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dirty="0"/>
                            <a:t>Intermediate link voltage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691877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Converter current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dirty="0"/>
                            <a:t>                 </a:t>
                          </a:r>
                          <a:r>
                            <a:rPr lang="en-IN" dirty="0" err="1"/>
                            <a:t>Ic</a:t>
                          </a:r>
                          <a:r>
                            <a:rPr lang="en-IN" dirty="0"/>
                            <a:t>​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dirty="0"/>
                            <a:t>≈ 1060 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da-DK" dirty="0"/>
                            <a:t>At 1.25 MW, 1200 V</a:t>
                          </a:r>
                          <a:endParaRPr lang="en-IN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854640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dirty="0"/>
                            <a:t>DC link capacitance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63485" t="-478689" r="-390041" b="-7180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dirty="0"/>
                            <a:t>≈ 0.107 F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dirty="0"/>
                            <a:t>For </a:t>
                          </a:r>
                          <a:r>
                            <a:rPr lang="el-GR" dirty="0"/>
                            <a:t>Δ</a:t>
                          </a:r>
                          <a:r>
                            <a:rPr lang="en-IN" dirty="0"/>
                            <a:t>V = 5 %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531410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dirty="0"/>
                            <a:t>IGBTs per converter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63485" t="-578689" r="-390041" b="-6180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dirty="0"/>
                            <a:t>     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dirty="0"/>
                            <a:t>Two per phase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81155298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Cooling</a:t>
                          </a:r>
                          <a:endParaRPr lang="en-IN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63485" t="-394286" r="-390041" b="-2590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Liquid or forced air</a:t>
                          </a:r>
                          <a:endParaRPr lang="en-IN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Required for continuous operation</a:t>
                          </a:r>
                          <a:endParaRPr lang="en-IN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49156484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Mounting</a:t>
                          </a:r>
                          <a:endParaRPr lang="en-IN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63485" t="-494286" r="-390041" b="-1590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Inverter cabinet </a:t>
                          </a:r>
                        </a:p>
                        <a:p>
                          <a:pPr>
                            <a:buNone/>
                          </a:pPr>
                          <a:r>
                            <a:rPr lang="en-US" dirty="0"/>
                            <a:t>(</a:t>
                          </a:r>
                          <a:r>
                            <a:rPr lang="en-IN" dirty="0"/>
                            <a:t>≈ 1.6 x 0.8x 0.6 m 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Installed in nacelle</a:t>
                          </a:r>
                          <a:endParaRPr lang="en-IN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55521968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Total converter mass</a:t>
                          </a:r>
                          <a:endParaRPr lang="en-IN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63485" t="-416000" r="-390041" b="-1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dirty="0"/>
                            <a:t>≈ 2 tonnes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Including </a:t>
                          </a:r>
                          <a:r>
                            <a:rPr lang="en-US" dirty="0" err="1"/>
                            <a:t>heatsinks,busbars</a:t>
                          </a:r>
                          <a:r>
                            <a:rPr lang="en-US" dirty="0"/>
                            <a:t>,</a:t>
                          </a:r>
                        </a:p>
                        <a:p>
                          <a:pPr>
                            <a:buNone/>
                          </a:pPr>
                          <a:r>
                            <a:rPr lang="en-US" dirty="0"/>
                            <a:t>filter</a:t>
                          </a:r>
                          <a:endParaRPr lang="en-IN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8741096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2003AEA-03A8-D35E-3F20-824DC14E43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567488"/>
            <a:ext cx="1111250" cy="365125"/>
          </a:xfrm>
        </p:spPr>
        <p:txBody>
          <a:bodyPr/>
          <a:lstStyle/>
          <a:p>
            <a:r>
              <a:rPr lang="en-US" dirty="0"/>
              <a:t>11/04/2025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807844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16F3C-E304-A05B-36CC-F7987BC5A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6AEE849D-D9B7-1150-C53E-6FCB88ED0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7.Next Step</a:t>
            </a:r>
            <a:endParaRPr lang="de-DE" dirty="0">
              <a:solidFill>
                <a:prstClr val="black"/>
              </a:solidFill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23DCAAD-6FE7-ABB8-F183-34B025EBDC7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de-DE" dirty="0"/>
              <a:t>Electrical Drivetrain / Optimus Syria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0C6C4A7-3CDD-4DBA-4660-C6A2EEC435A7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10</a:t>
            </a:fld>
            <a:endParaRPr lang="de-DE" dirty="0"/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A53C376E-38F7-423F-EADE-D796DFBEBB7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878527" y="6564113"/>
            <a:ext cx="5596085" cy="365125"/>
          </a:xfrm>
        </p:spPr>
        <p:txBody>
          <a:bodyPr/>
          <a:lstStyle/>
          <a:p>
            <a:r>
              <a:rPr lang="en-GB" dirty="0"/>
              <a:t>Aiswarya Vijayan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81826B-7C16-9339-747E-22AF0E7FAB42}"/>
              </a:ext>
            </a:extLst>
          </p:cNvPr>
          <p:cNvSpPr txBox="1"/>
          <p:nvPr/>
        </p:nvSpPr>
        <p:spPr>
          <a:xfrm>
            <a:off x="838200" y="1690688"/>
            <a:ext cx="819531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Finalize all the Electrical parameters.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Finalize the size of each components.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Develop the complete DFIG drivetrain model in MATLAB/Simulink.</a:t>
            </a:r>
          </a:p>
          <a:p>
            <a:endParaRPr lang="en-US" dirty="0"/>
          </a:p>
        </p:txBody>
      </p:sp>
      <p:sp>
        <p:nvSpPr>
          <p:cNvPr id="2" name="Datumsplatzhalter 3">
            <a:extLst>
              <a:ext uri="{FF2B5EF4-FFF2-40B4-BE49-F238E27FC236}">
                <a16:creationId xmlns:a16="http://schemas.microsoft.com/office/drawing/2014/main" id="{8AEE8DB0-9841-5964-5327-D15E924DD505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38200" y="6567488"/>
            <a:ext cx="1111250" cy="365125"/>
          </a:xfrm>
        </p:spPr>
        <p:txBody>
          <a:bodyPr/>
          <a:lstStyle/>
          <a:p>
            <a:r>
              <a:rPr lang="en-US" dirty="0"/>
              <a:t>11/04/2025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30714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文本框"/>
          <p:cNvSpPr>
            <a:spLocks noGrp="1"/>
          </p:cNvSpPr>
          <p:nvPr>
            <p:ph type="title"/>
          </p:nvPr>
        </p:nvSpPr>
        <p:spPr>
          <a:xfrm>
            <a:off x="937592" y="324643"/>
            <a:ext cx="10515600" cy="132556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en-US" altLang="zh-CN" dirty="0"/>
              <a:t>Bibliography </a:t>
            </a:r>
            <a:endParaRPr lang="zh-CN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1F4E31-D8EF-BD6B-0B21-F913357B082A}"/>
              </a:ext>
            </a:extLst>
          </p:cNvPr>
          <p:cNvSpPr>
            <a:spLocks noGrp="1"/>
          </p:cNvSpPr>
          <p:nvPr>
            <p:ph type="ftr"/>
          </p:nvPr>
        </p:nvSpPr>
        <p:spPr/>
        <p:txBody>
          <a:bodyPr/>
          <a:lstStyle/>
          <a:p>
            <a:pPr algn="r"/>
            <a:r>
              <a:rPr lang="en-US" altLang="zh-CN" sz="1200">
                <a:solidFill>
                  <a:schemeClr val="bg1"/>
                </a:solidFill>
                <a:latin typeface="Aptos" charset="0"/>
                <a:ea typeface="等线" charset="0"/>
                <a:cs typeface="Aptos" charset="0"/>
              </a:rPr>
              <a:t>Electrical Drivetrain / Optimus Syria</a:t>
            </a:r>
            <a:endParaRPr lang="zh-CN" altLang="en-US" sz="1200">
              <a:solidFill>
                <a:schemeClr val="bg1"/>
              </a:solidFill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025A4F-3163-9DBF-FD18-19E943A66680}"/>
              </a:ext>
            </a:extLst>
          </p:cNvPr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ctr"/>
            <a:fld id="{CAD2D6BD-DE1B-4B5F-8B41-2702339687B9}" type="slidenum">
              <a:rPr lang="en-US" altLang="zh-CN" sz="1200" b="0" i="0" u="none" strike="noStrike" kern="1200" cap="none" spc="0" baseline="0" smtClean="0">
                <a:solidFill>
                  <a:schemeClr val="bg1"/>
                </a:solidFill>
                <a:latin typeface="Aptos" charset="0"/>
                <a:ea typeface="等线" charset="0"/>
                <a:cs typeface="Aptos" charset="0"/>
              </a:rPr>
              <a:t>11</a:t>
            </a:fld>
            <a:endParaRPr lang="zh-CN" altLang="en-US" sz="1200" dirty="0">
              <a:solidFill>
                <a:schemeClr val="bg1"/>
              </a:solidFill>
              <a:latin typeface="Aptos" charset="0"/>
              <a:ea typeface="等线" charset="0"/>
              <a:cs typeface="Aptos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4750FB-0F77-2AFD-5052-3F1383A74A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0142" y="6563174"/>
            <a:ext cx="2883658" cy="365792"/>
          </a:xfrm>
          <a:prstGeom prst="rect">
            <a:avLst/>
          </a:prstGeom>
        </p:spPr>
      </p:pic>
      <p:sp>
        <p:nvSpPr>
          <p:cNvPr id="9" name="Datumsplatzhalter 3">
            <a:extLst>
              <a:ext uri="{FF2B5EF4-FFF2-40B4-BE49-F238E27FC236}">
                <a16:creationId xmlns:a16="http://schemas.microsoft.com/office/drawing/2014/main" id="{41C0995E-FEBD-077C-14BB-63CEFB257421}"/>
              </a:ext>
            </a:extLst>
          </p:cNvPr>
          <p:cNvSpPr txBox="1">
            <a:spLocks/>
          </p:cNvSpPr>
          <p:nvPr/>
        </p:nvSpPr>
        <p:spPr>
          <a:xfrm>
            <a:off x="937592" y="6563841"/>
            <a:ext cx="1537252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bg1"/>
                </a:solidFill>
              </a:rPr>
              <a:t>11/04/2025</a:t>
            </a:r>
            <a:endParaRPr lang="de-DE" sz="1200" dirty="0">
              <a:solidFill>
                <a:schemeClr val="bg1"/>
              </a:solidFill>
            </a:endParaRPr>
          </a:p>
        </p:txBody>
      </p:sp>
      <p:sp>
        <p:nvSpPr>
          <p:cNvPr id="11" name="Textplatzhalter 2">
            <a:extLst>
              <a:ext uri="{FF2B5EF4-FFF2-40B4-BE49-F238E27FC236}">
                <a16:creationId xmlns:a16="http://schemas.microsoft.com/office/drawing/2014/main" id="{623B4881-1EC5-EE56-191B-9370A1E6C82D}"/>
              </a:ext>
            </a:extLst>
          </p:cNvPr>
          <p:cNvSpPr txBox="1">
            <a:spLocks/>
          </p:cNvSpPr>
          <p:nvPr/>
        </p:nvSpPr>
        <p:spPr>
          <a:xfrm>
            <a:off x="2878527" y="6564113"/>
            <a:ext cx="5596085" cy="3651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1200" dirty="0">
                <a:solidFill>
                  <a:schemeClr val="bg1"/>
                </a:solidFill>
              </a:rPr>
              <a:t>Aiswarya Vijayan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6206F95-7282-841C-C068-9BF43CB5A0B0}"/>
              </a:ext>
            </a:extLst>
          </p:cNvPr>
          <p:cNvSpPr txBox="1">
            <a:spLocks/>
          </p:cNvSpPr>
          <p:nvPr/>
        </p:nvSpPr>
        <p:spPr>
          <a:xfrm>
            <a:off x="701372" y="1650205"/>
            <a:ext cx="10988040" cy="4351338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rtlCol="0" anchor="t" anchorCtr="0">
            <a:prstTxWarp prst="textNoShape">
              <a:avLst/>
            </a:prstTxWarp>
            <a:normAutofit fontScale="9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arenR"/>
            </a:pPr>
            <a:r>
              <a:rPr lang="en-US" dirty="0"/>
              <a:t>Z. Q. Zhu and J. Hu, “Electrical machines and power-electronic systems for high-power wind energy generation applications: Part II – power electronics and control systems,” </a:t>
            </a:r>
            <a:r>
              <a:rPr lang="en-US" i="1" dirty="0"/>
              <a:t>COMPEL: The International Journal for Computation and Mathematics in Electrical and Electronic Engineering</a:t>
            </a:r>
            <a:r>
              <a:rPr lang="en-US" dirty="0"/>
              <a:t>, vol. 32, no. 1, pp. 34-71, 2013, </a:t>
            </a:r>
            <a:r>
              <a:rPr lang="en-US" dirty="0" err="1"/>
              <a:t>doi</a:t>
            </a:r>
            <a:r>
              <a:rPr lang="en-US" dirty="0"/>
              <a:t>: 10.1108/03321641311293740.(accessed on 31/10/2025)</a:t>
            </a:r>
          </a:p>
          <a:p>
            <a:pPr marL="342900" indent="-342900">
              <a:buFont typeface="+mj-lt"/>
              <a:buAutoNum type="arabicParenR"/>
            </a:pPr>
            <a:r>
              <a:rPr lang="en-IN" dirty="0"/>
              <a:t>Hussain, H. A., </a:t>
            </a:r>
            <a:r>
              <a:rPr lang="en-IN" dirty="0" err="1"/>
              <a:t>Loncarski</a:t>
            </a:r>
            <a:r>
              <a:rPr lang="en-IN" dirty="0"/>
              <a:t>, J., Ristic, L. B., &amp; Bellini, A., “DFIG-Based WECS With Partial-Scale Converter: Efficiency, Cost, and Volume Comparison of </a:t>
            </a:r>
            <a:r>
              <a:rPr lang="en-IN" dirty="0" err="1"/>
              <a:t>SiC</a:t>
            </a:r>
            <a:r>
              <a:rPr lang="en-IN" dirty="0"/>
              <a:t>-Based and IGBT-Based Converter Solution,” </a:t>
            </a:r>
            <a:r>
              <a:rPr lang="en-IN" i="1" dirty="0"/>
              <a:t>IEEE Access</a:t>
            </a:r>
            <a:r>
              <a:rPr lang="en-IN" dirty="0"/>
              <a:t>, vol. 12, pp. 89908-89920, 2024, </a:t>
            </a:r>
            <a:r>
              <a:rPr lang="en-IN" dirty="0" err="1"/>
              <a:t>doi</a:t>
            </a:r>
            <a:r>
              <a:rPr lang="en-IN" dirty="0"/>
              <a:t>: 10.1109/ACCESS.2024.3419810.(accessed on 30/10/2025) </a:t>
            </a:r>
          </a:p>
          <a:p>
            <a:pPr marL="342900" indent="-342900">
              <a:buFont typeface="+mj-lt"/>
              <a:buAutoNum type="arabicParenR"/>
            </a:pPr>
            <a:r>
              <a:rPr lang="en-IN" dirty="0"/>
              <a:t>Shabani, H. R., Hajizadeh, A., Kalantar, M., et al., “Transient stability analysis of DFIG-based wind farm-integrated power system considering gearbox ratio and reactive power control,” </a:t>
            </a:r>
            <a:r>
              <a:rPr lang="en-IN" i="1" dirty="0"/>
              <a:t>Electrical Engineering</a:t>
            </a:r>
            <a:r>
              <a:rPr lang="en-IN" dirty="0"/>
              <a:t>, vol. 105, pp. 3719-3735, Dec. 2023, </a:t>
            </a:r>
            <a:r>
              <a:rPr lang="en-IN" dirty="0" err="1"/>
              <a:t>doi</a:t>
            </a:r>
            <a:r>
              <a:rPr lang="en-IN" dirty="0"/>
              <a:t>: 10.1007/s00202-023-01906-3.(accessed on 01/11/2025)</a:t>
            </a:r>
          </a:p>
          <a:p>
            <a:pPr marL="342900" indent="-342900">
              <a:buFont typeface="+mj-lt"/>
              <a:buAutoNum type="arabicParenR"/>
            </a:pPr>
            <a:r>
              <a:rPr lang="en-US" dirty="0"/>
              <a:t>El </a:t>
            </a:r>
            <a:r>
              <a:rPr lang="en-US" dirty="0" err="1"/>
              <a:t>Moudden</a:t>
            </a:r>
            <a:r>
              <a:rPr lang="en-US" dirty="0"/>
              <a:t>, A., Aarib, A., &amp; </a:t>
            </a:r>
            <a:r>
              <a:rPr lang="en-US" dirty="0" err="1"/>
              <a:t>Hmidat</a:t>
            </a:r>
            <a:r>
              <a:rPr lang="en-US" dirty="0"/>
              <a:t>, A., “The Converter Command for the Doubly-Fed Induction Generator with Variable Speed used in the Wind Power Production,” </a:t>
            </a:r>
            <a:r>
              <a:rPr lang="en-US" i="1" dirty="0"/>
              <a:t>International Journal of Applied Information Systems</a:t>
            </a:r>
            <a:r>
              <a:rPr lang="en-US" dirty="0"/>
              <a:t>, vol. 8, no. 6, pp. 32-39, Apr. 2015, </a:t>
            </a:r>
            <a:r>
              <a:rPr lang="en-US" dirty="0" err="1"/>
              <a:t>doi</a:t>
            </a:r>
            <a:r>
              <a:rPr lang="en-US" dirty="0"/>
              <a:t>: 10.5120/ijais15-451335.(accessed on 31/10/2025)</a:t>
            </a:r>
          </a:p>
          <a:p>
            <a:pPr marL="342900" indent="-342900">
              <a:buFont typeface="+mj-lt"/>
              <a:buAutoNum type="arabicParenR"/>
            </a:pPr>
            <a:r>
              <a:rPr lang="en-IN" dirty="0"/>
              <a:t>F. Shafiei, “Modelling and Verification of Doubly Fed Induction Generator (DFIG) using Real Time Digital Simulator (RTDS),” Master’s thesis, Chalmers University of Technology, </a:t>
            </a:r>
            <a:r>
              <a:rPr lang="en-IN" dirty="0" err="1"/>
              <a:t>Göteborg</a:t>
            </a:r>
            <a:r>
              <a:rPr lang="en-IN" dirty="0"/>
              <a:t>, Sweden, 2012. [Online]. Available: </a:t>
            </a:r>
            <a:r>
              <a:rPr lang="en-IN" dirty="0">
                <a:hlinkClick r:id="rId4"/>
              </a:rPr>
              <a:t>https://publications.lib.chalmers.se/records/fulltext/169777/169777.pdf</a:t>
            </a:r>
            <a:r>
              <a:rPr lang="en-IN" dirty="0"/>
              <a:t> (accessed on 02/11/2025)</a:t>
            </a:r>
          </a:p>
          <a:p>
            <a:pPr marL="342900" indent="-342900">
              <a:buFont typeface="+mj-lt"/>
              <a:buAutoNum type="arabicParenR"/>
            </a:pPr>
            <a:r>
              <a:rPr lang="en-IN" dirty="0"/>
              <a:t>ABB, </a:t>
            </a:r>
            <a:r>
              <a:rPr lang="en-IN" i="1" dirty="0"/>
              <a:t>“ACS880-17 Cabinet-Built Single Drives Technical </a:t>
            </a:r>
            <a:r>
              <a:rPr lang="en-IN" i="1" dirty="0" err="1"/>
              <a:t>Catalog</a:t>
            </a:r>
            <a:r>
              <a:rPr lang="en-IN" i="1" dirty="0"/>
              <a:t>,”</a:t>
            </a:r>
            <a:r>
              <a:rPr lang="en-IN" dirty="0"/>
              <a:t> ABB Oy, Helsinki, Finland, 2023. [Online]. Available: </a:t>
            </a:r>
            <a:r>
              <a:rPr lang="en-IN" dirty="0">
                <a:hlinkClick r:id="rId5"/>
              </a:rPr>
              <a:t>https://new.abb.com/drives</a:t>
            </a:r>
            <a:r>
              <a:rPr lang="en-IN" dirty="0"/>
              <a:t> (accessed on 01/11/2025)</a:t>
            </a:r>
          </a:p>
          <a:p>
            <a:pPr marL="342900" indent="-342900">
              <a:buFont typeface="+mj-lt"/>
              <a:buAutoNum type="arabicParenR"/>
            </a:pPr>
            <a:r>
              <a:rPr lang="en-IN" dirty="0"/>
              <a:t>Semikron Danfoss, </a:t>
            </a:r>
            <a:r>
              <a:rPr lang="en-IN" i="1" dirty="0"/>
              <a:t>“</a:t>
            </a:r>
            <a:r>
              <a:rPr lang="en-IN" i="1" dirty="0" err="1"/>
              <a:t>SKiiP</a:t>
            </a:r>
            <a:r>
              <a:rPr lang="en-IN" i="1" dirty="0"/>
              <a:t> Intelligent Power Modules – Product Family Overview,”</a:t>
            </a:r>
            <a:r>
              <a:rPr lang="en-IN" dirty="0"/>
              <a:t> Nuremberg, Germany, 2023. [Online]. Available: </a:t>
            </a:r>
            <a:r>
              <a:rPr lang="en-IN" dirty="0">
                <a:hlinkClick r:id="rId6"/>
              </a:rPr>
              <a:t>https://www.semikron-danfoss.com</a:t>
            </a:r>
            <a:r>
              <a:rPr lang="en-IN" dirty="0"/>
              <a:t> (accessed on 01/11/2025)</a:t>
            </a:r>
          </a:p>
          <a:p>
            <a:pPr marL="342900" indent="-342900">
              <a:buFont typeface="+mj-lt"/>
              <a:buAutoNum type="arabicParenR"/>
            </a:pPr>
            <a:r>
              <a:rPr lang="en-US" dirty="0"/>
              <a:t>TDK Electronics, </a:t>
            </a:r>
            <a:r>
              <a:rPr lang="en-US" i="1" dirty="0"/>
              <a:t>“B25667 Series: Power Capacitors for DC-Link Circuits (MKP Technology),”</a:t>
            </a:r>
            <a:r>
              <a:rPr lang="en-US" dirty="0"/>
              <a:t> Datasheet, 2024. [Online]. Available: </a:t>
            </a:r>
            <a:r>
              <a:rPr lang="en-US" dirty="0">
                <a:hlinkClick r:id="rId7"/>
              </a:rPr>
              <a:t>https://product.tdk.com/en/catalog</a:t>
            </a:r>
            <a:r>
              <a:rPr lang="en-US" dirty="0"/>
              <a:t> (accessed on 02/11/2025)</a:t>
            </a:r>
          </a:p>
          <a:p>
            <a:pPr marL="342900" indent="-342900">
              <a:buFont typeface="+mj-lt"/>
              <a:buAutoNum type="arabicParenR"/>
            </a:pPr>
            <a:endParaRPr lang="en-US" dirty="0">
              <a:cs typeface="Times New Roman" panose="02020603050405020304" pitchFamily="18" charset="0"/>
            </a:endParaRPr>
          </a:p>
          <a:p>
            <a:pPr>
              <a:defRPr/>
            </a:pPr>
            <a:endParaRPr lang="it-IT" dirty="0"/>
          </a:p>
          <a:p>
            <a:endParaRPr lang="de-DE" dirty="0"/>
          </a:p>
        </p:txBody>
      </p:sp>
      <p:sp>
        <p:nvSpPr>
          <p:cNvPr id="16" name="Foliennummernplatzhalter 5">
            <a:extLst>
              <a:ext uri="{FF2B5EF4-FFF2-40B4-BE49-F238E27FC236}">
                <a16:creationId xmlns:a16="http://schemas.microsoft.com/office/drawing/2014/main" id="{F7D00D96-B25F-2B58-BBC1-1A74FAC2127C}"/>
              </a:ext>
            </a:extLst>
          </p:cNvPr>
          <p:cNvSpPr txBox="1">
            <a:spLocks/>
          </p:cNvSpPr>
          <p:nvPr/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200" dirty="0">
                <a:solidFill>
                  <a:schemeClr val="bg1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40729671"/>
      </p:ext>
    </p:extLst>
  </p:cSld>
  <p:clrMapOvr>
    <a:masterClrMapping/>
  </p:clrMapOvr>
</p:sld>
</file>

<file path=ppt/theme/theme1.xml><?xml version="1.0" encoding="utf-8"?>
<a:theme xmlns:a="http://schemas.openxmlformats.org/drawingml/2006/main" name="Benutzerdefiniertes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2" id="{37666F68-9715-4511-90E3-E4140495B232}" vid="{4FEE3175-B49C-4319-8ECD-B48408CDBF8F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2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2" id="{37666F68-9715-4511-90E3-E4140495B232}" vid="{9BE4395A-200E-4568-ABA6-DAB134CF054B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1">
    <wetp:webextensionref xmlns:r="http://schemas.openxmlformats.org/officeDocument/2006/relationships" r:id="rId1"/>
  </wetp:taskpane>
  <wetp:taskpane dockstate="right" visibility="0" width="438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BCD039B6-C6AB-492A-94BF-C46AF895D2E7}">
  <we:reference id="WA200007130" version="1.0.0.1" store="en-US" storeType="omex"/>
  <we:alternateReferences>
    <we:reference id="WA200007130" version="1.0.0.1" store="en-US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73D784B2-E216-4A14-BE4B-F0CA301E2B20}">
  <we:reference id="WA200005566" version="3.0.0.3" store="en-US" storeType="omex"/>
  <we:alternateReferences>
    <we:reference id="WA200005566" version="3.0.0.3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Presentation template_final</Template>
  <TotalTime>1183</TotalTime>
  <Words>1238</Words>
  <Application>Microsoft Office PowerPoint</Application>
  <PresentationFormat>Widescreen</PresentationFormat>
  <Paragraphs>157</Paragraphs>
  <Slides>11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Aptos</vt:lpstr>
      <vt:lpstr>Aptos (Textkörper)</vt:lpstr>
      <vt:lpstr>Aptos Display</vt:lpstr>
      <vt:lpstr>Arial</vt:lpstr>
      <vt:lpstr>Calibri</vt:lpstr>
      <vt:lpstr>Calibri Light</vt:lpstr>
      <vt:lpstr>Cambria Math</vt:lpstr>
      <vt:lpstr>Times New Roman</vt:lpstr>
      <vt:lpstr>Benutzerdefiniertes Design</vt:lpstr>
      <vt:lpstr>Office</vt:lpstr>
      <vt:lpstr>PowerPoint Presentation</vt:lpstr>
      <vt:lpstr>List of contents</vt:lpstr>
      <vt:lpstr>1.Converter Size and Configuration</vt:lpstr>
      <vt:lpstr>2. IGBT Module Structure  </vt:lpstr>
      <vt:lpstr>3. IGBT Configuration  </vt:lpstr>
      <vt:lpstr>3. How IGBT is connected </vt:lpstr>
      <vt:lpstr>4. Control Structure Overview </vt:lpstr>
      <vt:lpstr>5. Control structure of Converter </vt:lpstr>
      <vt:lpstr>6. Component Dimensions &amp; Parameters </vt:lpstr>
      <vt:lpstr>7.Next Step</vt:lpstr>
      <vt:lpstr>Bibliography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Josef Remberger</dc:creator>
  <cp:lastModifiedBy>Ecoloop ThreeSixty</cp:lastModifiedBy>
  <cp:revision>68</cp:revision>
  <dcterms:created xsi:type="dcterms:W3CDTF">2025-09-27T08:52:45Z</dcterms:created>
  <dcterms:modified xsi:type="dcterms:W3CDTF">2025-11-03T10:56:37Z</dcterms:modified>
</cp:coreProperties>
</file>