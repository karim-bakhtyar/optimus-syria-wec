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 /><Relationship Id="rId2" Type="http://schemas.openxmlformats.org/officeDocument/2006/relationships/officeDocument" Target="ppt/presentation.xml" /><Relationship Id="rId1" Type="http://schemas.microsoft.com/office/2011/relationships/webextensiontaskpanes" Target="ppt/webextensions/taskpanes.xml" /><Relationship Id="rId5" Type="http://schemas.openxmlformats.org/officeDocument/2006/relationships/extended-properties" Target="docProps/app.xml" /><Relationship Id="rId4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6"/>
  </p:notesMasterIdLst>
  <p:handoutMasterIdLst>
    <p:handoutMasterId r:id="rId17"/>
  </p:handoutMasterIdLst>
  <p:sldIdLst>
    <p:sldId id="271" r:id="rId3"/>
    <p:sldId id="263" r:id="rId4"/>
    <p:sldId id="259" r:id="rId5"/>
    <p:sldId id="264" r:id="rId6"/>
    <p:sldId id="288" r:id="rId7"/>
    <p:sldId id="281" r:id="rId8"/>
    <p:sldId id="278" r:id="rId9"/>
    <p:sldId id="282" r:id="rId10"/>
    <p:sldId id="283" r:id="rId11"/>
    <p:sldId id="284" r:id="rId12"/>
    <p:sldId id="287" r:id="rId13"/>
    <p:sldId id="28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1"/>
            <p14:sldId id="263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264"/>
            <p14:sldId id="288"/>
            <p14:sldId id="281"/>
            <p14:sldId id="278"/>
            <p14:sldId id="282"/>
            <p14:sldId id="283"/>
            <p14:sldId id="284"/>
            <p14:sldId id="287"/>
            <p14:sldId id="286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presProps" Target="presProps.xml" /><Relationship Id="rId3" Type="http://schemas.openxmlformats.org/officeDocument/2006/relationships/slide" Target="slides/slide1.xml" /><Relationship Id="rId21" Type="http://schemas.openxmlformats.org/officeDocument/2006/relationships/tableStyles" Target="tableStyles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handoutMaster" Target="handoutMasters/handoutMaster1.xml" /><Relationship Id="rId2" Type="http://schemas.openxmlformats.org/officeDocument/2006/relationships/slideMaster" Target="slideMasters/slideMaster2.xml" /><Relationship Id="rId16" Type="http://schemas.openxmlformats.org/officeDocument/2006/relationships/notesMaster" Target="notesMasters/notesMaster1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10" Type="http://schemas.openxmlformats.org/officeDocument/2006/relationships/slide" Target="slides/slide8.xml" /><Relationship Id="rId19" Type="http://schemas.openxmlformats.org/officeDocument/2006/relationships/viewProps" Target="viewProps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03.11.2025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2.xml" /><Relationship Id="rId6" Type="http://schemas.openxmlformats.org/officeDocument/2006/relationships/image" Target="../media/image6.jp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2.xml" /><Relationship Id="rId6" Type="http://schemas.openxmlformats.org/officeDocument/2006/relationships/image" Target="../media/image6.jp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Relationship Id="rId5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Relationship Id="rId5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D9B92D8-576F-E2EC-294B-2558F9D8C6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647B16-EA31-6786-DA18-D9B47CB286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44)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F5AC43-E5EF-0524-5C72-3AC43D2D1965}"/>
              </a:ext>
            </a:extLst>
          </p:cNvPr>
          <p:cNvSpPr/>
          <p:nvPr userDrawn="1"/>
        </p:nvSpPr>
        <p:spPr>
          <a:xfrm>
            <a:off x="7392013" y="172238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the </a:t>
            </a:r>
            <a:r>
              <a:rPr lang="it-IT" dirty="0" err="1"/>
              <a:t>heading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style </a:t>
            </a:r>
            <a:endParaRPr lang="en-GB" dirty="0"/>
          </a:p>
        </p:txBody>
      </p:sp>
      <p:cxnSp>
        <p:nvCxnSpPr>
          <p:cNvPr id="5" name="Straight Arrow Connector 21">
            <a:extLst>
              <a:ext uri="{FF2B5EF4-FFF2-40B4-BE49-F238E27FC236}">
                <a16:creationId xmlns:a16="http://schemas.microsoft.com/office/drawing/2014/main" id="{E14BA36E-5CEF-0525-3ADE-5A38CD19B2C1}"/>
              </a:ext>
            </a:extLst>
          </p:cNvPr>
          <p:cNvCxnSpPr>
            <a:cxnSpLocks/>
            <a:stCxn id="3" idx="0"/>
          </p:cNvCxnSpPr>
          <p:nvPr userDrawn="1"/>
        </p:nvCxnSpPr>
        <p:spPr>
          <a:xfrm flipH="1" flipV="1">
            <a:off x="7108466" y="1095661"/>
            <a:ext cx="1585182" cy="62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A08F222C-E6B4-CB18-1940-4D03D41410C5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8E6A6-5F2B-4404-D02B-D0186EA2675E}"/>
              </a:ext>
            </a:extLst>
          </p:cNvPr>
          <p:cNvSpPr txBox="1"/>
          <p:nvPr userDrawn="1"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3822456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dirty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 dirty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941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 /><Relationship Id="rId2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9.xml" /><Relationship Id="rId5" Type="http://schemas.openxmlformats.org/officeDocument/2006/relationships/theme" Target="../theme/theme2.xml" /><Relationship Id="rId4" Type="http://schemas.openxmlformats.org/officeDocument/2006/relationships/slideLayout" Target="../slideLayouts/slideLayout2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5F882E33-D020-7E7B-7744-FA472C533769}"/>
              </a:ext>
            </a:extLst>
          </p:cNvPr>
          <p:cNvSpPr txBox="1">
            <a:spLocks/>
          </p:cNvSpPr>
          <p:nvPr userDrawn="1"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b="0" u="none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Venkata Sreekanth .K</a:t>
            </a:r>
            <a:endParaRPr lang="en-US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983DE9D-3043-CD58-EF37-FD7A4639229C}"/>
              </a:ext>
            </a:extLst>
          </p:cNvPr>
          <p:cNvSpPr txBox="1"/>
          <p:nvPr userDrawn="1"/>
        </p:nvSpPr>
        <p:spPr>
          <a:xfrm>
            <a:off x="8505523" y="6616896"/>
            <a:ext cx="2817365" cy="25955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u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Rotor Bearing System/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04/11/2025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3" r:id="rId2"/>
    <p:sldLayoutId id="2147483675" r:id="rId3"/>
    <p:sldLayoutId id="214748367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5.png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5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5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5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24.png" /><Relationship Id="rId4" Type="http://schemas.openxmlformats.org/officeDocument/2006/relationships/image" Target="../media/image23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kf.com/group/products/rolling-bearings/roller-bearings/spherical-roller-bearings/productid-240%2F1120" TargetMode="External" /><Relationship Id="rId2" Type="http://schemas.openxmlformats.org/officeDocument/2006/relationships/hyperlink" Target="https://www.skf.com/group/products/mounted-bearings/bearing-housings/split-pillow-blocks-saf-saw-series/productid-SAF" TargetMode="External" /><Relationship Id="rId1" Type="http://schemas.openxmlformats.org/officeDocument/2006/relationships/slideLayout" Target="../slideLayouts/slideLayout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FC7EDF-25D6-28E8-DCE0-52ED50209C25}"/>
              </a:ext>
            </a:extLst>
          </p:cNvPr>
          <p:cNvSpPr txBox="1"/>
          <p:nvPr/>
        </p:nvSpPr>
        <p:spPr>
          <a:xfrm>
            <a:off x="3913526" y="4104491"/>
            <a:ext cx="4142630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</a:t>
            </a:r>
            <a:r>
              <a:rPr lang="it-IT" dirty="0">
                <a:solidFill>
                  <a:srgbClr val="0E2841">
                    <a:lumMod val="90000"/>
                    <a:lumOff val="10000"/>
                  </a:srgbClr>
                </a:solidFill>
                <a:latin typeface="Aptos (Textkörper)"/>
                <a:cs typeface="Times New Roman" panose="02020603050405020304" pitchFamily="18" charset="0"/>
              </a:rPr>
              <a:t>04 November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188679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Rotor Bearing System / Optimus Syria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03C8AC-ACFF-082C-E04A-301598446FCB}"/>
              </a:ext>
            </a:extLst>
          </p:cNvPr>
          <p:cNvSpPr txBox="1">
            <a:spLocks/>
          </p:cNvSpPr>
          <p:nvPr/>
        </p:nvSpPr>
        <p:spPr>
          <a:xfrm>
            <a:off x="1158240" y="2516402"/>
            <a:ext cx="10414000" cy="912598"/>
          </a:xfrm>
          <a:prstGeom prst="rect">
            <a:avLst/>
          </a:prstGeom>
        </p:spPr>
        <p:txBody>
          <a:bodyPr numCol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Presentation : Rotor Bearing System</a:t>
            </a:r>
            <a:endParaRPr lang="en-GB" sz="4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45C6A5A-D647-B958-532A-B6FD2180F534}"/>
              </a:ext>
            </a:extLst>
          </p:cNvPr>
          <p:cNvSpPr txBox="1"/>
          <p:nvPr/>
        </p:nvSpPr>
        <p:spPr>
          <a:xfrm>
            <a:off x="3591498" y="3539230"/>
            <a:ext cx="4786685" cy="1292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000" dirty="0">
                <a:latin typeface="Aptos (Textkörper)"/>
              </a:rPr>
              <a:t>Week number: 06</a:t>
            </a:r>
          </a:p>
          <a:p>
            <a:pPr algn="ctr"/>
            <a:r>
              <a:rPr lang="it-IT" sz="2000" dirty="0">
                <a:latin typeface="Aptos (Textkörper)"/>
              </a:rPr>
              <a:t>Date: 04/11/2025</a:t>
            </a:r>
          </a:p>
          <a:p>
            <a:pPr algn="ctr"/>
            <a:r>
              <a:rPr lang="it-IT" sz="2000" dirty="0">
                <a:latin typeface="Aptos (Textkörper)"/>
              </a:rPr>
              <a:t>Supervisor: </a:t>
            </a:r>
            <a:r>
              <a:rPr lang="it-IT" sz="2000" dirty="0"/>
              <a:t>Prof.  Peter Quell </a:t>
            </a:r>
            <a:endParaRPr lang="it-IT" sz="2000" dirty="0">
              <a:latin typeface="Aptos (Textkörper)"/>
            </a:endParaRPr>
          </a:p>
          <a:p>
            <a:endParaRPr lang="en-GB" dirty="0"/>
          </a:p>
        </p:txBody>
      </p:sp>
      <p:sp>
        <p:nvSpPr>
          <p:cNvPr id="5" name="Textfeld 12">
            <a:extLst>
              <a:ext uri="{FF2B5EF4-FFF2-40B4-BE49-F238E27FC236}">
                <a16:creationId xmlns:a16="http://schemas.microsoft.com/office/drawing/2014/main" id="{D9A567B7-3E99-FE45-F4F9-8DF602E8F987}"/>
              </a:ext>
            </a:extLst>
          </p:cNvPr>
          <p:cNvSpPr txBox="1">
            <a:spLocks/>
          </p:cNvSpPr>
          <p:nvPr/>
        </p:nvSpPr>
        <p:spPr>
          <a:xfrm>
            <a:off x="1393885" y="4570995"/>
            <a:ext cx="10450286" cy="371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Divyesh Mistry,  Venkata Sreekanth .K , Sreehari Padachery, Jill Sadariya 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BEA2004-2B46-4FBB-0674-B520F411077A}"/>
              </a:ext>
            </a:extLst>
          </p:cNvPr>
          <p:cNvSpPr txBox="1">
            <a:spLocks/>
          </p:cNvSpPr>
          <p:nvPr/>
        </p:nvSpPr>
        <p:spPr>
          <a:xfrm>
            <a:off x="4801762" y="4942122"/>
            <a:ext cx="3399846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Venkata Sreekanth .K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C666DE2-1276-7519-CD3A-64862C4F70A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en-US" sz="2400" dirty="0"/>
              <a:t>Task of the week.</a:t>
            </a:r>
          </a:p>
          <a:p>
            <a:pPr lvl="0"/>
            <a:r>
              <a:rPr lang="en-US" sz="2400" dirty="0"/>
              <a:t>Scaling : SKF Spherical Roller Bearing (Cylindrical Bore)</a:t>
            </a:r>
          </a:p>
          <a:p>
            <a:pPr lvl="0"/>
            <a:r>
              <a:rPr lang="en-US" sz="2400" dirty="0">
                <a:cs typeface="Times New Roman" panose="02020603050405020304" pitchFamily="18" charset="0"/>
              </a:rPr>
              <a:t>Load Equilibrium in a 3-Point Suspension System.</a:t>
            </a:r>
          </a:p>
          <a:p>
            <a:pPr lvl="0"/>
            <a:r>
              <a:rPr lang="en-US" sz="2400" dirty="0"/>
              <a:t>Reference : SKF Spherical Roller Bearing (Cylindrical Bore).</a:t>
            </a:r>
          </a:p>
          <a:p>
            <a:pPr lvl="0"/>
            <a:r>
              <a:rPr lang="en-US" sz="2400" dirty="0"/>
              <a:t>Bolted Flange Connection between Rotor Shaft and Rotor Hub.</a:t>
            </a:r>
          </a:p>
          <a:p>
            <a:pPr lvl="0"/>
            <a:r>
              <a:rPr lang="en-US" sz="2400" dirty="0"/>
              <a:t>Bibliography.</a:t>
            </a:r>
          </a:p>
          <a:p>
            <a:pPr lvl="1"/>
            <a:endParaRPr lang="de-DE" dirty="0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23" name="Datumsplatzhalter 22">
            <a:extLst>
              <a:ext uri="{FF2B5EF4-FFF2-40B4-BE49-F238E27FC236}">
                <a16:creationId xmlns:a16="http://schemas.microsoft.com/office/drawing/2014/main" id="{278CF838-7112-4F3F-EAE6-B2D4ED8F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B893F6D-288A-550A-C796-008FEA91A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Task of the week</a:t>
            </a:r>
            <a:endParaRPr lang="en-GB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9FDD682-B40F-C5C9-1855-56A85BC15BC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2D30E5-E8EB-4514-D402-7006892C79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4</a:t>
            </a:fld>
            <a:endParaRPr lang="en-GB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711AAC40-D4A5-6AC8-BE73-CD4035EA05F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1550" indent="-5143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roman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EDC29-E420-0346-20CC-DA236994000F}"/>
              </a:ext>
            </a:extLst>
          </p:cNvPr>
          <p:cNvSpPr txBox="1"/>
          <p:nvPr/>
        </p:nvSpPr>
        <p:spPr>
          <a:xfrm>
            <a:off x="923731" y="1569859"/>
            <a:ext cx="919998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Scaling of Spherical roller Bearing.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Scaling of Bearing Housing.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Torque wrench Selection &amp; calculation.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Studied the flanges at  rotor hub &amp; Gear box. Conducted a meeting with System Integrator and Gear box team regarding the  Flanges ( Not added in the PPT).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algn="l"/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850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EEA6F-1835-270E-04A3-28958B509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B2C7708-1C35-00E6-6B0A-3FCAC1E73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Spherical roller bearing</a:t>
            </a:r>
            <a:r>
              <a:rPr lang="en-US" dirty="0"/>
              <a:t> (Cylindrical Bore)</a:t>
            </a:r>
            <a:r>
              <a:rPr lang="de-DE" dirty="0"/>
              <a:t> </a:t>
            </a:r>
            <a:endParaRPr lang="en-GB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678DD4-9942-097A-F6B4-5CDBFB12EC3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A33DA5-1D80-48FE-83A4-BE24C87D1D7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5</a:t>
            </a:fld>
            <a:endParaRPr lang="en-GB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089DB205-DF03-522E-DAE0-4BB01B589E3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71550" indent="-5143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roman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61854B-5D88-035B-BD44-77C385FA3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09" y="2752531"/>
            <a:ext cx="3820497" cy="24748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D34ED4-4D31-154C-0F44-1011D6EBBE89}"/>
              </a:ext>
            </a:extLst>
          </p:cNvPr>
          <p:cNvSpPr txBox="1"/>
          <p:nvPr/>
        </p:nvSpPr>
        <p:spPr>
          <a:xfrm>
            <a:off x="1595535" y="4592083"/>
            <a:ext cx="61395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000" i="0" u="none" strike="noStrike" baseline="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KF Sans"/>
            </a:endParaRPr>
          </a:p>
          <a:p>
            <a:r>
              <a:rPr lang="en-US" sz="2000" i="0" u="none" strike="noStrike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KF Sans"/>
              </a:rPr>
              <a:t> </a:t>
            </a:r>
          </a:p>
          <a:p>
            <a:r>
              <a:rPr lang="en-US" sz="2000" i="0" u="none" strike="noStrike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KF Sans"/>
              </a:rPr>
              <a:t>240/1120 CAF/W33</a:t>
            </a:r>
            <a:endParaRPr lang="en-US" sz="20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E243AA2-584F-C7F3-94EA-C4FD487BE79E}"/>
              </a:ext>
            </a:extLst>
          </p:cNvPr>
          <p:cNvSpPr/>
          <p:nvPr/>
        </p:nvSpPr>
        <p:spPr>
          <a:xfrm>
            <a:off x="4245429" y="3661408"/>
            <a:ext cx="3350858" cy="755779"/>
          </a:xfrm>
          <a:prstGeom prst="rightArrow">
            <a:avLst>
              <a:gd name="adj1" fmla="val 42592"/>
              <a:gd name="adj2" fmla="val 5000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Scaling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A951B0-9BBC-FF2D-9044-AD103309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47"/>
          <a:stretch>
            <a:fillRect/>
          </a:stretch>
        </p:blipFill>
        <p:spPr>
          <a:xfrm>
            <a:off x="8149514" y="1454135"/>
            <a:ext cx="3757513" cy="35094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0A20C4-E833-1DB8-2BB8-C8B6A60ED454}"/>
              </a:ext>
            </a:extLst>
          </p:cNvPr>
          <p:cNvSpPr txBox="1"/>
          <p:nvPr/>
        </p:nvSpPr>
        <p:spPr>
          <a:xfrm>
            <a:off x="8433515" y="4388202"/>
            <a:ext cx="61395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2000" i="0" u="none" strike="noStrike" baseline="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KF Sans"/>
            </a:endParaRPr>
          </a:p>
          <a:p>
            <a:r>
              <a:rPr lang="en-US" sz="2000" i="0" u="none" strike="noStrike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KF Sans"/>
              </a:rPr>
              <a:t> </a:t>
            </a:r>
          </a:p>
          <a:p>
            <a:r>
              <a:rPr lang="en-US" sz="2000" i="0" u="none" strike="noStrike" baseline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KF Sans"/>
              </a:rPr>
              <a:t>240/1600 CAF/W33</a:t>
            </a:r>
            <a:endParaRPr lang="en-US" sz="20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838378-420A-0CDD-8499-E070002B3FAA}"/>
              </a:ext>
            </a:extLst>
          </p:cNvPr>
          <p:cNvSpPr txBox="1"/>
          <p:nvPr/>
        </p:nvSpPr>
        <p:spPr>
          <a:xfrm>
            <a:off x="10242430" y="6289804"/>
            <a:ext cx="2090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SKF</a:t>
            </a:r>
          </a:p>
        </p:txBody>
      </p:sp>
    </p:spTree>
    <p:extLst>
      <p:ext uri="{BB962C8B-B14F-4D97-AF65-F5344CB8AC3E}">
        <p14:creationId xmlns:p14="http://schemas.microsoft.com/office/powerpoint/2010/main" val="438948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ADCF947-5C0A-386A-C051-E03EBAADA6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1206" r="26489"/>
          <a:stretch>
            <a:fillRect/>
          </a:stretch>
        </p:blipFill>
        <p:spPr>
          <a:xfrm>
            <a:off x="7489370" y="3308120"/>
            <a:ext cx="4525347" cy="325868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31F97-D2A1-0B05-8561-10BEAF66D10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2C126-6D32-D275-9B0C-DDAB323124E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13D372-0B6B-A078-DDAC-B9AC0B7EE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582285"/>
              </p:ext>
            </p:extLst>
          </p:nvPr>
        </p:nvGraphicFramePr>
        <p:xfrm>
          <a:off x="838200" y="1817523"/>
          <a:ext cx="8412480" cy="17373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748437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5824187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9720208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58972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Parameter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Symbol 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Original (240/1120)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Scaled × 1.4286 (1600 bore)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2901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Bore diameter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1120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1600 mm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434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Outer diameter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1580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2257 mm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804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Total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462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660 mm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727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Pitch circle diameter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PCD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1388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1983 mm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13851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394F8BB-FC8D-D0D7-1F58-9AB8CB1F1921}"/>
              </a:ext>
            </a:extLst>
          </p:cNvPr>
          <p:cNvSpPr txBox="1"/>
          <p:nvPr/>
        </p:nvSpPr>
        <p:spPr>
          <a:xfrm>
            <a:off x="1034143" y="1448191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Bearing Basic Dimensions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3D588E4-DB73-1C33-69E4-16123A8FD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521327"/>
              </p:ext>
            </p:extLst>
          </p:nvPr>
        </p:nvGraphicFramePr>
        <p:xfrm>
          <a:off x="838200" y="4174745"/>
          <a:ext cx="10515600" cy="19507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3749701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672373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656034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213465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92790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Parameter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Symbol 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Original (240/1120)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Scaled × 1.4286 (1600 bore)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Remarks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460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Rollers per row (variant A/B)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32 / 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32 / 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2 rows → 64 or 130 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63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/>
                        <a:t>Angular spacing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sz="1400" dirty="0"/>
                        <a:t>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11.25° / 5.538°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same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Angles don’t scale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397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/>
                        <a:t>Chord (center–center)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c 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136 mm / 67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194 mm / 96 mm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Linear × 1.4286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091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/>
                        <a:t>Arc distance (along PCD)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s = </a:t>
                      </a:r>
                      <a:r>
                        <a:rPr lang="el-GR" sz="1400" dirty="0"/>
                        <a:t>π·</a:t>
                      </a:r>
                      <a:r>
                        <a:rPr lang="en-US" sz="1400" dirty="0"/>
                        <a:t>PCD/n 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136.3 mm / 67.1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194.7 mm / 95.8 mm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≈ c for large PCD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95086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8172575-A763-4F97-7FBE-5B0D406CD09D}"/>
              </a:ext>
            </a:extLst>
          </p:cNvPr>
          <p:cNvSpPr txBox="1"/>
          <p:nvPr/>
        </p:nvSpPr>
        <p:spPr>
          <a:xfrm>
            <a:off x="1034143" y="3712823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Roller Arrangement Geometry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0B98859-967F-3F0F-3537-C55D6E031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45" y="383786"/>
            <a:ext cx="1186688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Scaling : SKF Spherical Roller Bearing (Cylindrical Bore)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59C4A7-9F21-15F4-F578-70250EECFA6B}"/>
              </a:ext>
            </a:extLst>
          </p:cNvPr>
          <p:cNvSpPr txBox="1"/>
          <p:nvPr/>
        </p:nvSpPr>
        <p:spPr>
          <a:xfrm>
            <a:off x="10242430" y="6289804"/>
            <a:ext cx="2090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SKF</a:t>
            </a:r>
          </a:p>
        </p:txBody>
      </p:sp>
    </p:spTree>
    <p:extLst>
      <p:ext uri="{BB962C8B-B14F-4D97-AF65-F5344CB8AC3E}">
        <p14:creationId xmlns:p14="http://schemas.microsoft.com/office/powerpoint/2010/main" val="757563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DEBFF-37CE-3050-8934-AF15FC9E2D6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B719F-EBBE-05E9-6FC5-F75EF2DA0C5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465CE2-BCBE-1BC9-5885-4CE5947ED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103876"/>
              </p:ext>
            </p:extLst>
          </p:nvPr>
        </p:nvGraphicFramePr>
        <p:xfrm>
          <a:off x="7825010" y="1945543"/>
          <a:ext cx="4161481" cy="322384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599664">
                  <a:extLst>
                    <a:ext uri="{9D8B030D-6E8A-4147-A177-3AD203B41FA5}">
                      <a16:colId xmlns:a16="http://schemas.microsoft.com/office/drawing/2014/main" val="71923828"/>
                    </a:ext>
                  </a:extLst>
                </a:gridCol>
                <a:gridCol w="1725408">
                  <a:extLst>
                    <a:ext uri="{9D8B030D-6E8A-4147-A177-3AD203B41FA5}">
                      <a16:colId xmlns:a16="http://schemas.microsoft.com/office/drawing/2014/main" val="1596152100"/>
                    </a:ext>
                  </a:extLst>
                </a:gridCol>
                <a:gridCol w="836409">
                  <a:extLst>
                    <a:ext uri="{9D8B030D-6E8A-4147-A177-3AD203B41FA5}">
                      <a16:colId xmlns:a16="http://schemas.microsoft.com/office/drawing/2014/main" val="2159285916"/>
                    </a:ext>
                  </a:extLst>
                </a:gridCol>
              </a:tblGrid>
              <a:tr h="2018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/>
                        <a:t>Units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783864"/>
                  </a:ext>
                </a:extLst>
              </a:tr>
              <a:tr h="5857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c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Straight-line distance between adjacent roller centers (the chord)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890786"/>
                  </a:ext>
                </a:extLst>
              </a:tr>
              <a:tr h="4681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sz="1400" b="1" dirty="0"/>
                        <a:t>θ</a:t>
                      </a:r>
                      <a:endParaRPr lang="el-G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Angular spacing between those rollers, (360°/n)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degrees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679656"/>
                  </a:ext>
                </a:extLst>
              </a:tr>
              <a:tr h="7702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R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Radius of the circle through the roller centers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3614884"/>
                  </a:ext>
                </a:extLst>
              </a:tr>
              <a:tr h="4836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PCD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(2R) — the diameter of that circle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456302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8CB718FA-592E-553F-460D-A2D1503FE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41" y="1650844"/>
            <a:ext cx="3017782" cy="13336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61646AE-993C-D241-2E6D-AAD442709A01}"/>
              </a:ext>
            </a:extLst>
          </p:cNvPr>
          <p:cNvSpPr txBox="1"/>
          <p:nvPr/>
        </p:nvSpPr>
        <p:spPr>
          <a:xfrm>
            <a:off x="478194" y="1440133"/>
            <a:ext cx="6200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chord-length formula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F3225E-20A2-1902-FE03-32928169D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76407"/>
            <a:ext cx="1676545" cy="6172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C7D58D8-3F38-60FC-8C54-E9B9EB58155C}"/>
              </a:ext>
            </a:extLst>
          </p:cNvPr>
          <p:cNvSpPr txBox="1"/>
          <p:nvPr/>
        </p:nvSpPr>
        <p:spPr>
          <a:xfrm>
            <a:off x="478194" y="3648121"/>
            <a:ext cx="6200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Pitch-circle diameter (PCD)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F8B711-B2EF-A6F7-287F-DAACF5420DF0}"/>
              </a:ext>
            </a:extLst>
          </p:cNvPr>
          <p:cNvSpPr txBox="1"/>
          <p:nvPr/>
        </p:nvSpPr>
        <p:spPr>
          <a:xfrm>
            <a:off x="478194" y="4031921"/>
            <a:ext cx="6200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PCD=2R,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A82AAFC-74D8-9315-F890-E0879117D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53" y="3007620"/>
            <a:ext cx="1760373" cy="6477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2E79764-1802-8592-D2C5-C5C790DAC3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02" y="5279685"/>
            <a:ext cx="1493649" cy="62489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884E047-B265-B9D4-F0C0-D0B33CC41C0C}"/>
              </a:ext>
            </a:extLst>
          </p:cNvPr>
          <p:cNvSpPr txBox="1"/>
          <p:nvPr/>
        </p:nvSpPr>
        <p:spPr>
          <a:xfrm>
            <a:off x="474430" y="6081802"/>
            <a:ext cx="92540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/>
              <a:t>Arc distance (s) = the distance along the circular path (the pitch circle) between the centers of two adjacent rollers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B245FB0-6650-1FCA-C830-C4FA42CFA4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982" y="1864280"/>
            <a:ext cx="3715032" cy="3458799"/>
          </a:xfrm>
          <a:prstGeom prst="rect">
            <a:avLst/>
          </a:prstGeom>
        </p:spPr>
      </p:pic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3995858C-E6A6-4AF4-5D75-73CC77804BDD}"/>
              </a:ext>
            </a:extLst>
          </p:cNvPr>
          <p:cNvCxnSpPr>
            <a:cxnSpLocks/>
          </p:cNvCxnSpPr>
          <p:nvPr/>
        </p:nvCxnSpPr>
        <p:spPr>
          <a:xfrm>
            <a:off x="2951670" y="2779631"/>
            <a:ext cx="1595218" cy="48159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93DF9AE-F308-F815-75C2-04F2ECEB9C27}"/>
              </a:ext>
            </a:extLst>
          </p:cNvPr>
          <p:cNvSpPr txBox="1"/>
          <p:nvPr/>
        </p:nvSpPr>
        <p:spPr>
          <a:xfrm>
            <a:off x="4884308" y="5328670"/>
            <a:ext cx="2178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sz="1800" b="1" i="0" dirty="0"/>
              <a:t>240/1120 CAF/W33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A74E16-7DED-EC4C-B6A1-86BC400A259D}"/>
              </a:ext>
            </a:extLst>
          </p:cNvPr>
          <p:cNvSpPr txBox="1"/>
          <p:nvPr/>
        </p:nvSpPr>
        <p:spPr>
          <a:xfrm>
            <a:off x="4005943" y="5421099"/>
            <a:ext cx="2090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SKF</a:t>
            </a:r>
          </a:p>
        </p:txBody>
      </p:sp>
    </p:spTree>
    <p:extLst>
      <p:ext uri="{BB962C8B-B14F-4D97-AF65-F5344CB8AC3E}">
        <p14:creationId xmlns:p14="http://schemas.microsoft.com/office/powerpoint/2010/main" val="4260031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00845-1A0B-06D2-5B73-D36FD105607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2E0A1-35B5-1EDE-A1C7-19467C248FD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72299D5-7834-7D87-9B8C-ED2EB9229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959646"/>
              </p:ext>
            </p:extLst>
          </p:nvPr>
        </p:nvGraphicFramePr>
        <p:xfrm>
          <a:off x="838200" y="1646247"/>
          <a:ext cx="10515600" cy="17373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65641599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245844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4323201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366028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72297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Parameter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Symbol 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Original (240/1120)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Scaled × 1.4286 (1600 bore)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Notes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967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Roller diameter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Dᵣ≈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100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143 mm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Linear scale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838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Roller length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Lᵣ≈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186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266 mm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Corrected length scaled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5489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Cage inner 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1220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1743 mm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Inner-ring guided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2003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Cage outer 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1480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2114 mm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Between raceways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063368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2012D17-4090-05F8-3FC9-18C1B0B2D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670059"/>
              </p:ext>
            </p:extLst>
          </p:nvPr>
        </p:nvGraphicFramePr>
        <p:xfrm>
          <a:off x="838200" y="4148525"/>
          <a:ext cx="10515600" cy="14325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704128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0858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7643922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748144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87771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Parameter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Symbol / Meaning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/>
                        <a:t>Original (240/1120)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Scaled × 1.4286 (1600 bore)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Notes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539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W33 groove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/>
                        <a:t>12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17 mm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Lubrication groove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022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W33 groove depth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5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/>
                        <a:t>7 mm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Lubrication groove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14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Materials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Bearing steel / brass (CA)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/>
                        <a:t>Same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Design unchanged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83336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A3E94A7-D9F6-C92B-AF3D-E71CB7AA94C9}"/>
              </a:ext>
            </a:extLst>
          </p:cNvPr>
          <p:cNvSpPr txBox="1"/>
          <p:nvPr/>
        </p:nvSpPr>
        <p:spPr>
          <a:xfrm>
            <a:off x="1017036" y="1276915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Roller &amp; Cage Core Dimensions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679197-AD50-0DE8-CA67-E2B2A8226709}"/>
              </a:ext>
            </a:extLst>
          </p:cNvPr>
          <p:cNvSpPr txBox="1"/>
          <p:nvPr/>
        </p:nvSpPr>
        <p:spPr>
          <a:xfrm>
            <a:off x="951722" y="3581400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Lubrication &amp; Material</a:t>
            </a:r>
          </a:p>
        </p:txBody>
      </p:sp>
    </p:spTree>
    <p:extLst>
      <p:ext uri="{BB962C8B-B14F-4D97-AF65-F5344CB8AC3E}">
        <p14:creationId xmlns:p14="http://schemas.microsoft.com/office/powerpoint/2010/main" val="2393932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E7EEF-D009-9C15-54D8-6CD25E76934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C41C30-A01E-DD87-8980-546F480DF4B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84C7686-4194-6B33-F5D9-13999505D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678" y="346464"/>
            <a:ext cx="1186688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Scaling : Bearing Housing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523F94-7CF8-8EE7-99FB-42363A4D2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00" y="2043575"/>
            <a:ext cx="3998912" cy="22929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E534EB-93E9-F48A-21C2-4F5BF1F5C54A}"/>
              </a:ext>
            </a:extLst>
          </p:cNvPr>
          <p:cNvSpPr txBox="1"/>
          <p:nvPr/>
        </p:nvSpPr>
        <p:spPr>
          <a:xfrm>
            <a:off x="130632" y="1619288"/>
            <a:ext cx="7343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SAF 240 Split </a:t>
            </a:r>
            <a:r>
              <a:rPr lang="en-US" b="1" dirty="0" err="1"/>
              <a:t>plummer</a:t>
            </a:r>
            <a:r>
              <a:rPr lang="en-US" b="1" dirty="0"/>
              <a:t> (pillow) block housing without bearing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7EB56E7-9745-C62E-FA9F-39AC785DF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616" y="1989728"/>
            <a:ext cx="3534002" cy="24485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43AD68-081D-ABFC-4122-35C8325E7CDA}"/>
              </a:ext>
            </a:extLst>
          </p:cNvPr>
          <p:cNvSpPr txBox="1"/>
          <p:nvPr/>
        </p:nvSpPr>
        <p:spPr>
          <a:xfrm>
            <a:off x="489112" y="1335689"/>
            <a:ext cx="2860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u="sng" dirty="0"/>
              <a:t>Case-1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DE3503-3C37-E6DE-834B-ECDEC3B8AE88}"/>
              </a:ext>
            </a:extLst>
          </p:cNvPr>
          <p:cNvSpPr txBox="1"/>
          <p:nvPr/>
        </p:nvSpPr>
        <p:spPr>
          <a:xfrm>
            <a:off x="640703" y="4438281"/>
            <a:ext cx="48923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Outer </a:t>
            </a:r>
            <a:r>
              <a:rPr lang="en-US" dirty="0" err="1"/>
              <a:t>Diamter</a:t>
            </a:r>
            <a:r>
              <a:rPr lang="en-US" dirty="0"/>
              <a:t> of bearing Housing :360mm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Bearing Seat width : 107.798mm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Total Length of bearing Housing : 749.3mm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Total width of bearing Housing : 285.75mm</a:t>
            </a:r>
          </a:p>
          <a:p>
            <a:pPr algn="l"/>
            <a:endParaRPr lang="en-US" sz="1200" dirty="0"/>
          </a:p>
          <a:p>
            <a:pPr algn="l"/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50A5A2-8D28-F7B1-6CA0-3DFC42C66ACB}"/>
              </a:ext>
            </a:extLst>
          </p:cNvPr>
          <p:cNvSpPr txBox="1"/>
          <p:nvPr/>
        </p:nvSpPr>
        <p:spPr>
          <a:xfrm>
            <a:off x="6189710" y="4540047"/>
            <a:ext cx="51189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u="sng" dirty="0"/>
              <a:t>Scaling factor :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Total Length of bearing housing  for Syria =(2257mm/360mm) * 749.30mm</a:t>
            </a:r>
          </a:p>
          <a:p>
            <a:pPr algn="l"/>
            <a:r>
              <a:rPr lang="en-US" dirty="0"/>
              <a:t>       =   </a:t>
            </a:r>
            <a:r>
              <a:rPr lang="en-US" dirty="0">
                <a:highlight>
                  <a:srgbClr val="FFFF00"/>
                </a:highlight>
              </a:rPr>
              <a:t>4697 mm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>
                <a:highlight>
                  <a:srgbClr val="FFFFFF"/>
                </a:highlight>
              </a:rPr>
              <a:t>Total width of </a:t>
            </a:r>
            <a:r>
              <a:rPr lang="en-US" dirty="0" err="1">
                <a:highlight>
                  <a:srgbClr val="FFFFFF"/>
                </a:highlight>
              </a:rPr>
              <a:t>bearin</a:t>
            </a:r>
            <a:r>
              <a:rPr lang="en-US" dirty="0">
                <a:highlight>
                  <a:srgbClr val="FFFFFF"/>
                </a:highlight>
              </a:rPr>
              <a:t> Housing for Syria =</a:t>
            </a:r>
          </a:p>
          <a:p>
            <a:pPr algn="l"/>
            <a:r>
              <a:rPr lang="en-US" dirty="0">
                <a:highlight>
                  <a:srgbClr val="FFFFFF"/>
                </a:highlight>
              </a:rPr>
              <a:t>         =(660mm/107.798mm)*285.75 mm</a:t>
            </a:r>
          </a:p>
          <a:p>
            <a:pPr algn="l"/>
            <a:r>
              <a:rPr lang="en-US" dirty="0">
                <a:highlight>
                  <a:srgbClr val="FFFFFF"/>
                </a:highlight>
              </a:rPr>
              <a:t>        =</a:t>
            </a:r>
            <a:r>
              <a:rPr lang="en-US" dirty="0">
                <a:highlight>
                  <a:srgbClr val="FFFF00"/>
                </a:highlight>
              </a:rPr>
              <a:t>1750mm</a:t>
            </a:r>
          </a:p>
          <a:p>
            <a:pPr algn="l"/>
            <a:endParaRPr lang="en-US" dirty="0">
              <a:highlight>
                <a:srgbClr val="FFFF00"/>
              </a:highlight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231C95-0E31-86D3-B1B7-0BF8FDD6262A}"/>
              </a:ext>
            </a:extLst>
          </p:cNvPr>
          <p:cNvSpPr txBox="1"/>
          <p:nvPr/>
        </p:nvSpPr>
        <p:spPr>
          <a:xfrm>
            <a:off x="10242430" y="6289804"/>
            <a:ext cx="2090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SKF</a:t>
            </a:r>
          </a:p>
        </p:txBody>
      </p:sp>
    </p:spTree>
    <p:extLst>
      <p:ext uri="{BB962C8B-B14F-4D97-AF65-F5344CB8AC3E}">
        <p14:creationId xmlns:p14="http://schemas.microsoft.com/office/powerpoint/2010/main" val="699954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3E0E-0CB5-58BC-088D-9EB343C34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CE34E-39E8-97EA-2394-6DAC7F81728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F9CFD-4E71-E074-FF93-5E522083C9F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57982A-2151-F241-41A4-0D83D27B7664}"/>
              </a:ext>
            </a:extLst>
          </p:cNvPr>
          <p:cNvSpPr txBox="1"/>
          <p:nvPr/>
        </p:nvSpPr>
        <p:spPr>
          <a:xfrm>
            <a:off x="5626359" y="4510595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u="sng" dirty="0"/>
              <a:t>Case-</a:t>
            </a:r>
            <a:r>
              <a:rPr lang="en-US" b="1" u="sng" dirty="0"/>
              <a:t>3</a:t>
            </a:r>
            <a:endParaRPr lang="en-US" sz="1800" b="1" u="sn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AA738-5527-FED6-D1D1-2B3B73EC868D}"/>
              </a:ext>
            </a:extLst>
          </p:cNvPr>
          <p:cNvSpPr txBox="1"/>
          <p:nvPr/>
        </p:nvSpPr>
        <p:spPr>
          <a:xfrm>
            <a:off x="923731" y="1819527"/>
            <a:ext cx="8714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Scaling based on </a:t>
            </a:r>
            <a:r>
              <a:rPr lang="en-US" b="1" dirty="0">
                <a:highlight>
                  <a:srgbClr val="FFFFFF"/>
                </a:highlight>
              </a:rPr>
              <a:t>Optimus 60E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E45F3A-D625-E65B-6B82-1E9C5C6C4DA8}"/>
              </a:ext>
            </a:extLst>
          </p:cNvPr>
          <p:cNvSpPr txBox="1"/>
          <p:nvPr/>
        </p:nvSpPr>
        <p:spPr>
          <a:xfrm>
            <a:off x="923731" y="2254173"/>
            <a:ext cx="489235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Outer </a:t>
            </a:r>
            <a:r>
              <a:rPr lang="en-US" dirty="0" err="1"/>
              <a:t>Diamter</a:t>
            </a:r>
            <a:r>
              <a:rPr lang="en-US" dirty="0"/>
              <a:t> of bearing Housing :650mm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Bearing Seat width : 212mm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Total width of bearing Housing : 270mm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Width of Legs:450mm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Total Length of bearing Housing : 1250mm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dirty="0"/>
          </a:p>
          <a:p>
            <a:pPr algn="l"/>
            <a:endParaRPr lang="en-US" sz="1200" dirty="0"/>
          </a:p>
          <a:p>
            <a:pPr algn="l"/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32F65D-0CC3-3DBD-2B93-6B1A70739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919" y="1516616"/>
            <a:ext cx="4892350" cy="27058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CB1B32B-A1F0-8048-B932-DC8723A7D1A0}"/>
              </a:ext>
            </a:extLst>
          </p:cNvPr>
          <p:cNvSpPr txBox="1"/>
          <p:nvPr/>
        </p:nvSpPr>
        <p:spPr>
          <a:xfrm>
            <a:off x="697089" y="3771932"/>
            <a:ext cx="51189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u="sng" dirty="0"/>
              <a:t>Scaling factor :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1" dirty="0"/>
              <a:t>Total Length of bearing housing  </a:t>
            </a:r>
            <a:r>
              <a:rPr lang="en-US" dirty="0"/>
              <a:t>for Syria =(2257mm/650mm) * 1250mm</a:t>
            </a:r>
          </a:p>
          <a:p>
            <a:pPr algn="l"/>
            <a:r>
              <a:rPr lang="en-US" dirty="0"/>
              <a:t>       =   </a:t>
            </a:r>
            <a:r>
              <a:rPr lang="en-US" dirty="0">
                <a:highlight>
                  <a:srgbClr val="FFFF00"/>
                </a:highlight>
              </a:rPr>
              <a:t>4340 mm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1" dirty="0">
                <a:highlight>
                  <a:srgbClr val="FFFFFF"/>
                </a:highlight>
              </a:rPr>
              <a:t>Total width of </a:t>
            </a:r>
            <a:r>
              <a:rPr lang="en-US" b="1" dirty="0" err="1">
                <a:highlight>
                  <a:srgbClr val="FFFFFF"/>
                </a:highlight>
              </a:rPr>
              <a:t>bearin</a:t>
            </a:r>
            <a:r>
              <a:rPr lang="en-US" b="1" dirty="0">
                <a:highlight>
                  <a:srgbClr val="FFFFFF"/>
                </a:highlight>
              </a:rPr>
              <a:t> Housing for Syria </a:t>
            </a:r>
            <a:r>
              <a:rPr lang="en-US" dirty="0">
                <a:highlight>
                  <a:srgbClr val="FFFFFF"/>
                </a:highlight>
              </a:rPr>
              <a:t>=</a:t>
            </a:r>
          </a:p>
          <a:p>
            <a:pPr algn="l"/>
            <a:r>
              <a:rPr lang="en-US" dirty="0">
                <a:highlight>
                  <a:srgbClr val="FFFFFF"/>
                </a:highlight>
              </a:rPr>
              <a:t>         =(270mm/212mm)*660 mm</a:t>
            </a:r>
          </a:p>
          <a:p>
            <a:pPr algn="l"/>
            <a:r>
              <a:rPr lang="en-US" dirty="0">
                <a:highlight>
                  <a:srgbClr val="FFFFFF"/>
                </a:highlight>
              </a:rPr>
              <a:t>        =</a:t>
            </a:r>
            <a:r>
              <a:rPr lang="en-US" dirty="0">
                <a:highlight>
                  <a:srgbClr val="FFFF00"/>
                </a:highlight>
              </a:rPr>
              <a:t>1400mm</a:t>
            </a:r>
          </a:p>
          <a:p>
            <a:pPr algn="l"/>
            <a:endParaRPr lang="en-US" dirty="0">
              <a:highlight>
                <a:srgbClr val="FFFF00"/>
              </a:highlight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C214454-02A5-6821-3ACD-38E71B49712E}"/>
              </a:ext>
            </a:extLst>
          </p:cNvPr>
          <p:cNvCxnSpPr>
            <a:cxnSpLocks/>
          </p:cNvCxnSpPr>
          <p:nvPr/>
        </p:nvCxnSpPr>
        <p:spPr>
          <a:xfrm>
            <a:off x="5439746" y="4441371"/>
            <a:ext cx="6512767" cy="0"/>
          </a:xfrm>
          <a:prstGeom prst="line">
            <a:avLst/>
          </a:prstGeom>
          <a:ln w="762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13B448-C3C5-ADDB-373E-C107D4E2B1A6}"/>
              </a:ext>
            </a:extLst>
          </p:cNvPr>
          <p:cNvCxnSpPr/>
          <p:nvPr/>
        </p:nvCxnSpPr>
        <p:spPr>
          <a:xfrm>
            <a:off x="5449078" y="4441371"/>
            <a:ext cx="0" cy="1987421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16F04C5-3459-F74E-E842-7AC3215628D1}"/>
              </a:ext>
            </a:extLst>
          </p:cNvPr>
          <p:cNvSpPr txBox="1"/>
          <p:nvPr/>
        </p:nvSpPr>
        <p:spPr>
          <a:xfrm>
            <a:off x="1076131" y="1516616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u="sng" dirty="0"/>
              <a:t>Case-2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315635-CCFC-A3AD-A2CC-7AA61E03756F}"/>
              </a:ext>
            </a:extLst>
          </p:cNvPr>
          <p:cNvSpPr txBox="1"/>
          <p:nvPr/>
        </p:nvSpPr>
        <p:spPr>
          <a:xfrm>
            <a:off x="5626359" y="4879927"/>
            <a:ext cx="51189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Purely based on our assumption we take </a:t>
            </a:r>
            <a:r>
              <a:rPr lang="en-US" b="1" dirty="0"/>
              <a:t>Total length of housing </a:t>
            </a:r>
            <a:r>
              <a:rPr lang="en-US" dirty="0"/>
              <a:t>as </a:t>
            </a:r>
            <a:r>
              <a:rPr lang="en-US" dirty="0">
                <a:highlight>
                  <a:srgbClr val="FFFF00"/>
                </a:highlight>
              </a:rPr>
              <a:t>3057mm</a:t>
            </a:r>
            <a:r>
              <a:rPr lang="en-US" dirty="0"/>
              <a:t> which is within tower top </a:t>
            </a:r>
            <a:r>
              <a:rPr lang="en-US" dirty="0" err="1"/>
              <a:t>diamer</a:t>
            </a:r>
            <a:r>
              <a:rPr lang="en-US" dirty="0"/>
              <a:t> (3800mm) 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1" dirty="0"/>
              <a:t>Total width of housing </a:t>
            </a:r>
            <a:r>
              <a:rPr lang="en-US" dirty="0"/>
              <a:t>around </a:t>
            </a:r>
            <a:r>
              <a:rPr lang="en-US" dirty="0">
                <a:highlight>
                  <a:srgbClr val="FFFF00"/>
                </a:highlight>
              </a:rPr>
              <a:t>1400mm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614B3C-B3AF-D3E0-7BA8-CAEC78348AA6}"/>
              </a:ext>
            </a:extLst>
          </p:cNvPr>
          <p:cNvSpPr txBox="1"/>
          <p:nvPr/>
        </p:nvSpPr>
        <p:spPr>
          <a:xfrm>
            <a:off x="10907484" y="4032092"/>
            <a:ext cx="2090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Optimus 60E</a:t>
            </a:r>
          </a:p>
        </p:txBody>
      </p:sp>
    </p:spTree>
    <p:extLst>
      <p:ext uri="{BB962C8B-B14F-4D97-AF65-F5344CB8AC3E}">
        <p14:creationId xmlns:p14="http://schemas.microsoft.com/office/powerpoint/2010/main" val="1323049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91CBD-6FEC-1897-A0CA-3F51C51E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8443-46ED-488C-45A1-5D7AEF17016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6D7CD-17ED-23FA-AA2F-78E020D4FA0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4F38294-5FD2-91AF-8DD1-07EFB745B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009661"/>
              </p:ext>
            </p:extLst>
          </p:nvPr>
        </p:nvGraphicFramePr>
        <p:xfrm>
          <a:off x="7733008" y="4278978"/>
          <a:ext cx="41246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782">
                  <a:extLst>
                    <a:ext uri="{9D8B030D-6E8A-4147-A177-3AD203B41FA5}">
                      <a16:colId xmlns:a16="http://schemas.microsoft.com/office/drawing/2014/main" val="3872727638"/>
                    </a:ext>
                  </a:extLst>
                </a:gridCol>
                <a:gridCol w="1659864">
                  <a:extLst>
                    <a:ext uri="{9D8B030D-6E8A-4147-A177-3AD203B41FA5}">
                      <a16:colId xmlns:a16="http://schemas.microsoft.com/office/drawing/2014/main" val="2880772078"/>
                    </a:ext>
                  </a:extLst>
                </a:gridCol>
              </a:tblGrid>
              <a:tr h="243157">
                <a:tc>
                  <a:txBody>
                    <a:bodyPr/>
                    <a:lstStyle/>
                    <a:p>
                      <a:r>
                        <a:rPr lang="en-US" dirty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975782"/>
                  </a:ext>
                </a:extLst>
              </a:tr>
              <a:tr h="556695">
                <a:tc>
                  <a:txBody>
                    <a:bodyPr/>
                    <a:lstStyle/>
                    <a:p>
                      <a:r>
                        <a:rPr lang="en-US" dirty="0"/>
                        <a:t>Diameter of the socket at hexagonal head side of the Bolt  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907970"/>
                  </a:ext>
                </a:extLst>
              </a:tr>
              <a:tr h="243157">
                <a:tc>
                  <a:txBody>
                    <a:bodyPr/>
                    <a:lstStyle/>
                    <a:p>
                      <a:r>
                        <a:rPr lang="en-US" dirty="0"/>
                        <a:t>Diameter of the socket at Anvil of  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16205"/>
                  </a:ext>
                </a:extLst>
              </a:tr>
            </a:tbl>
          </a:graphicData>
        </a:graphic>
      </p:graphicFrame>
      <p:sp>
        <p:nvSpPr>
          <p:cNvPr id="24" name="Title 1">
            <a:extLst>
              <a:ext uri="{FF2B5EF4-FFF2-40B4-BE49-F238E27FC236}">
                <a16:creationId xmlns:a16="http://schemas.microsoft.com/office/drawing/2014/main" id="{9DB3F0B9-3A22-346A-3158-5373C7D9A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92" y="291197"/>
            <a:ext cx="1186688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Battery </a:t>
            </a:r>
            <a:r>
              <a:rPr lang="en-US" sz="4000" dirty="0" err="1"/>
              <a:t>Torqure</a:t>
            </a:r>
            <a:r>
              <a:rPr lang="en-US" sz="4000" dirty="0"/>
              <a:t> wrench for M39 bolts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28986C-6B3C-FE71-9020-A456243C2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7584"/>
            <a:ext cx="7257766" cy="49732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96F44E-04DA-35C2-4FDF-D7B793B25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11" y="1427584"/>
            <a:ext cx="3172924" cy="21509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E17BBF1-9CB0-4D8B-DEF0-B7DA7633C177}"/>
              </a:ext>
            </a:extLst>
          </p:cNvPr>
          <p:cNvSpPr/>
          <p:nvPr/>
        </p:nvSpPr>
        <p:spPr>
          <a:xfrm>
            <a:off x="51786" y="6199218"/>
            <a:ext cx="7257766" cy="21460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A0A7B9-634D-40A2-86CA-C438F2D9C82E}"/>
              </a:ext>
            </a:extLst>
          </p:cNvPr>
          <p:cNvSpPr txBox="1"/>
          <p:nvPr/>
        </p:nvSpPr>
        <p:spPr>
          <a:xfrm>
            <a:off x="10242430" y="6289804"/>
            <a:ext cx="20900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Source: ENERPAC</a:t>
            </a:r>
          </a:p>
        </p:txBody>
      </p:sp>
    </p:spTree>
    <p:extLst>
      <p:ext uri="{BB962C8B-B14F-4D97-AF65-F5344CB8AC3E}">
        <p14:creationId xmlns:p14="http://schemas.microsoft.com/office/powerpoint/2010/main" val="3706188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E1DF7-8E58-92F6-4A27-2620DBDCE78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5A249-1BCB-A211-EACB-188FE63A331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283CF4-9684-BF40-2172-EE23B5A9F1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0" t="8206"/>
          <a:stretch>
            <a:fillRect/>
          </a:stretch>
        </p:blipFill>
        <p:spPr>
          <a:xfrm>
            <a:off x="5477070" y="1779328"/>
            <a:ext cx="6401163" cy="42996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ACC716-C12B-E229-80AB-ED7AF48EB60A}"/>
              </a:ext>
            </a:extLst>
          </p:cNvPr>
          <p:cNvSpPr txBox="1"/>
          <p:nvPr/>
        </p:nvSpPr>
        <p:spPr>
          <a:xfrm>
            <a:off x="373258" y="1455388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ISO 898-1:2013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DFE5A8-38C8-18F6-AE2A-9BB256FEDB30}"/>
              </a:ext>
            </a:extLst>
          </p:cNvPr>
          <p:cNvSpPr/>
          <p:nvPr/>
        </p:nvSpPr>
        <p:spPr>
          <a:xfrm>
            <a:off x="11000792" y="2845837"/>
            <a:ext cx="419877" cy="23326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4B1350-9921-F4AF-51E4-DD23954038B8}"/>
              </a:ext>
            </a:extLst>
          </p:cNvPr>
          <p:cNvSpPr/>
          <p:nvPr/>
        </p:nvSpPr>
        <p:spPr>
          <a:xfrm>
            <a:off x="11000791" y="4920343"/>
            <a:ext cx="419877" cy="23326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E206714-5FDC-1AC7-2639-280B0DF7C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776844"/>
              </p:ext>
            </p:extLst>
          </p:nvPr>
        </p:nvGraphicFramePr>
        <p:xfrm>
          <a:off x="373258" y="1909143"/>
          <a:ext cx="5010540" cy="10058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670180">
                  <a:extLst>
                    <a:ext uri="{9D8B030D-6E8A-4147-A177-3AD203B41FA5}">
                      <a16:colId xmlns:a16="http://schemas.microsoft.com/office/drawing/2014/main" val="80226065"/>
                    </a:ext>
                  </a:extLst>
                </a:gridCol>
                <a:gridCol w="1670180">
                  <a:extLst>
                    <a:ext uri="{9D8B030D-6E8A-4147-A177-3AD203B41FA5}">
                      <a16:colId xmlns:a16="http://schemas.microsoft.com/office/drawing/2014/main" val="1877898169"/>
                    </a:ext>
                  </a:extLst>
                </a:gridCol>
                <a:gridCol w="1670180">
                  <a:extLst>
                    <a:ext uri="{9D8B030D-6E8A-4147-A177-3AD203B41FA5}">
                      <a16:colId xmlns:a16="http://schemas.microsoft.com/office/drawing/2014/main" val="4097210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Grade 10.9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740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Ultimate tensile 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/>
                        <a:t>R</a:t>
                      </a:r>
                      <a:r>
                        <a:rPr lang="en-US" sz="1050" baseline="-25000" dirty="0"/>
                        <a:t>m</a:t>
                      </a:r>
                      <a:r>
                        <a:rPr lang="en-US" sz="105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1000 </a:t>
                      </a:r>
                      <a:r>
                        <a:rPr lang="en-US" sz="1050" dirty="0"/>
                        <a:t>MPa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230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Yield 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/>
                        <a:t>R</a:t>
                      </a:r>
                      <a:r>
                        <a:rPr lang="en-US" sz="1050" baseline="-25000" dirty="0"/>
                        <a:t>e</a:t>
                      </a:r>
                      <a:r>
                        <a:rPr lang="en-US" sz="105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900</a:t>
                      </a:r>
                      <a:r>
                        <a:rPr lang="en-US" sz="1050" dirty="0"/>
                        <a:t>MPa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082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Proof load stress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/>
                        <a:t> </a:t>
                      </a:r>
                      <a:r>
                        <a:rPr lang="en-US" sz="1050" dirty="0" err="1"/>
                        <a:t>S</a:t>
                      </a:r>
                      <a:r>
                        <a:rPr lang="en-US" sz="1050" baseline="-25000" dirty="0" err="1"/>
                        <a:t>p</a:t>
                      </a:r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830MPa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250938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1E1C7C1-0156-B06D-2739-9F3A7B0B4425}"/>
              </a:ext>
            </a:extLst>
          </p:cNvPr>
          <p:cNvSpPr txBox="1"/>
          <p:nvPr/>
        </p:nvSpPr>
        <p:spPr>
          <a:xfrm>
            <a:off x="304140" y="2989062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R</a:t>
            </a:r>
            <a:r>
              <a:rPr lang="en-US" baseline="-25000" dirty="0"/>
              <a:t>e</a:t>
            </a:r>
            <a:r>
              <a:rPr lang="en-US" dirty="0"/>
              <a:t> /R</a:t>
            </a:r>
            <a:r>
              <a:rPr lang="en-US" baseline="-25000" dirty="0"/>
              <a:t>m</a:t>
            </a:r>
            <a:r>
              <a:rPr lang="en-US" dirty="0"/>
              <a:t> =0.9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16E2DCF-3FC8-088E-5E66-C8511CCBF86C}"/>
                  </a:ext>
                </a:extLst>
              </p:cNvPr>
              <p:cNvSpPr txBox="1"/>
              <p:nvPr/>
            </p:nvSpPr>
            <p:spPr>
              <a:xfrm>
                <a:off x="1209470" y="3404480"/>
                <a:ext cx="1903446" cy="3674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−0.9382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16E2DCF-3FC8-088E-5E66-C8511CCBF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470" y="3404480"/>
                <a:ext cx="1903446" cy="367408"/>
              </a:xfrm>
              <a:prstGeom prst="rect">
                <a:avLst/>
              </a:prstGeom>
              <a:blipFill>
                <a:blip r:embed="rId3"/>
                <a:stretch>
                  <a:fillRect l="-2556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3C168F2-44DB-2AEF-0916-2D62AACBA3F5}"/>
              </a:ext>
            </a:extLst>
          </p:cNvPr>
          <p:cNvSpPr txBox="1"/>
          <p:nvPr/>
        </p:nvSpPr>
        <p:spPr>
          <a:xfrm>
            <a:off x="335934" y="3401763"/>
            <a:ext cx="1044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dirty="0"/>
              <a:t>A</a:t>
            </a:r>
            <a:r>
              <a:rPr lang="en-US" baseline="-25000" dirty="0"/>
              <a:t>s</a:t>
            </a:r>
            <a:r>
              <a:rPr lang="en-US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F80B994-7AE6-7299-509C-7546A1BF479F}"/>
                  </a:ext>
                </a:extLst>
              </p:cNvPr>
              <p:cNvSpPr txBox="1"/>
              <p:nvPr/>
            </p:nvSpPr>
            <p:spPr>
              <a:xfrm>
                <a:off x="2889083" y="3448800"/>
                <a:ext cx="2220670" cy="3674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39−0.9382∗4)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F80B994-7AE6-7299-509C-7546A1BF4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083" y="3448800"/>
                <a:ext cx="2220670" cy="367408"/>
              </a:xfrm>
              <a:prstGeom prst="rect">
                <a:avLst/>
              </a:prstGeom>
              <a:blipFill>
                <a:blip r:embed="rId4"/>
                <a:stretch>
                  <a:fillRect l="-2473" t="-10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A1C9FBAE-D539-5ED6-44E1-AB968AA150F9}"/>
              </a:ext>
            </a:extLst>
          </p:cNvPr>
          <p:cNvSpPr txBox="1"/>
          <p:nvPr/>
        </p:nvSpPr>
        <p:spPr>
          <a:xfrm>
            <a:off x="2828366" y="3816208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= 975.8 mm</a:t>
            </a:r>
            <a:r>
              <a:rPr lang="en-US" baseline="30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67CD696-E19F-EED9-3583-C2BB6E4CAEC8}"/>
                  </a:ext>
                </a:extLst>
              </p:cNvPr>
              <p:cNvSpPr txBox="1"/>
              <p:nvPr/>
            </p:nvSpPr>
            <p:spPr>
              <a:xfrm>
                <a:off x="318368" y="4202283"/>
                <a:ext cx="514143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F=0.7* R</a:t>
                </a:r>
                <a:r>
                  <a:rPr lang="en-US" baseline="-25000" dirty="0"/>
                  <a:t>e </a:t>
                </a:r>
                <a:r>
                  <a:rPr lang="en-US" dirty="0"/>
                  <a:t>​* A</a:t>
                </a:r>
                <a:r>
                  <a:rPr lang="en-US" baseline="-25000" dirty="0"/>
                  <a:t>s  </a:t>
                </a:r>
                <a:r>
                  <a:rPr lang="en-US" dirty="0"/>
                  <a:t>(Assumption ,preload force ≈ 70% of yield strength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=0.7×900</m:t>
                    </m:r>
                    <m:r>
                      <m:rPr>
                        <m:nor/>
                      </m:rPr>
                      <a:rPr lang="en-US" b="0" i="1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 lang="en-US" b="0" i="1">
                        <a:latin typeface="Cambria Math" panose="02040503050406030204" pitchFamily="18" charset="0"/>
                      </a:rPr>
                      <m:t>MPa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b="0" i="1" smtClean="0">
                        <a:latin typeface="Cambria Math" panose="02040503050406030204" pitchFamily="18" charset="0"/>
                      </a:rPr>
                      <m:t>975.8</m:t>
                    </m:r>
                    <m:r>
                      <m:rPr>
                        <m:nor/>
                      </m:rPr>
                      <a:rPr lang="en-US" b="0" i="1"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1">
                            <a:latin typeface="Cambria Math" panose="02040503050406030204" pitchFamily="18" charset="0"/>
                          </a:rPr>
                          <m:t>mm</m:t>
                        </m:r>
                      </m:e>
                      <m:sup>
                        <m:r>
                          <a:rPr lang="ar-AE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1" smtClean="0">
                        <a:latin typeface="Cambria Math" panose="02040503050406030204" pitchFamily="18" charset="0"/>
                      </a:rPr>
                      <m:t>614754</m:t>
                    </m:r>
                    <m:r>
                      <m:rPr>
                        <m:nor/>
                      </m:rPr>
                      <a:rPr lang="en-US" b="0" i="1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nor/>
                      </m:rPr>
                      <a:rPr lang="en-US" b="0" i="1" smtClean="0">
                        <a:latin typeface="Cambria Math" panose="02040503050406030204" pitchFamily="18" charset="0"/>
                      </a:rPr>
                      <m:t>614.754</m:t>
                    </m:r>
                    <m:r>
                      <m:rPr>
                        <m:nor/>
                      </m:rPr>
                      <a:rPr lang="en-US" b="0" i="1">
                        <a:latin typeface="Cambria Math" panose="02040503050406030204" pitchFamily="18" charset="0"/>
                      </a:rPr>
                      <m:t>kN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67CD696-E19F-EED9-3583-C2BB6E4CA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68" y="4202283"/>
                <a:ext cx="5141430" cy="1200329"/>
              </a:xfrm>
              <a:prstGeom prst="rect">
                <a:avLst/>
              </a:prstGeom>
              <a:blipFill>
                <a:blip r:embed="rId5"/>
                <a:stretch>
                  <a:fillRect l="-711" t="-3046" b="-5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B59E3BC9-C76E-5C0C-B4AB-B5C5368B71CC}"/>
              </a:ext>
            </a:extLst>
          </p:cNvPr>
          <p:cNvSpPr txBox="1"/>
          <p:nvPr/>
        </p:nvSpPr>
        <p:spPr>
          <a:xfrm>
            <a:off x="304140" y="5440227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Tightening torque T=</a:t>
            </a:r>
            <a:r>
              <a:rPr lang="en-US" dirty="0" err="1"/>
              <a:t>K×F×d</a:t>
            </a:r>
            <a:r>
              <a:rPr lang="en-US" dirty="0"/>
              <a:t> =0.25*614.754*.039</a:t>
            </a:r>
          </a:p>
          <a:p>
            <a:r>
              <a:rPr lang="en-US" dirty="0"/>
              <a:t>= </a:t>
            </a:r>
            <a:r>
              <a:rPr lang="en-US" dirty="0">
                <a:highlight>
                  <a:srgbClr val="FFFF00"/>
                </a:highlight>
              </a:rPr>
              <a:t>5.993 </a:t>
            </a:r>
            <a:r>
              <a:rPr lang="en-US" dirty="0" err="1">
                <a:highlight>
                  <a:srgbClr val="FFFF00"/>
                </a:highlight>
              </a:rPr>
              <a:t>KNm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24A989-5D63-B0EC-A388-571D48EFBF02}"/>
              </a:ext>
            </a:extLst>
          </p:cNvPr>
          <p:cNvSpPr txBox="1"/>
          <p:nvPr/>
        </p:nvSpPr>
        <p:spPr>
          <a:xfrm>
            <a:off x="359229" y="6032825"/>
            <a:ext cx="61395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K = nut factor (depends on lubrication , Assuming dry k=0.25)</a:t>
            </a:r>
          </a:p>
          <a:p>
            <a:r>
              <a:rPr lang="en-US" sz="1200" dirty="0"/>
              <a:t>d = nominal diameter (m)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496BC0-72CA-674F-716F-A29C04159C8C}"/>
              </a:ext>
            </a:extLst>
          </p:cNvPr>
          <p:cNvSpPr txBox="1"/>
          <p:nvPr/>
        </p:nvSpPr>
        <p:spPr>
          <a:xfrm>
            <a:off x="10242430" y="6309824"/>
            <a:ext cx="2090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ISO 898-1:2013</a:t>
            </a:r>
          </a:p>
          <a:p>
            <a:pPr algn="l"/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39141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 – Rotor Bearing System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C19340-9D16-A981-A772-1E4CF9E864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0688"/>
            <a:ext cx="10988040" cy="43513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342900" indent="-342900">
              <a:buFont typeface="+mj-lt"/>
              <a:buAutoNum type="arabicPeriod"/>
            </a:pPr>
            <a:r>
              <a:rPr lang="en-US" dirty="0"/>
              <a:t>SKF. (n.d.). </a:t>
            </a:r>
            <a:r>
              <a:rPr lang="en-US" i="1" dirty="0"/>
              <a:t>SAF 240 - Bearing housings</a:t>
            </a:r>
            <a:r>
              <a:rPr lang="en-US" dirty="0"/>
              <a:t>. Retrieved October 30, 2025, from </a:t>
            </a:r>
            <a:r>
              <a:rPr lang="en-US" dirty="0">
                <a:hlinkClick r:id="rId2"/>
              </a:rPr>
              <a:t>https://www.skf.com/group/products/mounted-bearings/bearing-housings/split-pillow-blocks-saf-saw-series/productid-SAF</a:t>
            </a:r>
            <a:r>
              <a:rPr lang="en-US" dirty="0"/>
              <a:t> 240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SKF. (n.d.). </a:t>
            </a:r>
            <a:r>
              <a:rPr lang="en-US" i="1" dirty="0"/>
              <a:t>240/1120 CAF/W33 - Spherical roller bearings</a:t>
            </a:r>
            <a:r>
              <a:rPr lang="en-US" dirty="0"/>
              <a:t>. Retrieved October 29, 2025, from </a:t>
            </a:r>
            <a:r>
              <a:rPr lang="en-US" dirty="0">
                <a:hlinkClick r:id="rId3"/>
              </a:rPr>
              <a:t>https://www.skf.com/group/products/rolling-bearings/roller-bearings/spherical-roller-bearings/productid-240%2F1120</a:t>
            </a:r>
            <a:r>
              <a:rPr lang="en-US" dirty="0"/>
              <a:t> CAF%2FW33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Optimus Shakti, Optimus 60E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Enerpac. (n.d.). </a:t>
            </a:r>
            <a:r>
              <a:rPr lang="en-US" i="1" dirty="0"/>
              <a:t>BTW-Series: Battery torque wrench, square drive.</a:t>
            </a:r>
            <a:r>
              <a:rPr lang="en-US" dirty="0"/>
              <a:t> Retrieved October 31, 2025, from https://www.enerpac.com/en-us/btw-series-battery-torque-wrench.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International Organization for Standardization (ISO). (2013). </a:t>
            </a:r>
            <a:r>
              <a:rPr lang="en-US" i="1" dirty="0"/>
              <a:t>ISO 898-1:2013 – Mechanical properties of fasteners made of carbon steel and alloy steel – Part 1: Bolts, screws and studs with specified property classes — Coarse thread and fine pitch thread.</a:t>
            </a:r>
            <a:r>
              <a:rPr lang="en-US" dirty="0"/>
              <a:t> Retrieved October 31, 2025, from https://standards.iteh.ai/catalog/standards/sist/3f0eaf9a-816b-4af7-8947-0bf298edf1ec/iso-898-1-2013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lvl="0" indent="-342900">
              <a:buFont typeface="+mj-lt"/>
              <a:buAutoNum type="arabicPeriod"/>
              <a:defRPr/>
            </a:pPr>
            <a:endParaRPr lang="en-US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it-IT" dirty="0"/>
          </a:p>
          <a:p>
            <a:pPr lvl="0"/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04/11/2025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 template final.pptx" id="{035502AD-7CD3-43A3-812C-A08912B73661}" vid="{2F211972-A5F6-4C5A-812C-358509A8F2F3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 template final.pptx" id="{035502AD-7CD3-43A3-812C-A08912B73661}" vid="{EEC5F849-3D6F-4317-9095-D7FC4779F13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 /><Relationship Id="rId1" Type="http://schemas.microsoft.com/office/2011/relationships/webextension" Target="webextension1.xml" 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</TotalTime>
  <Words>1100</Words>
  <Application>Microsoft Office PowerPoint</Application>
  <PresentationFormat>Widescreen</PresentationFormat>
  <Paragraphs>242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Office</vt:lpstr>
      <vt:lpstr>Benutzerdefiniertes Design</vt:lpstr>
      <vt:lpstr>PowerPoint Presentation</vt:lpstr>
      <vt:lpstr>PowerPoint Presentation</vt:lpstr>
      <vt:lpstr>Agenda</vt:lpstr>
      <vt:lpstr> Task of the week</vt:lpstr>
      <vt:lpstr>Spherical roller bearing (Cylindrical Bore) </vt:lpstr>
      <vt:lpstr>Scaling : SKF Spherical Roller Bearing (Cylindrical Bore)</vt:lpstr>
      <vt:lpstr>PowerPoint Presentation</vt:lpstr>
      <vt:lpstr>PowerPoint Presentation</vt:lpstr>
      <vt:lpstr>Scaling : Bearing Housing  </vt:lpstr>
      <vt:lpstr>PowerPoint Presentation</vt:lpstr>
      <vt:lpstr>Battery Torqure wrench for M39 bolts</vt:lpstr>
      <vt:lpstr>PowerPoint Presentation</vt:lpstr>
      <vt:lpstr>Bibliography – Rotor Bearing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Divyesh Satishkumar Mistry</cp:lastModifiedBy>
  <cp:revision>27</cp:revision>
  <dcterms:created xsi:type="dcterms:W3CDTF">2025-10-24T16:53:52Z</dcterms:created>
  <dcterms:modified xsi:type="dcterms:W3CDTF">2025-11-03T01:37:04Z</dcterms:modified>
</cp:coreProperties>
</file>