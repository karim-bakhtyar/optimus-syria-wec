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13"/>
  </p:notesMasterIdLst>
  <p:sldIdLst>
    <p:sldId id="257" r:id="rId3"/>
    <p:sldId id="259" r:id="rId4"/>
    <p:sldId id="261" r:id="rId5"/>
    <p:sldId id="290" r:id="rId6"/>
    <p:sldId id="298" r:id="rId7"/>
    <p:sldId id="294" r:id="rId8"/>
    <p:sldId id="295" r:id="rId9"/>
    <p:sldId id="296" r:id="rId10"/>
    <p:sldId id="264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5036" autoAdjust="0"/>
  </p:normalViewPr>
  <p:slideViewPr>
    <p:cSldViewPr snapToGrid="0">
      <p:cViewPr varScale="1">
        <p:scale>
          <a:sx n="91" d="100"/>
          <a:sy n="91" d="100"/>
        </p:scale>
        <p:origin x="4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3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Feedback Controller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Feedback Controller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Feedback Controller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04/11/2025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Feedback Controller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04/11/2025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736/jowe.2015.arr04" TargetMode="External"/><Relationship Id="rId2" Type="http://schemas.openxmlformats.org/officeDocument/2006/relationships/hyperlink" Target="https://doi.org/10.5194/wes-8-149-2023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oi.org/10.1016/j.mechatronics.2011.02.0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Weekly report: Feedback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06</a:t>
            </a:r>
          </a:p>
          <a:p>
            <a:r>
              <a:rPr lang="en-US" sz="2000" noProof="0" dirty="0"/>
              <a:t>Date: 04/11/2025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8823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 Saurabh Pankaj Jha</a:t>
            </a:r>
          </a:p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  <a:p>
            <a:r>
              <a:rPr lang="en-US" noProof="0" dirty="0" err="1"/>
              <a:t>Kp</a:t>
            </a:r>
            <a:r>
              <a:rPr lang="en-US" noProof="0" dirty="0"/>
              <a:t> and Ki optimization method over DLC 1.2 </a:t>
            </a:r>
          </a:p>
          <a:p>
            <a:r>
              <a:rPr lang="en-US" noProof="0" dirty="0"/>
              <a:t>Signal Chain in Lidar – Assisted Controller</a:t>
            </a:r>
          </a:p>
          <a:p>
            <a:r>
              <a:rPr lang="en-US" noProof="0" dirty="0"/>
              <a:t>Conclusion</a:t>
            </a:r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/>
              <a:t>  Optimization method for </a:t>
            </a:r>
            <a:r>
              <a:rPr lang="en-US" noProof="0" dirty="0" err="1"/>
              <a:t>Kp</a:t>
            </a:r>
            <a:r>
              <a:rPr lang="en-US" noProof="0" dirty="0"/>
              <a:t> and Ki for ROSCO input.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noProof="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/>
              <a:t> Understanding signal chain for Signal Chain in Lidar – Assisted Controller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D888-CD07-7BE6-DB03-65BD5DB1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Kp</a:t>
            </a:r>
            <a:r>
              <a:rPr lang="en-US" noProof="0" dirty="0"/>
              <a:t> and Ki Optimization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56497-8389-C2BD-1385-EDB14A153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 err="1"/>
              <a:t>Kp</a:t>
            </a:r>
            <a:r>
              <a:rPr lang="en-US" b="1" noProof="0" dirty="0"/>
              <a:t>, Ki and theta is a vector </a:t>
            </a:r>
            <a:r>
              <a:rPr lang="en-US" noProof="0" dirty="0"/>
              <a:t> with a 30 number of elements in ROSCO input file.</a:t>
            </a:r>
          </a:p>
          <a:p>
            <a:r>
              <a:rPr lang="en-US" noProof="0" dirty="0"/>
              <a:t>It is time consuming to calculate </a:t>
            </a:r>
            <a:r>
              <a:rPr lang="en-US" noProof="0" dirty="0" err="1"/>
              <a:t>Kp</a:t>
            </a:r>
            <a:r>
              <a:rPr lang="en-US" noProof="0" dirty="0"/>
              <a:t> and Ki for each theta angle. Instead, an optimization method is used.</a:t>
            </a:r>
          </a:p>
          <a:p>
            <a:endParaRPr lang="en-US" noProof="0" dirty="0"/>
          </a:p>
          <a:p>
            <a:r>
              <a:rPr lang="en-US" noProof="0" dirty="0"/>
              <a:t>Ti will be kept constant to 1P time.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Start by choosing a starting point of </a:t>
            </a:r>
            <a:r>
              <a:rPr lang="en-US" noProof="0" dirty="0" err="1"/>
              <a:t>Kp</a:t>
            </a:r>
            <a:r>
              <a:rPr lang="en-US" noProof="0" dirty="0"/>
              <a:t> and theta, and </a:t>
            </a:r>
            <a:r>
              <a:rPr lang="en-US" noProof="0" dirty="0" err="1"/>
              <a:t>neighbour</a:t>
            </a:r>
            <a:r>
              <a:rPr lang="en-US" noProof="0" dirty="0"/>
              <a:t> points. Then convert this points to a vector for ROSCO input file and run DLC 1.2 simulation.</a:t>
            </a:r>
          </a:p>
          <a:p>
            <a:endParaRPr lang="en-US" noProof="0" dirty="0"/>
          </a:p>
          <a:p>
            <a:r>
              <a:rPr lang="en-US" noProof="0" dirty="0"/>
              <a:t>As a result, We will have a</a:t>
            </a:r>
            <a:r>
              <a:rPr lang="tr-TR" noProof="0" dirty="0"/>
              <a:t> </a:t>
            </a:r>
            <a:r>
              <a:rPr lang="tr-TR" noProof="0" dirty="0" err="1"/>
              <a:t>map</a:t>
            </a:r>
            <a:r>
              <a:rPr lang="tr-TR" noProof="0" dirty="0"/>
              <a:t> </a:t>
            </a:r>
            <a:r>
              <a:rPr lang="tr-TR" noProof="0" dirty="0" err="1"/>
              <a:t>with</a:t>
            </a:r>
            <a:r>
              <a:rPr lang="tr-TR" noProof="0" dirty="0"/>
              <a:t> </a:t>
            </a:r>
            <a:r>
              <a:rPr lang="tr-TR" noProof="0" dirty="0" err="1"/>
              <a:t>each</a:t>
            </a:r>
            <a:r>
              <a:rPr lang="tr-TR" noProof="0" dirty="0"/>
              <a:t> </a:t>
            </a:r>
            <a:r>
              <a:rPr lang="tr-TR" noProof="0" dirty="0" err="1"/>
              <a:t>point</a:t>
            </a:r>
            <a:r>
              <a:rPr lang="tr-TR" noProof="0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en-US" noProof="0" dirty="0"/>
              <a:t>DEL and AEP, </a:t>
            </a:r>
            <a:r>
              <a:rPr lang="tr-TR" noProof="0" dirty="0" err="1"/>
              <a:t>will</a:t>
            </a:r>
            <a:r>
              <a:rPr lang="tr-TR" noProof="0" dirty="0"/>
              <a:t> </a:t>
            </a:r>
            <a:r>
              <a:rPr lang="tr-TR" noProof="0" dirty="0" err="1"/>
              <a:t>search</a:t>
            </a:r>
            <a:r>
              <a:rPr lang="tr-TR" noProof="0" dirty="0"/>
              <a:t> </a:t>
            </a:r>
            <a:r>
              <a:rPr lang="tr-TR" noProof="0" dirty="0" err="1"/>
              <a:t>for</a:t>
            </a:r>
            <a:r>
              <a:rPr lang="tr-TR" noProof="0" dirty="0"/>
              <a:t> </a:t>
            </a:r>
            <a:r>
              <a:rPr lang="tr-TR" noProof="0" dirty="0" err="1"/>
              <a:t>the</a:t>
            </a:r>
            <a:r>
              <a:rPr lang="tr-TR" noProof="0" dirty="0"/>
              <a:t> </a:t>
            </a:r>
            <a:r>
              <a:rPr lang="tr-TR" noProof="0" dirty="0" err="1"/>
              <a:t>point</a:t>
            </a:r>
            <a:r>
              <a:rPr lang="tr-TR" noProof="0" dirty="0"/>
              <a:t> </a:t>
            </a:r>
            <a:r>
              <a:rPr lang="tr-TR" noProof="0" dirty="0" err="1"/>
              <a:t>where</a:t>
            </a:r>
            <a:r>
              <a:rPr lang="tr-TR" noProof="0" dirty="0"/>
              <a:t> </a:t>
            </a:r>
            <a:r>
              <a:rPr lang="en-US" dirty="0"/>
              <a:t>minimum DEL of tower base fore-aft bending moment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en-US" dirty="0"/>
              <a:t>the AEP is maximum.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A1B42-FD80-CA54-F56D-121AE952A8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AB020-F9A7-5478-43D3-B5F58149A81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D1705-73FD-620E-57E7-9655F391882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28881-BA66-CDC9-2173-D2C93D5274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575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A2EA-EE24-628A-00D3-C4721283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Kp</a:t>
            </a:r>
            <a:r>
              <a:rPr lang="en-US" dirty="0"/>
              <a:t> and Ki Optimization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2FB92-3813-4135-655D-8BA3046410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Mirza Dincer - 780261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9EE19-764C-8307-CAB5-98897995CE6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98CF3-B052-8F54-9B12-FF5C392D2A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Feedback Controller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2F097-8B1B-1429-3C40-79089012EF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7E119-A152-6C7A-76CF-10B3DBD15B00}"/>
              </a:ext>
            </a:extLst>
          </p:cNvPr>
          <p:cNvSpPr/>
          <p:nvPr/>
        </p:nvSpPr>
        <p:spPr>
          <a:xfrm>
            <a:off x="4124960" y="3106696"/>
            <a:ext cx="3251200" cy="1325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5541C2-A6F7-4D86-58BE-24E9D4A477D5}"/>
              </a:ext>
            </a:extLst>
          </p:cNvPr>
          <p:cNvCxnSpPr>
            <a:endCxn id="9" idx="1"/>
          </p:cNvCxnSpPr>
          <p:nvPr/>
        </p:nvCxnSpPr>
        <p:spPr>
          <a:xfrm>
            <a:off x="2661920" y="3769477"/>
            <a:ext cx="14630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3BCB9-F61B-0944-FD1E-BF6263B96A5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376160" y="3769476"/>
            <a:ext cx="117222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D08041-3217-A56C-522B-1304EC206A89}"/>
              </a:ext>
            </a:extLst>
          </p:cNvPr>
          <p:cNvCxnSpPr>
            <a:cxnSpLocks/>
          </p:cNvCxnSpPr>
          <p:nvPr/>
        </p:nvCxnSpPr>
        <p:spPr>
          <a:xfrm>
            <a:off x="5740400" y="2443915"/>
            <a:ext cx="0" cy="662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AA10F4-ADBF-3F93-F8FE-94E3D393A4F2}"/>
              </a:ext>
            </a:extLst>
          </p:cNvPr>
          <p:cNvSpPr txBox="1"/>
          <p:nvPr/>
        </p:nvSpPr>
        <p:spPr>
          <a:xfrm>
            <a:off x="5115560" y="3607098"/>
            <a:ext cx="1239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r-TR" sz="2200" dirty="0" err="1"/>
              <a:t>Mapping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600B01-7FA8-EFF1-F72F-1D623283A431}"/>
                  </a:ext>
                </a:extLst>
              </p:cNvPr>
              <p:cNvSpPr txBox="1"/>
              <p:nvPr/>
            </p:nvSpPr>
            <p:spPr>
              <a:xfrm>
                <a:off x="5312212" y="1967804"/>
                <a:ext cx="13067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alt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tr-TR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600B01-7FA8-EFF1-F72F-1D623283A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212" y="1967804"/>
                <a:ext cx="1306702" cy="430887"/>
              </a:xfrm>
              <a:prstGeom prst="rect">
                <a:avLst/>
              </a:prstGeom>
              <a:blipFill>
                <a:blip r:embed="rId3"/>
                <a:stretch>
                  <a:fillRect l="-465" t="-8571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7BE4B2-D33B-17EB-8648-00101922E3F8}"/>
                  </a:ext>
                </a:extLst>
              </p:cNvPr>
              <p:cNvSpPr txBox="1"/>
              <p:nvPr/>
            </p:nvSpPr>
            <p:spPr>
              <a:xfrm>
                <a:off x="1449754" y="3540983"/>
                <a:ext cx="1701800" cy="456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alt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tr-TR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tr-TR" alt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tr-TR" alt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7BE4B2-D33B-17EB-8648-00101922E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54" y="3540983"/>
                <a:ext cx="1701800" cy="456985"/>
              </a:xfrm>
              <a:prstGeom prst="rect">
                <a:avLst/>
              </a:prstGeom>
              <a:blipFill>
                <a:blip r:embed="rId4"/>
                <a:stretch>
                  <a:fillRect l="-358" t="-6667" b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AC5445-32A5-F154-8F47-A5506BFEFF78}"/>
                  </a:ext>
                </a:extLst>
              </p:cNvPr>
              <p:cNvSpPr txBox="1"/>
              <p:nvPr/>
            </p:nvSpPr>
            <p:spPr>
              <a:xfrm>
                <a:off x="8229599" y="2547398"/>
                <a:ext cx="3737015" cy="1428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alt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altLang="en-US" sz="22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tr-TR" alt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alt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altLang="en-US" sz="22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tr-TR" altLang="en-US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tr-TR" alt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tr-TR" alt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tr-TR" alt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alt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tr-TR" altLang="en-US" sz="22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tr-TR" alt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alt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tr-TR" altLang="en-US" sz="22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tr-TR" altLang="en-US" sz="2200" dirty="0"/>
              </a:p>
              <a:p>
                <a:endParaRPr lang="tr-TR" altLang="en-US" sz="2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AC5445-32A5-F154-8F47-A5506BFEF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9" y="2547398"/>
                <a:ext cx="3737015" cy="1428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7907FC-9701-E05D-4300-5ACF08075189}"/>
                  </a:ext>
                </a:extLst>
              </p:cNvPr>
              <p:cNvSpPr txBox="1"/>
              <p:nvPr/>
            </p:nvSpPr>
            <p:spPr>
              <a:xfrm>
                <a:off x="8474612" y="3975931"/>
                <a:ext cx="1967265" cy="8844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alt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altLang="en-US" sz="22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altLang="en-US" sz="22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tr-TR" altLang="en-US" sz="2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alt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alt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tr-TR" alt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altLang="en-US" sz="2200" dirty="0"/>
              </a:p>
              <a:p>
                <a:endParaRPr lang="tr-TR" alt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7907FC-9701-E05D-4300-5ACF0807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612" y="3975931"/>
                <a:ext cx="1967265" cy="884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33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875F-1320-8F6B-B2EC-351B9548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DLC 1.2 Simulation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4EA1-8D97-CBAE-482F-5AB8BA5B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660 seconds </a:t>
            </a:r>
            <a:r>
              <a:rPr lang="en-US" noProof="0" dirty="0"/>
              <a:t>of simulation. Evaluation of values starts at t = 60 second to get settled values. </a:t>
            </a:r>
            <a:r>
              <a:rPr lang="en-US" noProof="0" dirty="0" err="1"/>
              <a:t>Additionaly</a:t>
            </a:r>
            <a:r>
              <a:rPr lang="en-US" noProof="0" dirty="0"/>
              <a:t> wind wraps around.</a:t>
            </a:r>
          </a:p>
          <a:p>
            <a:endParaRPr lang="en-US" noProof="0" dirty="0"/>
          </a:p>
          <a:p>
            <a:r>
              <a:rPr lang="en-US" b="1" noProof="0" dirty="0"/>
              <a:t>DLC 1.2 </a:t>
            </a:r>
            <a:r>
              <a:rPr lang="en-US" noProof="0" dirty="0"/>
              <a:t>wind fields with average of </a:t>
            </a:r>
            <a:r>
              <a:rPr lang="en-US" b="1" noProof="0" dirty="0"/>
              <a:t>8</a:t>
            </a:r>
            <a:r>
              <a:rPr lang="en-US" noProof="0" dirty="0"/>
              <a:t> </a:t>
            </a:r>
            <a:r>
              <a:rPr lang="en-US" b="1" noProof="0" dirty="0"/>
              <a:t>m/s to 24 m/s </a:t>
            </a:r>
            <a:r>
              <a:rPr lang="en-US" noProof="0" dirty="0"/>
              <a:t>with steps with 4m/s, </a:t>
            </a:r>
            <a:r>
              <a:rPr lang="en-US" b="1" noProof="0" dirty="0"/>
              <a:t>3 seeds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/>
              <a:t>Enabled all DOFs. 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/>
          </a:p>
          <a:p>
            <a:r>
              <a:rPr lang="en-US" b="1" noProof="0" dirty="0"/>
              <a:t>Initial conditions of pitch angle, rotor speed</a:t>
            </a:r>
            <a:r>
              <a:rPr lang="en-US" noProof="0" dirty="0"/>
              <a:t> and </a:t>
            </a:r>
            <a:r>
              <a:rPr lang="en-US" b="1" noProof="0" dirty="0"/>
              <a:t>fore-aft tower position</a:t>
            </a:r>
            <a:r>
              <a:rPr lang="en-US" noProof="0" dirty="0"/>
              <a:t> for every corresponding wind speed.</a:t>
            </a:r>
          </a:p>
          <a:p>
            <a:endParaRPr lang="en-US" noProof="0" dirty="0"/>
          </a:p>
          <a:p>
            <a:r>
              <a:rPr lang="en-US" noProof="0" dirty="0"/>
              <a:t>Running only </a:t>
            </a:r>
            <a:r>
              <a:rPr lang="en-US" b="1" noProof="0" dirty="0"/>
              <a:t>feedback controller</a:t>
            </a:r>
            <a:r>
              <a:rPr lang="en-US" noProof="0" dirty="0"/>
              <a:t>, no Lidar-assisted controller.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EDD2D-2B89-0589-D13D-DA1ADF658C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6A3A9-1DFF-2D29-EDA8-5C20BAC7C87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88A73-15F7-EFA3-C898-9459145AA7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C0D38-DE31-0A7C-BA9A-D3A7752438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217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E04BE8-D793-8B9F-55C3-3E1CDF4F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Signal Chain in Lidar – Assisted Controller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BBD59D-8B0F-5A3C-8570-78A554607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8855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For the configuration of Lidar – Assisted Controller, wrapper dynamic library is used. Which runs the used DLLs in sequence.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Lidar Data Processing </a:t>
            </a:r>
            <a:r>
              <a:rPr lang="en-US" noProof="0" dirty="0"/>
              <a:t>(LDP) DLL is used to estimate </a:t>
            </a:r>
            <a:r>
              <a:rPr lang="en-US" b="1" noProof="0" dirty="0"/>
              <a:t>rotor effective wind speed </a:t>
            </a:r>
            <a:r>
              <a:rPr lang="en-US" noProof="0" dirty="0"/>
              <a:t>(REWS).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noProof="0" dirty="0"/>
              <a:t>Feedforward Pitch </a:t>
            </a:r>
            <a:r>
              <a:rPr lang="en-US" noProof="0" dirty="0"/>
              <a:t>(FFP) DLL is used to provide </a:t>
            </a:r>
            <a:r>
              <a:rPr lang="en-US" b="1" noProof="0" dirty="0"/>
              <a:t>feedforward pitch rate </a:t>
            </a:r>
            <a:r>
              <a:rPr lang="en-US" noProof="0" dirty="0"/>
              <a:t>at correct time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B1B076-626B-3B30-BFA6-3B64B9F655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C6330-B4F1-B078-46BC-A5B78A32B82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7D517-DA1F-5E4C-8F02-FB46E830AEA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BAE41-1B83-F0F1-DF3A-0EF1DB60ADA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01A5CFD-C9F3-3F7D-D67F-6D23F11E77B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3903" y="6255608"/>
            <a:ext cx="2248453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/>
              <a:t>[1], [2], [3]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1D3B539-98B4-5E78-E8AA-CFE589314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537" y="1822935"/>
            <a:ext cx="6745464" cy="318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735032-5164-7E21-1E76-977C74182EE5}"/>
              </a:ext>
            </a:extLst>
          </p:cNvPr>
          <p:cNvSpPr txBox="1"/>
          <p:nvPr/>
        </p:nvSpPr>
        <p:spPr>
          <a:xfrm>
            <a:off x="7952994" y="5013304"/>
            <a:ext cx="2983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The overall OpenFAST and LAC interface. [1]</a:t>
            </a:r>
          </a:p>
        </p:txBody>
      </p:sp>
    </p:spTree>
    <p:extLst>
      <p:ext uri="{BB962C8B-B14F-4D97-AF65-F5344CB8AC3E}">
        <p14:creationId xmlns:p14="http://schemas.microsoft.com/office/powerpoint/2010/main" val="361016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27DB9C-09BB-6958-CBCE-21789AA0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Signal Chain in Lidar – Assisted Controller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F62569-1DC0-898F-8DDF-F4CC2091D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23" y="1356992"/>
            <a:ext cx="5484387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noProof="0" dirty="0"/>
              <a:t>Lidar Line-of-Sight Wind Speed </a:t>
            </a:r>
            <a:r>
              <a:rPr lang="en-US" noProof="0" dirty="0"/>
              <a:t>(</a:t>
            </a:r>
            <a:r>
              <a:rPr lang="en-US" noProof="0" dirty="0" err="1"/>
              <a:t>vLOS</a:t>
            </a:r>
            <a:r>
              <a:rPr lang="en-US" noProof="0" dirty="0"/>
              <a:t>) [m/s]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noProof="0" dirty="0"/>
              <a:t>Lidar sensor measures wind velocity along its line-of-sight.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noProof="0" dirty="0"/>
              <a:t>Represents wind conditions before reaching the rotor.</a:t>
            </a:r>
          </a:p>
          <a:p>
            <a:pPr marL="0" indent="0">
              <a:buNone/>
            </a:pPr>
            <a:endParaRPr lang="en-US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noProof="0" dirty="0"/>
              <a:t>Preview Wind </a:t>
            </a:r>
            <a:r>
              <a:rPr lang="en-US" noProof="0" dirty="0"/>
              <a:t>(</a:t>
            </a:r>
            <a:r>
              <a:rPr lang="en-US" noProof="0" dirty="0" err="1"/>
              <a:t>uLL</a:t>
            </a:r>
            <a:r>
              <a:rPr lang="en-US" noProof="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noProof="0" dirty="0"/>
              <a:t>Derived from </a:t>
            </a:r>
            <a:r>
              <a:rPr lang="en-US" noProof="0" dirty="0" err="1"/>
              <a:t>vLOS</a:t>
            </a:r>
            <a:r>
              <a:rPr lang="en-US" noProof="0" dirty="0"/>
              <a:t> measurements through LDP.DLL.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noProof="0" dirty="0"/>
              <a:t>Represents the predicted wind at the rotor disk.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4271D3-357A-0F90-B56B-932A0DB271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9B18-3C97-E60B-806B-C14B9472400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9611A-47D5-DAAC-FE03-92ED03D98F9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CB592-5E0D-CD12-C844-1AFDBC6127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DD02AD-5ECB-3B6E-6EA9-6ED0FEDD82F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noProof="0" dirty="0"/>
              <a:t>[1], [2], [3]</a:t>
            </a:r>
          </a:p>
          <a:p>
            <a:endParaRPr lang="en-US" sz="18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529F0-E200-EEF3-8A88-36033DC3FED9}"/>
              </a:ext>
            </a:extLst>
          </p:cNvPr>
          <p:cNvSpPr txBox="1"/>
          <p:nvPr/>
        </p:nvSpPr>
        <p:spPr>
          <a:xfrm>
            <a:off x="6571279" y="1325048"/>
            <a:ext cx="548438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noProof="0" dirty="0"/>
              <a:t>Feedforward Pitch Rate </a:t>
            </a:r>
            <a:r>
              <a:rPr lang="en-US" sz="2200" noProof="0" dirty="0"/>
              <a:t>(</a:t>
            </a:r>
            <a:r>
              <a:rPr lang="en-US" sz="2200" noProof="0" dirty="0" err="1"/>
              <a:t>θ</a:t>
            </a:r>
            <a:r>
              <a:rPr lang="en-US" sz="2200" b="1" noProof="0" dirty="0" err="1"/>
              <a:t>̇_</a:t>
            </a:r>
            <a:r>
              <a:rPr lang="en-US" sz="2200" noProof="0" dirty="0" err="1"/>
              <a:t>FF</a:t>
            </a:r>
            <a:r>
              <a:rPr lang="en-US" sz="2200" noProof="0" dirty="0"/>
              <a:t>) [rad/s]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noProof="0" dirty="0"/>
              <a:t>Computed inside FFP.DLL based on preview wind </a:t>
            </a:r>
            <a:r>
              <a:rPr lang="en-US" sz="2200" noProof="0" dirty="0" err="1"/>
              <a:t>uLL</a:t>
            </a:r>
            <a:r>
              <a:rPr lang="en-US" sz="2200" noProof="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noProof="0" dirty="0"/>
              <a:t>Defines how fast the blades should pitch in response to upcoming wind changes.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200" noProof="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200" noProof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noProof="0" dirty="0"/>
              <a:t>Pitch Command (</a:t>
            </a:r>
            <a:r>
              <a:rPr lang="en-US" sz="2200" b="1" noProof="0" dirty="0" err="1"/>
              <a:t>θ_ref</a:t>
            </a:r>
            <a:r>
              <a:rPr lang="en-US" sz="2200" b="1" noProof="0" dirty="0"/>
              <a:t>) </a:t>
            </a:r>
            <a:r>
              <a:rPr lang="en-US" sz="2200" noProof="0" dirty="0"/>
              <a:t>[theta]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noProof="0" dirty="0"/>
              <a:t>Final collective pitch command sent to blade actuators.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noProof="0" dirty="0"/>
              <a:t>Combination of feedback (from speed error) and feedforward (from predicted wind).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noProof="0" dirty="0"/>
          </a:p>
          <a:p>
            <a:pPr marL="0" indent="0">
              <a:buNone/>
            </a:pPr>
            <a:endParaRPr lang="en-US" sz="2200" noProof="0" dirty="0"/>
          </a:p>
        </p:txBody>
      </p:sp>
    </p:spTree>
    <p:extLst>
      <p:ext uri="{BB962C8B-B14F-4D97-AF65-F5344CB8AC3E}">
        <p14:creationId xmlns:p14="http://schemas.microsoft.com/office/powerpoint/2010/main" val="2135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Script for optimization method will be ready for our Optimus turbine.</a:t>
            </a:r>
          </a:p>
          <a:p>
            <a:r>
              <a:rPr lang="en-US" noProof="0" dirty="0"/>
              <a:t>Understand signal chain in lidar and how it connects to ROSCO controller.</a:t>
            </a:r>
          </a:p>
          <a:p>
            <a:endParaRPr lang="en-US" noProof="0" dirty="0"/>
          </a:p>
          <a:p>
            <a:r>
              <a:rPr lang="en-US" b="1" noProof="0" dirty="0"/>
              <a:t>Next weeks:</a:t>
            </a:r>
          </a:p>
          <a:p>
            <a:pPr marL="0" indent="0">
              <a:buNone/>
            </a:pPr>
            <a:r>
              <a:rPr lang="en-US" noProof="0" dirty="0"/>
              <a:t>   Use optimization method for IEA 3.4 MW</a:t>
            </a:r>
          </a:p>
          <a:p>
            <a:pPr marL="0" indent="0">
              <a:buNone/>
            </a:pPr>
            <a:r>
              <a:rPr lang="en-US" noProof="0" dirty="0"/>
              <a:t>   How swap array works in Lidar – Assisted Controller</a:t>
            </a:r>
          </a:p>
          <a:p>
            <a:pPr marL="0" indent="0">
              <a:buNone/>
            </a:pPr>
            <a:r>
              <a:rPr lang="en-US" noProof="0" dirty="0"/>
              <a:t>   EOG gust simulations with Lidar – Assisted Controller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3B6C-8CCF-52E5-C4C1-B464A55A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Bibliography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B197543-FFF8-0796-8597-AFAFFAFAC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[1] F. Guo, D. Schlipf, and Po Wen Cheng, “Evaluation of lidar-assisted wind turbine control under various turbulence characteristics,” </a:t>
            </a:r>
            <a:r>
              <a:rPr lang="en-US" i="1" noProof="0" dirty="0"/>
              <a:t>Wind energy science</a:t>
            </a:r>
            <a:r>
              <a:rPr lang="en-US" noProof="0" dirty="0"/>
              <a:t>, vol. 8, no. 2, pp. 149–171, Feb. 2023, </a:t>
            </a:r>
            <a:r>
              <a:rPr lang="en-US" noProof="0" dirty="0" err="1"/>
              <a:t>doi</a:t>
            </a:r>
            <a:r>
              <a:rPr lang="en-US" noProof="0" dirty="0"/>
              <a:t>: </a:t>
            </a:r>
            <a:r>
              <a:rPr lang="en-US" noProof="0" dirty="0">
                <a:hlinkClick r:id="rId2"/>
              </a:rPr>
              <a:t>https://doi.org/10.5194/wes-8-149-2023</a:t>
            </a:r>
            <a:r>
              <a:rPr lang="en-US" noProof="0" dirty="0"/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[2] D. Schlipf, E. Simley, F. Lemmer, L. Pao, and P. W. Cheng, “Collective Pitch Feedforward Control of Floating Wind Turbines Using Lidar,” </a:t>
            </a:r>
            <a:r>
              <a:rPr lang="en-US" i="1" noProof="0" dirty="0"/>
              <a:t>Journal of Ocean and Wind Energy</a:t>
            </a:r>
            <a:r>
              <a:rPr lang="en-US" noProof="0" dirty="0"/>
              <a:t>, vol. 2, no. 4, Nov. 2015, </a:t>
            </a:r>
            <a:r>
              <a:rPr lang="en-US" noProof="0" dirty="0" err="1"/>
              <a:t>doi</a:t>
            </a:r>
            <a:r>
              <a:rPr lang="en-US" noProof="0" dirty="0"/>
              <a:t>: </a:t>
            </a:r>
            <a:r>
              <a:rPr lang="en-US" noProof="0" dirty="0">
                <a:hlinkClick r:id="rId3"/>
              </a:rPr>
              <a:t>https://doi.org/10.17736/jowe.2015.arr04</a:t>
            </a:r>
            <a:r>
              <a:rPr lang="en-US" noProof="0" dirty="0"/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[3] F. Dunne, L. Y. Pao, A. D. Wright, B. Jonkman, and N. Kelley, “Adding feedforward blade pitch control to standard feedback controllers for load mitigation in wind turbines,” </a:t>
            </a:r>
            <a:r>
              <a:rPr lang="en-US" i="1" noProof="0" dirty="0"/>
              <a:t>Mechatronics</a:t>
            </a:r>
            <a:r>
              <a:rPr lang="en-US" noProof="0" dirty="0"/>
              <a:t>, vol. 21, no. 4, pp. 682–690, Apr. 2011, </a:t>
            </a:r>
            <a:r>
              <a:rPr lang="en-US" noProof="0" dirty="0" err="1"/>
              <a:t>doi</a:t>
            </a:r>
            <a:r>
              <a:rPr lang="en-US" noProof="0" dirty="0"/>
              <a:t>: </a:t>
            </a:r>
            <a:r>
              <a:rPr lang="en-US" noProof="0" dirty="0">
                <a:hlinkClick r:id="rId4"/>
              </a:rPr>
              <a:t>https://doi.org/10.1016/j.mechatronics.2011.02.011</a:t>
            </a:r>
            <a:r>
              <a:rPr lang="en-US" noProof="0" dirty="0"/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>
              <a:latin typeface="Arial" panose="020B0604020202020204" pitchFamily="34" charset="0"/>
            </a:endParaRPr>
          </a:p>
          <a:p>
            <a:endParaRPr lang="en-US" noProof="0" dirty="0"/>
          </a:p>
          <a:p>
            <a:endParaRPr lang="en-US" sz="2400" noProof="0" dirty="0"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CFC14-7D0B-D387-0E84-9E578197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04/11/2025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0F6A7-F17B-7C59-29CB-54CB36FF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Feedback Controller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C2CE3-7EB6-1F62-4462-A2E3824B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9C44B-3891-81AD-6964-9252AC4218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 - 780261</a:t>
            </a:r>
          </a:p>
        </p:txBody>
      </p:sp>
    </p:spTree>
    <p:extLst>
      <p:ext uri="{BB962C8B-B14F-4D97-AF65-F5344CB8AC3E}">
        <p14:creationId xmlns:p14="http://schemas.microsoft.com/office/powerpoint/2010/main" val="39180180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4093</TotalTime>
  <Words>921</Words>
  <Application>Microsoft Office PowerPoint</Application>
  <PresentationFormat>Widescreen</PresentationFormat>
  <Paragraphs>124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Theme1</vt:lpstr>
      <vt:lpstr>Benutzerdefiniertes Design</vt:lpstr>
      <vt:lpstr>Weekly report: Feedback Controller</vt:lpstr>
      <vt:lpstr>List of Contents</vt:lpstr>
      <vt:lpstr>Tasks of the Week</vt:lpstr>
      <vt:lpstr>Kp and Ki Optimization Method</vt:lpstr>
      <vt:lpstr>Kp and Ki Optimization Method</vt:lpstr>
      <vt:lpstr>DLC 1.2 Simulation Settings</vt:lpstr>
      <vt:lpstr>Signal Chain in Lidar – Assisted Controller</vt:lpstr>
      <vt:lpstr>Signal Chain in Lidar – Assisted Controller</vt:lpstr>
      <vt:lpstr>Conclusion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84</cp:revision>
  <dcterms:created xsi:type="dcterms:W3CDTF">2025-10-04T12:59:06Z</dcterms:created>
  <dcterms:modified xsi:type="dcterms:W3CDTF">2025-11-03T13:05:53Z</dcterms:modified>
</cp:coreProperties>
</file>