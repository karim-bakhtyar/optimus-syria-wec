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4"/>
  </p:notesMasterIdLst>
  <p:handoutMasterIdLst>
    <p:handoutMasterId r:id="rId15"/>
  </p:handoutMasterIdLst>
  <p:sldIdLst>
    <p:sldId id="300" r:id="rId3"/>
    <p:sldId id="301" r:id="rId4"/>
    <p:sldId id="303" r:id="rId5"/>
    <p:sldId id="318" r:id="rId6"/>
    <p:sldId id="323" r:id="rId7"/>
    <p:sldId id="324" r:id="rId8"/>
    <p:sldId id="322" r:id="rId9"/>
    <p:sldId id="319" r:id="rId10"/>
    <p:sldId id="320" r:id="rId11"/>
    <p:sldId id="321" r:id="rId12"/>
    <p:sldId id="32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331BD3D6-B7F1-4148-BF99-E0643B5FA8FF}">
          <p14:sldIdLst/>
        </p14:section>
        <p14:section name="management team" id="{2B72163D-2949-4563-8835-B5A6BF3A1808}">
          <p14:sldIdLst/>
        </p14:section>
        <p14:section name="Project development team" id="{0165734E-D582-475F-8D8F-D8390D9A02F3}">
          <p14:sldIdLst/>
        </p14:section>
        <p14:section name="foundation team" id="{6CF20BCC-30C5-49D5-BB67-A7F7C47F67D3}">
          <p14:sldIdLst/>
        </p14:section>
        <p14:section name="loads &amp; dynamics team" id="{B2556EC8-272D-48A5-B94D-86DE413BDD53}">
          <p14:sldIdLst/>
        </p14:section>
        <p14:section name="tower structure team" id="{B080B7D5-51DE-4691-A612-847AD1AAFC82}">
          <p14:sldIdLst>
            <p14:sldId id="300"/>
            <p14:sldId id="301"/>
            <p14:sldId id="303"/>
            <p14:sldId id="318"/>
            <p14:sldId id="323"/>
            <p14:sldId id="324"/>
            <p14:sldId id="322"/>
            <p14:sldId id="319"/>
            <p14:sldId id="320"/>
            <p14:sldId id="321"/>
            <p14:sldId id="325"/>
          </p14:sldIdLst>
        </p14:section>
        <p14:section name="rotor blade design" id="{B146C9B3-C78A-4A61-AAEC-721247ABE854}">
          <p14:sldIdLst/>
        </p14:section>
        <p14:section name="Rotor blades structure" id="{B442706D-6274-49C9-A7D1-C313276DB185}">
          <p14:sldIdLst/>
        </p14:section>
        <p14:section name="rotor hub and pitch system" id="{08747EF3-CA38-42EE-A1AF-7484E45039CE}">
          <p14:sldIdLst/>
        </p14:section>
        <p14:section name="electrical drivetrain" id="{1A5D22D2-BE65-4E6F-884C-4B877022F03F}">
          <p14:sldIdLst/>
        </p14:section>
        <p14:section name="rotor bearing system team" id="{DB3BAE13-317B-46D5-BF13-1546F7D1D6D4}">
          <p14:sldIdLst/>
        </p14:section>
        <p14:section name="GBC team" id="{62FD1619-6AFB-4D97-A60C-6FD16F62286D}">
          <p14:sldIdLst/>
        </p14:section>
        <p14:section name="Machine bed &amp; yaw team" id="{2739FDC4-7BC0-4D24-A2DB-018568B325C8}">
          <p14:sldIdLst/>
        </p14:section>
        <p14:section name="feedback controller team" id="{6415024D-93AC-4C7E-84F4-D0225312DA45}">
          <p14:sldIdLst/>
        </p14:section>
        <p14:section name="grid code team" id="{FD3B8E82-6082-4521-B98B-5BAB918F1115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702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02/11/2025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2120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9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02/11/2025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jp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www.bauprofessor.de/grundbruch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28/10/2025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Foundations team/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7ED1BF-5D66-636D-5730-97FE37F448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</a:t>
            </a:r>
            <a:r>
              <a:rPr lang="it-IT" b="1" dirty="0" err="1">
                <a:latin typeface="Times New Roman" pitchFamily="18" charset="0"/>
                <a:cs typeface="Times New Roman" pitchFamily="18" charset="0"/>
              </a:rPr>
              <a:t>Foundations</a:t>
            </a:r>
            <a:r>
              <a:rPr lang="it-IT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Week number: 07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Date: 04/14/2025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Supervisor: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2000" b="1" dirty="0">
                <a:latin typeface="Lato" panose="020B0604020202020204" pitchFamily="34" charset="0"/>
              </a:rPr>
              <a:t>Prof. Dr.-Ing. Torsten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b="1" dirty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de-DE" b="1" dirty="0"/>
              <a:t>Jehad </a:t>
            </a:r>
            <a:r>
              <a:rPr lang="de-DE" b="1" dirty="0" err="1"/>
              <a:t>Albaali</a:t>
            </a:r>
            <a:r>
              <a:rPr lang="de-DE" b="1" dirty="0"/>
              <a:t>- Amgad Gerges - Reda </a:t>
            </a:r>
            <a:r>
              <a:rPr lang="de-DE" b="1" dirty="0" err="1"/>
              <a:t>Deif</a:t>
            </a:r>
            <a:endParaRPr lang="de-DE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172911" y="5081052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presented</a:t>
            </a:r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de-DE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</a:t>
            </a:r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Amgad Gerges</a:t>
            </a:r>
          </a:p>
        </p:txBody>
      </p:sp>
    </p:spTree>
    <p:extLst>
      <p:ext uri="{BB962C8B-B14F-4D97-AF65-F5344CB8AC3E}">
        <p14:creationId xmlns:p14="http://schemas.microsoft.com/office/powerpoint/2010/main" val="29301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87400" y="1638300"/>
            <a:ext cx="5560060" cy="3445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Reverification with detailed drawing </a:t>
            </a:r>
            <a:endParaRPr lang="ar-EG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Concrete cover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Time Schedule Planning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Next tasks </a:t>
            </a:r>
            <a:endParaRPr lang="ar-EG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54103"/>
            <a:ext cx="111137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04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members: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3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2D30E5-E8EB-4514-D402-7006892C79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0B893F6D-288A-550A-C796-008FEA91A947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GB" sz="2000" b="1" dirty="0">
                <a:solidFill>
                  <a:srgbClr val="FF0000"/>
                </a:solidFill>
              </a:rPr>
              <a:t>Concrete Dimensions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04/11/2025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D2BC3-7A77-427E-122F-070BF0C54EA8}"/>
              </a:ext>
            </a:extLst>
          </p:cNvPr>
          <p:cNvSpPr txBox="1"/>
          <p:nvPr/>
        </p:nvSpPr>
        <p:spPr>
          <a:xfrm>
            <a:off x="510308" y="2246069"/>
            <a:ext cx="4679759" cy="305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Diameter of Base Plate (BP)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25 m </a:t>
            </a: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Diameter of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Pedestal = 7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 Pedestal = 1.5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of Middle slab = 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m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Height of </a:t>
            </a:r>
            <a:r>
              <a:rPr lang="en-GB" dirty="0"/>
              <a:t>Frustum (HF) = 1.5 m </a:t>
            </a:r>
            <a:endParaRPr lang="en-GB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of Edge slab (HE) = 0.5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432509-B769-A94B-4D8C-016547672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74" y="2053592"/>
            <a:ext cx="6873077" cy="356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9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855F6-C01F-6769-3652-D8A8070F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E613D211-BEA0-2E32-65D1-F88000B45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130"/>
            <a:ext cx="1402080" cy="303762"/>
          </a:xfrm>
        </p:spPr>
        <p:txBody>
          <a:bodyPr>
            <a:normAutofit fontScale="90000"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Input </a:t>
            </a:r>
            <a:r>
              <a:rPr lang="de-DE" sz="2000" dirty="0" err="1">
                <a:solidFill>
                  <a:srgbClr val="FF0000"/>
                </a:solidFill>
              </a:rPr>
              <a:t>data</a:t>
            </a:r>
            <a:endParaRPr lang="de-DE" sz="2000" dirty="0">
              <a:solidFill>
                <a:srgbClr val="FF0000"/>
              </a:solidFill>
            </a:endParaRPr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C9214F4-C5EE-8BCE-FE46-B988D1D34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4</a:t>
            </a:fld>
            <a:endParaRPr lang="en-GB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E7ADECB0-CB60-02B7-5EA8-AC2903B128A1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54103"/>
            <a:ext cx="111137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04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38C8C02D-7B39-4DC6-1528-F90940F9229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DCBBAC3-20F0-7C00-B583-D0B829E2B92D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members: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CE1172-1EBA-4027-B2D3-8F9413A147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08" y="1393593"/>
            <a:ext cx="7640002" cy="407081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84F076-5061-4802-B8BE-6E27827D56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3254" y="1499987"/>
            <a:ext cx="6085636" cy="415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894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F3F8-7FCA-C48B-1687-8E61C743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69A2AC-C06E-229E-9510-CEB7B79C91D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5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E27D02-AFE5-EE72-7245-979026DF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A63C02EA-6848-844A-A7E6-8E10BA8FB6B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04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EBAC95E-AA1D-8862-0792-D9FBD9AB10A9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7E17BBCC-CFA3-C433-AD5F-5CF92170D03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itel 21">
            <a:extLst>
              <a:ext uri="{FF2B5EF4-FFF2-40B4-BE49-F238E27FC236}">
                <a16:creationId xmlns:a16="http://schemas.microsoft.com/office/drawing/2014/main" id="{4E43D925-0C1B-6F9B-8DF5-F0E937D5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200"/>
            <a:ext cx="8054136" cy="745692"/>
          </a:xfrm>
        </p:spPr>
        <p:txBody>
          <a:bodyPr>
            <a:normAutofit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*</a:t>
            </a:r>
            <a:r>
              <a:rPr lang="de-DE" sz="2000" dirty="0" err="1">
                <a:solidFill>
                  <a:srgbClr val="FF0000"/>
                </a:solidFill>
              </a:rPr>
              <a:t>Reverification</a:t>
            </a:r>
            <a:r>
              <a:rPr lang="de-DE" sz="2000" dirty="0">
                <a:solidFill>
                  <a:srgbClr val="FF0000"/>
                </a:solidFill>
              </a:rPr>
              <a:t> </a:t>
            </a:r>
            <a:r>
              <a:rPr lang="de-DE" sz="2000" dirty="0" err="1">
                <a:solidFill>
                  <a:srgbClr val="FF0000"/>
                </a:solidFill>
              </a:rPr>
              <a:t>with</a:t>
            </a:r>
            <a:r>
              <a:rPr lang="de-DE" sz="2000" dirty="0">
                <a:solidFill>
                  <a:srgbClr val="FF0000"/>
                </a:solidFill>
              </a:rPr>
              <a:t> </a:t>
            </a:r>
            <a:r>
              <a:rPr lang="de-DE" sz="2000" dirty="0" err="1">
                <a:solidFill>
                  <a:srgbClr val="FF0000"/>
                </a:solidFill>
              </a:rPr>
              <a:t>detailed</a:t>
            </a:r>
            <a:r>
              <a:rPr lang="de-DE" sz="2000" dirty="0">
                <a:solidFill>
                  <a:srgbClr val="FF0000"/>
                </a:solidFill>
              </a:rPr>
              <a:t> </a:t>
            </a:r>
            <a:r>
              <a:rPr lang="de-DE" sz="2000" dirty="0" err="1">
                <a:solidFill>
                  <a:srgbClr val="FF0000"/>
                </a:solidFill>
              </a:rPr>
              <a:t>drawing</a:t>
            </a:r>
            <a:br>
              <a:rPr lang="de-DE" sz="2000" dirty="0">
                <a:solidFill>
                  <a:srgbClr val="FF0000"/>
                </a:solidFill>
              </a:rPr>
            </a:br>
            <a:r>
              <a:rPr lang="de-DE" sz="2000" dirty="0">
                <a:solidFill>
                  <a:srgbClr val="FF0000"/>
                </a:solidFill>
              </a:rPr>
              <a:t>-</a:t>
            </a:r>
            <a:r>
              <a:rPr lang="de-DE" sz="2000" dirty="0" err="1">
                <a:solidFill>
                  <a:srgbClr val="FF0000"/>
                </a:solidFill>
              </a:rPr>
              <a:t>Overturning</a:t>
            </a:r>
            <a:r>
              <a:rPr lang="de-DE" sz="2000" dirty="0">
                <a:solidFill>
                  <a:srgbClr val="FF0000"/>
                </a:solidFill>
              </a:rPr>
              <a:t> Check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5AF0F8-4C63-41D9-BD1C-696E681E4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376" y="3977168"/>
            <a:ext cx="5743575" cy="2562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3164A0-EA43-433F-A328-1F601224B4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863" y="1919088"/>
            <a:ext cx="6085636" cy="2363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275C20-C9C3-4ACC-B8CC-6C5965394B27}"/>
                  </a:ext>
                </a:extLst>
              </p:cNvPr>
              <p:cNvSpPr txBox="1"/>
              <p:nvPr/>
            </p:nvSpPr>
            <p:spPr>
              <a:xfrm>
                <a:off x="2148720" y="5555182"/>
                <a:ext cx="3767922" cy="6399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𝑜𝑢𝑟𝑐𝑒</m:t>
                      </m:r>
                      <m:r>
                        <a:rPr lang="de-DE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en-US"/>
                        <m:t>Foundation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WS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2025</m:t>
                      </m:r>
                      <m:r>
                        <m:rPr>
                          <m:nor/>
                        </m:rPr>
                        <a:rPr lang="en-US"/>
                        <m:t>/</m:t>
                      </m:r>
                      <m:r>
                        <m:rPr>
                          <m:nor/>
                        </m:rPr>
                        <a:rPr lang="en-US"/>
                        <m:t>26 </m:t>
                      </m:r>
                      <m:r>
                        <m:rPr>
                          <m:nor/>
                        </m:rPr>
                        <a:rPr lang="en-US"/>
                        <m:t>Prof</m:t>
                      </m:r>
                      <m:r>
                        <m:rPr>
                          <m:nor/>
                        </m:rPr>
                        <a:rPr lang="en-US"/>
                        <m:t>. </m:t>
                      </m:r>
                      <m:r>
                        <m:rPr>
                          <m:nor/>
                        </m:rPr>
                        <a:rPr lang="en-US"/>
                        <m:t>Dr</m:t>
                      </m:r>
                      <m:r>
                        <m:rPr>
                          <m:nor/>
                        </m:rPr>
                        <a:rPr lang="en-US"/>
                        <m:t>.</m:t>
                      </m:r>
                      <m:r>
                        <m:rPr>
                          <m:nor/>
                        </m:rPr>
                        <a:rPr lang="en-US"/>
                        <m:t>−</m:t>
                      </m:r>
                      <m:r>
                        <m:rPr>
                          <m:nor/>
                        </m:rPr>
                        <a:rPr lang="en-US"/>
                        <m:t>Ing</m:t>
                      </m:r>
                      <m:r>
                        <m:rPr>
                          <m:nor/>
                        </m:rPr>
                        <a:rPr lang="en-US"/>
                        <m:t>. </m:t>
                      </m:r>
                      <m:r>
                        <m:rPr>
                          <m:nor/>
                        </m:rPr>
                        <a:rPr lang="en-US"/>
                        <m:t>Torsten</m:t>
                      </m:r>
                      <m:r>
                        <m:rPr>
                          <m:nor/>
                        </m:rPr>
                        <a:rPr lang="en-US"/>
                        <m:t> </m:t>
                      </m:r>
                      <m:r>
                        <m:rPr>
                          <m:nor/>
                        </m:rPr>
                        <a:rPr lang="en-US"/>
                        <m:t>Faber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275C20-C9C3-4ACC-B8CC-6C5965394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720" y="5555182"/>
                <a:ext cx="3767922" cy="639983"/>
              </a:xfrm>
              <a:prstGeom prst="rect">
                <a:avLst/>
              </a:prstGeom>
              <a:blipFill>
                <a:blip r:embed="rId4"/>
                <a:stretch>
                  <a:fillRect b="-4762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7461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F3F8-7FCA-C48B-1687-8E61C743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69A2AC-C06E-229E-9510-CEB7B79C91D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6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E27D02-AFE5-EE72-7245-979026DF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A63C02EA-6848-844A-A7E6-8E10BA8FB6B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04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EBAC95E-AA1D-8862-0792-D9FBD9AB10A9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7E17BBCC-CFA3-C433-AD5F-5CF92170D03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itel 21">
            <a:extLst>
              <a:ext uri="{FF2B5EF4-FFF2-40B4-BE49-F238E27FC236}">
                <a16:creationId xmlns:a16="http://schemas.microsoft.com/office/drawing/2014/main" id="{4E43D925-0C1B-6F9B-8DF5-F0E937D5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9467"/>
            <a:ext cx="6053667" cy="813425"/>
          </a:xfrm>
        </p:spPr>
        <p:txBody>
          <a:bodyPr>
            <a:normAutofit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*</a:t>
            </a:r>
            <a:r>
              <a:rPr lang="de-DE" sz="2000" dirty="0" err="1">
                <a:solidFill>
                  <a:srgbClr val="FF0000"/>
                </a:solidFill>
              </a:rPr>
              <a:t>Reverification</a:t>
            </a:r>
            <a:r>
              <a:rPr lang="de-DE" sz="2000" dirty="0">
                <a:solidFill>
                  <a:srgbClr val="FF0000"/>
                </a:solidFill>
              </a:rPr>
              <a:t> </a:t>
            </a:r>
            <a:r>
              <a:rPr lang="de-DE" sz="2000" dirty="0" err="1">
                <a:solidFill>
                  <a:srgbClr val="FF0000"/>
                </a:solidFill>
              </a:rPr>
              <a:t>with</a:t>
            </a:r>
            <a:r>
              <a:rPr lang="de-DE" sz="2000" dirty="0">
                <a:solidFill>
                  <a:srgbClr val="FF0000"/>
                </a:solidFill>
              </a:rPr>
              <a:t> </a:t>
            </a:r>
            <a:r>
              <a:rPr lang="de-DE" sz="2000" dirty="0" err="1">
                <a:solidFill>
                  <a:srgbClr val="FF0000"/>
                </a:solidFill>
              </a:rPr>
              <a:t>detailed</a:t>
            </a:r>
            <a:r>
              <a:rPr lang="de-DE" sz="2000" dirty="0">
                <a:solidFill>
                  <a:srgbClr val="FF0000"/>
                </a:solidFill>
              </a:rPr>
              <a:t> </a:t>
            </a:r>
            <a:r>
              <a:rPr lang="de-DE" sz="2000" dirty="0" err="1">
                <a:solidFill>
                  <a:srgbClr val="FF0000"/>
                </a:solidFill>
              </a:rPr>
              <a:t>drawing</a:t>
            </a:r>
            <a:br>
              <a:rPr lang="de-DE" sz="2000" dirty="0">
                <a:solidFill>
                  <a:srgbClr val="FF0000"/>
                </a:solidFill>
              </a:rPr>
            </a:br>
            <a:r>
              <a:rPr lang="de-DE" sz="2000" dirty="0">
                <a:solidFill>
                  <a:srgbClr val="FF0000"/>
                </a:solidFill>
              </a:rPr>
              <a:t>-Ground </a:t>
            </a:r>
            <a:r>
              <a:rPr lang="de-DE" sz="2000" dirty="0" err="1">
                <a:solidFill>
                  <a:srgbClr val="FF0000"/>
                </a:solidFill>
              </a:rPr>
              <a:t>Failure</a:t>
            </a:r>
            <a:r>
              <a:rPr lang="de-DE" sz="2000" dirty="0">
                <a:solidFill>
                  <a:srgbClr val="FF0000"/>
                </a:solidFill>
              </a:rPr>
              <a:t>  and </a:t>
            </a:r>
            <a:r>
              <a:rPr lang="de-DE" sz="2000" dirty="0" err="1">
                <a:solidFill>
                  <a:srgbClr val="FF0000"/>
                </a:solidFill>
              </a:rPr>
              <a:t>Sliding</a:t>
            </a:r>
            <a:r>
              <a:rPr lang="de-DE" sz="2000" dirty="0">
                <a:solidFill>
                  <a:srgbClr val="FF0000"/>
                </a:solidFill>
              </a:rPr>
              <a:t> Check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275C20-C9C3-4ACC-B8CC-6C5965394B27}"/>
                  </a:ext>
                </a:extLst>
              </p:cNvPr>
              <p:cNvSpPr txBox="1"/>
              <p:nvPr/>
            </p:nvSpPr>
            <p:spPr>
              <a:xfrm>
                <a:off x="530088" y="5747997"/>
                <a:ext cx="376792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DE" sz="16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𝑜𝑢𝑟𝑐𝑒</m:t>
                    </m:r>
                    <m:r>
                      <a:rPr lang="de-DE" sz="16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nor/>
                      </m:rPr>
                      <a:rPr lang="en-US" sz="1600" b="0" i="0" smtClean="0"/>
                      <m:t>Bautabellen</m:t>
                    </m:r>
                    <m:r>
                      <m:rPr>
                        <m:nor/>
                      </m:rPr>
                      <a:rPr lang="en-US" sz="1600" b="0" i="0" smtClean="0"/>
                      <m:t> </m:t>
                    </m:r>
                    <m:r>
                      <m:rPr>
                        <m:nor/>
                      </m:rPr>
                      <a:rPr lang="en-US" sz="1600" b="0" i="0" smtClean="0"/>
                      <m:t>f</m:t>
                    </m:r>
                  </m:oMath>
                </a14:m>
                <a:r>
                  <a:rPr lang="en-GB" sz="1600" dirty="0" err="1"/>
                  <a:t>ür</a:t>
                </a:r>
                <a:r>
                  <a:rPr lang="en-GB" sz="1600" dirty="0"/>
                  <a:t> </a:t>
                </a:r>
                <a:r>
                  <a:rPr lang="en-GB" sz="1600" dirty="0" err="1"/>
                  <a:t>Ingenieure</a:t>
                </a:r>
                <a:r>
                  <a:rPr lang="en-GB" sz="16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9275C20-C9C3-4ACC-B8CC-6C5965394B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88" y="5747997"/>
                <a:ext cx="3767922" cy="338554"/>
              </a:xfrm>
              <a:prstGeom prst="rect">
                <a:avLst/>
              </a:prstGeom>
              <a:blipFill>
                <a:blip r:embed="rId2"/>
                <a:stretch>
                  <a:fillRect t="-5455" b="-23636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5BE0309-95AC-4D16-B657-F39A1DA19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02181"/>
            <a:ext cx="5400675" cy="2971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4B7BE5-CDCA-492B-AA9F-9F0713986167}"/>
                  </a:ext>
                </a:extLst>
              </p:cNvPr>
              <p:cNvSpPr txBox="1"/>
              <p:nvPr/>
            </p:nvSpPr>
            <p:spPr>
              <a:xfrm>
                <a:off x="838200" y="4570094"/>
                <a:ext cx="56970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𝐌𝐚𝐱</m:t>
                        </m:r>
                      </m:sub>
                    </m:sSub>
                  </m:oMath>
                </a14:m>
                <a:r>
                  <a:rPr lang="en-GB" dirty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𝒂𝒍𝒍</m:t>
                        </m:r>
                      </m:sub>
                    </m:sSub>
                  </m:oMath>
                </a14:m>
                <a:r>
                  <a:rPr lang="en-GB" dirty="0"/>
                  <a:t> = 688.5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K</m:t>
                    </m:r>
                    <m:f>
                      <m:fPr>
                        <m:type m:val="li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 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𝐠𝐫𝐨𝐮𝐧𝐝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𝐟𝐚𝐢𝐥𝐮𝐫𝐞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is safe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64B7BE5-CDCA-492B-AA9F-9F0713986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70094"/>
                <a:ext cx="5697027" cy="369332"/>
              </a:xfrm>
              <a:prstGeom prst="rect">
                <a:avLst/>
              </a:prstGeom>
              <a:blipFill>
                <a:blip r:embed="rId4"/>
                <a:stretch>
                  <a:fillRect t="-118333" b="-180000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C2FC3412-C1FE-4FA4-B2DD-4CE246AEC4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327" y="1780963"/>
            <a:ext cx="5400674" cy="3993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87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4F3F8-7FCA-C48B-1687-8E61C743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69A2AC-C06E-229E-9510-CEB7B79C91D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7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9E27D02-AFE5-EE72-7245-979026DFF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A63C02EA-6848-844A-A7E6-8E10BA8FB6B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04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EBAC95E-AA1D-8862-0792-D9FBD9AB10A9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7E17BBCC-CFA3-C433-AD5F-5CF92170D03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" name="Picture 2" descr="A diagram of a beam&#10;&#10;AI-generated content may be incorrect.">
            <a:extLst>
              <a:ext uri="{FF2B5EF4-FFF2-40B4-BE49-F238E27FC236}">
                <a16:creationId xmlns:a16="http://schemas.microsoft.com/office/drawing/2014/main" id="{719A54FC-A9BB-B3F8-7EC0-65E18900C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816" y="1302306"/>
            <a:ext cx="5356045" cy="49849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45E255-2962-BC6E-36C2-D8CBF8D8A5CE}"/>
                  </a:ext>
                </a:extLst>
              </p:cNvPr>
              <p:cNvSpPr txBox="1"/>
              <p:nvPr/>
            </p:nvSpPr>
            <p:spPr>
              <a:xfrm>
                <a:off x="307108" y="1502088"/>
                <a:ext cx="3904673" cy="6594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𝐕</m:t>
                          </m:r>
                        </m:num>
                        <m:den>
                          <m:sSub>
                            <m:sSubPr>
                              <m:ctrlPr>
                                <a:rPr lang="en-GB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  <m:sub>
                              <m:r>
                                <a:rPr lang="en-GB" b="1" i="0">
                                  <a:latin typeface="Cambria Math" panose="02040503050406030204" pitchFamily="18" charset="0"/>
                                </a:rPr>
                                <m:t>𝐞𝐟𝐟</m:t>
                              </m:r>
                            </m:sub>
                          </m:sSub>
                        </m:den>
                      </m:f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31734</m:t>
                          </m:r>
                        </m:num>
                        <m:den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141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224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type m:val="lin"/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45E255-2962-BC6E-36C2-D8CBF8D8A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08" y="1502088"/>
                <a:ext cx="3904673" cy="6594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645B3A-172C-86B4-7CFB-FE8E7D907561}"/>
                  </a:ext>
                </a:extLst>
              </p:cNvPr>
              <p:cNvSpPr txBox="1"/>
              <p:nvPr/>
            </p:nvSpPr>
            <p:spPr>
              <a:xfrm>
                <a:off x="217987" y="2371181"/>
                <a:ext cx="5096312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>
                              <a:latin typeface="Cambria Math" panose="02040503050406030204" pitchFamily="18" charset="0"/>
                            </a:rPr>
                            <m:t>Z</m:t>
                          </m:r>
                        </m:den>
                      </m:f>
                      <m:r>
                        <a:rPr lang="en-GB" b="0" i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𝑴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e>
                            <m:sup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236822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e>
                            <m:sup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154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type m:val="lin"/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C645B3A-172C-86B4-7CFB-FE8E7D907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987" y="2371181"/>
                <a:ext cx="5096312" cy="612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609C53-3AF1-7595-0C7D-C53F79186413}"/>
                  </a:ext>
                </a:extLst>
              </p:cNvPr>
              <p:cNvSpPr txBox="1"/>
              <p:nvPr/>
            </p:nvSpPr>
            <p:spPr>
              <a:xfrm>
                <a:off x="90020" y="3236853"/>
                <a:ext cx="522427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𝐌𝐚𝐱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224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154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379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type m:val="lin"/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4609C53-3AF1-7595-0C7D-C53F79186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0" y="3236853"/>
                <a:ext cx="5224279" cy="369332"/>
              </a:xfrm>
              <a:prstGeom prst="rect">
                <a:avLst/>
              </a:prstGeom>
              <a:blipFill>
                <a:blip r:embed="rId5"/>
                <a:stretch>
                  <a:fillRect t="-116393" r="-5018" b="-175410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A66E06-21ED-2FF5-01DC-DDE6C53CE2FD}"/>
                  </a:ext>
                </a:extLst>
              </p:cNvPr>
              <p:cNvSpPr txBox="1"/>
              <p:nvPr/>
            </p:nvSpPr>
            <p:spPr>
              <a:xfrm>
                <a:off x="90020" y="4523956"/>
                <a:ext cx="641681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GB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GB" b="1" i="0">
                              <a:latin typeface="Cambria Math" panose="02040503050406030204" pitchFamily="18" charset="0"/>
                            </a:rPr>
                            <m:t>𝐌𝐢𝐧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en-GB" b="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224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154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70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b="0" i="0">
                          <a:latin typeface="Cambria Math" panose="02040503050406030204" pitchFamily="18" charset="0"/>
                        </a:rPr>
                        <m:t>K</m:t>
                      </m:r>
                      <m:f>
                        <m:fPr>
                          <m:type m:val="lin"/>
                          <m:ctrlPr>
                            <a:rPr lang="en-GB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>
                              <a:latin typeface="Cambria Math" panose="02040503050406030204" pitchFamily="18" charset="0"/>
                            </a:rPr>
                            <m:t>N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</m:e>
                            <m:sup>
                              <m:r>
                                <a:rPr lang="en-GB" b="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b="0" i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b="0" i="1">
                          <a:latin typeface="Cambria Math" panose="02040503050406030204" pitchFamily="18" charset="0"/>
                        </a:rPr>
                        <m:t>𝑝𝑜𝑠𝑡𝑖𝑣𝑒</m:t>
                      </m:r>
                      <m:r>
                        <a:rPr lang="en-GB" b="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A66E06-21ED-2FF5-01DC-DDE6C53CE2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20" y="4523956"/>
                <a:ext cx="6416817" cy="369332"/>
              </a:xfrm>
              <a:prstGeom prst="rect">
                <a:avLst/>
              </a:prstGeom>
              <a:blipFill>
                <a:blip r:embed="rId6"/>
                <a:stretch>
                  <a:fillRect t="-116393" b="-175410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el 21">
            <a:extLst>
              <a:ext uri="{FF2B5EF4-FFF2-40B4-BE49-F238E27FC236}">
                <a16:creationId xmlns:a16="http://schemas.microsoft.com/office/drawing/2014/main" id="{4E43D925-0C1B-6F9B-8DF5-F0E937D56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9130"/>
            <a:ext cx="4137660" cy="303762"/>
          </a:xfrm>
        </p:spPr>
        <p:txBody>
          <a:bodyPr>
            <a:normAutofit fontScale="90000"/>
          </a:bodyPr>
          <a:lstStyle/>
          <a:p>
            <a:r>
              <a:rPr lang="de-DE" sz="2000" dirty="0" err="1">
                <a:solidFill>
                  <a:srgbClr val="FF0000"/>
                </a:solidFill>
              </a:rPr>
              <a:t>Reverification</a:t>
            </a:r>
            <a:r>
              <a:rPr lang="de-DE" sz="2000" dirty="0">
                <a:solidFill>
                  <a:srgbClr val="FF0000"/>
                </a:solidFill>
              </a:rPr>
              <a:t> </a:t>
            </a:r>
            <a:r>
              <a:rPr lang="de-DE" sz="2000" dirty="0" err="1">
                <a:solidFill>
                  <a:srgbClr val="FF0000"/>
                </a:solidFill>
              </a:rPr>
              <a:t>with</a:t>
            </a:r>
            <a:r>
              <a:rPr lang="de-DE" sz="2000" dirty="0">
                <a:solidFill>
                  <a:srgbClr val="FF0000"/>
                </a:solidFill>
              </a:rPr>
              <a:t> </a:t>
            </a:r>
            <a:r>
              <a:rPr lang="de-DE" sz="2000" dirty="0" err="1">
                <a:solidFill>
                  <a:srgbClr val="FF0000"/>
                </a:solidFill>
              </a:rPr>
              <a:t>detailed</a:t>
            </a:r>
            <a:r>
              <a:rPr lang="de-DE" sz="2000" dirty="0">
                <a:solidFill>
                  <a:srgbClr val="FF0000"/>
                </a:solidFill>
              </a:rPr>
              <a:t> </a:t>
            </a:r>
            <a:r>
              <a:rPr lang="de-DE" sz="2000" dirty="0" err="1">
                <a:solidFill>
                  <a:srgbClr val="FF0000"/>
                </a:solidFill>
              </a:rPr>
              <a:t>drawing</a:t>
            </a:r>
            <a:br>
              <a:rPr lang="de-DE" sz="2000" dirty="0">
                <a:solidFill>
                  <a:srgbClr val="FF0000"/>
                </a:solidFill>
              </a:rPr>
            </a:br>
            <a:r>
              <a:rPr lang="de-DE" sz="2000" dirty="0">
                <a:solidFill>
                  <a:srgbClr val="FF0000"/>
                </a:solidFill>
              </a:rPr>
              <a:t>-</a:t>
            </a:r>
            <a:r>
              <a:rPr lang="de-DE" sz="2000" dirty="0" err="1">
                <a:solidFill>
                  <a:srgbClr val="FF0000"/>
                </a:solidFill>
              </a:rPr>
              <a:t>Calculation</a:t>
            </a:r>
            <a:r>
              <a:rPr lang="de-DE" sz="2000" dirty="0">
                <a:solidFill>
                  <a:srgbClr val="FF0000"/>
                </a:solidFill>
              </a:rPr>
              <a:t>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A69A68-76FF-0528-84C0-18FF4AE571DE}"/>
                  </a:ext>
                </a:extLst>
              </p:cNvPr>
              <p:cNvSpPr txBox="1"/>
              <p:nvPr/>
            </p:nvSpPr>
            <p:spPr>
              <a:xfrm>
                <a:off x="176843" y="5082334"/>
                <a:ext cx="43978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𝐌𝐢𝐧</m:t>
                        </m:r>
                      </m:sub>
                    </m:sSub>
                  </m:oMath>
                </a14:m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𝑝𝑜𝑠𝑡𝑖𝑣𝑒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𝐬𝐚𝐟𝐞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𝐚𝐠𝐚𝐢𝐧𝐬𝐭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𝐮𝐩𝐥𝐢𝐟𝐭</m:t>
                    </m:r>
                  </m:oMath>
                </a14:m>
                <a:endParaRPr lang="en-GB" b="1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A69A68-76FF-0528-84C0-18FF4AE57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43" y="5082334"/>
                <a:ext cx="4397890" cy="369332"/>
              </a:xfrm>
              <a:prstGeom prst="rect">
                <a:avLst/>
              </a:prstGeom>
              <a:blipFill>
                <a:blip r:embed="rId7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73E7FB-497C-444D-8FC3-B87A3EC6FA16}"/>
                  </a:ext>
                </a:extLst>
              </p:cNvPr>
              <p:cNvSpPr txBox="1"/>
              <p:nvPr/>
            </p:nvSpPr>
            <p:spPr>
              <a:xfrm>
                <a:off x="216093" y="3859061"/>
                <a:ext cx="56970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GB" i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GB" b="1" i="0">
                            <a:latin typeface="Cambria Math" panose="02040503050406030204" pitchFamily="18" charset="0"/>
                          </a:rPr>
                          <m:t>𝐌𝐚𝐱</m:t>
                        </m:r>
                      </m:sub>
                    </m:sSub>
                  </m:oMath>
                </a14:m>
                <a:r>
                  <a:rPr lang="en-GB" dirty="0"/>
                  <a:t> &lt;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q</m:t>
                        </m:r>
                        <m:r>
                          <a:rPr lang="en-GB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𝒂𝒍𝒍</m:t>
                        </m:r>
                      </m:sub>
                    </m:sSub>
                  </m:oMath>
                </a14:m>
                <a:r>
                  <a:rPr lang="en-GB" dirty="0"/>
                  <a:t> = 688.5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</a:rPr>
                      <m:t>K</m:t>
                    </m:r>
                    <m:f>
                      <m:fPr>
                        <m:type m:val="li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GB">
                            <a:latin typeface="Cambria Math" panose="02040503050406030204" pitchFamily="18" charset="0"/>
                          </a:rPr>
                          <m:t>N</m:t>
                        </m:r>
                      </m:num>
                      <m:den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>
                                <a:latin typeface="Cambria Math" panose="02040503050406030204" pitchFamily="18" charset="0"/>
                              </a:rPr>
                              <m:t>m</m:t>
                            </m:r>
                          </m:e>
                          <m:sup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GB" dirty="0"/>
                  <a:t> 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𝐠𝐫𝐨𝐮𝐧𝐝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𝐟𝐚𝐢𝐥𝐮𝐫𝐞</m:t>
                    </m:r>
                  </m:oMath>
                </a14:m>
                <a:r>
                  <a:rPr lang="en-GB" b="1" dirty="0"/>
                  <a:t> </a:t>
                </a:r>
                <a:r>
                  <a:rPr lang="en-GB" b="1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is safe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73E7FB-497C-444D-8FC3-B87A3EC6F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093" y="3859061"/>
                <a:ext cx="5697027" cy="369332"/>
              </a:xfrm>
              <a:prstGeom prst="rect">
                <a:avLst/>
              </a:prstGeom>
              <a:blipFill>
                <a:blip r:embed="rId8"/>
                <a:stretch>
                  <a:fillRect t="-116393" b="-175410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D561BC-7D49-B3EE-7F09-E2A2952FEB30}"/>
                  </a:ext>
                </a:extLst>
              </p:cNvPr>
              <p:cNvSpPr txBox="1"/>
              <p:nvPr/>
            </p:nvSpPr>
            <p:spPr>
              <a:xfrm>
                <a:off x="172382" y="5655065"/>
                <a:ext cx="60856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The load eccentricity</a:t>
                </a:r>
                <a:r>
                  <a:rPr lang="ar-EG" dirty="0"/>
                  <a:t> </a:t>
                </a:r>
                <a:r>
                  <a:rPr lang="en-US" dirty="0"/>
                  <a:t>(e)</a:t>
                </a:r>
                <a:r>
                  <a:rPr lang="en-GB" dirty="0"/>
                  <a:t> lies within the foundation perimeter 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𝐬𝐚𝐟𝐞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𝐚𝐠𝐚𝐢𝐧𝐬𝐭</m:t>
                    </m:r>
                    <m:r>
                      <a:rPr lang="en-US" b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𝒐𝒗𝒆𝒓𝒕𝒖𝒓𝒏𝒊𝒏𝒈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AD561BC-7D49-B3EE-7F09-E2A2952FEB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82" y="5655065"/>
                <a:ext cx="6085636" cy="646331"/>
              </a:xfrm>
              <a:prstGeom prst="rect">
                <a:avLst/>
              </a:prstGeom>
              <a:blipFill>
                <a:blip r:embed="rId9"/>
                <a:stretch>
                  <a:fillRect l="-801" t="-6604" b="-6604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929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EFFA9-BA1A-C8D0-C871-4F7F403E3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F948DE0-8C7B-1C33-0712-F6CF2C73C6E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8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C46E2DB-4C80-97A2-229E-86A9910EB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4938F9E0-AF29-4824-5BD1-2FA1320438D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04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F8F59B5E-2D6F-5BE6-1E70-C3D3A20005E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828BCD18-4799-1C8A-D341-5161F5D63C98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A5044-44BF-6443-3F90-3D80F442FBD6}"/>
              </a:ext>
            </a:extLst>
          </p:cNvPr>
          <p:cNvSpPr txBox="1"/>
          <p:nvPr/>
        </p:nvSpPr>
        <p:spPr>
          <a:xfrm>
            <a:off x="701040" y="823154"/>
            <a:ext cx="23926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GB" b="1" dirty="0">
                <a:solidFill>
                  <a:srgbClr val="FF0000"/>
                </a:solidFill>
              </a:rPr>
              <a:t>on</a:t>
            </a:r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GB" b="1" dirty="0">
                <a:solidFill>
                  <a:srgbClr val="FF0000"/>
                </a:solidFill>
              </a:rPr>
              <a:t>rete Cover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2EE89-EA58-6DE8-537D-38F9291D076E}"/>
              </a:ext>
            </a:extLst>
          </p:cNvPr>
          <p:cNvSpPr txBox="1"/>
          <p:nvPr/>
        </p:nvSpPr>
        <p:spPr>
          <a:xfrm>
            <a:off x="388620" y="1558440"/>
            <a:ext cx="11262360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FF0000"/>
                </a:solidFill>
              </a:rPr>
              <a:t>The concrete cover </a:t>
            </a:r>
            <a:r>
              <a:rPr lang="en-GB" dirty="0"/>
              <a:t>is the distance between the surface of the reinforcement closest to the nearest concrete surface (including links and stirrups and surface reinforcement where relevant) and the nearest concrete surface.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4349E8-4A7C-657A-1C98-F47B187A70DF}"/>
              </a:ext>
            </a:extLst>
          </p:cNvPr>
          <p:cNvSpPr txBox="1"/>
          <p:nvPr/>
        </p:nvSpPr>
        <p:spPr>
          <a:xfrm>
            <a:off x="388620" y="2600949"/>
            <a:ext cx="3596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Factors affecting concrete cover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F571F7-CFEF-2460-3762-633EA8807939}"/>
              </a:ext>
            </a:extLst>
          </p:cNvPr>
          <p:cNvSpPr txBox="1"/>
          <p:nvPr/>
        </p:nvSpPr>
        <p:spPr>
          <a:xfrm>
            <a:off x="297180" y="2935740"/>
            <a:ext cx="6477000" cy="2127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• The design life length of the structure </a:t>
            </a:r>
            <a:endParaRPr lang="ar-EG" dirty="0"/>
          </a:p>
          <a:p>
            <a:pPr>
              <a:lnSpc>
                <a:spcPct val="150000"/>
              </a:lnSpc>
            </a:pPr>
            <a:r>
              <a:rPr lang="en-GB" dirty="0"/>
              <a:t>• The quality of the concrete </a:t>
            </a:r>
            <a:endParaRPr lang="ar-EG" dirty="0"/>
          </a:p>
          <a:p>
            <a:pPr>
              <a:lnSpc>
                <a:spcPct val="150000"/>
              </a:lnSpc>
            </a:pPr>
            <a:r>
              <a:rPr lang="en-GB" dirty="0"/>
              <a:t>• The exposure to chlorides </a:t>
            </a:r>
            <a:endParaRPr lang="ar-EG" dirty="0"/>
          </a:p>
          <a:p>
            <a:pPr>
              <a:lnSpc>
                <a:spcPct val="150000"/>
              </a:lnSpc>
            </a:pPr>
            <a:r>
              <a:rPr lang="en-GB" dirty="0"/>
              <a:t>• The variation of wet- and dry state </a:t>
            </a:r>
            <a:endParaRPr lang="ar-EG" dirty="0"/>
          </a:p>
          <a:p>
            <a:pPr>
              <a:lnSpc>
                <a:spcPct val="150000"/>
              </a:lnSpc>
            </a:pPr>
            <a:r>
              <a:rPr lang="en-GB" dirty="0"/>
              <a:t>• The exposure to chemical aggressive environment </a:t>
            </a:r>
            <a:endParaRPr lang="ar-E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EC3E53-90A3-852B-EEDD-000814713D9A}"/>
                  </a:ext>
                </a:extLst>
              </p:cNvPr>
              <p:cNvSpPr txBox="1"/>
              <p:nvPr/>
            </p:nvSpPr>
            <p:spPr>
              <a:xfrm>
                <a:off x="297180" y="5299560"/>
                <a:ext cx="6819900" cy="880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:r>
                  <a:rPr lang="en-GB" b="1" dirty="0"/>
                  <a:t>In practice, 50 mm is used for foundations in most projects</a:t>
                </a:r>
                <a:r>
                  <a:rPr lang="ar-EG" b="1" dirty="0"/>
                  <a:t> </a:t>
                </a:r>
                <a14:m>
                  <m:oMath xmlns:m="http://schemas.openxmlformats.org/officeDocument/2006/math">
                    <m:r>
                      <a:rPr lang="en-GB" b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𝐬𝐨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𝐰𝐞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𝐜𝐡𝐨𝐨𝐬𝐞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𝟓𝟎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𝐦𝐦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𝐚𝐬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𝐜𝐨𝐧𝐜𝐫𝐞𝐭𝐞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𝐜𝐨𝐯𝐞𝐫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𝐟𝐨𝐫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𝐨𝐮𝐫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𝐩𝐫𝐨𝐣𝐞𝐜𝐭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ar-EG" b="1" dirty="0"/>
                  <a:t> </a:t>
                </a:r>
                <a:endParaRPr lang="en-GB" b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AEC3E53-90A3-852B-EEDD-000814713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" y="5299560"/>
                <a:ext cx="6819900" cy="880882"/>
              </a:xfrm>
              <a:prstGeom prst="rect">
                <a:avLst/>
              </a:prstGeom>
              <a:blipFill>
                <a:blip r:embed="rId2"/>
                <a:stretch>
                  <a:fillRect l="-804" b="-89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914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D197D-C61E-9E99-5440-0F4C4956D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E1A1705-D077-0689-C7D3-7F85EA14BC4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9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6EA8708-B323-EBA9-F020-BCEDBA55B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2AE6B5D7-00B9-C809-BE88-93A6020E746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04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4554BFC-7FDF-A86B-41C7-D17A875F324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9E7B97A4-6905-F01C-C5CF-7924371263F5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FA130D-2858-A90E-ED0B-F24E1E8F1B0B}"/>
              </a:ext>
            </a:extLst>
          </p:cNvPr>
          <p:cNvSpPr txBox="1"/>
          <p:nvPr/>
        </p:nvSpPr>
        <p:spPr>
          <a:xfrm>
            <a:off x="701040" y="823154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Time Schedule Planning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47AF87-3B4A-443F-A510-13F583469123}"/>
              </a:ext>
            </a:extLst>
          </p:cNvPr>
          <p:cNvSpPr txBox="1"/>
          <p:nvPr/>
        </p:nvSpPr>
        <p:spPr>
          <a:xfrm>
            <a:off x="701040" y="1558440"/>
            <a:ext cx="96926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200" b="1" dirty="0"/>
              <a:t>Time Schedule </a:t>
            </a:r>
            <a:r>
              <a:rPr lang="de-DE" sz="3200" b="1" dirty="0" err="1"/>
              <a:t>Planning</a:t>
            </a:r>
            <a:endParaRPr lang="de-DE" sz="3200" b="1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1-2:</a:t>
            </a:r>
            <a:r>
              <a:rPr lang="de-DE" sz="3200" dirty="0"/>
              <a:t> Data Collection &amp; Project Kick-off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3-4:</a:t>
            </a:r>
            <a:r>
              <a:rPr lang="de-DE" sz="3200" dirty="0"/>
              <a:t> </a:t>
            </a:r>
            <a:r>
              <a:rPr lang="de-DE" sz="3200" dirty="0" err="1"/>
              <a:t>Geotechnical</a:t>
            </a:r>
            <a:r>
              <a:rPr lang="de-DE" sz="3200" dirty="0"/>
              <a:t> Analysis &amp; </a:t>
            </a:r>
            <a:r>
              <a:rPr lang="de-DE" sz="3200" dirty="0" err="1"/>
              <a:t>Conceptual</a:t>
            </a:r>
            <a:r>
              <a:rPr lang="de-DE" sz="3200" dirty="0"/>
              <a:t>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>
                <a:solidFill>
                  <a:srgbClr val="FF0000"/>
                </a:solidFill>
              </a:rPr>
              <a:t>Week 5-7:</a:t>
            </a:r>
            <a:r>
              <a:rPr lang="de-DE" sz="3200" dirty="0">
                <a:solidFill>
                  <a:srgbClr val="FF0000"/>
                </a:solidFill>
              </a:rPr>
              <a:t> </a:t>
            </a:r>
            <a:r>
              <a:rPr lang="de-DE" sz="3200" b="1" dirty="0" err="1">
                <a:solidFill>
                  <a:srgbClr val="FF0000"/>
                </a:solidFill>
              </a:rPr>
              <a:t>Detailed</a:t>
            </a:r>
            <a:r>
              <a:rPr lang="de-DE" sz="3200" b="1" dirty="0">
                <a:solidFill>
                  <a:srgbClr val="FF0000"/>
                </a:solidFill>
              </a:rPr>
              <a:t> Design &amp; </a:t>
            </a:r>
            <a:r>
              <a:rPr lang="de-DE" sz="3200" b="1" dirty="0" err="1">
                <a:solidFill>
                  <a:srgbClr val="FF0000"/>
                </a:solidFill>
              </a:rPr>
              <a:t>Verification</a:t>
            </a:r>
            <a:r>
              <a:rPr lang="de-DE" sz="3200" b="1" dirty="0">
                <a:solidFill>
                  <a:srgbClr val="FF0000"/>
                </a:solidFill>
              </a:rPr>
              <a:t> </a:t>
            </a:r>
            <a:endParaRPr lang="ar-SA" sz="32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8-9:</a:t>
            </a:r>
            <a:r>
              <a:rPr lang="de-DE" sz="3200" dirty="0"/>
              <a:t> </a:t>
            </a:r>
            <a:r>
              <a:rPr lang="de-DE" sz="3200" dirty="0" err="1"/>
              <a:t>Structural</a:t>
            </a:r>
            <a:r>
              <a:rPr lang="de-DE" sz="3200" dirty="0"/>
              <a:t> Design (</a:t>
            </a:r>
            <a:r>
              <a:rPr lang="de-DE" sz="3200" dirty="0" err="1"/>
              <a:t>Rebar</a:t>
            </a:r>
            <a:r>
              <a:rPr lang="de-DE" sz="3200" dirty="0"/>
              <a:t> &amp; Shear)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10-11:</a:t>
            </a:r>
            <a:r>
              <a:rPr lang="de-DE" sz="3200" dirty="0"/>
              <a:t> Final </a:t>
            </a:r>
            <a:r>
              <a:rPr lang="de-DE" sz="3200" dirty="0" err="1"/>
              <a:t>Drawings</a:t>
            </a:r>
            <a:r>
              <a:rPr lang="de-DE" sz="3200" dirty="0"/>
              <a:t> &amp; </a:t>
            </a:r>
            <a:r>
              <a:rPr lang="de-DE" sz="3200" dirty="0" err="1"/>
              <a:t>Documentation</a:t>
            </a:r>
            <a:endParaRPr lang="de-DE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de-DE" sz="3200" b="1" dirty="0"/>
              <a:t>Week 12:</a:t>
            </a:r>
            <a:r>
              <a:rPr lang="de-DE" sz="3200" dirty="0"/>
              <a:t> Final Review &amp; Submission</a:t>
            </a:r>
          </a:p>
        </p:txBody>
      </p:sp>
    </p:spTree>
    <p:extLst>
      <p:ext uri="{BB962C8B-B14F-4D97-AF65-F5344CB8AC3E}">
        <p14:creationId xmlns:p14="http://schemas.microsoft.com/office/powerpoint/2010/main" val="1936989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3D0A-C704-F121-9F4A-41F5835F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7DDDC6-C8B9-C58E-DDC6-F54FDE2D29D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10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BC6C56-EB19-7480-D5FA-25DAB6E54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57737309-601F-9126-6ADE-A77C268650F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04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F000B7E9-079E-A132-AFA4-547559A6A37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BFAFF01E-50B3-33EC-9274-55A1BAAB97D7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D8453-DAF7-142E-9EB9-54EA8C53EF20}"/>
              </a:ext>
            </a:extLst>
          </p:cNvPr>
          <p:cNvSpPr txBox="1"/>
          <p:nvPr/>
        </p:nvSpPr>
        <p:spPr>
          <a:xfrm>
            <a:off x="701040" y="823154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Next Tasks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BD773C-0800-AEAF-92B8-F7F8E971DFEA}"/>
              </a:ext>
            </a:extLst>
          </p:cNvPr>
          <p:cNvSpPr txBox="1"/>
          <p:nvPr/>
        </p:nvSpPr>
        <p:spPr>
          <a:xfrm>
            <a:off x="556260" y="1802470"/>
            <a:ext cx="4038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Design of Raft  for bending moment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32B2F-1911-8AFF-40AD-17C1D709F012}"/>
              </a:ext>
            </a:extLst>
          </p:cNvPr>
          <p:cNvSpPr txBox="1"/>
          <p:nvPr/>
        </p:nvSpPr>
        <p:spPr>
          <a:xfrm>
            <a:off x="517585" y="2375334"/>
            <a:ext cx="26593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Design of Raft for shear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C247CA-2333-1279-C0C8-F0CCDF52EECD}"/>
              </a:ext>
            </a:extLst>
          </p:cNvPr>
          <p:cNvSpPr txBox="1"/>
          <p:nvPr/>
        </p:nvSpPr>
        <p:spPr>
          <a:xfrm>
            <a:off x="502920" y="2937318"/>
            <a:ext cx="3627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Design of Raft for fatigue loading </a:t>
            </a:r>
          </a:p>
        </p:txBody>
      </p:sp>
    </p:spTree>
    <p:extLst>
      <p:ext uri="{BB962C8B-B14F-4D97-AF65-F5344CB8AC3E}">
        <p14:creationId xmlns:p14="http://schemas.microsoft.com/office/powerpoint/2010/main" val="3607304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3D0A-C704-F121-9F4A-41F5835F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7DDDC6-C8B9-C58E-DDC6-F54FDE2D29D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11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BC6C56-EB19-7480-D5FA-25DAB6E54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57737309-601F-9126-6ADE-A77C268650F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04</a:t>
            </a:r>
            <a:r>
              <a:rPr lang="en-GB" b="1" dirty="0">
                <a:solidFill>
                  <a:schemeClr val="tx1"/>
                </a:solidFill>
              </a:rPr>
              <a:t>/11/2025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F000B7E9-079E-A132-AFA4-547559A6A37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9" name="Textfeld 12">
            <a:extLst>
              <a:ext uri="{FF2B5EF4-FFF2-40B4-BE49-F238E27FC236}">
                <a16:creationId xmlns:a16="http://schemas.microsoft.com/office/drawing/2014/main" id="{BFAFF01E-50B3-33EC-9274-55A1BAAB97D7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sz="1200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sz="1200" b="1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de-DE" sz="1200" b="1" dirty="0"/>
              <a:t>Jehad </a:t>
            </a:r>
            <a:r>
              <a:rPr lang="de-DE" sz="1200" b="1" dirty="0" err="1"/>
              <a:t>Albaali</a:t>
            </a:r>
            <a:r>
              <a:rPr lang="de-DE" sz="1200" b="1" dirty="0"/>
              <a:t>- Amgad Gerges - Reda </a:t>
            </a:r>
            <a:r>
              <a:rPr lang="de-DE" sz="1200" b="1" dirty="0" err="1"/>
              <a:t>Deif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5D8453-DAF7-142E-9EB9-54EA8C53EF20}"/>
              </a:ext>
            </a:extLst>
          </p:cNvPr>
          <p:cNvSpPr txBox="1"/>
          <p:nvPr/>
        </p:nvSpPr>
        <p:spPr>
          <a:xfrm>
            <a:off x="838200" y="762194"/>
            <a:ext cx="614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Reference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5C906B-5B08-4EA5-BE31-E1C41532075E}"/>
              </a:ext>
            </a:extLst>
          </p:cNvPr>
          <p:cNvSpPr txBox="1"/>
          <p:nvPr/>
        </p:nvSpPr>
        <p:spPr>
          <a:xfrm>
            <a:off x="838200" y="1606034"/>
            <a:ext cx="61569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ar-SA" dirty="0">
                <a:hlinkClick r:id="rId2"/>
              </a:rPr>
              <a:t>*https://www.bauprofessor.de/grundbruch</a:t>
            </a:r>
            <a:br>
              <a:rPr lang="ar-SA" dirty="0"/>
            </a:br>
            <a:r>
              <a:rPr lang="ar-SA" dirty="0"/>
              <a:t>02/11/2025</a:t>
            </a:r>
            <a:endParaRPr lang="en-US" dirty="0"/>
          </a:p>
          <a:p>
            <a:pPr algn="l"/>
            <a:br>
              <a:rPr lang="en-US" dirty="0"/>
            </a:br>
            <a:br>
              <a:rPr lang="en-US" dirty="0"/>
            </a:br>
            <a:r>
              <a:rPr lang="en-US" dirty="0"/>
              <a:t>*Eurocode 7: Geotechnical Design chrome-extension://</a:t>
            </a:r>
            <a:r>
              <a:rPr lang="en-US" dirty="0" err="1"/>
              <a:t>efaidnbmnnnibpcajpcglclefindmkaj</a:t>
            </a:r>
            <a:r>
              <a:rPr lang="en-US" dirty="0"/>
              <a:t>/https://eurocodes.jrc.ec.europa.eu/sites/default/files/2022-06/02 </a:t>
            </a:r>
            <a:r>
              <a:rPr lang="en-US" dirty="0" err="1"/>
              <a:t>Scarpelli</a:t>
            </a:r>
            <a:r>
              <a:rPr lang="en-US" dirty="0"/>
              <a:t>-Design-of-spread-foundations</a:t>
            </a:r>
            <a:br>
              <a:rPr lang="en-US" dirty="0"/>
            </a:br>
            <a:r>
              <a:rPr lang="en-US" dirty="0"/>
              <a:t>02/11/2025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A65727-E679-4B12-AC9B-2169040F9A52}"/>
                  </a:ext>
                </a:extLst>
              </p:cNvPr>
              <p:cNvSpPr txBox="1"/>
              <p:nvPr/>
            </p:nvSpPr>
            <p:spPr>
              <a:xfrm>
                <a:off x="624840" y="4467463"/>
                <a:ext cx="6156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*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/>
                      <m:t>Foundation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WS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2025</m:t>
                    </m:r>
                    <m:r>
                      <m:rPr>
                        <m:nor/>
                      </m:rPr>
                      <a:rPr lang="en-US"/>
                      <m:t>/</m:t>
                    </m:r>
                    <m:r>
                      <m:rPr>
                        <m:nor/>
                      </m:rPr>
                      <a:rPr lang="en-US"/>
                      <m:t>26 </m:t>
                    </m:r>
                    <m:r>
                      <m:rPr>
                        <m:nor/>
                      </m:rPr>
                      <a:rPr lang="en-US"/>
                      <m:t>Prof</m:t>
                    </m:r>
                    <m:r>
                      <m:rPr>
                        <m:nor/>
                      </m:rPr>
                      <a:rPr lang="en-US"/>
                      <m:t>. </m:t>
                    </m:r>
                    <m:r>
                      <m:rPr>
                        <m:nor/>
                      </m:rPr>
                      <a:rPr lang="en-US"/>
                      <m:t>Dr</m:t>
                    </m:r>
                    <m:r>
                      <m:rPr>
                        <m:nor/>
                      </m:rPr>
                      <a:rPr lang="en-US"/>
                      <m:t>.</m:t>
                    </m:r>
                    <m:r>
                      <m:rPr>
                        <m:nor/>
                      </m:rPr>
                      <a:rPr lang="en-US"/>
                      <m:t>−</m:t>
                    </m:r>
                    <m:r>
                      <m:rPr>
                        <m:nor/>
                      </m:rPr>
                      <a:rPr lang="en-US"/>
                      <m:t>Ing</m:t>
                    </m:r>
                    <m:r>
                      <m:rPr>
                        <m:nor/>
                      </m:rPr>
                      <a:rPr lang="en-US"/>
                      <m:t>. </m:t>
                    </m:r>
                    <m:r>
                      <m:rPr>
                        <m:nor/>
                      </m:rPr>
                      <a:rPr lang="en-US"/>
                      <m:t>Torsten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m:rPr>
                        <m:nor/>
                      </m:rPr>
                      <a:rPr lang="en-US"/>
                      <m:t>Faber</m:t>
                    </m:r>
                  </m:oMath>
                </a14:m>
                <a:endParaRPr lang="en-US" dirty="0"/>
              </a:p>
              <a:p>
                <a:r>
                  <a:rPr lang="en-US" b="0" dirty="0"/>
                  <a:t>02/11/2025</a:t>
                </a:r>
              </a:p>
              <a:p>
                <a:endParaRPr lang="en-US" b="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FA65727-E679-4B12-AC9B-2169040F9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" y="4467463"/>
                <a:ext cx="6156960" cy="923330"/>
              </a:xfrm>
              <a:prstGeom prst="rect">
                <a:avLst/>
              </a:prstGeom>
              <a:blipFill>
                <a:blip r:embed="rId3"/>
                <a:stretch>
                  <a:fillRect l="-891" t="-3974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15688A-3A5C-4F56-BC56-41155D7FA860}"/>
                  </a:ext>
                </a:extLst>
              </p:cNvPr>
              <p:cNvSpPr txBox="1"/>
              <p:nvPr/>
            </p:nvSpPr>
            <p:spPr>
              <a:xfrm>
                <a:off x="624840" y="5463427"/>
                <a:ext cx="615696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nor/>
                      </m:rPr>
                      <a:rPr lang="en-US" sz="1800" b="0" i="0" smtClean="0"/>
                      <m:t>Bautabellen</m:t>
                    </m:r>
                    <m:r>
                      <m:rPr>
                        <m:nor/>
                      </m:rPr>
                      <a:rPr lang="en-US" sz="1800" b="0" i="0" smtClean="0"/>
                      <m:t> </m:t>
                    </m:r>
                    <m:r>
                      <m:rPr>
                        <m:nor/>
                      </m:rPr>
                      <a:rPr lang="en-US" sz="1800" b="0" i="0" smtClean="0"/>
                      <m:t>f</m:t>
                    </m:r>
                  </m:oMath>
                </a14:m>
                <a:r>
                  <a:rPr lang="en-GB" sz="1800" dirty="0" err="1"/>
                  <a:t>ür</a:t>
                </a:r>
                <a:r>
                  <a:rPr lang="en-GB" sz="1800" dirty="0"/>
                  <a:t> </a:t>
                </a:r>
                <a:r>
                  <a:rPr lang="en-GB" sz="1800" dirty="0" err="1"/>
                  <a:t>Ingenieure</a:t>
                </a:r>
                <a:r>
                  <a:rPr lang="en-GB" sz="1800" dirty="0"/>
                  <a:t> </a:t>
                </a:r>
                <a:r>
                  <a:rPr lang="de-DE" sz="1800" dirty="0"/>
                  <a:t>( mit berechnungshinweisen und </a:t>
                </a:r>
                <a:r>
                  <a:rPr lang="de-DE" sz="1800" dirty="0" err="1"/>
                  <a:t>beispielen</a:t>
                </a:r>
                <a:r>
                  <a:rPr lang="de-DE" sz="1800" dirty="0"/>
                  <a:t> </a:t>
                </a:r>
                <a:br>
                  <a:rPr lang="de-DE" sz="1800" dirty="0"/>
                </a:br>
                <a:r>
                  <a:rPr lang="de-DE" sz="1800" dirty="0"/>
                  <a:t>21, Auflage </a:t>
                </a:r>
                <a:r>
                  <a:rPr lang="en-GB" sz="1800" dirty="0"/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115688A-3A5C-4F56-BC56-41155D7FA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" y="5463427"/>
                <a:ext cx="6156960" cy="923330"/>
              </a:xfrm>
              <a:prstGeom prst="rect">
                <a:avLst/>
              </a:prstGeom>
              <a:blipFill>
                <a:blip r:embed="rId4"/>
                <a:stretch>
                  <a:fillRect l="-891" t="-3289" b="-9211"/>
                </a:stretch>
              </a:blipFill>
            </p:spPr>
            <p:txBody>
              <a:bodyPr/>
              <a:lstStyle/>
              <a:p>
                <a:r>
                  <a:rPr lang="ar-S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2720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nagment team" id="{49CF8F14-4D36-410B-8FD7-EF9AC5FC0265}" vid="{E0BCDBF3-E95D-42DF-9CFA-5A341A93A409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nagment team" id="{49CF8F14-4D36-410B-8FD7-EF9AC5FC0265}" vid="{B7A59B36-2137-465F-86DC-E5A6887FF7C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Managment team</Template>
  <TotalTime>0</TotalTime>
  <Words>672</Words>
  <Application>Microsoft Office PowerPoint</Application>
  <PresentationFormat>Widescreen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Lato</vt:lpstr>
      <vt:lpstr>Tahoma</vt:lpstr>
      <vt:lpstr>Times New Roman</vt:lpstr>
      <vt:lpstr>Wingdings</vt:lpstr>
      <vt:lpstr>Office</vt:lpstr>
      <vt:lpstr>Benutzerdefiniertes Design</vt:lpstr>
      <vt:lpstr>Weekly report: Foundations </vt:lpstr>
      <vt:lpstr>List of contents</vt:lpstr>
      <vt:lpstr>PowerPoint Presentation</vt:lpstr>
      <vt:lpstr>Input data</vt:lpstr>
      <vt:lpstr>*Reverification with detailed drawing -Overturning Check</vt:lpstr>
      <vt:lpstr>*Reverification with detailed drawing -Ground Failure  and Sliding Check</vt:lpstr>
      <vt:lpstr>Reverification with detailed drawing -Calculation 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of contents</dc:title>
  <dc:creator>Bakhtiar Sabir</dc:creator>
  <cp:lastModifiedBy>Jehad Albaali</cp:lastModifiedBy>
  <cp:revision>65</cp:revision>
  <dcterms:created xsi:type="dcterms:W3CDTF">2025-09-29T10:47:20Z</dcterms:created>
  <dcterms:modified xsi:type="dcterms:W3CDTF">2025-11-02T15:32:42Z</dcterms:modified>
</cp:coreProperties>
</file>