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9" r:id="rId4"/>
    <p:sldId id="272" r:id="rId5"/>
    <p:sldId id="268" r:id="rId6"/>
    <p:sldId id="275" r:id="rId7"/>
    <p:sldId id="273" r:id="rId8"/>
    <p:sldId id="261" r:id="rId9"/>
    <p:sldId id="274" r:id="rId10"/>
    <p:sldId id="263" r:id="rId11"/>
    <p:sldId id="27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72"/>
            <p14:sldId id="268"/>
            <p14:sldId id="275"/>
            <p14:sldId id="273"/>
            <p14:sldId id="261"/>
          </p14:sldIdLst>
        </p14:section>
        <p14:section name="bibliography" id="{2ECB0A3B-7D16-4F98-AD6A-5308DF7BF078}">
          <p14:sldIdLst>
            <p14:sldId id="274"/>
            <p14:sldId id="263"/>
            <p14:sldId id="276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5441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03/11/2025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03/11/2025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rel.gov/docs/fy21osti/78347.pdf" TargetMode="External"/><Relationship Id="rId2" Type="http://schemas.openxmlformats.org/officeDocument/2006/relationships/hyperlink" Target="https://www.osti.gov/biblio/184788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</a:t>
            </a:r>
            <a:r>
              <a:rPr lang="en-US" altLang="it-IT" sz="4000" dirty="0"/>
              <a:t>Storage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it-IT" sz="2000" dirty="0"/>
              <a:t>6</a:t>
            </a:r>
            <a:r>
              <a:rPr lang="it-IT" sz="2000" dirty="0"/>
              <a:t>th week – </a:t>
            </a:r>
            <a:r>
              <a:rPr lang="en-US" altLang="it-IT" sz="2000" dirty="0"/>
              <a:t>7</a:t>
            </a:r>
            <a:r>
              <a:rPr lang="it-IT" sz="2000" dirty="0"/>
              <a:t>th Presentation</a:t>
            </a:r>
          </a:p>
          <a:p>
            <a:r>
              <a:rPr lang="it-IT" sz="2000" dirty="0"/>
              <a:t>Date: </a:t>
            </a:r>
            <a:r>
              <a:rPr lang="en-US" altLang="it-IT" sz="2000" dirty="0"/>
              <a:t>04</a:t>
            </a:r>
            <a:r>
              <a:rPr lang="it-IT" sz="2000" dirty="0"/>
              <a:t>/</a:t>
            </a:r>
            <a:r>
              <a:rPr lang="en-US" altLang="it-IT" sz="2000" dirty="0"/>
              <a:t>11</a:t>
            </a:r>
            <a:r>
              <a:rPr lang="it-IT" sz="2000" dirty="0"/>
              <a:t>/2025</a:t>
            </a:r>
          </a:p>
          <a:p>
            <a:r>
              <a:rPr lang="it-IT" sz="2000" dirty="0"/>
              <a:t>Supervisor: Dr. </a:t>
            </a:r>
            <a:r>
              <a:rPr lang="en-US" sz="2000" dirty="0"/>
              <a:t>Laurence </a:t>
            </a:r>
            <a:r>
              <a:rPr lang="en-US" sz="2000" dirty="0" err="1"/>
              <a:t>Alhrshy</a:t>
            </a:r>
            <a:endParaRPr lang="en-GB" sz="2000" dirty="0"/>
          </a:p>
        </p:txBody>
      </p:sp>
      <p:pic>
        <p:nvPicPr>
          <p:cNvPr id="8" name="Picture 8" descr="Hochschule Flensburg (Fachhochschule)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2454216" y="460966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  <a:r>
              <a:rPr lang="en-US" altLang="de-DE" dirty="0"/>
              <a:t>Mohamed Ahmed</a:t>
            </a:r>
          </a:p>
        </p:txBody>
      </p:sp>
      <p:sp>
        <p:nvSpPr>
          <p:cNvPr id="34" name="Free-form: Shape 13"/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/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/>
          <p:cNvSpPr/>
          <p:nvPr/>
        </p:nvSpPr>
        <p:spPr>
          <a:xfrm>
            <a:off x="31410" y="5935177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698" y="5340555"/>
            <a:ext cx="1753782" cy="13136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77213" y="6492562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29235" y="1938020"/>
            <a:ext cx="11332845" cy="4011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800" dirty="0">
                <a:solidFill>
                  <a:srgbClr val="FF0000"/>
                </a:solidFill>
              </a:rPr>
              <a:t>Content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ar-EG" dirty="0"/>
            </a:br>
            <a:endParaRPr lang="it-IT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Major Factors in Battery ESS Dimensioning​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Battery Sizing ​</a:t>
            </a:r>
            <a:endParaRPr lang="ar-EG" altLang="en-US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Next Presentation</a:t>
            </a:r>
            <a:r>
              <a:rPr lang="ar-EG" b="1" dirty="0"/>
              <a:t> </a:t>
            </a:r>
            <a:r>
              <a:rPr lang="en-US" b="1" dirty="0"/>
              <a:t>: Supplier</a:t>
            </a:r>
            <a:endParaRPr lang="en-US" altLang="en-US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References</a:t>
            </a:r>
          </a:p>
          <a:p>
            <a:endParaRPr lang="it-IT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473765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505" y="502920"/>
            <a:ext cx="11125835" cy="712470"/>
          </a:xfrm>
        </p:spPr>
        <p:txBody>
          <a:bodyPr>
            <a:normAutofit/>
          </a:bodyPr>
          <a:lstStyle/>
          <a:p>
            <a:r>
              <a:rPr lang="en-US" sz="2665" b="1" dirty="0">
                <a:sym typeface="+mn-ea"/>
              </a:rPr>
              <a:t>The Major Factors in Dimensioning a Battery Energy Storage System</a:t>
            </a:r>
            <a:endParaRPr lang="de-DE" sz="2665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58800" y="1292860"/>
            <a:ext cx="10908665" cy="4854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AutoNum type="arabicPeriod"/>
            </a:pPr>
            <a:r>
              <a:rPr lang="en-US" altLang="en-US" sz="2400" b="1" dirty="0"/>
              <a:t>Battery Type:</a:t>
            </a:r>
            <a:r>
              <a:rPr lang="en-US" altLang="en-US" sz="2400" dirty="0"/>
              <a:t> We have chosen Lithium-ion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400" b="1" dirty="0">
                <a:sym typeface="+mn-ea"/>
              </a:rPr>
              <a:t>Energy Storage Capacity</a:t>
            </a:r>
            <a:endParaRPr lang="en-US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+mn-ea"/>
              </a:rPr>
              <a:t>The</a:t>
            </a:r>
            <a:r>
              <a:rPr lang="en-US" sz="2400" b="1" dirty="0">
                <a:sym typeface="+mn-ea"/>
              </a:rPr>
              <a:t> </a:t>
            </a:r>
            <a:r>
              <a:rPr lang="en-US" sz="2400" dirty="0">
                <a:sym typeface="+mn-ea"/>
              </a:rPr>
              <a:t>total amount of energy the battery can store, usually measured in kilowatt-hours (kWh) or megawatt-hours (MWh).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+mn-ea"/>
              </a:rPr>
              <a:t>This determines how much energy the system can store from the wind turbine.</a:t>
            </a:r>
            <a:endParaRPr lang="en-US" sz="2400" dirty="0"/>
          </a:p>
          <a:p>
            <a:pPr marL="457200" lvl="1" indent="0" algn="ctr">
              <a:buNone/>
            </a:pPr>
            <a:r>
              <a:rPr lang="en-US" sz="2400" dirty="0">
                <a:sym typeface="+mn-ea"/>
              </a:rPr>
              <a:t> Capacity (kWh)=Power (kW)×Time (h)</a:t>
            </a:r>
          </a:p>
          <a:p>
            <a:pPr marL="457200" lvl="1" indent="0" algn="ctr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2400" b="1" dirty="0">
                <a:sym typeface="+mn-ea"/>
              </a:rPr>
              <a:t>Power Output (Discharge Power)</a:t>
            </a:r>
            <a:endParaRPr lang="en-US" sz="2400" b="1" dirty="0"/>
          </a:p>
          <a:p>
            <a:pPr lvl="1"/>
            <a:r>
              <a:rPr lang="en-US" sz="2400" dirty="0">
                <a:sym typeface="+mn-ea"/>
              </a:rPr>
              <a:t>The maximum rate at which the battery can deliver energy.</a:t>
            </a:r>
            <a:endParaRPr lang="en-US" sz="2400" dirty="0"/>
          </a:p>
          <a:p>
            <a:pPr indent="0">
              <a:buNone/>
            </a:pPr>
            <a:endParaRPr lang="en-US" altLang="ar-EG" sz="2400" dirty="0"/>
          </a:p>
        </p:txBody>
      </p: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473765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41155" y="5186655"/>
            <a:ext cx="5459035" cy="768112"/>
            <a:chOff x="3691944" y="3825125"/>
            <a:chExt cx="5459035" cy="768112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7308219" y="4194457"/>
              <a:ext cx="18427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11"/>
            <p:cNvSpPr txBox="1"/>
            <p:nvPr/>
          </p:nvSpPr>
          <p:spPr>
            <a:xfrm>
              <a:off x="7391716" y="3825125"/>
              <a:ext cx="1675765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Energy (kWh)</a:t>
              </a: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7636285" y="4194457"/>
              <a:ext cx="133565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Time (h)</a:t>
              </a:r>
            </a:p>
          </p:txBody>
        </p:sp>
        <p:sp>
          <p:nvSpPr>
            <p:cNvPr id="18" name="TextBox 13"/>
            <p:cNvSpPr txBox="1"/>
            <p:nvPr/>
          </p:nvSpPr>
          <p:spPr>
            <a:xfrm>
              <a:off x="3691944" y="3963555"/>
              <a:ext cx="361632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Power Output (kW) =</a:t>
              </a:r>
            </a:p>
          </p:txBody>
        </p:sp>
      </p:grpSp>
      <p:sp>
        <p:nvSpPr>
          <p:cNvPr id="20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780415" y="1401445"/>
            <a:ext cx="10902315" cy="4543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b="1" dirty="0">
                <a:sym typeface="+mn-ea"/>
              </a:rPr>
              <a:t>Round-Trip Efficiency</a:t>
            </a:r>
            <a:endParaRPr lang="en-US" b="1" dirty="0"/>
          </a:p>
          <a:p>
            <a:pPr lvl="1"/>
            <a:r>
              <a:rPr lang="en-US" dirty="0">
                <a:sym typeface="+mn-ea"/>
              </a:rPr>
              <a:t>Indicates the efficiency of the storage system, accounting for energy losses during charging and discharging. </a:t>
            </a: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endParaRPr lang="it-IT" dirty="0"/>
          </a:p>
          <a:p>
            <a:pPr marL="514350" indent="-514350">
              <a:buFont typeface="+mj-lt"/>
              <a:buAutoNum type="arabicPeriod" startAt="4"/>
            </a:pPr>
            <a:r>
              <a:rPr lang="en-US" b="1" dirty="0">
                <a:sym typeface="+mn-ea"/>
              </a:rPr>
              <a:t>Depth of Discharge (DoD) </a:t>
            </a:r>
            <a:endParaRPr lang="en-US" b="1" dirty="0"/>
          </a:p>
          <a:p>
            <a:pPr lvl="1"/>
            <a:r>
              <a:rPr lang="en-US" dirty="0">
                <a:sym typeface="+mn-ea"/>
              </a:rPr>
              <a:t>The percentage of the battery's capacity that is used relative to the total capacity.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 Higher DoD typically results in shorter battery life.</a:t>
            </a:r>
            <a:endParaRPr lang="en-US" dirty="0"/>
          </a:p>
          <a:p>
            <a:pPr lvl="1"/>
            <a:br>
              <a:rPr lang="it-IT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2205" y="290337"/>
            <a:ext cx="10036690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sz="2665" b="1" dirty="0">
                <a:sym typeface="+mn-ea"/>
              </a:rPr>
              <a:t>The Major Factors in Dimensioning a Battery Energy Storage System</a:t>
            </a:r>
            <a:endParaRPr lang="en-US" sz="2665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621929"/>
            <a:ext cx="438631" cy="25883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grpSp>
        <p:nvGrpSpPr>
          <p:cNvPr id="7" name="Group 6"/>
          <p:cNvGrpSpPr/>
          <p:nvPr>
            <p:custDataLst>
              <p:tags r:id="rId1"/>
            </p:custDataLst>
          </p:nvPr>
        </p:nvGrpSpPr>
        <p:grpSpPr>
          <a:xfrm>
            <a:off x="1718713" y="2433674"/>
            <a:ext cx="6406200" cy="883809"/>
            <a:chOff x="3756733" y="3737452"/>
            <a:chExt cx="6184359" cy="883809"/>
          </a:xfrm>
        </p:grpSpPr>
        <p:cxnSp>
          <p:nvCxnSpPr>
            <p:cNvPr id="3" name="Straight Connector 2"/>
            <p:cNvCxnSpPr/>
            <p:nvPr>
              <p:custDataLst>
                <p:tags r:id="rId7"/>
              </p:custDataLst>
            </p:nvPr>
          </p:nvCxnSpPr>
          <p:spPr>
            <a:xfrm>
              <a:off x="7308219" y="4194457"/>
              <a:ext cx="263287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8"/>
            <p:cNvSpPr txBox="1"/>
            <p:nvPr/>
          </p:nvSpPr>
          <p:spPr>
            <a:xfrm>
              <a:off x="7525129" y="3737452"/>
              <a:ext cx="23858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​Energy Out (kWh)</a:t>
              </a:r>
            </a:p>
          </p:txBody>
        </p:sp>
        <p:sp>
          <p:nvSpPr>
            <p:cNvPr id="5" name="TextBox 9"/>
            <p:cNvSpPr txBox="1"/>
            <p:nvPr>
              <p:custDataLst>
                <p:tags r:id="rId8"/>
              </p:custDataLst>
            </p:nvPr>
          </p:nvSpPr>
          <p:spPr>
            <a:xfrm>
              <a:off x="7509028" y="4159596"/>
              <a:ext cx="229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Energy In (kWh)</a:t>
              </a:r>
            </a:p>
          </p:txBody>
        </p:sp>
        <p:sp>
          <p:nvSpPr>
            <p:cNvPr id="17" name="TextBox 10"/>
            <p:cNvSpPr txBox="1"/>
            <p:nvPr>
              <p:custDataLst>
                <p:tags r:id="rId9"/>
              </p:custDataLst>
            </p:nvPr>
          </p:nvSpPr>
          <p:spPr>
            <a:xfrm>
              <a:off x="3756733" y="3960880"/>
              <a:ext cx="3697221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Round-Trip Efficiency (%) = </a:t>
              </a:r>
              <a:r>
                <a:rPr lang="ar-EG" sz="2400" dirty="0"/>
                <a:t> </a:t>
              </a:r>
              <a:r>
                <a:rPr lang="en-US" sz="2400" dirty="0"/>
                <a:t>    </a:t>
              </a:r>
            </a:p>
          </p:txBody>
        </p:sp>
      </p:grpSp>
      <p:sp>
        <p:nvSpPr>
          <p:cNvPr id="18" name="TextBox 11"/>
          <p:cNvSpPr txBox="1"/>
          <p:nvPr>
            <p:custDataLst>
              <p:tags r:id="rId2"/>
            </p:custDataLst>
          </p:nvPr>
        </p:nvSpPr>
        <p:spPr>
          <a:xfrm>
            <a:off x="8093668" y="2664506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× 100</a:t>
            </a:r>
          </a:p>
        </p:txBody>
      </p:sp>
      <p:cxnSp>
        <p:nvCxnSpPr>
          <p:cNvPr id="21" name="Straight Connector 20"/>
          <p:cNvCxnSpPr/>
          <p:nvPr>
            <p:custDataLst>
              <p:tags r:id="rId3"/>
            </p:custDataLst>
          </p:nvPr>
        </p:nvCxnSpPr>
        <p:spPr>
          <a:xfrm>
            <a:off x="4886960" y="5279390"/>
            <a:ext cx="26549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14"/>
          <p:cNvSpPr txBox="1"/>
          <p:nvPr>
            <p:custDataLst>
              <p:tags r:id="rId4"/>
            </p:custDataLst>
          </p:nvPr>
        </p:nvSpPr>
        <p:spPr>
          <a:xfrm>
            <a:off x="4958715" y="4862830"/>
            <a:ext cx="2668270" cy="461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Energy Used (kWh)</a:t>
            </a:r>
          </a:p>
        </p:txBody>
      </p:sp>
      <p:sp>
        <p:nvSpPr>
          <p:cNvPr id="23" name="TextBox 15"/>
          <p:cNvSpPr txBox="1"/>
          <p:nvPr/>
        </p:nvSpPr>
        <p:spPr>
          <a:xfrm>
            <a:off x="4813935" y="5265420"/>
            <a:ext cx="2957195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Total Capacity (kWh)</a:t>
            </a:r>
          </a:p>
        </p:txBody>
      </p:sp>
      <p:sp>
        <p:nvSpPr>
          <p:cNvPr id="24" name="TextBox 16"/>
          <p:cNvSpPr txBox="1"/>
          <p:nvPr>
            <p:custDataLst>
              <p:tags r:id="rId5"/>
            </p:custDataLst>
          </p:nvPr>
        </p:nvSpPr>
        <p:spPr>
          <a:xfrm>
            <a:off x="2601595" y="5012690"/>
            <a:ext cx="2957195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DoD (%) =</a:t>
            </a:r>
          </a:p>
        </p:txBody>
      </p:sp>
      <p:sp>
        <p:nvSpPr>
          <p:cNvPr id="31" name="TextBox 19"/>
          <p:cNvSpPr txBox="1"/>
          <p:nvPr>
            <p:custDataLst>
              <p:tags r:id="rId6"/>
            </p:custDataLst>
          </p:nvPr>
        </p:nvSpPr>
        <p:spPr>
          <a:xfrm>
            <a:off x="7613505" y="5034334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× 100</a:t>
            </a:r>
          </a:p>
        </p:txBody>
      </p:sp>
      <p:sp>
        <p:nvSpPr>
          <p:cNvPr id="32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3" y="1401679"/>
            <a:ext cx="1121898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505" y="459105"/>
            <a:ext cx="11363960" cy="71247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sym typeface="+mn-ea"/>
              </a:rPr>
              <a:t>The Major Factors in Dimensioning a Battery Energy Storage System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621929"/>
            <a:ext cx="438631" cy="25883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350645"/>
            <a:ext cx="11003915" cy="4436110"/>
          </a:xfrm>
        </p:spPr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US" sz="2800" b="1" dirty="0"/>
              <a:t>State of Charge (SoC)</a:t>
            </a:r>
          </a:p>
          <a:p>
            <a:pPr lvl="1"/>
            <a:r>
              <a:rPr lang="en-US" dirty="0"/>
              <a:t>The current level of energy stored in the battery, often represented as a percentage of total capacity.</a:t>
            </a:r>
          </a:p>
          <a:p>
            <a:pPr lvl="1"/>
            <a:r>
              <a:rPr lang="en-US" dirty="0"/>
              <a:t>Important for controlling the charge-discharge cycles and optimizing system performance.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7"/>
            </a:pPr>
            <a:r>
              <a:rPr lang="en-US" b="1" dirty="0"/>
              <a:t>Response Time </a:t>
            </a:r>
          </a:p>
          <a:p>
            <a:pPr lvl="1"/>
            <a:r>
              <a:rPr lang="en-US" dirty="0"/>
              <a:t>How quickly the battery can respond to energy demands or store excess energy.</a:t>
            </a:r>
          </a:p>
          <a:p>
            <a:pPr lvl="1"/>
            <a:r>
              <a:rPr lang="en-US" dirty="0"/>
              <a:t>Critical for grid stability and managing fluctuating energy generation</a:t>
            </a:r>
          </a:p>
          <a:p>
            <a:pPr marL="457200" lvl="1" indent="0" algn="ctr">
              <a:buNone/>
            </a:pPr>
            <a:r>
              <a:rPr lang="en-US" dirty="0"/>
              <a:t>Response Time = Time to Full Power Output</a:t>
            </a:r>
          </a:p>
        </p:txBody>
      </p:sp>
      <p:sp>
        <p:nvSpPr>
          <p:cNvPr id="7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3" y="1401679"/>
            <a:ext cx="1121898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9148" y="447030"/>
            <a:ext cx="10036690" cy="7127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sym typeface="+mn-ea"/>
              </a:rPr>
              <a:t>The Major Factors in Dimensioning a Battery Energy Storage System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621929"/>
            <a:ext cx="438631" cy="25883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84505" y="1292860"/>
            <a:ext cx="11111230" cy="48825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b="1" dirty="0"/>
              <a:t>Energy Management System (EMS)</a:t>
            </a:r>
          </a:p>
          <a:p>
            <a:pPr lvl="1"/>
            <a:r>
              <a:rPr lang="en-US" dirty="0"/>
              <a:t>The control system that manages when and how the battery charges and discharges.</a:t>
            </a:r>
          </a:p>
          <a:p>
            <a:pPr lvl="1"/>
            <a:r>
              <a:rPr lang="en-US" sz="2400" dirty="0"/>
              <a:t>Ensures optimal use of energy from the wind turbine, maintains battery health, and integrates with the grid.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b="1" dirty="0"/>
              <a:t>Location and Environmental Conditions</a:t>
            </a:r>
          </a:p>
          <a:p>
            <a:pPr lvl="1"/>
            <a:r>
              <a:rPr lang="en-US" dirty="0"/>
              <a:t>Temperature and humidity can affect battery performance.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US" b="1" dirty="0"/>
              <a:t>Cost (Capital and Operating)</a:t>
            </a:r>
          </a:p>
          <a:p>
            <a:pPr lvl="1"/>
            <a:r>
              <a:rPr lang="en-US" dirty="0"/>
              <a:t>Includes the initial cost of the battery, installation, and maintenance costs over its lifetime.</a:t>
            </a:r>
          </a:p>
          <a:p>
            <a:pPr lvl="1"/>
            <a:r>
              <a:rPr lang="en-US" dirty="0"/>
              <a:t>Critical for economic feasibility of wind energy storage projects.</a:t>
            </a:r>
          </a:p>
          <a:p>
            <a:pPr lvl="1"/>
            <a:r>
              <a:rPr lang="en-US" sz="2000" dirty="0"/>
              <a:t>Levelized Cost of Storage (LCOS): </a:t>
            </a:r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21" name="Group 20"/>
          <p:cNvGrpSpPr/>
          <p:nvPr/>
        </p:nvGrpSpPr>
        <p:grpSpPr>
          <a:xfrm>
            <a:off x="4672612" y="5245720"/>
            <a:ext cx="6377717" cy="748810"/>
            <a:chOff x="5004745" y="3789604"/>
            <a:chExt cx="6377717" cy="74881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7010867" y="4194457"/>
              <a:ext cx="431629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13"/>
            <p:cNvSpPr txBox="1"/>
            <p:nvPr/>
          </p:nvSpPr>
          <p:spPr>
            <a:xfrm>
              <a:off x="7355109" y="3789604"/>
              <a:ext cx="25458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∑ Total Lifetime Costs</a:t>
              </a:r>
            </a:p>
          </p:txBody>
        </p:sp>
        <p:sp>
          <p:nvSpPr>
            <p:cNvPr id="24" name="TextBox 14"/>
            <p:cNvSpPr txBox="1"/>
            <p:nvPr/>
          </p:nvSpPr>
          <p:spPr>
            <a:xfrm>
              <a:off x="6955561" y="4138304"/>
              <a:ext cx="44269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∑ Total Energy Discharged (kWh)</a:t>
              </a:r>
            </a:p>
          </p:txBody>
        </p:sp>
        <p:sp>
          <p:nvSpPr>
            <p:cNvPr id="25" name="TextBox 15"/>
            <p:cNvSpPr txBox="1"/>
            <p:nvPr/>
          </p:nvSpPr>
          <p:spPr>
            <a:xfrm>
              <a:off x="5004745" y="3989659"/>
              <a:ext cx="2957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LCOS =</a:t>
              </a:r>
            </a:p>
          </p:txBody>
        </p:sp>
      </p:grpSp>
      <p:sp>
        <p:nvSpPr>
          <p:cNvPr id="26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505" y="502920"/>
            <a:ext cx="9179560" cy="712470"/>
          </a:xfrm>
        </p:spPr>
        <p:txBody>
          <a:bodyPr>
            <a:normAutofit/>
          </a:bodyPr>
          <a:lstStyle/>
          <a:p>
            <a:r>
              <a:rPr lang="en-US" b="1" dirty="0">
                <a:sym typeface="+mn-ea"/>
              </a:rPr>
              <a:t>Dimensioning of the Storage System</a:t>
            </a:r>
            <a:endParaRPr lang="de-DE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84231" y="1293111"/>
            <a:ext cx="1090879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ar-EG" sz="2400" dirty="0"/>
          </a:p>
        </p:txBody>
      </p: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473765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84505" y="145478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Assumptions</a:t>
            </a:r>
            <a:br>
              <a:rPr lang="en-US" b="1" dirty="0"/>
            </a:br>
            <a:endParaRPr lang="en-US" b="1" dirty="0"/>
          </a:p>
          <a:p>
            <a:pPr lvl="1"/>
            <a:r>
              <a:rPr lang="en-US" dirty="0"/>
              <a:t>A 5 MW rated power of the wind turbine.</a:t>
            </a:r>
          </a:p>
          <a:p>
            <a:pPr lvl="1"/>
            <a:r>
              <a:rPr lang="en-US" dirty="0"/>
              <a:t>40 % wind turbine capacity factor.</a:t>
            </a:r>
          </a:p>
          <a:p>
            <a:pPr lvl="1"/>
            <a:r>
              <a:rPr lang="en-US" dirty="0"/>
              <a:t>4 Hours desired storage time.</a:t>
            </a:r>
          </a:p>
          <a:p>
            <a:pPr lvl="1"/>
            <a:r>
              <a:rPr lang="en-US" dirty="0"/>
              <a:t>90 % round-trip efficiency.</a:t>
            </a:r>
          </a:p>
          <a:p>
            <a:pPr lvl="1"/>
            <a:r>
              <a:rPr lang="en-US" dirty="0"/>
              <a:t>6% curtailment rate of wind energy in </a:t>
            </a:r>
            <a:r>
              <a:rPr lang="en-US" dirty="0" err="1"/>
              <a:t>Qattienh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0750" y="282082"/>
            <a:ext cx="11300262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ym typeface="+mn-ea"/>
              </a:rPr>
              <a:t>Dimensioning of the Storage System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621929"/>
            <a:ext cx="438631" cy="25883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8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94768"/>
            <a:ext cx="8807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altLang="en-US" sz="1200" dirty="0">
                <a:solidFill>
                  <a:schemeClr val="bg1"/>
                </a:solidFill>
              </a:rPr>
              <a:t>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en-US" sz="1200" dirty="0">
                <a:solidFill>
                  <a:schemeClr val="bg1"/>
                </a:solidFill>
              </a:rPr>
              <a:t>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142365"/>
            <a:ext cx="11383645" cy="5345430"/>
          </a:xfrm>
        </p:spPr>
        <p:txBody>
          <a:bodyPr>
            <a:normAutofit/>
          </a:bodyPr>
          <a:lstStyle/>
          <a:p>
            <a:r>
              <a:rPr lang="en-US" b="1" dirty="0"/>
              <a:t>Calculation of the Annual Energy Generated by the Wind Turbine</a:t>
            </a:r>
          </a:p>
          <a:p>
            <a:pPr marL="0" indent="0">
              <a:buNone/>
            </a:pPr>
            <a:r>
              <a:rPr lang="en-US" sz="2400" dirty="0"/>
              <a:t>Annual Energy (E) = Rated Power × Capacity Factor × Hours in a Year</a:t>
            </a:r>
          </a:p>
          <a:p>
            <a:pPr marL="0" indent="0">
              <a:buNone/>
            </a:pPr>
            <a:r>
              <a:rPr lang="en-US" sz="2400" dirty="0"/>
              <a:t>Hours in a Year = 365 days × 24 hours/day = 8760 hours</a:t>
            </a:r>
          </a:p>
          <a:p>
            <a:pPr marL="0" indent="0">
              <a:buNone/>
            </a:pPr>
            <a:r>
              <a:rPr lang="en-US" sz="2400" dirty="0"/>
              <a:t>E = 5 MW × 0.40 × 8760 hours = 17,520 MWh</a:t>
            </a:r>
          </a:p>
          <a:p>
            <a:r>
              <a:rPr lang="en-US" b="1" dirty="0"/>
              <a:t>Adjust for </a:t>
            </a:r>
            <a:r>
              <a:rPr lang="en-US" b="1" dirty="0" err="1"/>
              <a:t>Qattienh</a:t>
            </a:r>
            <a:r>
              <a:rPr lang="en-US" b="1" dirty="0"/>
              <a:t> Wind Energy Curtailment rate</a:t>
            </a:r>
          </a:p>
          <a:p>
            <a:pPr marL="0" indent="0">
              <a:buNone/>
            </a:pPr>
            <a:r>
              <a:rPr lang="en-US" sz="2400" dirty="0"/>
              <a:t>Effective Annual Energy = E × (1 – Curtailment Rate)</a:t>
            </a:r>
          </a:p>
          <a:p>
            <a:pPr marL="0" indent="0">
              <a:buNone/>
            </a:pPr>
            <a:r>
              <a:rPr lang="en-US" sz="2400" dirty="0"/>
              <a:t>Curtailment Rate = 0.06</a:t>
            </a:r>
          </a:p>
          <a:p>
            <a:pPr marL="0" indent="0">
              <a:buNone/>
            </a:pPr>
            <a:r>
              <a:rPr lang="en-US" sz="2400" dirty="0"/>
              <a:t>Effective Annual Energy = 17,520 × (1 – 0.06) = 16,468.8 MWh</a:t>
            </a:r>
          </a:p>
          <a:p>
            <a:pPr marL="0" indent="0">
              <a:buNone/>
            </a:pPr>
            <a:r>
              <a:rPr lang="en-US" sz="2400" dirty="0"/>
              <a:t>Effective Daily Energy =​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3586309" y="4941756"/>
            <a:ext cx="2957142" cy="832565"/>
            <a:chOff x="5592598" y="2814676"/>
            <a:chExt cx="2957142" cy="83256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6160475" y="3223970"/>
              <a:ext cx="214989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8"/>
            <p:cNvSpPr txBox="1"/>
            <p:nvPr/>
          </p:nvSpPr>
          <p:spPr>
            <a:xfrm>
              <a:off x="6020240" y="2814676"/>
              <a:ext cx="21018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16,468.8 MWh</a:t>
              </a:r>
            </a:p>
          </p:txBody>
        </p:sp>
        <p:sp>
          <p:nvSpPr>
            <p:cNvPr id="20" name="TextBox 9"/>
            <p:cNvSpPr txBox="1"/>
            <p:nvPr/>
          </p:nvSpPr>
          <p:spPr>
            <a:xfrm>
              <a:off x="5592598" y="3185576"/>
              <a:ext cx="2957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365</a:t>
              </a:r>
            </a:p>
          </p:txBody>
        </p:sp>
      </p:grpSp>
      <p:sp>
        <p:nvSpPr>
          <p:cNvPr id="25" name="TextBox 16"/>
          <p:cNvSpPr txBox="1"/>
          <p:nvPr/>
        </p:nvSpPr>
        <p:spPr>
          <a:xfrm>
            <a:off x="6444312" y="5100655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≈ 45.12 MWh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8780" y="473710"/>
            <a:ext cx="8934450" cy="712470"/>
          </a:xfrm>
        </p:spPr>
        <p:txBody>
          <a:bodyPr>
            <a:normAutofit/>
          </a:bodyPr>
          <a:lstStyle/>
          <a:p>
            <a:r>
              <a:rPr lang="en-US" b="1" dirty="0">
                <a:sym typeface="+mn-ea"/>
              </a:rPr>
              <a:t>Dimensioning of the Storage System</a:t>
            </a:r>
            <a:endParaRPr lang="de-DE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hteck 17"/>
          <p:cNvSpPr/>
          <p:nvPr/>
        </p:nvSpPr>
        <p:spPr>
          <a:xfrm>
            <a:off x="0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53492" y="6580056"/>
            <a:ext cx="438631" cy="25883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9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69549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7726" y="6552895"/>
            <a:ext cx="8807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altLang="en-US" sz="1200" dirty="0">
                <a:solidFill>
                  <a:schemeClr val="bg1"/>
                </a:solidFill>
              </a:rPr>
              <a:t>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en-US" sz="1200" dirty="0">
                <a:solidFill>
                  <a:schemeClr val="bg1"/>
                </a:solidFill>
              </a:rPr>
              <a:t>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322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7945"/>
            <a:ext cx="11003915" cy="4448810"/>
          </a:xfrm>
        </p:spPr>
        <p:txBody>
          <a:bodyPr/>
          <a:lstStyle/>
          <a:p>
            <a:r>
              <a:rPr lang="en-US" b="1" dirty="0"/>
              <a:t>Calculation of </a:t>
            </a:r>
            <a:r>
              <a:rPr lang="en-US" sz="2800" b="1" dirty="0"/>
              <a:t>Battery Energy Capacity 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2400" b="0" i="0" dirty="0">
              <a:solidFill>
                <a:srgbClr val="000000"/>
              </a:solidFill>
              <a:effectLst/>
            </a:endParaRPr>
          </a:p>
          <a:p>
            <a:endParaRPr lang="en-US" sz="2400" b="1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b="1" dirty="0"/>
              <a:t>Calculation of </a:t>
            </a:r>
            <a:r>
              <a:rPr lang="en-US" sz="2800" b="1" dirty="0"/>
              <a:t>Battery Power Capacity ( Power Discharge )</a:t>
            </a:r>
          </a:p>
          <a:p>
            <a:pPr lvl="1"/>
            <a:r>
              <a:rPr lang="en-US" sz="2000" dirty="0"/>
              <a:t>Power capacity of the battery can be determined from the storage time and the energy capacity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1130809" y="1896322"/>
            <a:ext cx="6910952" cy="849395"/>
            <a:chOff x="3252700" y="3758908"/>
            <a:chExt cx="6910952" cy="8493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7010867" y="4194457"/>
              <a:ext cx="314658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7144876" y="3758908"/>
              <a:ext cx="3018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Effective Daily Energy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870659" y="4146638"/>
              <a:ext cx="32867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Round-Trip Efficiency</a:t>
              </a:r>
            </a:p>
          </p:txBody>
        </p:sp>
        <p:sp>
          <p:nvSpPr>
            <p:cNvPr id="8" name="TextBox 34"/>
            <p:cNvSpPr txBox="1"/>
            <p:nvPr/>
          </p:nvSpPr>
          <p:spPr>
            <a:xfrm>
              <a:off x="3252700" y="3966910"/>
              <a:ext cx="384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Battery Energy Capacity =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886643" y="1910458"/>
            <a:ext cx="2957142" cy="849395"/>
            <a:chOff x="5592598" y="2797846"/>
            <a:chExt cx="2957142" cy="849395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6160475" y="3223970"/>
              <a:ext cx="214989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114550" y="2797846"/>
              <a:ext cx="21018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45.12 MWh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592598" y="3185576"/>
              <a:ext cx="2957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0.9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097520" y="2104390"/>
            <a:ext cx="412115" cy="43878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2400" dirty="0"/>
              <a:t>= 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433500" y="4539487"/>
            <a:ext cx="7072727" cy="849395"/>
            <a:chOff x="3252700" y="3758908"/>
            <a:chExt cx="7072727" cy="849395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7010867" y="4194457"/>
              <a:ext cx="314658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17"/>
            <p:cNvSpPr txBox="1"/>
            <p:nvPr/>
          </p:nvSpPr>
          <p:spPr>
            <a:xfrm>
              <a:off x="6983102" y="3758908"/>
              <a:ext cx="3342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Battery Energy Capacity</a:t>
              </a:r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6870659" y="4146638"/>
              <a:ext cx="32867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Storage Time</a:t>
              </a:r>
            </a:p>
          </p:txBody>
        </p:sp>
        <p:sp>
          <p:nvSpPr>
            <p:cNvPr id="30" name="TextBox 19"/>
            <p:cNvSpPr txBox="1"/>
            <p:nvPr/>
          </p:nvSpPr>
          <p:spPr>
            <a:xfrm>
              <a:off x="3252700" y="3966910"/>
              <a:ext cx="384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Battery Power Capacity =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8267117" y="4529224"/>
            <a:ext cx="2957142" cy="849395"/>
            <a:chOff x="5592598" y="2797846"/>
            <a:chExt cx="2957142" cy="849395"/>
          </a:xfrm>
        </p:grpSpPr>
        <p:cxnSp>
          <p:nvCxnSpPr>
            <p:cNvPr id="39" name="Straight Connector 38"/>
            <p:cNvCxnSpPr/>
            <p:nvPr/>
          </p:nvCxnSpPr>
          <p:spPr>
            <a:xfrm>
              <a:off x="6160475" y="3223970"/>
              <a:ext cx="214989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6114550" y="2797846"/>
              <a:ext cx="21018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50.13 MWh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592598" y="3185576"/>
              <a:ext cx="2957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4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8405502" y="4733352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92603" y="5415074"/>
            <a:ext cx="1741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≈ 12.53 MW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8780" y="473710"/>
            <a:ext cx="8934450" cy="712470"/>
          </a:xfrm>
        </p:spPr>
        <p:txBody>
          <a:bodyPr>
            <a:normAutofit/>
          </a:bodyPr>
          <a:lstStyle/>
          <a:p>
            <a:r>
              <a:rPr lang="en-US" dirty="0"/>
              <a:t>Next Presentation</a:t>
            </a:r>
            <a:r>
              <a:rPr lang="ar-EG" dirty="0"/>
              <a:t> </a:t>
            </a:r>
            <a:r>
              <a:rPr lang="en-US" dirty="0"/>
              <a:t>: Supplier</a:t>
            </a:r>
            <a:endParaRPr lang="de-DE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hteck 17"/>
          <p:cNvSpPr/>
          <p:nvPr/>
        </p:nvSpPr>
        <p:spPr>
          <a:xfrm>
            <a:off x="0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53492" y="6580056"/>
            <a:ext cx="438631" cy="25883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10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69549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7726" y="6552895"/>
            <a:ext cx="8807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altLang="en-US" sz="1200" dirty="0">
                <a:solidFill>
                  <a:schemeClr val="bg1"/>
                </a:solidFill>
              </a:rPr>
              <a:t>4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</a:t>
            </a:r>
            <a:r>
              <a:rPr lang="ar-EG" altLang="en-US" sz="1200" dirty="0">
                <a:solidFill>
                  <a:schemeClr val="bg1"/>
                </a:solidFill>
              </a:rPr>
              <a:t>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322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780" y="1340047"/>
            <a:ext cx="11227163" cy="4448810"/>
          </a:xfrm>
        </p:spPr>
        <p:txBody>
          <a:bodyPr/>
          <a:lstStyle/>
          <a:p>
            <a:pPr lvl="1"/>
            <a:r>
              <a:rPr lang="en-GB" sz="2200" dirty="0"/>
              <a:t>In the next presentation, we will discuss the supplier of the Battery Energy Storage System used in our project in Syria.</a:t>
            </a:r>
          </a:p>
          <a:p>
            <a:pPr lvl="1"/>
            <a:r>
              <a:rPr lang="en-GB" sz="2200" dirty="0"/>
              <a:t>We will briefly present the selected company, its product specifications, and why it was chosen for the Optimus Syria storage system.</a:t>
            </a:r>
          </a:p>
          <a:p>
            <a:pPr lvl="1"/>
            <a:r>
              <a:rPr lang="en-GB" sz="2200" dirty="0"/>
              <a:t>This part will highlight the importance of selecting reliable suppliers to ensure system efficiency and long-term performance.</a:t>
            </a:r>
            <a:endParaRPr lang="en-US" sz="2200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8888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2" y="1401680"/>
            <a:ext cx="1123991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  <a:hlinkClick r:id="rId2"/>
              </a:rPr>
              <a:t>https://www.osti.gov/biblio/1847886</a:t>
            </a:r>
            <a:endParaRPr lang="ar-E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  <a:hlinkClick r:id="rId3"/>
              </a:rPr>
              <a:t>https://www.nrel.gov/docs/fy21osti/78347.pdf</a:t>
            </a: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98230" y="370993"/>
            <a:ext cx="10036690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References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0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53492" y="6580056"/>
            <a:ext cx="438631" cy="2588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9549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726" y="6552895"/>
            <a:ext cx="8807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EG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ar-EG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322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30377952755896,&quot;left&quot;:135.33173228346456,&quot;top&quot;:191.62787401574803,&quot;width&quot;:573.431181102362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908</Words>
  <Application>Microsoft Office PowerPoint</Application>
  <PresentationFormat>Widescreen</PresentationFormat>
  <Paragraphs>154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Custom Design</vt:lpstr>
      <vt:lpstr>Weekly report: Storage System</vt:lpstr>
      <vt:lpstr>PowerPoint Presentation</vt:lpstr>
      <vt:lpstr>The Major Factors in Dimensioning a Battery Energy Storage System</vt:lpstr>
      <vt:lpstr>The Major Factors in Dimensioning a Battery Energy Storage System</vt:lpstr>
      <vt:lpstr>The Major Factors in Dimensioning a Battery Energy Storage System</vt:lpstr>
      <vt:lpstr>The Major Factors in Dimensioning a Battery Energy Storage System</vt:lpstr>
      <vt:lpstr>Dimensioning of the Storage System</vt:lpstr>
      <vt:lpstr>Dimensioning of the Storage System</vt:lpstr>
      <vt:lpstr>Dimensioning of the Storage System</vt:lpstr>
      <vt:lpstr>Next Presentation : Supplier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mohamed Alywa</cp:lastModifiedBy>
  <cp:revision>51</cp:revision>
  <dcterms:created xsi:type="dcterms:W3CDTF">2025-07-21T13:11:00Z</dcterms:created>
  <dcterms:modified xsi:type="dcterms:W3CDTF">2025-11-03T08:37:34Z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2F57D44E6381456FBAA078C14AE94E08_13</vt:lpwstr>
  </property>
  <property fmtid="{D5CDD505-2E9C-101B-9397-08002B2CF9AE}" pid="3" name="KSOProductBuildVer">
    <vt:lpwstr>1033-12.2.0.23131</vt:lpwstr>
  </property>
</Properties>
</file>