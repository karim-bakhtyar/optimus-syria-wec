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9" r:id="rId4"/>
    <p:sldId id="282" r:id="rId5"/>
    <p:sldId id="266" r:id="rId6"/>
    <p:sldId id="281" r:id="rId7"/>
    <p:sldId id="272" r:id="rId8"/>
    <p:sldId id="274" r:id="rId9"/>
    <p:sldId id="277" r:id="rId10"/>
    <p:sldId id="280" r:id="rId11"/>
    <p:sldId id="276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  <p14:sldId id="282"/>
          </p14:sldIdLst>
        </p14:section>
        <p14:section name="graph slide" id="{B26F6679-C236-4D3D-BC2F-CAE5ED400718}">
          <p14:sldIdLst>
            <p14:sldId id="266"/>
            <p14:sldId id="281"/>
            <p14:sldId id="272"/>
            <p14:sldId id="274"/>
            <p14:sldId id="277"/>
            <p14:sldId id="280"/>
            <p14:sldId id="276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B9BA3A-37EE-4BED-8D73-37DEE5D6208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88F6D5-7744-434A-8418-10685F08B8F2}">
      <dgm:prSet phldrT="[Text]"/>
      <dgm:spPr/>
      <dgm:t>
        <a:bodyPr/>
        <a:lstStyle/>
        <a:p>
          <a:r>
            <a:rPr lang="en-US" b="1" dirty="0"/>
            <a:t>Define Design Load Cases</a:t>
          </a:r>
        </a:p>
        <a:p>
          <a:r>
            <a:rPr lang="en-US" dirty="0"/>
            <a:t>(IEC 61400-1: DLC 1.x,2.x,3.x...) </a:t>
          </a:r>
        </a:p>
      </dgm:t>
    </dgm:pt>
    <dgm:pt modelId="{0E29EC8A-529B-47E3-A4B5-8E601D0F97CC}" type="parTrans" cxnId="{5050F000-CCF8-4F05-929B-B302381974E4}">
      <dgm:prSet/>
      <dgm:spPr/>
      <dgm:t>
        <a:bodyPr/>
        <a:lstStyle/>
        <a:p>
          <a:endParaRPr lang="en-US"/>
        </a:p>
      </dgm:t>
    </dgm:pt>
    <dgm:pt modelId="{7188DDD1-0E94-4795-933E-1C4233CD5735}" type="sibTrans" cxnId="{5050F000-CCF8-4F05-929B-B302381974E4}">
      <dgm:prSet/>
      <dgm:spPr>
        <a:blipFill rotWithShape="0">
          <a:blip xmlns:r="http://schemas.openxmlformats.org/officeDocument/2006/relationships" r:embed="rId1"/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FFC89F9E-55B1-402F-B021-306D84A84971}">
      <dgm:prSet phldrT="[Text]"/>
      <dgm:spPr/>
      <dgm:t>
        <a:bodyPr/>
        <a:lstStyle/>
        <a:p>
          <a:r>
            <a:rPr lang="en-US" b="1" dirty="0"/>
            <a:t>Prepare input files</a:t>
          </a:r>
          <a:endParaRPr lang="en-US" dirty="0"/>
        </a:p>
        <a:p>
          <a:r>
            <a:rPr lang="en-US" dirty="0" err="1"/>
            <a:t>TurbSim</a:t>
          </a:r>
          <a:r>
            <a:rPr lang="en-US" dirty="0"/>
            <a:t> or other tool → turbulence wind files.</a:t>
          </a:r>
        </a:p>
        <a:p>
          <a:r>
            <a:rPr lang="en-US" dirty="0" err="1"/>
            <a:t>OpenFAST</a:t>
          </a:r>
          <a:r>
            <a:rPr lang="en-US" dirty="0"/>
            <a:t> input files (.</a:t>
          </a:r>
          <a:r>
            <a:rPr lang="en-US" dirty="0" err="1"/>
            <a:t>fst</a:t>
          </a:r>
          <a:r>
            <a:rPr lang="en-US" dirty="0"/>
            <a:t>) specifying DLC, controllers, initial conditions</a:t>
          </a:r>
        </a:p>
      </dgm:t>
    </dgm:pt>
    <dgm:pt modelId="{E6A5E3AA-2AD3-434C-8A81-4F6FA79D1B1A}" type="parTrans" cxnId="{1190D558-168F-4953-BB3A-BC3675DF31D4}">
      <dgm:prSet/>
      <dgm:spPr/>
      <dgm:t>
        <a:bodyPr/>
        <a:lstStyle/>
        <a:p>
          <a:endParaRPr lang="en-US"/>
        </a:p>
      </dgm:t>
    </dgm:pt>
    <dgm:pt modelId="{30509256-312B-4050-8A67-9EF441E699AC}" type="sibTrans" cxnId="{1190D558-168F-4953-BB3A-BC3675DF31D4}">
      <dgm:prSet/>
      <dgm:spPr/>
      <dgm:t>
        <a:bodyPr/>
        <a:lstStyle/>
        <a:p>
          <a:endParaRPr lang="en-US"/>
        </a:p>
      </dgm:t>
    </dgm:pt>
    <dgm:pt modelId="{897CD1C2-3539-4DE9-B89C-65B02CB2EFA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Run </a:t>
          </a:r>
          <a:r>
            <a:rPr lang="en-US" b="1" dirty="0" err="1"/>
            <a:t>OpenFAST</a:t>
          </a:r>
          <a:r>
            <a:rPr lang="en-US" b="1" dirty="0"/>
            <a:t> simulations</a:t>
          </a:r>
          <a:endParaRPr lang="en-US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Run one or many cases (each produces a time-series output .out</a:t>
          </a:r>
        </a:p>
      </dgm:t>
    </dgm:pt>
    <dgm:pt modelId="{98C33762-21D4-4001-8ECD-50ED6F15AE0D}" type="parTrans" cxnId="{3510895D-7CFE-4B32-A256-F2475302BD5A}">
      <dgm:prSet/>
      <dgm:spPr/>
      <dgm:t>
        <a:bodyPr/>
        <a:lstStyle/>
        <a:p>
          <a:endParaRPr lang="en-US"/>
        </a:p>
      </dgm:t>
    </dgm:pt>
    <dgm:pt modelId="{D00EDACE-3387-4FD4-8577-108E11C18EC2}" type="sibTrans" cxnId="{3510895D-7CFE-4B32-A256-F2475302BD5A}">
      <dgm:prSet/>
      <dgm:spPr/>
      <dgm:t>
        <a:bodyPr/>
        <a:lstStyle/>
        <a:p>
          <a:endParaRPr lang="en-US"/>
        </a:p>
      </dgm:t>
    </dgm:pt>
    <dgm:pt modelId="{205C85B6-FBE2-41EE-9CC7-1CB5364F745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Collect and organize outputs</a:t>
          </a:r>
          <a:endParaRPr lang="en-US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Gather .out files, label them by DLC and wind speed</a:t>
          </a:r>
        </a:p>
      </dgm:t>
    </dgm:pt>
    <dgm:pt modelId="{CCDB9FE0-75C3-449D-929E-D06A9EE7835B}" type="parTrans" cxnId="{9258D8B8-26DE-4888-A9BC-C4D14E0E3F30}">
      <dgm:prSet/>
      <dgm:spPr/>
      <dgm:t>
        <a:bodyPr/>
        <a:lstStyle/>
        <a:p>
          <a:endParaRPr lang="en-US"/>
        </a:p>
      </dgm:t>
    </dgm:pt>
    <dgm:pt modelId="{DF8203D7-BDA8-41ED-A63C-80CA06E5DBC6}" type="sibTrans" cxnId="{9258D8B8-26DE-4888-A9BC-C4D14E0E3F30}">
      <dgm:prSet/>
      <dgm:spPr/>
      <dgm:t>
        <a:bodyPr/>
        <a:lstStyle/>
        <a:p>
          <a:endParaRPr lang="en-US"/>
        </a:p>
      </dgm:t>
    </dgm:pt>
    <dgm:pt modelId="{35315F12-0A26-42D8-8926-56E87284CD1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Run </a:t>
          </a:r>
          <a:r>
            <a:rPr lang="en-US" b="1" dirty="0" err="1"/>
            <a:t>MExtremes</a:t>
          </a:r>
          <a:endParaRPr lang="en-US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Read files sequentially</a:t>
          </a:r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Optionally use string channel names or calculated channels</a:t>
          </a:r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Find extremes (max/min), record time, which file, and associated channels</a:t>
          </a:r>
        </a:p>
      </dgm:t>
    </dgm:pt>
    <dgm:pt modelId="{59FBA50C-240A-4CCE-AB56-8413E6B52A1E}" type="parTrans" cxnId="{6CD397CC-D206-488A-B34D-193786D138F7}">
      <dgm:prSet/>
      <dgm:spPr/>
      <dgm:t>
        <a:bodyPr/>
        <a:lstStyle/>
        <a:p>
          <a:endParaRPr lang="en-US"/>
        </a:p>
      </dgm:t>
    </dgm:pt>
    <dgm:pt modelId="{8AD4446F-B925-47B4-99BE-CB396DDC37E3}" type="sibTrans" cxnId="{6CD397CC-D206-488A-B34D-193786D138F7}">
      <dgm:prSet/>
      <dgm:spPr/>
      <dgm:t>
        <a:bodyPr/>
        <a:lstStyle/>
        <a:p>
          <a:endParaRPr lang="en-US"/>
        </a:p>
      </dgm:t>
    </dgm:pt>
    <dgm:pt modelId="{97E0BA09-8FBF-48C8-9692-4D8FC2145FA4}">
      <dgm:prSet/>
      <dgm:spPr/>
      <dgm:t>
        <a:bodyPr/>
        <a:lstStyle/>
        <a:p>
          <a:pPr>
            <a:buNone/>
          </a:pPr>
          <a:r>
            <a:rPr lang="en-US" b="1" dirty="0"/>
            <a:t>Generate extreme-event tables &amp; plots</a:t>
          </a:r>
        </a:p>
        <a:p>
          <a:pPr>
            <a:buNone/>
          </a:pPr>
          <a:r>
            <a:rPr lang="en-US" dirty="0"/>
            <a:t>Excel/text tables, charts, scatter plots, per DLC or wind-speed</a:t>
          </a:r>
        </a:p>
      </dgm:t>
    </dgm:pt>
    <dgm:pt modelId="{024D93AA-DE7D-4CD8-9526-9265B503E9D9}" type="parTrans" cxnId="{9104200A-35A0-43CF-8344-8B70AC2346F8}">
      <dgm:prSet/>
      <dgm:spPr/>
      <dgm:t>
        <a:bodyPr/>
        <a:lstStyle/>
        <a:p>
          <a:endParaRPr lang="en-US"/>
        </a:p>
      </dgm:t>
    </dgm:pt>
    <dgm:pt modelId="{D2381312-2222-4BAB-92C1-D2E4BC9BF169}" type="sibTrans" cxnId="{9104200A-35A0-43CF-8344-8B70AC2346F8}">
      <dgm:prSet/>
      <dgm:spPr/>
      <dgm:t>
        <a:bodyPr/>
        <a:lstStyle/>
        <a:p>
          <a:endParaRPr lang="en-US"/>
        </a:p>
      </dgm:t>
    </dgm:pt>
    <dgm:pt modelId="{8A2B8EFC-985C-43FE-B64D-76C9510BC5DE}">
      <dgm:prSet/>
      <dgm:spPr/>
      <dgm:t>
        <a:bodyPr/>
        <a:lstStyle/>
        <a:p>
          <a:pPr>
            <a:buNone/>
          </a:pPr>
          <a:r>
            <a:rPr lang="en-US" b="1" dirty="0"/>
            <a:t>Post-processing &amp; checks</a:t>
          </a:r>
        </a:p>
        <a:p>
          <a:pPr>
            <a:buNone/>
          </a:pPr>
          <a:r>
            <a:rPr lang="en-US" dirty="0"/>
            <a:t>Apply partial safety factors (PSFs) if required</a:t>
          </a:r>
        </a:p>
        <a:p>
          <a:pPr>
            <a:buNone/>
          </a:pPr>
          <a:r>
            <a:rPr lang="en-US" dirty="0"/>
            <a:t>Compare extremes to design limits / safety factors</a:t>
          </a:r>
        </a:p>
      </dgm:t>
    </dgm:pt>
    <dgm:pt modelId="{CCCA3EEF-D1BC-408E-A1BB-4539BE01995D}" type="parTrans" cxnId="{0ED0E218-AE65-4F8B-953D-E198110CD938}">
      <dgm:prSet/>
      <dgm:spPr/>
      <dgm:t>
        <a:bodyPr/>
        <a:lstStyle/>
        <a:p>
          <a:endParaRPr lang="en-US"/>
        </a:p>
      </dgm:t>
    </dgm:pt>
    <dgm:pt modelId="{AE275DE5-4EF8-4F09-AD90-1F185B7B409F}" type="sibTrans" cxnId="{0ED0E218-AE65-4F8B-953D-E198110CD938}">
      <dgm:prSet/>
      <dgm:spPr/>
      <dgm:t>
        <a:bodyPr/>
        <a:lstStyle/>
        <a:p>
          <a:endParaRPr lang="en-US"/>
        </a:p>
      </dgm:t>
    </dgm:pt>
    <dgm:pt modelId="{1C172206-91DC-40E3-A23F-7A082FC578D5}">
      <dgm:prSet/>
      <dgm:spPr/>
      <dgm:t>
        <a:bodyPr/>
        <a:lstStyle/>
        <a:p>
          <a:pPr>
            <a:buNone/>
          </a:pPr>
          <a:r>
            <a:rPr lang="en-US" b="1" dirty="0"/>
            <a:t>Certification / </a:t>
          </a:r>
          <a:r>
            <a:rPr lang="en-US" b="1"/>
            <a:t>design decisions</a:t>
          </a:r>
          <a:r>
            <a:rPr lang="en-US"/>
            <a:t>Report results, pick critical load cases, update design if needed</a:t>
          </a:r>
          <a:endParaRPr lang="en-US" dirty="0"/>
        </a:p>
      </dgm:t>
    </dgm:pt>
    <dgm:pt modelId="{0FE48B1B-AB35-4361-8FB5-6D1FC330E3B1}" type="parTrans" cxnId="{8D04D8C8-64A9-4E36-AEC9-17A2FCB3A9E0}">
      <dgm:prSet/>
      <dgm:spPr/>
      <dgm:t>
        <a:bodyPr/>
        <a:lstStyle/>
        <a:p>
          <a:endParaRPr lang="en-US"/>
        </a:p>
      </dgm:t>
    </dgm:pt>
    <dgm:pt modelId="{9CC062B0-C55E-44F8-A6FD-1DCD4ECE46EA}" type="sibTrans" cxnId="{8D04D8C8-64A9-4E36-AEC9-17A2FCB3A9E0}">
      <dgm:prSet/>
      <dgm:spPr/>
      <dgm:t>
        <a:bodyPr/>
        <a:lstStyle/>
        <a:p>
          <a:endParaRPr lang="en-US"/>
        </a:p>
      </dgm:t>
    </dgm:pt>
    <dgm:pt modelId="{77A698C6-E590-4202-B104-83442A79E88A}" type="pres">
      <dgm:prSet presAssocID="{61B9BA3A-37EE-4BED-8D73-37DEE5D6208A}" presName="diagram" presStyleCnt="0">
        <dgm:presLayoutVars>
          <dgm:dir/>
          <dgm:resizeHandles val="exact"/>
        </dgm:presLayoutVars>
      </dgm:prSet>
      <dgm:spPr/>
    </dgm:pt>
    <dgm:pt modelId="{312B8957-B695-4CE0-BF60-70CE370BFD78}" type="pres">
      <dgm:prSet presAssocID="{6D88F6D5-7744-434A-8418-10685F08B8F2}" presName="node" presStyleLbl="node1" presStyleIdx="0" presStyleCnt="8" custScaleY="130536">
        <dgm:presLayoutVars>
          <dgm:bulletEnabled val="1"/>
        </dgm:presLayoutVars>
      </dgm:prSet>
      <dgm:spPr/>
    </dgm:pt>
    <dgm:pt modelId="{69C29377-291C-4BFA-9F35-5531F43638B2}" type="pres">
      <dgm:prSet presAssocID="{7188DDD1-0E94-4795-933E-1C4233CD5735}" presName="sibTrans" presStyleLbl="sibTrans2D1" presStyleIdx="0" presStyleCnt="7"/>
      <dgm:spPr/>
    </dgm:pt>
    <dgm:pt modelId="{3C942B90-0038-4DE2-B350-E9E10DAF1B43}" type="pres">
      <dgm:prSet presAssocID="{7188DDD1-0E94-4795-933E-1C4233CD5735}" presName="connectorText" presStyleLbl="sibTrans2D1" presStyleIdx="0" presStyleCnt="7"/>
      <dgm:spPr/>
    </dgm:pt>
    <dgm:pt modelId="{EA3B38DB-EE5E-4DB4-98D1-63761C0B450A}" type="pres">
      <dgm:prSet presAssocID="{FFC89F9E-55B1-402F-B021-306D84A84971}" presName="node" presStyleLbl="node1" presStyleIdx="1" presStyleCnt="8" custScaleY="130536">
        <dgm:presLayoutVars>
          <dgm:bulletEnabled val="1"/>
        </dgm:presLayoutVars>
      </dgm:prSet>
      <dgm:spPr/>
    </dgm:pt>
    <dgm:pt modelId="{0574BFC6-F810-4E1E-9FAE-78A41D078FCF}" type="pres">
      <dgm:prSet presAssocID="{30509256-312B-4050-8A67-9EF441E699AC}" presName="sibTrans" presStyleLbl="sibTrans2D1" presStyleIdx="1" presStyleCnt="7"/>
      <dgm:spPr/>
    </dgm:pt>
    <dgm:pt modelId="{7253C937-C42C-4B50-8648-40AD595CD922}" type="pres">
      <dgm:prSet presAssocID="{30509256-312B-4050-8A67-9EF441E699AC}" presName="connectorText" presStyleLbl="sibTrans2D1" presStyleIdx="1" presStyleCnt="7"/>
      <dgm:spPr/>
    </dgm:pt>
    <dgm:pt modelId="{B2BA23D8-0C74-4089-AD9A-33F77C59BCE3}" type="pres">
      <dgm:prSet presAssocID="{897CD1C2-3539-4DE9-B89C-65B02CB2EFA4}" presName="node" presStyleLbl="node1" presStyleIdx="2" presStyleCnt="8" custScaleY="130536">
        <dgm:presLayoutVars>
          <dgm:bulletEnabled val="1"/>
        </dgm:presLayoutVars>
      </dgm:prSet>
      <dgm:spPr/>
    </dgm:pt>
    <dgm:pt modelId="{F98EB165-8B9E-4513-A04F-A4AD135A769E}" type="pres">
      <dgm:prSet presAssocID="{D00EDACE-3387-4FD4-8577-108E11C18EC2}" presName="sibTrans" presStyleLbl="sibTrans2D1" presStyleIdx="2" presStyleCnt="7"/>
      <dgm:spPr/>
    </dgm:pt>
    <dgm:pt modelId="{39872F98-6EA3-4137-A01D-C53AAFDBBDC3}" type="pres">
      <dgm:prSet presAssocID="{D00EDACE-3387-4FD4-8577-108E11C18EC2}" presName="connectorText" presStyleLbl="sibTrans2D1" presStyleIdx="2" presStyleCnt="7"/>
      <dgm:spPr/>
    </dgm:pt>
    <dgm:pt modelId="{4A7B9416-2EF0-4A9D-B9DC-4582FC19F9E2}" type="pres">
      <dgm:prSet presAssocID="{205C85B6-FBE2-41EE-9CC7-1CB5364F745E}" presName="node" presStyleLbl="node1" presStyleIdx="3" presStyleCnt="8" custScaleY="130536">
        <dgm:presLayoutVars>
          <dgm:bulletEnabled val="1"/>
        </dgm:presLayoutVars>
      </dgm:prSet>
      <dgm:spPr/>
    </dgm:pt>
    <dgm:pt modelId="{C85A2E62-2F3E-4CD0-BD26-2AC53855165D}" type="pres">
      <dgm:prSet presAssocID="{DF8203D7-BDA8-41ED-A63C-80CA06E5DBC6}" presName="sibTrans" presStyleLbl="sibTrans2D1" presStyleIdx="3" presStyleCnt="7"/>
      <dgm:spPr/>
    </dgm:pt>
    <dgm:pt modelId="{07068589-69DB-47ED-9C9B-B107F68C9650}" type="pres">
      <dgm:prSet presAssocID="{DF8203D7-BDA8-41ED-A63C-80CA06E5DBC6}" presName="connectorText" presStyleLbl="sibTrans2D1" presStyleIdx="3" presStyleCnt="7"/>
      <dgm:spPr/>
    </dgm:pt>
    <dgm:pt modelId="{DDED3378-C1B3-449E-952A-68388C8C5DC9}" type="pres">
      <dgm:prSet presAssocID="{35315F12-0A26-42D8-8926-56E87284CD1A}" presName="node" presStyleLbl="node1" presStyleIdx="4" presStyleCnt="8" custScaleY="130536">
        <dgm:presLayoutVars>
          <dgm:bulletEnabled val="1"/>
        </dgm:presLayoutVars>
      </dgm:prSet>
      <dgm:spPr/>
    </dgm:pt>
    <dgm:pt modelId="{49DD12C4-6986-434C-A9B1-CE5FAA18EB02}" type="pres">
      <dgm:prSet presAssocID="{8AD4446F-B925-47B4-99BE-CB396DDC37E3}" presName="sibTrans" presStyleLbl="sibTrans2D1" presStyleIdx="4" presStyleCnt="7"/>
      <dgm:spPr/>
    </dgm:pt>
    <dgm:pt modelId="{0675F608-70A5-4762-9AD8-283C6D2CEDC7}" type="pres">
      <dgm:prSet presAssocID="{8AD4446F-B925-47B4-99BE-CB396DDC37E3}" presName="connectorText" presStyleLbl="sibTrans2D1" presStyleIdx="4" presStyleCnt="7"/>
      <dgm:spPr/>
    </dgm:pt>
    <dgm:pt modelId="{1EB2A130-0856-4668-B319-78BBAE1F9507}" type="pres">
      <dgm:prSet presAssocID="{97E0BA09-8FBF-48C8-9692-4D8FC2145FA4}" presName="node" presStyleLbl="node1" presStyleIdx="5" presStyleCnt="8" custScaleY="130536">
        <dgm:presLayoutVars>
          <dgm:bulletEnabled val="1"/>
        </dgm:presLayoutVars>
      </dgm:prSet>
      <dgm:spPr/>
    </dgm:pt>
    <dgm:pt modelId="{D7926967-6658-44E8-ACB0-729032F28E48}" type="pres">
      <dgm:prSet presAssocID="{D2381312-2222-4BAB-92C1-D2E4BC9BF169}" presName="sibTrans" presStyleLbl="sibTrans2D1" presStyleIdx="5" presStyleCnt="7"/>
      <dgm:spPr/>
    </dgm:pt>
    <dgm:pt modelId="{2E5FDF52-1C2B-4D72-A74B-AFC2943A86C5}" type="pres">
      <dgm:prSet presAssocID="{D2381312-2222-4BAB-92C1-D2E4BC9BF169}" presName="connectorText" presStyleLbl="sibTrans2D1" presStyleIdx="5" presStyleCnt="7"/>
      <dgm:spPr/>
    </dgm:pt>
    <dgm:pt modelId="{BA5041DD-96A2-4D0F-A1DF-3D9932A3BE74}" type="pres">
      <dgm:prSet presAssocID="{8A2B8EFC-985C-43FE-B64D-76C9510BC5DE}" presName="node" presStyleLbl="node1" presStyleIdx="6" presStyleCnt="8" custScaleY="130536">
        <dgm:presLayoutVars>
          <dgm:bulletEnabled val="1"/>
        </dgm:presLayoutVars>
      </dgm:prSet>
      <dgm:spPr/>
    </dgm:pt>
    <dgm:pt modelId="{4C7800E4-8FB5-4717-BAE7-DD4AC445A62C}" type="pres">
      <dgm:prSet presAssocID="{AE275DE5-4EF8-4F09-AD90-1F185B7B409F}" presName="sibTrans" presStyleLbl="sibTrans2D1" presStyleIdx="6" presStyleCnt="7"/>
      <dgm:spPr/>
    </dgm:pt>
    <dgm:pt modelId="{51C7591D-8DA0-4AE9-89FD-CB963682C33E}" type="pres">
      <dgm:prSet presAssocID="{AE275DE5-4EF8-4F09-AD90-1F185B7B409F}" presName="connectorText" presStyleLbl="sibTrans2D1" presStyleIdx="6" presStyleCnt="7"/>
      <dgm:spPr/>
    </dgm:pt>
    <dgm:pt modelId="{2BB193F1-FE00-41FF-B6D9-70C8AEBC46A4}" type="pres">
      <dgm:prSet presAssocID="{1C172206-91DC-40E3-A23F-7A082FC578D5}" presName="node" presStyleLbl="node1" presStyleIdx="7" presStyleCnt="8" custScaleY="130536">
        <dgm:presLayoutVars>
          <dgm:bulletEnabled val="1"/>
        </dgm:presLayoutVars>
      </dgm:prSet>
      <dgm:spPr/>
    </dgm:pt>
  </dgm:ptLst>
  <dgm:cxnLst>
    <dgm:cxn modelId="{5050F000-CCF8-4F05-929B-B302381974E4}" srcId="{61B9BA3A-37EE-4BED-8D73-37DEE5D6208A}" destId="{6D88F6D5-7744-434A-8418-10685F08B8F2}" srcOrd="0" destOrd="0" parTransId="{0E29EC8A-529B-47E3-A4B5-8E601D0F97CC}" sibTransId="{7188DDD1-0E94-4795-933E-1C4233CD5735}"/>
    <dgm:cxn modelId="{9104200A-35A0-43CF-8344-8B70AC2346F8}" srcId="{61B9BA3A-37EE-4BED-8D73-37DEE5D6208A}" destId="{97E0BA09-8FBF-48C8-9692-4D8FC2145FA4}" srcOrd="5" destOrd="0" parTransId="{024D93AA-DE7D-4CD8-9526-9265B503E9D9}" sibTransId="{D2381312-2222-4BAB-92C1-D2E4BC9BF169}"/>
    <dgm:cxn modelId="{0ED0E218-AE65-4F8B-953D-E198110CD938}" srcId="{61B9BA3A-37EE-4BED-8D73-37DEE5D6208A}" destId="{8A2B8EFC-985C-43FE-B64D-76C9510BC5DE}" srcOrd="6" destOrd="0" parTransId="{CCCA3EEF-D1BC-408E-A1BB-4539BE01995D}" sibTransId="{AE275DE5-4EF8-4F09-AD90-1F185B7B409F}"/>
    <dgm:cxn modelId="{8A17C11D-CD30-4DE8-A3DA-6616AFDE456F}" type="presOf" srcId="{205C85B6-FBE2-41EE-9CC7-1CB5364F745E}" destId="{4A7B9416-2EF0-4A9D-B9DC-4582FC19F9E2}" srcOrd="0" destOrd="0" presId="urn:microsoft.com/office/officeart/2005/8/layout/process5"/>
    <dgm:cxn modelId="{CC2F3127-1A52-4172-99E0-DED902D766BB}" type="presOf" srcId="{AE275DE5-4EF8-4F09-AD90-1F185B7B409F}" destId="{4C7800E4-8FB5-4717-BAE7-DD4AC445A62C}" srcOrd="0" destOrd="0" presId="urn:microsoft.com/office/officeart/2005/8/layout/process5"/>
    <dgm:cxn modelId="{ED1FBD2D-DEB2-4D71-924A-A120B14720D2}" type="presOf" srcId="{7188DDD1-0E94-4795-933E-1C4233CD5735}" destId="{3C942B90-0038-4DE2-B350-E9E10DAF1B43}" srcOrd="1" destOrd="0" presId="urn:microsoft.com/office/officeart/2005/8/layout/process5"/>
    <dgm:cxn modelId="{B20EC231-5946-4F93-9B7A-11805A373321}" type="presOf" srcId="{DF8203D7-BDA8-41ED-A63C-80CA06E5DBC6}" destId="{C85A2E62-2F3E-4CD0-BD26-2AC53855165D}" srcOrd="0" destOrd="0" presId="urn:microsoft.com/office/officeart/2005/8/layout/process5"/>
    <dgm:cxn modelId="{3510895D-7CFE-4B32-A256-F2475302BD5A}" srcId="{61B9BA3A-37EE-4BED-8D73-37DEE5D6208A}" destId="{897CD1C2-3539-4DE9-B89C-65B02CB2EFA4}" srcOrd="2" destOrd="0" parTransId="{98C33762-21D4-4001-8ECD-50ED6F15AE0D}" sibTransId="{D00EDACE-3387-4FD4-8577-108E11C18EC2}"/>
    <dgm:cxn modelId="{C31F3862-CE41-4A48-8879-E7AEFC78C0C7}" type="presOf" srcId="{6D88F6D5-7744-434A-8418-10685F08B8F2}" destId="{312B8957-B695-4CE0-BF60-70CE370BFD78}" srcOrd="0" destOrd="0" presId="urn:microsoft.com/office/officeart/2005/8/layout/process5"/>
    <dgm:cxn modelId="{C60CD262-5EE8-404C-AE45-058A4D94A8CF}" type="presOf" srcId="{D2381312-2222-4BAB-92C1-D2E4BC9BF169}" destId="{2E5FDF52-1C2B-4D72-A74B-AFC2943A86C5}" srcOrd="1" destOrd="0" presId="urn:microsoft.com/office/officeart/2005/8/layout/process5"/>
    <dgm:cxn modelId="{C9BE1B65-F2BC-49EE-A132-0D9EB6E0ACC6}" type="presOf" srcId="{30509256-312B-4050-8A67-9EF441E699AC}" destId="{0574BFC6-F810-4E1E-9FAE-78A41D078FCF}" srcOrd="0" destOrd="0" presId="urn:microsoft.com/office/officeart/2005/8/layout/process5"/>
    <dgm:cxn modelId="{94F16B4C-D20D-4F1B-8956-AF1925EC3A53}" type="presOf" srcId="{30509256-312B-4050-8A67-9EF441E699AC}" destId="{7253C937-C42C-4B50-8648-40AD595CD922}" srcOrd="1" destOrd="0" presId="urn:microsoft.com/office/officeart/2005/8/layout/process5"/>
    <dgm:cxn modelId="{1190D558-168F-4953-BB3A-BC3675DF31D4}" srcId="{61B9BA3A-37EE-4BED-8D73-37DEE5D6208A}" destId="{FFC89F9E-55B1-402F-B021-306D84A84971}" srcOrd="1" destOrd="0" parTransId="{E6A5E3AA-2AD3-434C-8A81-4F6FA79D1B1A}" sibTransId="{30509256-312B-4050-8A67-9EF441E699AC}"/>
    <dgm:cxn modelId="{086B0A7F-F6F9-4DB7-85AA-56A83666CF92}" type="presOf" srcId="{FFC89F9E-55B1-402F-B021-306D84A84971}" destId="{EA3B38DB-EE5E-4DB4-98D1-63761C0B450A}" srcOrd="0" destOrd="0" presId="urn:microsoft.com/office/officeart/2005/8/layout/process5"/>
    <dgm:cxn modelId="{DBEDD184-043C-46A9-BDC4-8346E4A31581}" type="presOf" srcId="{D00EDACE-3387-4FD4-8577-108E11C18EC2}" destId="{F98EB165-8B9E-4513-A04F-A4AD135A769E}" srcOrd="0" destOrd="0" presId="urn:microsoft.com/office/officeart/2005/8/layout/process5"/>
    <dgm:cxn modelId="{20AF02A4-635A-425C-96AC-1D0EC6FC62E1}" type="presOf" srcId="{8A2B8EFC-985C-43FE-B64D-76C9510BC5DE}" destId="{BA5041DD-96A2-4D0F-A1DF-3D9932A3BE74}" srcOrd="0" destOrd="0" presId="urn:microsoft.com/office/officeart/2005/8/layout/process5"/>
    <dgm:cxn modelId="{F97C99B4-FE38-4F86-99B6-E5DD18D39AD9}" type="presOf" srcId="{8AD4446F-B925-47B4-99BE-CB396DDC37E3}" destId="{49DD12C4-6986-434C-A9B1-CE5FAA18EB02}" srcOrd="0" destOrd="0" presId="urn:microsoft.com/office/officeart/2005/8/layout/process5"/>
    <dgm:cxn modelId="{F88E16B8-C66D-4857-9BC5-9534F89E7499}" type="presOf" srcId="{7188DDD1-0E94-4795-933E-1C4233CD5735}" destId="{69C29377-291C-4BFA-9F35-5531F43638B2}" srcOrd="0" destOrd="0" presId="urn:microsoft.com/office/officeart/2005/8/layout/process5"/>
    <dgm:cxn modelId="{9258D8B8-26DE-4888-A9BC-C4D14E0E3F30}" srcId="{61B9BA3A-37EE-4BED-8D73-37DEE5D6208A}" destId="{205C85B6-FBE2-41EE-9CC7-1CB5364F745E}" srcOrd="3" destOrd="0" parTransId="{CCDB9FE0-75C3-449D-929E-D06A9EE7835B}" sibTransId="{DF8203D7-BDA8-41ED-A63C-80CA06E5DBC6}"/>
    <dgm:cxn modelId="{FE895EC5-2C6C-4ECB-88FB-DB868C8D31FD}" type="presOf" srcId="{97E0BA09-8FBF-48C8-9692-4D8FC2145FA4}" destId="{1EB2A130-0856-4668-B319-78BBAE1F9507}" srcOrd="0" destOrd="0" presId="urn:microsoft.com/office/officeart/2005/8/layout/process5"/>
    <dgm:cxn modelId="{8D04D8C8-64A9-4E36-AEC9-17A2FCB3A9E0}" srcId="{61B9BA3A-37EE-4BED-8D73-37DEE5D6208A}" destId="{1C172206-91DC-40E3-A23F-7A082FC578D5}" srcOrd="7" destOrd="0" parTransId="{0FE48B1B-AB35-4361-8FB5-6D1FC330E3B1}" sibTransId="{9CC062B0-C55E-44F8-A6FD-1DCD4ECE46EA}"/>
    <dgm:cxn modelId="{D9B766C9-34DA-4BFE-9ABC-D1A90FA86364}" type="presOf" srcId="{8AD4446F-B925-47B4-99BE-CB396DDC37E3}" destId="{0675F608-70A5-4762-9AD8-283C6D2CEDC7}" srcOrd="1" destOrd="0" presId="urn:microsoft.com/office/officeart/2005/8/layout/process5"/>
    <dgm:cxn modelId="{28167BC9-B9FE-49CC-9715-57CC37A8AED4}" type="presOf" srcId="{1C172206-91DC-40E3-A23F-7A082FC578D5}" destId="{2BB193F1-FE00-41FF-B6D9-70C8AEBC46A4}" srcOrd="0" destOrd="0" presId="urn:microsoft.com/office/officeart/2005/8/layout/process5"/>
    <dgm:cxn modelId="{6CD397CC-D206-488A-B34D-193786D138F7}" srcId="{61B9BA3A-37EE-4BED-8D73-37DEE5D6208A}" destId="{35315F12-0A26-42D8-8926-56E87284CD1A}" srcOrd="4" destOrd="0" parTransId="{59FBA50C-240A-4CCE-AB56-8413E6B52A1E}" sibTransId="{8AD4446F-B925-47B4-99BE-CB396DDC37E3}"/>
    <dgm:cxn modelId="{4F2CBCD3-1C46-4A16-957B-1E064D40D69D}" type="presOf" srcId="{61B9BA3A-37EE-4BED-8D73-37DEE5D6208A}" destId="{77A698C6-E590-4202-B104-83442A79E88A}" srcOrd="0" destOrd="0" presId="urn:microsoft.com/office/officeart/2005/8/layout/process5"/>
    <dgm:cxn modelId="{B03202D8-0246-4E80-A0E8-E3A59F563641}" type="presOf" srcId="{AE275DE5-4EF8-4F09-AD90-1F185B7B409F}" destId="{51C7591D-8DA0-4AE9-89FD-CB963682C33E}" srcOrd="1" destOrd="0" presId="urn:microsoft.com/office/officeart/2005/8/layout/process5"/>
    <dgm:cxn modelId="{EB3606DE-8B15-4168-B7D3-AE24C66C3143}" type="presOf" srcId="{35315F12-0A26-42D8-8926-56E87284CD1A}" destId="{DDED3378-C1B3-449E-952A-68388C8C5DC9}" srcOrd="0" destOrd="0" presId="urn:microsoft.com/office/officeart/2005/8/layout/process5"/>
    <dgm:cxn modelId="{58EA9BDF-E079-4456-A0B8-F00826A6261D}" type="presOf" srcId="{897CD1C2-3539-4DE9-B89C-65B02CB2EFA4}" destId="{B2BA23D8-0C74-4089-AD9A-33F77C59BCE3}" srcOrd="0" destOrd="0" presId="urn:microsoft.com/office/officeart/2005/8/layout/process5"/>
    <dgm:cxn modelId="{CB9A95ED-83FF-4B86-A9D6-F93164C7A84E}" type="presOf" srcId="{D2381312-2222-4BAB-92C1-D2E4BC9BF169}" destId="{D7926967-6658-44E8-ACB0-729032F28E48}" srcOrd="0" destOrd="0" presId="urn:microsoft.com/office/officeart/2005/8/layout/process5"/>
    <dgm:cxn modelId="{D33F86F3-79E1-4B41-9EFE-1DCA329C8F7C}" type="presOf" srcId="{DF8203D7-BDA8-41ED-A63C-80CA06E5DBC6}" destId="{07068589-69DB-47ED-9C9B-B107F68C9650}" srcOrd="1" destOrd="0" presId="urn:microsoft.com/office/officeart/2005/8/layout/process5"/>
    <dgm:cxn modelId="{971845F4-B034-4D94-A15C-F1BD8C01D346}" type="presOf" srcId="{D00EDACE-3387-4FD4-8577-108E11C18EC2}" destId="{39872F98-6EA3-4137-A01D-C53AAFDBBDC3}" srcOrd="1" destOrd="0" presId="urn:microsoft.com/office/officeart/2005/8/layout/process5"/>
    <dgm:cxn modelId="{405A0115-83FA-4A35-AF8A-2843F4FE47D8}" type="presParOf" srcId="{77A698C6-E590-4202-B104-83442A79E88A}" destId="{312B8957-B695-4CE0-BF60-70CE370BFD78}" srcOrd="0" destOrd="0" presId="urn:microsoft.com/office/officeart/2005/8/layout/process5"/>
    <dgm:cxn modelId="{95AD80B9-F05C-4769-807F-BF2B817E9422}" type="presParOf" srcId="{77A698C6-E590-4202-B104-83442A79E88A}" destId="{69C29377-291C-4BFA-9F35-5531F43638B2}" srcOrd="1" destOrd="0" presId="urn:microsoft.com/office/officeart/2005/8/layout/process5"/>
    <dgm:cxn modelId="{DE429DA5-F704-4079-A0A6-1D050757F90E}" type="presParOf" srcId="{69C29377-291C-4BFA-9F35-5531F43638B2}" destId="{3C942B90-0038-4DE2-B350-E9E10DAF1B43}" srcOrd="0" destOrd="0" presId="urn:microsoft.com/office/officeart/2005/8/layout/process5"/>
    <dgm:cxn modelId="{820557A9-0EA6-4548-9082-1CE14CF82636}" type="presParOf" srcId="{77A698C6-E590-4202-B104-83442A79E88A}" destId="{EA3B38DB-EE5E-4DB4-98D1-63761C0B450A}" srcOrd="2" destOrd="0" presId="urn:microsoft.com/office/officeart/2005/8/layout/process5"/>
    <dgm:cxn modelId="{6E861BF8-868B-443E-A9CD-67997CE09942}" type="presParOf" srcId="{77A698C6-E590-4202-B104-83442A79E88A}" destId="{0574BFC6-F810-4E1E-9FAE-78A41D078FCF}" srcOrd="3" destOrd="0" presId="urn:microsoft.com/office/officeart/2005/8/layout/process5"/>
    <dgm:cxn modelId="{051E2267-B1B8-450C-878A-4348A0AD1498}" type="presParOf" srcId="{0574BFC6-F810-4E1E-9FAE-78A41D078FCF}" destId="{7253C937-C42C-4B50-8648-40AD595CD922}" srcOrd="0" destOrd="0" presId="urn:microsoft.com/office/officeart/2005/8/layout/process5"/>
    <dgm:cxn modelId="{613CD001-0338-4FF1-AA88-FD3CF415E296}" type="presParOf" srcId="{77A698C6-E590-4202-B104-83442A79E88A}" destId="{B2BA23D8-0C74-4089-AD9A-33F77C59BCE3}" srcOrd="4" destOrd="0" presId="urn:microsoft.com/office/officeart/2005/8/layout/process5"/>
    <dgm:cxn modelId="{11C84D71-041C-4370-97D6-2786ABA0DC95}" type="presParOf" srcId="{77A698C6-E590-4202-B104-83442A79E88A}" destId="{F98EB165-8B9E-4513-A04F-A4AD135A769E}" srcOrd="5" destOrd="0" presId="urn:microsoft.com/office/officeart/2005/8/layout/process5"/>
    <dgm:cxn modelId="{14785CBD-86BE-4C0D-9E1E-3C2E7F3331E6}" type="presParOf" srcId="{F98EB165-8B9E-4513-A04F-A4AD135A769E}" destId="{39872F98-6EA3-4137-A01D-C53AAFDBBDC3}" srcOrd="0" destOrd="0" presId="urn:microsoft.com/office/officeart/2005/8/layout/process5"/>
    <dgm:cxn modelId="{5D887709-1A92-4372-B4FF-0D490969D887}" type="presParOf" srcId="{77A698C6-E590-4202-B104-83442A79E88A}" destId="{4A7B9416-2EF0-4A9D-B9DC-4582FC19F9E2}" srcOrd="6" destOrd="0" presId="urn:microsoft.com/office/officeart/2005/8/layout/process5"/>
    <dgm:cxn modelId="{4881F305-3165-4AC6-B74B-BC4F4E62A284}" type="presParOf" srcId="{77A698C6-E590-4202-B104-83442A79E88A}" destId="{C85A2E62-2F3E-4CD0-BD26-2AC53855165D}" srcOrd="7" destOrd="0" presId="urn:microsoft.com/office/officeart/2005/8/layout/process5"/>
    <dgm:cxn modelId="{9974FCEC-E1B5-405A-869C-D53D08E3B9A6}" type="presParOf" srcId="{C85A2E62-2F3E-4CD0-BD26-2AC53855165D}" destId="{07068589-69DB-47ED-9C9B-B107F68C9650}" srcOrd="0" destOrd="0" presId="urn:microsoft.com/office/officeart/2005/8/layout/process5"/>
    <dgm:cxn modelId="{74309959-E190-4669-B1D3-189E40C793C6}" type="presParOf" srcId="{77A698C6-E590-4202-B104-83442A79E88A}" destId="{DDED3378-C1B3-449E-952A-68388C8C5DC9}" srcOrd="8" destOrd="0" presId="urn:microsoft.com/office/officeart/2005/8/layout/process5"/>
    <dgm:cxn modelId="{9B0C45B6-CAD2-46BD-A047-9556B032369A}" type="presParOf" srcId="{77A698C6-E590-4202-B104-83442A79E88A}" destId="{49DD12C4-6986-434C-A9B1-CE5FAA18EB02}" srcOrd="9" destOrd="0" presId="urn:microsoft.com/office/officeart/2005/8/layout/process5"/>
    <dgm:cxn modelId="{724ACE1F-39F1-4DB3-BA18-416D32721E18}" type="presParOf" srcId="{49DD12C4-6986-434C-A9B1-CE5FAA18EB02}" destId="{0675F608-70A5-4762-9AD8-283C6D2CEDC7}" srcOrd="0" destOrd="0" presId="urn:microsoft.com/office/officeart/2005/8/layout/process5"/>
    <dgm:cxn modelId="{C5A86469-8906-492F-88F5-F94CAD1AEB72}" type="presParOf" srcId="{77A698C6-E590-4202-B104-83442A79E88A}" destId="{1EB2A130-0856-4668-B319-78BBAE1F9507}" srcOrd="10" destOrd="0" presId="urn:microsoft.com/office/officeart/2005/8/layout/process5"/>
    <dgm:cxn modelId="{42A55C0C-5681-4C8E-B859-58911B57680C}" type="presParOf" srcId="{77A698C6-E590-4202-B104-83442A79E88A}" destId="{D7926967-6658-44E8-ACB0-729032F28E48}" srcOrd="11" destOrd="0" presId="urn:microsoft.com/office/officeart/2005/8/layout/process5"/>
    <dgm:cxn modelId="{F64D113B-3830-4610-BF21-FC7F3F2FFECA}" type="presParOf" srcId="{D7926967-6658-44E8-ACB0-729032F28E48}" destId="{2E5FDF52-1C2B-4D72-A74B-AFC2943A86C5}" srcOrd="0" destOrd="0" presId="urn:microsoft.com/office/officeart/2005/8/layout/process5"/>
    <dgm:cxn modelId="{A55B6FDD-34AD-4CF6-BAD7-C3A4902603E6}" type="presParOf" srcId="{77A698C6-E590-4202-B104-83442A79E88A}" destId="{BA5041DD-96A2-4D0F-A1DF-3D9932A3BE74}" srcOrd="12" destOrd="0" presId="urn:microsoft.com/office/officeart/2005/8/layout/process5"/>
    <dgm:cxn modelId="{2DBFB525-76D7-45C4-8CE0-F411B231A2BE}" type="presParOf" srcId="{77A698C6-E590-4202-B104-83442A79E88A}" destId="{4C7800E4-8FB5-4717-BAE7-DD4AC445A62C}" srcOrd="13" destOrd="0" presId="urn:microsoft.com/office/officeart/2005/8/layout/process5"/>
    <dgm:cxn modelId="{346DDA2D-0299-48C2-A3E0-3664AF77DA49}" type="presParOf" srcId="{4C7800E4-8FB5-4717-BAE7-DD4AC445A62C}" destId="{51C7591D-8DA0-4AE9-89FD-CB963682C33E}" srcOrd="0" destOrd="0" presId="urn:microsoft.com/office/officeart/2005/8/layout/process5"/>
    <dgm:cxn modelId="{07CF7BC4-2654-4457-8202-9F14709D9EBA}" type="presParOf" srcId="{77A698C6-E590-4202-B104-83442A79E88A}" destId="{2BB193F1-FE00-41FF-B6D9-70C8AEBC46A4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B8957-B695-4CE0-BF60-70CE370BFD78}">
      <dsp:nvSpPr>
        <dsp:cNvPr id="0" name=""/>
        <dsp:cNvSpPr/>
      </dsp:nvSpPr>
      <dsp:spPr>
        <a:xfrm>
          <a:off x="4772" y="22504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Define Design Load Cases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(IEC 61400-1: DLC 1.x,2.x,3.x...) </a:t>
          </a:r>
        </a:p>
      </dsp:txBody>
      <dsp:txXfrm>
        <a:off x="52639" y="70371"/>
        <a:ext cx="1990918" cy="1538565"/>
      </dsp:txXfrm>
    </dsp:sp>
    <dsp:sp modelId="{69C29377-291C-4BFA-9F35-5531F43638B2}">
      <dsp:nvSpPr>
        <dsp:cNvPr id="0" name=""/>
        <dsp:cNvSpPr/>
      </dsp:nvSpPr>
      <dsp:spPr>
        <a:xfrm>
          <a:off x="2275050" y="580909"/>
          <a:ext cx="442370" cy="517489"/>
        </a:xfrm>
        <a:prstGeom prst="rightArrow">
          <a:avLst>
            <a:gd name="adj1" fmla="val 60000"/>
            <a:gd name="adj2" fmla="val 50000"/>
          </a:avLst>
        </a:prstGeom>
        <a:blipFill rotWithShape="0">
          <a:blip xmlns:r="http://schemas.openxmlformats.org/officeDocument/2006/relationships" r:embed="rId1"/>
          <a:srcRect/>
          <a:stretch>
            <a:fillRect t="-8000" b="-8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275050" y="684407"/>
        <a:ext cx="309659" cy="310493"/>
      </dsp:txXfrm>
    </dsp:sp>
    <dsp:sp modelId="{EA3B38DB-EE5E-4DB4-98D1-63761C0B450A}">
      <dsp:nvSpPr>
        <dsp:cNvPr id="0" name=""/>
        <dsp:cNvSpPr/>
      </dsp:nvSpPr>
      <dsp:spPr>
        <a:xfrm>
          <a:off x="2926086" y="22504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Prepare input files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TurbSim</a:t>
          </a:r>
          <a:r>
            <a:rPr lang="en-US" sz="1100" kern="1200" dirty="0"/>
            <a:t> or other tool → turbulence wind files.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OpenFAST</a:t>
          </a:r>
          <a:r>
            <a:rPr lang="en-US" sz="1100" kern="1200" dirty="0"/>
            <a:t> input files (.</a:t>
          </a:r>
          <a:r>
            <a:rPr lang="en-US" sz="1100" kern="1200" dirty="0" err="1"/>
            <a:t>fst</a:t>
          </a:r>
          <a:r>
            <a:rPr lang="en-US" sz="1100" kern="1200" dirty="0"/>
            <a:t>) specifying DLC, controllers, initial conditions</a:t>
          </a:r>
        </a:p>
      </dsp:txBody>
      <dsp:txXfrm>
        <a:off x="2973953" y="70371"/>
        <a:ext cx="1990918" cy="1538565"/>
      </dsp:txXfrm>
    </dsp:sp>
    <dsp:sp modelId="{0574BFC6-F810-4E1E-9FAE-78A41D078FCF}">
      <dsp:nvSpPr>
        <dsp:cNvPr id="0" name=""/>
        <dsp:cNvSpPr/>
      </dsp:nvSpPr>
      <dsp:spPr>
        <a:xfrm>
          <a:off x="5196364" y="580909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196364" y="684407"/>
        <a:ext cx="309659" cy="310493"/>
      </dsp:txXfrm>
    </dsp:sp>
    <dsp:sp modelId="{B2BA23D8-0C74-4089-AD9A-33F77C59BCE3}">
      <dsp:nvSpPr>
        <dsp:cNvPr id="0" name=""/>
        <dsp:cNvSpPr/>
      </dsp:nvSpPr>
      <dsp:spPr>
        <a:xfrm>
          <a:off x="5847400" y="22504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/>
            <a:t>Run </a:t>
          </a:r>
          <a:r>
            <a:rPr lang="en-US" sz="1100" b="1" kern="1200" dirty="0" err="1"/>
            <a:t>OpenFAST</a:t>
          </a:r>
          <a:r>
            <a:rPr lang="en-US" sz="1100" b="1" kern="1200" dirty="0"/>
            <a:t> simulations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Run one or many cases (each produces a time-series output .out</a:t>
          </a:r>
        </a:p>
      </dsp:txBody>
      <dsp:txXfrm>
        <a:off x="5895267" y="70371"/>
        <a:ext cx="1990918" cy="1538565"/>
      </dsp:txXfrm>
    </dsp:sp>
    <dsp:sp modelId="{F98EB165-8B9E-4513-A04F-A4AD135A769E}">
      <dsp:nvSpPr>
        <dsp:cNvPr id="0" name=""/>
        <dsp:cNvSpPr/>
      </dsp:nvSpPr>
      <dsp:spPr>
        <a:xfrm>
          <a:off x="8117678" y="580909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8117678" y="684407"/>
        <a:ext cx="309659" cy="310493"/>
      </dsp:txXfrm>
    </dsp:sp>
    <dsp:sp modelId="{4A7B9416-2EF0-4A9D-B9DC-4582FC19F9E2}">
      <dsp:nvSpPr>
        <dsp:cNvPr id="0" name=""/>
        <dsp:cNvSpPr/>
      </dsp:nvSpPr>
      <dsp:spPr>
        <a:xfrm>
          <a:off x="8768714" y="22504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/>
            <a:t>Collect and organize outputs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Gather .out files, label them by DLC and wind speed</a:t>
          </a:r>
        </a:p>
      </dsp:txBody>
      <dsp:txXfrm>
        <a:off x="8816581" y="70371"/>
        <a:ext cx="1990918" cy="1538565"/>
      </dsp:txXfrm>
    </dsp:sp>
    <dsp:sp modelId="{C85A2E62-2F3E-4CD0-BD26-2AC53855165D}">
      <dsp:nvSpPr>
        <dsp:cNvPr id="0" name=""/>
        <dsp:cNvSpPr/>
      </dsp:nvSpPr>
      <dsp:spPr>
        <a:xfrm rot="5400000">
          <a:off x="9590855" y="1802869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9656794" y="1840429"/>
        <a:ext cx="310493" cy="309659"/>
      </dsp:txXfrm>
    </dsp:sp>
    <dsp:sp modelId="{DDED3378-C1B3-449E-952A-68388C8C5DC9}">
      <dsp:nvSpPr>
        <dsp:cNvPr id="0" name=""/>
        <dsp:cNvSpPr/>
      </dsp:nvSpPr>
      <dsp:spPr>
        <a:xfrm>
          <a:off x="8768714" y="2491465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/>
            <a:t>Run </a:t>
          </a:r>
          <a:r>
            <a:rPr lang="en-US" sz="1100" b="1" kern="1200" dirty="0" err="1"/>
            <a:t>MExtremes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Read files sequentially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Optionally use string channel names or calculated channels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Find extremes (max/min), record time, which file, and associated channels</a:t>
          </a:r>
        </a:p>
      </dsp:txBody>
      <dsp:txXfrm>
        <a:off x="8816581" y="2539332"/>
        <a:ext cx="1990918" cy="1538565"/>
      </dsp:txXfrm>
    </dsp:sp>
    <dsp:sp modelId="{49DD12C4-6986-434C-A9B1-CE5FAA18EB02}">
      <dsp:nvSpPr>
        <dsp:cNvPr id="0" name=""/>
        <dsp:cNvSpPr/>
      </dsp:nvSpPr>
      <dsp:spPr>
        <a:xfrm rot="10800000">
          <a:off x="8142718" y="3049870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8275429" y="3153368"/>
        <a:ext cx="309659" cy="310493"/>
      </dsp:txXfrm>
    </dsp:sp>
    <dsp:sp modelId="{1EB2A130-0856-4668-B319-78BBAE1F9507}">
      <dsp:nvSpPr>
        <dsp:cNvPr id="0" name=""/>
        <dsp:cNvSpPr/>
      </dsp:nvSpPr>
      <dsp:spPr>
        <a:xfrm>
          <a:off x="5847400" y="2491465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Generate extreme-event tables &amp; plots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Excel/text tables, charts, scatter plots, per DLC or wind-speed</a:t>
          </a:r>
        </a:p>
      </dsp:txBody>
      <dsp:txXfrm>
        <a:off x="5895267" y="2539332"/>
        <a:ext cx="1990918" cy="1538565"/>
      </dsp:txXfrm>
    </dsp:sp>
    <dsp:sp modelId="{D7926967-6658-44E8-ACB0-729032F28E48}">
      <dsp:nvSpPr>
        <dsp:cNvPr id="0" name=""/>
        <dsp:cNvSpPr/>
      </dsp:nvSpPr>
      <dsp:spPr>
        <a:xfrm rot="10800000">
          <a:off x="5221404" y="3049870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5354115" y="3153368"/>
        <a:ext cx="309659" cy="310493"/>
      </dsp:txXfrm>
    </dsp:sp>
    <dsp:sp modelId="{BA5041DD-96A2-4D0F-A1DF-3D9932A3BE74}">
      <dsp:nvSpPr>
        <dsp:cNvPr id="0" name=""/>
        <dsp:cNvSpPr/>
      </dsp:nvSpPr>
      <dsp:spPr>
        <a:xfrm>
          <a:off x="2926086" y="2491465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Post-processing &amp; checks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Apply partial safety factors (PSFs) if required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Compare extremes to design limits / safety factors</a:t>
          </a:r>
        </a:p>
      </dsp:txBody>
      <dsp:txXfrm>
        <a:off x="2973953" y="2539332"/>
        <a:ext cx="1990918" cy="1538565"/>
      </dsp:txXfrm>
    </dsp:sp>
    <dsp:sp modelId="{4C7800E4-8FB5-4717-BAE7-DD4AC445A62C}">
      <dsp:nvSpPr>
        <dsp:cNvPr id="0" name=""/>
        <dsp:cNvSpPr/>
      </dsp:nvSpPr>
      <dsp:spPr>
        <a:xfrm rot="10800000">
          <a:off x="2300090" y="3049870"/>
          <a:ext cx="442370" cy="517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2432801" y="3153368"/>
        <a:ext cx="309659" cy="310493"/>
      </dsp:txXfrm>
    </dsp:sp>
    <dsp:sp modelId="{2BB193F1-FE00-41FF-B6D9-70C8AEBC46A4}">
      <dsp:nvSpPr>
        <dsp:cNvPr id="0" name=""/>
        <dsp:cNvSpPr/>
      </dsp:nvSpPr>
      <dsp:spPr>
        <a:xfrm>
          <a:off x="4772" y="2491465"/>
          <a:ext cx="2086652" cy="1634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Certification / </a:t>
          </a:r>
          <a:r>
            <a:rPr lang="en-US" sz="1100" b="1" kern="1200"/>
            <a:t>design decisions</a:t>
          </a:r>
          <a:r>
            <a:rPr lang="en-US" sz="1100" kern="1200"/>
            <a:t>Report results, pick critical load cases, update design if needed</a:t>
          </a:r>
          <a:endParaRPr lang="en-US" sz="1100" kern="1200" dirty="0"/>
        </a:p>
      </dsp:txBody>
      <dsp:txXfrm>
        <a:off x="52639" y="2539332"/>
        <a:ext cx="1990918" cy="1538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6316-8F09-3333-69A9-5BB11A07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26428-B5DF-C377-B1A4-BBF6AD28B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E1FCA-9F7F-829A-252B-D847FF2EB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1E283-42D0-B135-4036-62A477623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04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210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354B-6232-BAC7-2450-33A09DD3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302C7-7534-F1F1-4007-AEC201BC9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F8A0D-2223-176F-CA1C-DBDD8EFC4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F412C-D403-400F-ADE4-20939D012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80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A657-38CD-C08A-9C1B-B9CD7AC4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27432-D777-E332-0F94-ABB4525D7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29F61-B842-CCB8-1ABF-372A5F3A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884-AC4C-4119-B1F3-CB5E5B1F0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48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DF72-239B-2727-0741-72937FFF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B9894-365C-F1BB-C6D1-80520BA77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1D379-0A6D-3B73-FF18-8C52247F6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8C640-6E38-186E-E4E5-20F5F6977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076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C0FB-9BF6-0A23-54E2-3FF8E3E5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F13B5-2252-2B83-334D-C1BA0E151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1A4B2-D6CC-BA52-8773-6FD290ADF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760A-7D72-FD78-B5D1-357F153D9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42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4C2A3-9F2F-09CD-03FF-F40DFF02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B5876-FE32-2D10-D55D-A3D936FA8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F8598-94A5-8349-C872-8A53D8DD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7DE48-201E-94AF-71C6-8C8EECDFD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246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841A-68C1-E977-EF10-2F13702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3C6E-A737-72C2-AA57-F437EC30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D82A-8C4C-1044-594E-580A10C1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D6B7-AC09-0DC6-468A-449328D32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39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06</a:t>
            </a:r>
          </a:p>
          <a:p>
            <a:r>
              <a:rPr lang="it-IT" sz="2000" dirty="0"/>
              <a:t>Date: 04/11/2025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Presenter  – Md Aman</a:t>
            </a:r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8183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4788085" y="6565448"/>
            <a:ext cx="3077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Aman, Arham Memon, Paresh </a:t>
            </a:r>
            <a:r>
              <a:rPr lang="en-US" sz="1200" dirty="0" err="1">
                <a:solidFill>
                  <a:schemeClr val="bg1"/>
                </a:solidFill>
              </a:rPr>
              <a:t>Nakum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Normal turbulence model (NTM) Wind Field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Power curve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cs typeface="Times New Roman" panose="02020603050405020304" pitchFamily="18" charset="0"/>
              </a:rPr>
              <a:t>MExtremes</a:t>
            </a:r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DLC 5.1</a:t>
            </a:r>
            <a:endParaRPr lang="en-US" strike="sngStrike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Simulation for DLC 5.1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Conclusion &amp; Future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568D94-AF6A-68C5-CAEA-EBE1FF802F4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3C894-0196-55D0-204B-02BDEBE5665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47FB-9AEA-1779-A8E7-61FFCA52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573685C2-A756-D559-4ED7-CD893BFAE8B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9625523-02C1-568A-96AD-78940676363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8F2E14A-5D65-243C-FF35-1466231A2FF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73AD231-9244-9493-CD2B-5509673B0988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244A7F-D14D-642C-6F78-0ED971F7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6EC103-2B1B-123C-6DDE-D2814E58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Timeline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B5F6AE-0960-CDE4-7753-39B4FFB1F682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05D6B4-D4DB-4C3C-E830-5846C90DE1B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D65CE-F3EB-AE3E-CA22-D3457F4A2E11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BA12B-3264-FC6C-45C1-C5156059CEF9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pic>
        <p:nvPicPr>
          <p:cNvPr id="12" name="Picture 11" descr="A graph with yellow and red lines&#10;&#10;AI-generated content may be incorrect.">
            <a:extLst>
              <a:ext uri="{FF2B5EF4-FFF2-40B4-BE49-F238E27FC236}">
                <a16:creationId xmlns:a16="http://schemas.microsoft.com/office/drawing/2014/main" id="{6DBFFD8F-A220-8251-B389-87AAEFF0F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1222078"/>
            <a:ext cx="11218984" cy="52270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EE9D5B-1673-5909-98D6-3783C307DEC3}"/>
              </a:ext>
            </a:extLst>
          </p:cNvPr>
          <p:cNvSpPr/>
          <p:nvPr/>
        </p:nvSpPr>
        <p:spPr>
          <a:xfrm>
            <a:off x="993058" y="2703871"/>
            <a:ext cx="2664542" cy="725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B3D3D6-E76F-F105-7B15-9D406DF66401}"/>
              </a:ext>
            </a:extLst>
          </p:cNvPr>
          <p:cNvSpPr/>
          <p:nvPr/>
        </p:nvSpPr>
        <p:spPr>
          <a:xfrm>
            <a:off x="993058" y="3429000"/>
            <a:ext cx="2802194" cy="916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A3330-338E-D8DB-66DE-61C21D400C2E}"/>
              </a:ext>
            </a:extLst>
          </p:cNvPr>
          <p:cNvSpPr/>
          <p:nvPr/>
        </p:nvSpPr>
        <p:spPr>
          <a:xfrm>
            <a:off x="993058" y="4345858"/>
            <a:ext cx="10967202" cy="111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4681D-BA68-E495-4549-6022D8A0BC78}"/>
              </a:ext>
            </a:extLst>
          </p:cNvPr>
          <p:cNvSpPr/>
          <p:nvPr/>
        </p:nvSpPr>
        <p:spPr>
          <a:xfrm>
            <a:off x="993058" y="4345858"/>
            <a:ext cx="5968181" cy="1081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F66D1-FD2C-ECAC-C182-C0CC07ABBB9B}"/>
              </a:ext>
            </a:extLst>
          </p:cNvPr>
          <p:cNvSpPr txBox="1"/>
          <p:nvPr/>
        </p:nvSpPr>
        <p:spPr>
          <a:xfrm>
            <a:off x="3795252" y="4339361"/>
            <a:ext cx="320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DLC 5 with NTM &amp; 6 with EWM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2E19D-FD38-15B6-2F8F-6495C399822C}"/>
              </a:ext>
            </a:extLst>
          </p:cNvPr>
          <p:cNvSpPr txBox="1"/>
          <p:nvPr/>
        </p:nvSpPr>
        <p:spPr>
          <a:xfrm>
            <a:off x="9105889" y="5108298"/>
            <a:ext cx="2854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DLC cases analysis..</a:t>
            </a:r>
          </a:p>
        </p:txBody>
      </p:sp>
    </p:spTree>
    <p:extLst>
      <p:ext uri="{BB962C8B-B14F-4D97-AF65-F5344CB8AC3E}">
        <p14:creationId xmlns:p14="http://schemas.microsoft.com/office/powerpoint/2010/main" val="347625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de-DE" dirty="0"/>
              <a:t>NTM Wind Field Simulations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47EB12-DC77-5E60-9557-9A514B7BFFA7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1333B3-246E-8FFB-CD26-3065E66C1A6E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D3E73-B3DF-D036-6AB5-EF7CB967784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980693-17E3-07B0-3F4E-209D5155987E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261A320-DEA8-E189-CE7C-4B364A76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7" y="1401679"/>
            <a:ext cx="4749219" cy="319818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Simulations at different Wind Speed in NTM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EED0D9-44AF-DDA4-F750-066ACF794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759629"/>
            <a:ext cx="4309404" cy="4617461"/>
          </a:xfrm>
          <a:prstGeom prst="rect">
            <a:avLst/>
          </a:prstGeom>
        </p:spPr>
      </p:pic>
      <p:pic>
        <p:nvPicPr>
          <p:cNvPr id="22" name="Picture 21" descr="A graph of a graph&#10;&#10;AI-generated content may be incorrect.">
            <a:extLst>
              <a:ext uri="{FF2B5EF4-FFF2-40B4-BE49-F238E27FC236}">
                <a16:creationId xmlns:a16="http://schemas.microsoft.com/office/drawing/2014/main" id="{E1BC58DE-1392-DE5D-07C6-8E79F15E5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23" y="1239243"/>
            <a:ext cx="6497037" cy="1706355"/>
          </a:xfrm>
          <a:prstGeom prst="rect">
            <a:avLst/>
          </a:prstGeom>
        </p:spPr>
      </p:pic>
      <p:pic>
        <p:nvPicPr>
          <p:cNvPr id="24" name="Picture 23" descr="A graph of a graph&#10;&#10;AI-generated content may be incorrect.">
            <a:extLst>
              <a:ext uri="{FF2B5EF4-FFF2-40B4-BE49-F238E27FC236}">
                <a16:creationId xmlns:a16="http://schemas.microsoft.com/office/drawing/2014/main" id="{8F5CDB8B-E583-D9F4-C67E-C44BB51BA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223" y="3037044"/>
            <a:ext cx="6497037" cy="1602053"/>
          </a:xfrm>
          <a:prstGeom prst="rect">
            <a:avLst/>
          </a:prstGeom>
        </p:spPr>
      </p:pic>
      <p:pic>
        <p:nvPicPr>
          <p:cNvPr id="31" name="Picture 30" descr="A screenshot of a graph&#10;&#10;AI-generated content may be incorrect.">
            <a:extLst>
              <a:ext uri="{FF2B5EF4-FFF2-40B4-BE49-F238E27FC236}">
                <a16:creationId xmlns:a16="http://schemas.microsoft.com/office/drawing/2014/main" id="{79AF6BE7-DD9D-783B-D990-BA932B177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970" y="4749397"/>
            <a:ext cx="6489290" cy="1767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1566D-ACF1-03FD-F331-40F472D66F80}"/>
              </a:ext>
            </a:extLst>
          </p:cNvPr>
          <p:cNvSpPr txBox="1"/>
          <p:nvPr/>
        </p:nvSpPr>
        <p:spPr>
          <a:xfrm>
            <a:off x="5777854" y="1223329"/>
            <a:ext cx="18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4.0 m/s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44F9D-1314-ABED-FA1E-0C46E97D74A5}"/>
              </a:ext>
            </a:extLst>
          </p:cNvPr>
          <p:cNvSpPr txBox="1"/>
          <p:nvPr/>
        </p:nvSpPr>
        <p:spPr>
          <a:xfrm>
            <a:off x="5853262" y="3097065"/>
            <a:ext cx="18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8.64 m/s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04246-4462-A4DE-2FC8-429CBBAC0F72}"/>
              </a:ext>
            </a:extLst>
          </p:cNvPr>
          <p:cNvSpPr txBox="1"/>
          <p:nvPr/>
        </p:nvSpPr>
        <p:spPr>
          <a:xfrm>
            <a:off x="5853261" y="4815914"/>
            <a:ext cx="18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28.0 m/s</a:t>
            </a:r>
          </a:p>
        </p:txBody>
      </p:sp>
    </p:spTree>
    <p:extLst>
      <p:ext uri="{BB962C8B-B14F-4D97-AF65-F5344CB8AC3E}">
        <p14:creationId xmlns:p14="http://schemas.microsoft.com/office/powerpoint/2010/main" val="247855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E37-32D7-7F93-7630-4CB1CC91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5EF1DBB-5A6B-C6E9-19EB-F90777E380D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9F7CBFC-8C83-ACDE-BE7B-A39D8BF4706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CE499409-643D-397E-F198-2CFF1F4F30D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4D86EC3-40C1-14DB-8B1D-F3C409C1BF4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19310E-E6A0-93A8-7C27-4C981A5D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de-DE" dirty="0"/>
              <a:t>Power Curve for NTM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494294-6D7E-ED2C-C459-38319612DA2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1C86E23-B8CF-6654-91B0-E6FDE7979B3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604F71-CB4C-1B07-6F52-115242714810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49710-96B7-972C-EB6C-678ADDE3159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5BC04-5C91-468E-CE1A-38B426C87F2E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64EA42A-BB49-E8A1-89FD-47BF850E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17" y="1401679"/>
            <a:ext cx="4749219" cy="319818"/>
          </a:xfrm>
        </p:spPr>
        <p:txBody>
          <a:bodyPr>
            <a:normAutofit fontScale="85000" lnSpcReduction="10000"/>
          </a:bodyPr>
          <a:lstStyle/>
          <a:p>
            <a:r>
              <a:rPr lang="en-US" sz="1800" dirty="0"/>
              <a:t>Simulations results at different Wind Speed in NTM</a:t>
            </a:r>
          </a:p>
        </p:txBody>
      </p:sp>
      <p:pic>
        <p:nvPicPr>
          <p:cNvPr id="14" name="Picture 13" descr="A graph with a line&#10;&#10;AI-generated content may be incorrect.">
            <a:extLst>
              <a:ext uri="{FF2B5EF4-FFF2-40B4-BE49-F238E27FC236}">
                <a16:creationId xmlns:a16="http://schemas.microsoft.com/office/drawing/2014/main" id="{2FBC8195-0C9E-2419-71FE-5678D79BF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304" y="1907595"/>
            <a:ext cx="7885730" cy="434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8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8FF8-26DF-DC06-1B1F-F4D35D45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2FA550B-EB6E-3B35-199D-08961285DE1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9242A21-7A46-18F7-EA7C-13BC6DD6066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4AA6590-F0D8-22DD-ED57-A88257127BE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F413404-13D4-6412-411C-C04E3A7567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ABF8E1-3494-A528-5776-6ABC9D4B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5779223" cy="712728"/>
          </a:xfrm>
        </p:spPr>
        <p:txBody>
          <a:bodyPr>
            <a:normAutofit/>
          </a:bodyPr>
          <a:lstStyle/>
          <a:p>
            <a:r>
              <a:rPr lang="en-US" dirty="0" err="1"/>
              <a:t>MExtremes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B54AB6-8A88-1136-3EFD-86057EF7213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B79BB5-F40F-1D1D-0CD5-F61223D41496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5BA4BB8-3F22-F9EA-D25E-727719E5DF0D}"/>
              </a:ext>
            </a:extLst>
          </p:cNvPr>
          <p:cNvSpPr txBox="1">
            <a:spLocks/>
          </p:cNvSpPr>
          <p:nvPr/>
        </p:nvSpPr>
        <p:spPr>
          <a:xfrm>
            <a:off x="1833304" y="6515527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8BC5F-AD6B-0BFD-8145-2C691A0D10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3FA3F-BE9A-5B29-6E7F-D8470A01BA5E}"/>
              </a:ext>
            </a:extLst>
          </p:cNvPr>
          <p:cNvSpPr txBox="1"/>
          <p:nvPr/>
        </p:nvSpPr>
        <p:spPr>
          <a:xfrm>
            <a:off x="484417" y="1361136"/>
            <a:ext cx="1067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MExtremes</a:t>
            </a:r>
            <a:r>
              <a:rPr lang="en-US" b="1" dirty="0"/>
              <a:t> = </a:t>
            </a:r>
            <a:r>
              <a:rPr lang="en-US" b="1" dirty="0" err="1"/>
              <a:t>Matlab</a:t>
            </a:r>
            <a:r>
              <a:rPr lang="en-US" b="1" dirty="0"/>
              <a:t> tool for calculating load extremes</a:t>
            </a:r>
            <a:r>
              <a:rPr lang="en-US" dirty="0"/>
              <a:t> (maximum/minimum values) from wind turbine simulations like </a:t>
            </a:r>
            <a:r>
              <a:rPr lang="en-US" b="1" dirty="0" err="1"/>
              <a:t>OpenFAST</a:t>
            </a:r>
            <a:r>
              <a:rPr lang="en-US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70835F-6612-84A3-817B-2E98DAC9D1E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759A349-AF63-F6F4-7B6E-F0297F85A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866655"/>
              </p:ext>
            </p:extLst>
          </p:nvPr>
        </p:nvGraphicFramePr>
        <p:xfrm>
          <a:off x="692763" y="2028875"/>
          <a:ext cx="10860140" cy="4148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Arrow: Up 2">
            <a:extLst>
              <a:ext uri="{FF2B5EF4-FFF2-40B4-BE49-F238E27FC236}">
                <a16:creationId xmlns:a16="http://schemas.microsoft.com/office/drawing/2014/main" id="{9B9D97D0-0830-1744-4D76-9840AB124869}"/>
              </a:ext>
            </a:extLst>
          </p:cNvPr>
          <p:cNvSpPr/>
          <p:nvPr/>
        </p:nvSpPr>
        <p:spPr>
          <a:xfrm rot="18789375">
            <a:off x="2897958" y="3505397"/>
            <a:ext cx="543138" cy="1195221"/>
          </a:xfrm>
          <a:prstGeom prst="upArrow">
            <a:avLst/>
          </a:prstGeom>
          <a:solidFill>
            <a:srgbClr val="AAB6C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18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0BD9-DCF0-C18F-CBB5-2240AFCB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159757D-E8D1-CE00-CF03-A7F07B52089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D42583EF-B99F-25C0-6636-4C358972E86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A481050-6497-E015-F00B-773A6709737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E3724C-C897-174D-25D3-46EBDC40CF0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D55267-15EC-67CF-04F5-6580CA3F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10869383" cy="712728"/>
          </a:xfrm>
        </p:spPr>
        <p:txBody>
          <a:bodyPr>
            <a:normAutofit/>
          </a:bodyPr>
          <a:lstStyle/>
          <a:p>
            <a:r>
              <a:rPr lang="en-US" dirty="0"/>
              <a:t>DLC 5.1</a:t>
            </a:r>
            <a:endParaRPr lang="de-DE" strike="sngStrik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FC496C-7C4C-B904-0F4A-0008FCB8205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1EC4E4-F3C9-96A7-FF0E-5944B4943812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1B0BF1-DB42-C121-AE22-C67847C8C00B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220A-BD95-30F8-877F-4F2054D7BA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CB964-B397-875A-D59A-1193BB7CEC1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DA08F-37E0-4ACF-F07A-952FC450B700}"/>
              </a:ext>
            </a:extLst>
          </p:cNvPr>
          <p:cNvSpPr txBox="1"/>
          <p:nvPr/>
        </p:nvSpPr>
        <p:spPr>
          <a:xfrm>
            <a:off x="784449" y="1288366"/>
            <a:ext cx="10577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IEC 61400-1 (Ed. 4, 2019)</a:t>
            </a:r>
            <a:r>
              <a:rPr lang="en-US" dirty="0"/>
              <a:t>, </a:t>
            </a:r>
            <a:r>
              <a:rPr lang="en-US" b="1" dirty="0"/>
              <a:t>DLC 5.1</a:t>
            </a:r>
            <a:r>
              <a:rPr lang="en-US" dirty="0"/>
              <a:t> covers </a:t>
            </a:r>
            <a:r>
              <a:rPr lang="en-US" b="1" dirty="0"/>
              <a:t>“Emergency Brake during operation”.</a:t>
            </a:r>
            <a:br>
              <a:rPr lang="en-US" dirty="0"/>
            </a:br>
            <a:r>
              <a:rPr lang="en-US" dirty="0"/>
              <a:t>It’s one of the </a:t>
            </a:r>
            <a:r>
              <a:rPr lang="en-US" b="1" dirty="0"/>
              <a:t>ultimate load</a:t>
            </a:r>
            <a:r>
              <a:rPr lang="en-US" dirty="0"/>
              <a:t> cases, designed to check survival loads while Intense shut down.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2C738F-19E5-3C8F-4131-98B1E5214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267866"/>
              </p:ext>
            </p:extLst>
          </p:nvPr>
        </p:nvGraphicFramePr>
        <p:xfrm>
          <a:off x="1668300" y="3458694"/>
          <a:ext cx="9028195" cy="3018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879">
                  <a:extLst>
                    <a:ext uri="{9D8B030D-6E8A-4147-A177-3AD203B41FA5}">
                      <a16:colId xmlns:a16="http://schemas.microsoft.com/office/drawing/2014/main" val="643763595"/>
                    </a:ext>
                  </a:extLst>
                </a:gridCol>
                <a:gridCol w="4805368">
                  <a:extLst>
                    <a:ext uri="{9D8B030D-6E8A-4147-A177-3AD203B41FA5}">
                      <a16:colId xmlns:a16="http://schemas.microsoft.com/office/drawing/2014/main" val="3207649125"/>
                    </a:ext>
                  </a:extLst>
                </a:gridCol>
                <a:gridCol w="2484948">
                  <a:extLst>
                    <a:ext uri="{9D8B030D-6E8A-4147-A177-3AD203B41FA5}">
                      <a16:colId xmlns:a16="http://schemas.microsoft.com/office/drawing/2014/main" val="2938193213"/>
                    </a:ext>
                  </a:extLst>
                </a:gridCol>
              </a:tblGrid>
              <a:tr h="520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Turbine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Typical Wind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18676"/>
                  </a:ext>
                </a:extLst>
              </a:tr>
              <a:tr h="604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DLC 5.1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Operation /power production plus activation of emergency brake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546504"/>
                  </a:ext>
                </a:extLst>
              </a:tr>
              <a:tr h="397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DLC 5.1a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Rated wind speed ~ 10 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564286"/>
                  </a:ext>
                </a:extLst>
              </a:tr>
              <a:tr h="397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DLC 5.1b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Rated wind speed + 2 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505568"/>
                  </a:ext>
                </a:extLst>
              </a:tr>
              <a:tr h="423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DLC 5.1c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Rated wind speed - 2 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008101"/>
                  </a:ext>
                </a:extLst>
              </a:tr>
              <a:tr h="604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DLC 5.1d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Cut-out wind speed - 28 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NTM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225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63CB42-99BA-15A1-8D2A-A0BD1D7EE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39566"/>
              </p:ext>
            </p:extLst>
          </p:nvPr>
        </p:nvGraphicFramePr>
        <p:xfrm>
          <a:off x="4001949" y="1922607"/>
          <a:ext cx="420396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3969">
                  <a:extLst>
                    <a:ext uri="{9D8B030D-6E8A-4147-A177-3AD203B41FA5}">
                      <a16:colId xmlns:a16="http://schemas.microsoft.com/office/drawing/2014/main" val="643763595"/>
                    </a:ext>
                  </a:extLst>
                </a:gridCol>
              </a:tblGrid>
              <a:tr h="249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Activity in Servodyn.dat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18676"/>
                  </a:ext>
                </a:extLst>
              </a:tr>
              <a:tr h="27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Pitch action adjusted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546504"/>
                  </a:ext>
                </a:extLst>
              </a:tr>
              <a:tr h="27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Generator switch off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564286"/>
                  </a:ext>
                </a:extLst>
              </a:tr>
              <a:tr h="27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Disc brake application started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150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38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2FB20-2154-8C8A-10D6-86364EBD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073A832-216C-A8DB-2039-AAEBC343DA0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6F6A9FB7-E699-4FE7-02F0-94D48AABC11A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38BE648A-BE83-EFB2-CC8A-2E5B993AB84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4709005-2E10-E212-04D3-4DD0DF760963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CE1203-2896-675F-8E03-2C2962E6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436367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1B5D7-54B2-9393-6944-3B55719E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dirty="0"/>
              <a:t>Simulation for DLC 5.1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15D1D1-CCC6-911D-C6CB-8A06FD5407D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F1D3D4D-81BC-3864-0204-4CE5860306A1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5B506-ACF9-0E57-76F0-5A3829734A0A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3F512-BC1D-7DC1-721B-AE2D9D915062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ACB610F4-9801-AF70-D8C1-CED2EE4C2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43" y="3923036"/>
            <a:ext cx="11218983" cy="2524530"/>
          </a:xfrm>
          <a:prstGeom prst="rect">
            <a:avLst/>
          </a:prstGeom>
        </p:spPr>
      </p:pic>
      <p:pic>
        <p:nvPicPr>
          <p:cNvPr id="14" name="Picture 13" descr="A white background with blue and green lines&#10;&#10;AI-generated content may be incorrect.">
            <a:extLst>
              <a:ext uri="{FF2B5EF4-FFF2-40B4-BE49-F238E27FC236}">
                <a16:creationId xmlns:a16="http://schemas.microsoft.com/office/drawing/2014/main" id="{B4681732-375C-E222-B23F-EF3150B45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42" y="1260889"/>
            <a:ext cx="11218984" cy="25245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0074665-84C2-6B2B-3435-8E3B7EBAC949}"/>
              </a:ext>
            </a:extLst>
          </p:cNvPr>
          <p:cNvSpPr txBox="1"/>
          <p:nvPr/>
        </p:nvSpPr>
        <p:spPr>
          <a:xfrm>
            <a:off x="96618" y="1199146"/>
            <a:ext cx="763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8m/s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F1D24-0C5E-98F0-5ED5-E3EA34B65CF9}"/>
              </a:ext>
            </a:extLst>
          </p:cNvPr>
          <p:cNvSpPr txBox="1"/>
          <p:nvPr/>
        </p:nvSpPr>
        <p:spPr>
          <a:xfrm>
            <a:off x="-14781" y="3951909"/>
            <a:ext cx="92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10m/s</a:t>
            </a:r>
          </a:p>
        </p:txBody>
      </p:sp>
    </p:spTree>
    <p:extLst>
      <p:ext uri="{BB962C8B-B14F-4D97-AF65-F5344CB8AC3E}">
        <p14:creationId xmlns:p14="http://schemas.microsoft.com/office/powerpoint/2010/main" val="16896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CF81A-89AE-6A7D-5979-48ED21FD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E03CF96-185B-2658-DA0E-BB323964A50C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033A1E3-BA81-803A-8464-7739BEF74DE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836B583-9013-9F3B-7492-85F594D35CC2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D4E28B6-9FE1-A316-96B5-DF2B92A5A2A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40897B-2D2D-B14D-4532-C6060030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76154" y="6492875"/>
            <a:ext cx="436367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4E4E7B-DC09-CAB5-9681-66C2BE3C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dirty="0"/>
              <a:t>Simulation for DLC 5.1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76CCC5-BE8F-3059-F240-FFDA685B811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EFF1AF-0F40-9658-C5D3-F01172ED3D3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B11CD-D484-AA86-FAB7-480CDE1803BD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A3EBF-509E-2FE2-45CB-40228F5AE1FF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27666B-EA1C-E666-FE3A-8073415F2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417" y="3923036"/>
            <a:ext cx="11218982" cy="25245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2EAC02-1ED1-2974-1621-7BEE581E0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442" y="1222078"/>
            <a:ext cx="11218983" cy="2524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6A2507-BEA4-5513-11BF-F23E07587FC1}"/>
              </a:ext>
            </a:extLst>
          </p:cNvPr>
          <p:cNvSpPr txBox="1"/>
          <p:nvPr/>
        </p:nvSpPr>
        <p:spPr>
          <a:xfrm>
            <a:off x="0" y="1209404"/>
            <a:ext cx="86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12m/s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2CDEC-BE9D-F88A-9804-11F739D34488}"/>
              </a:ext>
            </a:extLst>
          </p:cNvPr>
          <p:cNvSpPr txBox="1"/>
          <p:nvPr/>
        </p:nvSpPr>
        <p:spPr>
          <a:xfrm>
            <a:off x="-35168" y="3963454"/>
            <a:ext cx="86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28m/s</a:t>
            </a:r>
          </a:p>
        </p:txBody>
      </p:sp>
    </p:spTree>
    <p:extLst>
      <p:ext uri="{BB962C8B-B14F-4D97-AF65-F5344CB8AC3E}">
        <p14:creationId xmlns:p14="http://schemas.microsoft.com/office/powerpoint/2010/main" val="342273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0EFD-879B-333A-DADF-811203A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1146A40-1723-98E5-0A30-1B424176E4E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A702EAB-710C-AE5B-0FAC-DE25147E387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63D863B-C1BD-E06D-7371-B341E5FB197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9F3BE4-1887-9E96-1479-96A7764214B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7EE61D-15D7-3F86-7CDD-CCB0A1FC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 &amp; Future Plan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2EB72-B6B0-6F50-0553-8A7EBA47EF3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F80CF7-D661-ECEA-C323-8A635239A2B9}"/>
              </a:ext>
            </a:extLst>
          </p:cNvPr>
          <p:cNvSpPr txBox="1"/>
          <p:nvPr/>
        </p:nvSpPr>
        <p:spPr>
          <a:xfrm>
            <a:off x="307436" y="3931450"/>
            <a:ext cx="53496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last week we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Configured Wind Simulations for NTM with different wind speeds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Configured Simulation with DLC 5.1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Understand use of </a:t>
            </a:r>
            <a:r>
              <a:rPr lang="en-US" dirty="0" err="1"/>
              <a:t>MExtremes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Provided forces and moments at different section of turbine to other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7E92C-A5CB-BC0F-09F3-87A452931C35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120C60-37B7-21C9-2762-545988EF49AC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270B-C2B0-1B61-E8C4-35B5C0C53617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F063-5965-7429-D9BA-AB5A1465307A}"/>
              </a:ext>
            </a:extLst>
          </p:cNvPr>
          <p:cNvSpPr txBox="1"/>
          <p:nvPr/>
        </p:nvSpPr>
        <p:spPr>
          <a:xfrm>
            <a:off x="6440129" y="4098005"/>
            <a:ext cx="57323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next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simulations with DLC 5.1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 </a:t>
            </a:r>
            <a:r>
              <a:rPr lang="en-US" dirty="0" err="1"/>
              <a:t>OpenFAST</a:t>
            </a:r>
            <a:r>
              <a:rPr lang="en-US" dirty="0"/>
              <a:t> for updated parameter of turbine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 Simulation with other DLC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different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Calculation of </a:t>
            </a:r>
            <a:r>
              <a:rPr lang="en-US" dirty="0" err="1"/>
              <a:t>MExtremes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7E8D6-39B2-276D-FB3B-5F55EE4C3853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Md Aman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D9070-EA8A-C737-BF6E-72AB911F088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5060" y="1293664"/>
            <a:ext cx="4928559" cy="23161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E2EDDC-AB86-9112-6173-2AEB4ADE008E}"/>
              </a:ext>
            </a:extLst>
          </p:cNvPr>
          <p:cNvSpPr txBox="1"/>
          <p:nvPr/>
        </p:nvSpPr>
        <p:spPr>
          <a:xfrm>
            <a:off x="484416" y="1396066"/>
            <a:ext cx="5444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hub coordinate system</a:t>
            </a:r>
            <a:r>
              <a:rPr lang="en-US" dirty="0"/>
              <a:t> is used because it stays fixed with the nacelle, making rotor loads easy to interpret, sum, and transfer to the drivetrain and control systems — without the complication of rotating coordinates.</a:t>
            </a:r>
          </a:p>
        </p:txBody>
      </p:sp>
    </p:spTree>
    <p:extLst>
      <p:ext uri="{BB962C8B-B14F-4D97-AF65-F5344CB8AC3E}">
        <p14:creationId xmlns:p14="http://schemas.microsoft.com/office/powerpoint/2010/main" val="407804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Load Reports of the OPTIMUS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GL Guideline for the Certification of Wind Turbines Edition 2010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Times New Roman" panose="02020603050405020304" pitchFamily="18" charset="0"/>
              </a:rPr>
              <a:t>Loads and site conditions for wind turbines, DNVGL-ST-437,Edition November 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IEC 61400-1 2019-02, Ed. 4.0/ DNVGL-ST-0437 Loads and site conditions for wind turbines 11-2016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</a:t>
            </a:r>
            <a:r>
              <a:rPr lang="en-GB" dirty="0" err="1">
                <a:cs typeface="Times New Roman" panose="02020603050405020304" pitchFamily="18" charset="0"/>
              </a:rPr>
              <a:t>OpenFAST</a:t>
            </a:r>
            <a:r>
              <a:rPr lang="en-GB" dirty="0">
                <a:cs typeface="Times New Roman" panose="02020603050405020304" pitchFamily="18" charset="0"/>
              </a:rPr>
              <a:t> &amp; NREL 5 MW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D0B4C1C-527A-83A2-90B3-666A056F7C49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04/11/2025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E24DD-66BD-8AE2-F6E8-521E73DAAA04}"/>
              </a:ext>
            </a:extLst>
          </p:cNvPr>
          <p:cNvSpPr txBox="1"/>
          <p:nvPr/>
        </p:nvSpPr>
        <p:spPr>
          <a:xfrm>
            <a:off x="5430929" y="6559591"/>
            <a:ext cx="1346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728</Words>
  <Application>Microsoft Office PowerPoint</Application>
  <PresentationFormat>Widescreen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Custom Design</vt:lpstr>
      <vt:lpstr>Weekly report: Load &amp; Dynamics</vt:lpstr>
      <vt:lpstr>Agenda For Loads &amp; Dynamics</vt:lpstr>
      <vt:lpstr>Timeline</vt:lpstr>
      <vt:lpstr>NTM Wind Field Simulations</vt:lpstr>
      <vt:lpstr>Power Curve for NTM</vt:lpstr>
      <vt:lpstr>MExtremes</vt:lpstr>
      <vt:lpstr>DLC 5.1</vt:lpstr>
      <vt:lpstr>Simulation for DLC 5.1</vt:lpstr>
      <vt:lpstr>Simulation for DLC 5.1</vt:lpstr>
      <vt:lpstr>Conclusion &amp; Future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70</cp:revision>
  <dcterms:created xsi:type="dcterms:W3CDTF">2025-07-21T13:11:31Z</dcterms:created>
  <dcterms:modified xsi:type="dcterms:W3CDTF">2025-11-02T22:05:35Z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