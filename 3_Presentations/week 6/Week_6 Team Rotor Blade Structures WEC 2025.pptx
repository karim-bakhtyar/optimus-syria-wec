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63" r:id="rId3"/>
    <p:sldId id="265" r:id="rId4"/>
    <p:sldId id="271" r:id="rId5"/>
    <p:sldId id="292" r:id="rId6"/>
    <p:sldId id="279" r:id="rId7"/>
    <p:sldId id="281" r:id="rId8"/>
    <p:sldId id="291" r:id="rId9"/>
    <p:sldId id="29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92"/>
            <p14:sldId id="279"/>
            <p14:sldId id="281"/>
            <p14:sldId id="291"/>
            <p14:sldId id="293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E8BA"/>
    <a:srgbClr val="CCCC00"/>
    <a:srgbClr val="FFFF99"/>
    <a:srgbClr val="FFFFFF"/>
    <a:srgbClr val="8ECEFA"/>
    <a:srgbClr val="92C6E6"/>
    <a:srgbClr val="80D2F7"/>
    <a:srgbClr val="7ED1F7"/>
    <a:srgbClr val="A1D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i.org/10.1016/j.marstruc.2020.10285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>
                <a:solidFill>
                  <a:srgbClr val="0000FF"/>
                </a:solidFill>
              </a:rPr>
              <a:t>Presented by – Dongsuk Kim (770143)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- 6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04.11.2025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Rotor Blade Structures Team Time line</a:t>
            </a:r>
          </a:p>
          <a:p>
            <a:pPr lvl="0"/>
            <a:r>
              <a:rPr lang="en-US" dirty="0"/>
              <a:t>Team Responsibilities and Output Flow</a:t>
            </a:r>
          </a:p>
          <a:p>
            <a:pPr lvl="0"/>
            <a:r>
              <a:rPr lang="en-US" altLang="ko-KR" dirty="0"/>
              <a:t>Temporary Structural Design limits for 80m Blade </a:t>
            </a:r>
          </a:p>
          <a:p>
            <a:pPr lvl="0"/>
            <a:r>
              <a:rPr lang="en-IN" altLang="ko-KR" dirty="0"/>
              <a:t>Material selection for 80m Blade </a:t>
            </a:r>
          </a:p>
          <a:p>
            <a:pPr marL="0" lvl="0" indent="0">
              <a:buNone/>
            </a:pPr>
            <a:r>
              <a:rPr lang="de-DE" dirty="0"/>
              <a:t>         4.1 </a:t>
            </a:r>
            <a:r>
              <a:rPr lang="en-IN" altLang="ko-KR" dirty="0">
                <a:solidFill>
                  <a:sysClr val="windowText" lastClr="000000"/>
                </a:solidFill>
              </a:rPr>
              <a:t>Design limit and comparison</a:t>
            </a:r>
          </a:p>
          <a:p>
            <a:pPr marL="0" lvl="0" indent="0">
              <a:buNone/>
            </a:pPr>
            <a:r>
              <a:rPr lang="en-US" dirty="0"/>
              <a:t>         4.2 </a:t>
            </a:r>
            <a:r>
              <a:rPr lang="en-IN" altLang="ko-KR" dirty="0">
                <a:solidFill>
                  <a:sysClr val="windowText" lastClr="000000"/>
                </a:solidFill>
              </a:rPr>
              <a:t>Main Blade Materials and Cost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marL="0" lvl="0" indent="0">
              <a:buNone/>
            </a:pPr>
            <a:r>
              <a:rPr lang="en-US" dirty="0"/>
              <a:t>         4.3 </a:t>
            </a:r>
            <a:r>
              <a:rPr lang="en-IN" altLang="ko-KR" dirty="0">
                <a:solidFill>
                  <a:sysClr val="windowText" lastClr="000000"/>
                </a:solidFill>
              </a:rPr>
              <a:t>Cost Reduction Strategies </a:t>
            </a:r>
            <a:endParaRPr lang="en-US" dirty="0"/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From Oct  to Nov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E40436-4E05-BC1E-5E79-EE69033A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8" y="1886672"/>
            <a:ext cx="11721569" cy="4149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2714573" y="3978803"/>
            <a:ext cx="9273941" cy="527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A1A8F67-088F-BBCB-D924-172CA1A234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altLang="ko-KR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70E9-45A2-D232-323F-B7094E0B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05148A-3B47-2F62-21FE-C9B5E2F27A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4410EBF-F478-C909-4C89-F724F0B9E6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55FA71-8A0B-DE25-6A5B-7C560DB3BF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BB502E3-332D-E845-FC31-7365A72E71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B4973-3CA3-AC55-A186-06A368FF25ED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Tem responsibilities and Output Flow–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9AB88F-60F4-9386-856F-5BA607A0EF40}"/>
              </a:ext>
            </a:extLst>
          </p:cNvPr>
          <p:cNvSpPr/>
          <p:nvPr/>
        </p:nvSpPr>
        <p:spPr>
          <a:xfrm>
            <a:off x="838200" y="2416658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AD47FA-1DFF-DB87-B212-8B0561595222}"/>
              </a:ext>
            </a:extLst>
          </p:cNvPr>
          <p:cNvSpPr/>
          <p:nvPr/>
        </p:nvSpPr>
        <p:spPr>
          <a:xfrm>
            <a:off x="4198456" y="1881581"/>
            <a:ext cx="2693919" cy="1685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BA3D0-4DBB-539E-2029-FF052CBF6521}"/>
              </a:ext>
            </a:extLst>
          </p:cNvPr>
          <p:cNvSpPr txBox="1"/>
          <p:nvPr/>
        </p:nvSpPr>
        <p:spPr>
          <a:xfrm>
            <a:off x="1045092" y="2562132"/>
            <a:ext cx="298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Design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1E8C7B-38FF-FA90-F920-A2D8D7338287}"/>
              </a:ext>
            </a:extLst>
          </p:cNvPr>
          <p:cNvSpPr/>
          <p:nvPr/>
        </p:nvSpPr>
        <p:spPr>
          <a:xfrm>
            <a:off x="4180307" y="1374382"/>
            <a:ext cx="2711918" cy="442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Output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804110-F120-8BEA-9E08-11707354D665}"/>
              </a:ext>
            </a:extLst>
          </p:cNvPr>
          <p:cNvSpPr/>
          <p:nvPr/>
        </p:nvSpPr>
        <p:spPr>
          <a:xfrm>
            <a:off x="838200" y="3709622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A12B8-737A-E894-C6A3-23573005FD4D}"/>
              </a:ext>
            </a:extLst>
          </p:cNvPr>
          <p:cNvSpPr txBox="1"/>
          <p:nvPr/>
        </p:nvSpPr>
        <p:spPr>
          <a:xfrm>
            <a:off x="894617" y="3855096"/>
            <a:ext cx="303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Structure Team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FB85D1-60E7-8DA4-F065-5E8650E86E8C}"/>
              </a:ext>
            </a:extLst>
          </p:cNvPr>
          <p:cNvSpPr/>
          <p:nvPr/>
        </p:nvSpPr>
        <p:spPr>
          <a:xfrm>
            <a:off x="838200" y="5003643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6C2E99-335B-ED2E-E4FB-30B5434B59A6}"/>
              </a:ext>
            </a:extLst>
          </p:cNvPr>
          <p:cNvSpPr txBox="1"/>
          <p:nvPr/>
        </p:nvSpPr>
        <p:spPr>
          <a:xfrm>
            <a:off x="1045092" y="5137542"/>
            <a:ext cx="279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Load &amp; Dynamics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765059A-7D22-8EA3-2582-60BD4A7A1BB7}"/>
              </a:ext>
            </a:extLst>
          </p:cNvPr>
          <p:cNvCxnSpPr>
            <a:endCxn id="5" idx="0"/>
          </p:cNvCxnSpPr>
          <p:nvPr/>
        </p:nvCxnSpPr>
        <p:spPr>
          <a:xfrm flipH="1">
            <a:off x="2409402" y="1611137"/>
            <a:ext cx="150" cy="8055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7A42E7-CCB1-E47E-957A-1AC1E539643A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409402" y="3053788"/>
            <a:ext cx="0" cy="655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7D61411-CD34-2714-5A78-C5AC249F02E2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409402" y="4417258"/>
            <a:ext cx="0" cy="5863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DABBF69-9068-EAA8-984B-4A47F8D743C8}"/>
              </a:ext>
            </a:extLst>
          </p:cNvPr>
          <p:cNvCxnSpPr>
            <a:stCxn id="20" idx="2"/>
          </p:cNvCxnSpPr>
          <p:nvPr/>
        </p:nvCxnSpPr>
        <p:spPr>
          <a:xfrm>
            <a:off x="2409402" y="5640773"/>
            <a:ext cx="0" cy="7517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0424C7-AC2A-54C4-8980-6E7BC084388C}"/>
              </a:ext>
            </a:extLst>
          </p:cNvPr>
          <p:cNvSpPr txBox="1"/>
          <p:nvPr/>
        </p:nvSpPr>
        <p:spPr>
          <a:xfrm>
            <a:off x="4249979" y="1914536"/>
            <a:ext cx="25383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arenR"/>
            </a:pPr>
            <a:r>
              <a:rPr lang="en-US" altLang="ko-KR" sz="1400" dirty="0"/>
              <a:t>Airfoil sequence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Chord length(m)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Relative thickness(t/c)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Twist distribution(deg)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Design Tip Speed Ratio(TSR)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Power coefficient(cp)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Radial positions(m)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F4ED3D8-DC12-5C76-B7C9-F2801EB951D6}"/>
              </a:ext>
            </a:extLst>
          </p:cNvPr>
          <p:cNvCxnSpPr>
            <a:cxnSpLocks/>
          </p:cNvCxnSpPr>
          <p:nvPr/>
        </p:nvCxnSpPr>
        <p:spPr>
          <a:xfrm flipV="1">
            <a:off x="2652620" y="4369902"/>
            <a:ext cx="0" cy="630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332DDBA-7EC5-F2F6-7642-764E74373DB8}"/>
              </a:ext>
            </a:extLst>
          </p:cNvPr>
          <p:cNvCxnSpPr/>
          <p:nvPr/>
        </p:nvCxnSpPr>
        <p:spPr>
          <a:xfrm flipV="1">
            <a:off x="2652620" y="3053788"/>
            <a:ext cx="0" cy="6040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A6AB162-E301-525A-686F-C923DD7C2770}"/>
              </a:ext>
            </a:extLst>
          </p:cNvPr>
          <p:cNvSpPr txBox="1"/>
          <p:nvPr/>
        </p:nvSpPr>
        <p:spPr>
          <a:xfrm>
            <a:off x="1721885" y="3219943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3C655-9FAD-6F7B-21FD-658F11DCA30D}"/>
              </a:ext>
            </a:extLst>
          </p:cNvPr>
          <p:cNvSpPr txBox="1"/>
          <p:nvPr/>
        </p:nvSpPr>
        <p:spPr>
          <a:xfrm>
            <a:off x="1721885" y="4494104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10C7D-1391-698E-FD38-6EE7F55C5D6A}"/>
              </a:ext>
            </a:extLst>
          </p:cNvPr>
          <p:cNvSpPr txBox="1"/>
          <p:nvPr/>
        </p:nvSpPr>
        <p:spPr>
          <a:xfrm>
            <a:off x="2809179" y="4505920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094B7C-71C4-5BD7-E9D1-52CF77BDDBE7}"/>
              </a:ext>
            </a:extLst>
          </p:cNvPr>
          <p:cNvSpPr txBox="1"/>
          <p:nvPr/>
        </p:nvSpPr>
        <p:spPr>
          <a:xfrm>
            <a:off x="2764798" y="3219943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6D9F18-A318-5009-0705-FF672AF192FA}"/>
              </a:ext>
            </a:extLst>
          </p:cNvPr>
          <p:cNvSpPr/>
          <p:nvPr/>
        </p:nvSpPr>
        <p:spPr>
          <a:xfrm>
            <a:off x="4198456" y="3667111"/>
            <a:ext cx="2693919" cy="10620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901679-8B08-43A1-8BD9-2A29184E737B}"/>
              </a:ext>
            </a:extLst>
          </p:cNvPr>
          <p:cNvSpPr txBox="1"/>
          <p:nvPr/>
        </p:nvSpPr>
        <p:spPr>
          <a:xfrm>
            <a:off x="4249979" y="3700066"/>
            <a:ext cx="264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pt-BR" altLang="ko-KR" sz="1400" dirty="0"/>
              <a:t>Deflection, δ(r) / δ_tip</a:t>
            </a:r>
            <a:r>
              <a:rPr lang="en-US" altLang="ko-KR" sz="1400" dirty="0"/>
              <a:t>Chord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Spar Cap Thickness, </a:t>
            </a:r>
            <a:r>
              <a:rPr lang="en-US" altLang="ko-KR" sz="1400" dirty="0" err="1"/>
              <a:t>t_spar</a:t>
            </a:r>
            <a:r>
              <a:rPr lang="en-US" altLang="ko-KR" sz="1400" dirty="0"/>
              <a:t>(r)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Elastic Modulus, E_L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Mass Distribution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B4C64D-22CC-8F4E-532C-1AB46677C563}"/>
              </a:ext>
            </a:extLst>
          </p:cNvPr>
          <p:cNvSpPr/>
          <p:nvPr/>
        </p:nvSpPr>
        <p:spPr>
          <a:xfrm>
            <a:off x="4198306" y="4892635"/>
            <a:ext cx="2693919" cy="892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7D739-CAA2-94B5-D513-BB74464FF5FF}"/>
              </a:ext>
            </a:extLst>
          </p:cNvPr>
          <p:cNvSpPr txBox="1"/>
          <p:nvPr/>
        </p:nvSpPr>
        <p:spPr>
          <a:xfrm>
            <a:off x="4249829" y="4948740"/>
            <a:ext cx="2538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altLang="ko-KR" sz="1400" dirty="0"/>
              <a:t>Static Load Cases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Dynamic Load Cases, DLC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Natural Frequencies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23B66DC-5102-B08D-A8A8-CECF596703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9910" b="28899"/>
          <a:stretch>
            <a:fillRect/>
          </a:stretch>
        </p:blipFill>
        <p:spPr>
          <a:xfrm>
            <a:off x="8364010" y="1478610"/>
            <a:ext cx="1691130" cy="4298185"/>
          </a:xfrm>
          <a:prstGeom prst="rect">
            <a:avLst/>
          </a:prstGeom>
        </p:spPr>
      </p:pic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A74D959-4C5C-4FF6-C2DE-1F2569767649}"/>
              </a:ext>
            </a:extLst>
          </p:cNvPr>
          <p:cNvCxnSpPr>
            <a:cxnSpLocks/>
          </p:cNvCxnSpPr>
          <p:nvPr/>
        </p:nvCxnSpPr>
        <p:spPr>
          <a:xfrm flipV="1">
            <a:off x="10396596" y="1492293"/>
            <a:ext cx="0" cy="367001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FD0BDEC-5671-A4B8-7A16-ECEBBE9A1544}"/>
              </a:ext>
            </a:extLst>
          </p:cNvPr>
          <p:cNvCxnSpPr/>
          <p:nvPr/>
        </p:nvCxnSpPr>
        <p:spPr>
          <a:xfrm>
            <a:off x="9469493" y="1450570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CE1E05C-08D1-1841-9833-6707B9095FBD}"/>
              </a:ext>
            </a:extLst>
          </p:cNvPr>
          <p:cNvCxnSpPr/>
          <p:nvPr/>
        </p:nvCxnSpPr>
        <p:spPr>
          <a:xfrm>
            <a:off x="9816118" y="5884826"/>
            <a:ext cx="1428551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70DD4FE-BB57-93EF-13BD-66681B85E8FD}"/>
              </a:ext>
            </a:extLst>
          </p:cNvPr>
          <p:cNvSpPr/>
          <p:nvPr/>
        </p:nvSpPr>
        <p:spPr>
          <a:xfrm>
            <a:off x="4180307" y="5782707"/>
            <a:ext cx="8011693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503C6C-A930-E03A-D0DD-3DCF4092E1D9}"/>
              </a:ext>
            </a:extLst>
          </p:cNvPr>
          <p:cNvCxnSpPr/>
          <p:nvPr/>
        </p:nvCxnSpPr>
        <p:spPr>
          <a:xfrm flipV="1">
            <a:off x="9036569" y="2828246"/>
            <a:ext cx="0" cy="290856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740CD01-C025-5E19-B190-FC27520A4AC7}"/>
              </a:ext>
            </a:extLst>
          </p:cNvPr>
          <p:cNvCxnSpPr/>
          <p:nvPr/>
        </p:nvCxnSpPr>
        <p:spPr>
          <a:xfrm>
            <a:off x="9575591" y="5162307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A30D58-BB16-0E1C-328F-60141083EC00}"/>
              </a:ext>
            </a:extLst>
          </p:cNvPr>
          <p:cNvSpPr/>
          <p:nvPr/>
        </p:nvSpPr>
        <p:spPr>
          <a:xfrm>
            <a:off x="10581193" y="2868000"/>
            <a:ext cx="1299600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RD 160m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E0696D-8E22-758A-E730-5AFB700036BC}"/>
              </a:ext>
            </a:extLst>
          </p:cNvPr>
          <p:cNvSpPr/>
          <p:nvPr/>
        </p:nvSpPr>
        <p:spPr>
          <a:xfrm>
            <a:off x="7667729" y="3567226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HH 120m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62C5D6-4F0A-376C-BB8E-CEF10265D4AD}"/>
              </a:ext>
            </a:extLst>
          </p:cNvPr>
          <p:cNvSpPr txBox="1"/>
          <p:nvPr/>
        </p:nvSpPr>
        <p:spPr>
          <a:xfrm>
            <a:off x="7967501" y="3183382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69C6D-C814-6F89-7BD9-79D751ABD5E1}"/>
              </a:ext>
            </a:extLst>
          </p:cNvPr>
          <p:cNvSpPr txBox="1"/>
          <p:nvPr/>
        </p:nvSpPr>
        <p:spPr>
          <a:xfrm>
            <a:off x="8790823" y="2616080"/>
            <a:ext cx="720000" cy="144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US" altLang="ko-KR" sz="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Optimus</a:t>
            </a:r>
            <a:endParaRPr lang="ko-KR" altLang="en-US" sz="800" b="1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5C9F9CC-CF4D-4687-C75A-378E98F0C08E}"/>
              </a:ext>
            </a:extLst>
          </p:cNvPr>
          <p:cNvSpPr/>
          <p:nvPr/>
        </p:nvSpPr>
        <p:spPr>
          <a:xfrm>
            <a:off x="7667729" y="2099050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WTG 5MW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A33184-EB1F-A726-663D-754D3FF840BD}"/>
              </a:ext>
            </a:extLst>
          </p:cNvPr>
          <p:cNvSpPr txBox="1"/>
          <p:nvPr/>
        </p:nvSpPr>
        <p:spPr>
          <a:xfrm>
            <a:off x="7968876" y="1722538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C9CD1875-42C2-61D0-3F2E-98BBB2292EB6}"/>
              </a:ext>
            </a:extLst>
          </p:cNvPr>
          <p:cNvSpPr/>
          <p:nvPr/>
        </p:nvSpPr>
        <p:spPr>
          <a:xfrm>
            <a:off x="6985000" y="1914536"/>
            <a:ext cx="248831" cy="161856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B8F78-0505-8783-E029-27062CF91C7C}"/>
              </a:ext>
            </a:extLst>
          </p:cNvPr>
          <p:cNvSpPr txBox="1"/>
          <p:nvPr/>
        </p:nvSpPr>
        <p:spPr>
          <a:xfrm>
            <a:off x="7208120" y="2552120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BEM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BA302-E481-8298-284B-E0958ECD731C}"/>
              </a:ext>
            </a:extLst>
          </p:cNvPr>
          <p:cNvSpPr txBox="1"/>
          <p:nvPr/>
        </p:nvSpPr>
        <p:spPr>
          <a:xfrm>
            <a:off x="7208120" y="4051821"/>
            <a:ext cx="1230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EB Theory</a:t>
            </a:r>
            <a:endParaRPr lang="ko-KR" altLang="en-US" sz="1600" b="1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C202E4BA-78B1-F7F8-DE73-1B0C394A7652}"/>
              </a:ext>
            </a:extLst>
          </p:cNvPr>
          <p:cNvSpPr/>
          <p:nvPr/>
        </p:nvSpPr>
        <p:spPr>
          <a:xfrm>
            <a:off x="6992381" y="3728859"/>
            <a:ext cx="248831" cy="96663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EE3CF623-2DCA-6A17-F0E1-CCF96A7E9DDC}"/>
              </a:ext>
            </a:extLst>
          </p:cNvPr>
          <p:cNvSpPr/>
          <p:nvPr/>
        </p:nvSpPr>
        <p:spPr>
          <a:xfrm>
            <a:off x="7028263" y="4916481"/>
            <a:ext cx="248831" cy="82032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22FE8-49B2-C57A-7F7B-C415BA3E97D1}"/>
              </a:ext>
            </a:extLst>
          </p:cNvPr>
          <p:cNvSpPr txBox="1"/>
          <p:nvPr/>
        </p:nvSpPr>
        <p:spPr>
          <a:xfrm>
            <a:off x="7243964" y="5164192"/>
            <a:ext cx="1003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SLC,DLC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8CD30-1DF1-8F60-3D42-076CA983B728}"/>
              </a:ext>
            </a:extLst>
          </p:cNvPr>
          <p:cNvSpPr txBox="1"/>
          <p:nvPr/>
        </p:nvSpPr>
        <p:spPr>
          <a:xfrm>
            <a:off x="10881858" y="2477563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21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799" y="667929"/>
            <a:ext cx="8906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Temporary Structural Design limits for 80m Blade </a:t>
            </a:r>
            <a:r>
              <a:rPr lang="en-IN" sz="2800" b="1" dirty="0"/>
              <a:t>–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9A34F8-6A97-3CFE-7808-F1B2DD4D6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54384"/>
              </p:ext>
            </p:extLst>
          </p:nvPr>
        </p:nvGraphicFramePr>
        <p:xfrm>
          <a:off x="804328" y="1352669"/>
          <a:ext cx="10524067" cy="4607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97">
                  <a:extLst>
                    <a:ext uri="{9D8B030D-6E8A-4147-A177-3AD203B41FA5}">
                      <a16:colId xmlns:a16="http://schemas.microsoft.com/office/drawing/2014/main" val="1249714768"/>
                    </a:ext>
                  </a:extLst>
                </a:gridCol>
                <a:gridCol w="1765328">
                  <a:extLst>
                    <a:ext uri="{9D8B030D-6E8A-4147-A177-3AD203B41FA5}">
                      <a16:colId xmlns:a16="http://schemas.microsoft.com/office/drawing/2014/main" val="216819438"/>
                    </a:ext>
                  </a:extLst>
                </a:gridCol>
                <a:gridCol w="2138763">
                  <a:extLst>
                    <a:ext uri="{9D8B030D-6E8A-4147-A177-3AD203B41FA5}">
                      <a16:colId xmlns:a16="http://schemas.microsoft.com/office/drawing/2014/main" val="4116736744"/>
                    </a:ext>
                  </a:extLst>
                </a:gridCol>
                <a:gridCol w="2130274">
                  <a:extLst>
                    <a:ext uri="{9D8B030D-6E8A-4147-A177-3AD203B41FA5}">
                      <a16:colId xmlns:a16="http://schemas.microsoft.com/office/drawing/2014/main" val="428825084"/>
                    </a:ext>
                  </a:extLst>
                </a:gridCol>
                <a:gridCol w="2147250">
                  <a:extLst>
                    <a:ext uri="{9D8B030D-6E8A-4147-A177-3AD203B41FA5}">
                      <a16:colId xmlns:a16="http://schemas.microsoft.com/office/drawing/2014/main" val="397719325"/>
                    </a:ext>
                  </a:extLst>
                </a:gridCol>
                <a:gridCol w="1943555">
                  <a:extLst>
                    <a:ext uri="{9D8B030D-6E8A-4147-A177-3AD203B41FA5}">
                      <a16:colId xmlns:a16="http://schemas.microsoft.com/office/drawing/2014/main" val="3801516377"/>
                    </a:ext>
                  </a:extLst>
                </a:gridCol>
              </a:tblGrid>
              <a:tr h="3969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No.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Parameter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NREL 5 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(61.5 m Blade)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Scaling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(Calculation Method)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Optimus Syria 5MW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(80 m Blade)</a:t>
                      </a: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4393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1.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Deflection Limit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δ_tip,max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 m (≈ 0.13 · 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Proportional to Blade Length (R₈₀/R₆₁.₅ = 1.30)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10 m (0.125 · R)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Structural limit for stiffness design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63971"/>
                  </a:ext>
                </a:extLst>
              </a:tr>
              <a:tr h="583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2.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First Aerodynamic Profile Location (r/R)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0.08 – 0.10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Non-dimensional (no scaling)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0.10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(allowable 0.08 – 0.12)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 – 0.10 R = structural root (cylindrical region)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58928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3.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Chord (C&lt;sub&gt;max&lt;/sub&gt;)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4.65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/ transport limited; not strictly ∝ 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5.0 m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4.9–5.0 m)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5 m is practical for mold and road transport width limits.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89927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4.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Twist Angle (θ&lt;sub&gt;max&lt;/sub&gt;)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~14.5°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limit (mold and laminate lay-up complexity)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18°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16–18°)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Twist &gt; 20° causes tooling issues; limit gradient ≈ ≤ 2° per 5 % span.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88941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5.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Blade Mass (per Blade)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18 t @ 61.5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Mass ∝ (R₈₀/R₆₁.₅)³ = (1.30)³ ≈ 2.2 × m₆₁.₅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35 – 40 t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Weight scaling estimate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933458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6.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Clearance Guide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4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≥ 5 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To avoid tower strike under load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88839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7.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Manufacturing Guide for Spar Cap Thickness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t_tip ≥ 2 mm, t_root ≤ 60 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1" dirty="0">
                          <a:solidFill>
                            <a:srgbClr val="FF0000"/>
                          </a:solidFill>
                        </a:rPr>
                        <a:t>t_tip ≥ 3 mm, t_root ≤ 80 mm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Manufacturing envelope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19528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8.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Estimated Spar Cap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h_cap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Empirical relation maintained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/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/>
                        <a:t>To be confirmed after geometry fix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6912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B48E64B-5B02-5555-3C85-3E73511FA0E1}"/>
              </a:ext>
            </a:extLst>
          </p:cNvPr>
          <p:cNvSpPr/>
          <p:nvPr/>
        </p:nvSpPr>
        <p:spPr>
          <a:xfrm>
            <a:off x="838200" y="6059407"/>
            <a:ext cx="10498664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0D94C-99EA-A794-A277-B6BD1CA7435A}"/>
              </a:ext>
            </a:extLst>
          </p:cNvPr>
          <p:cNvSpPr txBox="1"/>
          <p:nvPr/>
        </p:nvSpPr>
        <p:spPr>
          <a:xfrm>
            <a:off x="829732" y="6040893"/>
            <a:ext cx="10498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※ All scaled values are based on geometric similarity: </a:t>
            </a:r>
            <a:r>
              <a:rPr lang="pt-BR" altLang="ko-KR" sz="1400" b="1" dirty="0">
                <a:solidFill>
                  <a:srgbClr val="0000FF"/>
                </a:solidFill>
              </a:rPr>
              <a:t>geometry ∝ R, mass ∝ R³, loads ∝ R³, </a:t>
            </a:r>
            <a:r>
              <a:rPr lang="en-US" altLang="ko-KR" sz="1400" b="1" dirty="0">
                <a:solidFill>
                  <a:srgbClr val="0000FF"/>
                </a:solidFill>
              </a:rPr>
              <a:t>Keeping </a:t>
            </a:r>
            <a:r>
              <a:rPr lang="en-US" altLang="ko-KR" sz="1400" b="1" dirty="0" err="1">
                <a:solidFill>
                  <a:srgbClr val="0000FF"/>
                </a:solidFill>
              </a:rPr>
              <a:t>t_spar</a:t>
            </a:r>
            <a:r>
              <a:rPr lang="en-US" altLang="ko-KR" sz="1400" b="1" dirty="0">
                <a:solidFill>
                  <a:srgbClr val="0000FF"/>
                </a:solidFill>
              </a:rPr>
              <a:t> ∝ R maintains similar stress and deflection behavior so the new limits (e.g., </a:t>
            </a:r>
            <a:r>
              <a:rPr lang="en-US" altLang="ko-KR" sz="1400" b="1" dirty="0" err="1">
                <a:solidFill>
                  <a:srgbClr val="0000FF"/>
                </a:solidFill>
              </a:rPr>
              <a:t>δ_tip</a:t>
            </a:r>
            <a:r>
              <a:rPr lang="en-US" altLang="ko-KR" sz="1400" b="1" dirty="0">
                <a:solidFill>
                  <a:srgbClr val="0000FF"/>
                </a:solidFill>
              </a:rPr>
              <a:t> ≈ 10 m) are physically consistent with the NREL 5 MW reference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60BD93-96AA-2D16-B99F-3EE19118AD4A}"/>
              </a:ext>
            </a:extLst>
          </p:cNvPr>
          <p:cNvSpPr/>
          <p:nvPr/>
        </p:nvSpPr>
        <p:spPr>
          <a:xfrm>
            <a:off x="7267575" y="1349980"/>
            <a:ext cx="2113275" cy="46031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E526-C795-3A41-ADF2-26018E88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AF081A-8F16-AD7E-EF07-C59133E4A4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B7079B-81B3-5984-37D7-2337EF3B4A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B45FC7B-5BD9-9BE0-0E1F-7344E27B61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9BD1678-CD41-8017-D7CB-E9EE01D35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C4529-FA87-0ACB-5D28-9CBEAF01F58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</a:t>
            </a:r>
            <a:r>
              <a:rPr lang="en-IN" altLang="ko-KR" sz="2800" b="1" dirty="0"/>
              <a:t>Material selection for </a:t>
            </a:r>
            <a:r>
              <a:rPr lang="en-US" altLang="ko-KR" sz="2800" b="1" dirty="0"/>
              <a:t>80m Blade</a:t>
            </a:r>
            <a:r>
              <a:rPr lang="en-IN" altLang="ko-KR" sz="2800" b="1" dirty="0"/>
              <a:t>–</a:t>
            </a:r>
            <a:endParaRPr lang="en-US" sz="2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D35844-55FB-B116-F435-9C127D731732}"/>
              </a:ext>
            </a:extLst>
          </p:cNvPr>
          <p:cNvSpPr txBox="1">
            <a:spLocks/>
          </p:cNvSpPr>
          <p:nvPr/>
        </p:nvSpPr>
        <p:spPr>
          <a:xfrm>
            <a:off x="838200" y="1279097"/>
            <a:ext cx="10683240" cy="52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ko-KR" sz="2400" b="1" dirty="0">
                <a:solidFill>
                  <a:sysClr val="windowText" lastClr="000000"/>
                </a:solidFill>
              </a:rPr>
              <a:t>4.1 Design limit and comparison 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–</a:t>
            </a:r>
            <a:endParaRPr lang="en-IN" altLang="ko-KR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2AD75-4792-1423-521E-10E8F7A8B603}"/>
              </a:ext>
            </a:extLst>
          </p:cNvPr>
          <p:cNvSpPr txBox="1"/>
          <p:nvPr/>
        </p:nvSpPr>
        <p:spPr>
          <a:xfrm>
            <a:off x="237067" y="5844877"/>
            <a:ext cx="3611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</a:t>
            </a:r>
            <a:r>
              <a:rPr lang="en-US" altLang="ko-KR" sz="1100" dirty="0">
                <a:hlinkClick r:id="rId2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https://doi.org/10.1016/j.marstruc.2020.102858</a:t>
            </a:r>
            <a:endParaRPr lang="en-US" altLang="ko-KR" sz="1100" dirty="0"/>
          </a:p>
          <a:p>
            <a:pPr algn="l"/>
            <a:endParaRPr lang="ko-KR" altLang="en-US" sz="11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7E8AC5-AF60-226E-79D6-787B27024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97982"/>
              </p:ext>
            </p:extLst>
          </p:nvPr>
        </p:nvGraphicFramePr>
        <p:xfrm>
          <a:off x="384108" y="1802317"/>
          <a:ext cx="11423784" cy="4408278"/>
        </p:xfrm>
        <a:graphic>
          <a:graphicData uri="http://schemas.openxmlformats.org/drawingml/2006/table">
            <a:tbl>
              <a:tblPr/>
              <a:tblGrid>
                <a:gridCol w="3256559">
                  <a:extLst>
                    <a:ext uri="{9D8B030D-6E8A-4147-A177-3AD203B41FA5}">
                      <a16:colId xmlns:a16="http://schemas.microsoft.com/office/drawing/2014/main" val="39466362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055172568"/>
                    </a:ext>
                  </a:extLst>
                </a:gridCol>
                <a:gridCol w="2015066">
                  <a:extLst>
                    <a:ext uri="{9D8B030D-6E8A-4147-A177-3AD203B41FA5}">
                      <a16:colId xmlns:a16="http://schemas.microsoft.com/office/drawing/2014/main" val="19447616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17464175"/>
                    </a:ext>
                  </a:extLst>
                </a:gridCol>
                <a:gridCol w="2265959">
                  <a:extLst>
                    <a:ext uri="{9D8B030D-6E8A-4147-A177-3AD203B41FA5}">
                      <a16:colId xmlns:a16="http://schemas.microsoft.com/office/drawing/2014/main" val="2731350634"/>
                    </a:ext>
                  </a:extLst>
                </a:gridCol>
              </a:tblGrid>
              <a:tr h="303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Airfoil Structure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Blade Region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NREL 5 MW (61.5 m)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Optimus 5NW (80.0m)</a:t>
                      </a:r>
                      <a:endParaRPr lang="en-US" sz="120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Reason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181926"/>
                  </a:ext>
                </a:extLst>
              </a:tr>
              <a:tr h="692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Spar Cap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Hybrid Carbon + Glass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Full Carbon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Higher bending moment.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Increase EI and reduce tip deflection &amp; mass.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15657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Shell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(Suction/Pressure)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</a:t>
                      </a:r>
                      <a:r>
                        <a:rPr lang="en-US" sz="1050" b="0" i="1" dirty="0" err="1"/>
                        <a:t>Triax</a:t>
                      </a:r>
                      <a:r>
                        <a:rPr lang="en-US" sz="1050" b="0" i="1" dirty="0"/>
                        <a:t> (±45/0/90)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 / 90 / ±45 / 0]ₛ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</a:t>
                      </a:r>
                      <a:r>
                        <a:rPr lang="en-US" sz="1050" b="0" i="1" dirty="0" err="1">
                          <a:solidFill>
                            <a:srgbClr val="0000FF"/>
                          </a:solidFill>
                        </a:rPr>
                        <a:t>Triax</a:t>
                      </a: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(±45 dominant)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 / 90 / ±45 / 0 / ±45]ₛ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More ±45° plies increase torsional stiffness (GJ) 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shear resistance for longer, flexible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67314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Shear Webs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±45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[±45/G] + Core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±45 + thicker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(50 → 80 mm)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[±45/G] + Core(↑t)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Shear load ↑ → thicker core improves shear stiffness &amp; buckling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69850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Core (in Shell)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PVC / Balsa Foam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/>
                        <a:t> (</a:t>
                      </a:r>
                      <a:r>
                        <a:rPr lang="el-GR" sz="1050" b="0" i="1" dirty="0"/>
                        <a:t>ρ ≈ 60 </a:t>
                      </a:r>
                      <a:r>
                        <a:rPr lang="en-US" sz="1050" b="0" i="1" dirty="0"/>
                        <a:t>kg/m³)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High-density PVC or PET Foam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(ρ ≈ 80–100 kg/m³)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Thickness tapered along span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Prevent shear failure &amp; skin buckling under higher spanwise loads.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08569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Trailing Edge (TE)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thicker foam + reinforcement patch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b="0" dirty="0"/>
                        <a:t>Local buckling risk ↑; reinforced TE prevents opening, improves fatigue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00991"/>
                  </a:ext>
                </a:extLst>
              </a:tr>
              <a:tr h="433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Leading Edge (LE)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solid insert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altLang="ko-KR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Improve impact, erosion resistance in longer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82835"/>
                  </a:ext>
                </a:extLst>
              </a:tr>
              <a:tr h="506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Root Region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Thick Glass + Adhesive Joint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Increase root strength and reduce weight for bolt interface.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39043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8E3DA002-CD65-9B4C-E96A-A9C4894B1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8" y="2711127"/>
            <a:ext cx="3132077" cy="253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3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4.2 Main Blade Materials and Cost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70D88EB-1AC7-603E-F542-0054FB42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1774824"/>
            <a:ext cx="1826340" cy="13104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B989EC8-7EB3-A0DD-83B0-AC286B86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3503583"/>
            <a:ext cx="1826340" cy="11957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195F672-E308-AA48-6465-99C48FEC8272}"/>
              </a:ext>
            </a:extLst>
          </p:cNvPr>
          <p:cNvSpPr txBox="1"/>
          <p:nvPr/>
        </p:nvSpPr>
        <p:spPr>
          <a:xfrm>
            <a:off x="1205378" y="3120039"/>
            <a:ext cx="1325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E-glass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DE935D-9C1E-C15B-6B5C-D762D0EA61B0}"/>
              </a:ext>
            </a:extLst>
          </p:cNvPr>
          <p:cNvSpPr txBox="1"/>
          <p:nvPr/>
        </p:nvSpPr>
        <p:spPr>
          <a:xfrm>
            <a:off x="954603" y="4782373"/>
            <a:ext cx="1826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Carbon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DDF466-D0D1-64B1-C5A8-8A959C3B5BF1}"/>
              </a:ext>
            </a:extLst>
          </p:cNvPr>
          <p:cNvSpPr txBox="1"/>
          <p:nvPr/>
        </p:nvSpPr>
        <p:spPr>
          <a:xfrm>
            <a:off x="644187" y="6264694"/>
            <a:ext cx="2390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Epoxy resin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BBE053E7-3D75-65FC-793D-5CBA7BEC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0137"/>
              </p:ext>
            </p:extLst>
          </p:nvPr>
        </p:nvGraphicFramePr>
        <p:xfrm>
          <a:off x="2878527" y="1774824"/>
          <a:ext cx="8894570" cy="4609040"/>
        </p:xfrm>
        <a:graphic>
          <a:graphicData uri="http://schemas.openxmlformats.org/drawingml/2006/table">
            <a:tbl>
              <a:tblPr/>
              <a:tblGrid>
                <a:gridCol w="1490273">
                  <a:extLst>
                    <a:ext uri="{9D8B030D-6E8A-4147-A177-3AD203B41FA5}">
                      <a16:colId xmlns:a16="http://schemas.microsoft.com/office/drawing/2014/main" val="3891223730"/>
                    </a:ext>
                  </a:extLst>
                </a:gridCol>
                <a:gridCol w="1634067">
                  <a:extLst>
                    <a:ext uri="{9D8B030D-6E8A-4147-A177-3AD203B41FA5}">
                      <a16:colId xmlns:a16="http://schemas.microsoft.com/office/drawing/2014/main" val="5311995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17761162"/>
                    </a:ext>
                  </a:extLst>
                </a:gridCol>
                <a:gridCol w="988878">
                  <a:extLst>
                    <a:ext uri="{9D8B030D-6E8A-4147-A177-3AD203B41FA5}">
                      <a16:colId xmlns:a16="http://schemas.microsoft.com/office/drawing/2014/main" val="2747704736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368794254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514853700"/>
                    </a:ext>
                  </a:extLst>
                </a:gridCol>
                <a:gridCol w="658085">
                  <a:extLst>
                    <a:ext uri="{9D8B030D-6E8A-4147-A177-3AD203B41FA5}">
                      <a16:colId xmlns:a16="http://schemas.microsoft.com/office/drawing/2014/main" val="1574380295"/>
                    </a:ext>
                  </a:extLst>
                </a:gridCol>
              </a:tblGrid>
              <a:tr h="572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Material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Main Features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Where Used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Unit Cost (€/kg)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Est. Weight of NREL5MW (kg)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Subtotal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Share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597886"/>
                  </a:ext>
                </a:extLst>
              </a:tr>
              <a:tr h="597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E-glass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Workhorse, tough, low cost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skin, shear web, root reinforcements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1.8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~13,000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23,400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0488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Carbon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High stiffness/strength, lightweight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Spar caps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(load-carrying beam)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25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12,500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20%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56984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Epoxy resin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Excellent bonding, heat/chem. resistance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Matrix for all composites (fiber wet-out)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20,000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33%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28759"/>
                  </a:ext>
                </a:extLst>
              </a:tr>
              <a:tr h="379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Core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(PET/PVC/Balsa)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+mn-lt"/>
                        </a:rPr>
                        <a:t>Lightweight sandwich material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and shear web core panels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~1,200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4,800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17653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Adhesive &amp; gel coat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Bonding, sealing, surface finish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 lines, LE/TE joints, outer surface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64597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Total  Material Cost (55%)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19,800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61,700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516926"/>
                  </a:ext>
                </a:extLst>
              </a:tr>
              <a:tr h="485123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Manufacturing (35%)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39,200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44959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Quality &amp; Process (10%)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11,200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11661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= Total Production Cost (100%)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≈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€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112,000 / blade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39103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A8A313F8-571B-CE6A-E8E6-A285BAC6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03" y="5152407"/>
            <a:ext cx="1826340" cy="1089137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0172D847-D9FE-AA28-2B7A-0A9CC5F809A2}"/>
              </a:ext>
            </a:extLst>
          </p:cNvPr>
          <p:cNvSpPr/>
          <p:nvPr/>
        </p:nvSpPr>
        <p:spPr>
          <a:xfrm>
            <a:off x="2878527" y="2345265"/>
            <a:ext cx="8894570" cy="103230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4F547-99C3-C6C4-B409-6E7E888CADD0}"/>
              </a:ext>
            </a:extLst>
          </p:cNvPr>
          <p:cNvSpPr txBox="1"/>
          <p:nvPr/>
        </p:nvSpPr>
        <p:spPr>
          <a:xfrm>
            <a:off x="7858762" y="6320121"/>
            <a:ext cx="4333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Wind Turbine Reliability:  A Database and Analysis Approach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8277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06E-DE99-431A-0737-28424761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4A4084-A8CD-3997-127B-60DB0BE60A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8CAB110-BA41-4D61-8348-B183AD0CA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7A273-ADB8-BE31-CD6D-77827DA356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2B4CE6E-89AD-7613-449B-ADCADF363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53D60-E6B3-C658-7D06-06F8DC3A376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68AA41-122F-562A-2E25-CA15B75FAD3C}"/>
              </a:ext>
            </a:extLst>
          </p:cNvPr>
          <p:cNvSpPr txBox="1">
            <a:spLocks/>
          </p:cNvSpPr>
          <p:nvPr/>
        </p:nvSpPr>
        <p:spPr>
          <a:xfrm>
            <a:off x="838200" y="1297230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4.3 Cost Reduction Strategies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82650E-45AC-F3B9-BBD3-408070E26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98" b="3714"/>
          <a:stretch>
            <a:fillRect/>
          </a:stretch>
        </p:blipFill>
        <p:spPr>
          <a:xfrm>
            <a:off x="787774" y="2445482"/>
            <a:ext cx="2740334" cy="185762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C7D6B139-DEF9-0D31-F0BB-AE0B94954327}"/>
              </a:ext>
            </a:extLst>
          </p:cNvPr>
          <p:cNvGrpSpPr/>
          <p:nvPr/>
        </p:nvGrpSpPr>
        <p:grpSpPr>
          <a:xfrm>
            <a:off x="4286804" y="2095825"/>
            <a:ext cx="3372697" cy="2960437"/>
            <a:chOff x="4141664" y="1921657"/>
            <a:chExt cx="3372697" cy="296043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7DC6213-0C49-59A6-4558-396E5DF25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573456" y="1921657"/>
              <a:ext cx="2940905" cy="1980363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B0BAE19-E7DD-5EC1-95E3-9E6C982DF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357560" y="2408090"/>
              <a:ext cx="2940905" cy="198036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FDE8BF-574B-D2FC-0A33-45505C60A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141664" y="2901731"/>
              <a:ext cx="2940905" cy="1980363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EB314A-29FF-8DE7-2428-E7416C898C07}"/>
              </a:ext>
            </a:extLst>
          </p:cNvPr>
          <p:cNvSpPr txBox="1"/>
          <p:nvPr/>
        </p:nvSpPr>
        <p:spPr>
          <a:xfrm>
            <a:off x="461794" y="5250080"/>
            <a:ext cx="3585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112,000  * (1.3)</a:t>
            </a:r>
            <a:r>
              <a:rPr lang="pt-BR" altLang="ko-KR" sz="1600" b="1" dirty="0"/>
              <a:t>³ = </a:t>
            </a:r>
          </a:p>
          <a:p>
            <a:pPr algn="ctr">
              <a:buNone/>
            </a:pPr>
            <a:r>
              <a:rPr lang="pt-BR" altLang="ko-KR" sz="1600" b="1" dirty="0"/>
              <a:t>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246,000</a:t>
            </a:r>
            <a:endParaRPr lang="en-US" altLang="ko-KR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8D4E8-D6B3-350A-A069-98548A9D2CFC}"/>
              </a:ext>
            </a:extLst>
          </p:cNvPr>
          <p:cNvSpPr txBox="1"/>
          <p:nvPr/>
        </p:nvSpPr>
        <p:spPr>
          <a:xfrm>
            <a:off x="4141664" y="5215272"/>
            <a:ext cx="385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246,000  * 3 </a:t>
            </a:r>
            <a:r>
              <a:rPr lang="en-US" altLang="ko-KR" sz="1600" b="1" dirty="0" err="1"/>
              <a:t>ea</a:t>
            </a:r>
            <a:r>
              <a:rPr lang="pt-BR" altLang="ko-KR" sz="1600" b="1" dirty="0"/>
              <a:t> = </a:t>
            </a:r>
          </a:p>
          <a:p>
            <a:pPr algn="ctr">
              <a:buNone/>
            </a:pPr>
            <a:r>
              <a:rPr lang="en-US" altLang="ko-KR" sz="1600" b="1" dirty="0"/>
              <a:t>Min </a:t>
            </a:r>
            <a:r>
              <a:rPr lang="ko-KR" altLang="en-US" sz="1600" b="1" dirty="0"/>
              <a:t>€ </a:t>
            </a:r>
            <a:r>
              <a:rPr lang="en-US" altLang="ko-KR" sz="1600" b="1" dirty="0"/>
              <a:t>200,000 ~ 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246,000</a:t>
            </a:r>
            <a:endParaRPr lang="en-US" altLang="ko-KR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BAD6C5-A2E2-36E8-D5CA-A55E84186C9C}"/>
              </a:ext>
            </a:extLst>
          </p:cNvPr>
          <p:cNvSpPr txBox="1"/>
          <p:nvPr/>
        </p:nvSpPr>
        <p:spPr>
          <a:xfrm>
            <a:off x="8001011" y="1844831"/>
            <a:ext cx="44233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Ⅰ. Material Optimization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C</a:t>
            </a:r>
            <a:r>
              <a:rPr lang="en-US" altLang="ko-KR" dirty="0">
                <a:solidFill>
                  <a:schemeClr val="tx1"/>
                </a:solidFill>
              </a:rPr>
              <a:t>arbon </a:t>
            </a:r>
            <a:r>
              <a:rPr lang="ko-KR" altLang="en-US" dirty="0">
                <a:solidFill>
                  <a:schemeClr val="tx1"/>
                </a:solidFill>
              </a:rPr>
              <a:t>↓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Glass </a:t>
            </a:r>
            <a:r>
              <a:rPr lang="ko-KR" altLang="en-US" dirty="0">
                <a:solidFill>
                  <a:schemeClr val="tx1"/>
                </a:solidFill>
              </a:rPr>
              <a:t>↑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PVC</a:t>
            </a:r>
            <a:r>
              <a:rPr lang="ko-KR" altLang="en-US" dirty="0">
                <a:solidFill>
                  <a:schemeClr val="tx1"/>
                </a:solidFill>
              </a:rPr>
              <a:t>↔</a:t>
            </a:r>
            <a:r>
              <a:rPr lang="en-US" altLang="ko-KR" dirty="0">
                <a:solidFill>
                  <a:schemeClr val="tx1"/>
                </a:solidFill>
              </a:rPr>
              <a:t>PET</a:t>
            </a: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Ⅱ. Geometric Simplification</a:t>
            </a:r>
          </a:p>
          <a:p>
            <a:pPr>
              <a:buNone/>
            </a:pPr>
            <a:r>
              <a:rPr lang="en-US" altLang="ko-KR" dirty="0"/>
              <a:t>       - Reduce number of unique molds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Ⅲ. Manufacturing Process Efficiency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High-speed infusion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Automation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Reuse of existing molds/platforms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4069DE0-383B-6410-3471-EB3ECEFFD780}"/>
              </a:ext>
            </a:extLst>
          </p:cNvPr>
          <p:cNvSpPr/>
          <p:nvPr/>
        </p:nvSpPr>
        <p:spPr>
          <a:xfrm>
            <a:off x="3715657" y="3599543"/>
            <a:ext cx="371149" cy="3651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5923A7-CF4A-0487-7CC8-0CD328ECFD33}"/>
              </a:ext>
            </a:extLst>
          </p:cNvPr>
          <p:cNvSpPr/>
          <p:nvPr/>
        </p:nvSpPr>
        <p:spPr>
          <a:xfrm>
            <a:off x="685800" y="1799771"/>
            <a:ext cx="7220543" cy="4180115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72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04/11/2025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7" y="1465091"/>
            <a:ext cx="1107869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Alhrshy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analysis of an offshore vertical axis wind turbine composite blade experiencing an extreme wind load, Brian P, Hand, university College Cork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09. 2020</a:t>
            </a: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Sandia National Laboratories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Turbine Blade Manufacturing Cost Studies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(SAND2006-1100)</a:t>
            </a:r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pPr marL="457200" indent="-4572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1158</TotalTime>
  <Words>1535</Words>
  <Application>Microsoft Office PowerPoint</Application>
  <PresentationFormat>Widescreen</PresentationFormat>
  <Paragraphs>284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151</cp:revision>
  <dcterms:created xsi:type="dcterms:W3CDTF">2025-10-05T16:20:08Z</dcterms:created>
  <dcterms:modified xsi:type="dcterms:W3CDTF">2025-11-02T18:10:18Z</dcterms:modified>
</cp:coreProperties>
</file>