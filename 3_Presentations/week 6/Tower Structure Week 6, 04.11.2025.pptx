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1" r:id="rId2"/>
    <p:sldMasterId id="2147483672" r:id="rId3"/>
  </p:sldMasterIdLst>
  <p:notesMasterIdLst>
    <p:notesMasterId r:id="rId14"/>
  </p:notesMasterIdLst>
  <p:handoutMasterIdLst>
    <p:handoutMasterId r:id="rId15"/>
  </p:handoutMasterIdLst>
  <p:sldIdLst>
    <p:sldId id="270" r:id="rId4"/>
    <p:sldId id="259" r:id="rId5"/>
    <p:sldId id="284" r:id="rId6"/>
    <p:sldId id="297" r:id="rId7"/>
    <p:sldId id="298" r:id="rId8"/>
    <p:sldId id="299" r:id="rId9"/>
    <p:sldId id="300" r:id="rId10"/>
    <p:sldId id="301" r:id="rId11"/>
    <p:sldId id="295" r:id="rId12"/>
    <p:sldId id="29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rst slide" id="{EBA04D78-D1FF-49F4-BDD6-03EE135E606E}">
          <p14:sldIdLst>
            <p14:sldId id="270"/>
          </p14:sldIdLst>
        </p14:section>
        <p14:section name="List of contents" id="{65043596-36B7-4360-BB5C-7A99EFAEC5C9}">
          <p14:sldIdLst>
            <p14:sldId id="259"/>
          </p14:sldIdLst>
        </p14:section>
        <p14:section name="Title, main slides" id="{B26F6679-C236-4D3D-BC2F-CAE5ED400718}">
          <p14:sldIdLst>
            <p14:sldId id="284"/>
            <p14:sldId id="297"/>
            <p14:sldId id="298"/>
            <p14:sldId id="299"/>
            <p14:sldId id="300"/>
            <p14:sldId id="301"/>
            <p14:sldId id="295"/>
            <p14:sldId id="292"/>
          </p14:sldIdLst>
        </p14:section>
        <p14:section name="bibliography" id="{2ECB0A3B-7D16-4F98-AD6A-5308DF7BF078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8ECEFA"/>
    <a:srgbClr val="92C6E6"/>
    <a:srgbClr val="80D2F7"/>
    <a:srgbClr val="7ED1F7"/>
    <a:srgbClr val="A1DFFD"/>
    <a:srgbClr val="C0F5FF"/>
    <a:srgbClr val="3C96FA"/>
    <a:srgbClr val="BDE5F9"/>
    <a:srgbClr val="C1E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>
        <p:scale>
          <a:sx n="75" d="100"/>
          <a:sy n="75" d="100"/>
        </p:scale>
        <p:origin x="456" y="-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F984966E-98CC-6A78-1424-04B6E1F267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153D721-EFB9-BC0E-1DC1-4F7A40F312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753E7D-EEC7-43DF-AF05-49FE1E0C7B25}" type="datetimeFigureOut">
              <a:rPr lang="de-DE" smtClean="0"/>
              <a:t>02.11.2025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7BF23EC-0BC1-545E-D00A-3466D80002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716600C-B63A-8960-82FD-8DC4BB46C8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1B05C7-DCB9-437C-9E32-70E81341534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50978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2B7C8-164C-4140-932B-122F288D33CD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3327E-A3FE-4279-B080-AD6DAF9EDC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5679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ybib.com/tools/ieee-citation-generator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te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58857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12. </a:t>
            </a:r>
            <a:r>
              <a:rPr lang="de-DE" dirty="0" err="1"/>
              <a:t>Machine</a:t>
            </a:r>
            <a:r>
              <a:rPr lang="de-DE" dirty="0"/>
              <a:t> </a:t>
            </a:r>
            <a:r>
              <a:rPr lang="de-DE" dirty="0" err="1"/>
              <a:t>Bed</a:t>
            </a:r>
            <a:r>
              <a:rPr lang="de-DE" dirty="0"/>
              <a:t> &amp; Yaw System  </a:t>
            </a:r>
          </a:p>
          <a:p>
            <a:pPr lvl="1"/>
            <a:r>
              <a:rPr lang="de-DE" dirty="0"/>
              <a:t>13. Tower  </a:t>
            </a:r>
          </a:p>
          <a:p>
            <a:pPr lvl="1"/>
            <a:r>
              <a:rPr lang="de-DE" dirty="0"/>
              <a:t>14. </a:t>
            </a:r>
            <a:r>
              <a:rPr lang="de-DE" dirty="0" err="1"/>
              <a:t>Foundation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15. Storage System 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Teams</a:t>
            </a:r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2466CB9-E665-36BA-2132-8519CA303C9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38200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 algn="l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1.  </a:t>
            </a:r>
            <a:r>
              <a:rPr lang="de-DE" dirty="0" err="1"/>
              <a:t>Windfarm</a:t>
            </a:r>
            <a:r>
              <a:rPr lang="de-DE" dirty="0"/>
              <a:t> Project Development  </a:t>
            </a:r>
          </a:p>
          <a:p>
            <a:pPr lvl="1"/>
            <a:r>
              <a:rPr lang="de-DE" dirty="0"/>
              <a:t>2.  Loads and Dynamics  </a:t>
            </a:r>
          </a:p>
          <a:p>
            <a:pPr lvl="1"/>
            <a:r>
              <a:rPr lang="de-DE" dirty="0"/>
              <a:t>3.  Feedback Controller  </a:t>
            </a:r>
          </a:p>
          <a:p>
            <a:pPr lvl="1"/>
            <a:r>
              <a:rPr lang="de-DE" dirty="0"/>
              <a:t>4.  Lidar-</a:t>
            </a:r>
            <a:r>
              <a:rPr lang="de-DE" dirty="0" err="1"/>
              <a:t>Assisted</a:t>
            </a:r>
            <a:r>
              <a:rPr lang="de-DE" dirty="0"/>
              <a:t> Controller  </a:t>
            </a:r>
          </a:p>
          <a:p>
            <a:pPr lvl="1"/>
            <a:r>
              <a:rPr lang="de-DE" dirty="0"/>
              <a:t>5.  Rotor Blade </a:t>
            </a:r>
            <a:r>
              <a:rPr lang="de-DE" dirty="0" err="1"/>
              <a:t>Aerodynamics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6.  Rotor Blade </a:t>
            </a:r>
            <a:r>
              <a:rPr lang="de-DE" dirty="0" err="1"/>
              <a:t>Structures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7.  </a:t>
            </a:r>
            <a:r>
              <a:rPr lang="de-DE" dirty="0" err="1"/>
              <a:t>Electrical</a:t>
            </a:r>
            <a:r>
              <a:rPr lang="de-DE" dirty="0"/>
              <a:t> </a:t>
            </a:r>
            <a:r>
              <a:rPr lang="de-DE" dirty="0" err="1"/>
              <a:t>Drivetrain</a:t>
            </a:r>
            <a:r>
              <a:rPr lang="de-DE" dirty="0"/>
              <a:t> (EDT)  </a:t>
            </a:r>
          </a:p>
          <a:p>
            <a:pPr lvl="1"/>
            <a:r>
              <a:rPr lang="de-DE" dirty="0"/>
              <a:t>8.  </a:t>
            </a:r>
            <a:r>
              <a:rPr lang="de-DE" dirty="0" err="1"/>
              <a:t>Grid</a:t>
            </a:r>
            <a:r>
              <a:rPr lang="de-DE" dirty="0"/>
              <a:t> Code Development (GCD)  </a:t>
            </a:r>
          </a:p>
          <a:p>
            <a:pPr lvl="1"/>
            <a:r>
              <a:rPr lang="de-DE" dirty="0"/>
              <a:t>9.  Rotor Hub &amp; Pitch System  </a:t>
            </a:r>
          </a:p>
          <a:p>
            <a:pPr lvl="1"/>
            <a:r>
              <a:rPr lang="de-DE" dirty="0"/>
              <a:t>10. Rotor </a:t>
            </a:r>
            <a:r>
              <a:rPr lang="de-DE" dirty="0" err="1"/>
              <a:t>Bearing</a:t>
            </a:r>
            <a:r>
              <a:rPr lang="de-DE" dirty="0"/>
              <a:t> System  </a:t>
            </a:r>
          </a:p>
          <a:p>
            <a:pPr lvl="1"/>
            <a:r>
              <a:rPr lang="de-DE" dirty="0"/>
              <a:t>11. </a:t>
            </a:r>
            <a:r>
              <a:rPr lang="de-DE" dirty="0" err="1"/>
              <a:t>Gearbox</a:t>
            </a:r>
            <a:r>
              <a:rPr lang="de-DE" dirty="0"/>
              <a:t>, Brake, Coupling  </a:t>
            </a:r>
          </a:p>
          <a:p>
            <a:pPr lvl="1"/>
            <a:r>
              <a:rPr lang="de-DE" dirty="0"/>
              <a:t>						</a:t>
            </a:r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FD841E35-8D66-8DA2-B806-8C18E5D2806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6C28938A-3748-78F8-3D01-B82DF87C9B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dirty="0"/>
              <a:t>Tower structure team/ </a:t>
            </a:r>
            <a:r>
              <a:rPr lang="en-GB" dirty="0" err="1"/>
              <a:t>Optimus</a:t>
            </a:r>
            <a:r>
              <a:rPr lang="en-GB" dirty="0"/>
              <a:t> Syria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3A903679-8273-AC0E-AD57-A9C78EE236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3313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contents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6">
            <a:extLst>
              <a:ext uri="{FF2B5EF4-FFF2-40B4-BE49-F238E27FC236}">
                <a16:creationId xmlns:a16="http://schemas.microsoft.com/office/drawing/2014/main" id="{170C5CF7-7129-6BD6-B815-EAF32508EFB5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C7BE5E88-0734-5426-D3DF-C7901A7359D4}"/>
              </a:ext>
            </a:extLst>
          </p:cNvPr>
          <p:cNvSpPr/>
          <p:nvPr userDrawn="1"/>
        </p:nvSpPr>
        <p:spPr>
          <a:xfrm>
            <a:off x="4025317" y="4094711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b="1" dirty="0"/>
              <a:t>BUT</a:t>
            </a:r>
            <a:br>
              <a:rPr lang="it-IT" dirty="0"/>
            </a:br>
            <a:r>
              <a:rPr lang="it-IT" dirty="0"/>
              <a:t>use the </a:t>
            </a:r>
            <a:r>
              <a:rPr lang="it-IT" dirty="0" err="1"/>
              <a:t>same</a:t>
            </a:r>
            <a:r>
              <a:rPr lang="it-IT" dirty="0"/>
              <a:t> style and short, concise bullet points) </a:t>
            </a:r>
            <a:br>
              <a:rPr lang="it-IT" dirty="0"/>
            </a:br>
            <a:r>
              <a:rPr lang="it-IT" dirty="0" err="1"/>
              <a:t>Only</a:t>
            </a:r>
            <a:r>
              <a:rPr lang="it-IT" dirty="0"/>
              <a:t> </a:t>
            </a:r>
            <a:r>
              <a:rPr lang="it-IT" dirty="0" err="1"/>
              <a:t>topics</a:t>
            </a:r>
            <a:r>
              <a:rPr lang="it-IT" dirty="0"/>
              <a:t> for the 4 min </a:t>
            </a:r>
            <a:r>
              <a:rPr lang="it-IT" dirty="0" err="1"/>
              <a:t>timeslot</a:t>
            </a:r>
            <a:r>
              <a:rPr lang="it-IT" dirty="0"/>
              <a:t>!</a:t>
            </a:r>
            <a:endParaRPr lang="en-GB" dirty="0"/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11100C08-BD4D-E3E4-CE88-2FD7DF2770C3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65B86036-57A0-C8C5-C8BB-699A37ABA2A8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64195E91-DEC0-2198-8D7F-F5D7511FB31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0EC107A6-E0D9-69FD-44BC-CFD5F05D7C8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8CC2EBC5-DD43-6B7E-A5D7-5CD5B0E30A5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E7DFBCC3-CC46-17B2-DF15-92940A3865D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984858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st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8F6D1F16-A947-CEE2-C58A-50217E901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873EF994-6CA7-B763-F215-A7D1723E2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67F2F56B-9E4F-A460-92A9-87055C42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3A8B7922-CD64-E421-B5E5-B7BA56CBCB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54527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marL="971550" marR="0" lvl="1" indent="-5143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1"/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6">
            <a:extLst>
              <a:ext uri="{FF2B5EF4-FFF2-40B4-BE49-F238E27FC236}">
                <a16:creationId xmlns:a16="http://schemas.microsoft.com/office/drawing/2014/main" id="{3272B118-64EE-99BB-8728-CE26B185DCFC}"/>
              </a:ext>
            </a:extLst>
          </p:cNvPr>
          <p:cNvSpPr/>
          <p:nvPr userDrawn="1"/>
        </p:nvSpPr>
        <p:spPr>
          <a:xfrm>
            <a:off x="8353959" y="1690688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CCA8528F-A469-ED70-E9CA-F25798C1A305}"/>
              </a:ext>
            </a:extLst>
          </p:cNvPr>
          <p:cNvSpPr/>
          <p:nvPr userDrawn="1"/>
        </p:nvSpPr>
        <p:spPr>
          <a:xfrm>
            <a:off x="2209800" y="3095720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Use [1], [2], [3] for </a:t>
            </a:r>
            <a:r>
              <a:rPr lang="it-IT" dirty="0" err="1"/>
              <a:t>everything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from a source (</a:t>
            </a:r>
            <a:r>
              <a:rPr lang="it-IT" dirty="0" err="1"/>
              <a:t>numbers</a:t>
            </a:r>
            <a:r>
              <a:rPr lang="it-IT" dirty="0"/>
              <a:t> </a:t>
            </a:r>
            <a:r>
              <a:rPr lang="it-IT" dirty="0" err="1"/>
              <a:t>should</a:t>
            </a:r>
            <a:r>
              <a:rPr lang="it-IT" dirty="0"/>
              <a:t> be the </a:t>
            </a:r>
            <a:r>
              <a:rPr lang="it-IT" dirty="0" err="1"/>
              <a:t>same</a:t>
            </a:r>
            <a:r>
              <a:rPr lang="it-IT" dirty="0"/>
              <a:t> like in the </a:t>
            </a:r>
            <a:r>
              <a:rPr lang="it-IT" dirty="0" err="1"/>
              <a:t>bibliography</a:t>
            </a:r>
            <a:r>
              <a:rPr lang="it-IT" dirty="0"/>
              <a:t>) (</a:t>
            </a:r>
            <a:r>
              <a:rPr lang="it-IT" dirty="0" err="1"/>
              <a:t>incl</a:t>
            </a:r>
            <a:r>
              <a:rPr lang="it-IT" dirty="0"/>
              <a:t>. pictures /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created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by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own</a:t>
            </a:r>
            <a:r>
              <a:rPr lang="it-IT" dirty="0"/>
              <a:t>, </a:t>
            </a:r>
            <a:r>
              <a:rPr lang="it-IT" dirty="0" err="1"/>
              <a:t>declare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a </a:t>
            </a:r>
            <a:r>
              <a:rPr lang="it-IT" dirty="0" err="1"/>
              <a:t>thing</a:t>
            </a:r>
            <a:r>
              <a:rPr lang="it-IT" dirty="0"/>
              <a:t> </a:t>
            </a:r>
            <a:r>
              <a:rPr lang="it-IT" dirty="0" err="1"/>
              <a:t>you’ve</a:t>
            </a:r>
            <a:r>
              <a:rPr lang="it-IT" dirty="0"/>
              <a:t> </a:t>
            </a:r>
            <a:r>
              <a:rPr lang="it-IT" dirty="0" err="1"/>
              <a:t>done</a:t>
            </a:r>
            <a:r>
              <a:rPr lang="it-IT" dirty="0"/>
              <a:t> ) [Style </a:t>
            </a:r>
            <a:r>
              <a:rPr lang="it-IT" dirty="0" err="1"/>
              <a:t>Aptos</a:t>
            </a:r>
            <a:r>
              <a:rPr lang="it-IT" dirty="0"/>
              <a:t>/14]</a:t>
            </a:r>
            <a:endParaRPr lang="en-GB" dirty="0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E1F8C099-06EF-7661-9A3C-60FE5CD4C5D5}"/>
              </a:ext>
            </a:extLst>
          </p:cNvPr>
          <p:cNvSpPr/>
          <p:nvPr userDrawn="1"/>
        </p:nvSpPr>
        <p:spPr>
          <a:xfrm>
            <a:off x="8862928" y="1838850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6E31FDF0-C963-BED4-C97E-FF9F67C07D21}"/>
              </a:ext>
            </a:extLst>
          </p:cNvPr>
          <p:cNvSpPr/>
          <p:nvPr userDrawn="1"/>
        </p:nvSpPr>
        <p:spPr>
          <a:xfrm>
            <a:off x="7312803" y="3084777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b="1" dirty="0"/>
              <a:t>BUT</a:t>
            </a:r>
          </a:p>
          <a:p>
            <a:pPr algn="ctr"/>
            <a:r>
              <a:rPr lang="it-IT" dirty="0"/>
              <a:t>an </a:t>
            </a:r>
            <a:r>
              <a:rPr lang="it-IT" dirty="0" err="1"/>
              <a:t>intial</a:t>
            </a:r>
            <a:r>
              <a:rPr lang="it-IT" dirty="0"/>
              <a:t> slide with </a:t>
            </a:r>
            <a:r>
              <a:rPr lang="it-IT" dirty="0" err="1"/>
              <a:t>all</a:t>
            </a:r>
            <a:r>
              <a:rPr lang="it-IT" dirty="0"/>
              <a:t> the tasks </a:t>
            </a:r>
            <a:r>
              <a:rPr lang="it-IT" dirty="0" err="1"/>
              <a:t>completed</a:t>
            </a:r>
            <a:r>
              <a:rPr lang="it-IT" dirty="0"/>
              <a:t> for the week </a:t>
            </a:r>
            <a:r>
              <a:rPr lang="it-IT" dirty="0" err="1"/>
              <a:t>should</a:t>
            </a:r>
            <a:r>
              <a:rPr lang="it-IT" dirty="0"/>
              <a:t> </a:t>
            </a:r>
            <a:r>
              <a:rPr lang="it-IT" dirty="0" err="1"/>
              <a:t>always</a:t>
            </a:r>
            <a:r>
              <a:rPr lang="it-IT" dirty="0"/>
              <a:t> be </a:t>
            </a:r>
            <a:r>
              <a:rPr lang="it-IT" dirty="0" err="1"/>
              <a:t>included</a:t>
            </a:r>
            <a:br>
              <a:rPr lang="it-IT" dirty="0"/>
            </a:br>
            <a:r>
              <a:rPr lang="it-IT" dirty="0"/>
              <a:t>Use the </a:t>
            </a:r>
            <a:r>
              <a:rPr lang="it-IT" dirty="0" err="1"/>
              <a:t>same</a:t>
            </a:r>
            <a:r>
              <a:rPr lang="it-IT" dirty="0"/>
              <a:t> style, do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write</a:t>
            </a:r>
            <a:r>
              <a:rPr lang="it-IT" dirty="0"/>
              <a:t> more text </a:t>
            </a:r>
            <a:r>
              <a:rPr lang="it-IT" dirty="0" err="1"/>
              <a:t>than</a:t>
            </a:r>
            <a:r>
              <a:rPr lang="it-IT" dirty="0"/>
              <a:t> </a:t>
            </a:r>
            <a:r>
              <a:rPr lang="it-IT" dirty="0" err="1"/>
              <a:t>necessary</a:t>
            </a:r>
            <a:r>
              <a:rPr lang="it-IT" dirty="0"/>
              <a:t> (short, concise bullet points are </a:t>
            </a:r>
            <a:r>
              <a:rPr lang="it-IT" dirty="0" err="1"/>
              <a:t>often</a:t>
            </a:r>
            <a:r>
              <a:rPr lang="it-IT" dirty="0"/>
              <a:t> </a:t>
            </a:r>
            <a:r>
              <a:rPr lang="it-IT" dirty="0" err="1"/>
              <a:t>enough</a:t>
            </a:r>
            <a:r>
              <a:rPr lang="it-IT" dirty="0"/>
              <a:t>)</a:t>
            </a:r>
            <a:endParaRPr lang="en-GB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BA9FE0F-4438-A90E-178E-370DFB88F067}"/>
              </a:ext>
            </a:extLst>
          </p:cNvPr>
          <p:cNvSpPr txBox="1"/>
          <p:nvPr userDrawn="1"/>
        </p:nvSpPr>
        <p:spPr>
          <a:xfrm>
            <a:off x="812800" y="6219031"/>
            <a:ext cx="2120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[1], [2]….</a:t>
            </a:r>
          </a:p>
        </p:txBody>
      </p:sp>
      <p:cxnSp>
        <p:nvCxnSpPr>
          <p:cNvPr id="13" name="Straight Arrow Connector 21">
            <a:extLst>
              <a:ext uri="{FF2B5EF4-FFF2-40B4-BE49-F238E27FC236}">
                <a16:creationId xmlns:a16="http://schemas.microsoft.com/office/drawing/2014/main" id="{C9F1C9AE-6377-666B-8F06-CF0B8B317160}"/>
              </a:ext>
            </a:extLst>
          </p:cNvPr>
          <p:cNvCxnSpPr>
            <a:cxnSpLocks/>
          </p:cNvCxnSpPr>
          <p:nvPr userDrawn="1"/>
        </p:nvCxnSpPr>
        <p:spPr>
          <a:xfrm flipH="1">
            <a:off x="1502229" y="4898571"/>
            <a:ext cx="1487714" cy="131838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7">
            <a:extLst>
              <a:ext uri="{FF2B5EF4-FFF2-40B4-BE49-F238E27FC236}">
                <a16:creationId xmlns:a16="http://schemas.microsoft.com/office/drawing/2014/main" id="{8C56F642-24B4-9889-6DFF-DDDACEFB7E68}"/>
              </a:ext>
            </a:extLst>
          </p:cNvPr>
          <p:cNvSpPr/>
          <p:nvPr userDrawn="1"/>
        </p:nvSpPr>
        <p:spPr>
          <a:xfrm>
            <a:off x="5256400" y="16343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F5B6D5E1-3173-F7DB-AFEA-577613F3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4201E827-9609-58AA-70BC-996E2AD05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DE013F6E-0CEE-85C3-4AD1-ADEED88F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8" name="Textplatzhalter 16">
            <a:extLst>
              <a:ext uri="{FF2B5EF4-FFF2-40B4-BE49-F238E27FC236}">
                <a16:creationId xmlns:a16="http://schemas.microsoft.com/office/drawing/2014/main" id="{4C7AB516-D061-772D-6849-99EBB44689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930394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479D6A9B-7716-D398-EE18-2F2D6AC11B7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45BE17EA-55E6-D579-4D1F-7901F944C6A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810CEF70-3482-4FC0-A3A4-7FB408C94A4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4879E7A9-C563-396E-C6B6-B45497D433B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AB8CDF8-03C0-DF20-0ABC-80A78BDABFB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8435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item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22)</a:t>
            </a:r>
          </a:p>
          <a:p>
            <a:pPr lvl="1"/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20)</a:t>
            </a:r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6">
            <a:extLst>
              <a:ext uri="{FF2B5EF4-FFF2-40B4-BE49-F238E27FC236}">
                <a16:creationId xmlns:a16="http://schemas.microsoft.com/office/drawing/2014/main" id="{703A19AF-E449-D353-12E1-A3DAF32E3EAB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650D751B-3D4C-8864-D7F4-6EC8348A31EE}"/>
              </a:ext>
            </a:extLst>
          </p:cNvPr>
          <p:cNvSpPr/>
          <p:nvPr userDrawn="1"/>
        </p:nvSpPr>
        <p:spPr>
          <a:xfrm>
            <a:off x="4025317" y="4094711"/>
            <a:ext cx="3933255" cy="1298198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BUT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use </a:t>
            </a:r>
            <a:r>
              <a:rPr lang="it-IT" dirty="0" err="1"/>
              <a:t>underpoints</a:t>
            </a:r>
            <a:r>
              <a:rPr lang="it-IT" dirty="0"/>
              <a:t> </a:t>
            </a:r>
            <a:r>
              <a:rPr lang="it-IT" dirty="0" err="1"/>
              <a:t>please</a:t>
            </a:r>
            <a:r>
              <a:rPr lang="it-IT" dirty="0"/>
              <a:t> with the i, ii, iii….</a:t>
            </a:r>
            <a:endParaRPr lang="en-GB" dirty="0"/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9BDEC9EB-F30A-F42A-26C3-F9AE08765705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4BA2A1-6BBA-CA7A-578A-6529C5AD3CFE}"/>
              </a:ext>
            </a:extLst>
          </p:cNvPr>
          <p:cNvSpPr/>
          <p:nvPr userDrawn="1"/>
        </p:nvSpPr>
        <p:spPr>
          <a:xfrm>
            <a:off x="927758" y="2796999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19E5AF50-94A3-4308-3B68-BAD76E7A7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9798D87B-B794-AD8A-40F1-DEA4D547F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5E6253E5-E305-7986-3017-8FAC6F34D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7E202380-1BD6-7A10-C51A-497A42391B9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73267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5228F91E-E7AD-B275-5A60-89428222D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F4F81C7-2C44-8CF8-2928-655E74DC8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60D8F3F-3088-D685-66AD-D2110FD40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29BD9540-0DAC-F607-0D84-145CAF084DC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4" name="Textplatzhalter 4">
            <a:extLst>
              <a:ext uri="{FF2B5EF4-FFF2-40B4-BE49-F238E27FC236}">
                <a16:creationId xmlns:a16="http://schemas.microsoft.com/office/drawing/2014/main" id="{9943038B-A8F9-48D6-0A29-94D4AA659F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9733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8" name="Connector: Elbow 6">
            <a:extLst>
              <a:ext uri="{FF2B5EF4-FFF2-40B4-BE49-F238E27FC236}">
                <a16:creationId xmlns:a16="http://schemas.microsoft.com/office/drawing/2014/main" id="{7A01EE56-12C5-DD96-C172-C145A0ED64CB}"/>
              </a:ext>
            </a:extLst>
          </p:cNvPr>
          <p:cNvCxnSpPr>
            <a:cxnSpLocks/>
          </p:cNvCxnSpPr>
          <p:nvPr userDrawn="1"/>
        </p:nvCxnSpPr>
        <p:spPr>
          <a:xfrm rot="10800000" flipV="1">
            <a:off x="3791371" y="4238699"/>
            <a:ext cx="4563205" cy="1222134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15">
            <a:extLst>
              <a:ext uri="{FF2B5EF4-FFF2-40B4-BE49-F238E27FC236}">
                <a16:creationId xmlns:a16="http://schemas.microsoft.com/office/drawing/2014/main" id="{EE3D1715-661B-80A0-F167-264ACC369A68}"/>
              </a:ext>
            </a:extLst>
          </p:cNvPr>
          <p:cNvSpPr/>
          <p:nvPr userDrawn="1"/>
        </p:nvSpPr>
        <p:spPr>
          <a:xfrm>
            <a:off x="7796637" y="3405202"/>
            <a:ext cx="3922209" cy="2011693"/>
          </a:xfrm>
          <a:prstGeom prst="ellips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400" dirty="0" err="1"/>
              <a:t>Add</a:t>
            </a:r>
            <a:r>
              <a:rPr lang="it-IT" sz="1400" dirty="0"/>
              <a:t> a link to the </a:t>
            </a:r>
            <a:r>
              <a:rPr lang="it-IT" sz="1400" dirty="0" err="1"/>
              <a:t>reference</a:t>
            </a:r>
            <a:r>
              <a:rPr lang="it-IT" sz="1400" dirty="0"/>
              <a:t> </a:t>
            </a:r>
            <a:r>
              <a:rPr lang="it-IT" sz="1400" dirty="0" err="1"/>
              <a:t>number</a:t>
            </a:r>
            <a:r>
              <a:rPr lang="it-IT" sz="1400" dirty="0"/>
              <a:t> </a:t>
            </a:r>
            <a:r>
              <a:rPr lang="it-IT" sz="1400" dirty="0" err="1"/>
              <a:t>that</a:t>
            </a:r>
            <a:r>
              <a:rPr lang="it-IT" sz="1400" dirty="0"/>
              <a:t> </a:t>
            </a:r>
            <a:r>
              <a:rPr lang="it-IT" sz="1400" dirty="0" err="1"/>
              <a:t>goes</a:t>
            </a:r>
            <a:r>
              <a:rPr lang="it-IT" sz="1400" dirty="0"/>
              <a:t> to the last slide: highlight the </a:t>
            </a:r>
            <a:r>
              <a:rPr lang="it-IT" sz="1400" dirty="0" err="1"/>
              <a:t>number</a:t>
            </a:r>
            <a:r>
              <a:rPr lang="it-IT" sz="1400" dirty="0"/>
              <a:t>-&gt;</a:t>
            </a:r>
            <a:r>
              <a:rPr lang="it-IT" sz="1400" dirty="0" err="1"/>
              <a:t>right</a:t>
            </a:r>
            <a:r>
              <a:rPr lang="it-IT" sz="1400" dirty="0"/>
              <a:t> click-&gt;</a:t>
            </a:r>
            <a:r>
              <a:rPr lang="it-IT" sz="1400" dirty="0" err="1"/>
              <a:t>select</a:t>
            </a:r>
            <a:r>
              <a:rPr lang="it-IT" sz="1400" dirty="0"/>
              <a:t> link-&gt;place in </a:t>
            </a:r>
            <a:r>
              <a:rPr lang="it-IT" sz="1400" dirty="0" err="1"/>
              <a:t>this</a:t>
            </a:r>
            <a:r>
              <a:rPr lang="it-IT" sz="1400" dirty="0"/>
              <a:t> </a:t>
            </a:r>
            <a:r>
              <a:rPr lang="it-IT" sz="1400" dirty="0" err="1"/>
              <a:t>document</a:t>
            </a:r>
            <a:r>
              <a:rPr lang="it-IT" sz="1400" dirty="0"/>
              <a:t>-&gt;</a:t>
            </a:r>
            <a:r>
              <a:rPr lang="it-IT" sz="1400" dirty="0" err="1"/>
              <a:t>select</a:t>
            </a:r>
            <a:r>
              <a:rPr lang="it-IT" sz="1400" dirty="0"/>
              <a:t> last slide</a:t>
            </a:r>
            <a:endParaRPr lang="en-GB" sz="14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7">
            <a:extLst>
              <a:ext uri="{FF2B5EF4-FFF2-40B4-BE49-F238E27FC236}">
                <a16:creationId xmlns:a16="http://schemas.microsoft.com/office/drawing/2014/main" id="{A1188C36-D6CB-FA53-013E-FC56AD427952}"/>
              </a:ext>
            </a:extLst>
          </p:cNvPr>
          <p:cNvSpPr/>
          <p:nvPr userDrawn="1"/>
        </p:nvSpPr>
        <p:spPr>
          <a:xfrm>
            <a:off x="6495002" y="1875014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749D4654-CB69-04EA-986A-2264B7AF4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FC28337D-790B-E06F-0074-04AA48B92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A2A63292-0139-33E2-79E8-D1F485A4C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596BA109-7562-188F-19E6-BAFF28DC5C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86484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8D8651D-3525-44E9-EF74-5AE1C96E2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FC35C132-0CB8-F9A6-EC6C-F3AC1F1B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722F58FF-5AD5-CF97-4FEE-FB1F38CD9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platzhalter 16">
            <a:extLst>
              <a:ext uri="{FF2B5EF4-FFF2-40B4-BE49-F238E27FC236}">
                <a16:creationId xmlns:a16="http://schemas.microsoft.com/office/drawing/2014/main" id="{DC21B0DD-4D97-871C-E587-F10AD55D8B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1072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iography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6" name="Straight Arrow Connector 21">
            <a:extLst>
              <a:ext uri="{FF2B5EF4-FFF2-40B4-BE49-F238E27FC236}">
                <a16:creationId xmlns:a16="http://schemas.microsoft.com/office/drawing/2014/main" id="{9B5BA113-ABD0-9B33-1E2F-5863B083FE29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994031" y="2734408"/>
            <a:ext cx="1245576" cy="18375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22">
            <a:extLst>
              <a:ext uri="{FF2B5EF4-FFF2-40B4-BE49-F238E27FC236}">
                <a16:creationId xmlns:a16="http://schemas.microsoft.com/office/drawing/2014/main" id="{59531AAE-8AA3-6039-F69E-EDD1AF57C810}"/>
              </a:ext>
            </a:extLst>
          </p:cNvPr>
          <p:cNvSpPr/>
          <p:nvPr userDrawn="1"/>
        </p:nvSpPr>
        <p:spPr>
          <a:xfrm>
            <a:off x="4475285" y="4572000"/>
            <a:ext cx="5969977" cy="167786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The style </a:t>
            </a:r>
            <a:r>
              <a:rPr lang="it-IT" dirty="0" err="1"/>
              <a:t>chosen</a:t>
            </a:r>
            <a:r>
              <a:rPr lang="it-IT" dirty="0"/>
              <a:t> for </a:t>
            </a:r>
            <a:r>
              <a:rPr lang="it-IT" dirty="0" err="1"/>
              <a:t>citation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IEEE, so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citation</a:t>
            </a:r>
            <a:r>
              <a:rPr lang="it-IT" dirty="0"/>
              <a:t> follow </a:t>
            </a:r>
            <a:r>
              <a:rPr lang="it-IT" dirty="0" err="1"/>
              <a:t>that</a:t>
            </a:r>
            <a:r>
              <a:rPr lang="it-IT" dirty="0"/>
              <a:t> style.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an IEEE </a:t>
            </a:r>
            <a:r>
              <a:rPr lang="it-IT" dirty="0" err="1"/>
              <a:t>citation</a:t>
            </a:r>
            <a:r>
              <a:rPr lang="it-IT" dirty="0"/>
              <a:t> from a website, </a:t>
            </a:r>
            <a:r>
              <a:rPr lang="it-IT" dirty="0" err="1"/>
              <a:t>you</a:t>
            </a:r>
            <a:r>
              <a:rPr lang="it-IT" dirty="0"/>
              <a:t> can use some free </a:t>
            </a:r>
            <a:r>
              <a:rPr lang="it-IT" dirty="0" err="1"/>
              <a:t>converters</a:t>
            </a:r>
            <a:r>
              <a:rPr lang="it-IT" dirty="0"/>
              <a:t> </a:t>
            </a:r>
            <a:r>
              <a:rPr lang="it-IT" dirty="0" err="1"/>
              <a:t>available</a:t>
            </a:r>
            <a:r>
              <a:rPr lang="it-IT" dirty="0"/>
              <a:t> on the internet, like:</a:t>
            </a:r>
          </a:p>
          <a:p>
            <a:pPr algn="ctr"/>
            <a:r>
              <a:rPr lang="en-GB" b="1" dirty="0">
                <a:hlinkClick r:id="rId2"/>
              </a:rPr>
              <a:t>https://www.mybib.com/tools/ieee-citation-generator</a:t>
            </a:r>
            <a:r>
              <a:rPr lang="en-GB" b="1" dirty="0"/>
              <a:t> </a:t>
            </a:r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7">
            <a:extLst>
              <a:ext uri="{FF2B5EF4-FFF2-40B4-BE49-F238E27FC236}">
                <a16:creationId xmlns:a16="http://schemas.microsoft.com/office/drawing/2014/main" id="{226F6F8F-D65D-4B43-5785-E89E617F8616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376AEEC7-3E6C-8FE6-7104-34FC9379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527D13C7-4982-3CF9-E6C0-8109C888A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44A0136B-0337-50A8-941C-6DC048DC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A21B8924-2541-A57C-7990-899E2DC11F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096439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bl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9BDC2AF-40F8-8529-16FE-AE51A8BD4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A36B392-F5AC-41D8-5903-3EE036BA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595A811-7A18-1583-7B9C-87A7CBB7F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5E735FEA-D591-2E8E-B9B4-2A6BAFE00D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2232809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3920-E451-6E8D-B0CB-C3FB9C0F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FBA5-B73E-6B89-322D-7C32A35A1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F8199-371A-141A-1CD7-D551EEEF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16092FF3-E2C2-B5C5-579F-21F140EB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5AD0AE9-D3B7-2239-8DBB-350367E7D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E1BD0BA0-666C-E532-C68B-11386947B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027E2607-9D4B-3DD5-A6A2-FC3CB80BCC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423501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F7B7-87CF-1A3E-E33E-44DC6E01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1B8D-C5F5-5242-4069-B1546B4B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D26CD-98BD-17E2-BE55-DBB74BBC6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B8D60-279E-D76A-9222-12B704BAE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AF34B-F683-41AD-C71C-8E8C66CC4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4EB4231A-B976-E0CE-75F3-D34A6911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2E601F58-36C8-D2D9-A619-7EE495853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EBFB4D11-F600-12A5-E5C2-DCA390332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Textplatzhalter 16">
            <a:extLst>
              <a:ext uri="{FF2B5EF4-FFF2-40B4-BE49-F238E27FC236}">
                <a16:creationId xmlns:a16="http://schemas.microsoft.com/office/drawing/2014/main" id="{39AFE95F-2805-F887-3AF4-313C835B17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37897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9CAB1E-C3D8-B43B-64D5-963D13F3D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B3E84C0-2A5E-8136-84E3-1F57CD264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79EE80A-8782-7800-16FF-963D026BC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CFBF4831-0820-F79B-E15A-914A0E578D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5370099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D20E-7D43-D4CD-1058-46300B8E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584A-B476-0EA1-C12B-07C273F7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94232-1597-B186-D108-397BCF214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63342531-5FA3-5F71-CEB1-CFCD86F17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0D108632-F456-C23D-6809-CF44E36A5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4F6375C-67FA-9BF2-A821-A5611C211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E6CFA6E-C964-BB71-3D6D-D966EE46607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8465591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DC87-27CE-5A07-9629-719DC91D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5E744-3606-1D16-E7B2-58DAFC3E8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9C703-BF20-85AF-358A-01ADED33C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0DAC50BC-A24B-779F-0533-7A27D611B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2B06DBDC-0EA1-59AB-DB5D-AEE297E61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3EB43FC5-BB47-1A87-75C6-C0AFB5C72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80B36F8-3A7C-6F05-A0AB-F3F43BA0922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126135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4B09-72C5-4D15-0E4C-46764EB8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70E9-1D3C-D5B3-7A54-66BD90099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C34C088-08EA-3896-8F05-16D82C511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8EA7E74-7B1F-8648-209E-BFE07FF1E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2B97D1D-1741-1791-CBA3-FA5CA67CA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6A2FA29E-F5F4-39E0-E0C6-CACC20E04F1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2687113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8A110-A33F-744D-89CB-FFCF49E08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6FACB-31E5-361F-D71D-18FCBA55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5945ED5-EBD1-3567-F959-B92E831E5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BB6A4D0-1BA6-C02F-BE18-391B96E98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412E4BF-484F-C87E-8228-534B62A6B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A24C13F3-9C79-1E9F-ED48-61D2AD9586E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0701898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30/09/2025</a:t>
            </a:r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Tower structure team/ Optimus Syria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353809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02.11.2025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03315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02.11.2025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283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02.11.2025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821964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02.11.2025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165220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02.11.2025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4200824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02.11.2025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292340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02.11.2025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59258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02.11.2025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493959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02.11.2025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198523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02.11.2025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09551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6E28C-7B17-1432-D698-5D8867EE337B}"/>
              </a:ext>
            </a:extLst>
          </p:cNvPr>
          <p:cNvSpPr txBox="1">
            <a:spLocks/>
          </p:cNvSpPr>
          <p:nvPr userDrawn="1"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 Syria</a:t>
            </a:r>
            <a:endParaRPr kumimoji="0" lang="en-GB" sz="6600" b="1" i="0" u="none" strike="noStrike" kern="1200" cap="none" spc="0" normalizeH="0" baseline="0" noProof="0" dirty="0">
              <a:ln/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>
            <a:extLst>
              <a:ext uri="{FF2B5EF4-FFF2-40B4-BE49-F238E27FC236}">
                <a16:creationId xmlns:a16="http://schemas.microsoft.com/office/drawing/2014/main" id="{A98E8D30-71DB-C779-1E77-2B8D1F3246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FC9E882-BB5D-1CC3-9AD4-1ADE555B83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EFF5A11-92DF-BC35-55CA-EECA202C55B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4671"/>
          <a:stretch/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D0057AC6-E958-18E0-BF43-7A806C66C90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>
            <a:extLst>
              <a:ext uri="{FF2B5EF4-FFF2-40B4-BE49-F238E27FC236}">
                <a16:creationId xmlns:a16="http://schemas.microsoft.com/office/drawing/2014/main" id="{233C0D9D-B26B-1DCE-8493-626ABDD067F7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>
            <a:extLst>
              <a:ext uri="{FF2B5EF4-FFF2-40B4-BE49-F238E27FC236}">
                <a16:creationId xmlns:a16="http://schemas.microsoft.com/office/drawing/2014/main" id="{95CC7C89-8F0E-07BF-6D89-44A0358FDFC8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>
            <a:extLst>
              <a:ext uri="{FF2B5EF4-FFF2-40B4-BE49-F238E27FC236}">
                <a16:creationId xmlns:a16="http://schemas.microsoft.com/office/drawing/2014/main" id="{4FB94905-8FF2-701D-A980-9368DF7EB04F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62B0D505-239D-592F-D28C-2537FD6A64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92399" y="4130862"/>
            <a:ext cx="3822700" cy="164669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1st Week Kick Off Presentation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Date: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202X</a:t>
            </a:r>
          </a:p>
          <a:p>
            <a:pPr lvl="4"/>
            <a:endParaRPr lang="de-DE" dirty="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4AB9256-03E9-9046-0C0F-540CE5905E9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9BDED722-8EE5-8B7F-02CA-CF3939A785C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35806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 starting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33" name="Isosceles Triangle 6">
            <a:extLst>
              <a:ext uri="{FF2B5EF4-FFF2-40B4-BE49-F238E27FC236}">
                <a16:creationId xmlns:a16="http://schemas.microsoft.com/office/drawing/2014/main" id="{8F14EFAA-BA4A-16CF-D530-1409613BCF5B}"/>
              </a:ext>
            </a:extLst>
          </p:cNvPr>
          <p:cNvSpPr/>
          <p:nvPr userDrawn="1"/>
        </p:nvSpPr>
        <p:spPr>
          <a:xfrm>
            <a:off x="1412841" y="3797919"/>
            <a:ext cx="1380683" cy="886192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Rectangle 7">
            <a:extLst>
              <a:ext uri="{FF2B5EF4-FFF2-40B4-BE49-F238E27FC236}">
                <a16:creationId xmlns:a16="http://schemas.microsoft.com/office/drawing/2014/main" id="{8CE1E011-6342-172C-03D6-BB39C24A4CCA}"/>
              </a:ext>
            </a:extLst>
          </p:cNvPr>
          <p:cNvSpPr/>
          <p:nvPr userDrawn="1"/>
        </p:nvSpPr>
        <p:spPr>
          <a:xfrm>
            <a:off x="354584" y="4714776"/>
            <a:ext cx="3512337" cy="95079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First slide for groups</a:t>
            </a:r>
            <a:endParaRPr lang="en-GB" dirty="0"/>
          </a:p>
        </p:txBody>
      </p:sp>
      <p:sp>
        <p:nvSpPr>
          <p:cNvPr id="35" name="Rectangle 11">
            <a:extLst>
              <a:ext uri="{FF2B5EF4-FFF2-40B4-BE49-F238E27FC236}">
                <a16:creationId xmlns:a16="http://schemas.microsoft.com/office/drawing/2014/main" id="{6845F127-8728-66DF-03BE-17119A20BE05}"/>
              </a:ext>
            </a:extLst>
          </p:cNvPr>
          <p:cNvSpPr/>
          <p:nvPr userDrawn="1"/>
        </p:nvSpPr>
        <p:spPr>
          <a:xfrm>
            <a:off x="1860787" y="3750629"/>
            <a:ext cx="484789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C16AED5E-219C-C34B-7790-17DE2532E62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: 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64DF9F8D-C604-6899-2A9F-B743F135F77F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Rectangle 7">
            <a:extLst>
              <a:ext uri="{FF2B5EF4-FFF2-40B4-BE49-F238E27FC236}">
                <a16:creationId xmlns:a16="http://schemas.microsoft.com/office/drawing/2014/main" id="{CA471AD5-5F65-3AF9-9ABB-E6F7475B2672}"/>
              </a:ext>
            </a:extLst>
          </p:cNvPr>
          <p:cNvSpPr/>
          <p:nvPr userDrawn="1"/>
        </p:nvSpPr>
        <p:spPr>
          <a:xfrm>
            <a:off x="8606553" y="40430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92481298-4C0F-EA65-5B6C-A8C699065050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FE2B40EC-630A-E9C4-E03F-6B44073220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363FCB4-D064-121D-B878-2F16074058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844284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 start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5588F89-BF05-8BCF-9834-AE05DA2404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: 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83077A87-075C-C9F1-CF08-7A350F77E61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B3C889B-2F55-2C2F-122E-E89ABE6A2D95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2877DC7-CA1E-181B-77C7-99C60829ED5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Optimus Syria</a:t>
            </a:r>
            <a:endParaRPr lang="en-GB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43E1ABD-9DAE-E035-8B0B-D41EFED3FC8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47730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2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CD36E4AE-BF2C-D504-0887-03D81D07CDC8}"/>
              </a:ext>
            </a:extLst>
          </p:cNvPr>
          <p:cNvSpPr/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7" name="Free-form: Shape 13">
            <a:extLst>
              <a:ext uri="{FF2B5EF4-FFF2-40B4-BE49-F238E27FC236}">
                <a16:creationId xmlns:a16="http://schemas.microsoft.com/office/drawing/2014/main" id="{7608A32D-44F3-01F2-D6ED-924DFF3CC333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8" name="Free-form: Shape 13">
            <a:extLst>
              <a:ext uri="{FF2B5EF4-FFF2-40B4-BE49-F238E27FC236}">
                <a16:creationId xmlns:a16="http://schemas.microsoft.com/office/drawing/2014/main" id="{1DE142EE-E501-93E6-565D-AB4A5A647F0F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776A7918-93DA-D7CE-97A3-DDF18B379B65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4827E-F028-4C94-EB63-600BCABC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Tower structure team/ </a:t>
            </a:r>
            <a:r>
              <a:rPr lang="en-GB" dirty="0" err="1"/>
              <a:t>Optimus</a:t>
            </a:r>
            <a:r>
              <a:rPr lang="en-GB" dirty="0"/>
              <a:t>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2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30/09/2025</a:t>
            </a:r>
          </a:p>
        </p:txBody>
      </p:sp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1ABD3F4B-4853-EC8E-00EB-5109F86CE0F1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Free-form: Shape 13">
            <a:extLst>
              <a:ext uri="{FF2B5EF4-FFF2-40B4-BE49-F238E27FC236}">
                <a16:creationId xmlns:a16="http://schemas.microsoft.com/office/drawing/2014/main" id="{2BF40EC9-0D42-5E08-04BD-F330229C7518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-form: Shape 13">
            <a:extLst>
              <a:ext uri="{FF2B5EF4-FFF2-40B4-BE49-F238E27FC236}">
                <a16:creationId xmlns:a16="http://schemas.microsoft.com/office/drawing/2014/main" id="{0BB1BAA4-B843-57F3-9FCE-C9585D332FAE}"/>
              </a:ext>
            </a:extLst>
          </p:cNvPr>
          <p:cNvSpPr/>
          <p:nvPr/>
        </p:nvSpPr>
        <p:spPr>
          <a:xfrm rot="10800000">
            <a:off x="-26376" y="-254312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3178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63" r:id="rId2"/>
    <p:sldLayoutId id="2147483686" r:id="rId3"/>
    <p:sldLayoutId id="2147483674" r:id="rId4"/>
    <p:sldLayoutId id="2147483685" r:id="rId5"/>
    <p:sldLayoutId id="2147483684" r:id="rId6"/>
    <p:sldLayoutId id="2147483688" r:id="rId7"/>
    <p:sldLayoutId id="2147483666" r:id="rId8"/>
    <p:sldLayoutId id="2147483689" r:id="rId9"/>
    <p:sldLayoutId id="2147483662" r:id="rId10"/>
    <p:sldLayoutId id="2147483690" r:id="rId11"/>
    <p:sldLayoutId id="2147483664" r:id="rId12"/>
    <p:sldLayoutId id="2147483665" r:id="rId13"/>
    <p:sldLayoutId id="2147483667" r:id="rId14"/>
    <p:sldLayoutId id="2147483668" r:id="rId15"/>
    <p:sldLayoutId id="2147483669" r:id="rId16"/>
    <p:sldLayoutId id="2147483670" r:id="rId17"/>
    <p:sldLayoutId id="2147483671" r:id="rId1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7" name="Datumsplatzhalter 4">
            <a:extLst>
              <a:ext uri="{FF2B5EF4-FFF2-40B4-BE49-F238E27FC236}">
                <a16:creationId xmlns:a16="http://schemas.microsoft.com/office/drawing/2014/main" id="{626B2514-13D3-FEE4-A76A-25778AA004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76303"/>
            <a:ext cx="111137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r>
              <a:rPr lang="en-GB"/>
              <a:t>30/09/2025</a:t>
            </a:r>
            <a:endParaRPr lang="en-GB" dirty="0"/>
          </a:p>
        </p:txBody>
      </p:sp>
      <p:sp>
        <p:nvSpPr>
          <p:cNvPr id="8" name="Fußzeilenplatzhalter 5">
            <a:extLst>
              <a:ext uri="{FF2B5EF4-FFF2-40B4-BE49-F238E27FC236}">
                <a16:creationId xmlns:a16="http://schemas.microsoft.com/office/drawing/2014/main" id="{8F11D7F1-39D2-6CD0-A45E-2199A3CF9435}"/>
              </a:ext>
            </a:extLst>
          </p:cNvPr>
          <p:cNvSpPr txBox="1">
            <a:spLocks/>
          </p:cNvSpPr>
          <p:nvPr/>
        </p:nvSpPr>
        <p:spPr>
          <a:xfrm>
            <a:off x="8474613" y="6373613"/>
            <a:ext cx="2879187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/>
              <a:t>Tower structure team/ Optimus Syria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4289160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5620995-1DFE-FB81-B1FD-1F43AD25E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F9FFA78-25BC-8AF7-71C4-CCA91A932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5A1141D-8ADF-66F7-AB0C-CAA4E1B2C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Datumsplatzhalter 4">
            <a:extLst>
              <a:ext uri="{FF2B5EF4-FFF2-40B4-BE49-F238E27FC236}">
                <a16:creationId xmlns:a16="http://schemas.microsoft.com/office/drawing/2014/main" id="{626B2514-13D3-FEE4-A76A-25778AA004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16003"/>
            <a:ext cx="111137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en-GB"/>
              <a:t>30/09/2025</a:t>
            </a:r>
            <a:endParaRPr lang="en-GB" dirty="0"/>
          </a:p>
        </p:txBody>
      </p:sp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8F11D7F1-39D2-6CD0-A45E-2199A3CF9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13313"/>
            <a:ext cx="2879187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en-GB"/>
              <a:t>Tower structure team/ Optimus Syria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1557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5" r:id="rId2"/>
    <p:sldLayoutId id="2147483676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7FF1E788-369D-9A8F-8F84-AD852E9D2E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b="1" dirty="0">
                <a:latin typeface="Times New Roman" pitchFamily="18" charset="0"/>
                <a:cs typeface="Times New Roman" pitchFamily="18" charset="0"/>
              </a:rPr>
              <a:t>Weekly report: Tower structure </a:t>
            </a:r>
            <a:endParaRPr lang="en-GB" b="1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277A63BB-08BE-619B-2533-3CC69CC19E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2032000"/>
          </a:xfrm>
        </p:spPr>
        <p:txBody>
          <a:bodyPr>
            <a:normAutofit/>
          </a:bodyPr>
          <a:lstStyle/>
          <a:p>
            <a:r>
              <a:rPr lang="it-IT" sz="2000" dirty="0">
                <a:latin typeface="Times New Roman" pitchFamily="18" charset="0"/>
                <a:cs typeface="Times New Roman" pitchFamily="18" charset="0"/>
              </a:rPr>
              <a:t>Week number: 06</a:t>
            </a:r>
          </a:p>
          <a:p>
            <a:r>
              <a:rPr lang="it-IT" sz="2000" dirty="0">
                <a:latin typeface="Times New Roman" pitchFamily="18" charset="0"/>
                <a:cs typeface="Times New Roman" pitchFamily="18" charset="0"/>
              </a:rPr>
              <a:t>Date: 04/11/2025</a:t>
            </a:r>
          </a:p>
          <a:p>
            <a:r>
              <a:rPr lang="it-IT" sz="2000" dirty="0">
                <a:latin typeface="Times New Roman" pitchFamily="18" charset="0"/>
                <a:cs typeface="Times New Roman" pitchFamily="18" charset="0"/>
              </a:rPr>
              <a:t>Supervisor: Prof. Faber</a:t>
            </a:r>
            <a:endParaRPr lang="en-GB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132D16E5-6BE7-8FC8-CFB3-81C918BB45F1}"/>
              </a:ext>
            </a:extLst>
          </p:cNvPr>
          <p:cNvSpPr txBox="1"/>
          <p:nvPr/>
        </p:nvSpPr>
        <p:spPr>
          <a:xfrm>
            <a:off x="2172911" y="4701104"/>
            <a:ext cx="73706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latin typeface="Times New Roman" pitchFamily="18" charset="0"/>
                <a:cs typeface="Times New Roman" pitchFamily="18" charset="0"/>
              </a:rPr>
              <a:t>Group members:  Ibrahim Mostafa, Mohammed Eldemerdash, Kirollos Ghaly</a:t>
            </a:r>
          </a:p>
        </p:txBody>
      </p:sp>
      <p:sp>
        <p:nvSpPr>
          <p:cNvPr id="2" name="Textfeld 12">
            <a:extLst>
              <a:ext uri="{FF2B5EF4-FFF2-40B4-BE49-F238E27FC236}">
                <a16:creationId xmlns:a16="http://schemas.microsoft.com/office/drawing/2014/main" id="{F1A690F4-D79D-8EBC-12DE-D491129BCFF6}"/>
              </a:ext>
            </a:extLst>
          </p:cNvPr>
          <p:cNvSpPr txBox="1"/>
          <p:nvPr/>
        </p:nvSpPr>
        <p:spPr>
          <a:xfrm>
            <a:off x="2172911" y="5081052"/>
            <a:ext cx="73706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>
                <a:latin typeface="Times New Roman" pitchFamily="18" charset="0"/>
                <a:cs typeface="Times New Roman" pitchFamily="18" charset="0"/>
              </a:rPr>
              <a:t>Speaker: Ibrahim Mostafa(770134)</a:t>
            </a:r>
          </a:p>
        </p:txBody>
      </p:sp>
      <p:sp>
        <p:nvSpPr>
          <p:cNvPr id="9" name="Foliennummernplatzhalter 24">
            <a:extLst>
              <a:ext uri="{FF2B5EF4-FFF2-40B4-BE49-F238E27FC236}">
                <a16:creationId xmlns:a16="http://schemas.microsoft.com/office/drawing/2014/main" id="{98408CB7-B6A0-46F5-ABCE-5E527AA1E6EC}"/>
              </a:ext>
            </a:extLst>
          </p:cNvPr>
          <p:cNvSpPr txBox="1">
            <a:spLocks/>
          </p:cNvSpPr>
          <p:nvPr/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/>
              <a:t> </a:t>
            </a:r>
            <a:fld id="{013F6232-4F06-48BA-8F69-BF531F607829}" type="slidenum">
              <a:rPr lang="en-GB" smtClean="0"/>
              <a:pPr algn="ctr"/>
              <a:t>1</a:t>
            </a:fld>
            <a:endParaRPr lang="en-GB" dirty="0"/>
          </a:p>
        </p:txBody>
      </p:sp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6C33708F-5C1C-4DEB-9893-96704EE48E03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Tower structure team/ </a:t>
            </a:r>
            <a:r>
              <a:rPr lang="en-GB" dirty="0" err="1"/>
              <a:t>Optimus</a:t>
            </a:r>
            <a:r>
              <a:rPr lang="en-GB" dirty="0"/>
              <a:t> Syria</a:t>
            </a:r>
          </a:p>
        </p:txBody>
      </p:sp>
      <p:sp>
        <p:nvSpPr>
          <p:cNvPr id="12" name="Textfeld 12">
            <a:extLst>
              <a:ext uri="{FF2B5EF4-FFF2-40B4-BE49-F238E27FC236}">
                <a16:creationId xmlns:a16="http://schemas.microsoft.com/office/drawing/2014/main" id="{55185CE4-A5C3-45EC-B552-A42597EFE5E0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>
                <a:latin typeface="Times New Roman" pitchFamily="18" charset="0"/>
                <a:cs typeface="Times New Roman" pitchFamily="18" charset="0"/>
              </a:rPr>
              <a:t>Group members: Ibrahim</a:t>
            </a:r>
            <a:r>
              <a:rPr lang="de-DE" sz="1200" b="1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de-DE" sz="1200" dirty="0">
                <a:latin typeface="Times New Roman" pitchFamily="18" charset="0"/>
                <a:cs typeface="Times New Roman" pitchFamily="18" charset="0"/>
              </a:rPr>
              <a:t>Mostafa, Mohammed Eldemerdash, Kirolls Ghaly</a:t>
            </a:r>
          </a:p>
        </p:txBody>
      </p:sp>
      <p:sp>
        <p:nvSpPr>
          <p:cNvPr id="15" name="Datumsplatzhalter 4">
            <a:extLst>
              <a:ext uri="{FF2B5EF4-FFF2-40B4-BE49-F238E27FC236}">
                <a16:creationId xmlns:a16="http://schemas.microsoft.com/office/drawing/2014/main" id="{E62260CD-B144-4EB9-8D9D-216FC0CC9477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03/11/2025</a:t>
            </a:r>
          </a:p>
        </p:txBody>
      </p:sp>
    </p:spTree>
    <p:extLst>
      <p:ext uri="{BB962C8B-B14F-4D97-AF65-F5344CB8AC3E}">
        <p14:creationId xmlns:p14="http://schemas.microsoft.com/office/powerpoint/2010/main" val="1515102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el 21">
            <a:extLst>
              <a:ext uri="{FF2B5EF4-FFF2-40B4-BE49-F238E27FC236}">
                <a16:creationId xmlns:a16="http://schemas.microsoft.com/office/drawing/2014/main" id="{C01C5AA7-5821-01BD-1AC8-74837347C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List of contents</a:t>
            </a:r>
          </a:p>
        </p:txBody>
      </p:sp>
      <p:sp>
        <p:nvSpPr>
          <p:cNvPr id="25" name="Foliennummernplatzhalter 24">
            <a:extLst>
              <a:ext uri="{FF2B5EF4-FFF2-40B4-BE49-F238E27FC236}">
                <a16:creationId xmlns:a16="http://schemas.microsoft.com/office/drawing/2014/main" id="{1F1D02DB-C1C0-0C64-772D-D708982E9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2</a:t>
            </a:fld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787400" y="1638300"/>
            <a:ext cx="10261600" cy="9842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400000"/>
              </a:lnSpc>
              <a:buFont typeface="Arial" pitchFamily="34" charset="0"/>
              <a:buChar char="•"/>
            </a:pPr>
            <a:r>
              <a:rPr lang="en-US" b="1" dirty="0"/>
              <a:t>Check local buckling analysis of the tower </a:t>
            </a:r>
          </a:p>
        </p:txBody>
      </p:sp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8F11D7F1-39D2-6CD0-A45E-2199A3CF9435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Tower structure team/ </a:t>
            </a:r>
            <a:r>
              <a:rPr lang="en-GB" dirty="0" err="1"/>
              <a:t>Optimus</a:t>
            </a:r>
            <a:r>
              <a:rPr lang="en-GB" dirty="0"/>
              <a:t> Syria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132D16E5-6BE7-8FC8-CFB3-81C918BB45F1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>
                <a:latin typeface="Times New Roman" pitchFamily="18" charset="0"/>
                <a:cs typeface="Times New Roman" pitchFamily="18" charset="0"/>
              </a:rPr>
              <a:t>Group members: Ibrahim</a:t>
            </a:r>
            <a:r>
              <a:rPr lang="de-DE" sz="1200" b="1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de-DE" sz="1200" dirty="0">
                <a:latin typeface="Times New Roman" pitchFamily="18" charset="0"/>
                <a:cs typeface="Times New Roman" pitchFamily="18" charset="0"/>
              </a:rPr>
              <a:t>Mostafa, Mohammed Eldemerdash, Kirolls Ghaly</a:t>
            </a:r>
          </a:p>
        </p:txBody>
      </p:sp>
      <p:sp>
        <p:nvSpPr>
          <p:cNvPr id="10" name="Datumsplatzhalter 4">
            <a:extLst>
              <a:ext uri="{FF2B5EF4-FFF2-40B4-BE49-F238E27FC236}">
                <a16:creationId xmlns:a16="http://schemas.microsoft.com/office/drawing/2014/main" id="{F35E6AF1-A9CE-42EF-B943-FE536BD6F6AD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03/11/2025</a:t>
            </a:r>
          </a:p>
        </p:txBody>
      </p:sp>
    </p:spTree>
    <p:extLst>
      <p:ext uri="{BB962C8B-B14F-4D97-AF65-F5344CB8AC3E}">
        <p14:creationId xmlns:p14="http://schemas.microsoft.com/office/powerpoint/2010/main" val="1106553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BC9269D-F4B4-3623-34EB-CD874953B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3</a:t>
            </a:fld>
            <a:endParaRPr lang="de-DE"/>
          </a:p>
        </p:txBody>
      </p:sp>
      <p:sp>
        <p:nvSpPr>
          <p:cNvPr id="9" name="TextBox 8"/>
          <p:cNvSpPr txBox="1"/>
          <p:nvPr/>
        </p:nvSpPr>
        <p:spPr>
          <a:xfrm>
            <a:off x="857248" y="787400"/>
            <a:ext cx="34920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local buckling</a:t>
            </a:r>
            <a:endParaRPr lang="de-DE" sz="2400" b="1" dirty="0"/>
          </a:p>
        </p:txBody>
      </p:sp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8F11D7F1-39D2-6CD0-A45E-2199A3CF9435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Tower structure team/ </a:t>
            </a:r>
            <a:r>
              <a:rPr lang="en-GB" dirty="0" err="1"/>
              <a:t>Optimus</a:t>
            </a:r>
            <a:r>
              <a:rPr lang="en-GB" dirty="0"/>
              <a:t> Syria</a:t>
            </a:r>
          </a:p>
        </p:txBody>
      </p:sp>
      <p:sp>
        <p:nvSpPr>
          <p:cNvPr id="12" name="Textfeld 12">
            <a:extLst>
              <a:ext uri="{FF2B5EF4-FFF2-40B4-BE49-F238E27FC236}">
                <a16:creationId xmlns:a16="http://schemas.microsoft.com/office/drawing/2014/main" id="{132D16E5-6BE7-8FC8-CFB3-81C918BB45F1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>
                <a:latin typeface="Times New Roman" pitchFamily="18" charset="0"/>
                <a:cs typeface="Times New Roman" pitchFamily="18" charset="0"/>
              </a:rPr>
              <a:t>Group members: Ibrahim Mostafa, Mohammed Eldemerdash, Kirolls Ghaly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Content Placeholder 13">
                <a:extLst>
                  <a:ext uri="{FF2B5EF4-FFF2-40B4-BE49-F238E27FC236}">
                    <a16:creationId xmlns:a16="http://schemas.microsoft.com/office/drawing/2014/main" id="{F0C6FA40-CAF4-4D06-83F3-EECED8F592E3}"/>
                  </a:ext>
                </a:extLst>
              </p:cNvPr>
              <p:cNvSpPr txBox="1"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7239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indent="0">
                  <a:buNone/>
                </a:pPr>
                <a:r>
                  <a:rPr lang="en-US" i="1" dirty="0">
                    <a:latin typeface="Cambria Math" panose="02040503050406030204" pitchFamily="18" charset="0"/>
                  </a:rPr>
                  <a:t>Shell buckling (local buckling)according to EC3</a:t>
                </a:r>
              </a:p>
              <a:p>
                <a:pPr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ar-EG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𝑁𝑑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ar-EG" sz="2400" i="1">
                            <a:latin typeface="Cambria Math"/>
                          </a:rPr>
                          <m:t>𝜋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𝑅𝑡</m:t>
                        </m:r>
                      </m:den>
                    </m:f>
                    <m:r>
                      <a:rPr lang="ar-EG" sz="2400">
                        <a:latin typeface="Cambria Math"/>
                      </a:rPr>
                      <m:t>+</m:t>
                    </m:r>
                    <m:f>
                      <m:fPr>
                        <m:ctrlPr>
                          <a:rPr lang="ar-EG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𝑁𝑒𝑙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𝑁𝑒𝑙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𝑁𝑑</m:t>
                        </m:r>
                      </m:den>
                    </m:f>
                    <m:r>
                      <a:rPr lang="ar-EG" sz="2400">
                        <a:latin typeface="Cambria Math"/>
                      </a:rPr>
                      <m:t>×</m:t>
                    </m:r>
                    <m:f>
                      <m:fPr>
                        <m:ctrlPr>
                          <a:rPr lang="ar-EG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𝑀𝑑</m:t>
                        </m:r>
                      </m:num>
                      <m:den>
                        <m:r>
                          <a:rPr lang="ar-EG" sz="2400" i="1">
                            <a:latin typeface="Cambria Math"/>
                          </a:rPr>
                          <m:t>𝜋</m:t>
                        </m:r>
                        <m:sSup>
                          <m:sSup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sz="2400" b="0" dirty="0"/>
                  <a:t>≤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𝜎</m:t>
                    </m:r>
                  </m:oMath>
                </a14:m>
                <a:r>
                  <a:rPr lang="en-US" sz="2400" b="0" dirty="0"/>
                  <a:t>cr</a:t>
                </a:r>
              </a:p>
              <a:p>
                <a:pPr indent="0">
                  <a:buNone/>
                </a:pPr>
                <a:endParaRPr lang="en-US" dirty="0"/>
              </a:p>
              <a:p>
                <a:r>
                  <a:rPr lang="en-US" b="1" dirty="0"/>
                  <a:t>Given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Tower height H=100 m</a:t>
                </a:r>
              </a:p>
              <a:p>
                <a:r>
                  <a:rPr lang="en-US" dirty="0"/>
                  <a:t>Steel S355 → E=210 </a:t>
                </a:r>
                <a:r>
                  <a:rPr lang="en-US" dirty="0" err="1"/>
                  <a:t>GPa</a:t>
                </a:r>
                <a:r>
                  <a:rPr lang="en-US" dirty="0"/>
                  <a:t>=210,000 N/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𝑚𝑚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l-GR" dirty="0"/>
                  <a:t>, ν=0.30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Diameter D=4.8m⇒ R=2.4m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Design axial force Nd=9855kN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Design bending moment Md=284 000kn.m</a:t>
                </a:r>
              </a:p>
              <a:p>
                <a:pPr indent="0">
                  <a:buNone/>
                </a:pPr>
                <a:endParaRPr lang="en-US" dirty="0"/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17" name="Content Placeholder 13">
                <a:extLst>
                  <a:ext uri="{FF2B5EF4-FFF2-40B4-BE49-F238E27FC236}">
                    <a16:creationId xmlns:a16="http://schemas.microsoft.com/office/drawing/2014/main" id="{F0C6FA40-CAF4-4D06-83F3-EECED8F592E3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723986"/>
              </a:xfrm>
              <a:prstGeom prst="rect">
                <a:avLst/>
              </a:prstGeom>
              <a:blipFill>
                <a:blip r:embed="rId2"/>
                <a:stretch>
                  <a:fillRect l="-522" t="-12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Datumsplatzhalter 4">
            <a:extLst>
              <a:ext uri="{FF2B5EF4-FFF2-40B4-BE49-F238E27FC236}">
                <a16:creationId xmlns:a16="http://schemas.microsoft.com/office/drawing/2014/main" id="{53CD5083-CB40-47B2-AA00-C27903473F35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03/11/2025</a:t>
            </a:r>
          </a:p>
        </p:txBody>
      </p:sp>
    </p:spTree>
    <p:extLst>
      <p:ext uri="{BB962C8B-B14F-4D97-AF65-F5344CB8AC3E}">
        <p14:creationId xmlns:p14="http://schemas.microsoft.com/office/powerpoint/2010/main" val="1469653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BC9269D-F4B4-3623-34EB-CD874953B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4</a:t>
            </a:fld>
            <a:endParaRPr lang="de-DE"/>
          </a:p>
        </p:txBody>
      </p:sp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8F11D7F1-39D2-6CD0-A45E-2199A3CF9435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Tower structure team/ </a:t>
            </a:r>
            <a:r>
              <a:rPr lang="en-GB" dirty="0" err="1"/>
              <a:t>Optimus</a:t>
            </a:r>
            <a:r>
              <a:rPr lang="en-GB" dirty="0"/>
              <a:t> Syria</a:t>
            </a:r>
          </a:p>
        </p:txBody>
      </p:sp>
      <p:sp>
        <p:nvSpPr>
          <p:cNvPr id="12" name="Textfeld 12">
            <a:extLst>
              <a:ext uri="{FF2B5EF4-FFF2-40B4-BE49-F238E27FC236}">
                <a16:creationId xmlns:a16="http://schemas.microsoft.com/office/drawing/2014/main" id="{132D16E5-6BE7-8FC8-CFB3-81C918BB45F1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>
                <a:latin typeface="Times New Roman" pitchFamily="18" charset="0"/>
                <a:cs typeface="Times New Roman" pitchFamily="18" charset="0"/>
              </a:rPr>
              <a:t>Group members: Ibrahim Mostafa, Mohammed Eldemerdash, Kirolls Ghaly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8AB798-D9CE-49A4-AA82-997AFDA852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822" y="1297771"/>
            <a:ext cx="5721211" cy="522032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3A71ED3-F950-4390-B797-EE10E6E6802A}"/>
              </a:ext>
            </a:extLst>
          </p:cNvPr>
          <p:cNvSpPr txBox="1"/>
          <p:nvPr/>
        </p:nvSpPr>
        <p:spPr>
          <a:xfrm>
            <a:off x="857248" y="787400"/>
            <a:ext cx="34920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local buckling</a:t>
            </a:r>
            <a:endParaRPr lang="de-DE" sz="2400" b="1" dirty="0"/>
          </a:p>
        </p:txBody>
      </p:sp>
      <p:sp>
        <p:nvSpPr>
          <p:cNvPr id="19" name="Datumsplatzhalter 4">
            <a:extLst>
              <a:ext uri="{FF2B5EF4-FFF2-40B4-BE49-F238E27FC236}">
                <a16:creationId xmlns:a16="http://schemas.microsoft.com/office/drawing/2014/main" id="{FE222C7D-7CE0-468B-A2B0-BF0F4EEB1068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03/11/2025</a:t>
            </a:r>
          </a:p>
        </p:txBody>
      </p:sp>
    </p:spTree>
    <p:extLst>
      <p:ext uri="{BB962C8B-B14F-4D97-AF65-F5344CB8AC3E}">
        <p14:creationId xmlns:p14="http://schemas.microsoft.com/office/powerpoint/2010/main" val="881971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BC9269D-F4B4-3623-34EB-CD874953B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5</a:t>
            </a:fld>
            <a:endParaRPr lang="de-DE"/>
          </a:p>
        </p:txBody>
      </p:sp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8F11D7F1-39D2-6CD0-A45E-2199A3CF9435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Tower structure team/ </a:t>
            </a:r>
            <a:r>
              <a:rPr lang="en-GB" dirty="0" err="1"/>
              <a:t>Optimus</a:t>
            </a:r>
            <a:r>
              <a:rPr lang="en-GB" dirty="0"/>
              <a:t> Syria</a:t>
            </a:r>
          </a:p>
        </p:txBody>
      </p:sp>
      <p:sp>
        <p:nvSpPr>
          <p:cNvPr id="12" name="Textfeld 12">
            <a:extLst>
              <a:ext uri="{FF2B5EF4-FFF2-40B4-BE49-F238E27FC236}">
                <a16:creationId xmlns:a16="http://schemas.microsoft.com/office/drawing/2014/main" id="{132D16E5-6BE7-8FC8-CFB3-81C918BB45F1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>
                <a:latin typeface="Times New Roman" pitchFamily="18" charset="0"/>
                <a:cs typeface="Times New Roman" pitchFamily="18" charset="0"/>
              </a:rPr>
              <a:t>Group members: Ibrahim Mostafa, Mohammed Eldemerdash, Kirolls Ghaly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2AA5F0-B93C-4DB7-955F-48153AC66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4049" y="1438102"/>
            <a:ext cx="6948748" cy="463249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E3AC06B-3F4E-4F1E-99D0-A1A10643963C}"/>
              </a:ext>
            </a:extLst>
          </p:cNvPr>
          <p:cNvSpPr txBox="1"/>
          <p:nvPr/>
        </p:nvSpPr>
        <p:spPr>
          <a:xfrm>
            <a:off x="857248" y="787400"/>
            <a:ext cx="34920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local buckling</a:t>
            </a:r>
            <a:endParaRPr lang="de-DE" sz="2400" b="1" dirty="0"/>
          </a:p>
        </p:txBody>
      </p:sp>
      <p:sp>
        <p:nvSpPr>
          <p:cNvPr id="13" name="Datumsplatzhalter 4">
            <a:extLst>
              <a:ext uri="{FF2B5EF4-FFF2-40B4-BE49-F238E27FC236}">
                <a16:creationId xmlns:a16="http://schemas.microsoft.com/office/drawing/2014/main" id="{E865C531-44C1-4F92-9298-3F8E20173858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03/11/2025</a:t>
            </a:r>
          </a:p>
        </p:txBody>
      </p:sp>
    </p:spTree>
    <p:extLst>
      <p:ext uri="{BB962C8B-B14F-4D97-AF65-F5344CB8AC3E}">
        <p14:creationId xmlns:p14="http://schemas.microsoft.com/office/powerpoint/2010/main" val="3370468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BC9269D-F4B4-3623-34EB-CD874953B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6</a:t>
            </a:fld>
            <a:endParaRPr lang="de-DE"/>
          </a:p>
        </p:txBody>
      </p:sp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8F11D7F1-39D2-6CD0-A45E-2199A3CF9435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Tower structure team/ </a:t>
            </a:r>
            <a:r>
              <a:rPr lang="en-GB" dirty="0" err="1"/>
              <a:t>Optimus</a:t>
            </a:r>
            <a:r>
              <a:rPr lang="en-GB" dirty="0"/>
              <a:t> Syria</a:t>
            </a:r>
          </a:p>
        </p:txBody>
      </p:sp>
      <p:sp>
        <p:nvSpPr>
          <p:cNvPr id="12" name="Textfeld 12">
            <a:extLst>
              <a:ext uri="{FF2B5EF4-FFF2-40B4-BE49-F238E27FC236}">
                <a16:creationId xmlns:a16="http://schemas.microsoft.com/office/drawing/2014/main" id="{132D16E5-6BE7-8FC8-CFB3-81C918BB45F1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>
                <a:latin typeface="Times New Roman" pitchFamily="18" charset="0"/>
                <a:cs typeface="Times New Roman" pitchFamily="18" charset="0"/>
              </a:rPr>
              <a:t>Group members: Ibrahim Mostafa, Mohammed Eldemerdash, Kirolls Ghaly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A05296-F840-4A32-933C-890CE0F3E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1350" y="1423987"/>
            <a:ext cx="6754696" cy="464661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CDA95F0-0FCE-4A80-855A-1D371432DA92}"/>
              </a:ext>
            </a:extLst>
          </p:cNvPr>
          <p:cNvSpPr txBox="1"/>
          <p:nvPr/>
        </p:nvSpPr>
        <p:spPr>
          <a:xfrm>
            <a:off x="857248" y="787400"/>
            <a:ext cx="34920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local buckling</a:t>
            </a:r>
            <a:endParaRPr lang="de-DE" sz="2400" b="1" dirty="0"/>
          </a:p>
        </p:txBody>
      </p:sp>
      <p:sp>
        <p:nvSpPr>
          <p:cNvPr id="13" name="Datumsplatzhalter 4">
            <a:extLst>
              <a:ext uri="{FF2B5EF4-FFF2-40B4-BE49-F238E27FC236}">
                <a16:creationId xmlns:a16="http://schemas.microsoft.com/office/drawing/2014/main" id="{7BF5F78A-A716-4A54-B88C-CAF7D2402BCD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03/11/2025</a:t>
            </a:r>
          </a:p>
        </p:txBody>
      </p:sp>
    </p:spTree>
    <p:extLst>
      <p:ext uri="{BB962C8B-B14F-4D97-AF65-F5344CB8AC3E}">
        <p14:creationId xmlns:p14="http://schemas.microsoft.com/office/powerpoint/2010/main" val="3981266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BC9269D-F4B4-3623-34EB-CD874953B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7</a:t>
            </a:fld>
            <a:endParaRPr lang="de-DE"/>
          </a:p>
        </p:txBody>
      </p:sp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8F11D7F1-39D2-6CD0-A45E-2199A3CF9435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Tower structure team/ </a:t>
            </a:r>
            <a:r>
              <a:rPr lang="en-GB" dirty="0" err="1"/>
              <a:t>Optimus</a:t>
            </a:r>
            <a:r>
              <a:rPr lang="en-GB" dirty="0"/>
              <a:t> Syria</a:t>
            </a:r>
          </a:p>
        </p:txBody>
      </p:sp>
      <p:sp>
        <p:nvSpPr>
          <p:cNvPr id="12" name="Textfeld 12">
            <a:extLst>
              <a:ext uri="{FF2B5EF4-FFF2-40B4-BE49-F238E27FC236}">
                <a16:creationId xmlns:a16="http://schemas.microsoft.com/office/drawing/2014/main" id="{132D16E5-6BE7-8FC8-CFB3-81C918BB45F1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>
                <a:latin typeface="Times New Roman" pitchFamily="18" charset="0"/>
                <a:cs typeface="Times New Roman" pitchFamily="18" charset="0"/>
              </a:rPr>
              <a:t>Group members: Ibrahim Mostafa, Mohammed Eldemerdash, Kirolls Ghaly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37E26B-ECDB-422B-8206-46767BAFC8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8058" y="1380448"/>
            <a:ext cx="6601563" cy="515528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EB3F3AD-9311-49F8-AD91-8E8DADDC6D38}"/>
              </a:ext>
            </a:extLst>
          </p:cNvPr>
          <p:cNvSpPr txBox="1"/>
          <p:nvPr/>
        </p:nvSpPr>
        <p:spPr>
          <a:xfrm>
            <a:off x="857248" y="787400"/>
            <a:ext cx="34920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local buckling</a:t>
            </a:r>
            <a:endParaRPr lang="de-DE" sz="2400" b="1" dirty="0"/>
          </a:p>
        </p:txBody>
      </p:sp>
      <p:sp>
        <p:nvSpPr>
          <p:cNvPr id="13" name="Datumsplatzhalter 4">
            <a:extLst>
              <a:ext uri="{FF2B5EF4-FFF2-40B4-BE49-F238E27FC236}">
                <a16:creationId xmlns:a16="http://schemas.microsoft.com/office/drawing/2014/main" id="{DFED7E84-1D94-453A-87FD-437E012946BC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03/11/2025</a:t>
            </a:r>
          </a:p>
        </p:txBody>
      </p:sp>
    </p:spTree>
    <p:extLst>
      <p:ext uri="{BB962C8B-B14F-4D97-AF65-F5344CB8AC3E}">
        <p14:creationId xmlns:p14="http://schemas.microsoft.com/office/powerpoint/2010/main" val="1866786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BC9269D-F4B4-3623-34EB-CD874953B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8</a:t>
            </a:fld>
            <a:endParaRPr lang="de-DE"/>
          </a:p>
        </p:txBody>
      </p:sp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8F11D7F1-39D2-6CD0-A45E-2199A3CF9435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Tower structure team/ </a:t>
            </a:r>
            <a:r>
              <a:rPr lang="en-GB" dirty="0" err="1"/>
              <a:t>Optimus</a:t>
            </a:r>
            <a:r>
              <a:rPr lang="en-GB" dirty="0"/>
              <a:t> Syria</a:t>
            </a:r>
          </a:p>
        </p:txBody>
      </p:sp>
      <p:sp>
        <p:nvSpPr>
          <p:cNvPr id="12" name="Textfeld 12">
            <a:extLst>
              <a:ext uri="{FF2B5EF4-FFF2-40B4-BE49-F238E27FC236}">
                <a16:creationId xmlns:a16="http://schemas.microsoft.com/office/drawing/2014/main" id="{132D16E5-6BE7-8FC8-CFB3-81C918BB45F1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>
                <a:latin typeface="Times New Roman" pitchFamily="18" charset="0"/>
                <a:cs typeface="Times New Roman" pitchFamily="18" charset="0"/>
              </a:rPr>
              <a:t>Group members: Ibrahim Mostafa, Mohammed Eldemerdash, Kirolls Ghaly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5B1DB3-8B8D-401E-9E4D-1D1A8E6E8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1263" y="1486314"/>
            <a:ext cx="5795172" cy="502687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47019A2-B8FE-41CE-BF50-5331D014020C}"/>
              </a:ext>
            </a:extLst>
          </p:cNvPr>
          <p:cNvSpPr txBox="1"/>
          <p:nvPr/>
        </p:nvSpPr>
        <p:spPr>
          <a:xfrm>
            <a:off x="857248" y="787400"/>
            <a:ext cx="34920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local buckling</a:t>
            </a:r>
            <a:endParaRPr lang="de-DE" sz="2400" b="1" dirty="0"/>
          </a:p>
        </p:txBody>
      </p:sp>
      <p:sp>
        <p:nvSpPr>
          <p:cNvPr id="14" name="Datumsplatzhalter 4">
            <a:extLst>
              <a:ext uri="{FF2B5EF4-FFF2-40B4-BE49-F238E27FC236}">
                <a16:creationId xmlns:a16="http://schemas.microsoft.com/office/drawing/2014/main" id="{CC5C7E3E-A9BB-487B-873D-931A59C6605A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03/11/2025</a:t>
            </a:r>
          </a:p>
        </p:txBody>
      </p:sp>
    </p:spTree>
    <p:extLst>
      <p:ext uri="{BB962C8B-B14F-4D97-AF65-F5344CB8AC3E}">
        <p14:creationId xmlns:p14="http://schemas.microsoft.com/office/powerpoint/2010/main" val="26852338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BC9269D-F4B4-3623-34EB-CD874953B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9</a:t>
            </a:fld>
            <a:endParaRPr lang="de-DE"/>
          </a:p>
        </p:txBody>
      </p:sp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8F11D7F1-39D2-6CD0-A45E-2199A3CF9435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Tower structure team/ </a:t>
            </a:r>
            <a:r>
              <a:rPr lang="en-GB" dirty="0" err="1"/>
              <a:t>Optimus</a:t>
            </a:r>
            <a:r>
              <a:rPr lang="en-GB" dirty="0"/>
              <a:t> Syria</a:t>
            </a:r>
          </a:p>
        </p:txBody>
      </p:sp>
      <p:sp>
        <p:nvSpPr>
          <p:cNvPr id="12" name="Textfeld 12">
            <a:extLst>
              <a:ext uri="{FF2B5EF4-FFF2-40B4-BE49-F238E27FC236}">
                <a16:creationId xmlns:a16="http://schemas.microsoft.com/office/drawing/2014/main" id="{132D16E5-6BE7-8FC8-CFB3-81C918BB45F1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>
                <a:latin typeface="Times New Roman" pitchFamily="18" charset="0"/>
                <a:cs typeface="Times New Roman" pitchFamily="18" charset="0"/>
              </a:rPr>
              <a:t>Group members: Ibrahim Mostafa, Mohammed Eldemerdash, Kirolls Ghaly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7119F51-2FF6-4A6A-9776-353BDD3AADED}"/>
                  </a:ext>
                </a:extLst>
              </p:cNvPr>
              <p:cNvSpPr txBox="1"/>
              <p:nvPr/>
            </p:nvSpPr>
            <p:spPr>
              <a:xfrm>
                <a:off x="1545889" y="1575158"/>
                <a:ext cx="5119444" cy="13542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600" b="1" dirty="0"/>
                  <a:t>7. Check Condition</a:t>
                </a:r>
              </a:p>
              <a:p>
                <a14:m>
                  <m:oMath xmlns:m="http://schemas.openxmlformats.org/officeDocument/2006/math">
                    <m:r>
                      <a:rPr lang="ar-EG" sz="1600" i="1" smtClean="0">
                        <a:latin typeface="Cambria Math"/>
                      </a:rPr>
                      <m:t>𝜎</m:t>
                    </m:r>
                    <m:r>
                      <m:rPr>
                        <m:sty m:val="p"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ar-EG" sz="1600" i="1">
                        <a:latin typeface="Cambria Math"/>
                      </a:rPr>
                      <m:t>𝜎</m:t>
                    </m:r>
                    <m:r>
                      <m:rPr>
                        <m:sty m:val="p"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ar-EG" sz="1600">
                        <a:latin typeface="Cambria Math"/>
                      </a:rPr>
                      <m:t>=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321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nor/>
                      </m:rPr>
                      <a:rPr lang="ar-EG" sz="1600" i="1"/>
                      <m:t> </m:t>
                    </m:r>
                    <m:r>
                      <m:rPr>
                        <m:nor/>
                      </m:rPr>
                      <a:rPr lang="ar-EG" sz="1600" i="1"/>
                      <m:t> </m:t>
                    </m:r>
                    <m:sSup>
                      <m:sSupPr>
                        <m:ctrlPr>
                          <a:rPr lang="ar-EG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600" i="1"/>
                          <m:t>N</m:t>
                        </m:r>
                        <m:r>
                          <m:rPr>
                            <m:nor/>
                          </m:rPr>
                          <a:rPr lang="en-US" sz="1600" i="1"/>
                          <m:t>/</m:t>
                        </m:r>
                        <m:r>
                          <m:rPr>
                            <m:nor/>
                          </m:rPr>
                          <a:rPr lang="en-US" sz="1600" i="1"/>
                          <m:t>mm</m:t>
                        </m:r>
                      </m:e>
                      <m:sup>
                        <m:r>
                          <a:rPr lang="ar-EG" sz="160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m:rPr>
                        <m:nor/>
                      </m:rPr>
                      <a:rPr lang="en-US" sz="1600"/>
                      <m:t>&lt;</m:t>
                    </m:r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22</m:t>
                    </m:r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nor/>
                      </m:rPr>
                      <a:rPr lang="ar-EG" sz="1600" i="1"/>
                      <m:t> </m:t>
                    </m:r>
                    <m:sSup>
                      <m:sSupPr>
                        <m:ctrlPr>
                          <a:rPr lang="ar-EG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600" i="1"/>
                          <m:t>N</m:t>
                        </m:r>
                        <m:r>
                          <m:rPr>
                            <m:nor/>
                          </m:rPr>
                          <a:rPr lang="en-US" sz="1600" i="1"/>
                          <m:t>/</m:t>
                        </m:r>
                        <m:r>
                          <m:rPr>
                            <m:nor/>
                          </m:rPr>
                          <a:rPr lang="en-US" sz="1600" i="1"/>
                          <m:t>mm</m:t>
                        </m:r>
                      </m:e>
                      <m:sup>
                        <m:r>
                          <a:rPr lang="ar-EG" sz="160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600" b="0" dirty="0"/>
                  <a:t> </a:t>
                </a:r>
              </a:p>
              <a:p>
                <a:endParaRPr lang="en-US" sz="1600" b="1" dirty="0"/>
              </a:p>
              <a:p>
                <a:r>
                  <a:rPr lang="en-US" sz="1600" dirty="0"/>
                  <a:t>✅ </a:t>
                </a:r>
                <a:r>
                  <a:rPr lang="en-US" sz="1600" b="1" dirty="0"/>
                  <a:t>OK (safe)</a:t>
                </a:r>
                <a:br>
                  <a:rPr lang="en-US" dirty="0"/>
                </a:br>
                <a:endParaRPr 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7119F51-2FF6-4A6A-9776-353BDD3AAD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5889" y="1575158"/>
                <a:ext cx="5119444" cy="1354217"/>
              </a:xfrm>
              <a:prstGeom prst="rect">
                <a:avLst/>
              </a:prstGeom>
              <a:blipFill>
                <a:blip r:embed="rId2"/>
                <a:stretch>
                  <a:fillRect l="-715" t="-1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1AC9EE83-F41A-44FE-8A27-E28AA19B6A36}"/>
              </a:ext>
            </a:extLst>
          </p:cNvPr>
          <p:cNvSpPr txBox="1"/>
          <p:nvPr/>
        </p:nvSpPr>
        <p:spPr>
          <a:xfrm>
            <a:off x="857248" y="787400"/>
            <a:ext cx="34920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local buckling</a:t>
            </a:r>
            <a:endParaRPr lang="de-DE" sz="2400" b="1" dirty="0"/>
          </a:p>
        </p:txBody>
      </p:sp>
      <p:sp>
        <p:nvSpPr>
          <p:cNvPr id="20" name="Datumsplatzhalter 4">
            <a:extLst>
              <a:ext uri="{FF2B5EF4-FFF2-40B4-BE49-F238E27FC236}">
                <a16:creationId xmlns:a16="http://schemas.microsoft.com/office/drawing/2014/main" id="{7E0F1713-2383-4FEB-9FF7-86395432CEB4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03/11/2025</a:t>
            </a:r>
          </a:p>
        </p:txBody>
      </p:sp>
    </p:spTree>
    <p:extLst>
      <p:ext uri="{BB962C8B-B14F-4D97-AF65-F5344CB8AC3E}">
        <p14:creationId xmlns:p14="http://schemas.microsoft.com/office/powerpoint/2010/main" val="10787273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BC9269D-F4B4-3623-34EB-CD874953B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10</a:t>
            </a:fld>
            <a:endParaRPr lang="de-DE"/>
          </a:p>
        </p:txBody>
      </p:sp>
      <p:sp>
        <p:nvSpPr>
          <p:cNvPr id="10" name="TextBox 9"/>
          <p:cNvSpPr txBox="1"/>
          <p:nvPr/>
        </p:nvSpPr>
        <p:spPr>
          <a:xfrm>
            <a:off x="857249" y="787400"/>
            <a:ext cx="37794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Sketch of tower dimensions</a:t>
            </a:r>
            <a:endParaRPr lang="de-D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Fußzeilenplatzhalter 5">
            <a:extLst>
              <a:ext uri="{FF2B5EF4-FFF2-40B4-BE49-F238E27FC236}">
                <a16:creationId xmlns:a16="http://schemas.microsoft.com/office/drawing/2014/main" id="{8F11D7F1-39D2-6CD0-A45E-2199A3CF9435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Tower structure team/ </a:t>
            </a:r>
            <a:r>
              <a:rPr lang="en-GB" dirty="0" err="1"/>
              <a:t>Optimus</a:t>
            </a:r>
            <a:r>
              <a:rPr lang="en-GB" dirty="0"/>
              <a:t> Syria</a:t>
            </a:r>
          </a:p>
        </p:txBody>
      </p:sp>
      <p:sp>
        <p:nvSpPr>
          <p:cNvPr id="14" name="Textfeld 12">
            <a:extLst>
              <a:ext uri="{FF2B5EF4-FFF2-40B4-BE49-F238E27FC236}">
                <a16:creationId xmlns:a16="http://schemas.microsoft.com/office/drawing/2014/main" id="{132D16E5-6BE7-8FC8-CFB3-81C918BB45F1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>
                <a:latin typeface="Times New Roman" pitchFamily="18" charset="0"/>
                <a:cs typeface="Times New Roman" pitchFamily="18" charset="0"/>
              </a:rPr>
              <a:t>Group members: Ibrahim</a:t>
            </a:r>
            <a:r>
              <a:rPr lang="de-DE" sz="1200" b="1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de-DE" sz="1200" dirty="0">
                <a:latin typeface="Times New Roman" pitchFamily="18" charset="0"/>
                <a:cs typeface="Times New Roman" pitchFamily="18" charset="0"/>
              </a:rPr>
              <a:t>Mostafa, Mohammed Eldemerdash, Kirolls Ghaly</a:t>
            </a:r>
          </a:p>
        </p:txBody>
      </p:sp>
      <p:sp>
        <p:nvSpPr>
          <p:cNvPr id="3" name="Datumsplatzhalter 4">
            <a:extLst>
              <a:ext uri="{FF2B5EF4-FFF2-40B4-BE49-F238E27FC236}">
                <a16:creationId xmlns:a16="http://schemas.microsoft.com/office/drawing/2014/main" id="{BD904EFA-9E80-B96F-641B-3E48608F4FA0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03/11/2025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7C984E-76E9-4FAC-A68A-080EBCB00B0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43" r="978"/>
          <a:stretch/>
        </p:blipFill>
        <p:spPr>
          <a:xfrm>
            <a:off x="106016" y="2891861"/>
            <a:ext cx="12006471" cy="198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272325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 template_final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2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3" id="{489382AE-0E20-4DDB-AC58-6881343BCB06}" vid="{12EB4CDA-A9DA-4F07-A373-8B888615A8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3" id="{489382AE-0E20-4DDB-AC58-6881343BCB06}" vid="{BC3BCC29-301C-4D70-A384-97DBC337907C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525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CD039B6-C6AB-492A-94BF-C46AF895D2E7}">
  <we:reference id="WA200007130" version="1.0.0.1" store="en-US" storeType="omex"/>
  <we:alternateReferences>
    <we:reference id="WA200007130" version="1.0.0.1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3D784B2-E216-4A14-BE4B-F0CA301E2B20}">
  <we:reference id="WA200005566" version="3.0.0.3" store="en-US" storeType="omex"/>
  <we:alternateReferences>
    <we:reference id="WA200005566" version="3.0.0.3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Presentation template_final</Template>
  <TotalTime>3632</TotalTime>
  <Words>345</Words>
  <Application>Microsoft Office PowerPoint</Application>
  <PresentationFormat>Widescreen</PresentationFormat>
  <Paragraphs>70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21" baseType="lpstr">
      <vt:lpstr>Aptos</vt:lpstr>
      <vt:lpstr>Aptos (Textkörper)</vt:lpstr>
      <vt:lpstr>Aptos Display</vt:lpstr>
      <vt:lpstr>Arial</vt:lpstr>
      <vt:lpstr>Calibri</vt:lpstr>
      <vt:lpstr>Calibri Light</vt:lpstr>
      <vt:lpstr>Cambria Math</vt:lpstr>
      <vt:lpstr>Times New Roman</vt:lpstr>
      <vt:lpstr>Presentation template_final</vt:lpstr>
      <vt:lpstr>Custom Design</vt:lpstr>
      <vt:lpstr>Benutzerdefiniertes Design</vt:lpstr>
      <vt:lpstr>Weekly report: Tower structure </vt:lpstr>
      <vt:lpstr>List of contents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report: Tower structure</dc:title>
  <dc:creator>dell</dc:creator>
  <cp:lastModifiedBy>ibrahem botet</cp:lastModifiedBy>
  <cp:revision>65</cp:revision>
  <dcterms:created xsi:type="dcterms:W3CDTF">2025-09-28T13:42:33Z</dcterms:created>
  <dcterms:modified xsi:type="dcterms:W3CDTF">2025-11-03T07:49:34Z</dcterms:modified>
</cp:coreProperties>
</file>