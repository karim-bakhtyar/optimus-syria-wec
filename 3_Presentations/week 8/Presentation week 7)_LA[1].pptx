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</p:sldMasterIdLst>
  <p:notesMasterIdLst>
    <p:notesMasterId r:id="rId12"/>
  </p:notesMasterIdLst>
  <p:sldIdLst>
    <p:sldId id="256" r:id="rId4"/>
    <p:sldId id="259" r:id="rId5"/>
    <p:sldId id="279" r:id="rId6"/>
    <p:sldId id="280" r:id="rId7"/>
    <p:sldId id="266" r:id="rId8"/>
    <p:sldId id="268" r:id="rId9"/>
    <p:sldId id="277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56"/>
          </p14:sldIdLst>
        </p14:section>
        <p14:section name="text slide" id="{65043596-36B7-4360-BB5C-7A99EFAEC5C9}">
          <p14:sldIdLst>
            <p14:sldId id="259"/>
          </p14:sldIdLst>
        </p14:section>
        <p14:section name="graph slide" id="{B26F6679-C236-4D3D-BC2F-CAE5ED400718}">
          <p14:sldIdLst>
            <p14:sldId id="279"/>
            <p14:sldId id="280"/>
            <p14:sldId id="266"/>
            <p14:sldId id="268"/>
            <p14:sldId id="277"/>
          </p14:sldIdLst>
        </p14:section>
        <p14:section name="bibliography" id="{2ECB0A3B-7D16-4F98-AD6A-5308DF7BF078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4" autoAdjust="0"/>
    <p:restoredTop sz="80528" autoAdjust="0"/>
  </p:normalViewPr>
  <p:slideViewPr>
    <p:cSldViewPr snapToGrid="0">
      <p:cViewPr varScale="1">
        <p:scale>
          <a:sx n="69" d="100"/>
          <a:sy n="69" d="100"/>
        </p:scale>
        <p:origin x="149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4678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760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54601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works ??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5211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582E-7652-4336-8F82-B8F78DEBE1E6}" type="datetime1">
              <a:rPr lang="en-GB" smtClean="0"/>
              <a:t>17/11/2025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873579" y="6356350"/>
            <a:ext cx="403654" cy="365125"/>
          </a:xfrm>
        </p:spPr>
        <p:txBody>
          <a:bodyPr/>
          <a:lstStyle>
            <a:lvl1pPr>
              <a:defRPr sz="1600"/>
            </a:lvl1pPr>
          </a:lstStyle>
          <a:p>
            <a:fld id="{013F6232-4F06-48BA-8F69-BF531F60782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1100E-89DB-4D21-B66A-B5E24FA59FB2}" type="datetime1">
              <a:rPr lang="en-GB" smtClean="0"/>
              <a:t>17/11/2025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769428" y="6349546"/>
            <a:ext cx="653143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7878B-5315-4496-8D10-2F17543DB034}" type="datetime1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EA969-CEB0-4E87-8DDD-72161074DF01}" type="datetime1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5A96A-71C8-435E-B03B-275B6E0D4AB2}" type="datetime1">
              <a:rPr lang="en-GB" smtClean="0"/>
              <a:t>17/11/2025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2E411-883A-45F0-8C4F-B0FE2C65FB28}" type="datetime1">
              <a:rPr lang="en-GB" smtClean="0"/>
              <a:t>17/11/2025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F6F48-3B55-4945-B23D-B0C51AFE28E6}" type="datetime1">
              <a:rPr lang="en-GB" smtClean="0"/>
              <a:t>17/11/2025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09ACC-63FA-4EE9-AE4D-ECCDA5B91432}" type="datetime1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1FE4-6F4F-4845-8022-15597911E7C2}" type="datetime1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C014-E638-4D69-B7E7-9E0555AE7620}" type="datetime1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F2F9-D101-4F42-A846-5D94E4802AD7}" type="datetime1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9CFF2-C4A0-C88B-1E9C-7E8851385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93A8F-E2E3-B4BD-3B84-D178AF0ED9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BFD4-B46B-34FE-9A8B-9033E96DC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582E-7652-4336-8F82-B8F78DEBE1E6}" type="datetime1">
              <a:rPr lang="en-GB" smtClean="0"/>
              <a:t>17/11/2025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83137-53E8-FAAE-F427-32424D86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73579" y="6356350"/>
            <a:ext cx="403654" cy="365125"/>
          </a:xfrm>
        </p:spPr>
        <p:txBody>
          <a:bodyPr/>
          <a:lstStyle>
            <a:lvl1pPr>
              <a:defRPr sz="1600"/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79583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A4901-6338-2E30-CCE8-77FD13F59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1100E-89DB-4D21-B66A-B5E24FA59FB2}" type="datetime1">
              <a:rPr lang="en-GB" smtClean="0"/>
              <a:t>17/11/2025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B5D97-094A-D8D8-0C4D-1DC08462E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9428" y="6349546"/>
            <a:ext cx="653143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1673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90F5D-2977-B8B5-3FC5-DF3AE8740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47B5-0632-4013-2832-15D3D21A8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A4BC1-6A36-94FE-17CE-DFAD0BF1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7878B-5315-4496-8D10-2F17543DB034}" type="datetime1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5FD8C-55CD-AD30-1E91-60750BCCD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A2AD0-0D56-CC63-D932-D1C61C77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07331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3C60A-FE48-2910-84A1-612B23A78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EA969-CEB0-4E87-8DDD-72161074DF01}" type="datetime1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C67CE-6F73-71D9-BF0B-18A7CD945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80765-E2ED-A6A2-9401-8425BFA02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03069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696258-07C0-0BF2-CA2A-156B572B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5A96A-71C8-435E-B03B-275B6E0D4AB2}" type="datetime1">
              <a:rPr lang="en-GB" smtClean="0"/>
              <a:t>17/11/2025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07D047-C31B-4C8F-E0B3-75014FF62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84742A-6F5B-071B-E0EA-98040252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55504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2CDD78-FBCD-76B9-2CA1-031942F2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2E411-883A-45F0-8C4F-B0FE2C65FB28}" type="datetime1">
              <a:rPr lang="en-GB" smtClean="0"/>
              <a:t>17/11/2025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8218E7-E787-22C8-B531-FFEC9002A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76BDA-2FCA-9763-2EA1-4033A5600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542024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0FDB8F-73D7-2EBC-A62D-4DC737946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F6F48-3B55-4945-B23D-B0C51AFE28E6}" type="datetime1">
              <a:rPr lang="en-GB" smtClean="0"/>
              <a:t>17/11/2025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D8D704-B4F5-F739-D1FA-65F2302BC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7751D-0392-D26F-33B1-9B05704F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53370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3685DB-F13A-97BE-F448-174160797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09ACC-63FA-4EE9-AE4D-ECCDA5B91432}" type="datetime1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0ACE2-CF77-9AC4-52EF-82FBD40BB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0D674-CAD3-59F8-9DF5-CA4D8E7A0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67692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4AE937-083F-51CA-E382-30FE9BEB0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1FE4-6F4F-4845-8022-15597911E7C2}" type="datetime1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F255A-C1CC-7A32-A0B3-4283D8583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6C013-C03F-024A-D0F4-FF67E6709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07861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16D05-728D-ACC9-D7EA-DC9D7330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C014-E638-4D69-B7E7-9E0555AE7620}" type="datetime1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4FC10-CEAF-B332-2960-AABF9CE25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ED6E7-B58D-A523-935C-4B108C943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27826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399A6-3C5A-016E-2F7E-AE842F8D7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F2F9-D101-4F42-A846-5D94E4802AD7}" type="datetime1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242F9-DB70-E4F8-D075-6A9051875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FAB33-4759-572E-2291-D19531D81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7123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16A2C-1914-4EE9-9598-2A06F9BE67BF}" type="datetime1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EC99-01D5-4EE5-ACB1-C061987EA0A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16A2C-1914-4EE9-9598-2A06F9BE67BF}" type="datetime1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1333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sti.gov/biblio/1847886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rel.gov/docs/fy21osti/78347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/>
          <a:p>
            <a:r>
              <a:rPr lang="it-IT" sz="4000" dirty="0"/>
              <a:t>Weekly report: </a:t>
            </a:r>
            <a:r>
              <a:rPr lang="en-US" altLang="it-IT" sz="4000" dirty="0"/>
              <a:t>Storage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655762"/>
          </a:xfrm>
        </p:spPr>
        <p:txBody>
          <a:bodyPr>
            <a:normAutofit/>
          </a:bodyPr>
          <a:lstStyle/>
          <a:p>
            <a:r>
              <a:rPr lang="ar-EG" altLang="it-IT" sz="2000" dirty="0"/>
              <a:t>8</a:t>
            </a:r>
            <a:r>
              <a:rPr lang="it-IT" sz="2000" dirty="0"/>
              <a:t>th week – </a:t>
            </a:r>
            <a:r>
              <a:rPr lang="ar-EG" altLang="it-IT" sz="2000" dirty="0"/>
              <a:t>9</a:t>
            </a:r>
            <a:r>
              <a:rPr lang="it-IT" sz="2000" dirty="0"/>
              <a:t>th Presentation</a:t>
            </a:r>
          </a:p>
          <a:p>
            <a:r>
              <a:rPr lang="it-IT" sz="2000" dirty="0"/>
              <a:t>Date: </a:t>
            </a:r>
            <a:r>
              <a:rPr lang="en-US" altLang="it-IT" sz="2000" dirty="0"/>
              <a:t>1</a:t>
            </a:r>
            <a:r>
              <a:rPr lang="ar-EG" altLang="it-IT" sz="2000" dirty="0"/>
              <a:t>8</a:t>
            </a:r>
            <a:r>
              <a:rPr lang="en-US" altLang="it-IT" sz="2000" dirty="0"/>
              <a:t> </a:t>
            </a:r>
            <a:r>
              <a:rPr lang="it-IT" sz="2000" dirty="0"/>
              <a:t>/</a:t>
            </a:r>
            <a:r>
              <a:rPr lang="en-US" altLang="it-IT" sz="2000" dirty="0"/>
              <a:t>11</a:t>
            </a:r>
            <a:r>
              <a:rPr lang="it-IT" sz="2000" dirty="0"/>
              <a:t>/2025</a:t>
            </a:r>
          </a:p>
          <a:p>
            <a:r>
              <a:rPr lang="it-IT" sz="2000" dirty="0"/>
              <a:t>Supervisor: Dr. </a:t>
            </a:r>
            <a:r>
              <a:rPr lang="en-US" sz="2000" dirty="0"/>
              <a:t>Laurence </a:t>
            </a:r>
            <a:r>
              <a:rPr lang="en-US" sz="2000" dirty="0" err="1"/>
              <a:t>Alhrshy</a:t>
            </a:r>
            <a:endParaRPr lang="en-GB" sz="2000" dirty="0"/>
          </a:p>
        </p:txBody>
      </p:sp>
      <p:pic>
        <p:nvPicPr>
          <p:cNvPr id="8" name="Picture 8" descr="Hochschule Flensburg (Fachhochschule) – Wikipe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A black background with blue text&#10;&#10;AI-generated content may be incorrect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13" name="Textfeld 12"/>
          <p:cNvSpPr txBox="1"/>
          <p:nvPr/>
        </p:nvSpPr>
        <p:spPr>
          <a:xfrm>
            <a:off x="2454216" y="4609664"/>
            <a:ext cx="737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Presented by</a:t>
            </a:r>
            <a:r>
              <a:rPr lang="ar-EG" dirty="0"/>
              <a:t> :</a:t>
            </a:r>
            <a:r>
              <a:rPr lang="en-US" altLang="de-DE" dirty="0"/>
              <a:t>Mohamed Ahmed</a:t>
            </a:r>
          </a:p>
        </p:txBody>
      </p:sp>
      <p:sp>
        <p:nvSpPr>
          <p:cNvPr id="34" name="Free-form: Shape 13"/>
          <p:cNvSpPr/>
          <p:nvPr/>
        </p:nvSpPr>
        <p:spPr>
          <a:xfrm>
            <a:off x="0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ree-form: Shape 13"/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ree-form: Shape 13"/>
          <p:cNvSpPr/>
          <p:nvPr/>
        </p:nvSpPr>
        <p:spPr>
          <a:xfrm>
            <a:off x="31410" y="5935177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hteck 17"/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9" name="Picture 18" descr="A white windmill with clouds in the background&#10;&#10;AI-generated content may be incorrect.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2698" y="5340555"/>
            <a:ext cx="1753782" cy="131363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877213" y="6492562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1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61802" y="6555894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29979" y="6552895"/>
            <a:ext cx="973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1</a:t>
            </a:r>
            <a:r>
              <a:rPr lang="ar-EG" altLang="it-IT" sz="1200" dirty="0">
                <a:solidFill>
                  <a:schemeClr val="bg1"/>
                </a:solidFill>
              </a:rPr>
              <a:t>8</a:t>
            </a:r>
            <a:r>
              <a:rPr lang="en-US" altLang="it-IT" sz="1200" dirty="0">
                <a:solidFill>
                  <a:schemeClr val="bg1"/>
                </a:solidFill>
              </a:rPr>
              <a:t> 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11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/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/>
          <p:nvPr/>
        </p:nvSpPr>
        <p:spPr>
          <a:xfrm>
            <a:off x="370557" y="1444973"/>
            <a:ext cx="11332845" cy="40119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it-IT" sz="2800" dirty="0">
                <a:solidFill>
                  <a:srgbClr val="FF0000"/>
                </a:solidFill>
              </a:rPr>
              <a:t>Content</a:t>
            </a:r>
            <a:r>
              <a:rPr lang="it-IT" dirty="0">
                <a:solidFill>
                  <a:srgbClr val="FF0000"/>
                </a:solidFill>
              </a:rPr>
              <a:t> </a:t>
            </a:r>
            <a:br>
              <a:rPr lang="ar-EG" dirty="0"/>
            </a:br>
            <a:endParaRPr lang="it-IT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Application Scenarios of Energy Storage</a:t>
            </a:r>
            <a:endParaRPr lang="ar-EG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Society Benefits from Energy Storage</a:t>
            </a:r>
            <a:endParaRPr lang="ar-EG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Needed parameters for the pre-processing</a:t>
            </a:r>
            <a:endParaRPr lang="ar-EG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Energy Storage Simulation Workflow</a:t>
            </a:r>
            <a:endParaRPr lang="ar-EG" sz="18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b="1" dirty="0"/>
              <a:t>References</a:t>
            </a:r>
          </a:p>
          <a:p>
            <a:endParaRPr lang="it-IT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/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2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61802" y="6555894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29979" y="6552895"/>
            <a:ext cx="9575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1</a:t>
            </a:r>
            <a:r>
              <a:rPr lang="ar-EG" altLang="it-IT" sz="1200" dirty="0">
                <a:solidFill>
                  <a:schemeClr val="bg1"/>
                </a:solidFill>
              </a:rPr>
              <a:t>8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11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2BD0EF25-9C31-465D-A782-00E58F9E1039}"/>
              </a:ext>
            </a:extLst>
          </p:cNvPr>
          <p:cNvSpPr txBox="1">
            <a:spLocks/>
          </p:cNvSpPr>
          <p:nvPr/>
        </p:nvSpPr>
        <p:spPr>
          <a:xfrm>
            <a:off x="2877213" y="6492562"/>
            <a:ext cx="287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2</a:t>
            </a:fld>
            <a:endParaRPr lang="en-GB" sz="1400" dirty="0">
              <a:solidFill>
                <a:schemeClr val="bg1"/>
              </a:solidFill>
            </a:endParaRPr>
          </a:p>
        </p:txBody>
      </p:sp>
      <p:pic>
        <p:nvPicPr>
          <p:cNvPr id="1026" name="Picture 2" descr="Advantages of Wind Energy | Avaada">
            <a:extLst>
              <a:ext uri="{FF2B5EF4-FFF2-40B4-BE49-F238E27FC236}">
                <a16:creationId xmlns:a16="http://schemas.microsoft.com/office/drawing/2014/main" id="{9D9AFD5D-E77B-4277-BE85-9743483CC8F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4464" y="1969731"/>
            <a:ext cx="6196979" cy="3481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4ABC005-122F-40ED-BE0F-9183EFAF1C3A}"/>
              </a:ext>
            </a:extLst>
          </p:cNvPr>
          <p:cNvSpPr txBox="1"/>
          <p:nvPr/>
        </p:nvSpPr>
        <p:spPr>
          <a:xfrm>
            <a:off x="5998403" y="5480303"/>
            <a:ext cx="61443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avaada.com/advantages-of-wind-energy/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727BC127-4545-D3CD-4862-C320531ABA9D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5F9413CA-8E0D-B250-B31E-4AA68BA7D014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87E5E9A3-5B8C-CBB5-88F6-FB4E956A66F7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37C855E-F70E-F97A-5061-29D00BA11349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E0AA001-DA32-5B78-E7F7-57380033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F6232-4F06-48BA-8F69-BF531F607829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EBE381E-3397-D2E2-45A9-C6F7EAF78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004" y="532087"/>
            <a:ext cx="9529595" cy="712728"/>
          </a:xfrm>
        </p:spPr>
        <p:txBody>
          <a:bodyPr>
            <a:normAutofit/>
          </a:bodyPr>
          <a:lstStyle/>
          <a:p>
            <a:r>
              <a:rPr lang="en-GB" b="1" dirty="0"/>
              <a:t>Application Scenarios of Energy Storage</a:t>
            </a:r>
            <a:endParaRPr lang="de-DE" b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40CE86B-BA1B-4A2C-B63B-D3995EEF3E63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99492B8-E6AB-4E0F-8279-910A7FDA3ABF}"/>
              </a:ext>
            </a:extLst>
          </p:cNvPr>
          <p:cNvSpPr txBox="1"/>
          <p:nvPr/>
        </p:nvSpPr>
        <p:spPr>
          <a:xfrm>
            <a:off x="5161802" y="6597767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857DED-CB21-4913-A6EE-23CCB0DB26BD}"/>
              </a:ext>
            </a:extLst>
          </p:cNvPr>
          <p:cNvSpPr txBox="1"/>
          <p:nvPr/>
        </p:nvSpPr>
        <p:spPr>
          <a:xfrm>
            <a:off x="9172575" y="6584089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33658246-FF2B-4F5F-B6FD-4F30B360AD84}"/>
              </a:ext>
            </a:extLst>
          </p:cNvPr>
          <p:cNvSpPr txBox="1"/>
          <p:nvPr/>
        </p:nvSpPr>
        <p:spPr>
          <a:xfrm>
            <a:off x="1029979" y="6552895"/>
            <a:ext cx="973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1</a:t>
            </a:r>
            <a:r>
              <a:rPr lang="ar-EG" altLang="it-IT" sz="1200" dirty="0">
                <a:solidFill>
                  <a:schemeClr val="bg1"/>
                </a:solidFill>
              </a:rPr>
              <a:t>8</a:t>
            </a:r>
            <a:r>
              <a:rPr lang="en-US" altLang="it-IT" sz="1200" dirty="0">
                <a:solidFill>
                  <a:schemeClr val="bg1"/>
                </a:solidFill>
              </a:rPr>
              <a:t> 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11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EC22C-C79A-443D-941E-52C75CEB0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997" y="1455308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Steadying Power Infeed</a:t>
            </a:r>
            <a:r>
              <a:rPr lang="en-GB" dirty="0"/>
              <a:t>.</a:t>
            </a:r>
            <a:endParaRPr lang="ar-EG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Fast Frequency Response (FFR).</a:t>
            </a:r>
            <a:endParaRPr lang="ar-EG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Synthetic / Continuous Inertia Provision.</a:t>
            </a:r>
            <a:endParaRPr lang="ar-EG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Low Voltage Ride Through (LVRT).</a:t>
            </a:r>
            <a:endParaRPr lang="ar-EG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Power System Stabilization (PSS).</a:t>
            </a:r>
            <a:endParaRPr lang="ar-EG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Reduction of Mechanical Loads &amp; Stress.</a:t>
            </a:r>
            <a:endParaRPr lang="ar-EG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Support for Emergency Braking &amp; Ramp Control.</a:t>
            </a:r>
            <a:endParaRPr lang="ar-EG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989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727BC127-4545-D3CD-4862-C320531ABA9D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5F9413CA-8E0D-B250-B31E-4AA68BA7D014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87E5E9A3-5B8C-CBB5-88F6-FB4E956A66F7}"/>
              </a:ext>
            </a:extLst>
          </p:cNvPr>
          <p:cNvSpPr/>
          <p:nvPr/>
        </p:nvSpPr>
        <p:spPr>
          <a:xfrm rot="10800000">
            <a:off x="-26376" y="-20465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37C855E-F70E-F97A-5061-29D00BA11349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E0AA001-DA32-5B78-E7F7-57380033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F6232-4F06-48BA-8F69-BF531F607829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EBE381E-3397-D2E2-45A9-C6F7EAF78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622" y="670438"/>
            <a:ext cx="11479045" cy="521044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Society Benefits from Energy Storage</a:t>
            </a:r>
            <a:endParaRPr lang="de-DE" b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40CE86B-BA1B-4A2C-B63B-D3995EEF3E63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99492B8-E6AB-4E0F-8279-910A7FDA3ABF}"/>
              </a:ext>
            </a:extLst>
          </p:cNvPr>
          <p:cNvSpPr txBox="1"/>
          <p:nvPr/>
        </p:nvSpPr>
        <p:spPr>
          <a:xfrm>
            <a:off x="5161802" y="6597767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857DED-CB21-4913-A6EE-23CCB0DB26BD}"/>
              </a:ext>
            </a:extLst>
          </p:cNvPr>
          <p:cNvSpPr txBox="1"/>
          <p:nvPr/>
        </p:nvSpPr>
        <p:spPr>
          <a:xfrm>
            <a:off x="9172575" y="6584089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33658246-FF2B-4F5F-B6FD-4F30B360AD84}"/>
              </a:ext>
            </a:extLst>
          </p:cNvPr>
          <p:cNvSpPr txBox="1"/>
          <p:nvPr/>
        </p:nvSpPr>
        <p:spPr>
          <a:xfrm>
            <a:off x="1029979" y="6552895"/>
            <a:ext cx="973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1</a:t>
            </a:r>
            <a:r>
              <a:rPr lang="ar-EG" altLang="it-IT" sz="1200" dirty="0">
                <a:solidFill>
                  <a:schemeClr val="bg1"/>
                </a:solidFill>
              </a:rPr>
              <a:t>8</a:t>
            </a:r>
            <a:r>
              <a:rPr lang="en-US" altLang="it-IT" sz="1200" dirty="0">
                <a:solidFill>
                  <a:schemeClr val="bg1"/>
                </a:solidFill>
              </a:rPr>
              <a:t> 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11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EC22C-C79A-443D-941E-52C75CEB0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418" y="1647660"/>
            <a:ext cx="9517705" cy="3072087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More stable and reliable electricity </a:t>
            </a:r>
            <a:endParaRPr lang="ar-EG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Fewer blackouts and faster frequency recovery </a:t>
            </a:r>
            <a:endParaRPr lang="ar-EG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Cheaper energy in the long term </a:t>
            </a:r>
            <a:endParaRPr lang="ar-EG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More renewable energy penetration </a:t>
            </a:r>
            <a:endParaRPr lang="ar-EG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Longer turbine lifetime and fewer maintenance shutdowns </a:t>
            </a:r>
            <a:endParaRPr lang="ar-EG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74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727BC127-4545-D3CD-4862-C320531ABA9D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5F9413CA-8E0D-B250-B31E-4AA68BA7D014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87E5E9A3-5B8C-CBB5-88F6-FB4E956A66F7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37C855E-F70E-F97A-5061-29D00BA11349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E0AA001-DA32-5B78-E7F7-57380033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F6232-4F06-48BA-8F69-BF531F607829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EBE381E-3397-D2E2-45A9-C6F7EAF78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7" y="502853"/>
            <a:ext cx="9529595" cy="712728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Needed parameters for the pre-processing</a:t>
            </a:r>
            <a:endParaRPr lang="de-DE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CF1EAF4-4659-459C-81BC-FD700D53FB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54468" y="1499009"/>
            <a:ext cx="3452568" cy="275180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Battery Storage:</a:t>
            </a:r>
          </a:p>
          <a:p>
            <a:pPr marL="742950" lvl="1" indent="-285750" defTabSz="457200">
              <a:spcBef>
                <a:spcPct val="20000"/>
              </a:spcBef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Battery capacity </a:t>
            </a:r>
          </a:p>
          <a:p>
            <a:pPr marL="742950" lvl="1" indent="-285750" defTabSz="457200">
              <a:spcBef>
                <a:spcPct val="20000"/>
              </a:spcBef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Nominal voltage</a:t>
            </a:r>
          </a:p>
          <a:p>
            <a:pPr marL="742950" lvl="1" indent="-285750" defTabSz="457200">
              <a:spcBef>
                <a:spcPct val="20000"/>
              </a:spcBef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Maximum charge/discharge rate</a:t>
            </a:r>
          </a:p>
          <a:p>
            <a:pPr marL="742950" lvl="1" indent="-285750" defTabSz="457200">
              <a:spcBef>
                <a:spcPct val="20000"/>
              </a:spcBef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 SOC</a:t>
            </a:r>
          </a:p>
          <a:p>
            <a:pPr marL="742950" lvl="1" indent="-285750" defTabSz="457200">
              <a:spcBef>
                <a:spcPct val="20000"/>
              </a:spcBef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Rotor Hub </a:t>
            </a:r>
          </a:p>
          <a:p>
            <a:pPr marL="742950" lvl="1" indent="-285750" defTabSz="457200">
              <a:spcBef>
                <a:spcPct val="20000"/>
              </a:spcBef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Nacelle inertia about yaw axis</a:t>
            </a:r>
          </a:p>
          <a:p>
            <a:pPr marL="742950" lvl="1" indent="-285750" defTabSz="457200">
              <a:spcBef>
                <a:spcPct val="20000"/>
              </a:spcBef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Generator</a:t>
            </a:r>
          </a:p>
          <a:p>
            <a:pPr marL="457200" lvl="1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774CFF4-2F6E-42FD-A7ED-7083844BB1AB}"/>
              </a:ext>
            </a:extLst>
          </p:cNvPr>
          <p:cNvSpPr txBox="1">
            <a:spLocks/>
          </p:cNvSpPr>
          <p:nvPr/>
        </p:nvSpPr>
        <p:spPr>
          <a:xfrm>
            <a:off x="3018103" y="1439042"/>
            <a:ext cx="2850037" cy="32771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Generator:</a:t>
            </a:r>
          </a:p>
          <a:p>
            <a:pPr marL="742950" marR="0" lvl="1" indent="-285750" defTabSz="457200" fontAlgn="auto"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Generator efficiency</a:t>
            </a:r>
          </a:p>
          <a:p>
            <a:pPr marL="742950" marR="0" lvl="1" indent="-285750" defTabSz="457200" fontAlgn="auto"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Torque constant</a:t>
            </a:r>
          </a:p>
          <a:p>
            <a:pPr marL="0" indent="0">
              <a:buNone/>
            </a:pPr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Tower Dynamics:</a:t>
            </a:r>
          </a:p>
          <a:p>
            <a:pPr marL="742950" marR="0" lvl="1" indent="-285750" defTabSz="457200" fontAlgn="auto"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Tower mass</a:t>
            </a:r>
          </a:p>
          <a:p>
            <a:pPr marL="742950" marR="0" lvl="1" indent="-285750" defTabSz="457200" fontAlgn="auto"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Stiffness</a:t>
            </a:r>
          </a:p>
          <a:p>
            <a:pPr marL="742950" marR="0" lvl="1" indent="-285750" defTabSz="457200" fontAlgn="auto"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Tower height</a:t>
            </a:r>
          </a:p>
          <a:p>
            <a:pPr marL="0" indent="0">
              <a:buNone/>
            </a:pPr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Pitch Actuator:</a:t>
            </a:r>
          </a:p>
          <a:p>
            <a:pPr marL="742950" lvl="1" indent="-285750" defTabSz="457200">
              <a:spcBef>
                <a:spcPct val="20000"/>
              </a:spcBef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Pitch angle limits</a:t>
            </a:r>
            <a:endParaRPr lang="en-GB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defTabSz="457200">
              <a:spcBef>
                <a:spcPct val="20000"/>
              </a:spcBef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constant</a:t>
            </a:r>
          </a:p>
          <a:p>
            <a:pPr marL="0" indent="0">
              <a:buNone/>
            </a:pPr>
            <a:endParaRPr lang="en-US" sz="2400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5392D8C-A1AE-4E2D-A6C0-63493C37A27D}"/>
              </a:ext>
            </a:extLst>
          </p:cNvPr>
          <p:cNvSpPr txBox="1">
            <a:spLocks/>
          </p:cNvSpPr>
          <p:nvPr/>
        </p:nvSpPr>
        <p:spPr>
          <a:xfrm>
            <a:off x="270617" y="1439042"/>
            <a:ext cx="2557424" cy="39668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Aerodynamics</a:t>
            </a:r>
            <a:r>
              <a:rPr lang="en-GB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 density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Blade radius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Rotor swept area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thrust coefficients</a:t>
            </a:r>
            <a:endParaRPr lang="en-GB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 Train</a:t>
            </a:r>
            <a:r>
              <a:rPr lang="en-GB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Rotor inertia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Generator inertia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Gearbox ratio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40CE86B-BA1B-4A2C-B63B-D3995EEF3E63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99492B8-E6AB-4E0F-8279-910A7FDA3ABF}"/>
              </a:ext>
            </a:extLst>
          </p:cNvPr>
          <p:cNvSpPr txBox="1"/>
          <p:nvPr/>
        </p:nvSpPr>
        <p:spPr>
          <a:xfrm>
            <a:off x="5161802" y="6597767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857DED-CB21-4913-A6EE-23CCB0DB26BD}"/>
              </a:ext>
            </a:extLst>
          </p:cNvPr>
          <p:cNvSpPr txBox="1"/>
          <p:nvPr/>
        </p:nvSpPr>
        <p:spPr>
          <a:xfrm>
            <a:off x="9172575" y="6584089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33658246-FF2B-4F5F-B6FD-4F30B360AD84}"/>
              </a:ext>
            </a:extLst>
          </p:cNvPr>
          <p:cNvSpPr txBox="1"/>
          <p:nvPr/>
        </p:nvSpPr>
        <p:spPr>
          <a:xfrm>
            <a:off x="1029979" y="6552895"/>
            <a:ext cx="9575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1</a:t>
            </a:r>
            <a:r>
              <a:rPr lang="ar-EG" altLang="it-IT" sz="1200" dirty="0">
                <a:solidFill>
                  <a:schemeClr val="bg1"/>
                </a:solidFill>
              </a:rPr>
              <a:t>8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11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</p:spTree>
    <p:extLst>
      <p:ext uri="{BB962C8B-B14F-4D97-AF65-F5344CB8AC3E}">
        <p14:creationId xmlns:p14="http://schemas.microsoft.com/office/powerpoint/2010/main" val="2478551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/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/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/>
          <p:nvPr/>
        </p:nvSpPr>
        <p:spPr>
          <a:xfrm>
            <a:off x="109821" y="1310935"/>
            <a:ext cx="6965279" cy="513010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742950" lvl="1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Wind speed enters the Aerodynamics block → calculates </a:t>
            </a:r>
            <a:r>
              <a:rPr lang="el-GR" sz="2000" dirty="0"/>
              <a:t>λ, </a:t>
            </a:r>
            <a:r>
              <a:rPr lang="en-US" sz="2000" dirty="0"/>
              <a:t>Ma, and Fa.</a:t>
            </a:r>
            <a:r>
              <a:rPr lang="ar-EG" sz="2000" dirty="0"/>
              <a:t> </a:t>
            </a:r>
            <a:endParaRPr lang="en-US" sz="2000" dirty="0"/>
          </a:p>
          <a:p>
            <a:pPr marL="742950" lvl="1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Drive Train uses Ma → produces rotor speed (</a:t>
            </a:r>
            <a:r>
              <a:rPr lang="el-GR" sz="2000" dirty="0"/>
              <a:t>Ω) </a:t>
            </a:r>
            <a:r>
              <a:rPr lang="en-US" sz="2000" dirty="0"/>
              <a:t>and generator speed (</a:t>
            </a:r>
            <a:r>
              <a:rPr lang="el-GR" sz="2000" dirty="0"/>
              <a:t>Ω</a:t>
            </a:r>
            <a:r>
              <a:rPr lang="en-US" sz="2000" dirty="0"/>
              <a:t>g).</a:t>
            </a:r>
          </a:p>
          <a:p>
            <a:pPr marL="742950" lvl="1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Generator converts </a:t>
            </a:r>
            <a:r>
              <a:rPr lang="el-GR" sz="2000" dirty="0"/>
              <a:t>Ω</a:t>
            </a:r>
            <a:r>
              <a:rPr lang="en-US" sz="2000" dirty="0"/>
              <a:t>g into electrical power (Pel) and generator torque (Mg).</a:t>
            </a:r>
          </a:p>
          <a:p>
            <a:pPr marL="742950" lvl="1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Pitch Actuator adjusts blade angle (</a:t>
            </a:r>
            <a:r>
              <a:rPr lang="el-GR" sz="2000" dirty="0"/>
              <a:t>θ) </a:t>
            </a:r>
            <a:r>
              <a:rPr lang="en-US" sz="2000" dirty="0"/>
              <a:t>based on the control input (u).</a:t>
            </a:r>
          </a:p>
          <a:p>
            <a:pPr marL="742950" lvl="1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Tower Dynamics use Fa → give tower displacement (</a:t>
            </a:r>
            <a:r>
              <a:rPr lang="en-US" sz="2000" dirty="0" err="1"/>
              <a:t>xT</a:t>
            </a:r>
            <a:r>
              <a:rPr lang="en-US" sz="2000" dirty="0"/>
              <a:t>).</a:t>
            </a:r>
          </a:p>
          <a:p>
            <a:pPr marL="742950" lvl="1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Battery/Grid Logic takes Pel + SOC → sends power to grid or battery.</a:t>
            </a:r>
          </a:p>
          <a:p>
            <a:pPr marL="742950" lvl="1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Feedback Control maintains stable speed, torque, and power.</a:t>
            </a:r>
            <a:br>
              <a:rPr lang="it-IT" b="1" dirty="0"/>
            </a:br>
            <a:endParaRPr lang="it-IT" b="1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62997" y="91737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700" b="1" dirty="0"/>
              <a:t>Energy Storage Simulation Workflow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2DEB544A-54A9-4DC5-9FB9-16A7C152A32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44237" y="1319363"/>
            <a:ext cx="5320518" cy="3547012"/>
          </a:xfrm>
        </p:spPr>
      </p:pic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6</a:t>
            </a:fld>
            <a:endParaRPr lang="en-GB" sz="14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/>
          <p:cNvSpPr/>
          <p:nvPr/>
        </p:nvSpPr>
        <p:spPr>
          <a:xfrm>
            <a:off x="-7747" y="6580056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TextBox 13"/>
          <p:cNvSpPr txBox="1"/>
          <p:nvPr/>
        </p:nvSpPr>
        <p:spPr>
          <a:xfrm>
            <a:off x="5161802" y="6597767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72575" y="6584089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8275" y="5849957"/>
            <a:ext cx="18473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ar-EG"/>
          </a:p>
        </p:txBody>
      </p:sp>
      <p:sp>
        <p:nvSpPr>
          <p:cNvPr id="32" name="TextBox 14"/>
          <p:cNvSpPr txBox="1"/>
          <p:nvPr/>
        </p:nvSpPr>
        <p:spPr>
          <a:xfrm>
            <a:off x="1029979" y="6552895"/>
            <a:ext cx="9575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1</a:t>
            </a:r>
            <a:r>
              <a:rPr lang="ar-EG" altLang="it-IT" sz="1200" dirty="0">
                <a:solidFill>
                  <a:schemeClr val="bg1"/>
                </a:solidFill>
              </a:rPr>
              <a:t>8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11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69715D-BD15-4551-A1CD-B29042C926B0}"/>
              </a:ext>
            </a:extLst>
          </p:cNvPr>
          <p:cNvSpPr txBox="1"/>
          <p:nvPr/>
        </p:nvSpPr>
        <p:spPr>
          <a:xfrm>
            <a:off x="6844237" y="5045839"/>
            <a:ext cx="4275532" cy="123780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1">
              <a:spcBef>
                <a:spcPts val="1000"/>
              </a:spcBef>
            </a:pPr>
            <a:r>
              <a:rPr lang="en-US" sz="2000" b="1" dirty="0"/>
              <a:t>Simulation Outputs</a:t>
            </a:r>
            <a:endParaRPr lang="ar-EG" sz="2000" dirty="0"/>
          </a:p>
          <a:p>
            <a:pPr marL="742950" lvl="1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2000" dirty="0"/>
              <a:t>Battery State of Charge (SOC)</a:t>
            </a:r>
            <a:endParaRPr lang="ar-EG" sz="2000" dirty="0"/>
          </a:p>
          <a:p>
            <a:pPr marL="742950" lvl="1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Battery/Grid Switching Signal</a:t>
            </a:r>
            <a:endParaRPr lang="ar-EG" sz="2000" dirty="0"/>
          </a:p>
          <a:p>
            <a:pPr lvl="1">
              <a:spcBef>
                <a:spcPts val="1000"/>
              </a:spcBef>
            </a:pPr>
            <a:br>
              <a:rPr lang="it-IT" b="1" dirty="0"/>
            </a:br>
            <a:endParaRPr lang="it-IT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BA337B-045C-41B2-8D8D-2AF0B3EACE06}"/>
              </a:ext>
            </a:extLst>
          </p:cNvPr>
          <p:cNvSpPr txBox="1"/>
          <p:nvPr/>
        </p:nvSpPr>
        <p:spPr>
          <a:xfrm>
            <a:off x="8053672" y="4489825"/>
            <a:ext cx="61321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/>
              <a:t>Source: Own creation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Free-form: Shape 13"/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Free-form: Shape 13"/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82328" y="198387"/>
            <a:ext cx="10515600" cy="1325563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/>
              <a:t>Next Presentation</a:t>
            </a:r>
            <a:endParaRPr lang="en-US" sz="2400" b="1" dirty="0">
              <a:sym typeface="+mn-ea"/>
            </a:endParaRP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7CCE0A0-B4E2-481B-8241-7A2C5B5162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328" y="1361681"/>
            <a:ext cx="8573167" cy="3596992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GB" sz="2000" b="1" dirty="0"/>
              <a:t>Cable Calculations</a:t>
            </a:r>
          </a:p>
          <a:p>
            <a:pPr>
              <a:lnSpc>
                <a:spcPct val="200000"/>
              </a:lnSpc>
            </a:pPr>
            <a:r>
              <a:rPr lang="en-GB" sz="2000" b="1" dirty="0"/>
              <a:t>Converter Calculations</a:t>
            </a:r>
            <a:endParaRPr lang="en-US" sz="2000" b="1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F6232-4F06-48BA-8F69-BF531F607829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/>
          <p:cNvSpPr/>
          <p:nvPr/>
        </p:nvSpPr>
        <p:spPr>
          <a:xfrm>
            <a:off x="-7747" y="6580056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61802" y="6597767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Mohamed Ahmed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72575" y="6584089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Storage System Team/ Optimus Syria</a:t>
            </a:r>
          </a:p>
        </p:txBody>
      </p:sp>
      <p:sp>
        <p:nvSpPr>
          <p:cNvPr id="26" name="TextBox 14"/>
          <p:cNvSpPr txBox="1"/>
          <p:nvPr/>
        </p:nvSpPr>
        <p:spPr>
          <a:xfrm>
            <a:off x="1029979" y="6552895"/>
            <a:ext cx="973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  <a:r>
              <a:rPr kumimoji="0" lang="ar-EG" alt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8</a:t>
            </a:r>
            <a:r>
              <a:rPr kumimoji="0" lang="en-US" alt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/</a:t>
            </a:r>
            <a:r>
              <a:rPr kumimoji="0" lang="en-US" alt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11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/2025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83EA7592-B30A-4269-831A-2CC2800ED94A}"/>
              </a:ext>
            </a:extLst>
          </p:cNvPr>
          <p:cNvSpPr txBox="1">
            <a:spLocks/>
          </p:cNvSpPr>
          <p:nvPr/>
        </p:nvSpPr>
        <p:spPr>
          <a:xfrm>
            <a:off x="2877213" y="6511224"/>
            <a:ext cx="287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F6232-4F06-48BA-8F69-BF531F607829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2975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/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/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/>
          <p:nvPr/>
        </p:nvSpPr>
        <p:spPr>
          <a:xfrm>
            <a:off x="298230" y="1408172"/>
            <a:ext cx="11239919" cy="2230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1800" dirty="0">
                <a:hlinkClick r:id="rId3"/>
              </a:rPr>
              <a:t>https://www.osti.gov/biblio/1847886</a:t>
            </a:r>
            <a:endParaRPr lang="ar-EG" sz="1800" dirty="0"/>
          </a:p>
          <a:p>
            <a:pPr marL="457200" indent="-457200">
              <a:buAutoNum type="arabicPeriod"/>
            </a:pPr>
            <a:r>
              <a:rPr lang="en-US" sz="1800" dirty="0">
                <a:hlinkClick r:id="rId4"/>
              </a:rPr>
              <a:t>https://www.nrel.gov/docs/fy21osti/78347.pdf</a:t>
            </a:r>
            <a:endParaRPr lang="ar-EG" sz="1800" dirty="0"/>
          </a:p>
          <a:p>
            <a:pPr marL="457200" indent="-457200">
              <a:buFontTx/>
              <a:buAutoNum type="arabicPeriod"/>
            </a:pPr>
            <a:r>
              <a:rPr lang="en-GB" dirty="0"/>
              <a:t>Grid Services and Stress Reduction with a Flywheel in the Rotor of a Wind Turbine Clemens </a:t>
            </a:r>
            <a:r>
              <a:rPr lang="en-GB" dirty="0" err="1"/>
              <a:t>Jauch</a:t>
            </a:r>
            <a:endParaRPr lang="ar-EG" dirty="0"/>
          </a:p>
          <a:p>
            <a:endParaRPr lang="ar-EG" sz="1800" dirty="0"/>
          </a:p>
          <a:p>
            <a:pPr>
              <a:lnSpc>
                <a:spcPct val="200000"/>
              </a:lnSpc>
            </a:pPr>
            <a:endParaRPr lang="ar-EG" dirty="0"/>
          </a:p>
          <a:p>
            <a:pPr>
              <a:lnSpc>
                <a:spcPct val="200000"/>
              </a:lnSpc>
            </a:pPr>
            <a:endParaRPr lang="it-IT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98230" y="370993"/>
            <a:ext cx="10036690" cy="712728"/>
          </a:xfrm>
        </p:spPr>
        <p:txBody>
          <a:bodyPr>
            <a:normAutofit fontScale="90000"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References</a:t>
            </a: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/>
          <p:cNvSpPr/>
          <p:nvPr/>
        </p:nvSpPr>
        <p:spPr>
          <a:xfrm>
            <a:off x="0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853492" y="6580056"/>
            <a:ext cx="438631" cy="258834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13F6232-4F06-48BA-8F69-BF531F607829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8</a:t>
            </a:fld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69549" y="6555894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Mohamed Ahmed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37726" y="6552895"/>
            <a:ext cx="973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it-IT" sz="1200" dirty="0">
                <a:solidFill>
                  <a:schemeClr val="bg1"/>
                </a:solidFill>
              </a:rPr>
              <a:t>1</a:t>
            </a:r>
            <a:r>
              <a:rPr lang="ar-EG" altLang="it-IT" sz="1200" dirty="0">
                <a:solidFill>
                  <a:schemeClr val="bg1"/>
                </a:solidFill>
              </a:rPr>
              <a:t>8</a:t>
            </a:r>
            <a:r>
              <a:rPr lang="en-US" altLang="it-IT" sz="1200" dirty="0">
                <a:solidFill>
                  <a:schemeClr val="bg1"/>
                </a:solidFill>
              </a:rPr>
              <a:t> 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/</a:t>
            </a:r>
            <a:r>
              <a:rPr kumimoji="0" lang="en-US" alt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  <a:r>
              <a:rPr kumimoji="0" lang="ar-EG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/2025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0322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Storage System Team/ Optimus Syria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511</Words>
  <Application>Microsoft Office PowerPoint</Application>
  <PresentationFormat>Widescreen</PresentationFormat>
  <Paragraphs>116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Times New Roman</vt:lpstr>
      <vt:lpstr>Wingdings</vt:lpstr>
      <vt:lpstr>Office Theme</vt:lpstr>
      <vt:lpstr>Custom Design</vt:lpstr>
      <vt:lpstr>1_Office Theme</vt:lpstr>
      <vt:lpstr>Weekly report: Storage System</vt:lpstr>
      <vt:lpstr>PowerPoint Presentation</vt:lpstr>
      <vt:lpstr>Application Scenarios of Energy Storage</vt:lpstr>
      <vt:lpstr>Society Benefits from Energy Storage</vt:lpstr>
      <vt:lpstr>Needed parameters for the pre-processing</vt:lpstr>
      <vt:lpstr>Energy Storage Simulation Workflow</vt:lpstr>
      <vt:lpstr>Next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 lidar-assisted control group</dc:title>
  <dc:creator>Federico De Mita</dc:creator>
  <cp:lastModifiedBy>mohamed Alywa</cp:lastModifiedBy>
  <cp:revision>85</cp:revision>
  <dcterms:created xsi:type="dcterms:W3CDTF">2025-07-21T13:11:00Z</dcterms:created>
  <dcterms:modified xsi:type="dcterms:W3CDTF">2025-11-17T12:25:24Z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2F57D44E6381456FBAA078C14AE94E08_13</vt:lpwstr>
  </property>
  <property fmtid="{D5CDD505-2E9C-101B-9397-08002B2CF9AE}" pid="3" name="KSOProductBuildVer">
    <vt:lpwstr>1033-12.2.0.23131</vt:lpwstr>
  </property>
</Properties>
</file>