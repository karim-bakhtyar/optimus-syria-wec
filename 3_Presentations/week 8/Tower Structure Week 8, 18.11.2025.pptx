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0"/>
  </p:notesMasterIdLst>
  <p:handoutMasterIdLst>
    <p:handoutMasterId r:id="rId11"/>
  </p:handoutMasterIdLst>
  <p:sldIdLst>
    <p:sldId id="270" r:id="rId4"/>
    <p:sldId id="259" r:id="rId5"/>
    <p:sldId id="284" r:id="rId6"/>
    <p:sldId id="293" r:id="rId7"/>
    <p:sldId id="292" r:id="rId8"/>
    <p:sldId id="2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3"/>
            <p14:sldId id="292"/>
            <p14:sldId id="294"/>
          </p14:sldIdLst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08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18/11/2025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Mohammed </a:t>
            </a:r>
            <a:r>
              <a:rPr lang="de-DE" sz="1600" b="1" dirty="0" err="1">
                <a:latin typeface="Times New Roman" pitchFamily="18" charset="0"/>
                <a:cs typeface="Times New Roman" pitchFamily="18" charset="0"/>
              </a:rPr>
              <a:t>Eldemerdash</a:t>
            </a:r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 (760137)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3BC03542-2B92-A4E1-0654-209FC0C4007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87400" y="1638300"/>
            <a:ext cx="10261600" cy="3203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Optimizing the tower design. 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Modelling the tower in SolidWorks.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The next tasks</a:t>
            </a:r>
          </a:p>
        </p:txBody>
      </p:sp>
      <p:sp>
        <p:nvSpPr>
          <p:cNvPr id="2" name="Foliennummernplatzhalter 24">
            <a:extLst>
              <a:ext uri="{FF2B5EF4-FFF2-40B4-BE49-F238E27FC236}">
                <a16:creationId xmlns:a16="http://schemas.microsoft.com/office/drawing/2014/main" id="{5ED0AF0D-E2E4-9BC9-3A2D-126B4661D381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2</a:t>
            </a:fld>
            <a:endParaRPr lang="en-GB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91C732EA-B826-BD1B-7452-94115DC6C15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58321C-8606-B5B1-11AF-02111BEF484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6" name="Textfeld 12">
            <a:extLst>
              <a:ext uri="{FF2B5EF4-FFF2-40B4-BE49-F238E27FC236}">
                <a16:creationId xmlns:a16="http://schemas.microsoft.com/office/drawing/2014/main" id="{FD8D46E1-C627-1EF0-A403-1489AF80B25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38200" y="0"/>
            <a:ext cx="7809232" cy="1282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the tower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03AF7-579F-55BD-2BA3-B0208530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" b="1981"/>
          <a:stretch>
            <a:fillRect/>
          </a:stretch>
        </p:blipFill>
        <p:spPr>
          <a:xfrm>
            <a:off x="3102698" y="1295359"/>
            <a:ext cx="3058223" cy="5186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A5056-E45D-C66D-8332-AA3A4618B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921" y="1295359"/>
            <a:ext cx="2767989" cy="5095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3A86A-995C-EA3B-140E-D6549BED7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588" y="1295360"/>
            <a:ext cx="2767989" cy="5110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C15147-5C19-38B1-05EE-27E1BA425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40" y="1315678"/>
            <a:ext cx="2725080" cy="5075659"/>
          </a:xfrm>
          <a:prstGeom prst="rect">
            <a:avLst/>
          </a:prstGeom>
        </p:spPr>
      </p:pic>
      <p:sp>
        <p:nvSpPr>
          <p:cNvPr id="16" name="Foliennummernplatzhalter 24">
            <a:extLst>
              <a:ext uri="{FF2B5EF4-FFF2-40B4-BE49-F238E27FC236}">
                <a16:creationId xmlns:a16="http://schemas.microsoft.com/office/drawing/2014/main" id="{3627A29C-86A2-FFD2-6B22-42FFE0FB63E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3</a:t>
            </a:fld>
            <a:endParaRPr lang="en-GB" dirty="0"/>
          </a:p>
        </p:txBody>
      </p:sp>
      <p:sp>
        <p:nvSpPr>
          <p:cNvPr id="19" name="Fußzeilenplatzhalter 5">
            <a:extLst>
              <a:ext uri="{FF2B5EF4-FFF2-40B4-BE49-F238E27FC236}">
                <a16:creationId xmlns:a16="http://schemas.microsoft.com/office/drawing/2014/main" id="{9D61414F-54D0-9003-AC1B-51FA4C33F24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0" name="Datumsplatzhalter 4">
            <a:extLst>
              <a:ext uri="{FF2B5EF4-FFF2-40B4-BE49-F238E27FC236}">
                <a16:creationId xmlns:a16="http://schemas.microsoft.com/office/drawing/2014/main" id="{D8839F40-B482-285B-E528-DA7ABF2D3E5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21" name="Textfeld 12">
            <a:extLst>
              <a:ext uri="{FF2B5EF4-FFF2-40B4-BE49-F238E27FC236}">
                <a16:creationId xmlns:a16="http://schemas.microsoft.com/office/drawing/2014/main" id="{F0E15181-9319-83C6-81FA-94428ACF559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6AFD-F56D-911A-8738-7D81F556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B4C7E9-26AC-35AC-08FC-61F190FCE1F0}"/>
              </a:ext>
            </a:extLst>
          </p:cNvPr>
          <p:cNvSpPr txBox="1"/>
          <p:nvPr/>
        </p:nvSpPr>
        <p:spPr>
          <a:xfrm>
            <a:off x="838200" y="0"/>
            <a:ext cx="7809232" cy="1282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the tower design</a:t>
            </a:r>
          </a:p>
        </p:txBody>
      </p:sp>
      <p:sp>
        <p:nvSpPr>
          <p:cNvPr id="2" name="Foliennummernplatzhalter 24">
            <a:extLst>
              <a:ext uri="{FF2B5EF4-FFF2-40B4-BE49-F238E27FC236}">
                <a16:creationId xmlns:a16="http://schemas.microsoft.com/office/drawing/2014/main" id="{F52AADDB-CCCC-4E0C-36A2-2DCE1BC6ADA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4</a:t>
            </a:fld>
            <a:endParaRPr lang="en-GB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05F92333-E4AB-7A8F-0CAB-B54D0FE0C66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4" name="Datumsplatzhalter 4">
            <a:extLst>
              <a:ext uri="{FF2B5EF4-FFF2-40B4-BE49-F238E27FC236}">
                <a16:creationId xmlns:a16="http://schemas.microsoft.com/office/drawing/2014/main" id="{6BAD0B11-5216-4AFF-9EE0-633FB61FF4D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7" name="Textfeld 12">
            <a:extLst>
              <a:ext uri="{FF2B5EF4-FFF2-40B4-BE49-F238E27FC236}">
                <a16:creationId xmlns:a16="http://schemas.microsoft.com/office/drawing/2014/main" id="{402DD986-1E2E-A955-D56F-C826021CE82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14" name="Picture 1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F3C1F6AE-243D-1C08-82C2-802B8D147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90" y="1729065"/>
            <a:ext cx="10884459" cy="1530429"/>
          </a:xfrm>
          <a:prstGeom prst="rect">
            <a:avLst/>
          </a:prstGeom>
        </p:spPr>
      </p:pic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89ED15D-C7EB-E88C-844E-F9647DF802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3429000"/>
            <a:ext cx="5766760" cy="2608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b="1" dirty="0"/>
              <a:t>Changes to the dimensions of the tower:</a:t>
            </a:r>
            <a:endParaRPr lang="en-US" dirty="0"/>
          </a:p>
          <a:p>
            <a:pPr marL="285750" indent="-285750"/>
            <a:r>
              <a:rPr lang="en-US" dirty="0"/>
              <a:t>Part one: no changes.</a:t>
            </a:r>
          </a:p>
          <a:p>
            <a:pPr marL="285750" indent="-285750"/>
            <a:r>
              <a:rPr lang="en-US" dirty="0"/>
              <a:t>Part two: thickness reduced from 50 mm to 40 mm. </a:t>
            </a:r>
          </a:p>
          <a:p>
            <a:pPr marL="285750" indent="-285750"/>
            <a:r>
              <a:rPr lang="en-US" dirty="0"/>
              <a:t>Part three: thickness reduced from 45 mm to 35 mm. </a:t>
            </a:r>
          </a:p>
          <a:p>
            <a:pPr marL="285750" indent="-285750"/>
            <a:r>
              <a:rPr lang="en-US" dirty="0"/>
              <a:t>Part four: thickness reduced from 40 mm to 25 mm. </a:t>
            </a:r>
          </a:p>
          <a:p>
            <a:pPr marL="285750" indent="-285750"/>
            <a:r>
              <a:rPr lang="en-US" dirty="0"/>
              <a:t>Part five: thickness reduced from 35 mm to 22 mm.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7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57249" y="787400"/>
            <a:ext cx="4854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the tower in SolidWorks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10DE3900-DF43-79B7-D217-43ECED5F0656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5</a:t>
            </a:fld>
            <a:endParaRPr lang="en-GB" dirty="0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162284B8-1296-72C7-F5D0-EC11C0F244F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C7FDE0ED-BEB9-CA73-9E03-41F1D64A512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F791CE2-48F0-C4AF-C62C-AE4E55AC3BD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pic>
        <p:nvPicPr>
          <p:cNvPr id="16" name="Picture 15" descr="A black and grey object&#10;&#10;AI-generated content may be incorrect.">
            <a:extLst>
              <a:ext uri="{FF2B5EF4-FFF2-40B4-BE49-F238E27FC236}">
                <a16:creationId xmlns:a16="http://schemas.microsoft.com/office/drawing/2014/main" id="{8DEA13F4-E298-18EF-8915-97E6B7A33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69" y="1743137"/>
            <a:ext cx="3826511" cy="4177463"/>
          </a:xfrm>
          <a:prstGeom prst="rect">
            <a:avLst/>
          </a:prstGeom>
        </p:spPr>
      </p:pic>
      <p:pic>
        <p:nvPicPr>
          <p:cNvPr id="18" name="Picture 17" descr="A black and white drawing of a tall pole&#10;&#10;AI-generated content may be incorrect.">
            <a:extLst>
              <a:ext uri="{FF2B5EF4-FFF2-40B4-BE49-F238E27FC236}">
                <a16:creationId xmlns:a16="http://schemas.microsoft.com/office/drawing/2014/main" id="{35C7F658-1696-BBDE-8D7E-482E9EB96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237" y="1380005"/>
            <a:ext cx="2492969" cy="509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7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EC3E-8B07-DF81-E063-8591A704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43EB71-A80F-7219-3FDF-EE740DE97B08}"/>
              </a:ext>
            </a:extLst>
          </p:cNvPr>
          <p:cNvSpPr txBox="1"/>
          <p:nvPr/>
        </p:nvSpPr>
        <p:spPr>
          <a:xfrm>
            <a:off x="857249" y="787400"/>
            <a:ext cx="20842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tasks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04721567-CA17-DDCE-326B-EB33A3D929FA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6</a:t>
            </a:fld>
            <a:endParaRPr lang="en-GB" dirty="0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34503BA6-CE39-262B-4A41-D2F61B694030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51A5FD9E-FD3A-10C6-97E8-0ABF9ACF87CF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A7F7645-7E41-E0AA-397B-BFF2167E74A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A3553016-D863-4D9D-1D97-4C918730E3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2223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Import the SolidWorks model into the ANSYS program to obtain the exact eigenfrequency and tower deflection values.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Prepare the Campbell diagram and the production range.</a:t>
            </a:r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2147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255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Ibrahim Mostafa</cp:lastModifiedBy>
  <cp:revision>68</cp:revision>
  <dcterms:created xsi:type="dcterms:W3CDTF">2025-09-28T13:42:33Z</dcterms:created>
  <dcterms:modified xsi:type="dcterms:W3CDTF">2025-11-17T18:17:38Z</dcterms:modified>
</cp:coreProperties>
</file>