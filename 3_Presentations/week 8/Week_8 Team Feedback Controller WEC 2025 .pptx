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</p:sldMasterIdLst>
  <p:notesMasterIdLst>
    <p:notesMasterId r:id="rId18"/>
  </p:notesMasterIdLst>
  <p:sldIdLst>
    <p:sldId id="257" r:id="rId3"/>
    <p:sldId id="259" r:id="rId4"/>
    <p:sldId id="261" r:id="rId5"/>
    <p:sldId id="294" r:id="rId6"/>
    <p:sldId id="308" r:id="rId7"/>
    <p:sldId id="307" r:id="rId8"/>
    <p:sldId id="315" r:id="rId9"/>
    <p:sldId id="288" r:id="rId10"/>
    <p:sldId id="289" r:id="rId11"/>
    <p:sldId id="287" r:id="rId12"/>
    <p:sldId id="286" r:id="rId13"/>
    <p:sldId id="316" r:id="rId14"/>
    <p:sldId id="317" r:id="rId15"/>
    <p:sldId id="264" r:id="rId16"/>
    <p:sldId id="29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25" autoAdjust="0"/>
    <p:restoredTop sz="94310" autoAdjust="0"/>
  </p:normalViewPr>
  <p:slideViewPr>
    <p:cSldViewPr snapToGrid="0">
      <p:cViewPr varScale="1">
        <p:scale>
          <a:sx n="104" d="100"/>
          <a:sy n="104" d="100"/>
        </p:scale>
        <p:origin x="9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3C7D5-49C9-4310-99B0-74BF8F98F62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34A5A-C299-4527-A106-DBD1B288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4A5A-C299-4527-A106-DBD1B2885A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4A5A-C299-4527-A106-DBD1B2885A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4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4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5032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662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574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2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6663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53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946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466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94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029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3209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7899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8053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1413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9885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55202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07005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8792-EDF0-A005-2CE2-24C261AC6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3DE22-B4B9-EA44-EF61-D733C53BE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83C22-FDA0-3E63-68DD-4A6E7DD4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4B19-AF55-A977-1451-9DC5DC1F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D61A8-50FB-0E57-BC6B-11987F02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88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91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1956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20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18/11/2025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459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18/11/2025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519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wes-8-1893-2023" TargetMode="External"/><Relationship Id="rId2" Type="http://schemas.openxmlformats.org/officeDocument/2006/relationships/hyperlink" Target="https://doi.org/10.5281/zenodo.13235189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13D3613-1229-23C4-BBAC-0C4D5D552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6908"/>
            <a:ext cx="12192000" cy="912598"/>
          </a:xfrm>
        </p:spPr>
        <p:txBody>
          <a:bodyPr/>
          <a:lstStyle/>
          <a:p>
            <a:r>
              <a:rPr lang="en-US" noProof="0" dirty="0"/>
              <a:t>Weekly report: Feedback &amp; Lidar – Assisted Controller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11943A6-016A-175F-ED49-9090C8C30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noProof="0" dirty="0"/>
              <a:t>Week number: 08</a:t>
            </a:r>
          </a:p>
          <a:p>
            <a:r>
              <a:rPr lang="en-US" sz="2000" noProof="0" dirty="0"/>
              <a:t>Date: 18/11/2025</a:t>
            </a:r>
          </a:p>
          <a:p>
            <a:r>
              <a:rPr lang="en-US" sz="2000" noProof="0" dirty="0"/>
              <a:t>Supervisor: Prof. Dr.-Ing. David Schlipf</a:t>
            </a:r>
          </a:p>
          <a:p>
            <a:endParaRPr lang="en-US" sz="2000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D66077-75E8-B72F-9B4E-64E062858EC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982755" y="4653709"/>
            <a:ext cx="6226490" cy="758312"/>
          </a:xfrm>
        </p:spPr>
        <p:txBody>
          <a:bodyPr/>
          <a:lstStyle/>
          <a:p>
            <a:r>
              <a:rPr lang="en-US" noProof="0" dirty="0"/>
              <a:t>Group members: Mirza Dincer, Saurabh Pankaj Jha, Midhun </a:t>
            </a:r>
            <a:r>
              <a:rPr lang="en-US" noProof="0" dirty="0" err="1"/>
              <a:t>Kanichattu</a:t>
            </a:r>
            <a:r>
              <a:rPr lang="en-US" noProof="0" dirty="0"/>
              <a:t> Venu</a:t>
            </a:r>
          </a:p>
          <a:p>
            <a:r>
              <a:rPr lang="en-US" noProof="0" dirty="0"/>
              <a:t>Presenter:-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51974-AA80-93E7-DE29-6B240912C06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378A-4F01-6B30-CC0C-0D06C211A4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D90F1C-B0AB-81E1-63B6-F10AE37370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6803"/>
            <a:ext cx="305597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11454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96C42-5C8A-4DF6-469E-AA02488B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  <a:p>
            <a:r>
              <a:rPr lang="en-US" noProof="0" dirty="0"/>
              <a:t>Optimization results</a:t>
            </a:r>
          </a:p>
          <a:p>
            <a:r>
              <a:rPr lang="en-US" noProof="0" dirty="0"/>
              <a:t>EOG simulation with updated static pitch curve</a:t>
            </a:r>
          </a:p>
          <a:p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E0BEDA-D340-0E86-7B6A-D958296C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List of Contents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26A6A-DC19-EFAF-AC42-F8701A3F5C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A55B5-D29A-D64C-52F3-986289E5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052D8F-1675-605E-CB1B-9CD5E63E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B39CA5-143A-78A6-B398-AAF845BF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18398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776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D1F737-C9E5-D61C-802C-D8AA46A8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CE80E-4A9A-B819-E481-DA6D7AC2F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2112" cy="4351338"/>
          </a:xfrm>
        </p:spPr>
        <p:txBody>
          <a:bodyPr>
            <a:normAutofit/>
          </a:bodyPr>
          <a:lstStyle/>
          <a:p>
            <a:pPr fontAlgn="base"/>
            <a:r>
              <a:rPr lang="en-US" noProof="0" dirty="0"/>
              <a:t>Updating Brute Force Optimization to find global Optimum​</a:t>
            </a:r>
          </a:p>
          <a:p>
            <a:pPr fontAlgn="base"/>
            <a:endParaRPr lang="en-US" noProof="0" dirty="0"/>
          </a:p>
          <a:p>
            <a:pPr fontAlgn="base"/>
            <a:r>
              <a:rPr lang="en-US" noProof="0" dirty="0"/>
              <a:t> Adjust static pitch curve for 25 m/s simulation​ and run the EOG simulation again.</a:t>
            </a:r>
          </a:p>
          <a:p>
            <a:pPr fontAlgn="base"/>
            <a:endParaRPr lang="en-US" noProof="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Tower Damper Implementation​ in ROSCO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noProof="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22DFD0-8551-3A05-D2F0-A2FEDE79CB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189547C-E522-4813-C302-A8977F7E796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04BE1C-7C80-B8F9-3A23-EBD96702EE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2FC9593-3854-FCA1-E2BE-010AAED06C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9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324517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875F-1320-8F6B-B2EC-351B9548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DLC 1.2 Simulation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94EA1-8D97-CBAE-482F-5AB8BA5B6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/>
              <a:t>660 seconds </a:t>
            </a:r>
            <a:r>
              <a:rPr lang="en-US" noProof="0" dirty="0"/>
              <a:t>of simulation. Evaluation of values starts at t = 60 second to get settled values. Additionally, wind wraps around.</a:t>
            </a:r>
          </a:p>
          <a:p>
            <a:endParaRPr lang="en-US" noProof="0" dirty="0"/>
          </a:p>
          <a:p>
            <a:r>
              <a:rPr lang="en-US" b="1" noProof="0" dirty="0"/>
              <a:t>DLC 1.2 </a:t>
            </a:r>
            <a:r>
              <a:rPr lang="en-US" noProof="0" dirty="0"/>
              <a:t>wind fields with average of </a:t>
            </a:r>
            <a:r>
              <a:rPr lang="en-US" b="1" noProof="0" dirty="0"/>
              <a:t>8</a:t>
            </a:r>
            <a:r>
              <a:rPr lang="en-US" noProof="0" dirty="0"/>
              <a:t> </a:t>
            </a:r>
            <a:r>
              <a:rPr lang="en-US" b="1" noProof="0" dirty="0"/>
              <a:t>m/s to 24 m/s </a:t>
            </a:r>
            <a:r>
              <a:rPr lang="en-US" noProof="0" dirty="0"/>
              <a:t>with steps with 4m/s, </a:t>
            </a:r>
            <a:r>
              <a:rPr lang="en-US" b="1" noProof="0" dirty="0"/>
              <a:t>3 seeds</a:t>
            </a:r>
            <a:r>
              <a:rPr lang="en-US" noProof="0" dirty="0"/>
              <a:t>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b="1" noProof="0" dirty="0"/>
              <a:t>Enabled all DOFs. </a:t>
            </a:r>
            <a:endParaRPr lang="en-US" b="1" noProof="0" dirty="0">
              <a:solidFill>
                <a:srgbClr val="FF0000"/>
              </a:solidFill>
            </a:endParaRPr>
          </a:p>
          <a:p>
            <a:endParaRPr lang="en-US" b="1" noProof="0" dirty="0"/>
          </a:p>
          <a:p>
            <a:r>
              <a:rPr lang="en-US" b="1" noProof="0" dirty="0"/>
              <a:t>Initial conditions of pitch angle, rotor speed</a:t>
            </a:r>
            <a:r>
              <a:rPr lang="en-US" noProof="0" dirty="0"/>
              <a:t> and </a:t>
            </a:r>
            <a:r>
              <a:rPr lang="en-US" b="1" noProof="0" dirty="0"/>
              <a:t>fore-aft tower position</a:t>
            </a:r>
            <a:r>
              <a:rPr lang="en-US" noProof="0" dirty="0"/>
              <a:t> for every corresponding wind speed.</a:t>
            </a:r>
          </a:p>
          <a:p>
            <a:endParaRPr lang="en-US" noProof="0" dirty="0"/>
          </a:p>
          <a:p>
            <a:r>
              <a:rPr lang="en-US" noProof="0" dirty="0"/>
              <a:t>Running only </a:t>
            </a:r>
            <a:r>
              <a:rPr lang="en-US" b="1" noProof="0" dirty="0"/>
              <a:t>feedback controller</a:t>
            </a:r>
            <a:r>
              <a:rPr lang="en-US" noProof="0" dirty="0"/>
              <a:t>, no Lidar-assisted controller.</a:t>
            </a:r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EDD2D-2B89-0589-D13D-DA1ADF658C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6A3A9-1DFF-2D29-EDA8-5C20BAC7C87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88A73-15F7-EFA3-C898-9459145AA7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9186" y="6564113"/>
            <a:ext cx="3174843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C0D38-DE31-0A7C-BA9A-D3A7752438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2174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F6D3-BBB6-56F5-EDEF-1CA02D07B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167B-915B-864A-CE22-838AC6AD5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Lifetime Weighted DEL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26954-85D6-18DC-9495-04169C50B1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6E98D-CBD5-151B-DF32-762C011A433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4BA04-390D-FB7C-13F1-616AE6774C4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515762" y="6564113"/>
            <a:ext cx="310169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C50EA-4370-0B1B-8645-8B81894433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E263D7-D80F-2363-3F83-F4C6EFB57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92" y="1094631"/>
            <a:ext cx="10853014" cy="53982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143BCC-7FF8-EC01-DDF8-4AD5985E7FED}"/>
              </a:ext>
            </a:extLst>
          </p:cNvPr>
          <p:cNvSpPr txBox="1"/>
          <p:nvPr/>
        </p:nvSpPr>
        <p:spPr>
          <a:xfrm>
            <a:off x="4204057" y="6272258"/>
            <a:ext cx="3783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Figure </a:t>
            </a:r>
            <a:r>
              <a:rPr lang="tr-TR" sz="1200" noProof="0" dirty="0"/>
              <a:t>1</a:t>
            </a:r>
            <a:r>
              <a:rPr lang="en-US" sz="1200" noProof="0" dirty="0"/>
              <a:t>: Lifetime Weighted DEL Values for each vector</a:t>
            </a:r>
          </a:p>
        </p:txBody>
      </p:sp>
    </p:spTree>
    <p:extLst>
      <p:ext uri="{BB962C8B-B14F-4D97-AF65-F5344CB8AC3E}">
        <p14:creationId xmlns:p14="http://schemas.microsoft.com/office/powerpoint/2010/main" val="24626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5A58-8229-CFB0-6904-CA533C8A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AEP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23153-85CE-A6E6-017E-42658DFB53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4009-158D-EB61-755B-554B3542C9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6FD5C-43CF-BC95-D28C-4EA017F70D8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515762" y="6564113"/>
            <a:ext cx="310169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354C5-8F16-EFFA-EF58-D39E603074D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6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52E4CC-643D-73D0-ABFF-89A460FE3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92" y="1094631"/>
            <a:ext cx="10853014" cy="53982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D0C468-BD5D-F250-B2AD-55330A00D9F9}"/>
              </a:ext>
            </a:extLst>
          </p:cNvPr>
          <p:cNvSpPr txBox="1"/>
          <p:nvPr/>
        </p:nvSpPr>
        <p:spPr>
          <a:xfrm>
            <a:off x="4204057" y="6272258"/>
            <a:ext cx="3783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Figure 2: AEP values for each vector</a:t>
            </a:r>
          </a:p>
        </p:txBody>
      </p:sp>
    </p:spTree>
    <p:extLst>
      <p:ext uri="{BB962C8B-B14F-4D97-AF65-F5344CB8AC3E}">
        <p14:creationId xmlns:p14="http://schemas.microsoft.com/office/powerpoint/2010/main" val="2432803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D7F7-3C91-5319-231E-D94DCCB9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Optimization results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0B32-8DF2-D250-D06E-0264C6050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 err="1"/>
              <a:t>Kp_k</a:t>
            </a:r>
            <a:r>
              <a:rPr lang="en-US" b="1" noProof="0" dirty="0"/>
              <a:t> </a:t>
            </a:r>
            <a:r>
              <a:rPr lang="en-US" noProof="0" dirty="0"/>
              <a:t>sets the overall level of the </a:t>
            </a:r>
            <a:r>
              <a:rPr lang="en-US" noProof="0" dirty="0" err="1"/>
              <a:t>Kp</a:t>
            </a:r>
            <a:r>
              <a:rPr lang="en-US" noProof="0" dirty="0"/>
              <a:t> vector in the ROSCO input file. As the absolute value of </a:t>
            </a:r>
            <a:r>
              <a:rPr lang="en-US" noProof="0" dirty="0" err="1"/>
              <a:t>Kp_k</a:t>
            </a:r>
            <a:r>
              <a:rPr lang="en-US" noProof="0" dirty="0"/>
              <a:t> increases, the absolute values of </a:t>
            </a:r>
            <a:r>
              <a:rPr lang="en-US" noProof="0" dirty="0" err="1"/>
              <a:t>Kp</a:t>
            </a:r>
            <a:r>
              <a:rPr lang="en-US" noProof="0" dirty="0"/>
              <a:t> also increase, so the pitch is controlled more aggressively.</a:t>
            </a:r>
          </a:p>
          <a:p>
            <a:endParaRPr lang="en-US" noProof="0" dirty="0"/>
          </a:p>
          <a:p>
            <a:r>
              <a:rPr lang="en-US" b="1" noProof="0" dirty="0" err="1"/>
              <a:t>Theta_k</a:t>
            </a:r>
            <a:r>
              <a:rPr lang="en-US" b="1" noProof="0" dirty="0"/>
              <a:t> </a:t>
            </a:r>
            <a:r>
              <a:rPr lang="en-US" noProof="0" dirty="0"/>
              <a:t>sets how quickly the </a:t>
            </a:r>
            <a:r>
              <a:rPr lang="en-US" noProof="0" dirty="0" err="1"/>
              <a:t>Kp</a:t>
            </a:r>
            <a:r>
              <a:rPr lang="en-US" noProof="0" dirty="0"/>
              <a:t> vector changes with theta in the ROSCO input file. If </a:t>
            </a:r>
            <a:r>
              <a:rPr lang="en-US" noProof="0" dirty="0" err="1"/>
              <a:t>Theta_k</a:t>
            </a:r>
            <a:r>
              <a:rPr lang="en-US" noProof="0" dirty="0"/>
              <a:t> is smaller theta points, makes </a:t>
            </a:r>
            <a:r>
              <a:rPr lang="en-US" noProof="0" dirty="0" err="1"/>
              <a:t>Kp</a:t>
            </a:r>
            <a:r>
              <a:rPr lang="en-US" noProof="0" dirty="0"/>
              <a:t> vary more strongly between theta points, so the controller becomes more aggressive in some theta points and less in others. If </a:t>
            </a:r>
            <a:r>
              <a:rPr lang="en-US" noProof="0" dirty="0" err="1"/>
              <a:t>Theta_k</a:t>
            </a:r>
            <a:r>
              <a:rPr lang="en-US" noProof="0" dirty="0"/>
              <a:t> close to theta points, makes </a:t>
            </a:r>
            <a:r>
              <a:rPr lang="en-US" noProof="0" dirty="0" err="1"/>
              <a:t>Kp</a:t>
            </a:r>
            <a:r>
              <a:rPr lang="en-US" noProof="0" dirty="0"/>
              <a:t> change more gradually, so the controller </a:t>
            </a:r>
            <a:r>
              <a:rPr lang="en-US" noProof="0" dirty="0" err="1"/>
              <a:t>behaviour</a:t>
            </a:r>
            <a:r>
              <a:rPr lang="en-US" noProof="0" dirty="0"/>
              <a:t> is more uniform over the operating range.</a:t>
            </a:r>
          </a:p>
          <a:p>
            <a:endParaRPr lang="en-US" noProof="0" dirty="0"/>
          </a:p>
          <a:p>
            <a:r>
              <a:rPr lang="en-US" noProof="0" dirty="0"/>
              <a:t>It looks like we are near the global optimum because as we decrease </a:t>
            </a:r>
            <a:r>
              <a:rPr lang="en-US" noProof="0" dirty="0" err="1"/>
              <a:t>Kp_k</a:t>
            </a:r>
            <a:r>
              <a:rPr lang="en-US" noProof="0" dirty="0"/>
              <a:t> and increase </a:t>
            </a:r>
            <a:r>
              <a:rPr lang="en-US" noProof="0" dirty="0" err="1"/>
              <a:t>theta_k</a:t>
            </a:r>
            <a:r>
              <a:rPr lang="en-US" noProof="0" dirty="0"/>
              <a:t>, difference between each vector getting lower.</a:t>
            </a:r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6DDCB-9589-4C14-42BD-613EF6008D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49BF2-8B40-40D0-FB60-BA3C069AAE4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ED731-B9CF-7389-DF02-F3E1D99148F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512713" y="6564113"/>
            <a:ext cx="310778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42976-FA50-AFD0-CAE3-5D864348C6C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3899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838200" y="2077838"/>
            <a:ext cx="11285140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noProof="0" dirty="0">
                <a:cs typeface="Arial" charset="0"/>
              </a:rPr>
              <a:t>J = Cost,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noProof="0" dirty="0">
                <a:cs typeface="Arial" charset="0"/>
              </a:rPr>
              <a:t>Ω = rotor speed,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noProof="0" dirty="0">
                <a:cs typeface="Arial" charset="0"/>
              </a:rPr>
              <a:t>Ω₀ = steady-state rotor speed at rated wind speed.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noProof="0" dirty="0">
                <a:cs typeface="Arial" charset="0"/>
              </a:rPr>
              <a:t>MᵧT = fore-aft tower base bending moment,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noProof="0" dirty="0">
                <a:cs typeface="Arial" charset="0"/>
              </a:rPr>
              <a:t>MᵧT₀ = steady-state moment at rated wind speed.</a:t>
            </a:r>
            <a:endParaRPr lang="en-US" sz="2200" noProof="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noProof="0" dirty="0"/>
              <a:t>Penalizes the maximum deviation in rotor speed and tower load from steady state.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noProof="0" dirty="0"/>
              <a:t>Tests the controller’s ability to keep rotor speed and tower motion smooth during the gust.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noProof="0" dirty="0"/>
              <a:t>Cost terms represent the two key responses: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noProof="0" dirty="0"/>
              <a:t>Rotor motion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noProof="0" dirty="0"/>
              <a:t>Fore-aft tower bending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200" noProof="0" dirty="0"/>
          </a:p>
          <a:p>
            <a:pPr marL="171450" indent="-171450" algn="l">
              <a:buFont typeface="Arial" pitchFamily="34" charset="0"/>
              <a:buChar char="•"/>
            </a:pPr>
            <a:endParaRPr lang="en-US" sz="22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Equation for cost calculation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808A21-C4E3-B8F2-46C3-AF9C3F0A445C}"/>
                  </a:ext>
                </a:extLst>
              </p:cNvPr>
              <p:cNvSpPr txBox="1"/>
              <p:nvPr/>
            </p:nvSpPr>
            <p:spPr>
              <a:xfrm>
                <a:off x="2604757" y="1330133"/>
                <a:ext cx="6143624" cy="747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i="0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noProof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noProof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i="0" noProof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 noProof="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i="0" noProof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noProof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i="0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0" noProof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noProof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noProof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i="1" noProof="0">
                                              <a:latin typeface="Cambria Math" panose="02040503050406030204" pitchFamily="18" charset="0"/>
                                            </a:rPr>
                                            <m:t>𝑦𝑇</m:t>
                                          </m:r>
                                        </m:sub>
                                      </m:sSub>
                                      <m:r>
                                        <a:rPr lang="en-US" i="0" noProof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noProof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i="1" noProof="0">
                                              <a:latin typeface="Cambria Math" panose="02040503050406030204" pitchFamily="18" charset="0"/>
                                            </a:rPr>
                                            <m:t>𝑦𝑇</m:t>
                                          </m:r>
                                          <m:r>
                                            <a:rPr lang="en-US" i="0" noProof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𝑦𝑇</m:t>
                              </m:r>
                              <m:r>
                                <a:rPr lang="en-US" i="0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808A21-C4E3-B8F2-46C3-AF9C3F0A4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757" y="1330133"/>
                <a:ext cx="6143624" cy="7477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54CC835B-2AD6-39D3-CABF-F1AAD272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84004" y="6564113"/>
            <a:ext cx="3165206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CC098BF-06CA-5373-75DF-29D18A0A14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4137" y="6251573"/>
            <a:ext cx="2248453" cy="3098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noProof="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939946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T_buffer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err="1"/>
              <a:t>T_buffer</a:t>
            </a:r>
            <a:r>
              <a:rPr lang="en-US" noProof="0" dirty="0"/>
              <a:t> is the timing delay that synchronizes lidar preview with the real gust arrival, ensuring the controller reacts neither too early nor too late.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Purpose </a:t>
            </a:r>
          </a:p>
          <a:p>
            <a:r>
              <a:rPr lang="en-US" noProof="0" dirty="0"/>
              <a:t>Lidar detects the gust before it arrives (preview).</a:t>
            </a:r>
          </a:p>
          <a:p>
            <a:r>
              <a:rPr lang="en-US" noProof="0" dirty="0"/>
              <a:t>The turbine and pitch actuators have response delays.</a:t>
            </a:r>
          </a:p>
          <a:p>
            <a:r>
              <a:rPr lang="en-US" noProof="0" dirty="0"/>
              <a:t>The wind signal must therefore be buffered so the feedforward action is applied exactly at the right time.</a:t>
            </a:r>
          </a:p>
          <a:p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734137" y="6251572"/>
            <a:ext cx="2248452" cy="3098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noProof="0" dirty="0"/>
              <a:t>[2]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752D0577-28A6-5DF0-C381-A050866A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2919" y="6564113"/>
            <a:ext cx="3127375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548358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Wind speed 12m/s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204" y="1248426"/>
            <a:ext cx="9459592" cy="456425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2946129" y="5883917"/>
            <a:ext cx="5460880" cy="60895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 noProof="0" dirty="0"/>
              <a:t>Cost for feedback feedforward:  0.644569 with </a:t>
            </a:r>
            <a:r>
              <a:rPr lang="en-US" sz="1500" noProof="0" dirty="0" err="1"/>
              <a:t>t_buffer</a:t>
            </a:r>
            <a:r>
              <a:rPr lang="en-US" sz="1500" noProof="0" dirty="0"/>
              <a:t> = 4.5s</a:t>
            </a:r>
          </a:p>
          <a:p>
            <a:r>
              <a:rPr lang="en-US" sz="1500" noProof="0" dirty="0"/>
              <a:t>Cost for feedback only :  0.983657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21665B3A-12FD-A0E0-90ED-6DE3E011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2919" y="6564113"/>
            <a:ext cx="3127375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E74D0-0E61-927F-A3FB-2A07BA18F589}"/>
              </a:ext>
            </a:extLst>
          </p:cNvPr>
          <p:cNvSpPr txBox="1"/>
          <p:nvPr/>
        </p:nvSpPr>
        <p:spPr>
          <a:xfrm>
            <a:off x="4218345" y="5674179"/>
            <a:ext cx="3755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Figure 3: Comparison of controllers over 12 m/s EOG</a:t>
            </a:r>
          </a:p>
        </p:txBody>
      </p:sp>
    </p:spTree>
    <p:extLst>
      <p:ext uri="{BB962C8B-B14F-4D97-AF65-F5344CB8AC3E}">
        <p14:creationId xmlns:p14="http://schemas.microsoft.com/office/powerpoint/2010/main" val="1670974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Wind speed 25m/s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2974157" y="5890817"/>
            <a:ext cx="5404823" cy="608958"/>
          </a:xfrm>
        </p:spPr>
        <p:txBody>
          <a:bodyPr>
            <a:noAutofit/>
          </a:bodyPr>
          <a:lstStyle/>
          <a:p>
            <a:r>
              <a:rPr lang="en-US" sz="1500" noProof="0" dirty="0"/>
              <a:t>Cost for feedback feedforward: 0.645354 with </a:t>
            </a:r>
            <a:r>
              <a:rPr lang="en-US" sz="1500" noProof="0" dirty="0" err="1"/>
              <a:t>t_buffer</a:t>
            </a:r>
            <a:r>
              <a:rPr lang="en-US" sz="1500" noProof="0" dirty="0"/>
              <a:t> = 2.1s</a:t>
            </a:r>
          </a:p>
          <a:p>
            <a:r>
              <a:rPr lang="en-US" sz="1500" noProof="0" dirty="0"/>
              <a:t>Cost for feedback only: 1.487102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204" y="1248426"/>
            <a:ext cx="9459592" cy="4564253"/>
          </a:xfrm>
        </p:spPr>
      </p:pic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EEB5677E-53BC-A89E-5511-8F5AC2504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98156" y="6564113"/>
            <a:ext cx="3136900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B2544-D121-D046-398A-E10856F9F40F}"/>
              </a:ext>
            </a:extLst>
          </p:cNvPr>
          <p:cNvSpPr txBox="1"/>
          <p:nvPr/>
        </p:nvSpPr>
        <p:spPr>
          <a:xfrm>
            <a:off x="4218345" y="5674179"/>
            <a:ext cx="3755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Figure 4: Comparison of controllers over 25 m/s EOG</a:t>
            </a:r>
          </a:p>
        </p:txBody>
      </p:sp>
    </p:spTree>
    <p:extLst>
      <p:ext uri="{BB962C8B-B14F-4D97-AF65-F5344CB8AC3E}">
        <p14:creationId xmlns:p14="http://schemas.microsoft.com/office/powerpoint/2010/main" val="887130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DDEFEC4-3F76-90B5-C84D-DF5E8A690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Tower Damper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0F02E-A8D2-860C-571E-44BCCBDA2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It is used to mitigate tower oscillations and reduce structural loads.</a:t>
            </a:r>
          </a:p>
          <a:p>
            <a:r>
              <a:rPr lang="en-US" noProof="0" dirty="0"/>
              <a:t>It aims to suppress the fundamental fore-aft tower mode by reacting to measured or estimated tower-top velocity.</a:t>
            </a:r>
          </a:p>
          <a:p>
            <a:r>
              <a:rPr lang="en-US" noProof="0" dirty="0"/>
              <a:t> A </a:t>
            </a:r>
            <a:r>
              <a:rPr lang="en-US" b="1" noProof="0" dirty="0"/>
              <a:t>high-pass filter</a:t>
            </a:r>
            <a:r>
              <a:rPr lang="en-US" noProof="0" dirty="0"/>
              <a:t> is added to ensure that only the specific frequency components associated with the first tower fore-aft mode are targeted for damping, ignoring slow drift (low-frequency effects) and steady-state signals.</a:t>
            </a:r>
          </a:p>
          <a:p>
            <a:r>
              <a:rPr lang="en-US" noProof="0" dirty="0"/>
              <a:t> The tower damper uses tower </a:t>
            </a:r>
            <a:r>
              <a:rPr lang="en-US" b="1" noProof="0" dirty="0"/>
              <a:t>acceleration</a:t>
            </a:r>
            <a:r>
              <a:rPr lang="en-US" noProof="0" dirty="0"/>
              <a:t> that is then </a:t>
            </a:r>
            <a:r>
              <a:rPr lang="en-US" b="1" noProof="0" dirty="0"/>
              <a:t>integrated to obtain velocity</a:t>
            </a:r>
            <a:r>
              <a:rPr lang="en-US" noProof="0" dirty="0"/>
              <a:t>.</a:t>
            </a:r>
          </a:p>
          <a:p>
            <a:endParaRPr lang="en-US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80E78D-DD7D-0CE5-9882-295876EEC5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8F718-6CF3-28D8-80EE-C4A994DB6DE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8E61-C003-6ED4-26BA-B340ABE80E6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3" y="6564113"/>
            <a:ext cx="314588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EF82-26AE-15E6-132C-A8255B469A2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A43723A-862E-6A10-9918-F36DA62081D6}"/>
              </a:ext>
            </a:extLst>
          </p:cNvPr>
          <p:cNvSpPr txBox="1">
            <a:spLocks/>
          </p:cNvSpPr>
          <p:nvPr/>
        </p:nvSpPr>
        <p:spPr>
          <a:xfrm>
            <a:off x="8512713" y="6564113"/>
            <a:ext cx="3107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373559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42AB-CE80-F69D-7BA1-B182B23F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 in ROSCO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8816-F0EB-D3F7-BAD0-F1EF1FA05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noProof="0" dirty="0"/>
              <a:t>Tower top fore-aft acceleration measurement.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High-pass filter removes low-frequency content, Isolates tower natural frequency vibrations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Integrates acceleration → velocity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Same pitch adjustment applied to all blades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Tower damping pitch command added to collective pitch command, then combined with IPC (Individual Pitch Control)</a:t>
            </a:r>
          </a:p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8329-6B4E-93B6-CE3B-EE5F4FE06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6A13E-8E12-D3F9-BE3B-0AD06603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2713" y="6564113"/>
            <a:ext cx="3107787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F5EA8-090A-9E9B-1E60-D33F0A34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BBAB4C-307B-7AE7-4A6D-40EE3CA34F4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04329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FF05-E4FA-0C0D-C7B9-03579DF8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4F11E-0379-23D5-BA8E-334FB43B2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 err="1"/>
              <a:t>Kp_k</a:t>
            </a:r>
            <a:r>
              <a:rPr lang="en-US" noProof="0" dirty="0"/>
              <a:t> and </a:t>
            </a:r>
            <a:r>
              <a:rPr lang="en-US" noProof="0" dirty="0" err="1"/>
              <a:t>Theta_k</a:t>
            </a:r>
            <a:r>
              <a:rPr lang="en-US" noProof="0" dirty="0"/>
              <a:t> effects on optimization for  ROSCO input is understood.</a:t>
            </a:r>
          </a:p>
          <a:p>
            <a:r>
              <a:rPr lang="en-US" noProof="0" dirty="0"/>
              <a:t>It is seen that full static pitch curve for Lidar-Assisted controller is needed for extreme wind speeds.</a:t>
            </a:r>
          </a:p>
          <a:p>
            <a:r>
              <a:rPr lang="en-US" noProof="0" dirty="0"/>
              <a:t>Tower damper in ROSCO is understood.</a:t>
            </a:r>
          </a:p>
          <a:p>
            <a:endParaRPr lang="en-US" noProof="0" dirty="0"/>
          </a:p>
          <a:p>
            <a:pPr fontAlgn="base"/>
            <a:r>
              <a:rPr lang="en-US" b="1" noProof="0" dirty="0"/>
              <a:t>Next weeks:</a:t>
            </a:r>
          </a:p>
          <a:p>
            <a:pPr marL="0" indent="0" fontAlgn="base">
              <a:buNone/>
            </a:pPr>
            <a:r>
              <a:rPr lang="en-US" noProof="0" dirty="0"/>
              <a:t>Start with Optimus Turbine</a:t>
            </a:r>
          </a:p>
          <a:p>
            <a:endParaRPr lang="en-US" b="1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57715-04AD-1733-D6EE-3ED2075EF0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E55E15D-A89A-0E88-0C10-DCC57A70042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600388-DD13-10AE-D6E8-C3B2B3F898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614" y="6564113"/>
            <a:ext cx="3183986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0AAE9-4FCB-81C8-9E6C-E44698F413F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3650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Biblography</a:t>
            </a:r>
            <a:r>
              <a:rPr lang="en-US" noProof="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18/11/2025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AA63EF-07A4-B8A9-5F4A-67D1EE8E6B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6D7C134-F599-F3C8-D2EE-3F01D112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7681" y="6564113"/>
            <a:ext cx="3117850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94B39AC-2823-5055-28A5-B1E3CF0EC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15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[1] D. Schlipf </a:t>
            </a:r>
            <a:r>
              <a:rPr kumimoji="0" lang="en-US" sz="1800" b="0" i="1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al.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“IEA Wind Task 52 LAC Summer Games 2024,” </a:t>
            </a:r>
            <a:r>
              <a:rPr kumimoji="0" lang="en-US" sz="1800" b="0" i="1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Zenodo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Aug. 2024, </a:t>
            </a:r>
            <a:r>
              <a:rPr kumimoji="0" lang="en-US" sz="18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https://doi.org/10.5281/zenodo.13235189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noProof="0" dirty="0"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noProof="0" dirty="0">
                <a:latin typeface="Arial" panose="020B0604020202020204" pitchFamily="34" charset="0"/>
              </a:rPr>
              <a:t>[2] W. Fu, F. Guo, D. Schlipf, and A. Peña, “Feedforward pitch control for a 15 MW wind turbine using a spinner-mounted single-beam lidar,” </a:t>
            </a:r>
            <a:r>
              <a:rPr lang="en-US" sz="1800" i="1" noProof="0" dirty="0">
                <a:latin typeface="Arial" panose="020B0604020202020204" pitchFamily="34" charset="0"/>
              </a:rPr>
              <a:t>Wind Energy Science</a:t>
            </a:r>
            <a:r>
              <a:rPr lang="en-US" sz="1800" noProof="0" dirty="0">
                <a:latin typeface="Arial" panose="020B0604020202020204" pitchFamily="34" charset="0"/>
              </a:rPr>
              <a:t>, vol. 8, no. 12, pp. 1893–1907, Dec. 2023, </a:t>
            </a:r>
            <a:r>
              <a:rPr lang="en-US" sz="1800" noProof="0" dirty="0" err="1">
                <a:latin typeface="Arial" panose="020B0604020202020204" pitchFamily="34" charset="0"/>
              </a:rPr>
              <a:t>doi</a:t>
            </a:r>
            <a:r>
              <a:rPr lang="en-US" sz="1800" noProof="0" dirty="0">
                <a:latin typeface="Arial" panose="020B0604020202020204" pitchFamily="34" charset="0"/>
              </a:rPr>
              <a:t>: </a:t>
            </a:r>
            <a:r>
              <a:rPr lang="en-US" sz="1800" noProof="0" dirty="0">
                <a:latin typeface="Arial" panose="020B0604020202020204" pitchFamily="34" charset="0"/>
                <a:hlinkClick r:id="rId3"/>
              </a:rPr>
              <a:t>https://doi.org/10.5194/wes-8-1893-2023</a:t>
            </a:r>
            <a:r>
              <a:rPr lang="en-US" sz="1800" noProof="0" dirty="0">
                <a:latin typeface="Arial" panose="020B0604020202020204" pitchFamily="34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noProof="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noProof="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728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E7258755-3B8A-428F-9B71-020BDB6F6014}" vid="{2CB19E59-5F41-4D40-98BC-C6D4E668C96F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5491</TotalTime>
  <Words>1029</Words>
  <Application>Microsoft Office PowerPoint</Application>
  <PresentationFormat>Widescreen</PresentationFormat>
  <Paragraphs>138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Theme1</vt:lpstr>
      <vt:lpstr>Benutzerdefiniertes Design</vt:lpstr>
      <vt:lpstr>Weekly report: Feedback &amp; Lidar – Assisted Controller</vt:lpstr>
      <vt:lpstr>List of Contents</vt:lpstr>
      <vt:lpstr>Tasks of the Week</vt:lpstr>
      <vt:lpstr>DLC 1.2 Simulation Settings</vt:lpstr>
      <vt:lpstr>Lifetime Weighted DEL Results</vt:lpstr>
      <vt:lpstr>AEP Results</vt:lpstr>
      <vt:lpstr>Optimization results </vt:lpstr>
      <vt:lpstr>Equation for cost calculation</vt:lpstr>
      <vt:lpstr>T_buffer</vt:lpstr>
      <vt:lpstr>Wind speed 12m/s</vt:lpstr>
      <vt:lpstr>Wind speed 25m/s</vt:lpstr>
      <vt:lpstr>Tower Damper</vt:lpstr>
      <vt:lpstr>Implementation in ROSCO</vt:lpstr>
      <vt:lpstr>Conclusion</vt:lpstr>
      <vt:lpstr>Biblography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Mirza Dincer</dc:creator>
  <cp:lastModifiedBy>Mirza Dincer</cp:lastModifiedBy>
  <cp:revision>122</cp:revision>
  <dcterms:created xsi:type="dcterms:W3CDTF">2025-10-04T12:59:06Z</dcterms:created>
  <dcterms:modified xsi:type="dcterms:W3CDTF">2025-11-17T11:33:56Z</dcterms:modified>
</cp:coreProperties>
</file>