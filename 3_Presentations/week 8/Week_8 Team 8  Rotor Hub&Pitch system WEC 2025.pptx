
<file path=[Content_Types].xml><?xml version="1.0" encoding="utf-8"?>
<Types xmlns="http://schemas.openxmlformats.org/package/2006/content-types">
  <Override PartName="/ppt/slideMasters/slideMaster3.xml" ContentType="application/vnd.openxmlformats-officedocument.presentationml.slideMaster+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s/slide10.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10.xml" ContentType="application/vnd.openxmlformats-officedocument.presentationml.slideLayout+xml"/>
  <Override PartName="/ppt/webextensions/webextension2.xml" ContentType="application/vnd.ms-office.webextension+xml"/>
  <Override PartName="/ppt/webextensions/webextension1.xml" ContentType="application/vnd.ms-office.webextension+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webextensions/taskpanes.xml" ContentType="application/vnd.ms-office.webextensiontaskpanes+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slideLayouts/slideLayout29.xml" ContentType="application/vnd.openxmlformats-officedocument.presentationml.slideLayout+xml"/>
  <Override PartName="/ppt/theme/theme4.xml" ContentType="application/vnd.openxmlformats-officedocument.theme+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1" r:id="rId2"/>
    <p:sldMasterId id="2147483672" r:id="rId3"/>
  </p:sldMasterIdLst>
  <p:notesMasterIdLst>
    <p:notesMasterId r:id="rId19"/>
  </p:notesMasterIdLst>
  <p:handoutMasterIdLst>
    <p:handoutMasterId r:id="rId20"/>
  </p:handoutMasterIdLst>
  <p:sldIdLst>
    <p:sldId id="270" r:id="rId4"/>
    <p:sldId id="259" r:id="rId5"/>
    <p:sldId id="284" r:id="rId6"/>
    <p:sldId id="283" r:id="rId7"/>
    <p:sldId id="282" r:id="rId8"/>
    <p:sldId id="264" r:id="rId9"/>
    <p:sldId id="278" r:id="rId10"/>
    <p:sldId id="285" r:id="rId11"/>
    <p:sldId id="286" r:id="rId12"/>
    <p:sldId id="287" r:id="rId13"/>
    <p:sldId id="288" r:id="rId14"/>
    <p:sldId id="289" r:id="rId15"/>
    <p:sldId id="290" r:id="rId16"/>
    <p:sldId id="291" r:id="rId17"/>
    <p:sldId id="29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 xmlns:p14="http://schemas.microsoft.com/office/powerpoint/2010/main">
        <p14:section name="first slide" id="{EBA04D78-D1FF-49F4-BDD6-03EE135E606E}">
          <p14:sldIdLst>
            <p14:sldId id="270"/>
          </p14:sldIdLst>
        </p14:section>
        <p14:section name="List of contents" id="{65043596-36B7-4360-BB5C-7A99EFAEC5C9}">
          <p14:sldIdLst>
            <p14:sldId id="259"/>
          </p14:sldIdLst>
        </p14:section>
        <p14:section name="Title, main slides" id="{B26F6679-C236-4D3D-BC2F-CAE5ED400718}">
          <p14:sldIdLst>
            <p14:sldId id="264"/>
            <p14:sldId id="277"/>
            <p14:sldId id="273"/>
            <p14:sldId id="274"/>
            <p14:sldId id="275"/>
            <p14:sldId id="276"/>
            <p14:sldId id="278"/>
            <p14:sldId id="279"/>
            <p14:sldId id="280"/>
            <p14:sldId id="281"/>
          </p14:sldIdLst>
        </p14:section>
        <p14:section name="bibliography" id="{2ECB0A3B-7D16-4F98-AD6A-5308DF7BF078}">
          <p14:sldIdLst>
            <p14:sldId id="267"/>
          </p14:sldIdLst>
        </p14:section>
      </p14:sectionLst>
    </p:ex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FFFFFF"/>
    <a:srgbClr val="8ECEFA"/>
    <a:srgbClr val="92C6E6"/>
    <a:srgbClr val="80D2F7"/>
    <a:srgbClr val="7ED1F7"/>
    <a:srgbClr val="A1DFFD"/>
    <a:srgbClr val="C0F5FF"/>
    <a:srgbClr val="3C96FA"/>
    <a:srgbClr val="BDE5F9"/>
    <a:srgbClr val="C1E5F5"/>
  </p:clrMru>
  <p:extLst>
    <p:ext uri="{E76CE94A-603C-4142-B9EB-6D1370010A27}">
      <p14:discardImageEditData xmlns="" xmlns:p14="http://schemas.microsoft.com/office/powerpoint/2010/main" val="0"/>
    </p:ext>
    <p:ext uri="{D31A062A-798A-4329-ABDD-BBA856620510}">
      <p14:defaultImageDpi xmlns=""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980" autoAdjust="0"/>
    <p:restoredTop sz="94660"/>
  </p:normalViewPr>
  <p:slideViewPr>
    <p:cSldViewPr snapToGrid="0">
      <p:cViewPr>
        <p:scale>
          <a:sx n="73" d="100"/>
          <a:sy n="73" d="100"/>
        </p:scale>
        <p:origin x="-540" y="-84"/>
      </p:cViewPr>
      <p:guideLst>
        <p:guide orient="horz" pos="2160"/>
        <p:guide pos="3840"/>
      </p:guideLst>
    </p:cSldViewPr>
  </p:slideViewPr>
  <p:notesTextViewPr>
    <p:cViewPr>
      <p:scale>
        <a:sx n="1" d="1"/>
        <a:sy n="1" d="1"/>
      </p:scale>
      <p:origin x="0" y="0"/>
    </p:cViewPr>
  </p:notesTextViewPr>
  <p:notesViewPr>
    <p:cSldViewPr snapToGrid="0">
      <p:cViewPr varScale="1">
        <p:scale>
          <a:sx n="55" d="100"/>
          <a:sy n="55" d="100"/>
        </p:scale>
        <p:origin x="-2166" y="-102"/>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 xmlns:a16="http://schemas.microsoft.com/office/drawing/2014/main" id="{F984966E-98CC-6A78-1424-04B6E1F2673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 xmlns:a16="http://schemas.microsoft.com/office/drawing/2014/main" id="{9153D721-EFB9-BC0E-1DC1-4F7A40F3125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D753E7D-EEC7-43DF-AF05-49FE1E0C7B25}" type="datetimeFigureOut">
              <a:rPr lang="de-DE" smtClean="0"/>
              <a:pPr/>
              <a:t>16.11.2025</a:t>
            </a:fld>
            <a:endParaRPr lang="de-DE"/>
          </a:p>
        </p:txBody>
      </p:sp>
      <p:sp>
        <p:nvSpPr>
          <p:cNvPr id="4" name="Fußzeilenplatzhalter 3">
            <a:extLst>
              <a:ext uri="{FF2B5EF4-FFF2-40B4-BE49-F238E27FC236}">
                <a16:creationId xmlns="" xmlns:a16="http://schemas.microsoft.com/office/drawing/2014/main" id="{A7BF23EC-0BC1-545E-D00A-3466D800025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 xmlns:a16="http://schemas.microsoft.com/office/drawing/2014/main" id="{8716600C-B63A-8960-82FD-8DC4BB46C81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A1B05C7-DCB9-437C-9E32-70E813415345}" type="slidenum">
              <a:rPr lang="de-DE" smtClean="0"/>
              <a:pPr/>
              <a:t>‹#›</a:t>
            </a:fld>
            <a:endParaRPr lang="de-DE"/>
          </a:p>
        </p:txBody>
      </p:sp>
    </p:spTree>
    <p:extLst>
      <p:ext uri="{BB962C8B-B14F-4D97-AF65-F5344CB8AC3E}">
        <p14:creationId xmlns="" xmlns:p14="http://schemas.microsoft.com/office/powerpoint/2010/main" val="219509784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52B7C8-164C-4140-932B-122F288D33CD}" type="datetimeFigureOut">
              <a:rPr lang="en-GB" smtClean="0"/>
              <a:pPr/>
              <a:t>16/11/2025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23327E-A3FE-4279-B080-AD6DAF9EDC39}" type="slidenum">
              <a:rPr lang="en-GB" smtClean="0"/>
              <a:pPr/>
              <a:t>‹#›</a:t>
            </a:fld>
            <a:endParaRPr lang="en-GB"/>
          </a:p>
        </p:txBody>
      </p:sp>
    </p:spTree>
    <p:extLst>
      <p:ext uri="{BB962C8B-B14F-4D97-AF65-F5344CB8AC3E}">
        <p14:creationId xmlns="" xmlns:p14="http://schemas.microsoft.com/office/powerpoint/2010/main" val="377567912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23327E-A3FE-4279-B080-AD6DAF9EDC39}" type="slidenum">
              <a:rPr lang="en-GB" smtClean="0"/>
              <a:pPr/>
              <a:t>3</a:t>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23327E-A3FE-4279-B080-AD6DAF9EDC39}" type="slidenum">
              <a:rPr lang="en-GB" smtClean="0"/>
              <a:pPr/>
              <a:t>4</a:t>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A23327E-A3FE-4279-B080-AD6DAF9EDC39}" type="slidenum">
              <a:rPr lang="en-GB" smtClean="0"/>
              <a:pPr/>
              <a:t>5</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www.mybib.com/tools/ieee-citation-generator"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3.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 Id="rId5" Type="http://schemas.openxmlformats.org/officeDocument/2006/relationships/image" Target="../media/image7.png"/><Relationship Id="rId4" Type="http://schemas.openxmlformats.org/officeDocument/2006/relationships/image" Target="../media/image8.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 Id="rId5" Type="http://schemas.openxmlformats.org/officeDocument/2006/relationships/image" Target="../media/image7.png"/><Relationship Id="rId4"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ist of teams">
    <p:spTree>
      <p:nvGrpSpPr>
        <p:cNvPr id="1" name=""/>
        <p:cNvGrpSpPr/>
        <p:nvPr/>
      </p:nvGrpSpPr>
      <p:grpSpPr>
        <a:xfrm>
          <a:off x="0" y="0"/>
          <a:ext cx="0" cy="0"/>
          <a:chOff x="0" y="0"/>
          <a:chExt cx="0" cy="0"/>
        </a:xfrm>
      </p:grpSpPr>
      <p:sp>
        <p:nvSpPr>
          <p:cNvPr id="7" name="Content Placeholder 2">
            <a:extLst>
              <a:ext uri="{FF2B5EF4-FFF2-40B4-BE49-F238E27FC236}">
                <a16:creationId xmlns="" xmlns:a16="http://schemas.microsoft.com/office/drawing/2014/main" id="{68B5CAFF-79AF-87AE-7EAE-604CC93E7647}"/>
              </a:ext>
            </a:extLst>
          </p:cNvPr>
          <p:cNvSpPr>
            <a:spLocks noGrp="1"/>
          </p:cNvSpPr>
          <p:nvPr>
            <p:ph idx="1" hasCustomPrompt="1"/>
          </p:nvPr>
        </p:nvSpPr>
        <p:spPr>
          <a:xfrm>
            <a:off x="6458857" y="1978025"/>
            <a:ext cx="4894943" cy="4351338"/>
          </a:xfrm>
        </p:spPr>
        <p:txBody>
          <a:bodyPr>
            <a:normAutofit/>
          </a:bodyPr>
          <a:lstStyle>
            <a:lvl1pPr marL="514350" indent="-514350">
              <a:buFont typeface="+mj-lt"/>
              <a:buAutoNum type="arabicPeriod"/>
              <a:defRPr sz="2200"/>
            </a:lvl1pPr>
            <a:lvl2pPr marL="457200" indent="0">
              <a:buFont typeface="Arial" panose="020B0604020202020204" pitchFamily="34" charset="0"/>
              <a:buNone/>
              <a:defRPr sz="2200"/>
            </a:lvl2pPr>
          </a:lstStyle>
          <a:p>
            <a:pPr lvl="1"/>
            <a:r>
              <a:rPr lang="de-DE" dirty="0"/>
              <a:t>12. </a:t>
            </a:r>
            <a:r>
              <a:rPr lang="de-DE" dirty="0" err="1"/>
              <a:t>Machine</a:t>
            </a:r>
            <a:r>
              <a:rPr lang="de-DE" dirty="0"/>
              <a:t> </a:t>
            </a:r>
            <a:r>
              <a:rPr lang="de-DE" dirty="0" err="1"/>
              <a:t>Bed</a:t>
            </a:r>
            <a:r>
              <a:rPr lang="de-DE" dirty="0"/>
              <a:t> &amp; Yaw System  </a:t>
            </a:r>
          </a:p>
          <a:p>
            <a:pPr lvl="1"/>
            <a:r>
              <a:rPr lang="de-DE" dirty="0"/>
              <a:t>13. Tower  </a:t>
            </a:r>
          </a:p>
          <a:p>
            <a:pPr lvl="1"/>
            <a:r>
              <a:rPr lang="de-DE" dirty="0"/>
              <a:t>14. </a:t>
            </a:r>
            <a:r>
              <a:rPr lang="de-DE" dirty="0" err="1"/>
              <a:t>Foundation</a:t>
            </a:r>
            <a:r>
              <a:rPr lang="de-DE" dirty="0"/>
              <a:t>  </a:t>
            </a:r>
          </a:p>
          <a:p>
            <a:pPr lvl="1"/>
            <a:r>
              <a:rPr lang="de-DE" dirty="0"/>
              <a:t>15. Storage System </a:t>
            </a:r>
          </a:p>
          <a:p>
            <a:pPr lvl="1"/>
            <a:endParaRPr lang="de-DE" dirty="0"/>
          </a:p>
        </p:txBody>
      </p:sp>
      <p:sp>
        <p:nvSpPr>
          <p:cNvPr id="8" name="Title 1">
            <a:extLst>
              <a:ext uri="{FF2B5EF4-FFF2-40B4-BE49-F238E27FC236}">
                <a16:creationId xmlns="" xmlns:a16="http://schemas.microsoft.com/office/drawing/2014/main" id="{562E2414-A9F3-5C69-E3A8-481E09152502}"/>
              </a:ext>
            </a:extLst>
          </p:cNvPr>
          <p:cNvSpPr>
            <a:spLocks noGrp="1"/>
          </p:cNvSpPr>
          <p:nvPr>
            <p:ph type="title" hasCustomPrompt="1"/>
          </p:nvPr>
        </p:nvSpPr>
        <p:spPr>
          <a:xfrm>
            <a:off x="838200" y="365125"/>
            <a:ext cx="10515600" cy="1325563"/>
          </a:xfrm>
        </p:spPr>
        <p:txBody>
          <a:bodyPr/>
          <a:lstStyle>
            <a:lvl1pPr>
              <a:defRPr/>
            </a:lvl1pPr>
          </a:lstStyle>
          <a:p>
            <a:r>
              <a:rPr lang="en-GB" dirty="0"/>
              <a:t>Teams</a:t>
            </a:r>
          </a:p>
        </p:txBody>
      </p:sp>
      <p:cxnSp>
        <p:nvCxnSpPr>
          <p:cNvPr id="9" name="Straight Connector 5">
            <a:extLst>
              <a:ext uri="{FF2B5EF4-FFF2-40B4-BE49-F238E27FC236}">
                <a16:creationId xmlns="" xmlns:a16="http://schemas.microsoft.com/office/drawing/2014/main" id="{66EB7C6A-45A8-A327-54B4-9E3A0BCAC0B4}"/>
              </a:ext>
            </a:extLst>
          </p:cNvPr>
          <p:cNvCxnSpPr>
            <a:cxnSpLocks/>
          </p:cNvCxnSpPr>
          <p:nvPr userDrawn="1"/>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1" name="Content Placeholder 2">
            <a:extLst>
              <a:ext uri="{FF2B5EF4-FFF2-40B4-BE49-F238E27FC236}">
                <a16:creationId xmlns="" xmlns:a16="http://schemas.microsoft.com/office/drawing/2014/main" id="{D2466CB9-E665-36BA-2132-8519CA303C97}"/>
              </a:ext>
            </a:extLst>
          </p:cNvPr>
          <p:cNvSpPr>
            <a:spLocks noGrp="1"/>
          </p:cNvSpPr>
          <p:nvPr>
            <p:ph idx="13" hasCustomPrompt="1"/>
          </p:nvPr>
        </p:nvSpPr>
        <p:spPr>
          <a:xfrm>
            <a:off x="838200" y="1978025"/>
            <a:ext cx="4894943" cy="4351338"/>
          </a:xfrm>
        </p:spPr>
        <p:txBody>
          <a:bodyPr>
            <a:normAutofit/>
          </a:bodyPr>
          <a:lstStyle>
            <a:lvl1pPr marL="514350" indent="-514350">
              <a:buFont typeface="+mj-lt"/>
              <a:buAutoNum type="arabicPeriod"/>
              <a:defRPr sz="2200"/>
            </a:lvl1pPr>
            <a:lvl2pPr marL="457200" indent="0" algn="l">
              <a:buFont typeface="Arial" panose="020B0604020202020204" pitchFamily="34" charset="0"/>
              <a:buNone/>
              <a:defRPr sz="2200"/>
            </a:lvl2pPr>
          </a:lstStyle>
          <a:p>
            <a:pPr lvl="1"/>
            <a:r>
              <a:rPr lang="de-DE" dirty="0"/>
              <a:t>1.  </a:t>
            </a:r>
            <a:r>
              <a:rPr lang="de-DE" dirty="0" err="1"/>
              <a:t>Windfarm</a:t>
            </a:r>
            <a:r>
              <a:rPr lang="de-DE" dirty="0"/>
              <a:t> Project Development  </a:t>
            </a:r>
          </a:p>
          <a:p>
            <a:pPr lvl="1"/>
            <a:r>
              <a:rPr lang="de-DE" dirty="0"/>
              <a:t>2.  Loads and Dynamics  </a:t>
            </a:r>
          </a:p>
          <a:p>
            <a:pPr lvl="1"/>
            <a:r>
              <a:rPr lang="de-DE" dirty="0"/>
              <a:t>3.  Feedback Controller  </a:t>
            </a:r>
          </a:p>
          <a:p>
            <a:pPr lvl="1"/>
            <a:r>
              <a:rPr lang="de-DE" dirty="0"/>
              <a:t>4.  Lidar-</a:t>
            </a:r>
            <a:r>
              <a:rPr lang="de-DE" dirty="0" err="1"/>
              <a:t>Assisted</a:t>
            </a:r>
            <a:r>
              <a:rPr lang="de-DE" dirty="0"/>
              <a:t> Controller  </a:t>
            </a:r>
          </a:p>
          <a:p>
            <a:pPr lvl="1"/>
            <a:r>
              <a:rPr lang="de-DE" dirty="0"/>
              <a:t>5.  Rotor Blade </a:t>
            </a:r>
            <a:r>
              <a:rPr lang="de-DE" dirty="0" err="1"/>
              <a:t>Aerodynamics</a:t>
            </a:r>
            <a:r>
              <a:rPr lang="de-DE" dirty="0"/>
              <a:t>  </a:t>
            </a:r>
          </a:p>
          <a:p>
            <a:pPr lvl="1"/>
            <a:r>
              <a:rPr lang="de-DE" dirty="0"/>
              <a:t>6.  Rotor Blade </a:t>
            </a:r>
            <a:r>
              <a:rPr lang="de-DE" dirty="0" err="1"/>
              <a:t>Structures</a:t>
            </a:r>
            <a:r>
              <a:rPr lang="de-DE" dirty="0"/>
              <a:t>  </a:t>
            </a:r>
          </a:p>
          <a:p>
            <a:pPr lvl="1"/>
            <a:r>
              <a:rPr lang="de-DE" dirty="0"/>
              <a:t>7.  </a:t>
            </a:r>
            <a:r>
              <a:rPr lang="de-DE" dirty="0" err="1"/>
              <a:t>Electrical</a:t>
            </a:r>
            <a:r>
              <a:rPr lang="de-DE" dirty="0"/>
              <a:t> </a:t>
            </a:r>
            <a:r>
              <a:rPr lang="de-DE" dirty="0" err="1"/>
              <a:t>Drivetrain</a:t>
            </a:r>
            <a:r>
              <a:rPr lang="de-DE" dirty="0"/>
              <a:t> (EDT)  </a:t>
            </a:r>
          </a:p>
          <a:p>
            <a:pPr lvl="1"/>
            <a:r>
              <a:rPr lang="de-DE" dirty="0"/>
              <a:t>8.  </a:t>
            </a:r>
            <a:r>
              <a:rPr lang="de-DE" dirty="0" err="1"/>
              <a:t>Grid</a:t>
            </a:r>
            <a:r>
              <a:rPr lang="de-DE" dirty="0"/>
              <a:t> Code Development (GCD)  </a:t>
            </a:r>
          </a:p>
          <a:p>
            <a:pPr lvl="1"/>
            <a:r>
              <a:rPr lang="de-DE" dirty="0"/>
              <a:t>9.  Rotor Hub &amp; Pitch System  </a:t>
            </a:r>
          </a:p>
          <a:p>
            <a:pPr lvl="1"/>
            <a:r>
              <a:rPr lang="de-DE" dirty="0"/>
              <a:t>10. Rotor </a:t>
            </a:r>
            <a:r>
              <a:rPr lang="de-DE" dirty="0" err="1"/>
              <a:t>Bearing</a:t>
            </a:r>
            <a:r>
              <a:rPr lang="de-DE" dirty="0"/>
              <a:t> System  </a:t>
            </a:r>
          </a:p>
          <a:p>
            <a:pPr lvl="1"/>
            <a:r>
              <a:rPr lang="de-DE" dirty="0"/>
              <a:t>11. </a:t>
            </a:r>
            <a:r>
              <a:rPr lang="de-DE" dirty="0" err="1"/>
              <a:t>Gearbox</a:t>
            </a:r>
            <a:r>
              <a:rPr lang="de-DE" dirty="0"/>
              <a:t>, Brake, Coupling  </a:t>
            </a:r>
          </a:p>
          <a:p>
            <a:pPr lvl="1"/>
            <a:r>
              <a:rPr lang="de-DE" dirty="0"/>
              <a:t>						</a:t>
            </a:r>
          </a:p>
        </p:txBody>
      </p:sp>
      <p:sp>
        <p:nvSpPr>
          <p:cNvPr id="12" name="Datumsplatzhalter 11">
            <a:extLst>
              <a:ext uri="{FF2B5EF4-FFF2-40B4-BE49-F238E27FC236}">
                <a16:creationId xmlns="" xmlns:a16="http://schemas.microsoft.com/office/drawing/2014/main" id="{FD841E35-8D66-8DA2-B806-8C18E5D28063}"/>
              </a:ext>
            </a:extLst>
          </p:cNvPr>
          <p:cNvSpPr>
            <a:spLocks noGrp="1"/>
          </p:cNvSpPr>
          <p:nvPr>
            <p:ph type="dt" sz="half" idx="14"/>
          </p:nvPr>
        </p:nvSpPr>
        <p:spPr/>
        <p:txBody>
          <a:bodyPr/>
          <a:lstStyle/>
          <a:p>
            <a:fld id="{67E12A6E-8E07-41BF-A0A3-3F2BF48E7745}" type="datetime1">
              <a:rPr lang="en-GB" smtClean="0"/>
              <a:pPr/>
              <a:t>16/11/2025</a:t>
            </a:fld>
            <a:endParaRPr lang="en-GB" dirty="0"/>
          </a:p>
        </p:txBody>
      </p:sp>
      <p:sp>
        <p:nvSpPr>
          <p:cNvPr id="16" name="Fußzeilenplatzhalter 15">
            <a:extLst>
              <a:ext uri="{FF2B5EF4-FFF2-40B4-BE49-F238E27FC236}">
                <a16:creationId xmlns="" xmlns:a16="http://schemas.microsoft.com/office/drawing/2014/main" id="{6C28938A-3748-78F8-3D01-B82DF87C9BE6}"/>
              </a:ext>
            </a:extLst>
          </p:cNvPr>
          <p:cNvSpPr>
            <a:spLocks noGrp="1"/>
          </p:cNvSpPr>
          <p:nvPr>
            <p:ph type="ftr" sz="quarter" idx="15"/>
          </p:nvPr>
        </p:nvSpPr>
        <p:spPr/>
        <p:txBody>
          <a:bodyPr/>
          <a:lstStyle/>
          <a:p>
            <a:r>
              <a:rPr lang="en-GB" dirty="0"/>
              <a:t>Rotor Hub and Pitch System / Optimus Syria</a:t>
            </a:r>
          </a:p>
        </p:txBody>
      </p:sp>
      <p:sp>
        <p:nvSpPr>
          <p:cNvPr id="17" name="Foliennummernplatzhalter 16">
            <a:extLst>
              <a:ext uri="{FF2B5EF4-FFF2-40B4-BE49-F238E27FC236}">
                <a16:creationId xmlns="" xmlns:a16="http://schemas.microsoft.com/office/drawing/2014/main" id="{3A903679-8273-AC0E-AD57-A9C78EE236F1}"/>
              </a:ext>
            </a:extLst>
          </p:cNvPr>
          <p:cNvSpPr>
            <a:spLocks noGrp="1"/>
          </p:cNvSpPr>
          <p:nvPr>
            <p:ph type="sldNum" sz="quarter" idx="16"/>
          </p:nvPr>
        </p:nvSpPr>
        <p:spPr/>
        <p:txBody>
          <a:bodyPr/>
          <a:lstStyle/>
          <a:p>
            <a:fld id="{013F6232-4F06-48BA-8F69-BF531F607829}" type="slidenum">
              <a:rPr lang="en-GB" smtClean="0"/>
              <a:pPr/>
              <a:t>‹#›</a:t>
            </a:fld>
            <a:endParaRPr lang="en-GB" dirty="0"/>
          </a:p>
        </p:txBody>
      </p:sp>
    </p:spTree>
    <p:extLst>
      <p:ext uri="{BB962C8B-B14F-4D97-AF65-F5344CB8AC3E}">
        <p14:creationId xmlns="" xmlns:p14="http://schemas.microsoft.com/office/powerpoint/2010/main" val="4293313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List of contents (Explanation)">
    <p:spTree>
      <p:nvGrpSpPr>
        <p:cNvPr id="1" name=""/>
        <p:cNvGrpSpPr/>
        <p:nvPr/>
      </p:nvGrpSpPr>
      <p:grpSpPr>
        <a:xfrm>
          <a:off x="0" y="0"/>
          <a:ext cx="0" cy="0"/>
          <a:chOff x="0" y="0"/>
          <a:chExt cx="0" cy="0"/>
        </a:xfrm>
      </p:grpSpPr>
      <p:sp>
        <p:nvSpPr>
          <p:cNvPr id="7" name="Content Placeholder 2">
            <a:extLst>
              <a:ext uri="{FF2B5EF4-FFF2-40B4-BE49-F238E27FC236}">
                <a16:creationId xmlns="" xmlns:a16="http://schemas.microsoft.com/office/drawing/2014/main" id="{68B5CAFF-79AF-87AE-7EAE-604CC93E7647}"/>
              </a:ext>
            </a:extLst>
          </p:cNvPr>
          <p:cNvSpPr>
            <a:spLocks noGrp="1"/>
          </p:cNvSpPr>
          <p:nvPr>
            <p:ph idx="1" hasCustomPrompt="1"/>
          </p:nvPr>
        </p:nvSpPr>
        <p:spPr>
          <a:xfrm>
            <a:off x="838200" y="1825625"/>
            <a:ext cx="10515600" cy="4351338"/>
          </a:xfrm>
        </p:spPr>
        <p:txBody>
          <a:bodyPr/>
          <a:lstStyle>
            <a:lvl1pPr marL="514350" indent="-514350">
              <a:buFont typeface="+mj-lt"/>
              <a:buAutoNum type="arabicPeriod"/>
              <a:defRPr sz="2200"/>
            </a:lvl1pPr>
            <a:lvl2pPr marL="971550" indent="-514350">
              <a:buFont typeface="+mj-lt"/>
              <a:buAutoNum type="romanLcPeriod"/>
              <a:defRPr sz="2000"/>
            </a:lvl2pPr>
          </a:lstStyle>
          <a:p>
            <a:pPr lvl="0"/>
            <a:r>
              <a:rPr lang="de-DE" dirty="0"/>
              <a:t>Title, </a:t>
            </a:r>
            <a:r>
              <a:rPr lang="de-DE" dirty="0" err="1"/>
              <a:t>example</a:t>
            </a:r>
            <a:r>
              <a:rPr lang="de-DE" dirty="0"/>
              <a:t>: Tasks </a:t>
            </a:r>
            <a:r>
              <a:rPr lang="de-DE" dirty="0" err="1"/>
              <a:t>of</a:t>
            </a:r>
            <a:r>
              <a:rPr lang="de-DE" dirty="0"/>
              <a:t> </a:t>
            </a:r>
            <a:r>
              <a:rPr lang="de-DE" dirty="0" err="1"/>
              <a:t>the</a:t>
            </a:r>
            <a:r>
              <a:rPr lang="de-DE" dirty="0"/>
              <a:t> </a:t>
            </a:r>
            <a:r>
              <a:rPr lang="de-DE" dirty="0" err="1"/>
              <a:t>week</a:t>
            </a:r>
            <a:r>
              <a:rPr lang="de-DE" dirty="0"/>
              <a:t>   (</a:t>
            </a:r>
            <a:r>
              <a:rPr lang="de-DE" dirty="0" err="1"/>
              <a:t>Aptos</a:t>
            </a:r>
            <a:r>
              <a:rPr lang="de-DE" dirty="0"/>
              <a:t>, 22)</a:t>
            </a:r>
          </a:p>
          <a:p>
            <a:pPr lvl="1"/>
            <a:r>
              <a:rPr lang="de-DE" dirty="0" err="1"/>
              <a:t>Example</a:t>
            </a:r>
            <a:r>
              <a:rPr lang="de-DE" dirty="0"/>
              <a:t>: </a:t>
            </a:r>
            <a:r>
              <a:rPr lang="de-DE" dirty="0" err="1"/>
              <a:t>drawings</a:t>
            </a:r>
            <a:r>
              <a:rPr lang="de-DE" dirty="0"/>
              <a:t> </a:t>
            </a:r>
            <a:r>
              <a:rPr lang="de-DE" dirty="0" err="1"/>
              <a:t>from</a:t>
            </a:r>
            <a:r>
              <a:rPr lang="de-DE" dirty="0"/>
              <a:t> </a:t>
            </a:r>
            <a:r>
              <a:rPr lang="de-DE" dirty="0" err="1"/>
              <a:t>the</a:t>
            </a:r>
            <a:r>
              <a:rPr lang="de-DE" dirty="0"/>
              <a:t> </a:t>
            </a:r>
            <a:r>
              <a:rPr lang="de-DE" dirty="0" err="1"/>
              <a:t>week</a:t>
            </a:r>
            <a:r>
              <a:rPr lang="de-DE" dirty="0"/>
              <a:t>  (</a:t>
            </a:r>
            <a:r>
              <a:rPr lang="de-DE" dirty="0" err="1"/>
              <a:t>Aptos</a:t>
            </a:r>
            <a:r>
              <a:rPr lang="de-DE" dirty="0"/>
              <a:t>, 20)</a:t>
            </a:r>
          </a:p>
          <a:p>
            <a:pPr lvl="0"/>
            <a:r>
              <a:rPr lang="de-DE" dirty="0"/>
              <a:t>X</a:t>
            </a:r>
          </a:p>
          <a:p>
            <a:pPr lvl="1"/>
            <a:endParaRPr lang="de-DE" dirty="0"/>
          </a:p>
        </p:txBody>
      </p:sp>
      <p:sp>
        <p:nvSpPr>
          <p:cNvPr id="8" name="Title 1">
            <a:extLst>
              <a:ext uri="{FF2B5EF4-FFF2-40B4-BE49-F238E27FC236}">
                <a16:creationId xmlns="" xmlns:a16="http://schemas.microsoft.com/office/drawing/2014/main" id="{562E2414-A9F3-5C69-E3A8-481E09152502}"/>
              </a:ext>
            </a:extLst>
          </p:cNvPr>
          <p:cNvSpPr>
            <a:spLocks noGrp="1"/>
          </p:cNvSpPr>
          <p:nvPr>
            <p:ph type="title" hasCustomPrompt="1"/>
          </p:nvPr>
        </p:nvSpPr>
        <p:spPr>
          <a:xfrm>
            <a:off x="838200" y="365125"/>
            <a:ext cx="10515600" cy="1325563"/>
          </a:xfrm>
        </p:spPr>
        <p:txBody>
          <a:bodyPr/>
          <a:lstStyle>
            <a:lvl1pPr>
              <a:defRPr/>
            </a:lvl1pPr>
          </a:lstStyle>
          <a:p>
            <a:r>
              <a:rPr lang="de-DE" dirty="0"/>
              <a:t>List </a:t>
            </a:r>
            <a:r>
              <a:rPr lang="de-DE" dirty="0" err="1"/>
              <a:t>of</a:t>
            </a:r>
            <a:r>
              <a:rPr lang="de-DE" dirty="0"/>
              <a:t> </a:t>
            </a:r>
            <a:r>
              <a:rPr lang="de-DE" dirty="0" err="1"/>
              <a:t>contents</a:t>
            </a:r>
            <a:endParaRPr lang="en-GB" dirty="0"/>
          </a:p>
        </p:txBody>
      </p:sp>
      <p:cxnSp>
        <p:nvCxnSpPr>
          <p:cNvPr id="9" name="Straight Connector 5">
            <a:extLst>
              <a:ext uri="{FF2B5EF4-FFF2-40B4-BE49-F238E27FC236}">
                <a16:creationId xmlns="" xmlns:a16="http://schemas.microsoft.com/office/drawing/2014/main" id="{66EB7C6A-45A8-A327-54B4-9E3A0BCAC0B4}"/>
              </a:ext>
            </a:extLst>
          </p:cNvPr>
          <p:cNvCxnSpPr>
            <a:cxnSpLocks/>
          </p:cNvCxnSpPr>
          <p:nvPr userDrawn="1"/>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2" name="Isosceles Triangle 6">
            <a:extLst>
              <a:ext uri="{FF2B5EF4-FFF2-40B4-BE49-F238E27FC236}">
                <a16:creationId xmlns="" xmlns:a16="http://schemas.microsoft.com/office/drawing/2014/main" id="{170C5CF7-7129-6BD6-B815-EAF32508EFB5}"/>
              </a:ext>
            </a:extLst>
          </p:cNvPr>
          <p:cNvSpPr/>
          <p:nvPr userDrawn="1"/>
        </p:nvSpPr>
        <p:spPr>
          <a:xfrm>
            <a:off x="5218873" y="2853022"/>
            <a:ext cx="1546144" cy="1209996"/>
          </a:xfrm>
          <a:prstGeom prst="triangle">
            <a:avLst>
              <a:gd name="adj" fmla="val 50565"/>
            </a:avLst>
          </a:prstGeom>
          <a:ln w="571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dirty="0"/>
          </a:p>
        </p:txBody>
      </p:sp>
      <p:sp>
        <p:nvSpPr>
          <p:cNvPr id="13" name="Rectangle 7">
            <a:extLst>
              <a:ext uri="{FF2B5EF4-FFF2-40B4-BE49-F238E27FC236}">
                <a16:creationId xmlns="" xmlns:a16="http://schemas.microsoft.com/office/drawing/2014/main" id="{C7BE5E88-0734-5426-D3DF-C7901A7359D4}"/>
              </a:ext>
            </a:extLst>
          </p:cNvPr>
          <p:cNvSpPr/>
          <p:nvPr userDrawn="1"/>
        </p:nvSpPr>
        <p:spPr>
          <a:xfrm>
            <a:off x="4025317" y="4094711"/>
            <a:ext cx="3933255" cy="2327860"/>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err="1"/>
              <a:t>This</a:t>
            </a:r>
            <a:r>
              <a:rPr lang="it-IT" dirty="0"/>
              <a:t> </a:t>
            </a:r>
            <a:r>
              <a:rPr lang="it-IT" dirty="0" err="1"/>
              <a:t>is</a:t>
            </a:r>
            <a:r>
              <a:rPr lang="it-IT" dirty="0"/>
              <a:t> an </a:t>
            </a:r>
            <a:r>
              <a:rPr lang="it-IT" dirty="0" err="1"/>
              <a:t>example</a:t>
            </a:r>
            <a:r>
              <a:rPr lang="it-IT" dirty="0"/>
              <a:t> </a:t>
            </a:r>
            <a:r>
              <a:rPr lang="it-IT" b="1" dirty="0"/>
              <a:t>BUT</a:t>
            </a:r>
            <a:r>
              <a:rPr lang="it-IT" dirty="0"/>
              <a:t/>
            </a:r>
            <a:br>
              <a:rPr lang="it-IT" dirty="0"/>
            </a:br>
            <a:r>
              <a:rPr lang="it-IT" dirty="0"/>
              <a:t>use the </a:t>
            </a:r>
            <a:r>
              <a:rPr lang="it-IT" dirty="0" err="1"/>
              <a:t>same</a:t>
            </a:r>
            <a:r>
              <a:rPr lang="it-IT" dirty="0"/>
              <a:t> style and short, concise bullet points) </a:t>
            </a:r>
            <a:br>
              <a:rPr lang="it-IT" dirty="0"/>
            </a:br>
            <a:r>
              <a:rPr lang="it-IT" dirty="0" err="1"/>
              <a:t>Only</a:t>
            </a:r>
            <a:r>
              <a:rPr lang="it-IT" dirty="0"/>
              <a:t> </a:t>
            </a:r>
            <a:r>
              <a:rPr lang="it-IT" dirty="0" err="1"/>
              <a:t>topics</a:t>
            </a:r>
            <a:r>
              <a:rPr lang="it-IT" dirty="0"/>
              <a:t> for the 4 min </a:t>
            </a:r>
            <a:r>
              <a:rPr lang="it-IT" dirty="0" err="1"/>
              <a:t>timeslot</a:t>
            </a:r>
            <a:r>
              <a:rPr lang="it-IT" dirty="0"/>
              <a:t>!</a:t>
            </a:r>
            <a:endParaRPr lang="en-GB" dirty="0"/>
          </a:p>
        </p:txBody>
      </p:sp>
      <p:sp>
        <p:nvSpPr>
          <p:cNvPr id="14" name="Rectangle 11">
            <a:extLst>
              <a:ext uri="{FF2B5EF4-FFF2-40B4-BE49-F238E27FC236}">
                <a16:creationId xmlns="" xmlns:a16="http://schemas.microsoft.com/office/drawing/2014/main" id="{11100C08-BD4D-E3E4-CE88-2FD7DF2770C3}"/>
              </a:ext>
            </a:extLst>
          </p:cNvPr>
          <p:cNvSpPr/>
          <p:nvPr userDrawn="1"/>
        </p:nvSpPr>
        <p:spPr>
          <a:xfrm>
            <a:off x="5727842" y="3001184"/>
            <a:ext cx="542886" cy="1200329"/>
          </a:xfrm>
          <a:prstGeom prst="rect">
            <a:avLst/>
          </a:prstGeom>
          <a:noFill/>
        </p:spPr>
        <p:txBody>
          <a:bodyPr wrap="square" lIns="91440" tIns="45720" rIns="91440" bIns="45720">
            <a:spAutoFit/>
          </a:bodyPr>
          <a:lstStyle/>
          <a:p>
            <a:pPr algn="ctr"/>
            <a:r>
              <a:rPr lang="en-GB" sz="7200" b="1" cap="none" spc="0" dirty="0">
                <a:ln w="0"/>
                <a:solidFill>
                  <a:schemeClr val="tx1"/>
                </a:solidFill>
              </a:rPr>
              <a:t>!</a:t>
            </a:r>
          </a:p>
        </p:txBody>
      </p:sp>
      <p:sp>
        <p:nvSpPr>
          <p:cNvPr id="2" name="Rectangle 7">
            <a:extLst>
              <a:ext uri="{FF2B5EF4-FFF2-40B4-BE49-F238E27FC236}">
                <a16:creationId xmlns="" xmlns:a16="http://schemas.microsoft.com/office/drawing/2014/main" id="{65B86036-57A0-C8C5-C8BB-699A37ABA2A8}"/>
              </a:ext>
            </a:extLst>
          </p:cNvPr>
          <p:cNvSpPr/>
          <p:nvPr userDrawn="1"/>
        </p:nvSpPr>
        <p:spPr>
          <a:xfrm>
            <a:off x="908165" y="3299037"/>
            <a:ext cx="2603270" cy="1404514"/>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err="1"/>
              <a:t>This</a:t>
            </a:r>
            <a:r>
              <a:rPr lang="it-IT" dirty="0"/>
              <a:t> slide </a:t>
            </a:r>
            <a:r>
              <a:rPr lang="it-IT" dirty="0" err="1"/>
              <a:t>is</a:t>
            </a:r>
            <a:r>
              <a:rPr lang="it-IT" dirty="0"/>
              <a:t> </a:t>
            </a:r>
            <a:r>
              <a:rPr lang="it-IT" dirty="0" err="1"/>
              <a:t>only</a:t>
            </a:r>
            <a:r>
              <a:rPr lang="it-IT" dirty="0"/>
              <a:t> for </a:t>
            </a:r>
            <a:r>
              <a:rPr lang="it-IT" dirty="0" err="1"/>
              <a:t>explanation</a:t>
            </a:r>
            <a:r>
              <a:rPr lang="it-IT" dirty="0"/>
              <a:t>, </a:t>
            </a:r>
            <a:r>
              <a:rPr lang="it-IT" dirty="0" err="1"/>
              <a:t>dont´t</a:t>
            </a:r>
            <a:r>
              <a:rPr lang="it-IT" dirty="0"/>
              <a:t> use </a:t>
            </a:r>
            <a:r>
              <a:rPr lang="it-IT" dirty="0" err="1"/>
              <a:t>it!</a:t>
            </a:r>
            <a:endParaRPr lang="en-GB" dirty="0"/>
          </a:p>
        </p:txBody>
      </p:sp>
      <p:sp>
        <p:nvSpPr>
          <p:cNvPr id="10" name="Datumsplatzhalter 9">
            <a:extLst>
              <a:ext uri="{FF2B5EF4-FFF2-40B4-BE49-F238E27FC236}">
                <a16:creationId xmlns="" xmlns:a16="http://schemas.microsoft.com/office/drawing/2014/main" id="{64195E91-DEC0-2198-8D7F-F5D7511FB319}"/>
              </a:ext>
            </a:extLst>
          </p:cNvPr>
          <p:cNvSpPr>
            <a:spLocks noGrp="1"/>
          </p:cNvSpPr>
          <p:nvPr>
            <p:ph type="dt" sz="half" idx="15"/>
          </p:nvPr>
        </p:nvSpPr>
        <p:spPr/>
        <p:txBody>
          <a:bodyPr/>
          <a:lstStyle/>
          <a:p>
            <a:fld id="{44A9BD06-27CB-406D-B020-DF52AE6E8585}" type="datetime1">
              <a:rPr lang="en-GB" smtClean="0"/>
              <a:pPr/>
              <a:t>16/11/2025</a:t>
            </a:fld>
            <a:endParaRPr lang="en-GB" dirty="0"/>
          </a:p>
        </p:txBody>
      </p:sp>
      <p:sp>
        <p:nvSpPr>
          <p:cNvPr id="11" name="Fußzeilenplatzhalter 10">
            <a:extLst>
              <a:ext uri="{FF2B5EF4-FFF2-40B4-BE49-F238E27FC236}">
                <a16:creationId xmlns="" xmlns:a16="http://schemas.microsoft.com/office/drawing/2014/main" id="{0EC107A6-E0D9-69FD-44BC-CFD5F05D7C83}"/>
              </a:ext>
            </a:extLst>
          </p:cNvPr>
          <p:cNvSpPr>
            <a:spLocks noGrp="1"/>
          </p:cNvSpPr>
          <p:nvPr>
            <p:ph type="ftr" sz="quarter" idx="16"/>
          </p:nvPr>
        </p:nvSpPr>
        <p:spPr/>
        <p:txBody>
          <a:bodyPr/>
          <a:lstStyle/>
          <a:p>
            <a:r>
              <a:rPr lang="en-GB" dirty="0"/>
              <a:t>Rotor Hub and Pitch System / Optimus Syria</a:t>
            </a:r>
          </a:p>
        </p:txBody>
      </p:sp>
      <p:sp>
        <p:nvSpPr>
          <p:cNvPr id="15" name="Foliennummernplatzhalter 14">
            <a:extLst>
              <a:ext uri="{FF2B5EF4-FFF2-40B4-BE49-F238E27FC236}">
                <a16:creationId xmlns="" xmlns:a16="http://schemas.microsoft.com/office/drawing/2014/main" id="{8CC2EBC5-DD43-6B7E-A5D7-5CD5B0E30A5C}"/>
              </a:ext>
            </a:extLst>
          </p:cNvPr>
          <p:cNvSpPr>
            <a:spLocks noGrp="1"/>
          </p:cNvSpPr>
          <p:nvPr>
            <p:ph type="sldNum" sz="quarter" idx="17"/>
          </p:nvPr>
        </p:nvSpPr>
        <p:spPr/>
        <p:txBody>
          <a:bodyPr/>
          <a:lstStyle/>
          <a:p>
            <a:fld id="{013F6232-4F06-48BA-8F69-BF531F607829}" type="slidenum">
              <a:rPr lang="en-GB" smtClean="0"/>
              <a:pPr/>
              <a:t>‹#›</a:t>
            </a:fld>
            <a:endParaRPr lang="en-GB" dirty="0"/>
          </a:p>
        </p:txBody>
      </p:sp>
      <p:sp>
        <p:nvSpPr>
          <p:cNvPr id="17" name="Textplatzhalter 16">
            <a:extLst>
              <a:ext uri="{FF2B5EF4-FFF2-40B4-BE49-F238E27FC236}">
                <a16:creationId xmlns="" xmlns:a16="http://schemas.microsoft.com/office/drawing/2014/main" id="{E7DFBCC3-CC46-17B2-DF15-92940A3865D7}"/>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 xmlns:p14="http://schemas.microsoft.com/office/powerpoint/2010/main" val="984858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List of contents">
    <p:spTree>
      <p:nvGrpSpPr>
        <p:cNvPr id="1" name=""/>
        <p:cNvGrpSpPr/>
        <p:nvPr/>
      </p:nvGrpSpPr>
      <p:grpSpPr>
        <a:xfrm>
          <a:off x="0" y="0"/>
          <a:ext cx="0" cy="0"/>
          <a:chOff x="0" y="0"/>
          <a:chExt cx="0" cy="0"/>
        </a:xfrm>
      </p:grpSpPr>
      <p:sp>
        <p:nvSpPr>
          <p:cNvPr id="7" name="Content Placeholder 2">
            <a:extLst>
              <a:ext uri="{FF2B5EF4-FFF2-40B4-BE49-F238E27FC236}">
                <a16:creationId xmlns="" xmlns:a16="http://schemas.microsoft.com/office/drawing/2014/main" id="{68B5CAFF-79AF-87AE-7EAE-604CC93E7647}"/>
              </a:ext>
            </a:extLst>
          </p:cNvPr>
          <p:cNvSpPr>
            <a:spLocks noGrp="1"/>
          </p:cNvSpPr>
          <p:nvPr>
            <p:ph idx="1" hasCustomPrompt="1"/>
          </p:nvPr>
        </p:nvSpPr>
        <p:spPr>
          <a:xfrm>
            <a:off x="838200" y="1825625"/>
            <a:ext cx="10515600" cy="4351338"/>
          </a:xfrm>
        </p:spPr>
        <p:txBody>
          <a:bodyPr/>
          <a:lstStyle>
            <a:lvl1pPr marL="514350" indent="-514350">
              <a:buFont typeface="+mj-lt"/>
              <a:buAutoNum type="arabicPeriod"/>
              <a:defRPr sz="2200"/>
            </a:lvl1pPr>
            <a:lvl2pPr marL="971550" indent="-514350">
              <a:buFont typeface="+mj-lt"/>
              <a:buAutoNum type="romanLcPeriod"/>
              <a:defRPr sz="2000"/>
            </a:lvl2pPr>
          </a:lstStyle>
          <a:p>
            <a:pPr lvl="0"/>
            <a:r>
              <a:rPr lang="de-DE" dirty="0"/>
              <a:t>Title, </a:t>
            </a:r>
            <a:r>
              <a:rPr lang="de-DE" dirty="0" err="1"/>
              <a:t>example</a:t>
            </a:r>
            <a:r>
              <a:rPr lang="de-DE" dirty="0"/>
              <a:t>: Tasks </a:t>
            </a:r>
            <a:r>
              <a:rPr lang="de-DE" dirty="0" err="1"/>
              <a:t>of</a:t>
            </a:r>
            <a:r>
              <a:rPr lang="de-DE" dirty="0"/>
              <a:t> </a:t>
            </a:r>
            <a:r>
              <a:rPr lang="de-DE" dirty="0" err="1"/>
              <a:t>the</a:t>
            </a:r>
            <a:r>
              <a:rPr lang="de-DE" dirty="0"/>
              <a:t> </a:t>
            </a:r>
            <a:r>
              <a:rPr lang="de-DE" dirty="0" err="1"/>
              <a:t>week</a:t>
            </a:r>
            <a:endParaRPr lang="de-DE" dirty="0"/>
          </a:p>
          <a:p>
            <a:pPr lvl="1"/>
            <a:r>
              <a:rPr lang="de-DE" dirty="0" err="1"/>
              <a:t>Example</a:t>
            </a:r>
            <a:r>
              <a:rPr lang="de-DE" dirty="0"/>
              <a:t>: </a:t>
            </a:r>
            <a:r>
              <a:rPr lang="de-DE" dirty="0" err="1"/>
              <a:t>drawings</a:t>
            </a:r>
            <a:r>
              <a:rPr lang="de-DE" dirty="0"/>
              <a:t> </a:t>
            </a:r>
            <a:r>
              <a:rPr lang="de-DE" dirty="0" err="1"/>
              <a:t>from</a:t>
            </a:r>
            <a:r>
              <a:rPr lang="de-DE" dirty="0"/>
              <a:t> </a:t>
            </a:r>
            <a:r>
              <a:rPr lang="de-DE" dirty="0" err="1"/>
              <a:t>the</a:t>
            </a:r>
            <a:r>
              <a:rPr lang="de-DE" dirty="0"/>
              <a:t> </a:t>
            </a:r>
            <a:r>
              <a:rPr lang="de-DE" dirty="0" err="1"/>
              <a:t>week</a:t>
            </a:r>
            <a:endParaRPr lang="de-DE" dirty="0"/>
          </a:p>
          <a:p>
            <a:pPr lvl="0"/>
            <a:r>
              <a:rPr lang="de-DE" dirty="0"/>
              <a:t>X</a:t>
            </a:r>
          </a:p>
          <a:p>
            <a:pPr lvl="1"/>
            <a:endParaRPr lang="de-DE" dirty="0"/>
          </a:p>
        </p:txBody>
      </p:sp>
      <p:sp>
        <p:nvSpPr>
          <p:cNvPr id="8" name="Title 1">
            <a:extLst>
              <a:ext uri="{FF2B5EF4-FFF2-40B4-BE49-F238E27FC236}">
                <a16:creationId xmlns="" xmlns:a16="http://schemas.microsoft.com/office/drawing/2014/main" id="{562E2414-A9F3-5C69-E3A8-481E09152502}"/>
              </a:ext>
            </a:extLst>
          </p:cNvPr>
          <p:cNvSpPr>
            <a:spLocks noGrp="1"/>
          </p:cNvSpPr>
          <p:nvPr>
            <p:ph type="title" hasCustomPrompt="1"/>
          </p:nvPr>
        </p:nvSpPr>
        <p:spPr>
          <a:xfrm>
            <a:off x="838200" y="365125"/>
            <a:ext cx="10515600" cy="1325563"/>
          </a:xfrm>
        </p:spPr>
        <p:txBody>
          <a:bodyPr/>
          <a:lstStyle>
            <a:lvl1pPr>
              <a:defRPr/>
            </a:lvl1pPr>
          </a:lstStyle>
          <a:p>
            <a:r>
              <a:rPr lang="de-DE" dirty="0"/>
              <a:t>List </a:t>
            </a:r>
            <a:r>
              <a:rPr lang="de-DE" dirty="0" err="1"/>
              <a:t>of</a:t>
            </a:r>
            <a:r>
              <a:rPr lang="de-DE" dirty="0"/>
              <a:t> </a:t>
            </a:r>
            <a:r>
              <a:rPr lang="de-DE" dirty="0" err="1"/>
              <a:t>contents</a:t>
            </a:r>
            <a:endParaRPr lang="en-GB" dirty="0"/>
          </a:p>
        </p:txBody>
      </p:sp>
      <p:cxnSp>
        <p:nvCxnSpPr>
          <p:cNvPr id="9" name="Straight Connector 5">
            <a:extLst>
              <a:ext uri="{FF2B5EF4-FFF2-40B4-BE49-F238E27FC236}">
                <a16:creationId xmlns="" xmlns:a16="http://schemas.microsoft.com/office/drawing/2014/main" id="{66EB7C6A-45A8-A327-54B4-9E3A0BCAC0B4}"/>
              </a:ext>
            </a:extLst>
          </p:cNvPr>
          <p:cNvCxnSpPr>
            <a:cxnSpLocks/>
          </p:cNvCxnSpPr>
          <p:nvPr userDrawn="1"/>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1" name="Datumsplatzhalter 10">
            <a:extLst>
              <a:ext uri="{FF2B5EF4-FFF2-40B4-BE49-F238E27FC236}">
                <a16:creationId xmlns="" xmlns:a16="http://schemas.microsoft.com/office/drawing/2014/main" id="{8F6D1F16-A947-CEE2-C58A-50217E9017C7}"/>
              </a:ext>
            </a:extLst>
          </p:cNvPr>
          <p:cNvSpPr>
            <a:spLocks noGrp="1"/>
          </p:cNvSpPr>
          <p:nvPr>
            <p:ph type="dt" sz="half" idx="10"/>
          </p:nvPr>
        </p:nvSpPr>
        <p:spPr/>
        <p:txBody>
          <a:bodyPr/>
          <a:lstStyle/>
          <a:p>
            <a:fld id="{3C9CB449-9A05-47ED-ABE6-D776F3C0C66D}" type="datetime1">
              <a:rPr lang="en-GB" smtClean="0"/>
              <a:pPr/>
              <a:t>16/11/2025</a:t>
            </a:fld>
            <a:endParaRPr lang="en-GB" dirty="0"/>
          </a:p>
        </p:txBody>
      </p:sp>
      <p:sp>
        <p:nvSpPr>
          <p:cNvPr id="12" name="Fußzeilenplatzhalter 11">
            <a:extLst>
              <a:ext uri="{FF2B5EF4-FFF2-40B4-BE49-F238E27FC236}">
                <a16:creationId xmlns="" xmlns:a16="http://schemas.microsoft.com/office/drawing/2014/main" id="{873EF994-6CA7-B763-F215-A7D1723E216C}"/>
              </a:ext>
            </a:extLst>
          </p:cNvPr>
          <p:cNvSpPr>
            <a:spLocks noGrp="1"/>
          </p:cNvSpPr>
          <p:nvPr>
            <p:ph type="ftr" sz="quarter" idx="11"/>
          </p:nvPr>
        </p:nvSpPr>
        <p:spPr>
          <a:xfrm>
            <a:off x="8474613" y="6564113"/>
            <a:ext cx="3215639" cy="365125"/>
          </a:xfrm>
        </p:spPr>
        <p:txBody>
          <a:bodyPr/>
          <a:lstStyle/>
          <a:p>
            <a:r>
              <a:rPr lang="en-GB" dirty="0"/>
              <a:t>Rotor Hub and Pitch System / Optimus Syria</a:t>
            </a:r>
          </a:p>
        </p:txBody>
      </p:sp>
      <p:sp>
        <p:nvSpPr>
          <p:cNvPr id="13" name="Foliennummernplatzhalter 12">
            <a:extLst>
              <a:ext uri="{FF2B5EF4-FFF2-40B4-BE49-F238E27FC236}">
                <a16:creationId xmlns="" xmlns:a16="http://schemas.microsoft.com/office/drawing/2014/main" id="{67F2F56B-9E4F-A460-92A9-87055C42B86E}"/>
              </a:ext>
            </a:extLst>
          </p:cNvPr>
          <p:cNvSpPr>
            <a:spLocks noGrp="1"/>
          </p:cNvSpPr>
          <p:nvPr>
            <p:ph type="sldNum" sz="quarter" idx="12"/>
          </p:nvPr>
        </p:nvSpPr>
        <p:spPr/>
        <p:txBody>
          <a:bodyPr/>
          <a:lstStyle/>
          <a:p>
            <a:fld id="{013F6232-4F06-48BA-8F69-BF531F607829}" type="slidenum">
              <a:rPr lang="en-GB" smtClean="0"/>
              <a:pPr/>
              <a:t>‹#›</a:t>
            </a:fld>
            <a:endParaRPr lang="en-GB" dirty="0"/>
          </a:p>
        </p:txBody>
      </p:sp>
      <p:sp>
        <p:nvSpPr>
          <p:cNvPr id="14" name="Textplatzhalter 16">
            <a:extLst>
              <a:ext uri="{FF2B5EF4-FFF2-40B4-BE49-F238E27FC236}">
                <a16:creationId xmlns="" xmlns:a16="http://schemas.microsoft.com/office/drawing/2014/main" id="{3A8B7922-CD64-E421-B5E5-B7BA56CBCB09}"/>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Adharsh Pappinisseri Veedu</a:t>
            </a:r>
          </a:p>
        </p:txBody>
      </p:sp>
    </p:spTree>
    <p:extLst>
      <p:ext uri="{BB962C8B-B14F-4D97-AF65-F5344CB8AC3E}">
        <p14:creationId xmlns="" xmlns:p14="http://schemas.microsoft.com/office/powerpoint/2010/main" val="1754527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slide (Explanation)">
    <p:spTree>
      <p:nvGrpSpPr>
        <p:cNvPr id="1" name=""/>
        <p:cNvGrpSpPr/>
        <p:nvPr/>
      </p:nvGrpSpPr>
      <p:grpSpPr>
        <a:xfrm>
          <a:off x="0" y="0"/>
          <a:ext cx="0" cy="0"/>
          <a:chOff x="0" y="0"/>
          <a:chExt cx="0" cy="0"/>
        </a:xfrm>
      </p:grpSpPr>
      <p:sp>
        <p:nvSpPr>
          <p:cNvPr id="2" name="Titel 1">
            <a:extLst>
              <a:ext uri="{FF2B5EF4-FFF2-40B4-BE49-F238E27FC236}">
                <a16:creationId xmlns="" xmlns:a16="http://schemas.microsoft.com/office/drawing/2014/main" id="{4748CB4A-E85F-FC1F-2439-52B071A98EBA}"/>
              </a:ext>
            </a:extLst>
          </p:cNvPr>
          <p:cNvSpPr>
            <a:spLocks noGrp="1" noRot="1" noMove="1" noResize="1" noEditPoints="1" noAdjustHandles="1" noChangeArrowheads="1" noChangeShapeType="1"/>
          </p:cNvSpPr>
          <p:nvPr>
            <p:ph type="title" hasCustomPrompt="1"/>
          </p:nvPr>
        </p:nvSpPr>
        <p:spPr/>
        <p:txBody>
          <a:bodyPr/>
          <a:lstStyle>
            <a:lvl1pPr>
              <a:defRPr sz="4400"/>
            </a:lvl1pPr>
          </a:lstStyle>
          <a:p>
            <a:r>
              <a:rPr lang="de-DE" dirty="0"/>
              <a:t>1. Title, </a:t>
            </a:r>
            <a:r>
              <a:rPr lang="de-DE" dirty="0" err="1"/>
              <a:t>example</a:t>
            </a:r>
            <a:r>
              <a:rPr lang="de-DE" dirty="0"/>
              <a:t>: Tasks </a:t>
            </a:r>
            <a:r>
              <a:rPr lang="de-DE" dirty="0" err="1"/>
              <a:t>of</a:t>
            </a:r>
            <a:r>
              <a:rPr lang="de-DE" dirty="0"/>
              <a:t> </a:t>
            </a:r>
            <a:r>
              <a:rPr lang="de-DE" dirty="0" err="1"/>
              <a:t>the</a:t>
            </a:r>
            <a:r>
              <a:rPr lang="de-DE" dirty="0"/>
              <a:t> </a:t>
            </a:r>
            <a:r>
              <a:rPr lang="de-DE" dirty="0" err="1"/>
              <a:t>week</a:t>
            </a:r>
            <a:r>
              <a:rPr lang="de-DE" dirty="0"/>
              <a:t>   </a:t>
            </a:r>
          </a:p>
        </p:txBody>
      </p:sp>
      <p:sp>
        <p:nvSpPr>
          <p:cNvPr id="3" name="Inhaltsplatzhalter 2">
            <a:extLst>
              <a:ext uri="{FF2B5EF4-FFF2-40B4-BE49-F238E27FC236}">
                <a16:creationId xmlns="" xmlns:a16="http://schemas.microsoft.com/office/drawing/2014/main" id="{E4216958-F611-9E4F-AA4F-56999F637A75}"/>
              </a:ext>
            </a:extLst>
          </p:cNvPr>
          <p:cNvSpPr>
            <a:spLocks noGrp="1"/>
          </p:cNvSpPr>
          <p:nvPr>
            <p:ph idx="1" hasCustomPrompt="1"/>
          </p:nvPr>
        </p:nvSpPr>
        <p:spPr/>
        <p:txBody>
          <a:bodyPr/>
          <a:lstStyle>
            <a:lvl1pPr>
              <a:defRPr sz="2200"/>
            </a:lvl1pPr>
            <a:lvl2pPr marL="971550" indent="-514350">
              <a:buFont typeface="+mj-lt"/>
              <a:buAutoNum type="romanLcPeriod"/>
              <a:defRPr sz="2000"/>
            </a:lvl2pPr>
          </a:lstStyle>
          <a:p>
            <a:pPr lvl="0"/>
            <a:r>
              <a:rPr lang="de-DE" dirty="0" err="1"/>
              <a:t>Abcd</a:t>
            </a:r>
            <a:r>
              <a:rPr lang="de-DE" dirty="0"/>
              <a:t> (</a:t>
            </a:r>
            <a:r>
              <a:rPr lang="de-DE" dirty="0" err="1"/>
              <a:t>Aptos</a:t>
            </a:r>
            <a:r>
              <a:rPr lang="de-DE" dirty="0"/>
              <a:t>, 22)</a:t>
            </a:r>
          </a:p>
          <a:p>
            <a:pPr marL="971550" marR="0" lvl="1" indent="-514350" algn="l" defTabSz="914400" rtl="0" eaLnBrk="1" fontAlgn="auto" latinLnBrk="0" hangingPunct="1">
              <a:lnSpc>
                <a:spcPct val="90000"/>
              </a:lnSpc>
              <a:spcBef>
                <a:spcPts val="500"/>
              </a:spcBef>
              <a:spcAft>
                <a:spcPts val="0"/>
              </a:spcAft>
              <a:buClrTx/>
              <a:buSzTx/>
              <a:buFont typeface="+mj-lt"/>
              <a:buAutoNum type="romanLcPeriod"/>
              <a:tabLst/>
              <a:defRPr/>
            </a:pPr>
            <a:r>
              <a:rPr lang="de-DE" dirty="0" err="1"/>
              <a:t>efgh</a:t>
            </a:r>
            <a:r>
              <a:rPr lang="de-DE" dirty="0"/>
              <a:t> (</a:t>
            </a:r>
            <a:r>
              <a:rPr lang="de-DE" dirty="0" err="1"/>
              <a:t>Aptos</a:t>
            </a:r>
            <a:r>
              <a:rPr lang="de-DE" dirty="0"/>
              <a:t>, 20)</a:t>
            </a:r>
          </a:p>
          <a:p>
            <a:pPr lvl="1"/>
            <a:endParaRPr lang="de-DE" dirty="0"/>
          </a:p>
        </p:txBody>
      </p:sp>
      <p:cxnSp>
        <p:nvCxnSpPr>
          <p:cNvPr id="7" name="Straight Connector 5">
            <a:extLst>
              <a:ext uri="{FF2B5EF4-FFF2-40B4-BE49-F238E27FC236}">
                <a16:creationId xmlns="" xmlns:a16="http://schemas.microsoft.com/office/drawing/2014/main" id="{C5BF7EBE-3919-817C-149B-CF38705C6BC9}"/>
              </a:ext>
            </a:extLst>
          </p:cNvPr>
          <p:cNvCxnSpPr>
            <a:cxnSpLocks/>
          </p:cNvCxnSpPr>
          <p:nvPr userDrawn="1"/>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8" name="Isosceles Triangle 6">
            <a:extLst>
              <a:ext uri="{FF2B5EF4-FFF2-40B4-BE49-F238E27FC236}">
                <a16:creationId xmlns="" xmlns:a16="http://schemas.microsoft.com/office/drawing/2014/main" id="{3272B118-64EE-99BB-8728-CE26B185DCFC}"/>
              </a:ext>
            </a:extLst>
          </p:cNvPr>
          <p:cNvSpPr/>
          <p:nvPr userDrawn="1"/>
        </p:nvSpPr>
        <p:spPr>
          <a:xfrm>
            <a:off x="8353959" y="1690688"/>
            <a:ext cx="1546144" cy="1209996"/>
          </a:xfrm>
          <a:prstGeom prst="triangle">
            <a:avLst>
              <a:gd name="adj" fmla="val 50565"/>
            </a:avLst>
          </a:prstGeom>
          <a:ln w="571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dirty="0"/>
          </a:p>
        </p:txBody>
      </p:sp>
      <p:sp>
        <p:nvSpPr>
          <p:cNvPr id="9" name="Rectangle 7">
            <a:extLst>
              <a:ext uri="{FF2B5EF4-FFF2-40B4-BE49-F238E27FC236}">
                <a16:creationId xmlns="" xmlns:a16="http://schemas.microsoft.com/office/drawing/2014/main" id="{CCA8528F-A469-ED70-E9CA-F25798C1A305}"/>
              </a:ext>
            </a:extLst>
          </p:cNvPr>
          <p:cNvSpPr/>
          <p:nvPr userDrawn="1"/>
        </p:nvSpPr>
        <p:spPr>
          <a:xfrm>
            <a:off x="2209800" y="3095720"/>
            <a:ext cx="3933255" cy="2327860"/>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a:t>Use [1], [2], [3] for </a:t>
            </a:r>
            <a:r>
              <a:rPr lang="it-IT" dirty="0" err="1"/>
              <a:t>everything</a:t>
            </a:r>
            <a:r>
              <a:rPr lang="it-IT" dirty="0"/>
              <a:t> </a:t>
            </a:r>
            <a:r>
              <a:rPr lang="it-IT" dirty="0" err="1"/>
              <a:t>you</a:t>
            </a:r>
            <a:r>
              <a:rPr lang="it-IT" dirty="0"/>
              <a:t> </a:t>
            </a:r>
            <a:r>
              <a:rPr lang="it-IT" dirty="0" err="1"/>
              <a:t>have</a:t>
            </a:r>
            <a:r>
              <a:rPr lang="it-IT" dirty="0"/>
              <a:t> from a source (</a:t>
            </a:r>
            <a:r>
              <a:rPr lang="it-IT" dirty="0" err="1"/>
              <a:t>numbers</a:t>
            </a:r>
            <a:r>
              <a:rPr lang="it-IT" dirty="0"/>
              <a:t> </a:t>
            </a:r>
            <a:r>
              <a:rPr lang="it-IT" dirty="0" err="1"/>
              <a:t>should</a:t>
            </a:r>
            <a:r>
              <a:rPr lang="it-IT" dirty="0"/>
              <a:t> be the </a:t>
            </a:r>
            <a:r>
              <a:rPr lang="it-IT" dirty="0" err="1"/>
              <a:t>same</a:t>
            </a:r>
            <a:r>
              <a:rPr lang="it-IT" dirty="0"/>
              <a:t> like in the </a:t>
            </a:r>
            <a:r>
              <a:rPr lang="it-IT" dirty="0" err="1"/>
              <a:t>bibliography</a:t>
            </a:r>
            <a:r>
              <a:rPr lang="it-IT" dirty="0"/>
              <a:t>) (</a:t>
            </a:r>
            <a:r>
              <a:rPr lang="it-IT" dirty="0" err="1"/>
              <a:t>incl</a:t>
            </a:r>
            <a:r>
              <a:rPr lang="it-IT" dirty="0"/>
              <a:t>. pictures / </a:t>
            </a:r>
            <a:r>
              <a:rPr lang="it-IT" dirty="0" err="1"/>
              <a:t>if</a:t>
            </a:r>
            <a:r>
              <a:rPr lang="it-IT" dirty="0"/>
              <a:t> </a:t>
            </a:r>
            <a:r>
              <a:rPr lang="it-IT" dirty="0" err="1"/>
              <a:t>you</a:t>
            </a:r>
            <a:r>
              <a:rPr lang="it-IT" dirty="0"/>
              <a:t> </a:t>
            </a:r>
            <a:r>
              <a:rPr lang="it-IT" dirty="0" err="1"/>
              <a:t>created</a:t>
            </a:r>
            <a:r>
              <a:rPr lang="it-IT" dirty="0"/>
              <a:t> </a:t>
            </a:r>
            <a:r>
              <a:rPr lang="it-IT" dirty="0" err="1"/>
              <a:t>them</a:t>
            </a:r>
            <a:r>
              <a:rPr lang="it-IT" dirty="0"/>
              <a:t> by </a:t>
            </a:r>
            <a:r>
              <a:rPr lang="it-IT" dirty="0" err="1"/>
              <a:t>your</a:t>
            </a:r>
            <a:r>
              <a:rPr lang="it-IT" dirty="0"/>
              <a:t> </a:t>
            </a:r>
            <a:r>
              <a:rPr lang="it-IT" dirty="0" err="1"/>
              <a:t>own</a:t>
            </a:r>
            <a:r>
              <a:rPr lang="it-IT" dirty="0"/>
              <a:t>, </a:t>
            </a:r>
            <a:r>
              <a:rPr lang="it-IT" dirty="0" err="1"/>
              <a:t>declare</a:t>
            </a:r>
            <a:r>
              <a:rPr lang="it-IT" dirty="0"/>
              <a:t> </a:t>
            </a:r>
            <a:r>
              <a:rPr lang="it-IT" dirty="0" err="1"/>
              <a:t>them</a:t>
            </a:r>
            <a:r>
              <a:rPr lang="it-IT" dirty="0"/>
              <a:t> </a:t>
            </a:r>
            <a:r>
              <a:rPr lang="it-IT" dirty="0" err="1"/>
              <a:t>as</a:t>
            </a:r>
            <a:r>
              <a:rPr lang="it-IT" dirty="0"/>
              <a:t> a </a:t>
            </a:r>
            <a:r>
              <a:rPr lang="it-IT" dirty="0" err="1"/>
              <a:t>thing</a:t>
            </a:r>
            <a:r>
              <a:rPr lang="it-IT" dirty="0"/>
              <a:t> </a:t>
            </a:r>
            <a:r>
              <a:rPr lang="it-IT" dirty="0" err="1"/>
              <a:t>you’ve</a:t>
            </a:r>
            <a:r>
              <a:rPr lang="it-IT" dirty="0"/>
              <a:t> </a:t>
            </a:r>
            <a:r>
              <a:rPr lang="it-IT" dirty="0" err="1"/>
              <a:t>done</a:t>
            </a:r>
            <a:r>
              <a:rPr lang="it-IT" dirty="0"/>
              <a:t> ) [Style </a:t>
            </a:r>
            <a:r>
              <a:rPr lang="it-IT" dirty="0" err="1"/>
              <a:t>Aptos</a:t>
            </a:r>
            <a:r>
              <a:rPr lang="it-IT" dirty="0"/>
              <a:t>/14]</a:t>
            </a:r>
            <a:endParaRPr lang="en-GB" dirty="0"/>
          </a:p>
        </p:txBody>
      </p:sp>
      <p:sp>
        <p:nvSpPr>
          <p:cNvPr id="10" name="Rectangle 11">
            <a:extLst>
              <a:ext uri="{FF2B5EF4-FFF2-40B4-BE49-F238E27FC236}">
                <a16:creationId xmlns="" xmlns:a16="http://schemas.microsoft.com/office/drawing/2014/main" id="{E1F8C099-06EF-7661-9A3C-60FE5CD4C5D5}"/>
              </a:ext>
            </a:extLst>
          </p:cNvPr>
          <p:cNvSpPr/>
          <p:nvPr userDrawn="1"/>
        </p:nvSpPr>
        <p:spPr>
          <a:xfrm>
            <a:off x="8862928" y="1838850"/>
            <a:ext cx="542886" cy="1200329"/>
          </a:xfrm>
          <a:prstGeom prst="rect">
            <a:avLst/>
          </a:prstGeom>
          <a:noFill/>
        </p:spPr>
        <p:txBody>
          <a:bodyPr wrap="square" lIns="91440" tIns="45720" rIns="91440" bIns="45720">
            <a:spAutoFit/>
          </a:bodyPr>
          <a:lstStyle/>
          <a:p>
            <a:pPr algn="ctr"/>
            <a:r>
              <a:rPr lang="en-GB" sz="7200" b="1" cap="none" spc="0" dirty="0">
                <a:ln w="0"/>
                <a:solidFill>
                  <a:schemeClr val="tx1"/>
                </a:solidFill>
              </a:rPr>
              <a:t>!</a:t>
            </a:r>
          </a:p>
        </p:txBody>
      </p:sp>
      <p:sp>
        <p:nvSpPr>
          <p:cNvPr id="11" name="Rectangle 7">
            <a:extLst>
              <a:ext uri="{FF2B5EF4-FFF2-40B4-BE49-F238E27FC236}">
                <a16:creationId xmlns="" xmlns:a16="http://schemas.microsoft.com/office/drawing/2014/main" id="{6E31FDF0-C963-BED4-C97E-FF9F67C07D21}"/>
              </a:ext>
            </a:extLst>
          </p:cNvPr>
          <p:cNvSpPr/>
          <p:nvPr userDrawn="1"/>
        </p:nvSpPr>
        <p:spPr>
          <a:xfrm>
            <a:off x="7312803" y="3084777"/>
            <a:ext cx="3933255" cy="2327860"/>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err="1"/>
              <a:t>This</a:t>
            </a:r>
            <a:r>
              <a:rPr lang="it-IT" dirty="0"/>
              <a:t> </a:t>
            </a:r>
            <a:r>
              <a:rPr lang="it-IT" dirty="0" err="1"/>
              <a:t>is</a:t>
            </a:r>
            <a:r>
              <a:rPr lang="it-IT" dirty="0"/>
              <a:t> an </a:t>
            </a:r>
            <a:r>
              <a:rPr lang="it-IT" dirty="0" err="1"/>
              <a:t>example</a:t>
            </a:r>
            <a:r>
              <a:rPr lang="it-IT" dirty="0"/>
              <a:t> </a:t>
            </a:r>
            <a:r>
              <a:rPr lang="it-IT" b="1" dirty="0"/>
              <a:t>BUT</a:t>
            </a:r>
          </a:p>
          <a:p>
            <a:pPr algn="ctr"/>
            <a:r>
              <a:rPr lang="it-IT" dirty="0"/>
              <a:t>an </a:t>
            </a:r>
            <a:r>
              <a:rPr lang="it-IT" dirty="0" err="1"/>
              <a:t>intial</a:t>
            </a:r>
            <a:r>
              <a:rPr lang="it-IT" dirty="0"/>
              <a:t> slide with </a:t>
            </a:r>
            <a:r>
              <a:rPr lang="it-IT" dirty="0" err="1"/>
              <a:t>all</a:t>
            </a:r>
            <a:r>
              <a:rPr lang="it-IT" dirty="0"/>
              <a:t> the tasks </a:t>
            </a:r>
            <a:r>
              <a:rPr lang="it-IT" dirty="0" err="1"/>
              <a:t>completed</a:t>
            </a:r>
            <a:r>
              <a:rPr lang="it-IT" dirty="0"/>
              <a:t> for the week </a:t>
            </a:r>
            <a:r>
              <a:rPr lang="it-IT" dirty="0" err="1"/>
              <a:t>should</a:t>
            </a:r>
            <a:r>
              <a:rPr lang="it-IT" dirty="0"/>
              <a:t> </a:t>
            </a:r>
            <a:r>
              <a:rPr lang="it-IT" dirty="0" err="1"/>
              <a:t>always</a:t>
            </a:r>
            <a:r>
              <a:rPr lang="it-IT" dirty="0"/>
              <a:t> be </a:t>
            </a:r>
            <a:r>
              <a:rPr lang="it-IT" dirty="0" err="1"/>
              <a:t>included</a:t>
            </a:r>
            <a:r>
              <a:rPr lang="it-IT" dirty="0"/>
              <a:t/>
            </a:r>
            <a:br>
              <a:rPr lang="it-IT" dirty="0"/>
            </a:br>
            <a:r>
              <a:rPr lang="it-IT" dirty="0"/>
              <a:t>Use the </a:t>
            </a:r>
            <a:r>
              <a:rPr lang="it-IT" dirty="0" err="1"/>
              <a:t>same</a:t>
            </a:r>
            <a:r>
              <a:rPr lang="it-IT" dirty="0"/>
              <a:t> style, do </a:t>
            </a:r>
            <a:r>
              <a:rPr lang="it-IT" dirty="0" err="1"/>
              <a:t>not</a:t>
            </a:r>
            <a:r>
              <a:rPr lang="it-IT" dirty="0"/>
              <a:t> </a:t>
            </a:r>
            <a:r>
              <a:rPr lang="it-IT" dirty="0" err="1"/>
              <a:t>write</a:t>
            </a:r>
            <a:r>
              <a:rPr lang="it-IT" dirty="0"/>
              <a:t> more text </a:t>
            </a:r>
            <a:r>
              <a:rPr lang="it-IT" dirty="0" err="1"/>
              <a:t>than</a:t>
            </a:r>
            <a:r>
              <a:rPr lang="it-IT" dirty="0"/>
              <a:t> </a:t>
            </a:r>
            <a:r>
              <a:rPr lang="it-IT" dirty="0" err="1"/>
              <a:t>necessary</a:t>
            </a:r>
            <a:r>
              <a:rPr lang="it-IT" dirty="0"/>
              <a:t> (short, concise bullet points are </a:t>
            </a:r>
            <a:r>
              <a:rPr lang="it-IT" dirty="0" err="1"/>
              <a:t>often</a:t>
            </a:r>
            <a:r>
              <a:rPr lang="it-IT" dirty="0"/>
              <a:t> </a:t>
            </a:r>
            <a:r>
              <a:rPr lang="it-IT" dirty="0" err="1"/>
              <a:t>enough</a:t>
            </a:r>
            <a:r>
              <a:rPr lang="it-IT" dirty="0"/>
              <a:t>)</a:t>
            </a:r>
            <a:endParaRPr lang="en-GB" dirty="0"/>
          </a:p>
        </p:txBody>
      </p:sp>
      <p:sp>
        <p:nvSpPr>
          <p:cNvPr id="12" name="Textfeld 11">
            <a:extLst>
              <a:ext uri="{FF2B5EF4-FFF2-40B4-BE49-F238E27FC236}">
                <a16:creationId xmlns="" xmlns:a16="http://schemas.microsoft.com/office/drawing/2014/main" id="{5BA9FE0F-4438-A90E-178E-370DFB88F067}"/>
              </a:ext>
            </a:extLst>
          </p:cNvPr>
          <p:cNvSpPr txBox="1"/>
          <p:nvPr userDrawn="1"/>
        </p:nvSpPr>
        <p:spPr>
          <a:xfrm>
            <a:off x="812800" y="6219031"/>
            <a:ext cx="2120901" cy="307777"/>
          </a:xfrm>
          <a:prstGeom prst="rect">
            <a:avLst/>
          </a:prstGeom>
          <a:noFill/>
        </p:spPr>
        <p:txBody>
          <a:bodyPr wrap="square" rtlCol="0">
            <a:spAutoFit/>
          </a:bodyPr>
          <a:lstStyle/>
          <a:p>
            <a:r>
              <a:rPr lang="de-DE" sz="1400" dirty="0"/>
              <a:t>[1], [2]….</a:t>
            </a:r>
          </a:p>
        </p:txBody>
      </p:sp>
      <p:cxnSp>
        <p:nvCxnSpPr>
          <p:cNvPr id="13" name="Straight Arrow Connector 21">
            <a:extLst>
              <a:ext uri="{FF2B5EF4-FFF2-40B4-BE49-F238E27FC236}">
                <a16:creationId xmlns="" xmlns:a16="http://schemas.microsoft.com/office/drawing/2014/main" id="{C9F1C9AE-6377-666B-8F06-CF0B8B317160}"/>
              </a:ext>
            </a:extLst>
          </p:cNvPr>
          <p:cNvCxnSpPr>
            <a:cxnSpLocks/>
          </p:cNvCxnSpPr>
          <p:nvPr userDrawn="1"/>
        </p:nvCxnSpPr>
        <p:spPr>
          <a:xfrm flipH="1">
            <a:off x="1502229" y="4898571"/>
            <a:ext cx="1487714" cy="1318387"/>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7">
            <a:extLst>
              <a:ext uri="{FF2B5EF4-FFF2-40B4-BE49-F238E27FC236}">
                <a16:creationId xmlns="" xmlns:a16="http://schemas.microsoft.com/office/drawing/2014/main" id="{8C56F642-24B4-9889-6DFF-DDDACEFB7E68}"/>
              </a:ext>
            </a:extLst>
          </p:cNvPr>
          <p:cNvSpPr/>
          <p:nvPr userDrawn="1"/>
        </p:nvSpPr>
        <p:spPr>
          <a:xfrm>
            <a:off x="5256400" y="1634301"/>
            <a:ext cx="2603270" cy="1404514"/>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err="1"/>
              <a:t>This</a:t>
            </a:r>
            <a:r>
              <a:rPr lang="it-IT" dirty="0"/>
              <a:t> slide </a:t>
            </a:r>
            <a:r>
              <a:rPr lang="it-IT" dirty="0" err="1"/>
              <a:t>is</a:t>
            </a:r>
            <a:r>
              <a:rPr lang="it-IT" dirty="0"/>
              <a:t> </a:t>
            </a:r>
            <a:r>
              <a:rPr lang="it-IT" dirty="0" err="1"/>
              <a:t>only</a:t>
            </a:r>
            <a:r>
              <a:rPr lang="it-IT" dirty="0"/>
              <a:t> for </a:t>
            </a:r>
            <a:r>
              <a:rPr lang="it-IT" dirty="0" err="1"/>
              <a:t>explanation</a:t>
            </a:r>
            <a:r>
              <a:rPr lang="it-IT" dirty="0"/>
              <a:t>, </a:t>
            </a:r>
            <a:r>
              <a:rPr lang="it-IT" dirty="0" err="1"/>
              <a:t>dont´t</a:t>
            </a:r>
            <a:r>
              <a:rPr lang="it-IT" dirty="0"/>
              <a:t> use </a:t>
            </a:r>
            <a:r>
              <a:rPr lang="it-IT" dirty="0" err="1"/>
              <a:t>it!</a:t>
            </a:r>
            <a:endParaRPr lang="en-GB" dirty="0"/>
          </a:p>
        </p:txBody>
      </p:sp>
      <p:sp>
        <p:nvSpPr>
          <p:cNvPr id="15" name="Datumsplatzhalter 14">
            <a:extLst>
              <a:ext uri="{FF2B5EF4-FFF2-40B4-BE49-F238E27FC236}">
                <a16:creationId xmlns="" xmlns:a16="http://schemas.microsoft.com/office/drawing/2014/main" id="{F5B6D5E1-3173-F7DB-AFEA-577613F3A0E2}"/>
              </a:ext>
            </a:extLst>
          </p:cNvPr>
          <p:cNvSpPr>
            <a:spLocks noGrp="1"/>
          </p:cNvSpPr>
          <p:nvPr>
            <p:ph type="dt" sz="half" idx="10"/>
          </p:nvPr>
        </p:nvSpPr>
        <p:spPr/>
        <p:txBody>
          <a:bodyPr/>
          <a:lstStyle/>
          <a:p>
            <a:fld id="{3953B738-FB44-4953-BA7A-AFB852E86761}" type="datetime1">
              <a:rPr lang="en-GB" smtClean="0"/>
              <a:pPr/>
              <a:t>16/11/2025</a:t>
            </a:fld>
            <a:endParaRPr lang="en-GB" dirty="0"/>
          </a:p>
        </p:txBody>
      </p:sp>
      <p:sp>
        <p:nvSpPr>
          <p:cNvPr id="16" name="Fußzeilenplatzhalter 15">
            <a:extLst>
              <a:ext uri="{FF2B5EF4-FFF2-40B4-BE49-F238E27FC236}">
                <a16:creationId xmlns="" xmlns:a16="http://schemas.microsoft.com/office/drawing/2014/main" id="{4201E827-9609-58AA-70BC-996E2AD05F8D}"/>
              </a:ext>
            </a:extLst>
          </p:cNvPr>
          <p:cNvSpPr>
            <a:spLocks noGrp="1"/>
          </p:cNvSpPr>
          <p:nvPr>
            <p:ph type="ftr" sz="quarter" idx="11"/>
          </p:nvPr>
        </p:nvSpPr>
        <p:spPr/>
        <p:txBody>
          <a:bodyPr/>
          <a:lstStyle/>
          <a:p>
            <a:r>
              <a:rPr lang="en-GB" dirty="0"/>
              <a:t>Rotor Hub and Pitch System / Optimus Syria</a:t>
            </a:r>
          </a:p>
        </p:txBody>
      </p:sp>
      <p:sp>
        <p:nvSpPr>
          <p:cNvPr id="17" name="Foliennummernplatzhalter 16">
            <a:extLst>
              <a:ext uri="{FF2B5EF4-FFF2-40B4-BE49-F238E27FC236}">
                <a16:creationId xmlns="" xmlns:a16="http://schemas.microsoft.com/office/drawing/2014/main" id="{DE013F6E-0CEE-85C3-4AD1-ADEED88F5D1E}"/>
              </a:ext>
            </a:extLst>
          </p:cNvPr>
          <p:cNvSpPr>
            <a:spLocks noGrp="1"/>
          </p:cNvSpPr>
          <p:nvPr>
            <p:ph type="sldNum" sz="quarter" idx="12"/>
          </p:nvPr>
        </p:nvSpPr>
        <p:spPr/>
        <p:txBody>
          <a:bodyPr/>
          <a:lstStyle/>
          <a:p>
            <a:fld id="{013F6232-4F06-48BA-8F69-BF531F607829}" type="slidenum">
              <a:rPr lang="en-GB" smtClean="0"/>
              <a:pPr/>
              <a:t>‹#›</a:t>
            </a:fld>
            <a:endParaRPr lang="en-GB" dirty="0"/>
          </a:p>
        </p:txBody>
      </p:sp>
      <p:sp>
        <p:nvSpPr>
          <p:cNvPr id="18" name="Textplatzhalter 16">
            <a:extLst>
              <a:ext uri="{FF2B5EF4-FFF2-40B4-BE49-F238E27FC236}">
                <a16:creationId xmlns="" xmlns:a16="http://schemas.microsoft.com/office/drawing/2014/main" id="{4C7AB516-D061-772D-6849-99EBB4468916}"/>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 xmlns:p14="http://schemas.microsoft.com/office/powerpoint/2010/main" val="19303942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extslide">
    <p:spTree>
      <p:nvGrpSpPr>
        <p:cNvPr id="1" name=""/>
        <p:cNvGrpSpPr/>
        <p:nvPr/>
      </p:nvGrpSpPr>
      <p:grpSpPr>
        <a:xfrm>
          <a:off x="0" y="0"/>
          <a:ext cx="0" cy="0"/>
          <a:chOff x="0" y="0"/>
          <a:chExt cx="0" cy="0"/>
        </a:xfrm>
      </p:grpSpPr>
      <p:sp>
        <p:nvSpPr>
          <p:cNvPr id="2" name="Titel 1">
            <a:extLst>
              <a:ext uri="{FF2B5EF4-FFF2-40B4-BE49-F238E27FC236}">
                <a16:creationId xmlns="" xmlns:a16="http://schemas.microsoft.com/office/drawing/2014/main" id="{4748CB4A-E85F-FC1F-2439-52B071A98EBA}"/>
              </a:ext>
            </a:extLst>
          </p:cNvPr>
          <p:cNvSpPr>
            <a:spLocks noGrp="1" noRot="1" noMove="1" noResize="1" noEditPoints="1" noAdjustHandles="1" noChangeArrowheads="1" noChangeShapeType="1"/>
          </p:cNvSpPr>
          <p:nvPr>
            <p:ph type="title" hasCustomPrompt="1"/>
          </p:nvPr>
        </p:nvSpPr>
        <p:spPr/>
        <p:txBody>
          <a:bodyPr/>
          <a:lstStyle>
            <a:lvl1pPr>
              <a:defRPr sz="4400"/>
            </a:lvl1pPr>
          </a:lstStyle>
          <a:p>
            <a:r>
              <a:rPr lang="de-DE" dirty="0"/>
              <a:t>1. Title, </a:t>
            </a:r>
            <a:r>
              <a:rPr lang="de-DE" dirty="0" err="1"/>
              <a:t>example</a:t>
            </a:r>
            <a:r>
              <a:rPr lang="de-DE" dirty="0"/>
              <a:t>: Tasks </a:t>
            </a:r>
            <a:r>
              <a:rPr lang="de-DE" dirty="0" err="1"/>
              <a:t>of</a:t>
            </a:r>
            <a:r>
              <a:rPr lang="de-DE" dirty="0"/>
              <a:t> </a:t>
            </a:r>
            <a:r>
              <a:rPr lang="de-DE" dirty="0" err="1"/>
              <a:t>the</a:t>
            </a:r>
            <a:r>
              <a:rPr lang="de-DE" dirty="0"/>
              <a:t> </a:t>
            </a:r>
            <a:r>
              <a:rPr lang="de-DE" dirty="0" err="1"/>
              <a:t>week</a:t>
            </a:r>
            <a:r>
              <a:rPr lang="de-DE" dirty="0"/>
              <a:t>   </a:t>
            </a:r>
          </a:p>
        </p:txBody>
      </p:sp>
      <p:sp>
        <p:nvSpPr>
          <p:cNvPr id="3" name="Inhaltsplatzhalter 2">
            <a:extLst>
              <a:ext uri="{FF2B5EF4-FFF2-40B4-BE49-F238E27FC236}">
                <a16:creationId xmlns="" xmlns:a16="http://schemas.microsoft.com/office/drawing/2014/main" id="{E4216958-F611-9E4F-AA4F-56999F637A75}"/>
              </a:ext>
            </a:extLst>
          </p:cNvPr>
          <p:cNvSpPr>
            <a:spLocks noGrp="1"/>
          </p:cNvSpPr>
          <p:nvPr>
            <p:ph idx="1" hasCustomPrompt="1"/>
          </p:nvPr>
        </p:nvSpPr>
        <p:spPr/>
        <p:txBody>
          <a:bodyPr/>
          <a:lstStyle>
            <a:lvl1pPr>
              <a:defRPr sz="2200"/>
            </a:lvl1pPr>
            <a:lvl2pPr marL="971550" indent="-514350">
              <a:buFont typeface="+mj-lt"/>
              <a:buAutoNum type="romanLcPeriod"/>
              <a:defRPr sz="2000"/>
            </a:lvl2pPr>
          </a:lstStyle>
          <a:p>
            <a:pPr lvl="0"/>
            <a:r>
              <a:rPr lang="de-DE" dirty="0" err="1"/>
              <a:t>Abcd</a:t>
            </a:r>
            <a:endParaRPr lang="de-DE" dirty="0"/>
          </a:p>
          <a:p>
            <a:pPr lvl="1"/>
            <a:r>
              <a:rPr lang="de-DE" dirty="0" err="1"/>
              <a:t>efgh</a:t>
            </a:r>
            <a:endParaRPr lang="de-DE" dirty="0"/>
          </a:p>
        </p:txBody>
      </p:sp>
      <p:cxnSp>
        <p:nvCxnSpPr>
          <p:cNvPr id="7" name="Straight Connector 5">
            <a:extLst>
              <a:ext uri="{FF2B5EF4-FFF2-40B4-BE49-F238E27FC236}">
                <a16:creationId xmlns="" xmlns:a16="http://schemas.microsoft.com/office/drawing/2014/main" id="{C5BF7EBE-3919-817C-149B-CF38705C6BC9}"/>
              </a:ext>
            </a:extLst>
          </p:cNvPr>
          <p:cNvCxnSpPr>
            <a:cxnSpLocks/>
          </p:cNvCxnSpPr>
          <p:nvPr userDrawn="1"/>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8" name="Textplatzhalter 16">
            <a:extLst>
              <a:ext uri="{FF2B5EF4-FFF2-40B4-BE49-F238E27FC236}">
                <a16:creationId xmlns="" xmlns:a16="http://schemas.microsoft.com/office/drawing/2014/main" id="{479D6A9B-7716-D398-EE18-2F2D6AC11B70}"/>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
        <p:nvSpPr>
          <p:cNvPr id="9" name="Datumsplatzhalter 8">
            <a:extLst>
              <a:ext uri="{FF2B5EF4-FFF2-40B4-BE49-F238E27FC236}">
                <a16:creationId xmlns="" xmlns:a16="http://schemas.microsoft.com/office/drawing/2014/main" id="{45BE17EA-55E6-D579-4D1F-7901F944C6AA}"/>
              </a:ext>
            </a:extLst>
          </p:cNvPr>
          <p:cNvSpPr>
            <a:spLocks noGrp="1"/>
          </p:cNvSpPr>
          <p:nvPr>
            <p:ph type="dt" sz="half" idx="19"/>
          </p:nvPr>
        </p:nvSpPr>
        <p:spPr/>
        <p:txBody>
          <a:bodyPr/>
          <a:lstStyle/>
          <a:p>
            <a:fld id="{F4CCB00D-A44C-4CB6-B3D0-AE385FA4671E}" type="datetime1">
              <a:rPr lang="en-GB" smtClean="0"/>
              <a:pPr/>
              <a:t>16/11/2025</a:t>
            </a:fld>
            <a:endParaRPr lang="en-GB" dirty="0"/>
          </a:p>
        </p:txBody>
      </p:sp>
      <p:sp>
        <p:nvSpPr>
          <p:cNvPr id="10" name="Fußzeilenplatzhalter 9">
            <a:extLst>
              <a:ext uri="{FF2B5EF4-FFF2-40B4-BE49-F238E27FC236}">
                <a16:creationId xmlns="" xmlns:a16="http://schemas.microsoft.com/office/drawing/2014/main" id="{810CEF70-3482-4FC0-A3A4-7FB408C94A42}"/>
              </a:ext>
            </a:extLst>
          </p:cNvPr>
          <p:cNvSpPr>
            <a:spLocks noGrp="1"/>
          </p:cNvSpPr>
          <p:nvPr>
            <p:ph type="ftr" sz="quarter" idx="20"/>
          </p:nvPr>
        </p:nvSpPr>
        <p:spPr/>
        <p:txBody>
          <a:bodyPr/>
          <a:lstStyle/>
          <a:p>
            <a:r>
              <a:rPr lang="en-GB" dirty="0"/>
              <a:t>Rotor Hub and Pitch System / Optimus Syria</a:t>
            </a:r>
          </a:p>
        </p:txBody>
      </p:sp>
      <p:sp>
        <p:nvSpPr>
          <p:cNvPr id="11" name="Foliennummernplatzhalter 10">
            <a:extLst>
              <a:ext uri="{FF2B5EF4-FFF2-40B4-BE49-F238E27FC236}">
                <a16:creationId xmlns="" xmlns:a16="http://schemas.microsoft.com/office/drawing/2014/main" id="{4879E7A9-C563-396E-C6B6-B45497D433BD}"/>
              </a:ext>
            </a:extLst>
          </p:cNvPr>
          <p:cNvSpPr>
            <a:spLocks noGrp="1"/>
          </p:cNvSpPr>
          <p:nvPr>
            <p:ph type="sldNum" sz="quarter" idx="21"/>
          </p:nvPr>
        </p:nvSpPr>
        <p:spPr/>
        <p:txBody>
          <a:bodyPr/>
          <a:lstStyle/>
          <a:p>
            <a:fld id="{013F6232-4F06-48BA-8F69-BF531F607829}" type="slidenum">
              <a:rPr lang="en-GB" smtClean="0"/>
              <a:pPr/>
              <a:t>‹#›</a:t>
            </a:fld>
            <a:endParaRPr lang="en-GB" dirty="0"/>
          </a:p>
        </p:txBody>
      </p:sp>
      <p:sp>
        <p:nvSpPr>
          <p:cNvPr id="5" name="Textplatzhalter 4">
            <a:extLst>
              <a:ext uri="{FF2B5EF4-FFF2-40B4-BE49-F238E27FC236}">
                <a16:creationId xmlns="" xmlns:a16="http://schemas.microsoft.com/office/drawing/2014/main" id="{9AB8CDF8-03C0-DF20-0ABC-80A78BDABFB2}"/>
              </a:ext>
            </a:extLst>
          </p:cNvPr>
          <p:cNvSpPr>
            <a:spLocks noGrp="1"/>
          </p:cNvSpPr>
          <p:nvPr>
            <p:ph type="body" sz="quarter" idx="22" hasCustomPrompt="1"/>
          </p:nvPr>
        </p:nvSpPr>
        <p:spPr>
          <a:xfrm>
            <a:off x="749023" y="6216958"/>
            <a:ext cx="2248453" cy="309850"/>
          </a:xfrm>
        </p:spPr>
        <p:txBody>
          <a:bodyPr/>
          <a:lstStyle>
            <a:lvl2pPr marL="457200" indent="0">
              <a:buNone/>
              <a:defRPr/>
            </a:lvl2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400" b="0" i="0" u="none" strike="noStrike" kern="1200" cap="none" spc="0" normalizeH="0" baseline="0" noProof="0" dirty="0">
                <a:ln>
                  <a:noFill/>
                </a:ln>
                <a:solidFill>
                  <a:prstClr val="black"/>
                </a:solidFill>
                <a:effectLst/>
                <a:uLnTx/>
                <a:uFillTx/>
                <a:latin typeface="Aptos" panose="02110004020202020204"/>
                <a:ea typeface="+mn-ea"/>
                <a:cs typeface="+mn-cs"/>
              </a:rPr>
              <a:t>[1], [2]….</a:t>
            </a:r>
          </a:p>
          <a:p>
            <a:pPr lvl="1"/>
            <a:endParaRPr lang="en-GB" dirty="0"/>
          </a:p>
        </p:txBody>
      </p:sp>
    </p:spTree>
    <p:extLst>
      <p:ext uri="{BB962C8B-B14F-4D97-AF65-F5344CB8AC3E}">
        <p14:creationId xmlns="" xmlns:p14="http://schemas.microsoft.com/office/powerpoint/2010/main" val="21984351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bitem (Explanation)">
    <p:spTree>
      <p:nvGrpSpPr>
        <p:cNvPr id="1" name=""/>
        <p:cNvGrpSpPr/>
        <p:nvPr/>
      </p:nvGrpSpPr>
      <p:grpSpPr>
        <a:xfrm>
          <a:off x="0" y="0"/>
          <a:ext cx="0" cy="0"/>
          <a:chOff x="0" y="0"/>
          <a:chExt cx="0" cy="0"/>
        </a:xfrm>
      </p:grpSpPr>
      <p:sp>
        <p:nvSpPr>
          <p:cNvPr id="2" name="Titel 1">
            <a:extLst>
              <a:ext uri="{FF2B5EF4-FFF2-40B4-BE49-F238E27FC236}">
                <a16:creationId xmlns="" xmlns:a16="http://schemas.microsoft.com/office/drawing/2014/main" id="{4748CB4A-E85F-FC1F-2439-52B071A98EBA}"/>
              </a:ext>
            </a:extLst>
          </p:cNvPr>
          <p:cNvSpPr>
            <a:spLocks noGrp="1" noRot="1" noMove="1" noResize="1" noEditPoints="1" noAdjustHandles="1" noChangeArrowheads="1" noChangeShapeType="1"/>
          </p:cNvSpPr>
          <p:nvPr>
            <p:ph type="title" hasCustomPrompt="1"/>
          </p:nvPr>
        </p:nvSpPr>
        <p:spPr/>
        <p:txBody>
          <a:bodyPr/>
          <a:lstStyle>
            <a:lvl1pPr>
              <a:defRPr sz="4400"/>
            </a:lvl1pPr>
          </a:lstStyle>
          <a:p>
            <a:r>
              <a:rPr lang="de-DE" dirty="0"/>
              <a:t>1-i. </a:t>
            </a:r>
            <a:r>
              <a:rPr lang="de-DE" dirty="0" err="1"/>
              <a:t>Example</a:t>
            </a:r>
            <a:r>
              <a:rPr lang="de-DE" dirty="0"/>
              <a:t>: </a:t>
            </a:r>
            <a:r>
              <a:rPr lang="de-DE" dirty="0" err="1"/>
              <a:t>Drawings</a:t>
            </a:r>
            <a:r>
              <a:rPr lang="de-DE" dirty="0"/>
              <a:t> </a:t>
            </a:r>
            <a:r>
              <a:rPr lang="de-DE" dirty="0" err="1"/>
              <a:t>from</a:t>
            </a:r>
            <a:r>
              <a:rPr lang="de-DE" dirty="0"/>
              <a:t> </a:t>
            </a:r>
            <a:r>
              <a:rPr lang="de-DE" dirty="0" err="1"/>
              <a:t>the</a:t>
            </a:r>
            <a:r>
              <a:rPr lang="de-DE" dirty="0"/>
              <a:t> </a:t>
            </a:r>
            <a:r>
              <a:rPr lang="de-DE" dirty="0" err="1"/>
              <a:t>week</a:t>
            </a:r>
            <a:endParaRPr lang="de-DE" dirty="0"/>
          </a:p>
        </p:txBody>
      </p:sp>
      <p:sp>
        <p:nvSpPr>
          <p:cNvPr id="3" name="Inhaltsplatzhalter 2">
            <a:extLst>
              <a:ext uri="{FF2B5EF4-FFF2-40B4-BE49-F238E27FC236}">
                <a16:creationId xmlns="" xmlns:a16="http://schemas.microsoft.com/office/drawing/2014/main" id="{E4216958-F611-9E4F-AA4F-56999F637A75}"/>
              </a:ext>
            </a:extLst>
          </p:cNvPr>
          <p:cNvSpPr>
            <a:spLocks noGrp="1"/>
          </p:cNvSpPr>
          <p:nvPr>
            <p:ph idx="1" hasCustomPrompt="1"/>
          </p:nvPr>
        </p:nvSpPr>
        <p:spPr/>
        <p:txBody>
          <a:bodyPr/>
          <a:lstStyle>
            <a:lvl1pPr>
              <a:defRPr sz="2200"/>
            </a:lvl1pPr>
            <a:lvl2pPr marL="971550" indent="-514350">
              <a:buFont typeface="+mj-lt"/>
              <a:buAutoNum type="romanLcPeriod"/>
              <a:defRPr sz="2000"/>
            </a:lvl2pPr>
          </a:lstStyle>
          <a:p>
            <a:pPr lvl="0"/>
            <a:r>
              <a:rPr lang="de-DE" dirty="0" err="1"/>
              <a:t>Abcd</a:t>
            </a:r>
            <a:r>
              <a:rPr lang="de-DE" dirty="0"/>
              <a:t> (</a:t>
            </a:r>
            <a:r>
              <a:rPr lang="de-DE" dirty="0" err="1"/>
              <a:t>Aptos</a:t>
            </a:r>
            <a:r>
              <a:rPr lang="de-DE" dirty="0"/>
              <a:t> 22)</a:t>
            </a:r>
          </a:p>
          <a:p>
            <a:pPr lvl="1"/>
            <a:r>
              <a:rPr lang="de-DE" dirty="0" err="1"/>
              <a:t>efgh</a:t>
            </a:r>
            <a:r>
              <a:rPr lang="de-DE" dirty="0"/>
              <a:t> (</a:t>
            </a:r>
            <a:r>
              <a:rPr lang="de-DE" dirty="0" err="1"/>
              <a:t>Aptos</a:t>
            </a:r>
            <a:r>
              <a:rPr lang="de-DE" dirty="0"/>
              <a:t> 20)</a:t>
            </a:r>
          </a:p>
        </p:txBody>
      </p:sp>
      <p:cxnSp>
        <p:nvCxnSpPr>
          <p:cNvPr id="7" name="Straight Connector 5">
            <a:extLst>
              <a:ext uri="{FF2B5EF4-FFF2-40B4-BE49-F238E27FC236}">
                <a16:creationId xmlns="" xmlns:a16="http://schemas.microsoft.com/office/drawing/2014/main" id="{C5BF7EBE-3919-817C-149B-CF38705C6BC9}"/>
              </a:ext>
            </a:extLst>
          </p:cNvPr>
          <p:cNvCxnSpPr>
            <a:cxnSpLocks/>
          </p:cNvCxnSpPr>
          <p:nvPr userDrawn="1"/>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1" name="Isosceles Triangle 6">
            <a:extLst>
              <a:ext uri="{FF2B5EF4-FFF2-40B4-BE49-F238E27FC236}">
                <a16:creationId xmlns="" xmlns:a16="http://schemas.microsoft.com/office/drawing/2014/main" id="{703A19AF-E449-D353-12E1-A3DAF32E3EAB}"/>
              </a:ext>
            </a:extLst>
          </p:cNvPr>
          <p:cNvSpPr/>
          <p:nvPr userDrawn="1"/>
        </p:nvSpPr>
        <p:spPr>
          <a:xfrm>
            <a:off x="5218873" y="2853022"/>
            <a:ext cx="1546144" cy="1209996"/>
          </a:xfrm>
          <a:prstGeom prst="triangle">
            <a:avLst>
              <a:gd name="adj" fmla="val 50565"/>
            </a:avLst>
          </a:prstGeom>
          <a:ln w="571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dirty="0"/>
          </a:p>
        </p:txBody>
      </p:sp>
      <p:sp>
        <p:nvSpPr>
          <p:cNvPr id="12" name="Rectangle 7">
            <a:extLst>
              <a:ext uri="{FF2B5EF4-FFF2-40B4-BE49-F238E27FC236}">
                <a16:creationId xmlns="" xmlns:a16="http://schemas.microsoft.com/office/drawing/2014/main" id="{650D751B-3D4C-8864-D7F4-6EC8348A31EE}"/>
              </a:ext>
            </a:extLst>
          </p:cNvPr>
          <p:cNvSpPr/>
          <p:nvPr userDrawn="1"/>
        </p:nvSpPr>
        <p:spPr>
          <a:xfrm>
            <a:off x="4025317" y="4094711"/>
            <a:ext cx="3933255" cy="1298198"/>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err="1"/>
              <a:t>This</a:t>
            </a:r>
            <a:r>
              <a:rPr lang="it-IT" dirty="0"/>
              <a:t> </a:t>
            </a:r>
            <a:r>
              <a:rPr lang="it-IT" dirty="0" err="1"/>
              <a:t>is</a:t>
            </a:r>
            <a:r>
              <a:rPr lang="it-IT" dirty="0"/>
              <a:t> an </a:t>
            </a:r>
            <a:r>
              <a:rPr lang="it-IT" dirty="0" err="1"/>
              <a:t>example</a:t>
            </a:r>
            <a:r>
              <a:rPr lang="it-IT" dirty="0"/>
              <a:t> BUT </a:t>
            </a:r>
            <a:r>
              <a:rPr lang="it-IT" dirty="0" err="1"/>
              <a:t>if</a:t>
            </a:r>
            <a:r>
              <a:rPr lang="it-IT" dirty="0"/>
              <a:t> </a:t>
            </a:r>
            <a:r>
              <a:rPr lang="it-IT" dirty="0" err="1"/>
              <a:t>you</a:t>
            </a:r>
            <a:r>
              <a:rPr lang="it-IT" dirty="0"/>
              <a:t> use </a:t>
            </a:r>
            <a:r>
              <a:rPr lang="it-IT" dirty="0" err="1"/>
              <a:t>underpoints</a:t>
            </a:r>
            <a:r>
              <a:rPr lang="it-IT" dirty="0"/>
              <a:t> </a:t>
            </a:r>
            <a:r>
              <a:rPr lang="it-IT" dirty="0" err="1"/>
              <a:t>please</a:t>
            </a:r>
            <a:r>
              <a:rPr lang="it-IT" dirty="0"/>
              <a:t> with the i, ii, iii….</a:t>
            </a:r>
            <a:endParaRPr lang="en-GB" dirty="0"/>
          </a:p>
        </p:txBody>
      </p:sp>
      <p:sp>
        <p:nvSpPr>
          <p:cNvPr id="13" name="Rectangle 11">
            <a:extLst>
              <a:ext uri="{FF2B5EF4-FFF2-40B4-BE49-F238E27FC236}">
                <a16:creationId xmlns="" xmlns:a16="http://schemas.microsoft.com/office/drawing/2014/main" id="{9BDEC9EB-F30A-F42A-26C3-F9AE08765705}"/>
              </a:ext>
            </a:extLst>
          </p:cNvPr>
          <p:cNvSpPr/>
          <p:nvPr userDrawn="1"/>
        </p:nvSpPr>
        <p:spPr>
          <a:xfrm>
            <a:off x="5727842" y="3001184"/>
            <a:ext cx="542886" cy="1200329"/>
          </a:xfrm>
          <a:prstGeom prst="rect">
            <a:avLst/>
          </a:prstGeom>
          <a:noFill/>
        </p:spPr>
        <p:txBody>
          <a:bodyPr wrap="square" lIns="91440" tIns="45720" rIns="91440" bIns="45720">
            <a:spAutoFit/>
          </a:bodyPr>
          <a:lstStyle/>
          <a:p>
            <a:pPr algn="ctr"/>
            <a:r>
              <a:rPr lang="en-GB" sz="7200" b="1" cap="none" spc="0" dirty="0">
                <a:ln w="0"/>
                <a:solidFill>
                  <a:schemeClr val="tx1"/>
                </a:solidFill>
              </a:rPr>
              <a:t>!</a:t>
            </a:r>
          </a:p>
        </p:txBody>
      </p:sp>
      <p:sp>
        <p:nvSpPr>
          <p:cNvPr id="8" name="Rectangle 7">
            <a:extLst>
              <a:ext uri="{FF2B5EF4-FFF2-40B4-BE49-F238E27FC236}">
                <a16:creationId xmlns="" xmlns:a16="http://schemas.microsoft.com/office/drawing/2014/main" id="{454BA2A1-6BBA-CA7A-578A-6529C5AD3CFE}"/>
              </a:ext>
            </a:extLst>
          </p:cNvPr>
          <p:cNvSpPr/>
          <p:nvPr userDrawn="1"/>
        </p:nvSpPr>
        <p:spPr>
          <a:xfrm>
            <a:off x="927758" y="2796999"/>
            <a:ext cx="2603270" cy="1404514"/>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err="1"/>
              <a:t>This</a:t>
            </a:r>
            <a:r>
              <a:rPr lang="it-IT" dirty="0"/>
              <a:t> slide </a:t>
            </a:r>
            <a:r>
              <a:rPr lang="it-IT" dirty="0" err="1"/>
              <a:t>is</a:t>
            </a:r>
            <a:r>
              <a:rPr lang="it-IT" dirty="0"/>
              <a:t> </a:t>
            </a:r>
            <a:r>
              <a:rPr lang="it-IT" dirty="0" err="1"/>
              <a:t>only</a:t>
            </a:r>
            <a:r>
              <a:rPr lang="it-IT" dirty="0"/>
              <a:t> for </a:t>
            </a:r>
            <a:r>
              <a:rPr lang="it-IT" dirty="0" err="1"/>
              <a:t>explanation</a:t>
            </a:r>
            <a:r>
              <a:rPr lang="it-IT" dirty="0"/>
              <a:t>, </a:t>
            </a:r>
            <a:r>
              <a:rPr lang="it-IT" dirty="0" err="1"/>
              <a:t>dont´t</a:t>
            </a:r>
            <a:r>
              <a:rPr lang="it-IT" dirty="0"/>
              <a:t> use </a:t>
            </a:r>
            <a:r>
              <a:rPr lang="it-IT" dirty="0" err="1"/>
              <a:t>it!</a:t>
            </a:r>
            <a:endParaRPr lang="en-GB" dirty="0"/>
          </a:p>
        </p:txBody>
      </p:sp>
      <p:sp>
        <p:nvSpPr>
          <p:cNvPr id="9" name="Datumsplatzhalter 8">
            <a:extLst>
              <a:ext uri="{FF2B5EF4-FFF2-40B4-BE49-F238E27FC236}">
                <a16:creationId xmlns="" xmlns:a16="http://schemas.microsoft.com/office/drawing/2014/main" id="{19E5AF50-94A3-4308-3B68-BAD76E7A7B09}"/>
              </a:ext>
            </a:extLst>
          </p:cNvPr>
          <p:cNvSpPr>
            <a:spLocks noGrp="1"/>
          </p:cNvSpPr>
          <p:nvPr>
            <p:ph type="dt" sz="half" idx="10"/>
          </p:nvPr>
        </p:nvSpPr>
        <p:spPr/>
        <p:txBody>
          <a:bodyPr/>
          <a:lstStyle/>
          <a:p>
            <a:fld id="{6958B5D5-1297-49B2-8C0F-0697C6E49B25}" type="datetime1">
              <a:rPr lang="en-GB" smtClean="0"/>
              <a:pPr/>
              <a:t>16/11/2025</a:t>
            </a:fld>
            <a:endParaRPr lang="en-GB" dirty="0"/>
          </a:p>
        </p:txBody>
      </p:sp>
      <p:sp>
        <p:nvSpPr>
          <p:cNvPr id="10" name="Fußzeilenplatzhalter 9">
            <a:extLst>
              <a:ext uri="{FF2B5EF4-FFF2-40B4-BE49-F238E27FC236}">
                <a16:creationId xmlns="" xmlns:a16="http://schemas.microsoft.com/office/drawing/2014/main" id="{9798D87B-B794-AD8A-40F1-DEA4D547F712}"/>
              </a:ext>
            </a:extLst>
          </p:cNvPr>
          <p:cNvSpPr>
            <a:spLocks noGrp="1"/>
          </p:cNvSpPr>
          <p:nvPr>
            <p:ph type="ftr" sz="quarter" idx="11"/>
          </p:nvPr>
        </p:nvSpPr>
        <p:spPr/>
        <p:txBody>
          <a:bodyPr/>
          <a:lstStyle/>
          <a:p>
            <a:r>
              <a:rPr lang="en-GB" dirty="0"/>
              <a:t>Rotor Hub and Pitch System / Optimus Syria</a:t>
            </a:r>
          </a:p>
        </p:txBody>
      </p:sp>
      <p:sp>
        <p:nvSpPr>
          <p:cNvPr id="14" name="Foliennummernplatzhalter 13">
            <a:extLst>
              <a:ext uri="{FF2B5EF4-FFF2-40B4-BE49-F238E27FC236}">
                <a16:creationId xmlns="" xmlns:a16="http://schemas.microsoft.com/office/drawing/2014/main" id="{5E6253E5-E305-7986-3017-8FAC6F34DD9C}"/>
              </a:ext>
            </a:extLst>
          </p:cNvPr>
          <p:cNvSpPr>
            <a:spLocks noGrp="1"/>
          </p:cNvSpPr>
          <p:nvPr>
            <p:ph type="sldNum" sz="quarter" idx="12"/>
          </p:nvPr>
        </p:nvSpPr>
        <p:spPr/>
        <p:txBody>
          <a:bodyPr/>
          <a:lstStyle/>
          <a:p>
            <a:fld id="{013F6232-4F06-48BA-8F69-BF531F607829}" type="slidenum">
              <a:rPr lang="en-GB" smtClean="0"/>
              <a:pPr/>
              <a:t>‹#›</a:t>
            </a:fld>
            <a:endParaRPr lang="en-GB" dirty="0"/>
          </a:p>
        </p:txBody>
      </p:sp>
      <p:sp>
        <p:nvSpPr>
          <p:cNvPr id="15" name="Textplatzhalter 16">
            <a:extLst>
              <a:ext uri="{FF2B5EF4-FFF2-40B4-BE49-F238E27FC236}">
                <a16:creationId xmlns="" xmlns:a16="http://schemas.microsoft.com/office/drawing/2014/main" id="{7E202380-1BD6-7A10-C51A-497A42391B9C}"/>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 xmlns:p14="http://schemas.microsoft.com/office/powerpoint/2010/main" val="1773267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ubitem">
    <p:spTree>
      <p:nvGrpSpPr>
        <p:cNvPr id="1" name=""/>
        <p:cNvGrpSpPr/>
        <p:nvPr/>
      </p:nvGrpSpPr>
      <p:grpSpPr>
        <a:xfrm>
          <a:off x="0" y="0"/>
          <a:ext cx="0" cy="0"/>
          <a:chOff x="0" y="0"/>
          <a:chExt cx="0" cy="0"/>
        </a:xfrm>
      </p:grpSpPr>
      <p:sp>
        <p:nvSpPr>
          <p:cNvPr id="2" name="Titel 1">
            <a:extLst>
              <a:ext uri="{FF2B5EF4-FFF2-40B4-BE49-F238E27FC236}">
                <a16:creationId xmlns="" xmlns:a16="http://schemas.microsoft.com/office/drawing/2014/main" id="{4748CB4A-E85F-FC1F-2439-52B071A98EBA}"/>
              </a:ext>
            </a:extLst>
          </p:cNvPr>
          <p:cNvSpPr>
            <a:spLocks noGrp="1" noRot="1" noMove="1" noResize="1" noEditPoints="1" noAdjustHandles="1" noChangeArrowheads="1" noChangeShapeType="1"/>
          </p:cNvSpPr>
          <p:nvPr>
            <p:ph type="title" hasCustomPrompt="1"/>
          </p:nvPr>
        </p:nvSpPr>
        <p:spPr/>
        <p:txBody>
          <a:bodyPr/>
          <a:lstStyle>
            <a:lvl1pPr>
              <a:defRPr sz="4400"/>
            </a:lvl1pPr>
          </a:lstStyle>
          <a:p>
            <a:r>
              <a:rPr lang="de-DE" dirty="0"/>
              <a:t>1-i. </a:t>
            </a:r>
            <a:r>
              <a:rPr lang="de-DE" dirty="0" err="1"/>
              <a:t>Example</a:t>
            </a:r>
            <a:r>
              <a:rPr lang="de-DE" dirty="0"/>
              <a:t>: </a:t>
            </a:r>
            <a:r>
              <a:rPr lang="de-DE" dirty="0" err="1"/>
              <a:t>Drawings</a:t>
            </a:r>
            <a:r>
              <a:rPr lang="de-DE" dirty="0"/>
              <a:t> </a:t>
            </a:r>
            <a:r>
              <a:rPr lang="de-DE" dirty="0" err="1"/>
              <a:t>from</a:t>
            </a:r>
            <a:r>
              <a:rPr lang="de-DE" dirty="0"/>
              <a:t> </a:t>
            </a:r>
            <a:r>
              <a:rPr lang="de-DE" dirty="0" err="1"/>
              <a:t>the</a:t>
            </a:r>
            <a:r>
              <a:rPr lang="de-DE" dirty="0"/>
              <a:t> </a:t>
            </a:r>
            <a:r>
              <a:rPr lang="de-DE" dirty="0" err="1"/>
              <a:t>week</a:t>
            </a:r>
            <a:endParaRPr lang="de-DE" dirty="0"/>
          </a:p>
        </p:txBody>
      </p:sp>
      <p:sp>
        <p:nvSpPr>
          <p:cNvPr id="3" name="Inhaltsplatzhalter 2">
            <a:extLst>
              <a:ext uri="{FF2B5EF4-FFF2-40B4-BE49-F238E27FC236}">
                <a16:creationId xmlns="" xmlns:a16="http://schemas.microsoft.com/office/drawing/2014/main" id="{E4216958-F611-9E4F-AA4F-56999F637A75}"/>
              </a:ext>
            </a:extLst>
          </p:cNvPr>
          <p:cNvSpPr>
            <a:spLocks noGrp="1"/>
          </p:cNvSpPr>
          <p:nvPr>
            <p:ph idx="1" hasCustomPrompt="1"/>
          </p:nvPr>
        </p:nvSpPr>
        <p:spPr/>
        <p:txBody>
          <a:bodyPr/>
          <a:lstStyle>
            <a:lvl1pPr>
              <a:defRPr sz="2200"/>
            </a:lvl1pPr>
            <a:lvl2pPr marL="971550" indent="-514350">
              <a:buFont typeface="+mj-lt"/>
              <a:buAutoNum type="romanLcPeriod"/>
              <a:defRPr sz="2000"/>
            </a:lvl2pPr>
          </a:lstStyle>
          <a:p>
            <a:pPr lvl="0"/>
            <a:r>
              <a:rPr lang="de-DE" dirty="0" err="1"/>
              <a:t>Abcd</a:t>
            </a:r>
            <a:endParaRPr lang="de-DE" dirty="0"/>
          </a:p>
          <a:p>
            <a:pPr lvl="1"/>
            <a:r>
              <a:rPr lang="de-DE" dirty="0" err="1"/>
              <a:t>efgh</a:t>
            </a:r>
            <a:endParaRPr lang="de-DE" dirty="0"/>
          </a:p>
        </p:txBody>
      </p:sp>
      <p:cxnSp>
        <p:nvCxnSpPr>
          <p:cNvPr id="7" name="Straight Connector 5">
            <a:extLst>
              <a:ext uri="{FF2B5EF4-FFF2-40B4-BE49-F238E27FC236}">
                <a16:creationId xmlns="" xmlns:a16="http://schemas.microsoft.com/office/drawing/2014/main" id="{C5BF7EBE-3919-817C-149B-CF38705C6BC9}"/>
              </a:ext>
            </a:extLst>
          </p:cNvPr>
          <p:cNvCxnSpPr>
            <a:cxnSpLocks/>
          </p:cNvCxnSpPr>
          <p:nvPr userDrawn="1"/>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8" name="Datumsplatzhalter 7">
            <a:extLst>
              <a:ext uri="{FF2B5EF4-FFF2-40B4-BE49-F238E27FC236}">
                <a16:creationId xmlns="" xmlns:a16="http://schemas.microsoft.com/office/drawing/2014/main" id="{5228F91E-E7AD-B275-5A60-89428222DD8C}"/>
              </a:ext>
            </a:extLst>
          </p:cNvPr>
          <p:cNvSpPr>
            <a:spLocks noGrp="1"/>
          </p:cNvSpPr>
          <p:nvPr>
            <p:ph type="dt" sz="half" idx="10"/>
          </p:nvPr>
        </p:nvSpPr>
        <p:spPr/>
        <p:txBody>
          <a:bodyPr/>
          <a:lstStyle/>
          <a:p>
            <a:fld id="{64B6DF2A-5C0F-49C5-AD28-E5CBDA5627A7}" type="datetime1">
              <a:rPr lang="en-GB" smtClean="0"/>
              <a:pPr/>
              <a:t>16/11/2025</a:t>
            </a:fld>
            <a:endParaRPr lang="en-GB" dirty="0"/>
          </a:p>
        </p:txBody>
      </p:sp>
      <p:sp>
        <p:nvSpPr>
          <p:cNvPr id="9" name="Fußzeilenplatzhalter 8">
            <a:extLst>
              <a:ext uri="{FF2B5EF4-FFF2-40B4-BE49-F238E27FC236}">
                <a16:creationId xmlns="" xmlns:a16="http://schemas.microsoft.com/office/drawing/2014/main" id="{8F4F81C7-2C44-8CF8-2928-655E74DC8F30}"/>
              </a:ext>
            </a:extLst>
          </p:cNvPr>
          <p:cNvSpPr>
            <a:spLocks noGrp="1"/>
          </p:cNvSpPr>
          <p:nvPr>
            <p:ph type="ftr" sz="quarter" idx="11"/>
          </p:nvPr>
        </p:nvSpPr>
        <p:spPr/>
        <p:txBody>
          <a:bodyPr/>
          <a:lstStyle/>
          <a:p>
            <a:r>
              <a:rPr lang="en-GB" dirty="0"/>
              <a:t>Rotor Hub and Pitch System / Optimus Syria</a:t>
            </a:r>
          </a:p>
        </p:txBody>
      </p:sp>
      <p:sp>
        <p:nvSpPr>
          <p:cNvPr id="10" name="Foliennummernplatzhalter 9">
            <a:extLst>
              <a:ext uri="{FF2B5EF4-FFF2-40B4-BE49-F238E27FC236}">
                <a16:creationId xmlns="" xmlns:a16="http://schemas.microsoft.com/office/drawing/2014/main" id="{260D8F3F-3088-D685-66AD-D2110FD402DA}"/>
              </a:ext>
            </a:extLst>
          </p:cNvPr>
          <p:cNvSpPr>
            <a:spLocks noGrp="1"/>
          </p:cNvSpPr>
          <p:nvPr>
            <p:ph type="sldNum" sz="quarter" idx="12"/>
          </p:nvPr>
        </p:nvSpPr>
        <p:spPr/>
        <p:txBody>
          <a:bodyPr/>
          <a:lstStyle/>
          <a:p>
            <a:fld id="{013F6232-4F06-48BA-8F69-BF531F607829}" type="slidenum">
              <a:rPr lang="en-GB" smtClean="0"/>
              <a:pPr/>
              <a:t>‹#›</a:t>
            </a:fld>
            <a:endParaRPr lang="en-GB" dirty="0"/>
          </a:p>
        </p:txBody>
      </p:sp>
      <p:sp>
        <p:nvSpPr>
          <p:cNvPr id="11" name="Textplatzhalter 16">
            <a:extLst>
              <a:ext uri="{FF2B5EF4-FFF2-40B4-BE49-F238E27FC236}">
                <a16:creationId xmlns="" xmlns:a16="http://schemas.microsoft.com/office/drawing/2014/main" id="{29BD9540-0DAC-F607-0D84-145CAF084DCB}"/>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
        <p:nvSpPr>
          <p:cNvPr id="4" name="Textplatzhalter 4">
            <a:extLst>
              <a:ext uri="{FF2B5EF4-FFF2-40B4-BE49-F238E27FC236}">
                <a16:creationId xmlns="" xmlns:a16="http://schemas.microsoft.com/office/drawing/2014/main" id="{9943038B-A8F9-48D6-0A29-94D4AA659F65}"/>
              </a:ext>
            </a:extLst>
          </p:cNvPr>
          <p:cNvSpPr>
            <a:spLocks noGrp="1"/>
          </p:cNvSpPr>
          <p:nvPr>
            <p:ph type="body" sz="quarter" idx="22" hasCustomPrompt="1"/>
          </p:nvPr>
        </p:nvSpPr>
        <p:spPr>
          <a:xfrm>
            <a:off x="749023" y="6216958"/>
            <a:ext cx="2248453" cy="309850"/>
          </a:xfrm>
        </p:spPr>
        <p:txBody>
          <a:bodyPr/>
          <a:lstStyle>
            <a:lvl2pPr marL="457200" indent="0">
              <a:buNone/>
              <a:defRPr/>
            </a:lvl2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400" b="0" i="0" u="none" strike="noStrike" kern="1200" cap="none" spc="0" normalizeH="0" baseline="0" noProof="0" dirty="0">
                <a:ln>
                  <a:noFill/>
                </a:ln>
                <a:solidFill>
                  <a:prstClr val="black"/>
                </a:solidFill>
                <a:effectLst/>
                <a:uLnTx/>
                <a:uFillTx/>
                <a:latin typeface="Aptos" panose="02110004020202020204"/>
                <a:ea typeface="+mn-ea"/>
                <a:cs typeface="+mn-cs"/>
              </a:rPr>
              <a:t>[1], [2]….</a:t>
            </a:r>
          </a:p>
          <a:p>
            <a:pPr lvl="1"/>
            <a:endParaRPr lang="en-GB" dirty="0"/>
          </a:p>
        </p:txBody>
      </p:sp>
    </p:spTree>
    <p:extLst>
      <p:ext uri="{BB962C8B-B14F-4D97-AF65-F5344CB8AC3E}">
        <p14:creationId xmlns="" xmlns:p14="http://schemas.microsoft.com/office/powerpoint/2010/main" val="1959733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Graph Slide (Explana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237C287-18A0-EB82-8A27-F94CA3880D06}"/>
              </a:ext>
            </a:extLst>
          </p:cNvPr>
          <p:cNvSpPr>
            <a:spLocks noGrp="1"/>
          </p:cNvSpPr>
          <p:nvPr>
            <p:ph type="title" hasCustomPrompt="1"/>
          </p:nvPr>
        </p:nvSpPr>
        <p:spPr/>
        <p:txBody>
          <a:bodyPr/>
          <a:lstStyle>
            <a:lvl1pPr>
              <a:defRPr/>
            </a:lvl1pPr>
          </a:lstStyle>
          <a:p>
            <a:r>
              <a:rPr lang="de-DE" dirty="0"/>
              <a:t>X. Graph</a:t>
            </a:r>
            <a:endParaRPr lang="en-GB" dirty="0"/>
          </a:p>
        </p:txBody>
      </p:sp>
      <p:pic>
        <p:nvPicPr>
          <p:cNvPr id="6" name="Picture 2" descr="How HOMER Calculates Wind Turbine Power Output">
            <a:extLst>
              <a:ext uri="{FF2B5EF4-FFF2-40B4-BE49-F238E27FC236}">
                <a16:creationId xmlns="" xmlns:a16="http://schemas.microsoft.com/office/drawing/2014/main" id="{002A61B1-6859-B9E0-5E8D-876C02B28C1E}"/>
              </a:ext>
            </a:extLst>
          </p:cNvPr>
          <p:cNvPicPr>
            <a:picLocks noChangeAspect="1" noChangeArrowheads="1"/>
          </p:cNvPicPr>
          <p:nvPr userDrawn="1"/>
        </p:nvPicPr>
        <p:blipFill>
          <a:blip r:embed="rId2">
            <a:extLst>
              <a:ext uri="{28A0092B-C50C-407E-A947-70E740481C1C}">
                <a14:useLocalDpi xmlns="" xmlns:a14="http://schemas.microsoft.com/office/drawing/2010/main" val="0"/>
              </a:ext>
            </a:extLst>
          </a:blip>
          <a:srcRect/>
          <a:stretch>
            <a:fillRect/>
          </a:stretch>
        </p:blipFill>
        <p:spPr bwMode="auto">
          <a:xfrm>
            <a:off x="643724" y="1939999"/>
            <a:ext cx="5429250" cy="3067050"/>
          </a:xfrm>
          <a:prstGeom prst="rect">
            <a:avLst/>
          </a:prstGeom>
          <a:noFill/>
          <a:extLst>
            <a:ext uri="{909E8E84-426E-40DD-AFC4-6F175D3DCCD1}">
              <a14:hiddenFill xmlns="" xmlns:a14="http://schemas.microsoft.com/office/drawing/2010/main">
                <a:solidFill>
                  <a:srgbClr val="FFFFFF"/>
                </a:solidFill>
              </a14:hiddenFill>
            </a:ext>
          </a:extLst>
        </p:spPr>
      </p:pic>
      <p:sp>
        <p:nvSpPr>
          <p:cNvPr id="7" name="TextBox 2">
            <a:extLst>
              <a:ext uri="{FF2B5EF4-FFF2-40B4-BE49-F238E27FC236}">
                <a16:creationId xmlns="" xmlns:a16="http://schemas.microsoft.com/office/drawing/2014/main" id="{70DEEB4B-BB48-7BA1-DC37-D3F70525E158}"/>
              </a:ext>
            </a:extLst>
          </p:cNvPr>
          <p:cNvSpPr txBox="1"/>
          <p:nvPr userDrawn="1"/>
        </p:nvSpPr>
        <p:spPr>
          <a:xfrm>
            <a:off x="764619" y="5102669"/>
            <a:ext cx="5187461" cy="600164"/>
          </a:xfrm>
          <a:prstGeom prst="rect">
            <a:avLst/>
          </a:prstGeom>
          <a:noFill/>
        </p:spPr>
        <p:txBody>
          <a:bodyPr wrap="square" rtlCol="0">
            <a:spAutoFit/>
          </a:bodyPr>
          <a:lstStyle/>
          <a:p>
            <a:r>
              <a:rPr lang="it-IT" sz="1100" dirty="0"/>
              <a:t>(</a:t>
            </a:r>
            <a:r>
              <a:rPr lang="it-IT" sz="1100" dirty="0" err="1"/>
              <a:t>Description</a:t>
            </a:r>
            <a:r>
              <a:rPr lang="it-IT" sz="1100" dirty="0"/>
              <a:t> of the </a:t>
            </a:r>
            <a:r>
              <a:rPr lang="it-IT" sz="1100" dirty="0" err="1"/>
              <a:t>graph</a:t>
            </a:r>
            <a:r>
              <a:rPr lang="it-IT" sz="1100" dirty="0"/>
              <a:t>, </a:t>
            </a:r>
            <a:r>
              <a:rPr lang="it-IT" sz="1100" dirty="0" err="1"/>
              <a:t>example</a:t>
            </a:r>
            <a:r>
              <a:rPr lang="it-IT" sz="1100" dirty="0"/>
              <a:t>: </a:t>
            </a:r>
            <a:r>
              <a:rPr lang="it-IT" sz="1100" i="1" dirty="0"/>
              <a:t>power curve power over wind speed</a:t>
            </a:r>
            <a:r>
              <a:rPr lang="it-IT" sz="1100" dirty="0"/>
              <a:t> )</a:t>
            </a:r>
          </a:p>
          <a:p>
            <a:r>
              <a:rPr lang="it-IT" sz="1100" dirty="0"/>
              <a:t>(</a:t>
            </a:r>
            <a:r>
              <a:rPr lang="it-IT" sz="1100" dirty="0" err="1"/>
              <a:t>Citation</a:t>
            </a:r>
            <a:r>
              <a:rPr lang="it-IT" sz="1100" dirty="0"/>
              <a:t> of the sources, </a:t>
            </a:r>
            <a:r>
              <a:rPr lang="it-IT" sz="1100" dirty="0" err="1"/>
              <a:t>example</a:t>
            </a:r>
            <a:r>
              <a:rPr lang="it-IT" sz="1100" dirty="0"/>
              <a:t>:</a:t>
            </a:r>
            <a:r>
              <a:rPr lang="it-IT" sz="1100" b="1" dirty="0"/>
              <a:t> </a:t>
            </a:r>
            <a:r>
              <a:rPr lang="it-IT" sz="1100" b="0" dirty="0"/>
              <a:t>[1] </a:t>
            </a:r>
            <a:r>
              <a:rPr lang="it-IT" sz="1100" dirty="0"/>
              <a:t>)  </a:t>
            </a:r>
          </a:p>
          <a:p>
            <a:r>
              <a:rPr lang="it-IT" sz="1100" dirty="0"/>
              <a:t>(Last date of access, </a:t>
            </a:r>
            <a:r>
              <a:rPr lang="it-IT" sz="1100" dirty="0" err="1"/>
              <a:t>example</a:t>
            </a:r>
            <a:r>
              <a:rPr lang="it-IT" sz="1100" dirty="0"/>
              <a:t>: 21/12/2015)</a:t>
            </a:r>
            <a:endParaRPr lang="en-GB" sz="1100" dirty="0"/>
          </a:p>
        </p:txBody>
      </p:sp>
      <p:cxnSp>
        <p:nvCxnSpPr>
          <p:cNvPr id="8" name="Connector: Elbow 6">
            <a:extLst>
              <a:ext uri="{FF2B5EF4-FFF2-40B4-BE49-F238E27FC236}">
                <a16:creationId xmlns="" xmlns:a16="http://schemas.microsoft.com/office/drawing/2014/main" id="{7A01EE56-12C5-DD96-C172-C145A0ED64CB}"/>
              </a:ext>
            </a:extLst>
          </p:cNvPr>
          <p:cNvCxnSpPr>
            <a:cxnSpLocks/>
          </p:cNvCxnSpPr>
          <p:nvPr userDrawn="1"/>
        </p:nvCxnSpPr>
        <p:spPr>
          <a:xfrm rot="10800000" flipV="1">
            <a:off x="3791371" y="4238699"/>
            <a:ext cx="4563205" cy="1222134"/>
          </a:xfrm>
          <a:prstGeom prst="bentConnector3">
            <a:avLst>
              <a:gd name="adj1" fmla="val 50000"/>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9" name="Oval 15">
            <a:extLst>
              <a:ext uri="{FF2B5EF4-FFF2-40B4-BE49-F238E27FC236}">
                <a16:creationId xmlns="" xmlns:a16="http://schemas.microsoft.com/office/drawing/2014/main" id="{EE3D1715-661B-80A0-F167-264ACC369A68}"/>
              </a:ext>
            </a:extLst>
          </p:cNvPr>
          <p:cNvSpPr/>
          <p:nvPr userDrawn="1"/>
        </p:nvSpPr>
        <p:spPr>
          <a:xfrm>
            <a:off x="7796637" y="3405202"/>
            <a:ext cx="3922209" cy="2011693"/>
          </a:xfrm>
          <a:prstGeom prst="ellipse">
            <a:avLst/>
          </a:prstGeom>
          <a:ln w="3810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it-IT" sz="1400" dirty="0" err="1"/>
              <a:t>Add</a:t>
            </a:r>
            <a:r>
              <a:rPr lang="it-IT" sz="1400" dirty="0"/>
              <a:t> a link to the </a:t>
            </a:r>
            <a:r>
              <a:rPr lang="it-IT" sz="1400" dirty="0" err="1"/>
              <a:t>reference</a:t>
            </a:r>
            <a:r>
              <a:rPr lang="it-IT" sz="1400" dirty="0"/>
              <a:t> </a:t>
            </a:r>
            <a:r>
              <a:rPr lang="it-IT" sz="1400" dirty="0" err="1"/>
              <a:t>number</a:t>
            </a:r>
            <a:r>
              <a:rPr lang="it-IT" sz="1400" dirty="0"/>
              <a:t> </a:t>
            </a:r>
            <a:r>
              <a:rPr lang="it-IT" sz="1400" dirty="0" err="1"/>
              <a:t>that</a:t>
            </a:r>
            <a:r>
              <a:rPr lang="it-IT" sz="1400" dirty="0"/>
              <a:t> </a:t>
            </a:r>
            <a:r>
              <a:rPr lang="it-IT" sz="1400" dirty="0" err="1"/>
              <a:t>goes</a:t>
            </a:r>
            <a:r>
              <a:rPr lang="it-IT" sz="1400" dirty="0"/>
              <a:t> to the last slide: highlight the </a:t>
            </a:r>
            <a:r>
              <a:rPr lang="it-IT" sz="1400" dirty="0" err="1"/>
              <a:t>number</a:t>
            </a:r>
            <a:r>
              <a:rPr lang="it-IT" sz="1400" dirty="0"/>
              <a:t>-&gt;</a:t>
            </a:r>
            <a:r>
              <a:rPr lang="it-IT" sz="1400" dirty="0" err="1"/>
              <a:t>right</a:t>
            </a:r>
            <a:r>
              <a:rPr lang="it-IT" sz="1400" dirty="0"/>
              <a:t> click-&gt;</a:t>
            </a:r>
            <a:r>
              <a:rPr lang="it-IT" sz="1400" dirty="0" err="1"/>
              <a:t>select</a:t>
            </a:r>
            <a:r>
              <a:rPr lang="it-IT" sz="1400" dirty="0"/>
              <a:t> link-&gt;place in </a:t>
            </a:r>
            <a:r>
              <a:rPr lang="it-IT" sz="1400" dirty="0" err="1"/>
              <a:t>this</a:t>
            </a:r>
            <a:r>
              <a:rPr lang="it-IT" sz="1400" dirty="0"/>
              <a:t> </a:t>
            </a:r>
            <a:r>
              <a:rPr lang="it-IT" sz="1400" dirty="0" err="1"/>
              <a:t>document</a:t>
            </a:r>
            <a:r>
              <a:rPr lang="it-IT" sz="1400" dirty="0"/>
              <a:t>-&gt;</a:t>
            </a:r>
            <a:r>
              <a:rPr lang="it-IT" sz="1400" dirty="0" err="1"/>
              <a:t>select</a:t>
            </a:r>
            <a:r>
              <a:rPr lang="it-IT" sz="1400" dirty="0"/>
              <a:t> last slide</a:t>
            </a:r>
            <a:endParaRPr lang="en-GB" sz="1400" dirty="0"/>
          </a:p>
        </p:txBody>
      </p:sp>
      <p:cxnSp>
        <p:nvCxnSpPr>
          <p:cNvPr id="10" name="Straight Connector 5">
            <a:extLst>
              <a:ext uri="{FF2B5EF4-FFF2-40B4-BE49-F238E27FC236}">
                <a16:creationId xmlns="" xmlns:a16="http://schemas.microsoft.com/office/drawing/2014/main" id="{9CCD7462-E12C-CDA3-D609-4AB679728A2E}"/>
              </a:ext>
            </a:extLst>
          </p:cNvPr>
          <p:cNvCxnSpPr>
            <a:cxnSpLocks/>
          </p:cNvCxnSpPr>
          <p:nvPr userDrawn="1"/>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1" name="Rectangle 7">
            <a:extLst>
              <a:ext uri="{FF2B5EF4-FFF2-40B4-BE49-F238E27FC236}">
                <a16:creationId xmlns="" xmlns:a16="http://schemas.microsoft.com/office/drawing/2014/main" id="{A1188C36-D6CB-FA53-013E-FC56AD427952}"/>
              </a:ext>
            </a:extLst>
          </p:cNvPr>
          <p:cNvSpPr/>
          <p:nvPr userDrawn="1"/>
        </p:nvSpPr>
        <p:spPr>
          <a:xfrm>
            <a:off x="6495002" y="1875014"/>
            <a:ext cx="2603270" cy="1404514"/>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err="1"/>
              <a:t>This</a:t>
            </a:r>
            <a:r>
              <a:rPr lang="it-IT" dirty="0"/>
              <a:t> slide </a:t>
            </a:r>
            <a:r>
              <a:rPr lang="it-IT" dirty="0" err="1"/>
              <a:t>is</a:t>
            </a:r>
            <a:r>
              <a:rPr lang="it-IT" dirty="0"/>
              <a:t> </a:t>
            </a:r>
            <a:r>
              <a:rPr lang="it-IT" dirty="0" err="1"/>
              <a:t>only</a:t>
            </a:r>
            <a:r>
              <a:rPr lang="it-IT" dirty="0"/>
              <a:t> for </a:t>
            </a:r>
            <a:r>
              <a:rPr lang="it-IT" dirty="0" err="1"/>
              <a:t>explanation</a:t>
            </a:r>
            <a:r>
              <a:rPr lang="it-IT" dirty="0"/>
              <a:t>, </a:t>
            </a:r>
            <a:r>
              <a:rPr lang="it-IT" dirty="0" err="1"/>
              <a:t>dont´t</a:t>
            </a:r>
            <a:r>
              <a:rPr lang="it-IT" dirty="0"/>
              <a:t> use </a:t>
            </a:r>
            <a:r>
              <a:rPr lang="it-IT" dirty="0" err="1"/>
              <a:t>it!</a:t>
            </a:r>
            <a:endParaRPr lang="en-GB" dirty="0"/>
          </a:p>
        </p:txBody>
      </p:sp>
      <p:sp>
        <p:nvSpPr>
          <p:cNvPr id="12" name="Datumsplatzhalter 11">
            <a:extLst>
              <a:ext uri="{FF2B5EF4-FFF2-40B4-BE49-F238E27FC236}">
                <a16:creationId xmlns="" xmlns:a16="http://schemas.microsoft.com/office/drawing/2014/main" id="{749D4654-CB69-04EA-986A-2264B7AF439E}"/>
              </a:ext>
            </a:extLst>
          </p:cNvPr>
          <p:cNvSpPr>
            <a:spLocks noGrp="1"/>
          </p:cNvSpPr>
          <p:nvPr>
            <p:ph type="dt" sz="half" idx="10"/>
          </p:nvPr>
        </p:nvSpPr>
        <p:spPr/>
        <p:txBody>
          <a:bodyPr/>
          <a:lstStyle/>
          <a:p>
            <a:fld id="{476DB99B-0F4F-4F9B-9A32-2ECA2F4528C6}" type="datetime1">
              <a:rPr lang="en-GB" smtClean="0"/>
              <a:pPr/>
              <a:t>16/11/2025</a:t>
            </a:fld>
            <a:endParaRPr lang="en-GB" dirty="0"/>
          </a:p>
        </p:txBody>
      </p:sp>
      <p:sp>
        <p:nvSpPr>
          <p:cNvPr id="13" name="Fußzeilenplatzhalter 12">
            <a:extLst>
              <a:ext uri="{FF2B5EF4-FFF2-40B4-BE49-F238E27FC236}">
                <a16:creationId xmlns="" xmlns:a16="http://schemas.microsoft.com/office/drawing/2014/main" id="{FC28337D-790B-E06F-0074-04AA48B925B2}"/>
              </a:ext>
            </a:extLst>
          </p:cNvPr>
          <p:cNvSpPr>
            <a:spLocks noGrp="1"/>
          </p:cNvSpPr>
          <p:nvPr>
            <p:ph type="ftr" sz="quarter" idx="11"/>
          </p:nvPr>
        </p:nvSpPr>
        <p:spPr/>
        <p:txBody>
          <a:bodyPr/>
          <a:lstStyle/>
          <a:p>
            <a:r>
              <a:rPr lang="en-GB" dirty="0"/>
              <a:t>Rotor Hub and Pitch System / Optimus Syria</a:t>
            </a:r>
          </a:p>
        </p:txBody>
      </p:sp>
      <p:sp>
        <p:nvSpPr>
          <p:cNvPr id="14" name="Foliennummernplatzhalter 13">
            <a:extLst>
              <a:ext uri="{FF2B5EF4-FFF2-40B4-BE49-F238E27FC236}">
                <a16:creationId xmlns="" xmlns:a16="http://schemas.microsoft.com/office/drawing/2014/main" id="{A2A63292-0139-33E2-79E8-D1F485A4CC93}"/>
              </a:ext>
            </a:extLst>
          </p:cNvPr>
          <p:cNvSpPr>
            <a:spLocks noGrp="1"/>
          </p:cNvSpPr>
          <p:nvPr>
            <p:ph type="sldNum" sz="quarter" idx="12"/>
          </p:nvPr>
        </p:nvSpPr>
        <p:spPr/>
        <p:txBody>
          <a:bodyPr/>
          <a:lstStyle/>
          <a:p>
            <a:fld id="{013F6232-4F06-48BA-8F69-BF531F607829}" type="slidenum">
              <a:rPr lang="en-GB" smtClean="0"/>
              <a:pPr/>
              <a:t>‹#›</a:t>
            </a:fld>
            <a:endParaRPr lang="en-GB" dirty="0"/>
          </a:p>
        </p:txBody>
      </p:sp>
      <p:sp>
        <p:nvSpPr>
          <p:cNvPr id="15" name="Textplatzhalter 16">
            <a:extLst>
              <a:ext uri="{FF2B5EF4-FFF2-40B4-BE49-F238E27FC236}">
                <a16:creationId xmlns="" xmlns:a16="http://schemas.microsoft.com/office/drawing/2014/main" id="{596BA109-7562-188F-19E6-BAFF28DC5C78}"/>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 xmlns:p14="http://schemas.microsoft.com/office/powerpoint/2010/main" val="286484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Graph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237C287-18A0-EB82-8A27-F94CA3880D06}"/>
              </a:ext>
            </a:extLst>
          </p:cNvPr>
          <p:cNvSpPr>
            <a:spLocks noGrp="1"/>
          </p:cNvSpPr>
          <p:nvPr>
            <p:ph type="title" hasCustomPrompt="1"/>
          </p:nvPr>
        </p:nvSpPr>
        <p:spPr/>
        <p:txBody>
          <a:bodyPr/>
          <a:lstStyle>
            <a:lvl1pPr>
              <a:defRPr/>
            </a:lvl1pPr>
          </a:lstStyle>
          <a:p>
            <a:r>
              <a:rPr lang="de-DE" dirty="0"/>
              <a:t>X. Graph</a:t>
            </a:r>
            <a:endParaRPr lang="en-GB" dirty="0"/>
          </a:p>
        </p:txBody>
      </p:sp>
      <p:pic>
        <p:nvPicPr>
          <p:cNvPr id="6" name="Picture 2" descr="How HOMER Calculates Wind Turbine Power Output">
            <a:extLst>
              <a:ext uri="{FF2B5EF4-FFF2-40B4-BE49-F238E27FC236}">
                <a16:creationId xmlns="" xmlns:a16="http://schemas.microsoft.com/office/drawing/2014/main" id="{002A61B1-6859-B9E0-5E8D-876C02B28C1E}"/>
              </a:ext>
            </a:extLst>
          </p:cNvPr>
          <p:cNvPicPr>
            <a:picLocks noChangeAspect="1" noChangeArrowheads="1"/>
          </p:cNvPicPr>
          <p:nvPr userDrawn="1"/>
        </p:nvPicPr>
        <p:blipFill>
          <a:blip r:embed="rId2">
            <a:extLst>
              <a:ext uri="{28A0092B-C50C-407E-A947-70E740481C1C}">
                <a14:useLocalDpi xmlns="" xmlns:a14="http://schemas.microsoft.com/office/drawing/2010/main" val="0"/>
              </a:ext>
            </a:extLst>
          </a:blip>
          <a:srcRect/>
          <a:stretch>
            <a:fillRect/>
          </a:stretch>
        </p:blipFill>
        <p:spPr bwMode="auto">
          <a:xfrm>
            <a:off x="643724" y="1939999"/>
            <a:ext cx="5429250" cy="3067050"/>
          </a:xfrm>
          <a:prstGeom prst="rect">
            <a:avLst/>
          </a:prstGeom>
          <a:noFill/>
          <a:extLst>
            <a:ext uri="{909E8E84-426E-40DD-AFC4-6F175D3DCCD1}">
              <a14:hiddenFill xmlns="" xmlns:a14="http://schemas.microsoft.com/office/drawing/2010/main">
                <a:solidFill>
                  <a:srgbClr val="FFFFFF"/>
                </a:solidFill>
              </a14:hiddenFill>
            </a:ext>
          </a:extLst>
        </p:spPr>
      </p:pic>
      <p:sp>
        <p:nvSpPr>
          <p:cNvPr id="7" name="TextBox 2">
            <a:extLst>
              <a:ext uri="{FF2B5EF4-FFF2-40B4-BE49-F238E27FC236}">
                <a16:creationId xmlns="" xmlns:a16="http://schemas.microsoft.com/office/drawing/2014/main" id="{70DEEB4B-BB48-7BA1-DC37-D3F70525E158}"/>
              </a:ext>
            </a:extLst>
          </p:cNvPr>
          <p:cNvSpPr txBox="1"/>
          <p:nvPr userDrawn="1"/>
        </p:nvSpPr>
        <p:spPr>
          <a:xfrm>
            <a:off x="764619" y="5102669"/>
            <a:ext cx="5187461" cy="600164"/>
          </a:xfrm>
          <a:prstGeom prst="rect">
            <a:avLst/>
          </a:prstGeom>
          <a:noFill/>
        </p:spPr>
        <p:txBody>
          <a:bodyPr wrap="square" rtlCol="0">
            <a:spAutoFit/>
          </a:bodyPr>
          <a:lstStyle/>
          <a:p>
            <a:r>
              <a:rPr lang="it-IT" sz="1100" dirty="0"/>
              <a:t>(</a:t>
            </a:r>
            <a:r>
              <a:rPr lang="it-IT" sz="1100" dirty="0" err="1"/>
              <a:t>Description</a:t>
            </a:r>
            <a:r>
              <a:rPr lang="it-IT" sz="1100" dirty="0"/>
              <a:t> of the </a:t>
            </a:r>
            <a:r>
              <a:rPr lang="it-IT" sz="1100" dirty="0" err="1"/>
              <a:t>graph</a:t>
            </a:r>
            <a:r>
              <a:rPr lang="it-IT" sz="1100" dirty="0"/>
              <a:t>, </a:t>
            </a:r>
            <a:r>
              <a:rPr lang="it-IT" sz="1100" dirty="0" err="1"/>
              <a:t>example</a:t>
            </a:r>
            <a:r>
              <a:rPr lang="it-IT" sz="1100" dirty="0"/>
              <a:t>: </a:t>
            </a:r>
            <a:r>
              <a:rPr lang="it-IT" sz="1100" i="1" dirty="0"/>
              <a:t>power curve power over wind speed</a:t>
            </a:r>
            <a:r>
              <a:rPr lang="it-IT" sz="1100" dirty="0"/>
              <a:t> )</a:t>
            </a:r>
          </a:p>
          <a:p>
            <a:r>
              <a:rPr lang="it-IT" sz="1100" dirty="0"/>
              <a:t>(</a:t>
            </a:r>
            <a:r>
              <a:rPr lang="it-IT" sz="1100" dirty="0" err="1"/>
              <a:t>Citation</a:t>
            </a:r>
            <a:r>
              <a:rPr lang="it-IT" sz="1100" dirty="0"/>
              <a:t> of the sources, </a:t>
            </a:r>
            <a:r>
              <a:rPr lang="it-IT" sz="1100" dirty="0" err="1"/>
              <a:t>example</a:t>
            </a:r>
            <a:r>
              <a:rPr lang="it-IT" sz="1100" dirty="0"/>
              <a:t>:</a:t>
            </a:r>
            <a:r>
              <a:rPr lang="it-IT" sz="1100" b="1" dirty="0"/>
              <a:t> </a:t>
            </a:r>
            <a:r>
              <a:rPr lang="it-IT" sz="1100" b="0" dirty="0"/>
              <a:t>[1] </a:t>
            </a:r>
            <a:r>
              <a:rPr lang="it-IT" sz="1100" dirty="0"/>
              <a:t>)  </a:t>
            </a:r>
          </a:p>
          <a:p>
            <a:r>
              <a:rPr lang="it-IT" sz="1100" dirty="0"/>
              <a:t>(Last date of access, </a:t>
            </a:r>
            <a:r>
              <a:rPr lang="it-IT" sz="1100" dirty="0" err="1"/>
              <a:t>example</a:t>
            </a:r>
            <a:r>
              <a:rPr lang="it-IT" sz="1100" dirty="0"/>
              <a:t>: 21/12/2015)</a:t>
            </a:r>
            <a:endParaRPr lang="en-GB" sz="1100" dirty="0"/>
          </a:p>
        </p:txBody>
      </p:sp>
      <p:cxnSp>
        <p:nvCxnSpPr>
          <p:cNvPr id="10" name="Straight Connector 5">
            <a:extLst>
              <a:ext uri="{FF2B5EF4-FFF2-40B4-BE49-F238E27FC236}">
                <a16:creationId xmlns="" xmlns:a16="http://schemas.microsoft.com/office/drawing/2014/main" id="{9CCD7462-E12C-CDA3-D609-4AB679728A2E}"/>
              </a:ext>
            </a:extLst>
          </p:cNvPr>
          <p:cNvCxnSpPr>
            <a:cxnSpLocks/>
          </p:cNvCxnSpPr>
          <p:nvPr userDrawn="1"/>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8" name="Datumsplatzhalter 7">
            <a:extLst>
              <a:ext uri="{FF2B5EF4-FFF2-40B4-BE49-F238E27FC236}">
                <a16:creationId xmlns="" xmlns:a16="http://schemas.microsoft.com/office/drawing/2014/main" id="{98D8651D-3525-44E9-EF74-5AE1C96E2B5E}"/>
              </a:ext>
            </a:extLst>
          </p:cNvPr>
          <p:cNvSpPr>
            <a:spLocks noGrp="1"/>
          </p:cNvSpPr>
          <p:nvPr>
            <p:ph type="dt" sz="half" idx="10"/>
          </p:nvPr>
        </p:nvSpPr>
        <p:spPr/>
        <p:txBody>
          <a:bodyPr/>
          <a:lstStyle/>
          <a:p>
            <a:fld id="{DF2F99C6-FE58-4669-A9B0-CE74E3310E0A}" type="datetime1">
              <a:rPr lang="en-GB" smtClean="0"/>
              <a:pPr/>
              <a:t>16/11/2025</a:t>
            </a:fld>
            <a:endParaRPr lang="en-GB" dirty="0"/>
          </a:p>
        </p:txBody>
      </p:sp>
      <p:sp>
        <p:nvSpPr>
          <p:cNvPr id="9" name="Fußzeilenplatzhalter 8">
            <a:extLst>
              <a:ext uri="{FF2B5EF4-FFF2-40B4-BE49-F238E27FC236}">
                <a16:creationId xmlns="" xmlns:a16="http://schemas.microsoft.com/office/drawing/2014/main" id="{FC35C132-0CB8-F9A6-EC6C-F3AC1F1B3137}"/>
              </a:ext>
            </a:extLst>
          </p:cNvPr>
          <p:cNvSpPr>
            <a:spLocks noGrp="1"/>
          </p:cNvSpPr>
          <p:nvPr>
            <p:ph type="ftr" sz="quarter" idx="11"/>
          </p:nvPr>
        </p:nvSpPr>
        <p:spPr/>
        <p:txBody>
          <a:bodyPr/>
          <a:lstStyle/>
          <a:p>
            <a:r>
              <a:rPr lang="en-GB" dirty="0"/>
              <a:t>Rotor Hub and Pitch System / Optimus Syria</a:t>
            </a:r>
          </a:p>
        </p:txBody>
      </p:sp>
      <p:sp>
        <p:nvSpPr>
          <p:cNvPr id="11" name="Foliennummernplatzhalter 10">
            <a:extLst>
              <a:ext uri="{FF2B5EF4-FFF2-40B4-BE49-F238E27FC236}">
                <a16:creationId xmlns="" xmlns:a16="http://schemas.microsoft.com/office/drawing/2014/main" id="{722F58FF-5AD5-CF97-4FEE-FB1F38CD9A18}"/>
              </a:ext>
            </a:extLst>
          </p:cNvPr>
          <p:cNvSpPr>
            <a:spLocks noGrp="1"/>
          </p:cNvSpPr>
          <p:nvPr>
            <p:ph type="sldNum" sz="quarter" idx="12"/>
          </p:nvPr>
        </p:nvSpPr>
        <p:spPr/>
        <p:txBody>
          <a:bodyPr/>
          <a:lstStyle/>
          <a:p>
            <a:fld id="{013F6232-4F06-48BA-8F69-BF531F607829}" type="slidenum">
              <a:rPr lang="en-GB" smtClean="0"/>
              <a:pPr/>
              <a:t>‹#›</a:t>
            </a:fld>
            <a:endParaRPr lang="en-GB" dirty="0"/>
          </a:p>
        </p:txBody>
      </p:sp>
      <p:sp>
        <p:nvSpPr>
          <p:cNvPr id="12" name="Textplatzhalter 16">
            <a:extLst>
              <a:ext uri="{FF2B5EF4-FFF2-40B4-BE49-F238E27FC236}">
                <a16:creationId xmlns="" xmlns:a16="http://schemas.microsoft.com/office/drawing/2014/main" id="{DC21B0DD-4D97-871C-E587-F10AD55D8BD9}"/>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 xmlns:p14="http://schemas.microsoft.com/office/powerpoint/2010/main" val="241072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ibliography (Explana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1993033-AA4A-D955-AE39-E7F2A40C8A47}"/>
              </a:ext>
            </a:extLst>
          </p:cNvPr>
          <p:cNvSpPr>
            <a:spLocks noGrp="1"/>
          </p:cNvSpPr>
          <p:nvPr>
            <p:ph type="title" hasCustomPrompt="1"/>
          </p:nvPr>
        </p:nvSpPr>
        <p:spPr/>
        <p:txBody>
          <a:bodyPr/>
          <a:lstStyle>
            <a:lvl1pPr>
              <a:defRPr/>
            </a:lvl1pPr>
          </a:lstStyle>
          <a:p>
            <a:r>
              <a:rPr lang="de-DE" dirty="0" err="1"/>
              <a:t>Bibliography</a:t>
            </a:r>
            <a:r>
              <a:rPr lang="de-DE" dirty="0"/>
              <a:t> – </a:t>
            </a:r>
            <a:r>
              <a:rPr lang="de-DE" dirty="0" err="1"/>
              <a:t>team</a:t>
            </a:r>
            <a:r>
              <a:rPr lang="de-DE" dirty="0"/>
              <a:t> </a:t>
            </a:r>
            <a:r>
              <a:rPr lang="de-DE" dirty="0" err="1"/>
              <a:t>name</a:t>
            </a:r>
            <a:endParaRPr lang="en-GB" dirty="0"/>
          </a:p>
        </p:txBody>
      </p:sp>
      <p:sp>
        <p:nvSpPr>
          <p:cNvPr id="3" name="Content Placeholder 2">
            <a:extLst>
              <a:ext uri="{FF2B5EF4-FFF2-40B4-BE49-F238E27FC236}">
                <a16:creationId xmlns="" xmlns:a16="http://schemas.microsoft.com/office/drawing/2014/main" id="{7638BDBB-4827-8B89-3EE0-5A3DD22172FC}"/>
              </a:ext>
            </a:extLst>
          </p:cNvPr>
          <p:cNvSpPr>
            <a:spLocks noGrp="1"/>
          </p:cNvSpPr>
          <p:nvPr>
            <p:ph idx="1" hasCustomPrompt="1"/>
          </p:nvPr>
        </p:nvSpPr>
        <p:spPr/>
        <p:txBody>
          <a:bodyPr>
            <a:normAutofit/>
          </a:bodyPr>
          <a:lstStyle>
            <a:lvl1pPr marL="0" indent="0">
              <a:buNone/>
              <a:defRPr sz="16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it-IT" dirty="0"/>
              <a:t>[1] </a:t>
            </a:r>
            <a:r>
              <a:rPr lang="en-GB" dirty="0"/>
              <a:t>“How HOMER Calculates Wind Turbine Power Output,” </a:t>
            </a:r>
            <a:r>
              <a:rPr lang="en-GB" i="1" dirty="0"/>
              <a:t>Homerenergy.com</a:t>
            </a:r>
            <a:r>
              <a:rPr lang="en-GB" dirty="0"/>
              <a:t>, 2017. https://www.homerenergy.com/products/pro/docs/3.15/how_homer_calculates_wind_turbine_power_output.html (accessed Aug. 25, 2025).</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[2] …..</a:t>
            </a:r>
            <a:endParaRPr lang="it-IT" dirty="0"/>
          </a:p>
          <a:p>
            <a:pPr lvl="0"/>
            <a:endParaRPr lang="de-DE" dirty="0"/>
          </a:p>
        </p:txBody>
      </p:sp>
      <p:cxnSp>
        <p:nvCxnSpPr>
          <p:cNvPr id="6" name="Straight Arrow Connector 21">
            <a:extLst>
              <a:ext uri="{FF2B5EF4-FFF2-40B4-BE49-F238E27FC236}">
                <a16:creationId xmlns="" xmlns:a16="http://schemas.microsoft.com/office/drawing/2014/main" id="{9B5BA113-ABD0-9B33-1E2F-5863B083FE29}"/>
              </a:ext>
            </a:extLst>
          </p:cNvPr>
          <p:cNvCxnSpPr>
            <a:cxnSpLocks/>
          </p:cNvCxnSpPr>
          <p:nvPr userDrawn="1"/>
        </p:nvCxnSpPr>
        <p:spPr>
          <a:xfrm flipH="1" flipV="1">
            <a:off x="4994031" y="2734408"/>
            <a:ext cx="1245576" cy="1837592"/>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22">
            <a:extLst>
              <a:ext uri="{FF2B5EF4-FFF2-40B4-BE49-F238E27FC236}">
                <a16:creationId xmlns="" xmlns:a16="http://schemas.microsoft.com/office/drawing/2014/main" id="{59531AAE-8AA3-6039-F69E-EDD1AF57C810}"/>
              </a:ext>
            </a:extLst>
          </p:cNvPr>
          <p:cNvSpPr/>
          <p:nvPr userDrawn="1"/>
        </p:nvSpPr>
        <p:spPr>
          <a:xfrm>
            <a:off x="4475285" y="4572000"/>
            <a:ext cx="5969977" cy="1677864"/>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a:t>The style </a:t>
            </a:r>
            <a:r>
              <a:rPr lang="it-IT" dirty="0" err="1"/>
              <a:t>chosen</a:t>
            </a:r>
            <a:r>
              <a:rPr lang="it-IT" dirty="0"/>
              <a:t> for </a:t>
            </a:r>
            <a:r>
              <a:rPr lang="it-IT" dirty="0" err="1"/>
              <a:t>citation</a:t>
            </a:r>
            <a:r>
              <a:rPr lang="it-IT" dirty="0"/>
              <a:t> </a:t>
            </a:r>
            <a:r>
              <a:rPr lang="it-IT" dirty="0" err="1"/>
              <a:t>is</a:t>
            </a:r>
            <a:r>
              <a:rPr lang="it-IT" dirty="0"/>
              <a:t> IEEE, so </a:t>
            </a:r>
            <a:r>
              <a:rPr lang="it-IT" dirty="0" err="1"/>
              <a:t>if</a:t>
            </a:r>
            <a:r>
              <a:rPr lang="it-IT" dirty="0"/>
              <a:t> </a:t>
            </a:r>
            <a:r>
              <a:rPr lang="it-IT" dirty="0" err="1"/>
              <a:t>you</a:t>
            </a:r>
            <a:r>
              <a:rPr lang="it-IT" dirty="0"/>
              <a:t> </a:t>
            </a:r>
            <a:r>
              <a:rPr lang="it-IT" dirty="0" err="1"/>
              <a:t>want</a:t>
            </a:r>
            <a:r>
              <a:rPr lang="it-IT" dirty="0"/>
              <a:t> to create </a:t>
            </a:r>
            <a:r>
              <a:rPr lang="it-IT" dirty="0" err="1"/>
              <a:t>your</a:t>
            </a:r>
            <a:r>
              <a:rPr lang="it-IT" dirty="0"/>
              <a:t> </a:t>
            </a:r>
            <a:r>
              <a:rPr lang="it-IT" dirty="0" err="1"/>
              <a:t>citation</a:t>
            </a:r>
            <a:r>
              <a:rPr lang="it-IT" dirty="0"/>
              <a:t> follow </a:t>
            </a:r>
            <a:r>
              <a:rPr lang="it-IT" dirty="0" err="1"/>
              <a:t>that</a:t>
            </a:r>
            <a:r>
              <a:rPr lang="it-IT" dirty="0"/>
              <a:t> style. </a:t>
            </a:r>
            <a:r>
              <a:rPr lang="it-IT" dirty="0" err="1"/>
              <a:t>If</a:t>
            </a:r>
            <a:r>
              <a:rPr lang="it-IT" dirty="0"/>
              <a:t> </a:t>
            </a:r>
            <a:r>
              <a:rPr lang="it-IT" dirty="0" err="1"/>
              <a:t>you</a:t>
            </a:r>
            <a:r>
              <a:rPr lang="it-IT" dirty="0"/>
              <a:t> </a:t>
            </a:r>
            <a:r>
              <a:rPr lang="it-IT" dirty="0" err="1"/>
              <a:t>want</a:t>
            </a:r>
            <a:r>
              <a:rPr lang="it-IT" dirty="0"/>
              <a:t> to create an IEEE </a:t>
            </a:r>
            <a:r>
              <a:rPr lang="it-IT" dirty="0" err="1"/>
              <a:t>citation</a:t>
            </a:r>
            <a:r>
              <a:rPr lang="it-IT" dirty="0"/>
              <a:t> from a website, </a:t>
            </a:r>
            <a:r>
              <a:rPr lang="it-IT" dirty="0" err="1"/>
              <a:t>you</a:t>
            </a:r>
            <a:r>
              <a:rPr lang="it-IT" dirty="0"/>
              <a:t> can use some free </a:t>
            </a:r>
            <a:r>
              <a:rPr lang="it-IT" dirty="0" err="1"/>
              <a:t>converters</a:t>
            </a:r>
            <a:r>
              <a:rPr lang="it-IT" dirty="0"/>
              <a:t> </a:t>
            </a:r>
            <a:r>
              <a:rPr lang="it-IT" dirty="0" err="1"/>
              <a:t>available</a:t>
            </a:r>
            <a:r>
              <a:rPr lang="it-IT" dirty="0"/>
              <a:t> on the internet, like:</a:t>
            </a:r>
          </a:p>
          <a:p>
            <a:pPr algn="ctr"/>
            <a:r>
              <a:rPr lang="en-GB" b="1" dirty="0">
                <a:hlinkClick r:id="rId2"/>
              </a:rPr>
              <a:t>https://www.mybib.com/tools/ieee-citation-generator</a:t>
            </a:r>
            <a:r>
              <a:rPr lang="en-GB" b="1" dirty="0"/>
              <a:t> </a:t>
            </a:r>
          </a:p>
        </p:txBody>
      </p:sp>
      <p:cxnSp>
        <p:nvCxnSpPr>
          <p:cNvPr id="4" name="Straight Connector 5">
            <a:extLst>
              <a:ext uri="{FF2B5EF4-FFF2-40B4-BE49-F238E27FC236}">
                <a16:creationId xmlns="" xmlns:a16="http://schemas.microsoft.com/office/drawing/2014/main" id="{7CC2DA80-2404-1A96-924E-A52A1DBAA341}"/>
              </a:ext>
            </a:extLst>
          </p:cNvPr>
          <p:cNvCxnSpPr>
            <a:cxnSpLocks/>
          </p:cNvCxnSpPr>
          <p:nvPr userDrawn="1"/>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0" name="Rectangle 7">
            <a:extLst>
              <a:ext uri="{FF2B5EF4-FFF2-40B4-BE49-F238E27FC236}">
                <a16:creationId xmlns="" xmlns:a16="http://schemas.microsoft.com/office/drawing/2014/main" id="{226F6F8F-D65D-4B43-5785-E89E617F8616}"/>
              </a:ext>
            </a:extLst>
          </p:cNvPr>
          <p:cNvSpPr/>
          <p:nvPr userDrawn="1"/>
        </p:nvSpPr>
        <p:spPr>
          <a:xfrm>
            <a:off x="908165" y="3299037"/>
            <a:ext cx="2603270" cy="1404514"/>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err="1"/>
              <a:t>This</a:t>
            </a:r>
            <a:r>
              <a:rPr lang="it-IT" dirty="0"/>
              <a:t> slide </a:t>
            </a:r>
            <a:r>
              <a:rPr lang="it-IT" dirty="0" err="1"/>
              <a:t>is</a:t>
            </a:r>
            <a:r>
              <a:rPr lang="it-IT" dirty="0"/>
              <a:t> </a:t>
            </a:r>
            <a:r>
              <a:rPr lang="it-IT" dirty="0" err="1"/>
              <a:t>only</a:t>
            </a:r>
            <a:r>
              <a:rPr lang="it-IT" dirty="0"/>
              <a:t> for </a:t>
            </a:r>
            <a:r>
              <a:rPr lang="it-IT" dirty="0" err="1"/>
              <a:t>explanation</a:t>
            </a:r>
            <a:r>
              <a:rPr lang="it-IT" dirty="0"/>
              <a:t>, </a:t>
            </a:r>
            <a:r>
              <a:rPr lang="it-IT" dirty="0" err="1"/>
              <a:t>dont´t</a:t>
            </a:r>
            <a:r>
              <a:rPr lang="it-IT" dirty="0"/>
              <a:t> use </a:t>
            </a:r>
            <a:r>
              <a:rPr lang="it-IT" dirty="0" err="1"/>
              <a:t>it!</a:t>
            </a:r>
            <a:endParaRPr lang="en-GB" dirty="0"/>
          </a:p>
        </p:txBody>
      </p:sp>
      <p:sp>
        <p:nvSpPr>
          <p:cNvPr id="11" name="Datumsplatzhalter 10">
            <a:extLst>
              <a:ext uri="{FF2B5EF4-FFF2-40B4-BE49-F238E27FC236}">
                <a16:creationId xmlns="" xmlns:a16="http://schemas.microsoft.com/office/drawing/2014/main" id="{376AEEC7-3E6C-8FE6-7104-34FC937946F1}"/>
              </a:ext>
            </a:extLst>
          </p:cNvPr>
          <p:cNvSpPr>
            <a:spLocks noGrp="1"/>
          </p:cNvSpPr>
          <p:nvPr>
            <p:ph type="dt" sz="half" idx="10"/>
          </p:nvPr>
        </p:nvSpPr>
        <p:spPr/>
        <p:txBody>
          <a:bodyPr/>
          <a:lstStyle/>
          <a:p>
            <a:fld id="{A100D682-ADD0-49A9-827B-2250910F4FA1}" type="datetime1">
              <a:rPr lang="en-GB" smtClean="0"/>
              <a:pPr/>
              <a:t>16/11/2025</a:t>
            </a:fld>
            <a:endParaRPr lang="en-GB" dirty="0"/>
          </a:p>
        </p:txBody>
      </p:sp>
      <p:sp>
        <p:nvSpPr>
          <p:cNvPr id="12" name="Fußzeilenplatzhalter 11">
            <a:extLst>
              <a:ext uri="{FF2B5EF4-FFF2-40B4-BE49-F238E27FC236}">
                <a16:creationId xmlns="" xmlns:a16="http://schemas.microsoft.com/office/drawing/2014/main" id="{527D13C7-4982-3CF9-E6C0-8109C888A5C4}"/>
              </a:ext>
            </a:extLst>
          </p:cNvPr>
          <p:cNvSpPr>
            <a:spLocks noGrp="1"/>
          </p:cNvSpPr>
          <p:nvPr>
            <p:ph type="ftr" sz="quarter" idx="11"/>
          </p:nvPr>
        </p:nvSpPr>
        <p:spPr/>
        <p:txBody>
          <a:bodyPr/>
          <a:lstStyle/>
          <a:p>
            <a:r>
              <a:rPr lang="en-GB" dirty="0"/>
              <a:t>Rotor Hub and Pitch System / Optimus Syria</a:t>
            </a:r>
          </a:p>
        </p:txBody>
      </p:sp>
      <p:sp>
        <p:nvSpPr>
          <p:cNvPr id="13" name="Foliennummernplatzhalter 12">
            <a:extLst>
              <a:ext uri="{FF2B5EF4-FFF2-40B4-BE49-F238E27FC236}">
                <a16:creationId xmlns="" xmlns:a16="http://schemas.microsoft.com/office/drawing/2014/main" id="{44A0136B-0337-50A8-941C-6DC048DC6892}"/>
              </a:ext>
            </a:extLst>
          </p:cNvPr>
          <p:cNvSpPr>
            <a:spLocks noGrp="1"/>
          </p:cNvSpPr>
          <p:nvPr>
            <p:ph type="sldNum" sz="quarter" idx="12"/>
          </p:nvPr>
        </p:nvSpPr>
        <p:spPr/>
        <p:txBody>
          <a:bodyPr/>
          <a:lstStyle/>
          <a:p>
            <a:fld id="{013F6232-4F06-48BA-8F69-BF531F607829}" type="slidenum">
              <a:rPr lang="en-GB" smtClean="0"/>
              <a:pPr/>
              <a:t>‹#›</a:t>
            </a:fld>
            <a:endParaRPr lang="en-GB" dirty="0"/>
          </a:p>
        </p:txBody>
      </p:sp>
      <p:sp>
        <p:nvSpPr>
          <p:cNvPr id="14" name="Textplatzhalter 16">
            <a:extLst>
              <a:ext uri="{FF2B5EF4-FFF2-40B4-BE49-F238E27FC236}">
                <a16:creationId xmlns="" xmlns:a16="http://schemas.microsoft.com/office/drawing/2014/main" id="{A21B8924-2541-A57C-7990-899E2DC11FD9}"/>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 xmlns:p14="http://schemas.microsoft.com/office/powerpoint/2010/main" val="20964396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Bibliograph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1993033-AA4A-D955-AE39-E7F2A40C8A47}"/>
              </a:ext>
            </a:extLst>
          </p:cNvPr>
          <p:cNvSpPr>
            <a:spLocks noGrp="1"/>
          </p:cNvSpPr>
          <p:nvPr>
            <p:ph type="title" hasCustomPrompt="1"/>
          </p:nvPr>
        </p:nvSpPr>
        <p:spPr/>
        <p:txBody>
          <a:bodyPr/>
          <a:lstStyle>
            <a:lvl1pPr>
              <a:defRPr/>
            </a:lvl1pPr>
          </a:lstStyle>
          <a:p>
            <a:r>
              <a:rPr lang="de-DE" dirty="0" err="1"/>
              <a:t>Bibliography</a:t>
            </a:r>
            <a:r>
              <a:rPr lang="de-DE" dirty="0"/>
              <a:t> – </a:t>
            </a:r>
            <a:r>
              <a:rPr lang="de-DE" dirty="0" err="1"/>
              <a:t>team</a:t>
            </a:r>
            <a:r>
              <a:rPr lang="de-DE" dirty="0"/>
              <a:t> </a:t>
            </a:r>
            <a:r>
              <a:rPr lang="de-DE" dirty="0" err="1"/>
              <a:t>name</a:t>
            </a:r>
            <a:endParaRPr lang="en-GB" dirty="0"/>
          </a:p>
        </p:txBody>
      </p:sp>
      <p:sp>
        <p:nvSpPr>
          <p:cNvPr id="3" name="Content Placeholder 2">
            <a:extLst>
              <a:ext uri="{FF2B5EF4-FFF2-40B4-BE49-F238E27FC236}">
                <a16:creationId xmlns="" xmlns:a16="http://schemas.microsoft.com/office/drawing/2014/main" id="{7638BDBB-4827-8B89-3EE0-5A3DD22172FC}"/>
              </a:ext>
            </a:extLst>
          </p:cNvPr>
          <p:cNvSpPr>
            <a:spLocks noGrp="1"/>
          </p:cNvSpPr>
          <p:nvPr>
            <p:ph idx="1" hasCustomPrompt="1"/>
          </p:nvPr>
        </p:nvSpPr>
        <p:spPr/>
        <p:txBody>
          <a:bodyPr>
            <a:normAutofit/>
          </a:bodyPr>
          <a:lstStyle>
            <a:lvl1pPr marL="0" indent="0">
              <a:buNone/>
              <a:defRPr sz="1600"/>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it-IT" dirty="0"/>
              <a:t>[1] </a:t>
            </a:r>
            <a:r>
              <a:rPr lang="en-GB" dirty="0"/>
              <a:t>“How HOMER Calculates Wind Turbine Power Output,” </a:t>
            </a:r>
            <a:r>
              <a:rPr lang="en-GB" i="1" dirty="0"/>
              <a:t>Homerenergy.com</a:t>
            </a:r>
            <a:r>
              <a:rPr lang="en-GB" dirty="0"/>
              <a:t>, 2017. https://www.homerenergy.com/products/pro/docs/3.15/how_homer_calculates_wind_turbine_power_output.html (accessed Aug. 25, 2025).</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[2] …..</a:t>
            </a:r>
            <a:endParaRPr lang="it-IT" dirty="0"/>
          </a:p>
          <a:p>
            <a:pPr lvl="0"/>
            <a:endParaRPr lang="de-DE" dirty="0"/>
          </a:p>
        </p:txBody>
      </p:sp>
      <p:cxnSp>
        <p:nvCxnSpPr>
          <p:cNvPr id="4" name="Straight Connector 5">
            <a:extLst>
              <a:ext uri="{FF2B5EF4-FFF2-40B4-BE49-F238E27FC236}">
                <a16:creationId xmlns="" xmlns:a16="http://schemas.microsoft.com/office/drawing/2014/main" id="{7CC2DA80-2404-1A96-924E-A52A1DBAA341}"/>
              </a:ext>
            </a:extLst>
          </p:cNvPr>
          <p:cNvCxnSpPr>
            <a:cxnSpLocks/>
          </p:cNvCxnSpPr>
          <p:nvPr userDrawn="1"/>
        </p:nvCxnSpPr>
        <p:spPr>
          <a:xfrm>
            <a:off x="838200" y="1251708"/>
            <a:ext cx="10515600"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6" name="Datumsplatzhalter 5">
            <a:extLst>
              <a:ext uri="{FF2B5EF4-FFF2-40B4-BE49-F238E27FC236}">
                <a16:creationId xmlns="" xmlns:a16="http://schemas.microsoft.com/office/drawing/2014/main" id="{79BDC2AF-40F8-8529-16FE-AE51A8BD447C}"/>
              </a:ext>
            </a:extLst>
          </p:cNvPr>
          <p:cNvSpPr>
            <a:spLocks noGrp="1"/>
          </p:cNvSpPr>
          <p:nvPr>
            <p:ph type="dt" sz="half" idx="10"/>
          </p:nvPr>
        </p:nvSpPr>
        <p:spPr/>
        <p:txBody>
          <a:bodyPr/>
          <a:lstStyle/>
          <a:p>
            <a:fld id="{D797E070-7D05-4698-8498-70EBE2094E29}" type="datetime1">
              <a:rPr lang="en-GB" smtClean="0"/>
              <a:pPr/>
              <a:t>16/11/2025</a:t>
            </a:fld>
            <a:endParaRPr lang="en-GB" dirty="0"/>
          </a:p>
        </p:txBody>
      </p:sp>
      <p:sp>
        <p:nvSpPr>
          <p:cNvPr id="9" name="Fußzeilenplatzhalter 8">
            <a:extLst>
              <a:ext uri="{FF2B5EF4-FFF2-40B4-BE49-F238E27FC236}">
                <a16:creationId xmlns="" xmlns:a16="http://schemas.microsoft.com/office/drawing/2014/main" id="{3A36B392-F5AC-41D8-5903-3EE036BA8CB9}"/>
              </a:ext>
            </a:extLst>
          </p:cNvPr>
          <p:cNvSpPr>
            <a:spLocks noGrp="1"/>
          </p:cNvSpPr>
          <p:nvPr>
            <p:ph type="ftr" sz="quarter" idx="11"/>
          </p:nvPr>
        </p:nvSpPr>
        <p:spPr/>
        <p:txBody>
          <a:bodyPr/>
          <a:lstStyle/>
          <a:p>
            <a:r>
              <a:rPr lang="en-GB" dirty="0"/>
              <a:t>Rotor Hub and Pitch System / Optimus Syria</a:t>
            </a:r>
          </a:p>
        </p:txBody>
      </p:sp>
      <p:sp>
        <p:nvSpPr>
          <p:cNvPr id="10" name="Foliennummernplatzhalter 9">
            <a:extLst>
              <a:ext uri="{FF2B5EF4-FFF2-40B4-BE49-F238E27FC236}">
                <a16:creationId xmlns="" xmlns:a16="http://schemas.microsoft.com/office/drawing/2014/main" id="{7595A811-7A18-1583-7B9C-87A7CBB7F159}"/>
              </a:ext>
            </a:extLst>
          </p:cNvPr>
          <p:cNvSpPr>
            <a:spLocks noGrp="1"/>
          </p:cNvSpPr>
          <p:nvPr>
            <p:ph type="sldNum" sz="quarter" idx="12"/>
          </p:nvPr>
        </p:nvSpPr>
        <p:spPr/>
        <p:txBody>
          <a:bodyPr/>
          <a:lstStyle/>
          <a:p>
            <a:fld id="{013F6232-4F06-48BA-8F69-BF531F607829}" type="slidenum">
              <a:rPr lang="en-GB" smtClean="0"/>
              <a:pPr/>
              <a:t>‹#›</a:t>
            </a:fld>
            <a:endParaRPr lang="en-GB" dirty="0"/>
          </a:p>
        </p:txBody>
      </p:sp>
      <p:sp>
        <p:nvSpPr>
          <p:cNvPr id="11" name="Textplatzhalter 16">
            <a:extLst>
              <a:ext uri="{FF2B5EF4-FFF2-40B4-BE49-F238E27FC236}">
                <a16:creationId xmlns="" xmlns:a16="http://schemas.microsoft.com/office/drawing/2014/main" id="{5E735FEA-D591-2E8E-B9B4-2A6BAFE00D4F}"/>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 xmlns:p14="http://schemas.microsoft.com/office/powerpoint/2010/main" val="12232809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9013920-E451-6E8D-B0CB-C3FB9C0F70B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 xmlns:a16="http://schemas.microsoft.com/office/drawing/2014/main" id="{D47CFBA5-B73E-6B89-322D-7C32A35A121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 xmlns:a16="http://schemas.microsoft.com/office/drawing/2014/main" id="{C4BF8199-371A-141A-1CD7-D551EEEFDF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Datumsplatzhalter 7">
            <a:extLst>
              <a:ext uri="{FF2B5EF4-FFF2-40B4-BE49-F238E27FC236}">
                <a16:creationId xmlns="" xmlns:a16="http://schemas.microsoft.com/office/drawing/2014/main" id="{16092FF3-E2C2-B5C5-579F-21F140EB3AA1}"/>
              </a:ext>
            </a:extLst>
          </p:cNvPr>
          <p:cNvSpPr>
            <a:spLocks noGrp="1"/>
          </p:cNvSpPr>
          <p:nvPr>
            <p:ph type="dt" sz="half" idx="10"/>
          </p:nvPr>
        </p:nvSpPr>
        <p:spPr/>
        <p:txBody>
          <a:bodyPr/>
          <a:lstStyle/>
          <a:p>
            <a:fld id="{815FCBF9-A550-47B6-A52F-D83BBC1C17F4}" type="datetime1">
              <a:rPr lang="en-GB" smtClean="0"/>
              <a:pPr/>
              <a:t>16/11/2025</a:t>
            </a:fld>
            <a:endParaRPr lang="en-GB" dirty="0"/>
          </a:p>
        </p:txBody>
      </p:sp>
      <p:sp>
        <p:nvSpPr>
          <p:cNvPr id="9" name="Fußzeilenplatzhalter 8">
            <a:extLst>
              <a:ext uri="{FF2B5EF4-FFF2-40B4-BE49-F238E27FC236}">
                <a16:creationId xmlns="" xmlns:a16="http://schemas.microsoft.com/office/drawing/2014/main" id="{85AD0AE9-D3B7-2239-8DBB-350367E7DC59}"/>
              </a:ext>
            </a:extLst>
          </p:cNvPr>
          <p:cNvSpPr>
            <a:spLocks noGrp="1"/>
          </p:cNvSpPr>
          <p:nvPr>
            <p:ph type="ftr" sz="quarter" idx="11"/>
          </p:nvPr>
        </p:nvSpPr>
        <p:spPr/>
        <p:txBody>
          <a:bodyPr/>
          <a:lstStyle/>
          <a:p>
            <a:r>
              <a:rPr lang="en-GB" dirty="0"/>
              <a:t>Rotor Hub and Pitch System / Optimus Syria</a:t>
            </a:r>
          </a:p>
        </p:txBody>
      </p:sp>
      <p:sp>
        <p:nvSpPr>
          <p:cNvPr id="10" name="Foliennummernplatzhalter 9">
            <a:extLst>
              <a:ext uri="{FF2B5EF4-FFF2-40B4-BE49-F238E27FC236}">
                <a16:creationId xmlns="" xmlns:a16="http://schemas.microsoft.com/office/drawing/2014/main" id="{E1BD0BA0-666C-E532-C68B-11386947BA13}"/>
              </a:ext>
            </a:extLst>
          </p:cNvPr>
          <p:cNvSpPr>
            <a:spLocks noGrp="1"/>
          </p:cNvSpPr>
          <p:nvPr>
            <p:ph type="sldNum" sz="quarter" idx="12"/>
          </p:nvPr>
        </p:nvSpPr>
        <p:spPr/>
        <p:txBody>
          <a:bodyPr/>
          <a:lstStyle/>
          <a:p>
            <a:fld id="{013F6232-4F06-48BA-8F69-BF531F607829}" type="slidenum">
              <a:rPr lang="en-GB" smtClean="0"/>
              <a:pPr/>
              <a:t>‹#›</a:t>
            </a:fld>
            <a:endParaRPr lang="en-GB" dirty="0"/>
          </a:p>
        </p:txBody>
      </p:sp>
      <p:sp>
        <p:nvSpPr>
          <p:cNvPr id="11" name="Textplatzhalter 16">
            <a:extLst>
              <a:ext uri="{FF2B5EF4-FFF2-40B4-BE49-F238E27FC236}">
                <a16:creationId xmlns="" xmlns:a16="http://schemas.microsoft.com/office/drawing/2014/main" id="{027E2607-9D4B-3DD5-A6A2-FC3CB80BCC1F}"/>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 xmlns:p14="http://schemas.microsoft.com/office/powerpoint/2010/main" val="4423501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Vergleich">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5BF7B7-87CF-1A3E-E33E-44DC6E0152FF}"/>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 xmlns:a16="http://schemas.microsoft.com/office/drawing/2014/main" id="{84B21B8D-C5F5-5242-4069-B1546B4BC0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274D26CD-98BD-17E2-BE55-DBB74BBC640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 xmlns:a16="http://schemas.microsoft.com/office/drawing/2014/main" id="{163B8D60-279E-D76A-9222-12B704BAEB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4A1AF34B-F683-41AD-C71C-8E8C66CC4CC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Datumsplatzhalter 9">
            <a:extLst>
              <a:ext uri="{FF2B5EF4-FFF2-40B4-BE49-F238E27FC236}">
                <a16:creationId xmlns="" xmlns:a16="http://schemas.microsoft.com/office/drawing/2014/main" id="{4EB4231A-B976-E0CE-75F3-D34A6911E251}"/>
              </a:ext>
            </a:extLst>
          </p:cNvPr>
          <p:cNvSpPr>
            <a:spLocks noGrp="1"/>
          </p:cNvSpPr>
          <p:nvPr>
            <p:ph type="dt" sz="half" idx="10"/>
          </p:nvPr>
        </p:nvSpPr>
        <p:spPr/>
        <p:txBody>
          <a:bodyPr/>
          <a:lstStyle/>
          <a:p>
            <a:fld id="{9C1807CF-9F2F-490E-9D6A-2EFEDEB698E8}" type="datetime1">
              <a:rPr lang="en-GB" smtClean="0"/>
              <a:pPr/>
              <a:t>16/11/2025</a:t>
            </a:fld>
            <a:endParaRPr lang="en-GB" dirty="0"/>
          </a:p>
        </p:txBody>
      </p:sp>
      <p:sp>
        <p:nvSpPr>
          <p:cNvPr id="11" name="Fußzeilenplatzhalter 10">
            <a:extLst>
              <a:ext uri="{FF2B5EF4-FFF2-40B4-BE49-F238E27FC236}">
                <a16:creationId xmlns="" xmlns:a16="http://schemas.microsoft.com/office/drawing/2014/main" id="{2E601F58-36C8-D2D9-A619-7EE495853C62}"/>
              </a:ext>
            </a:extLst>
          </p:cNvPr>
          <p:cNvSpPr>
            <a:spLocks noGrp="1"/>
          </p:cNvSpPr>
          <p:nvPr>
            <p:ph type="ftr" sz="quarter" idx="11"/>
          </p:nvPr>
        </p:nvSpPr>
        <p:spPr/>
        <p:txBody>
          <a:bodyPr/>
          <a:lstStyle/>
          <a:p>
            <a:r>
              <a:rPr lang="en-GB" dirty="0"/>
              <a:t>Rotor Hub and Pitch System / Optimus Syria</a:t>
            </a:r>
          </a:p>
        </p:txBody>
      </p:sp>
      <p:sp>
        <p:nvSpPr>
          <p:cNvPr id="12" name="Foliennummernplatzhalter 11">
            <a:extLst>
              <a:ext uri="{FF2B5EF4-FFF2-40B4-BE49-F238E27FC236}">
                <a16:creationId xmlns="" xmlns:a16="http://schemas.microsoft.com/office/drawing/2014/main" id="{EBFB4D11-F600-12A5-E5C2-DCA390332C8E}"/>
              </a:ext>
            </a:extLst>
          </p:cNvPr>
          <p:cNvSpPr>
            <a:spLocks noGrp="1"/>
          </p:cNvSpPr>
          <p:nvPr>
            <p:ph type="sldNum" sz="quarter" idx="12"/>
          </p:nvPr>
        </p:nvSpPr>
        <p:spPr/>
        <p:txBody>
          <a:bodyPr/>
          <a:lstStyle/>
          <a:p>
            <a:fld id="{013F6232-4F06-48BA-8F69-BF531F607829}" type="slidenum">
              <a:rPr lang="en-GB" smtClean="0"/>
              <a:pPr/>
              <a:t>‹#›</a:t>
            </a:fld>
            <a:endParaRPr lang="en-GB" dirty="0"/>
          </a:p>
        </p:txBody>
      </p:sp>
      <p:sp>
        <p:nvSpPr>
          <p:cNvPr id="13" name="Textplatzhalter 16">
            <a:extLst>
              <a:ext uri="{FF2B5EF4-FFF2-40B4-BE49-F238E27FC236}">
                <a16:creationId xmlns="" xmlns:a16="http://schemas.microsoft.com/office/drawing/2014/main" id="{39AFE95F-2805-F887-3AF4-313C835B1731}"/>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 xmlns:p14="http://schemas.microsoft.com/office/powerpoint/2010/main" val="2437897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eer">
    <p:spTree>
      <p:nvGrpSpPr>
        <p:cNvPr id="1" name=""/>
        <p:cNvGrpSpPr/>
        <p:nvPr/>
      </p:nvGrpSpPr>
      <p:grpSpPr>
        <a:xfrm>
          <a:off x="0" y="0"/>
          <a:ext cx="0" cy="0"/>
          <a:chOff x="0" y="0"/>
          <a:chExt cx="0" cy="0"/>
        </a:xfrm>
      </p:grpSpPr>
      <p:sp>
        <p:nvSpPr>
          <p:cNvPr id="5" name="Datumsplatzhalter 4">
            <a:extLst>
              <a:ext uri="{FF2B5EF4-FFF2-40B4-BE49-F238E27FC236}">
                <a16:creationId xmlns="" xmlns:a16="http://schemas.microsoft.com/office/drawing/2014/main" id="{AA9CAB1E-C3D8-B43B-64D5-963D13F3D840}"/>
              </a:ext>
            </a:extLst>
          </p:cNvPr>
          <p:cNvSpPr>
            <a:spLocks noGrp="1"/>
          </p:cNvSpPr>
          <p:nvPr>
            <p:ph type="dt" sz="half" idx="10"/>
          </p:nvPr>
        </p:nvSpPr>
        <p:spPr/>
        <p:txBody>
          <a:bodyPr/>
          <a:lstStyle/>
          <a:p>
            <a:fld id="{511F6FD4-A37E-4BAB-8A99-FA8610E32781}" type="datetime1">
              <a:rPr lang="en-GB" smtClean="0"/>
              <a:pPr/>
              <a:t>16/11/2025</a:t>
            </a:fld>
            <a:endParaRPr lang="en-GB" dirty="0"/>
          </a:p>
        </p:txBody>
      </p:sp>
      <p:sp>
        <p:nvSpPr>
          <p:cNvPr id="6" name="Fußzeilenplatzhalter 5">
            <a:extLst>
              <a:ext uri="{FF2B5EF4-FFF2-40B4-BE49-F238E27FC236}">
                <a16:creationId xmlns="" xmlns:a16="http://schemas.microsoft.com/office/drawing/2014/main" id="{3B3E84C0-2A5E-8136-84E3-1F57CD264AF4}"/>
              </a:ext>
            </a:extLst>
          </p:cNvPr>
          <p:cNvSpPr>
            <a:spLocks noGrp="1"/>
          </p:cNvSpPr>
          <p:nvPr>
            <p:ph type="ftr" sz="quarter" idx="11"/>
          </p:nvPr>
        </p:nvSpPr>
        <p:spPr/>
        <p:txBody>
          <a:bodyPr/>
          <a:lstStyle/>
          <a:p>
            <a:r>
              <a:rPr lang="en-GB" dirty="0"/>
              <a:t>Rotor Hub and Pitch System / Optimus Syria</a:t>
            </a:r>
          </a:p>
        </p:txBody>
      </p:sp>
      <p:sp>
        <p:nvSpPr>
          <p:cNvPr id="7" name="Foliennummernplatzhalter 6">
            <a:extLst>
              <a:ext uri="{FF2B5EF4-FFF2-40B4-BE49-F238E27FC236}">
                <a16:creationId xmlns="" xmlns:a16="http://schemas.microsoft.com/office/drawing/2014/main" id="{279EE80A-8782-7800-16FF-963D026BCCF5}"/>
              </a:ext>
            </a:extLst>
          </p:cNvPr>
          <p:cNvSpPr>
            <a:spLocks noGrp="1"/>
          </p:cNvSpPr>
          <p:nvPr>
            <p:ph type="sldNum" sz="quarter" idx="12"/>
          </p:nvPr>
        </p:nvSpPr>
        <p:spPr/>
        <p:txBody>
          <a:bodyPr/>
          <a:lstStyle/>
          <a:p>
            <a:fld id="{013F6232-4F06-48BA-8F69-BF531F607829}" type="slidenum">
              <a:rPr lang="en-GB" smtClean="0"/>
              <a:pPr/>
              <a:t>‹#›</a:t>
            </a:fld>
            <a:endParaRPr lang="en-GB" dirty="0"/>
          </a:p>
        </p:txBody>
      </p:sp>
      <p:sp>
        <p:nvSpPr>
          <p:cNvPr id="8" name="Textplatzhalter 16">
            <a:extLst>
              <a:ext uri="{FF2B5EF4-FFF2-40B4-BE49-F238E27FC236}">
                <a16:creationId xmlns="" xmlns:a16="http://schemas.microsoft.com/office/drawing/2014/main" id="{CFBF4831-0820-F79B-E15A-914A0E578D4E}"/>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 xmlns:p14="http://schemas.microsoft.com/office/powerpoint/2010/main" val="25370099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nhalt mit Überschrif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E94D20E-7D43-D4CD-1058-46300B8EE4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 xmlns:a16="http://schemas.microsoft.com/office/drawing/2014/main" id="{3EB6584A-B476-0EA1-C12B-07C273F70E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 xmlns:a16="http://schemas.microsoft.com/office/drawing/2014/main" id="{51694232-1597-B186-D108-397BCF214D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umsplatzhalter 7">
            <a:extLst>
              <a:ext uri="{FF2B5EF4-FFF2-40B4-BE49-F238E27FC236}">
                <a16:creationId xmlns="" xmlns:a16="http://schemas.microsoft.com/office/drawing/2014/main" id="{63342531-5FA3-5F71-CEB1-CFCD86F1701F}"/>
              </a:ext>
            </a:extLst>
          </p:cNvPr>
          <p:cNvSpPr>
            <a:spLocks noGrp="1"/>
          </p:cNvSpPr>
          <p:nvPr>
            <p:ph type="dt" sz="half" idx="10"/>
          </p:nvPr>
        </p:nvSpPr>
        <p:spPr/>
        <p:txBody>
          <a:bodyPr/>
          <a:lstStyle/>
          <a:p>
            <a:fld id="{0FA42E69-D35C-464A-8913-B8D53BF53101}" type="datetime1">
              <a:rPr lang="en-GB" smtClean="0"/>
              <a:pPr/>
              <a:t>16/11/2025</a:t>
            </a:fld>
            <a:endParaRPr lang="en-GB" dirty="0"/>
          </a:p>
        </p:txBody>
      </p:sp>
      <p:sp>
        <p:nvSpPr>
          <p:cNvPr id="9" name="Fußzeilenplatzhalter 8">
            <a:extLst>
              <a:ext uri="{FF2B5EF4-FFF2-40B4-BE49-F238E27FC236}">
                <a16:creationId xmlns="" xmlns:a16="http://schemas.microsoft.com/office/drawing/2014/main" id="{0D108632-F456-C23D-6809-CF44E36A522C}"/>
              </a:ext>
            </a:extLst>
          </p:cNvPr>
          <p:cNvSpPr>
            <a:spLocks noGrp="1"/>
          </p:cNvSpPr>
          <p:nvPr>
            <p:ph type="ftr" sz="quarter" idx="11"/>
          </p:nvPr>
        </p:nvSpPr>
        <p:spPr/>
        <p:txBody>
          <a:bodyPr/>
          <a:lstStyle/>
          <a:p>
            <a:r>
              <a:rPr lang="en-GB" dirty="0"/>
              <a:t>Rotor Hub and Pitch System / Optimus Syria</a:t>
            </a:r>
          </a:p>
        </p:txBody>
      </p:sp>
      <p:sp>
        <p:nvSpPr>
          <p:cNvPr id="10" name="Foliennummernplatzhalter 9">
            <a:extLst>
              <a:ext uri="{FF2B5EF4-FFF2-40B4-BE49-F238E27FC236}">
                <a16:creationId xmlns="" xmlns:a16="http://schemas.microsoft.com/office/drawing/2014/main" id="{14F6375C-67FA-9BF2-A821-A5611C211C9C}"/>
              </a:ext>
            </a:extLst>
          </p:cNvPr>
          <p:cNvSpPr>
            <a:spLocks noGrp="1"/>
          </p:cNvSpPr>
          <p:nvPr>
            <p:ph type="sldNum" sz="quarter" idx="12"/>
          </p:nvPr>
        </p:nvSpPr>
        <p:spPr/>
        <p:txBody>
          <a:bodyPr/>
          <a:lstStyle/>
          <a:p>
            <a:fld id="{013F6232-4F06-48BA-8F69-BF531F607829}" type="slidenum">
              <a:rPr lang="en-GB" smtClean="0"/>
              <a:pPr/>
              <a:t>‹#›</a:t>
            </a:fld>
            <a:endParaRPr lang="en-GB" dirty="0"/>
          </a:p>
        </p:txBody>
      </p:sp>
      <p:sp>
        <p:nvSpPr>
          <p:cNvPr id="11" name="Textplatzhalter 16">
            <a:extLst>
              <a:ext uri="{FF2B5EF4-FFF2-40B4-BE49-F238E27FC236}">
                <a16:creationId xmlns="" xmlns:a16="http://schemas.microsoft.com/office/drawing/2014/main" id="{6E6CFA6E-C964-BB71-3D6D-D966EE46607E}"/>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 xmlns:p14="http://schemas.microsoft.com/office/powerpoint/2010/main" val="18465591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ild mit Überschrif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4E2DC87-27CE-5A07-9629-719DC91DE4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 xmlns:a16="http://schemas.microsoft.com/office/drawing/2014/main" id="{3F65E744-3606-1D16-E7B2-58DAFC3E88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a:extLst>
              <a:ext uri="{FF2B5EF4-FFF2-40B4-BE49-F238E27FC236}">
                <a16:creationId xmlns="" xmlns:a16="http://schemas.microsoft.com/office/drawing/2014/main" id="{EEA9C703-BF20-85AF-358A-01ADED33CF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umsplatzhalter 7">
            <a:extLst>
              <a:ext uri="{FF2B5EF4-FFF2-40B4-BE49-F238E27FC236}">
                <a16:creationId xmlns="" xmlns:a16="http://schemas.microsoft.com/office/drawing/2014/main" id="{0DAC50BC-A24B-779F-0533-7A27D611B159}"/>
              </a:ext>
            </a:extLst>
          </p:cNvPr>
          <p:cNvSpPr>
            <a:spLocks noGrp="1"/>
          </p:cNvSpPr>
          <p:nvPr>
            <p:ph type="dt" sz="half" idx="10"/>
          </p:nvPr>
        </p:nvSpPr>
        <p:spPr/>
        <p:txBody>
          <a:bodyPr/>
          <a:lstStyle/>
          <a:p>
            <a:fld id="{BA35F6B8-BDE3-48FE-8FAC-6B971E4AD3C9}" type="datetime1">
              <a:rPr lang="en-GB" smtClean="0"/>
              <a:pPr/>
              <a:t>16/11/2025</a:t>
            </a:fld>
            <a:endParaRPr lang="en-GB" dirty="0"/>
          </a:p>
        </p:txBody>
      </p:sp>
      <p:sp>
        <p:nvSpPr>
          <p:cNvPr id="9" name="Fußzeilenplatzhalter 8">
            <a:extLst>
              <a:ext uri="{FF2B5EF4-FFF2-40B4-BE49-F238E27FC236}">
                <a16:creationId xmlns="" xmlns:a16="http://schemas.microsoft.com/office/drawing/2014/main" id="{2B06DBDC-0EA1-59AB-DB5D-AEE297E61849}"/>
              </a:ext>
            </a:extLst>
          </p:cNvPr>
          <p:cNvSpPr>
            <a:spLocks noGrp="1"/>
          </p:cNvSpPr>
          <p:nvPr>
            <p:ph type="ftr" sz="quarter" idx="11"/>
          </p:nvPr>
        </p:nvSpPr>
        <p:spPr/>
        <p:txBody>
          <a:bodyPr/>
          <a:lstStyle/>
          <a:p>
            <a:r>
              <a:rPr lang="en-GB" dirty="0"/>
              <a:t>Rotor Hub and Pitch System / Optimus Syria</a:t>
            </a:r>
          </a:p>
        </p:txBody>
      </p:sp>
      <p:sp>
        <p:nvSpPr>
          <p:cNvPr id="10" name="Foliennummernplatzhalter 9">
            <a:extLst>
              <a:ext uri="{FF2B5EF4-FFF2-40B4-BE49-F238E27FC236}">
                <a16:creationId xmlns="" xmlns:a16="http://schemas.microsoft.com/office/drawing/2014/main" id="{3EB43FC5-BB47-1A87-75C6-C0AFB5C7235F}"/>
              </a:ext>
            </a:extLst>
          </p:cNvPr>
          <p:cNvSpPr>
            <a:spLocks noGrp="1"/>
          </p:cNvSpPr>
          <p:nvPr>
            <p:ph type="sldNum" sz="quarter" idx="12"/>
          </p:nvPr>
        </p:nvSpPr>
        <p:spPr/>
        <p:txBody>
          <a:bodyPr/>
          <a:lstStyle/>
          <a:p>
            <a:fld id="{013F6232-4F06-48BA-8F69-BF531F607829}" type="slidenum">
              <a:rPr lang="en-GB" smtClean="0"/>
              <a:pPr/>
              <a:t>‹#›</a:t>
            </a:fld>
            <a:endParaRPr lang="en-GB" dirty="0"/>
          </a:p>
        </p:txBody>
      </p:sp>
      <p:sp>
        <p:nvSpPr>
          <p:cNvPr id="11" name="Textplatzhalter 16">
            <a:extLst>
              <a:ext uri="{FF2B5EF4-FFF2-40B4-BE49-F238E27FC236}">
                <a16:creationId xmlns="" xmlns:a16="http://schemas.microsoft.com/office/drawing/2014/main" id="{680B36F8-3A7C-6F05-A0AB-F3F43BA0922B}"/>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 xmlns:p14="http://schemas.microsoft.com/office/powerpoint/2010/main" val="17126135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el und vertikaler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7F44B09-72C5-4D15-0E4C-46764EB8C8D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 xmlns:a16="http://schemas.microsoft.com/office/drawing/2014/main" id="{91B470E9-1D3C-D5B3-7A54-66BD9009970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umsplatzhalter 6">
            <a:extLst>
              <a:ext uri="{FF2B5EF4-FFF2-40B4-BE49-F238E27FC236}">
                <a16:creationId xmlns="" xmlns:a16="http://schemas.microsoft.com/office/drawing/2014/main" id="{0C34C088-08EA-3896-8F05-16D82C511456}"/>
              </a:ext>
            </a:extLst>
          </p:cNvPr>
          <p:cNvSpPr>
            <a:spLocks noGrp="1"/>
          </p:cNvSpPr>
          <p:nvPr>
            <p:ph type="dt" sz="half" idx="10"/>
          </p:nvPr>
        </p:nvSpPr>
        <p:spPr/>
        <p:txBody>
          <a:bodyPr/>
          <a:lstStyle/>
          <a:p>
            <a:fld id="{BB86C448-1114-4B41-9575-69915FFF7D3A}" type="datetime1">
              <a:rPr lang="en-GB" smtClean="0"/>
              <a:pPr/>
              <a:t>16/11/2025</a:t>
            </a:fld>
            <a:endParaRPr lang="en-GB" dirty="0"/>
          </a:p>
        </p:txBody>
      </p:sp>
      <p:sp>
        <p:nvSpPr>
          <p:cNvPr id="8" name="Fußzeilenplatzhalter 7">
            <a:extLst>
              <a:ext uri="{FF2B5EF4-FFF2-40B4-BE49-F238E27FC236}">
                <a16:creationId xmlns="" xmlns:a16="http://schemas.microsoft.com/office/drawing/2014/main" id="{08EA7E74-7B1F-8648-209E-BFE07FF1E458}"/>
              </a:ext>
            </a:extLst>
          </p:cNvPr>
          <p:cNvSpPr>
            <a:spLocks noGrp="1"/>
          </p:cNvSpPr>
          <p:nvPr>
            <p:ph type="ftr" sz="quarter" idx="11"/>
          </p:nvPr>
        </p:nvSpPr>
        <p:spPr/>
        <p:txBody>
          <a:bodyPr/>
          <a:lstStyle/>
          <a:p>
            <a:r>
              <a:rPr lang="en-GB" dirty="0"/>
              <a:t>Rotor Hub and Pitch System / Optimus Syria</a:t>
            </a:r>
          </a:p>
        </p:txBody>
      </p:sp>
      <p:sp>
        <p:nvSpPr>
          <p:cNvPr id="9" name="Foliennummernplatzhalter 8">
            <a:extLst>
              <a:ext uri="{FF2B5EF4-FFF2-40B4-BE49-F238E27FC236}">
                <a16:creationId xmlns="" xmlns:a16="http://schemas.microsoft.com/office/drawing/2014/main" id="{62B97D1D-1741-1791-CBA3-FA5CA67CA7DB}"/>
              </a:ext>
            </a:extLst>
          </p:cNvPr>
          <p:cNvSpPr>
            <a:spLocks noGrp="1"/>
          </p:cNvSpPr>
          <p:nvPr>
            <p:ph type="sldNum" sz="quarter" idx="12"/>
          </p:nvPr>
        </p:nvSpPr>
        <p:spPr/>
        <p:txBody>
          <a:bodyPr/>
          <a:lstStyle/>
          <a:p>
            <a:fld id="{013F6232-4F06-48BA-8F69-BF531F607829}" type="slidenum">
              <a:rPr lang="en-GB" smtClean="0"/>
              <a:pPr/>
              <a:t>‹#›</a:t>
            </a:fld>
            <a:endParaRPr lang="en-GB" dirty="0"/>
          </a:p>
        </p:txBody>
      </p:sp>
      <p:sp>
        <p:nvSpPr>
          <p:cNvPr id="10" name="Textplatzhalter 16">
            <a:extLst>
              <a:ext uri="{FF2B5EF4-FFF2-40B4-BE49-F238E27FC236}">
                <a16:creationId xmlns="" xmlns:a16="http://schemas.microsoft.com/office/drawing/2014/main" id="{6A2FA29E-F5F4-39E0-E0C6-CACC20E04F15}"/>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 xmlns:p14="http://schemas.microsoft.com/office/powerpoint/2010/main" val="22687113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Vertikaler Titel u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4368A110-A33F-744D-89CB-FFCF49E08A8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 xmlns:a16="http://schemas.microsoft.com/office/drawing/2014/main" id="{BDB6FACB-31E5-361F-D71D-18FCBA5503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umsplatzhalter 6">
            <a:extLst>
              <a:ext uri="{FF2B5EF4-FFF2-40B4-BE49-F238E27FC236}">
                <a16:creationId xmlns="" xmlns:a16="http://schemas.microsoft.com/office/drawing/2014/main" id="{05945ED5-EBD1-3567-F959-B92E831E5149}"/>
              </a:ext>
            </a:extLst>
          </p:cNvPr>
          <p:cNvSpPr>
            <a:spLocks noGrp="1"/>
          </p:cNvSpPr>
          <p:nvPr>
            <p:ph type="dt" sz="half" idx="10"/>
          </p:nvPr>
        </p:nvSpPr>
        <p:spPr/>
        <p:txBody>
          <a:bodyPr/>
          <a:lstStyle/>
          <a:p>
            <a:fld id="{CAFE466E-C482-4DFC-904C-F03FDB47E2F3}" type="datetime1">
              <a:rPr lang="en-GB" smtClean="0"/>
              <a:pPr/>
              <a:t>16/11/2025</a:t>
            </a:fld>
            <a:endParaRPr lang="en-GB" dirty="0"/>
          </a:p>
        </p:txBody>
      </p:sp>
      <p:sp>
        <p:nvSpPr>
          <p:cNvPr id="8" name="Fußzeilenplatzhalter 7">
            <a:extLst>
              <a:ext uri="{FF2B5EF4-FFF2-40B4-BE49-F238E27FC236}">
                <a16:creationId xmlns="" xmlns:a16="http://schemas.microsoft.com/office/drawing/2014/main" id="{CBB6A4D0-1BA6-C02F-BE18-391B96E98DE3}"/>
              </a:ext>
            </a:extLst>
          </p:cNvPr>
          <p:cNvSpPr>
            <a:spLocks noGrp="1"/>
          </p:cNvSpPr>
          <p:nvPr>
            <p:ph type="ftr" sz="quarter" idx="11"/>
          </p:nvPr>
        </p:nvSpPr>
        <p:spPr/>
        <p:txBody>
          <a:bodyPr/>
          <a:lstStyle/>
          <a:p>
            <a:r>
              <a:rPr lang="en-GB" dirty="0"/>
              <a:t>Rotor Hub and Pitch System / Optimus Syria</a:t>
            </a:r>
          </a:p>
        </p:txBody>
      </p:sp>
      <p:sp>
        <p:nvSpPr>
          <p:cNvPr id="9" name="Foliennummernplatzhalter 8">
            <a:extLst>
              <a:ext uri="{FF2B5EF4-FFF2-40B4-BE49-F238E27FC236}">
                <a16:creationId xmlns="" xmlns:a16="http://schemas.microsoft.com/office/drawing/2014/main" id="{9412E4BF-484F-C87E-8228-534B62A6BCEA}"/>
              </a:ext>
            </a:extLst>
          </p:cNvPr>
          <p:cNvSpPr>
            <a:spLocks noGrp="1"/>
          </p:cNvSpPr>
          <p:nvPr>
            <p:ph type="sldNum" sz="quarter" idx="12"/>
          </p:nvPr>
        </p:nvSpPr>
        <p:spPr/>
        <p:txBody>
          <a:bodyPr/>
          <a:lstStyle/>
          <a:p>
            <a:fld id="{013F6232-4F06-48BA-8F69-BF531F607829}" type="slidenum">
              <a:rPr lang="en-GB" smtClean="0"/>
              <a:pPr/>
              <a:t>‹#›</a:t>
            </a:fld>
            <a:endParaRPr lang="en-GB" dirty="0"/>
          </a:p>
        </p:txBody>
      </p:sp>
      <p:sp>
        <p:nvSpPr>
          <p:cNvPr id="10" name="Textplatzhalter 16">
            <a:extLst>
              <a:ext uri="{FF2B5EF4-FFF2-40B4-BE49-F238E27FC236}">
                <a16:creationId xmlns="" xmlns:a16="http://schemas.microsoft.com/office/drawing/2014/main" id="{A24C13F3-9C79-1E9F-ED48-61D2AD9586E3}"/>
              </a:ext>
            </a:extLst>
          </p:cNvPr>
          <p:cNvSpPr>
            <a:spLocks noGrp="1"/>
          </p:cNvSpPr>
          <p:nvPr>
            <p:ph type="body" sz="quarter" idx="18" hasCustomPrompt="1"/>
          </p:nvPr>
        </p:nvSpPr>
        <p:spPr>
          <a:xfrm>
            <a:off x="2878527" y="6564113"/>
            <a:ext cx="5596085" cy="365125"/>
          </a:xfrm>
        </p:spPr>
        <p:txBody>
          <a:bodyPr anchor="ctr"/>
          <a:lstStyle>
            <a:lvl1pPr marL="0" indent="0" algn="ctr">
              <a:buNone/>
              <a:defRPr lang="de-DE" sz="1200" kern="1200" dirty="0" smtClean="0">
                <a:solidFill>
                  <a:schemeClr val="bg1"/>
                </a:solidFill>
                <a:latin typeface="+mn-lt"/>
                <a:ea typeface="+mn-ea"/>
                <a:cs typeface="+mn-cs"/>
              </a:defRPr>
            </a:lvl1pPr>
          </a:lstStyle>
          <a:p>
            <a:pPr lvl="0"/>
            <a:r>
              <a:rPr lang="de-DE" dirty="0"/>
              <a:t>Group </a:t>
            </a:r>
            <a:r>
              <a:rPr lang="de-DE" dirty="0" err="1"/>
              <a:t>members</a:t>
            </a:r>
            <a:r>
              <a:rPr lang="de-DE" dirty="0"/>
              <a:t>…</a:t>
            </a:r>
          </a:p>
        </p:txBody>
      </p:sp>
    </p:spTree>
    <p:extLst>
      <p:ext uri="{BB962C8B-B14F-4D97-AF65-F5344CB8AC3E}">
        <p14:creationId xmlns="" xmlns:p14="http://schemas.microsoft.com/office/powerpoint/2010/main" val="10701898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9196580-01E6-4EFE-836F-AA1E171E6E67}" type="datetimeFigureOut">
              <a:rPr lang="en-US" smtClean="0"/>
              <a:pPr/>
              <a:t>16-Nov-25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7B9B0-7DA0-449E-A7EC-01D9B7BD21C2}" type="slidenum">
              <a:rPr lang="en-US" smtClean="0"/>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9196580-01E6-4EFE-836F-AA1E171E6E67}" type="datetimeFigureOut">
              <a:rPr lang="en-US" smtClean="0"/>
              <a:pPr/>
              <a:t>16-Nov-25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7B9B0-7DA0-449E-A7EC-01D9B7BD21C2}" type="slidenum">
              <a:rPr lang="en-US" smtClean="0"/>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613" y="4406900"/>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613"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196580-01E6-4EFE-836F-AA1E171E6E67}" type="datetimeFigureOut">
              <a:rPr lang="en-US" smtClean="0"/>
              <a:pPr/>
              <a:t>16-Nov-25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7B9B0-7DA0-449E-A7EC-01D9B7BD21C2}" type="slidenum">
              <a:rPr lang="en-US" smtClean="0"/>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4102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600200"/>
            <a:ext cx="54102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9196580-01E6-4EFE-836F-AA1E171E6E67}" type="datetimeFigureOut">
              <a:rPr lang="en-US" smtClean="0"/>
              <a:pPr/>
              <a:t>16-Nov-25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57B9B0-7DA0-449E-A7EC-01D9B7BD21C2}" type="slidenum">
              <a:rPr lang="en-US" smtClean="0"/>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9196580-01E6-4EFE-836F-AA1E171E6E67}" type="datetimeFigureOut">
              <a:rPr lang="en-US" smtClean="0"/>
              <a:pPr/>
              <a:t>16-Nov-25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957B9B0-7DA0-449E-A7EC-01D9B7BD21C2}" type="slidenum">
              <a:rPr lang="en-US" smtClean="0"/>
              <a:pPr/>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9196580-01E6-4EFE-836F-AA1E171E6E67}" type="datetimeFigureOut">
              <a:rPr lang="en-US" smtClean="0"/>
              <a:pPr/>
              <a:t>16-Nov-25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957B9B0-7DA0-449E-A7EC-01D9B7BD21C2}" type="slidenum">
              <a:rPr lang="en-US" smtClean="0"/>
              <a:pPr/>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196580-01E6-4EFE-836F-AA1E171E6E67}" type="datetimeFigureOut">
              <a:rPr lang="en-US" smtClean="0"/>
              <a:pPr/>
              <a:t>16-Nov-25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957B9B0-7DA0-449E-A7EC-01D9B7BD21C2}" type="slidenum">
              <a:rPr lang="en-US" smtClean="0"/>
              <a:pPr/>
              <a:t>‹#›</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6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196580-01E6-4EFE-836F-AA1E171E6E67}" type="datetimeFigureOut">
              <a:rPr lang="en-US" smtClean="0"/>
              <a:pPr/>
              <a:t>16-Nov-25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57B9B0-7DA0-449E-A7EC-01D9B7BD21C2}" type="slidenum">
              <a:rPr lang="en-US" smtClean="0"/>
              <a:pPr/>
              <a:t>‹#›</a:t>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188"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196580-01E6-4EFE-836F-AA1E171E6E67}" type="datetimeFigureOut">
              <a:rPr lang="en-US" smtClean="0"/>
              <a:pPr/>
              <a:t>16-Nov-25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957B9B0-7DA0-449E-A7EC-01D9B7BD21C2}" type="slidenum">
              <a:rPr lang="en-US" smtClean="0"/>
              <a:pPr/>
              <a:t>‹#›</a:t>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9196580-01E6-4EFE-836F-AA1E171E6E67}" type="datetimeFigureOut">
              <a:rPr lang="en-US" smtClean="0"/>
              <a:pPr/>
              <a:t>16-Nov-25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7B9B0-7DA0-449E-A7EC-01D9B7BD21C2}" type="slidenum">
              <a:rPr lang="en-US" smtClean="0"/>
              <a:pPr/>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8"/>
            <a:ext cx="80772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9196580-01E6-4EFE-836F-AA1E171E6E67}" type="datetimeFigureOut">
              <a:rPr lang="en-US" smtClean="0"/>
              <a:pPr/>
              <a:t>16-Nov-25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957B9B0-7DA0-449E-A7EC-01D9B7BD21C2}" type="slidenum">
              <a:rPr lang="en-US" smtClean="0"/>
              <a:pPr/>
              <a:t>‹#›</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el slide 1">
    <p:bg>
      <p:bgPr>
        <a:blipFill dpi="0" rotWithShape="1">
          <a:blip r:embed="rId2">
            <a:lum/>
          </a:blip>
          <a:srcRect/>
          <a:stretch>
            <a:fillRect l="-10000" r="-10000"/>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 xmlns:a16="http://schemas.microsoft.com/office/drawing/2014/main" id="{A7E6E28C-7B17-1432-D698-5D8867EE337B}"/>
              </a:ext>
            </a:extLst>
          </p:cNvPr>
          <p:cNvSpPr txBox="1">
            <a:spLocks/>
          </p:cNvSpPr>
          <p:nvPr userDrawn="1"/>
        </p:nvSpPr>
        <p:spPr>
          <a:xfrm>
            <a:off x="1412841" y="2281143"/>
            <a:ext cx="9144000" cy="912598"/>
          </a:xfrm>
          <a:prstGeom prst="rect">
            <a:avLst/>
          </a:prstGeom>
        </p:spPr>
        <p:txBody>
          <a:bodyPr vert="horz" lIns="91440" tIns="45720" rIns="91440" bIns="45720" rtlCol="0" anchor="b">
            <a:noAutofit/>
            <a:scene3d>
              <a:camera prst="orthographicFront"/>
              <a:lightRig rig="harsh" dir="t"/>
            </a:scene3d>
            <a:sp3d extrusionH="57150" prstMaterial="matte">
              <a:bevelT w="63500" h="12700" prst="angle"/>
              <a:contourClr>
                <a:schemeClr val="bg1">
                  <a:lumMod val="65000"/>
                </a:schemeClr>
              </a:contourClr>
            </a:sp3d>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it-IT" sz="6600" b="1" i="0" u="none" strike="noStrike" kern="1200" cap="none" spc="0" normalizeH="0" baseline="0" noProof="0">
                <a:ln/>
                <a:solidFill>
                  <a:srgbClr val="156082"/>
                </a:solidFill>
                <a:effectLst/>
                <a:uLnTx/>
                <a:uFillTx/>
                <a:latin typeface="Times New Roman" panose="02020603050405020304" pitchFamily="18" charset="0"/>
                <a:ea typeface="+mj-ea"/>
                <a:cs typeface="Times New Roman" panose="02020603050405020304" pitchFamily="18" charset="0"/>
              </a:rPr>
              <a:t>Optimus Syria</a:t>
            </a:r>
            <a:endParaRPr kumimoji="0" lang="en-GB" sz="6600" b="1" i="0" u="none" strike="noStrike" kern="1200" cap="none" spc="0" normalizeH="0" baseline="0" noProof="0" dirty="0">
              <a:ln/>
              <a:solidFill>
                <a:srgbClr val="156082"/>
              </a:solidFill>
              <a:effectLst/>
              <a:uLnTx/>
              <a:uFillTx/>
              <a:latin typeface="Times New Roman" panose="02020603050405020304" pitchFamily="18" charset="0"/>
              <a:ea typeface="+mj-ea"/>
              <a:cs typeface="Times New Roman" panose="02020603050405020304" pitchFamily="18" charset="0"/>
            </a:endParaRPr>
          </a:p>
        </p:txBody>
      </p:sp>
      <p:pic>
        <p:nvPicPr>
          <p:cNvPr id="9" name="Picture 8" descr="Hochschule Flensburg (Fachhochschule) – Wikipedia">
            <a:extLst>
              <a:ext uri="{FF2B5EF4-FFF2-40B4-BE49-F238E27FC236}">
                <a16:creationId xmlns="" xmlns:a16="http://schemas.microsoft.com/office/drawing/2014/main" id="{A98E8D30-71DB-C779-1E77-2B8D1F324635}"/>
              </a:ext>
            </a:extLst>
          </p:cNvPr>
          <p:cNvPicPr>
            <a:picLocks noChangeAspect="1" noChangeArrowheads="1"/>
          </p:cNvPicPr>
          <p:nvPr userDrawn="1"/>
        </p:nvPicPr>
        <p:blipFill>
          <a:blip r:embed="rId3" cstate="print">
            <a:extLst>
              <a:ext uri="{28A0092B-C50C-407E-A947-70E740481C1C}">
                <a14:useLocalDpi xmlns="" xmlns:a14="http://schemas.microsoft.com/office/drawing/2010/main" val="0"/>
              </a:ext>
            </a:extLst>
          </a:blip>
          <a:stretch>
            <a:fillRect/>
          </a:stretch>
        </p:blipFill>
        <p:spPr bwMode="auto">
          <a:xfrm>
            <a:off x="3577870" y="80932"/>
            <a:ext cx="2518129" cy="1672124"/>
          </a:xfrm>
          <a:custGeom>
            <a:avLst/>
            <a:gdLst/>
            <a:ahLst/>
            <a:cxnLst/>
            <a:rect l="l" t="t" r="r" b="b"/>
            <a:pathLst>
              <a:path w="2028107" h="1916009">
                <a:moveTo>
                  <a:pt x="35370" y="0"/>
                </a:moveTo>
                <a:lnTo>
                  <a:pt x="1992737" y="0"/>
                </a:lnTo>
                <a:cubicBezTo>
                  <a:pt x="2012271" y="0"/>
                  <a:pt x="2028107" y="15836"/>
                  <a:pt x="2028107" y="35370"/>
                </a:cubicBezTo>
                <a:lnTo>
                  <a:pt x="2028107" y="1880639"/>
                </a:lnTo>
                <a:cubicBezTo>
                  <a:pt x="2028107" y="1900173"/>
                  <a:pt x="2012271" y="1916009"/>
                  <a:pt x="1992737" y="1916009"/>
                </a:cubicBezTo>
                <a:lnTo>
                  <a:pt x="35370" y="1916009"/>
                </a:lnTo>
                <a:cubicBezTo>
                  <a:pt x="15836" y="1916009"/>
                  <a:pt x="0" y="1900173"/>
                  <a:pt x="0" y="1880639"/>
                </a:cubicBezTo>
                <a:lnTo>
                  <a:pt x="0" y="35370"/>
                </a:lnTo>
                <a:cubicBezTo>
                  <a:pt x="0" y="15836"/>
                  <a:pt x="15836" y="0"/>
                  <a:pt x="35370" y="0"/>
                </a:cubicBezTo>
                <a:close/>
              </a:path>
            </a:pathLst>
          </a:custGeom>
          <a:noFill/>
          <a:extLst>
            <a:ext uri="{909E8E84-426E-40DD-AFC4-6F175D3DCCD1}">
              <a14:hiddenFill xmlns="" xmlns:a14="http://schemas.microsoft.com/office/drawing/2010/main">
                <a:solidFill>
                  <a:srgbClr val="FFFFFF"/>
                </a:solidFill>
              </a14:hiddenFill>
            </a:ext>
          </a:extLst>
        </p:spPr>
      </p:pic>
      <p:pic>
        <p:nvPicPr>
          <p:cNvPr id="10" name="Picture 14" descr="A black background with blue text&#10;&#10;AI-generated content may be incorrect.">
            <a:extLst>
              <a:ext uri="{FF2B5EF4-FFF2-40B4-BE49-F238E27FC236}">
                <a16:creationId xmlns="" xmlns:a16="http://schemas.microsoft.com/office/drawing/2014/main" id="{7FC9E882-BB5D-1CC3-9AD4-1ADE555B8393}"/>
              </a:ext>
            </a:extLst>
          </p:cNvPr>
          <p:cNvPicPr>
            <a:picLocks noChangeAspect="1" noChangeArrowheads="1"/>
          </p:cNvPicPr>
          <p:nvPr userDrawn="1"/>
        </p:nvPicPr>
        <p:blipFill>
          <a:blip r:embed="rId4" cstate="print">
            <a:extLst>
              <a:ext uri="{28A0092B-C50C-407E-A947-70E740481C1C}">
                <a14:useLocalDpi xmlns="" xmlns:a14="http://schemas.microsoft.com/office/drawing/2010/main" val="0"/>
              </a:ext>
            </a:extLst>
          </a:blip>
          <a:stretch>
            <a:fillRect/>
          </a:stretch>
        </p:blipFill>
        <p:spPr bwMode="auto">
          <a:xfrm>
            <a:off x="6095999" y="330186"/>
            <a:ext cx="3586922" cy="1040207"/>
          </a:xfrm>
          <a:custGeom>
            <a:avLst/>
            <a:gdLst/>
            <a:ahLst/>
            <a:cxnLst/>
            <a:rect l="l" t="t" r="r" b="b"/>
            <a:pathLst>
              <a:path w="2028107" h="1916009">
                <a:moveTo>
                  <a:pt x="35370" y="0"/>
                </a:moveTo>
                <a:lnTo>
                  <a:pt x="1992737" y="0"/>
                </a:lnTo>
                <a:cubicBezTo>
                  <a:pt x="2012271" y="0"/>
                  <a:pt x="2028107" y="15836"/>
                  <a:pt x="2028107" y="35370"/>
                </a:cubicBezTo>
                <a:lnTo>
                  <a:pt x="2028107" y="1880639"/>
                </a:lnTo>
                <a:cubicBezTo>
                  <a:pt x="2028107" y="1900173"/>
                  <a:pt x="2012271" y="1916009"/>
                  <a:pt x="1992737" y="1916009"/>
                </a:cubicBezTo>
                <a:lnTo>
                  <a:pt x="35370" y="1916009"/>
                </a:lnTo>
                <a:cubicBezTo>
                  <a:pt x="15836" y="1916009"/>
                  <a:pt x="0" y="1900173"/>
                  <a:pt x="0" y="1880639"/>
                </a:cubicBezTo>
                <a:lnTo>
                  <a:pt x="0" y="35370"/>
                </a:lnTo>
                <a:cubicBezTo>
                  <a:pt x="0" y="15836"/>
                  <a:pt x="15836" y="0"/>
                  <a:pt x="35370" y="0"/>
                </a:cubicBezTo>
                <a:close/>
              </a:path>
            </a:pathLst>
          </a:custGeom>
          <a:noFill/>
          <a:extLst>
            <a:ext uri="{909E8E84-426E-40DD-AFC4-6F175D3DCCD1}">
              <a14:hiddenFill xmlns="" xmlns:a14="http://schemas.microsoft.com/office/drawing/2010/main">
                <a:solidFill>
                  <a:srgbClr val="FFFFFF"/>
                </a:solidFill>
              </a14:hiddenFill>
            </a:ext>
          </a:extLst>
        </p:spPr>
      </p:pic>
      <p:pic>
        <p:nvPicPr>
          <p:cNvPr id="11" name="Grafik 10">
            <a:extLst>
              <a:ext uri="{FF2B5EF4-FFF2-40B4-BE49-F238E27FC236}">
                <a16:creationId xmlns="" xmlns:a16="http://schemas.microsoft.com/office/drawing/2014/main" id="{3EFF5A11-92DF-BC35-55CA-EECA202C55B3}"/>
              </a:ext>
            </a:extLst>
          </p:cNvPr>
          <p:cNvPicPr>
            <a:picLocks noChangeAspect="1"/>
          </p:cNvPicPr>
          <p:nvPr userDrawn="1"/>
        </p:nvPicPr>
        <p:blipFill>
          <a:blip r:embed="rId5"/>
          <a:srcRect l="4671"/>
          <a:stretch/>
        </p:blipFill>
        <p:spPr>
          <a:xfrm>
            <a:off x="135741" y="211147"/>
            <a:ext cx="3179298" cy="1541909"/>
          </a:xfrm>
          <a:prstGeom prst="rect">
            <a:avLst/>
          </a:prstGeom>
          <a:ln>
            <a:noFill/>
          </a:ln>
          <a:effectLst>
            <a:softEdge rad="112500"/>
          </a:effectLst>
        </p:spPr>
      </p:pic>
      <p:pic>
        <p:nvPicPr>
          <p:cNvPr id="12" name="Picture 6">
            <a:extLst>
              <a:ext uri="{FF2B5EF4-FFF2-40B4-BE49-F238E27FC236}">
                <a16:creationId xmlns="" xmlns:a16="http://schemas.microsoft.com/office/drawing/2014/main" id="{D0057AC6-E958-18E0-BF43-7A806C66C909}"/>
              </a:ext>
            </a:extLst>
          </p:cNvPr>
          <p:cNvPicPr>
            <a:picLocks noChangeAspect="1"/>
          </p:cNvPicPr>
          <p:nvPr userDrawn="1"/>
        </p:nvPicPr>
        <p:blipFill>
          <a:blip r:embed="rId6">
            <a:extLst>
              <a:ext uri="{28A0092B-C50C-407E-A947-70E740481C1C}">
                <a14:useLocalDpi xmlns="" xmlns:a14="http://schemas.microsoft.com/office/drawing/2010/main" val="0"/>
              </a:ext>
            </a:extLst>
          </a:blip>
          <a:stretch>
            <a:fillRect/>
          </a:stretch>
        </p:blipFill>
        <p:spPr>
          <a:xfrm>
            <a:off x="9642029" y="191498"/>
            <a:ext cx="2355285" cy="2150053"/>
          </a:xfrm>
          <a:prstGeom prst="rect">
            <a:avLst/>
          </a:prstGeom>
          <a:ln>
            <a:noFill/>
          </a:ln>
          <a:effectLst>
            <a:softEdge rad="112500"/>
          </a:effectLst>
        </p:spPr>
      </p:pic>
      <p:sp>
        <p:nvSpPr>
          <p:cNvPr id="18" name="Free-form: Shape 13">
            <a:extLst>
              <a:ext uri="{FF2B5EF4-FFF2-40B4-BE49-F238E27FC236}">
                <a16:creationId xmlns="" xmlns:a16="http://schemas.microsoft.com/office/drawing/2014/main" id="{233C0D9D-B26B-1DCE-8493-626ABDD067F7}"/>
              </a:ext>
            </a:extLst>
          </p:cNvPr>
          <p:cNvSpPr/>
          <p:nvPr userDrawn="1"/>
        </p:nvSpPr>
        <p:spPr>
          <a:xfrm>
            <a:off x="-7749" y="5526425"/>
            <a:ext cx="12218376" cy="72825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rgbClr val="0F9ED5">
                  <a:lumMod val="40000"/>
                  <a:lumOff val="60000"/>
                </a:srgbClr>
              </a:gs>
              <a:gs pos="100000">
                <a:sysClr val="window" lastClr="FFFFFF"/>
              </a:gs>
            </a:gsLst>
            <a:lin ang="5400000" scaled="1"/>
          </a:gradFill>
          <a:ln w="19050" cap="flat" cmpd="sng" algn="ctr">
            <a:solidFill>
              <a:sysClr val="window" lastClr="FFFFFF"/>
            </a:solidFill>
            <a:prstDash val="solid"/>
            <a:miter lim="800000"/>
          </a:ln>
          <a:effectLst>
            <a:glow>
              <a:srgbClr val="FFFF00"/>
            </a:glow>
            <a:outerShdw algn="ctr" rotWithShape="0">
              <a:sysClr val="windowText" lastClr="000000"/>
            </a:outerShdw>
          </a:effectLst>
          <a:scene3d>
            <a:camera prst="orthographicFront"/>
            <a:lightRig rig="threePt" dir="t"/>
          </a:scene3d>
          <a:sp3d>
            <a:bevelT w="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9" name="Free-form: Shape 13">
            <a:extLst>
              <a:ext uri="{FF2B5EF4-FFF2-40B4-BE49-F238E27FC236}">
                <a16:creationId xmlns="" xmlns:a16="http://schemas.microsoft.com/office/drawing/2014/main" id="{95CC7C89-8F0E-07BF-6D89-44A0358FDFC8}"/>
              </a:ext>
            </a:extLst>
          </p:cNvPr>
          <p:cNvSpPr/>
          <p:nvPr userDrawn="1"/>
        </p:nvSpPr>
        <p:spPr>
          <a:xfrm>
            <a:off x="0" y="5838824"/>
            <a:ext cx="12192000" cy="675673"/>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rgbClr val="156082">
                  <a:lumMod val="5000"/>
                  <a:lumOff val="95000"/>
                </a:srgbClr>
              </a:gs>
              <a:gs pos="74000">
                <a:srgbClr val="156082">
                  <a:lumMod val="45000"/>
                  <a:lumOff val="55000"/>
                </a:srgbClr>
              </a:gs>
              <a:gs pos="83000">
                <a:srgbClr val="156082">
                  <a:lumMod val="45000"/>
                  <a:lumOff val="55000"/>
                </a:srgbClr>
              </a:gs>
              <a:gs pos="100000">
                <a:srgbClr val="156082">
                  <a:lumMod val="30000"/>
                  <a:lumOff val="70000"/>
                </a:srgbClr>
              </a:gs>
            </a:gsLst>
            <a:lin ang="5400000" scaled="1"/>
          </a:gradFill>
          <a:ln w="19050" cap="flat" cmpd="sng" algn="ctr">
            <a:noFill/>
            <a:prstDash val="solid"/>
            <a:miter lim="800000"/>
          </a:ln>
          <a:effectLst>
            <a:glow>
              <a:srgbClr val="FFFF00"/>
            </a:glow>
            <a:outerShdw algn="ctr" rotWithShape="0">
              <a:sysClr val="windowText" lastClr="000000"/>
            </a:outerShdw>
          </a:effectLst>
          <a:scene3d>
            <a:camera prst="orthographicFront"/>
            <a:lightRig rig="threePt" dir="t"/>
          </a:scene3d>
          <a:sp3d>
            <a:bevelT w="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0" name="Free-form: Shape 13">
            <a:extLst>
              <a:ext uri="{FF2B5EF4-FFF2-40B4-BE49-F238E27FC236}">
                <a16:creationId xmlns="" xmlns:a16="http://schemas.microsoft.com/office/drawing/2014/main" id="{4FB94905-8FF2-701D-A980-9368DF7EB04F}"/>
              </a:ext>
            </a:extLst>
          </p:cNvPr>
          <p:cNvSpPr/>
          <p:nvPr userDrawn="1"/>
        </p:nvSpPr>
        <p:spPr>
          <a:xfrm>
            <a:off x="-7346" y="5928072"/>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rgbClr val="0F9ED5">
                  <a:lumMod val="20000"/>
                  <a:lumOff val="80000"/>
                </a:srgbClr>
              </a:gs>
              <a:gs pos="50000">
                <a:sysClr val="window" lastClr="FFFFFF"/>
              </a:gs>
              <a:gs pos="100000">
                <a:srgbClr val="0F9ED5">
                  <a:lumMod val="20000"/>
                  <a:lumOff val="80000"/>
                </a:srgbClr>
              </a:gs>
            </a:gsLst>
            <a:lin ang="0" scaled="1"/>
            <a:tileRect/>
          </a:gradFill>
          <a:ln w="15875" cap="flat" cmpd="sng" algn="ctr">
            <a:solidFill>
              <a:srgbClr val="156082">
                <a:alpha val="0"/>
              </a:srgbClr>
            </a:solidFill>
            <a:prstDash val="solid"/>
            <a:miter lim="800000"/>
          </a:ln>
          <a:effectLst>
            <a:glow>
              <a:srgbClr val="FFFF00"/>
            </a:glow>
            <a:outerShdw algn="ctr" rotWithShape="0">
              <a:sysClr val="windowText" lastClr="000000"/>
            </a:outerShdw>
          </a:effectLst>
          <a:scene3d>
            <a:camera prst="orthographicFront"/>
            <a:lightRig rig="threePt" dir="t"/>
          </a:scene3d>
          <a:sp3d>
            <a:bevelT w="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14" name="Textplatzhalter 13">
            <a:extLst>
              <a:ext uri="{FF2B5EF4-FFF2-40B4-BE49-F238E27FC236}">
                <a16:creationId xmlns="" xmlns:a16="http://schemas.microsoft.com/office/drawing/2014/main" id="{62B0D505-239D-592F-D28C-2537FD6A646E}"/>
              </a:ext>
            </a:extLst>
          </p:cNvPr>
          <p:cNvSpPr>
            <a:spLocks noGrp="1"/>
          </p:cNvSpPr>
          <p:nvPr>
            <p:ph type="body" sz="quarter" idx="13" hasCustomPrompt="1"/>
          </p:nvPr>
        </p:nvSpPr>
        <p:spPr>
          <a:xfrm>
            <a:off x="4192399" y="4130862"/>
            <a:ext cx="3822700" cy="1646695"/>
          </a:xfrm>
        </p:spPr>
        <p:txBody>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it-IT" sz="1800" b="0" i="0" u="none" strike="noStrike" kern="1200" cap="none" spc="0" normalizeH="0" baseline="0" noProof="0" dirty="0">
                <a:ln>
                  <a:noFill/>
                </a:ln>
                <a:solidFill>
                  <a:srgbClr val="0E2841">
                    <a:lumMod val="90000"/>
                    <a:lumOff val="10000"/>
                  </a:srgbClr>
                </a:solidFill>
                <a:effectLst/>
                <a:uLnTx/>
                <a:uFillTx/>
                <a:latin typeface="Times New Roman" panose="02020603050405020304" pitchFamily="18" charset="0"/>
                <a:ea typeface="+mn-ea"/>
                <a:cs typeface="Times New Roman" panose="02020603050405020304" pitchFamily="18" charset="0"/>
              </a:rPr>
              <a:t>1st Week Kick Off Presentation</a:t>
            </a: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it-IT" sz="1800" b="0" i="0" u="none" strike="noStrike" kern="1200" cap="none" spc="0" normalizeH="0" baseline="0" noProof="0" dirty="0">
                <a:ln>
                  <a:noFill/>
                </a:ln>
                <a:solidFill>
                  <a:srgbClr val="0E2841">
                    <a:lumMod val="90000"/>
                    <a:lumOff val="10000"/>
                  </a:srgbClr>
                </a:solidFill>
                <a:effectLst/>
                <a:uLnTx/>
                <a:uFillTx/>
                <a:latin typeface="Times New Roman" panose="02020603050405020304" pitchFamily="18" charset="0"/>
                <a:ea typeface="+mn-ea"/>
                <a:cs typeface="Times New Roman" panose="02020603050405020304" pitchFamily="18" charset="0"/>
              </a:rPr>
              <a:t>Date: </a:t>
            </a:r>
            <a:r>
              <a:rPr kumimoji="0" lang="it-IT" sz="1800" b="0" i="0" u="none" strike="noStrike" kern="1200" cap="none" spc="0" normalizeH="0" baseline="0" noProof="0" dirty="0" err="1">
                <a:ln>
                  <a:noFill/>
                </a:ln>
                <a:solidFill>
                  <a:srgbClr val="0E2841">
                    <a:lumMod val="90000"/>
                    <a:lumOff val="10000"/>
                  </a:srgbClr>
                </a:solidFill>
                <a:effectLst/>
                <a:uLnTx/>
                <a:uFillTx/>
                <a:latin typeface="Times New Roman" panose="02020603050405020304" pitchFamily="18" charset="0"/>
                <a:ea typeface="+mn-ea"/>
                <a:cs typeface="Times New Roman" panose="02020603050405020304" pitchFamily="18" charset="0"/>
              </a:rPr>
              <a:t>th</a:t>
            </a:r>
            <a:r>
              <a:rPr kumimoji="0" lang="it-IT" sz="1800" b="0" i="0" u="none" strike="noStrike" kern="1200" cap="none" spc="0" normalizeH="0" baseline="0" noProof="0" dirty="0">
                <a:ln>
                  <a:noFill/>
                </a:ln>
                <a:solidFill>
                  <a:srgbClr val="0E2841">
                    <a:lumMod val="90000"/>
                    <a:lumOff val="10000"/>
                  </a:srgbClr>
                </a:solidFill>
                <a:effectLst/>
                <a:uLnTx/>
                <a:uFillTx/>
                <a:latin typeface="Times New Roman" panose="02020603050405020304" pitchFamily="18" charset="0"/>
                <a:ea typeface="+mn-ea"/>
                <a:cs typeface="Times New Roman" panose="02020603050405020304" pitchFamily="18" charset="0"/>
              </a:rPr>
              <a:t>  202X</a:t>
            </a:r>
          </a:p>
          <a:p>
            <a:pPr lvl="4"/>
            <a:endParaRPr lang="de-DE" dirty="0"/>
          </a:p>
        </p:txBody>
      </p:sp>
      <p:sp>
        <p:nvSpPr>
          <p:cNvPr id="15" name="Rechteck 14">
            <a:extLst>
              <a:ext uri="{FF2B5EF4-FFF2-40B4-BE49-F238E27FC236}">
                <a16:creationId xmlns="" xmlns:a16="http://schemas.microsoft.com/office/drawing/2014/main" id="{64AB9256-03E9-9046-0C0F-540CE5905E92}"/>
              </a:ext>
            </a:extLst>
          </p:cNvPr>
          <p:cNvSpPr/>
          <p:nvPr userDrawn="1"/>
        </p:nvSpPr>
        <p:spPr>
          <a:xfrm>
            <a:off x="-4172" y="6542492"/>
            <a:ext cx="12207494" cy="365126"/>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 name="Picture 18" descr="A white windmill with clouds in the background&#10;&#10;AI-generated content may be incorrect.">
            <a:extLst>
              <a:ext uri="{FF2B5EF4-FFF2-40B4-BE49-F238E27FC236}">
                <a16:creationId xmlns="" xmlns:a16="http://schemas.microsoft.com/office/drawing/2014/main" id="{9BDED722-8EE5-8B7F-02CA-CF3939A785CF}"/>
              </a:ext>
            </a:extLst>
          </p:cNvPr>
          <p:cNvPicPr>
            <a:picLocks noChangeAspect="1"/>
          </p:cNvPicPr>
          <p:nvPr userDrawn="1"/>
        </p:nvPicPr>
        <p:blipFill>
          <a:blip r:embed="rId7" cstate="print">
            <a:extLst>
              <a:ext uri="{28A0092B-C50C-407E-A947-70E740481C1C}">
                <a14:useLocalDpi xmlns="" xmlns:a14="http://schemas.microsoft.com/office/drawing/2010/main" val="0"/>
              </a:ext>
            </a:extLst>
          </a:blip>
          <a:stretch>
            <a:fillRect/>
          </a:stretch>
        </p:blipFill>
        <p:spPr>
          <a:xfrm>
            <a:off x="9679950" y="5430021"/>
            <a:ext cx="1753782" cy="1313633"/>
          </a:xfrm>
          <a:prstGeom prst="rect">
            <a:avLst/>
          </a:prstGeom>
        </p:spPr>
      </p:pic>
    </p:spTree>
    <p:extLst>
      <p:ext uri="{BB962C8B-B14F-4D97-AF65-F5344CB8AC3E}">
        <p14:creationId xmlns="" xmlns:p14="http://schemas.microsoft.com/office/powerpoint/2010/main" val="155435806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Group starting slide (Explanation)">
    <p:spTree>
      <p:nvGrpSpPr>
        <p:cNvPr id="1" name=""/>
        <p:cNvGrpSpPr/>
        <p:nvPr/>
      </p:nvGrpSpPr>
      <p:grpSpPr>
        <a:xfrm>
          <a:off x="0" y="0"/>
          <a:ext cx="0" cy="0"/>
          <a:chOff x="0" y="0"/>
          <a:chExt cx="0" cy="0"/>
        </a:xfrm>
      </p:grpSpPr>
      <p:sp>
        <p:nvSpPr>
          <p:cNvPr id="23" name="Free-form: Shape 13">
            <a:extLst>
              <a:ext uri="{FF2B5EF4-FFF2-40B4-BE49-F238E27FC236}">
                <a16:creationId xmlns="" xmlns:a16="http://schemas.microsoft.com/office/drawing/2014/main" id="{006CCD24-9C06-8926-5E3D-FFE059D5F3D2}"/>
              </a:ext>
            </a:extLst>
          </p:cNvPr>
          <p:cNvSpPr/>
          <p:nvPr userDrawn="1"/>
        </p:nvSpPr>
        <p:spPr>
          <a:xfrm>
            <a:off x="-7749" y="5526425"/>
            <a:ext cx="12218376" cy="72825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rgbClr val="0F9ED5">
                  <a:lumMod val="40000"/>
                  <a:lumOff val="60000"/>
                </a:srgbClr>
              </a:gs>
              <a:gs pos="100000">
                <a:sysClr val="window" lastClr="FFFFFF"/>
              </a:gs>
            </a:gsLst>
            <a:lin ang="5400000" scaled="1"/>
          </a:gradFill>
          <a:ln w="19050" cap="flat" cmpd="sng" algn="ctr">
            <a:solidFill>
              <a:sysClr val="window" lastClr="FFFFFF"/>
            </a:solidFill>
            <a:prstDash val="solid"/>
            <a:miter lim="800000"/>
          </a:ln>
          <a:effectLst>
            <a:glow>
              <a:srgbClr val="FFFF00"/>
            </a:glow>
            <a:outerShdw algn="ctr" rotWithShape="0">
              <a:sysClr val="windowText" lastClr="000000"/>
            </a:outerShdw>
          </a:effectLst>
          <a:scene3d>
            <a:camera prst="orthographicFront"/>
            <a:lightRig rig="threePt" dir="t"/>
          </a:scene3d>
          <a:sp3d>
            <a:bevelT w="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4" name="Free-form: Shape 13">
            <a:extLst>
              <a:ext uri="{FF2B5EF4-FFF2-40B4-BE49-F238E27FC236}">
                <a16:creationId xmlns="" xmlns:a16="http://schemas.microsoft.com/office/drawing/2014/main" id="{1157507C-DF41-F2F7-53B7-B0DC0D568F3B}"/>
              </a:ext>
            </a:extLst>
          </p:cNvPr>
          <p:cNvSpPr/>
          <p:nvPr userDrawn="1"/>
        </p:nvSpPr>
        <p:spPr>
          <a:xfrm>
            <a:off x="0" y="5838824"/>
            <a:ext cx="12192000" cy="675673"/>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rgbClr val="156082">
                  <a:lumMod val="5000"/>
                  <a:lumOff val="95000"/>
                </a:srgbClr>
              </a:gs>
              <a:gs pos="74000">
                <a:srgbClr val="156082">
                  <a:lumMod val="45000"/>
                  <a:lumOff val="55000"/>
                </a:srgbClr>
              </a:gs>
              <a:gs pos="83000">
                <a:srgbClr val="156082">
                  <a:lumMod val="45000"/>
                  <a:lumOff val="55000"/>
                </a:srgbClr>
              </a:gs>
              <a:gs pos="100000">
                <a:srgbClr val="156082">
                  <a:lumMod val="30000"/>
                  <a:lumOff val="70000"/>
                </a:srgbClr>
              </a:gs>
            </a:gsLst>
            <a:lin ang="5400000" scaled="1"/>
          </a:gradFill>
          <a:ln w="19050" cap="flat" cmpd="sng" algn="ctr">
            <a:noFill/>
            <a:prstDash val="solid"/>
            <a:miter lim="800000"/>
          </a:ln>
          <a:effectLst>
            <a:glow>
              <a:srgbClr val="FFFF00"/>
            </a:glow>
            <a:outerShdw algn="ctr" rotWithShape="0">
              <a:sysClr val="windowText" lastClr="000000"/>
            </a:outerShdw>
          </a:effectLst>
          <a:scene3d>
            <a:camera prst="orthographicFront"/>
            <a:lightRig rig="threePt" dir="t"/>
          </a:scene3d>
          <a:sp3d>
            <a:bevelT w="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5" name="Free-form: Shape 13">
            <a:extLst>
              <a:ext uri="{FF2B5EF4-FFF2-40B4-BE49-F238E27FC236}">
                <a16:creationId xmlns="" xmlns:a16="http://schemas.microsoft.com/office/drawing/2014/main" id="{94DF4395-7D7A-F380-6320-D9BE1ED1DA6D}"/>
              </a:ext>
            </a:extLst>
          </p:cNvPr>
          <p:cNvSpPr/>
          <p:nvPr userDrawn="1"/>
        </p:nvSpPr>
        <p:spPr>
          <a:xfrm>
            <a:off x="-7346" y="5928072"/>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rgbClr val="0F9ED5">
                  <a:lumMod val="20000"/>
                  <a:lumOff val="80000"/>
                </a:srgbClr>
              </a:gs>
              <a:gs pos="50000">
                <a:sysClr val="window" lastClr="FFFFFF"/>
              </a:gs>
              <a:gs pos="100000">
                <a:srgbClr val="0F9ED5">
                  <a:lumMod val="20000"/>
                  <a:lumOff val="80000"/>
                </a:srgbClr>
              </a:gs>
            </a:gsLst>
            <a:lin ang="0" scaled="1"/>
            <a:tileRect/>
          </a:gradFill>
          <a:ln w="15875" cap="flat" cmpd="sng" algn="ctr">
            <a:solidFill>
              <a:srgbClr val="156082">
                <a:alpha val="0"/>
              </a:srgbClr>
            </a:solidFill>
            <a:prstDash val="solid"/>
            <a:miter lim="800000"/>
          </a:ln>
          <a:effectLst>
            <a:glow>
              <a:srgbClr val="FFFF00"/>
            </a:glow>
            <a:outerShdw algn="ctr" rotWithShape="0">
              <a:sysClr val="windowText" lastClr="000000"/>
            </a:outerShdw>
          </a:effectLst>
          <a:scene3d>
            <a:camera prst="orthographicFront"/>
            <a:lightRig rig="threePt" dir="t"/>
          </a:scene3d>
          <a:sp3d>
            <a:bevelT w="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27" name="Picture 8" descr="Hochschule Flensburg (Fachhochschule) – Wikipedia">
            <a:extLst>
              <a:ext uri="{FF2B5EF4-FFF2-40B4-BE49-F238E27FC236}">
                <a16:creationId xmlns="" xmlns:a16="http://schemas.microsoft.com/office/drawing/2014/main" id="{811EE0A2-7B7B-66E3-65D6-A7F1D9F140E2}"/>
              </a:ext>
            </a:extLst>
          </p:cNvPr>
          <p:cNvPicPr>
            <a:picLocks noChangeAspect="1" noChangeArrowheads="1"/>
          </p:cNvPicPr>
          <p:nvPr userDrawn="1"/>
        </p:nvPicPr>
        <p:blipFill>
          <a:blip r:embed="rId2" cstate="print">
            <a:extLst>
              <a:ext uri="{28A0092B-C50C-407E-A947-70E740481C1C}">
                <a14:useLocalDpi xmlns="" xmlns:a14="http://schemas.microsoft.com/office/drawing/2010/main" val="0"/>
              </a:ext>
            </a:extLst>
          </a:blip>
          <a:stretch>
            <a:fillRect/>
          </a:stretch>
        </p:blipFill>
        <p:spPr bwMode="auto">
          <a:xfrm>
            <a:off x="370439" y="264131"/>
            <a:ext cx="2518129" cy="1672124"/>
          </a:xfrm>
          <a:custGeom>
            <a:avLst/>
            <a:gdLst/>
            <a:ahLst/>
            <a:cxnLst/>
            <a:rect l="l" t="t" r="r" b="b"/>
            <a:pathLst>
              <a:path w="2028107" h="1916009">
                <a:moveTo>
                  <a:pt x="35370" y="0"/>
                </a:moveTo>
                <a:lnTo>
                  <a:pt x="1992737" y="0"/>
                </a:lnTo>
                <a:cubicBezTo>
                  <a:pt x="2012271" y="0"/>
                  <a:pt x="2028107" y="15836"/>
                  <a:pt x="2028107" y="35370"/>
                </a:cubicBezTo>
                <a:lnTo>
                  <a:pt x="2028107" y="1880639"/>
                </a:lnTo>
                <a:cubicBezTo>
                  <a:pt x="2028107" y="1900173"/>
                  <a:pt x="2012271" y="1916009"/>
                  <a:pt x="1992737" y="1916009"/>
                </a:cubicBezTo>
                <a:lnTo>
                  <a:pt x="35370" y="1916009"/>
                </a:lnTo>
                <a:cubicBezTo>
                  <a:pt x="15836" y="1916009"/>
                  <a:pt x="0" y="1900173"/>
                  <a:pt x="0" y="1880639"/>
                </a:cubicBezTo>
                <a:lnTo>
                  <a:pt x="0" y="35370"/>
                </a:lnTo>
                <a:cubicBezTo>
                  <a:pt x="0" y="15836"/>
                  <a:pt x="15836" y="0"/>
                  <a:pt x="35370" y="0"/>
                </a:cubicBezTo>
                <a:close/>
              </a:path>
            </a:pathLst>
          </a:custGeom>
          <a:noFill/>
          <a:extLst>
            <a:ext uri="{909E8E84-426E-40DD-AFC4-6F175D3DCCD1}">
              <a14:hiddenFill xmlns="" xmlns:a14="http://schemas.microsoft.com/office/drawing/2010/main">
                <a:solidFill>
                  <a:srgbClr val="FFFFFF"/>
                </a:solidFill>
              </a14:hiddenFill>
            </a:ext>
          </a:extLst>
        </p:spPr>
      </p:pic>
      <p:pic>
        <p:nvPicPr>
          <p:cNvPr id="28" name="Picture 14" descr="A black background with blue text&#10;&#10;AI-generated content may be incorrect.">
            <a:extLst>
              <a:ext uri="{FF2B5EF4-FFF2-40B4-BE49-F238E27FC236}">
                <a16:creationId xmlns="" xmlns:a16="http://schemas.microsoft.com/office/drawing/2014/main" id="{88A3D22E-A6EF-A83A-86D5-C96D877CA4BF}"/>
              </a:ext>
            </a:extLst>
          </p:cNvPr>
          <p:cNvPicPr>
            <a:picLocks noChangeAspect="1" noChangeArrowheads="1"/>
          </p:cNvPicPr>
          <p:nvPr userDrawn="1"/>
        </p:nvPicPr>
        <p:blipFill>
          <a:blip r:embed="rId3" cstate="print">
            <a:extLst>
              <a:ext uri="{28A0092B-C50C-407E-A947-70E740481C1C}">
                <a14:useLocalDpi xmlns="" xmlns:a14="http://schemas.microsoft.com/office/drawing/2010/main" val="0"/>
              </a:ext>
            </a:extLst>
          </a:blip>
          <a:stretch>
            <a:fillRect/>
          </a:stretch>
        </p:blipFill>
        <p:spPr bwMode="auto">
          <a:xfrm>
            <a:off x="8445647" y="719916"/>
            <a:ext cx="3586922" cy="1040207"/>
          </a:xfrm>
          <a:custGeom>
            <a:avLst/>
            <a:gdLst/>
            <a:ahLst/>
            <a:cxnLst/>
            <a:rect l="l" t="t" r="r" b="b"/>
            <a:pathLst>
              <a:path w="2028107" h="1916009">
                <a:moveTo>
                  <a:pt x="35370" y="0"/>
                </a:moveTo>
                <a:lnTo>
                  <a:pt x="1992737" y="0"/>
                </a:lnTo>
                <a:cubicBezTo>
                  <a:pt x="2012271" y="0"/>
                  <a:pt x="2028107" y="15836"/>
                  <a:pt x="2028107" y="35370"/>
                </a:cubicBezTo>
                <a:lnTo>
                  <a:pt x="2028107" y="1880639"/>
                </a:lnTo>
                <a:cubicBezTo>
                  <a:pt x="2028107" y="1900173"/>
                  <a:pt x="2012271" y="1916009"/>
                  <a:pt x="1992737" y="1916009"/>
                </a:cubicBezTo>
                <a:lnTo>
                  <a:pt x="35370" y="1916009"/>
                </a:lnTo>
                <a:cubicBezTo>
                  <a:pt x="15836" y="1916009"/>
                  <a:pt x="0" y="1900173"/>
                  <a:pt x="0" y="1880639"/>
                </a:cubicBezTo>
                <a:lnTo>
                  <a:pt x="0" y="35370"/>
                </a:lnTo>
                <a:cubicBezTo>
                  <a:pt x="0" y="15836"/>
                  <a:pt x="15836" y="0"/>
                  <a:pt x="35370" y="0"/>
                </a:cubicBezTo>
                <a:close/>
              </a:path>
            </a:pathLst>
          </a:custGeom>
          <a:noFill/>
          <a:extLst>
            <a:ext uri="{909E8E84-426E-40DD-AFC4-6F175D3DCCD1}">
              <a14:hiddenFill xmlns="" xmlns:a14="http://schemas.microsoft.com/office/drawing/2010/main">
                <a:solidFill>
                  <a:srgbClr val="FFFFFF"/>
                </a:solidFill>
              </a14:hiddenFill>
            </a:ext>
          </a:extLst>
        </p:spPr>
      </p:pic>
      <p:pic>
        <p:nvPicPr>
          <p:cNvPr id="29" name="Grafik 28">
            <a:extLst>
              <a:ext uri="{FF2B5EF4-FFF2-40B4-BE49-F238E27FC236}">
                <a16:creationId xmlns="" xmlns:a16="http://schemas.microsoft.com/office/drawing/2014/main" id="{427A8DB5-3232-D63A-5CDF-0D3AD6450C3C}"/>
              </a:ext>
            </a:extLst>
          </p:cNvPr>
          <p:cNvPicPr>
            <a:picLocks noChangeAspect="1"/>
          </p:cNvPicPr>
          <p:nvPr userDrawn="1"/>
        </p:nvPicPr>
        <p:blipFill>
          <a:blip r:embed="rId4"/>
          <a:stretch>
            <a:fillRect/>
          </a:stretch>
        </p:blipFill>
        <p:spPr>
          <a:xfrm>
            <a:off x="3825103" y="243054"/>
            <a:ext cx="3684008" cy="1703223"/>
          </a:xfrm>
          <a:prstGeom prst="rect">
            <a:avLst/>
          </a:prstGeom>
        </p:spPr>
      </p:pic>
      <p:sp>
        <p:nvSpPr>
          <p:cNvPr id="30" name="Title 1">
            <a:extLst>
              <a:ext uri="{FF2B5EF4-FFF2-40B4-BE49-F238E27FC236}">
                <a16:creationId xmlns="" xmlns:a16="http://schemas.microsoft.com/office/drawing/2014/main" id="{00FE6863-2F47-99AC-390A-A1BB2D1DD014}"/>
              </a:ext>
            </a:extLst>
          </p:cNvPr>
          <p:cNvSpPr>
            <a:spLocks noGrp="1"/>
          </p:cNvSpPr>
          <p:nvPr>
            <p:ph type="ctrTitle" hasCustomPrompt="1"/>
          </p:nvPr>
        </p:nvSpPr>
        <p:spPr>
          <a:xfrm>
            <a:off x="1412841" y="2206093"/>
            <a:ext cx="9144000" cy="912598"/>
          </a:xfrm>
        </p:spPr>
        <p:txBody>
          <a:bodyPr>
            <a:noAutofit/>
          </a:bodyPr>
          <a:lstStyle>
            <a:lvl1pPr algn="ctr">
              <a:defRPr>
                <a:latin typeface="Aptos (Textkörper)"/>
              </a:defRPr>
            </a:lvl1pPr>
          </a:lstStyle>
          <a:p>
            <a:r>
              <a:rPr lang="it-IT" sz="4000" dirty="0"/>
              <a:t>Weekly report: Team X</a:t>
            </a:r>
            <a:endParaRPr lang="en-GB" sz="4000" dirty="0"/>
          </a:p>
        </p:txBody>
      </p:sp>
      <p:sp>
        <p:nvSpPr>
          <p:cNvPr id="31" name="Subtitle 2">
            <a:extLst>
              <a:ext uri="{FF2B5EF4-FFF2-40B4-BE49-F238E27FC236}">
                <a16:creationId xmlns="" xmlns:a16="http://schemas.microsoft.com/office/drawing/2014/main" id="{05E4BCC5-2CED-6F6C-22B8-AF74FB7ECFF3}"/>
              </a:ext>
            </a:extLst>
          </p:cNvPr>
          <p:cNvSpPr>
            <a:spLocks noGrp="1"/>
          </p:cNvSpPr>
          <p:nvPr>
            <p:ph type="subTitle" idx="1" hasCustomPrompt="1"/>
          </p:nvPr>
        </p:nvSpPr>
        <p:spPr>
          <a:xfrm>
            <a:off x="1412841" y="3429000"/>
            <a:ext cx="9144000" cy="1143000"/>
          </a:xfrm>
        </p:spPr>
        <p:txBody>
          <a:bodyPr vert="horz" lIns="91440" tIns="45720" rIns="91440" bIns="45720" rtlCol="0" anchor="t">
            <a:normAutofit/>
          </a:bodyPr>
          <a:lstStyle>
            <a:lvl1pPr marL="0" indent="0" algn="ctr">
              <a:buNone/>
              <a:defRPr sz="1400">
                <a:latin typeface="Aptos (Textkörper)"/>
              </a:defRPr>
            </a:lvl1pPr>
          </a:lstStyle>
          <a:p>
            <a:r>
              <a:rPr lang="it-IT" sz="2000" dirty="0"/>
              <a:t>Week </a:t>
            </a:r>
            <a:r>
              <a:rPr lang="it-IT" sz="2000" dirty="0" err="1"/>
              <a:t>number</a:t>
            </a:r>
            <a:r>
              <a:rPr lang="it-IT" sz="2000" dirty="0"/>
              <a:t>: X</a:t>
            </a:r>
          </a:p>
          <a:p>
            <a:r>
              <a:rPr lang="it-IT" sz="2000" dirty="0"/>
              <a:t>Date: DD/MM/20JJ</a:t>
            </a:r>
          </a:p>
          <a:p>
            <a:r>
              <a:rPr lang="it-IT" sz="2000" dirty="0"/>
              <a:t>Supervisor: X</a:t>
            </a:r>
          </a:p>
        </p:txBody>
      </p:sp>
      <p:sp>
        <p:nvSpPr>
          <p:cNvPr id="33" name="Isosceles Triangle 6">
            <a:extLst>
              <a:ext uri="{FF2B5EF4-FFF2-40B4-BE49-F238E27FC236}">
                <a16:creationId xmlns="" xmlns:a16="http://schemas.microsoft.com/office/drawing/2014/main" id="{8F14EFAA-BA4A-16CF-D530-1409613BCF5B}"/>
              </a:ext>
            </a:extLst>
          </p:cNvPr>
          <p:cNvSpPr/>
          <p:nvPr userDrawn="1"/>
        </p:nvSpPr>
        <p:spPr>
          <a:xfrm>
            <a:off x="1412841" y="3797919"/>
            <a:ext cx="1380683" cy="886192"/>
          </a:xfrm>
          <a:prstGeom prst="triangle">
            <a:avLst>
              <a:gd name="adj" fmla="val 50565"/>
            </a:avLst>
          </a:prstGeom>
          <a:ln w="5715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dirty="0"/>
          </a:p>
        </p:txBody>
      </p:sp>
      <p:sp>
        <p:nvSpPr>
          <p:cNvPr id="34" name="Rectangle 7">
            <a:extLst>
              <a:ext uri="{FF2B5EF4-FFF2-40B4-BE49-F238E27FC236}">
                <a16:creationId xmlns="" xmlns:a16="http://schemas.microsoft.com/office/drawing/2014/main" id="{8CE1E011-6342-172C-03D6-BB39C24A4CCA}"/>
              </a:ext>
            </a:extLst>
          </p:cNvPr>
          <p:cNvSpPr/>
          <p:nvPr userDrawn="1"/>
        </p:nvSpPr>
        <p:spPr>
          <a:xfrm>
            <a:off x="354584" y="4714776"/>
            <a:ext cx="3512337" cy="950790"/>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a:t>First slide for groups</a:t>
            </a:r>
            <a:endParaRPr lang="en-GB" dirty="0"/>
          </a:p>
        </p:txBody>
      </p:sp>
      <p:sp>
        <p:nvSpPr>
          <p:cNvPr id="35" name="Rectangle 11">
            <a:extLst>
              <a:ext uri="{FF2B5EF4-FFF2-40B4-BE49-F238E27FC236}">
                <a16:creationId xmlns="" xmlns:a16="http://schemas.microsoft.com/office/drawing/2014/main" id="{6845F127-8728-66DF-03BE-17119A20BE05}"/>
              </a:ext>
            </a:extLst>
          </p:cNvPr>
          <p:cNvSpPr/>
          <p:nvPr userDrawn="1"/>
        </p:nvSpPr>
        <p:spPr>
          <a:xfrm>
            <a:off x="1860787" y="3750629"/>
            <a:ext cx="484789" cy="1200329"/>
          </a:xfrm>
          <a:prstGeom prst="rect">
            <a:avLst/>
          </a:prstGeom>
          <a:noFill/>
        </p:spPr>
        <p:txBody>
          <a:bodyPr wrap="square" lIns="91440" tIns="45720" rIns="91440" bIns="45720">
            <a:spAutoFit/>
          </a:bodyPr>
          <a:lstStyle/>
          <a:p>
            <a:pPr algn="ctr"/>
            <a:r>
              <a:rPr lang="en-GB" sz="7200" b="1" cap="none" spc="0" dirty="0">
                <a:ln w="0"/>
                <a:solidFill>
                  <a:schemeClr val="tx1"/>
                </a:solidFill>
              </a:rPr>
              <a:t>!</a:t>
            </a:r>
          </a:p>
        </p:txBody>
      </p:sp>
      <p:sp>
        <p:nvSpPr>
          <p:cNvPr id="36" name="Text Placeholder 2">
            <a:extLst>
              <a:ext uri="{FF2B5EF4-FFF2-40B4-BE49-F238E27FC236}">
                <a16:creationId xmlns="" xmlns:a16="http://schemas.microsoft.com/office/drawing/2014/main" id="{C16AED5E-219C-C34B-7790-17DE2532E623}"/>
              </a:ext>
            </a:extLst>
          </p:cNvPr>
          <p:cNvSpPr>
            <a:spLocks noGrp="1"/>
          </p:cNvSpPr>
          <p:nvPr>
            <p:ph type="body" idx="10" hasCustomPrompt="1"/>
          </p:nvPr>
        </p:nvSpPr>
        <p:spPr>
          <a:xfrm>
            <a:off x="3316826" y="4882309"/>
            <a:ext cx="5128821" cy="331717"/>
          </a:xfrm>
        </p:spPr>
        <p:txBody>
          <a:bodyPr anchor="b">
            <a:noAutofit/>
          </a:bodyPr>
          <a:lstStyle>
            <a:lvl1pPr marL="0" indent="0" algn="ctr">
              <a:buNone/>
              <a:defRPr sz="1400" b="0">
                <a:latin typeface="Aptos (Textkörper)"/>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Group </a:t>
            </a:r>
            <a:r>
              <a:rPr lang="de-DE" dirty="0" err="1"/>
              <a:t>members</a:t>
            </a:r>
            <a:r>
              <a:rPr lang="de-DE" dirty="0"/>
              <a:t>: </a:t>
            </a:r>
          </a:p>
        </p:txBody>
      </p:sp>
      <p:sp>
        <p:nvSpPr>
          <p:cNvPr id="37" name="Rechteck 36">
            <a:extLst>
              <a:ext uri="{FF2B5EF4-FFF2-40B4-BE49-F238E27FC236}">
                <a16:creationId xmlns="" xmlns:a16="http://schemas.microsoft.com/office/drawing/2014/main" id="{64DF9F8D-C604-6899-2A9F-B743F135F77F}"/>
              </a:ext>
            </a:extLst>
          </p:cNvPr>
          <p:cNvSpPr/>
          <p:nvPr userDrawn="1"/>
        </p:nvSpPr>
        <p:spPr>
          <a:xfrm>
            <a:off x="-4172" y="6542492"/>
            <a:ext cx="12207494" cy="365126"/>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6" name="Picture 18" descr="A white windmill with clouds in the background&#10;&#10;AI-generated content may be incorrect.">
            <a:extLst>
              <a:ext uri="{FF2B5EF4-FFF2-40B4-BE49-F238E27FC236}">
                <a16:creationId xmlns="" xmlns:a16="http://schemas.microsoft.com/office/drawing/2014/main" id="{B8218494-1E39-5AB1-96DD-936404956E57}"/>
              </a:ext>
            </a:extLst>
          </p:cNvPr>
          <p:cNvPicPr>
            <a:picLocks noChangeAspect="1"/>
          </p:cNvPicPr>
          <p:nvPr userDrawn="1"/>
        </p:nvPicPr>
        <p:blipFill>
          <a:blip r:embed="rId5" cstate="print">
            <a:extLst>
              <a:ext uri="{28A0092B-C50C-407E-A947-70E740481C1C}">
                <a14:useLocalDpi xmlns="" xmlns:a14="http://schemas.microsoft.com/office/drawing/2010/main" val="0"/>
              </a:ext>
            </a:extLst>
          </a:blip>
          <a:stretch>
            <a:fillRect/>
          </a:stretch>
        </p:blipFill>
        <p:spPr>
          <a:xfrm>
            <a:off x="9679950" y="5430021"/>
            <a:ext cx="1753782" cy="1313633"/>
          </a:xfrm>
          <a:prstGeom prst="rect">
            <a:avLst/>
          </a:prstGeom>
        </p:spPr>
      </p:pic>
      <p:sp>
        <p:nvSpPr>
          <p:cNvPr id="5" name="Rectangle 7">
            <a:extLst>
              <a:ext uri="{FF2B5EF4-FFF2-40B4-BE49-F238E27FC236}">
                <a16:creationId xmlns="" xmlns:a16="http://schemas.microsoft.com/office/drawing/2014/main" id="{CA471AD5-5F65-3AF9-9ABB-E6F7475B2672}"/>
              </a:ext>
            </a:extLst>
          </p:cNvPr>
          <p:cNvSpPr/>
          <p:nvPr userDrawn="1"/>
        </p:nvSpPr>
        <p:spPr>
          <a:xfrm>
            <a:off x="8606553" y="4043001"/>
            <a:ext cx="2603270" cy="1404514"/>
          </a:xfrm>
          <a:prstGeom prst="rect">
            <a:avLst/>
          </a:prstGeom>
          <a:ln w="38100">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err="1"/>
              <a:t>This</a:t>
            </a:r>
            <a:r>
              <a:rPr lang="it-IT" dirty="0"/>
              <a:t> slide </a:t>
            </a:r>
            <a:r>
              <a:rPr lang="it-IT" dirty="0" err="1"/>
              <a:t>is</a:t>
            </a:r>
            <a:r>
              <a:rPr lang="it-IT" dirty="0"/>
              <a:t> </a:t>
            </a:r>
            <a:r>
              <a:rPr lang="it-IT" dirty="0" err="1"/>
              <a:t>only</a:t>
            </a:r>
            <a:r>
              <a:rPr lang="it-IT" dirty="0"/>
              <a:t> for </a:t>
            </a:r>
            <a:r>
              <a:rPr lang="it-IT" dirty="0" err="1"/>
              <a:t>explanation</a:t>
            </a:r>
            <a:r>
              <a:rPr lang="it-IT" dirty="0"/>
              <a:t>, </a:t>
            </a:r>
            <a:r>
              <a:rPr lang="it-IT" dirty="0" err="1"/>
              <a:t>dont´t</a:t>
            </a:r>
            <a:r>
              <a:rPr lang="it-IT" dirty="0"/>
              <a:t> use </a:t>
            </a:r>
            <a:r>
              <a:rPr lang="it-IT" dirty="0" err="1"/>
              <a:t>it!</a:t>
            </a:r>
            <a:endParaRPr lang="en-GB" dirty="0"/>
          </a:p>
        </p:txBody>
      </p:sp>
      <p:sp>
        <p:nvSpPr>
          <p:cNvPr id="9" name="Datumsplatzhalter 8">
            <a:extLst>
              <a:ext uri="{FF2B5EF4-FFF2-40B4-BE49-F238E27FC236}">
                <a16:creationId xmlns="" xmlns:a16="http://schemas.microsoft.com/office/drawing/2014/main" id="{92481298-4C0F-EA65-5B6C-A8C699065050}"/>
              </a:ext>
            </a:extLst>
          </p:cNvPr>
          <p:cNvSpPr>
            <a:spLocks noGrp="1"/>
          </p:cNvSpPr>
          <p:nvPr>
            <p:ph type="dt" sz="half" idx="11"/>
          </p:nvPr>
        </p:nvSpPr>
        <p:spPr/>
        <p:txBody>
          <a:bodyPr/>
          <a:lstStyle/>
          <a:p>
            <a:fld id="{28096F9B-BE65-486B-B8E8-12EF8E58B3B4}" type="datetime1">
              <a:rPr lang="en-GB" smtClean="0"/>
              <a:pPr/>
              <a:t>16/11/2025</a:t>
            </a:fld>
            <a:endParaRPr lang="en-GB" dirty="0"/>
          </a:p>
        </p:txBody>
      </p:sp>
      <p:sp>
        <p:nvSpPr>
          <p:cNvPr id="10" name="Fußzeilenplatzhalter 9">
            <a:extLst>
              <a:ext uri="{FF2B5EF4-FFF2-40B4-BE49-F238E27FC236}">
                <a16:creationId xmlns="" xmlns:a16="http://schemas.microsoft.com/office/drawing/2014/main" id="{FE2B40EC-630A-E9C4-E03F-6B4407322076}"/>
              </a:ext>
            </a:extLst>
          </p:cNvPr>
          <p:cNvSpPr>
            <a:spLocks noGrp="1"/>
          </p:cNvSpPr>
          <p:nvPr>
            <p:ph type="ftr" sz="quarter" idx="12"/>
          </p:nvPr>
        </p:nvSpPr>
        <p:spPr/>
        <p:txBody>
          <a:bodyPr/>
          <a:lstStyle/>
          <a:p>
            <a:r>
              <a:rPr lang="en-GB" dirty="0"/>
              <a:t>Rotor Hub and Pitch System / Optimus Syria</a:t>
            </a:r>
          </a:p>
        </p:txBody>
      </p:sp>
      <p:sp>
        <p:nvSpPr>
          <p:cNvPr id="11" name="Foliennummernplatzhalter 10">
            <a:extLst>
              <a:ext uri="{FF2B5EF4-FFF2-40B4-BE49-F238E27FC236}">
                <a16:creationId xmlns="" xmlns:a16="http://schemas.microsoft.com/office/drawing/2014/main" id="{B363FCB4-D064-121D-B878-2F1607405806}"/>
              </a:ext>
            </a:extLst>
          </p:cNvPr>
          <p:cNvSpPr>
            <a:spLocks noGrp="1"/>
          </p:cNvSpPr>
          <p:nvPr>
            <p:ph type="sldNum" sz="quarter" idx="13"/>
          </p:nvPr>
        </p:nvSpPr>
        <p:spPr/>
        <p:txBody>
          <a:bodyPr/>
          <a:lstStyle/>
          <a:p>
            <a:fld id="{013F6232-4F06-48BA-8F69-BF531F607829}" type="slidenum">
              <a:rPr lang="en-GB" smtClean="0"/>
              <a:pPr/>
              <a:t>‹#›</a:t>
            </a:fld>
            <a:endParaRPr lang="en-GB" dirty="0"/>
          </a:p>
        </p:txBody>
      </p:sp>
    </p:spTree>
    <p:extLst>
      <p:ext uri="{BB962C8B-B14F-4D97-AF65-F5344CB8AC3E}">
        <p14:creationId xmlns="" xmlns:p14="http://schemas.microsoft.com/office/powerpoint/2010/main" val="239844284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Group starting slide">
    <p:spTree>
      <p:nvGrpSpPr>
        <p:cNvPr id="1" name=""/>
        <p:cNvGrpSpPr/>
        <p:nvPr/>
      </p:nvGrpSpPr>
      <p:grpSpPr>
        <a:xfrm>
          <a:off x="0" y="0"/>
          <a:ext cx="0" cy="0"/>
          <a:chOff x="0" y="0"/>
          <a:chExt cx="0" cy="0"/>
        </a:xfrm>
      </p:grpSpPr>
      <p:sp>
        <p:nvSpPr>
          <p:cNvPr id="23" name="Free-form: Shape 13">
            <a:extLst>
              <a:ext uri="{FF2B5EF4-FFF2-40B4-BE49-F238E27FC236}">
                <a16:creationId xmlns="" xmlns:a16="http://schemas.microsoft.com/office/drawing/2014/main" id="{006CCD24-9C06-8926-5E3D-FFE059D5F3D2}"/>
              </a:ext>
            </a:extLst>
          </p:cNvPr>
          <p:cNvSpPr/>
          <p:nvPr userDrawn="1"/>
        </p:nvSpPr>
        <p:spPr>
          <a:xfrm>
            <a:off x="-7749" y="5526425"/>
            <a:ext cx="12218376" cy="72825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rgbClr val="0F9ED5">
                  <a:lumMod val="40000"/>
                  <a:lumOff val="60000"/>
                </a:srgbClr>
              </a:gs>
              <a:gs pos="100000">
                <a:sysClr val="window" lastClr="FFFFFF"/>
              </a:gs>
            </a:gsLst>
            <a:lin ang="5400000" scaled="1"/>
          </a:gradFill>
          <a:ln w="19050" cap="flat" cmpd="sng" algn="ctr">
            <a:solidFill>
              <a:sysClr val="window" lastClr="FFFFFF"/>
            </a:solidFill>
            <a:prstDash val="solid"/>
            <a:miter lim="800000"/>
          </a:ln>
          <a:effectLst>
            <a:glow>
              <a:srgbClr val="FFFF00"/>
            </a:glow>
            <a:outerShdw algn="ctr" rotWithShape="0">
              <a:sysClr val="windowText" lastClr="000000"/>
            </a:outerShdw>
          </a:effectLst>
          <a:scene3d>
            <a:camera prst="orthographicFront"/>
            <a:lightRig rig="threePt" dir="t"/>
          </a:scene3d>
          <a:sp3d>
            <a:bevelT w="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4" name="Free-form: Shape 13">
            <a:extLst>
              <a:ext uri="{FF2B5EF4-FFF2-40B4-BE49-F238E27FC236}">
                <a16:creationId xmlns="" xmlns:a16="http://schemas.microsoft.com/office/drawing/2014/main" id="{1157507C-DF41-F2F7-53B7-B0DC0D568F3B}"/>
              </a:ext>
            </a:extLst>
          </p:cNvPr>
          <p:cNvSpPr/>
          <p:nvPr userDrawn="1"/>
        </p:nvSpPr>
        <p:spPr>
          <a:xfrm>
            <a:off x="0" y="5838824"/>
            <a:ext cx="12192000" cy="675673"/>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rgbClr val="156082">
                  <a:lumMod val="5000"/>
                  <a:lumOff val="95000"/>
                </a:srgbClr>
              </a:gs>
              <a:gs pos="74000">
                <a:srgbClr val="156082">
                  <a:lumMod val="45000"/>
                  <a:lumOff val="55000"/>
                </a:srgbClr>
              </a:gs>
              <a:gs pos="83000">
                <a:srgbClr val="156082">
                  <a:lumMod val="45000"/>
                  <a:lumOff val="55000"/>
                </a:srgbClr>
              </a:gs>
              <a:gs pos="100000">
                <a:srgbClr val="156082">
                  <a:lumMod val="30000"/>
                  <a:lumOff val="70000"/>
                </a:srgbClr>
              </a:gs>
            </a:gsLst>
            <a:lin ang="5400000" scaled="1"/>
          </a:gradFill>
          <a:ln w="19050" cap="flat" cmpd="sng" algn="ctr">
            <a:noFill/>
            <a:prstDash val="solid"/>
            <a:miter lim="800000"/>
          </a:ln>
          <a:effectLst>
            <a:glow>
              <a:srgbClr val="FFFF00"/>
            </a:glow>
            <a:outerShdw algn="ctr" rotWithShape="0">
              <a:sysClr val="windowText" lastClr="000000"/>
            </a:outerShdw>
          </a:effectLst>
          <a:scene3d>
            <a:camera prst="orthographicFront"/>
            <a:lightRig rig="threePt" dir="t"/>
          </a:scene3d>
          <a:sp3d>
            <a:bevelT w="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25" name="Free-form: Shape 13">
            <a:extLst>
              <a:ext uri="{FF2B5EF4-FFF2-40B4-BE49-F238E27FC236}">
                <a16:creationId xmlns="" xmlns:a16="http://schemas.microsoft.com/office/drawing/2014/main" id="{94DF4395-7D7A-F380-6320-D9BE1ED1DA6D}"/>
              </a:ext>
            </a:extLst>
          </p:cNvPr>
          <p:cNvSpPr/>
          <p:nvPr userDrawn="1"/>
        </p:nvSpPr>
        <p:spPr>
          <a:xfrm>
            <a:off x="-7346" y="5928072"/>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rgbClr val="0F9ED5">
                  <a:lumMod val="20000"/>
                  <a:lumOff val="80000"/>
                </a:srgbClr>
              </a:gs>
              <a:gs pos="50000">
                <a:sysClr val="window" lastClr="FFFFFF"/>
              </a:gs>
              <a:gs pos="100000">
                <a:srgbClr val="0F9ED5">
                  <a:lumMod val="20000"/>
                  <a:lumOff val="80000"/>
                </a:srgbClr>
              </a:gs>
            </a:gsLst>
            <a:lin ang="0" scaled="1"/>
            <a:tileRect/>
          </a:gradFill>
          <a:ln w="15875" cap="flat" cmpd="sng" algn="ctr">
            <a:solidFill>
              <a:srgbClr val="156082">
                <a:alpha val="0"/>
              </a:srgbClr>
            </a:solidFill>
            <a:prstDash val="solid"/>
            <a:miter lim="800000"/>
          </a:ln>
          <a:effectLst>
            <a:glow>
              <a:srgbClr val="FFFF00"/>
            </a:glow>
            <a:outerShdw algn="ctr" rotWithShape="0">
              <a:sysClr val="windowText" lastClr="000000"/>
            </a:outerShdw>
          </a:effectLst>
          <a:scene3d>
            <a:camera prst="orthographicFront"/>
            <a:lightRig rig="threePt" dir="t"/>
          </a:scene3d>
          <a:sp3d>
            <a:bevelT w="0"/>
          </a:sp3d>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Aptos" panose="02110004020202020204"/>
              <a:ea typeface="+mn-ea"/>
              <a:cs typeface="+mn-cs"/>
            </a:endParaRPr>
          </a:p>
        </p:txBody>
      </p:sp>
      <p:pic>
        <p:nvPicPr>
          <p:cNvPr id="27" name="Picture 8" descr="Hochschule Flensburg (Fachhochschule) – Wikipedia">
            <a:extLst>
              <a:ext uri="{FF2B5EF4-FFF2-40B4-BE49-F238E27FC236}">
                <a16:creationId xmlns="" xmlns:a16="http://schemas.microsoft.com/office/drawing/2014/main" id="{811EE0A2-7B7B-66E3-65D6-A7F1D9F140E2}"/>
              </a:ext>
            </a:extLst>
          </p:cNvPr>
          <p:cNvPicPr>
            <a:picLocks noChangeAspect="1" noChangeArrowheads="1"/>
          </p:cNvPicPr>
          <p:nvPr userDrawn="1"/>
        </p:nvPicPr>
        <p:blipFill>
          <a:blip r:embed="rId2" cstate="print">
            <a:extLst>
              <a:ext uri="{28A0092B-C50C-407E-A947-70E740481C1C}">
                <a14:useLocalDpi xmlns="" xmlns:a14="http://schemas.microsoft.com/office/drawing/2010/main" val="0"/>
              </a:ext>
            </a:extLst>
          </a:blip>
          <a:stretch>
            <a:fillRect/>
          </a:stretch>
        </p:blipFill>
        <p:spPr bwMode="auto">
          <a:xfrm>
            <a:off x="370439" y="264131"/>
            <a:ext cx="2518129" cy="1672124"/>
          </a:xfrm>
          <a:custGeom>
            <a:avLst/>
            <a:gdLst/>
            <a:ahLst/>
            <a:cxnLst/>
            <a:rect l="l" t="t" r="r" b="b"/>
            <a:pathLst>
              <a:path w="2028107" h="1916009">
                <a:moveTo>
                  <a:pt x="35370" y="0"/>
                </a:moveTo>
                <a:lnTo>
                  <a:pt x="1992737" y="0"/>
                </a:lnTo>
                <a:cubicBezTo>
                  <a:pt x="2012271" y="0"/>
                  <a:pt x="2028107" y="15836"/>
                  <a:pt x="2028107" y="35370"/>
                </a:cubicBezTo>
                <a:lnTo>
                  <a:pt x="2028107" y="1880639"/>
                </a:lnTo>
                <a:cubicBezTo>
                  <a:pt x="2028107" y="1900173"/>
                  <a:pt x="2012271" y="1916009"/>
                  <a:pt x="1992737" y="1916009"/>
                </a:cubicBezTo>
                <a:lnTo>
                  <a:pt x="35370" y="1916009"/>
                </a:lnTo>
                <a:cubicBezTo>
                  <a:pt x="15836" y="1916009"/>
                  <a:pt x="0" y="1900173"/>
                  <a:pt x="0" y="1880639"/>
                </a:cubicBezTo>
                <a:lnTo>
                  <a:pt x="0" y="35370"/>
                </a:lnTo>
                <a:cubicBezTo>
                  <a:pt x="0" y="15836"/>
                  <a:pt x="15836" y="0"/>
                  <a:pt x="35370" y="0"/>
                </a:cubicBezTo>
                <a:close/>
              </a:path>
            </a:pathLst>
          </a:custGeom>
          <a:noFill/>
          <a:extLst>
            <a:ext uri="{909E8E84-426E-40DD-AFC4-6F175D3DCCD1}">
              <a14:hiddenFill xmlns="" xmlns:a14="http://schemas.microsoft.com/office/drawing/2010/main">
                <a:solidFill>
                  <a:srgbClr val="FFFFFF"/>
                </a:solidFill>
              </a14:hiddenFill>
            </a:ext>
          </a:extLst>
        </p:spPr>
      </p:pic>
      <p:pic>
        <p:nvPicPr>
          <p:cNvPr id="28" name="Picture 14" descr="A black background with blue text&#10;&#10;AI-generated content may be incorrect.">
            <a:extLst>
              <a:ext uri="{FF2B5EF4-FFF2-40B4-BE49-F238E27FC236}">
                <a16:creationId xmlns="" xmlns:a16="http://schemas.microsoft.com/office/drawing/2014/main" id="{88A3D22E-A6EF-A83A-86D5-C96D877CA4BF}"/>
              </a:ext>
            </a:extLst>
          </p:cNvPr>
          <p:cNvPicPr>
            <a:picLocks noChangeAspect="1" noChangeArrowheads="1"/>
          </p:cNvPicPr>
          <p:nvPr userDrawn="1"/>
        </p:nvPicPr>
        <p:blipFill>
          <a:blip r:embed="rId3" cstate="print">
            <a:extLst>
              <a:ext uri="{28A0092B-C50C-407E-A947-70E740481C1C}">
                <a14:useLocalDpi xmlns="" xmlns:a14="http://schemas.microsoft.com/office/drawing/2010/main" val="0"/>
              </a:ext>
            </a:extLst>
          </a:blip>
          <a:stretch>
            <a:fillRect/>
          </a:stretch>
        </p:blipFill>
        <p:spPr bwMode="auto">
          <a:xfrm>
            <a:off x="8445647" y="719916"/>
            <a:ext cx="3586922" cy="1040207"/>
          </a:xfrm>
          <a:custGeom>
            <a:avLst/>
            <a:gdLst/>
            <a:ahLst/>
            <a:cxnLst/>
            <a:rect l="l" t="t" r="r" b="b"/>
            <a:pathLst>
              <a:path w="2028107" h="1916009">
                <a:moveTo>
                  <a:pt x="35370" y="0"/>
                </a:moveTo>
                <a:lnTo>
                  <a:pt x="1992737" y="0"/>
                </a:lnTo>
                <a:cubicBezTo>
                  <a:pt x="2012271" y="0"/>
                  <a:pt x="2028107" y="15836"/>
                  <a:pt x="2028107" y="35370"/>
                </a:cubicBezTo>
                <a:lnTo>
                  <a:pt x="2028107" y="1880639"/>
                </a:lnTo>
                <a:cubicBezTo>
                  <a:pt x="2028107" y="1900173"/>
                  <a:pt x="2012271" y="1916009"/>
                  <a:pt x="1992737" y="1916009"/>
                </a:cubicBezTo>
                <a:lnTo>
                  <a:pt x="35370" y="1916009"/>
                </a:lnTo>
                <a:cubicBezTo>
                  <a:pt x="15836" y="1916009"/>
                  <a:pt x="0" y="1900173"/>
                  <a:pt x="0" y="1880639"/>
                </a:cubicBezTo>
                <a:lnTo>
                  <a:pt x="0" y="35370"/>
                </a:lnTo>
                <a:cubicBezTo>
                  <a:pt x="0" y="15836"/>
                  <a:pt x="15836" y="0"/>
                  <a:pt x="35370" y="0"/>
                </a:cubicBezTo>
                <a:close/>
              </a:path>
            </a:pathLst>
          </a:custGeom>
          <a:noFill/>
          <a:extLst>
            <a:ext uri="{909E8E84-426E-40DD-AFC4-6F175D3DCCD1}">
              <a14:hiddenFill xmlns="" xmlns:a14="http://schemas.microsoft.com/office/drawing/2010/main">
                <a:solidFill>
                  <a:srgbClr val="FFFFFF"/>
                </a:solidFill>
              </a14:hiddenFill>
            </a:ext>
          </a:extLst>
        </p:spPr>
      </p:pic>
      <p:pic>
        <p:nvPicPr>
          <p:cNvPr id="29" name="Grafik 28">
            <a:extLst>
              <a:ext uri="{FF2B5EF4-FFF2-40B4-BE49-F238E27FC236}">
                <a16:creationId xmlns="" xmlns:a16="http://schemas.microsoft.com/office/drawing/2014/main" id="{427A8DB5-3232-D63A-5CDF-0D3AD6450C3C}"/>
              </a:ext>
            </a:extLst>
          </p:cNvPr>
          <p:cNvPicPr>
            <a:picLocks noChangeAspect="1"/>
          </p:cNvPicPr>
          <p:nvPr userDrawn="1"/>
        </p:nvPicPr>
        <p:blipFill>
          <a:blip r:embed="rId4"/>
          <a:stretch>
            <a:fillRect/>
          </a:stretch>
        </p:blipFill>
        <p:spPr>
          <a:xfrm>
            <a:off x="3825103" y="243054"/>
            <a:ext cx="3684008" cy="1703223"/>
          </a:xfrm>
          <a:prstGeom prst="rect">
            <a:avLst/>
          </a:prstGeom>
        </p:spPr>
      </p:pic>
      <p:sp>
        <p:nvSpPr>
          <p:cNvPr id="30" name="Title 1">
            <a:extLst>
              <a:ext uri="{FF2B5EF4-FFF2-40B4-BE49-F238E27FC236}">
                <a16:creationId xmlns="" xmlns:a16="http://schemas.microsoft.com/office/drawing/2014/main" id="{00FE6863-2F47-99AC-390A-A1BB2D1DD014}"/>
              </a:ext>
            </a:extLst>
          </p:cNvPr>
          <p:cNvSpPr>
            <a:spLocks noGrp="1"/>
          </p:cNvSpPr>
          <p:nvPr>
            <p:ph type="ctrTitle" hasCustomPrompt="1"/>
          </p:nvPr>
        </p:nvSpPr>
        <p:spPr>
          <a:xfrm>
            <a:off x="1412841" y="2206093"/>
            <a:ext cx="9144000" cy="912598"/>
          </a:xfrm>
        </p:spPr>
        <p:txBody>
          <a:bodyPr>
            <a:noAutofit/>
          </a:bodyPr>
          <a:lstStyle>
            <a:lvl1pPr algn="ctr">
              <a:defRPr>
                <a:latin typeface="Aptos (Textkörper)"/>
              </a:defRPr>
            </a:lvl1pPr>
          </a:lstStyle>
          <a:p>
            <a:r>
              <a:rPr lang="it-IT" sz="4000" dirty="0"/>
              <a:t>Weekly report: Team X</a:t>
            </a:r>
            <a:endParaRPr lang="en-GB" sz="4000" dirty="0"/>
          </a:p>
        </p:txBody>
      </p:sp>
      <p:sp>
        <p:nvSpPr>
          <p:cNvPr id="31" name="Subtitle 2">
            <a:extLst>
              <a:ext uri="{FF2B5EF4-FFF2-40B4-BE49-F238E27FC236}">
                <a16:creationId xmlns="" xmlns:a16="http://schemas.microsoft.com/office/drawing/2014/main" id="{05E4BCC5-2CED-6F6C-22B8-AF74FB7ECFF3}"/>
              </a:ext>
            </a:extLst>
          </p:cNvPr>
          <p:cNvSpPr>
            <a:spLocks noGrp="1" noRot="1" noMove="1" noResize="1" noEditPoints="1" noAdjustHandles="1" noChangeArrowheads="1" noChangeShapeType="1"/>
          </p:cNvSpPr>
          <p:nvPr>
            <p:ph type="subTitle" idx="1" hasCustomPrompt="1"/>
          </p:nvPr>
        </p:nvSpPr>
        <p:spPr>
          <a:xfrm>
            <a:off x="1412841" y="3429000"/>
            <a:ext cx="9144000" cy="1143000"/>
          </a:xfrm>
        </p:spPr>
        <p:txBody>
          <a:bodyPr vert="horz" lIns="91440" tIns="45720" rIns="91440" bIns="45720" rtlCol="0" anchor="t">
            <a:normAutofit/>
          </a:bodyPr>
          <a:lstStyle>
            <a:lvl1pPr marL="0" indent="0" algn="ctr">
              <a:buNone/>
              <a:defRPr sz="1400">
                <a:latin typeface="Aptos (Textkörper)"/>
              </a:defRPr>
            </a:lvl1pPr>
          </a:lstStyle>
          <a:p>
            <a:r>
              <a:rPr lang="it-IT" sz="2000" dirty="0"/>
              <a:t>Week </a:t>
            </a:r>
            <a:r>
              <a:rPr lang="it-IT" sz="2000" dirty="0" err="1"/>
              <a:t>number</a:t>
            </a:r>
            <a:r>
              <a:rPr lang="it-IT" sz="2000" dirty="0"/>
              <a:t>: X</a:t>
            </a:r>
          </a:p>
          <a:p>
            <a:r>
              <a:rPr lang="it-IT" sz="2000" dirty="0"/>
              <a:t>Date: DD/MM/20JJ</a:t>
            </a:r>
          </a:p>
          <a:p>
            <a:r>
              <a:rPr lang="it-IT" sz="2000" dirty="0"/>
              <a:t>Supervisor: X</a:t>
            </a:r>
          </a:p>
        </p:txBody>
      </p:sp>
      <p:sp>
        <p:nvSpPr>
          <p:cNvPr id="4" name="Text Placeholder 2">
            <a:extLst>
              <a:ext uri="{FF2B5EF4-FFF2-40B4-BE49-F238E27FC236}">
                <a16:creationId xmlns="" xmlns:a16="http://schemas.microsoft.com/office/drawing/2014/main" id="{05588F89-BF05-8BCF-9834-AE05DA2404B4}"/>
              </a:ext>
            </a:extLst>
          </p:cNvPr>
          <p:cNvSpPr>
            <a:spLocks noGrp="1" noRot="1" noMove="1" noResize="1" noEditPoints="1" noAdjustHandles="1" noChangeArrowheads="1" noChangeShapeType="1"/>
          </p:cNvSpPr>
          <p:nvPr>
            <p:ph type="body" idx="10" hasCustomPrompt="1"/>
          </p:nvPr>
        </p:nvSpPr>
        <p:spPr>
          <a:xfrm>
            <a:off x="3316826" y="4882309"/>
            <a:ext cx="5128821" cy="331717"/>
          </a:xfrm>
        </p:spPr>
        <p:txBody>
          <a:bodyPr anchor="b">
            <a:noAutofit/>
          </a:bodyPr>
          <a:lstStyle>
            <a:lvl1pPr marL="0" indent="0" algn="ctr">
              <a:buNone/>
              <a:defRPr sz="1400" b="0">
                <a:latin typeface="Aptos (Textkörper)"/>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a:t>Group </a:t>
            </a:r>
            <a:r>
              <a:rPr lang="de-DE" dirty="0" err="1"/>
              <a:t>members</a:t>
            </a:r>
            <a:r>
              <a:rPr lang="de-DE" dirty="0"/>
              <a:t>: </a:t>
            </a:r>
          </a:p>
        </p:txBody>
      </p:sp>
      <p:sp>
        <p:nvSpPr>
          <p:cNvPr id="9" name="Rechteck 8">
            <a:extLst>
              <a:ext uri="{FF2B5EF4-FFF2-40B4-BE49-F238E27FC236}">
                <a16:creationId xmlns="" xmlns:a16="http://schemas.microsoft.com/office/drawing/2014/main" id="{83077A87-075C-C9F1-CF08-7A350F77E612}"/>
              </a:ext>
            </a:extLst>
          </p:cNvPr>
          <p:cNvSpPr/>
          <p:nvPr userDrawn="1"/>
        </p:nvSpPr>
        <p:spPr>
          <a:xfrm>
            <a:off x="-4172" y="6542492"/>
            <a:ext cx="12207494" cy="365126"/>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6" name="Picture 18" descr="A white windmill with clouds in the background&#10;&#10;AI-generated content may be incorrect.">
            <a:extLst>
              <a:ext uri="{FF2B5EF4-FFF2-40B4-BE49-F238E27FC236}">
                <a16:creationId xmlns="" xmlns:a16="http://schemas.microsoft.com/office/drawing/2014/main" id="{B8218494-1E39-5AB1-96DD-936404956E57}"/>
              </a:ext>
            </a:extLst>
          </p:cNvPr>
          <p:cNvPicPr>
            <a:picLocks noChangeAspect="1"/>
          </p:cNvPicPr>
          <p:nvPr userDrawn="1"/>
        </p:nvPicPr>
        <p:blipFill>
          <a:blip r:embed="rId5" cstate="print">
            <a:extLst>
              <a:ext uri="{28A0092B-C50C-407E-A947-70E740481C1C}">
                <a14:useLocalDpi xmlns="" xmlns:a14="http://schemas.microsoft.com/office/drawing/2010/main" val="0"/>
              </a:ext>
            </a:extLst>
          </a:blip>
          <a:stretch>
            <a:fillRect/>
          </a:stretch>
        </p:blipFill>
        <p:spPr>
          <a:xfrm>
            <a:off x="9679950" y="5430021"/>
            <a:ext cx="1753782" cy="1313633"/>
          </a:xfrm>
          <a:prstGeom prst="rect">
            <a:avLst/>
          </a:prstGeom>
        </p:spPr>
      </p:pic>
      <p:sp>
        <p:nvSpPr>
          <p:cNvPr id="5" name="Datumsplatzhalter 4">
            <a:extLst>
              <a:ext uri="{FF2B5EF4-FFF2-40B4-BE49-F238E27FC236}">
                <a16:creationId xmlns="" xmlns:a16="http://schemas.microsoft.com/office/drawing/2014/main" id="{DB3C889B-2F55-2C2F-122E-E89ABE6A2D95}"/>
              </a:ext>
            </a:extLst>
          </p:cNvPr>
          <p:cNvSpPr>
            <a:spLocks noGrp="1"/>
          </p:cNvSpPr>
          <p:nvPr>
            <p:ph type="dt" sz="half" idx="11"/>
          </p:nvPr>
        </p:nvSpPr>
        <p:spPr/>
        <p:txBody>
          <a:bodyPr/>
          <a:lstStyle/>
          <a:p>
            <a:fld id="{AEEEA123-68DA-495E-993C-6E3C45537E60}" type="datetime1">
              <a:rPr lang="en-GB" smtClean="0"/>
              <a:pPr/>
              <a:t>16/11/2025</a:t>
            </a:fld>
            <a:endParaRPr lang="en-GB" dirty="0"/>
          </a:p>
        </p:txBody>
      </p:sp>
      <p:sp>
        <p:nvSpPr>
          <p:cNvPr id="6" name="Fußzeilenplatzhalter 5">
            <a:extLst>
              <a:ext uri="{FF2B5EF4-FFF2-40B4-BE49-F238E27FC236}">
                <a16:creationId xmlns="" xmlns:a16="http://schemas.microsoft.com/office/drawing/2014/main" id="{E2877DC7-CA1E-181B-77C7-99C60829ED57}"/>
              </a:ext>
            </a:extLst>
          </p:cNvPr>
          <p:cNvSpPr>
            <a:spLocks noGrp="1"/>
          </p:cNvSpPr>
          <p:nvPr>
            <p:ph type="ftr" sz="quarter" idx="12"/>
          </p:nvPr>
        </p:nvSpPr>
        <p:spPr/>
        <p:txBody>
          <a:bodyPr/>
          <a:lstStyle/>
          <a:p>
            <a:r>
              <a:rPr lang="en-GB" dirty="0"/>
              <a:t>Rotor Hub and Pitch System / Optimus Syria</a:t>
            </a:r>
          </a:p>
        </p:txBody>
      </p:sp>
      <p:sp>
        <p:nvSpPr>
          <p:cNvPr id="7" name="Foliennummernplatzhalter 6">
            <a:extLst>
              <a:ext uri="{FF2B5EF4-FFF2-40B4-BE49-F238E27FC236}">
                <a16:creationId xmlns="" xmlns:a16="http://schemas.microsoft.com/office/drawing/2014/main" id="{043E1ABD-9DAE-E035-8B0B-D41EFED3FC86}"/>
              </a:ext>
            </a:extLst>
          </p:cNvPr>
          <p:cNvSpPr>
            <a:spLocks noGrp="1"/>
          </p:cNvSpPr>
          <p:nvPr>
            <p:ph type="sldNum" sz="quarter" idx="13"/>
          </p:nvPr>
        </p:nvSpPr>
        <p:spPr/>
        <p:txBody>
          <a:bodyPr/>
          <a:lstStyle/>
          <a:p>
            <a:fld id="{013F6232-4F06-48BA-8F69-BF531F607829}" type="slidenum">
              <a:rPr lang="en-GB" smtClean="0"/>
              <a:pPr/>
              <a:t>‹#›</a:t>
            </a:fld>
            <a:endParaRPr lang="en-GB" dirty="0"/>
          </a:p>
        </p:txBody>
      </p:sp>
    </p:spTree>
    <p:extLst>
      <p:ext uri="{BB962C8B-B14F-4D97-AF65-F5344CB8AC3E}">
        <p14:creationId xmlns="" xmlns:p14="http://schemas.microsoft.com/office/powerpoint/2010/main" val="33477309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2.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32.xml"/><Relationship Id="rId2" Type="http://schemas.openxmlformats.org/officeDocument/2006/relationships/slideLayout" Target="../slideLayouts/slideLayout31.xml"/><Relationship Id="rId1" Type="http://schemas.openxmlformats.org/officeDocument/2006/relationships/slideLayout" Target="../slideLayouts/slideLayout30.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echteck 13">
            <a:extLst>
              <a:ext uri="{FF2B5EF4-FFF2-40B4-BE49-F238E27FC236}">
                <a16:creationId xmlns="" xmlns:a16="http://schemas.microsoft.com/office/drawing/2014/main" id="{CD36E4AE-BF2C-D504-0887-03D81D07CDC8}"/>
              </a:ext>
            </a:extLst>
          </p:cNvPr>
          <p:cNvSpPr/>
          <p:nvPr userDrawn="1"/>
        </p:nvSpPr>
        <p:spPr>
          <a:xfrm>
            <a:off x="-4172" y="6542492"/>
            <a:ext cx="12207494" cy="365126"/>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7" name="Free-form: Shape 13">
            <a:extLst>
              <a:ext uri="{FF2B5EF4-FFF2-40B4-BE49-F238E27FC236}">
                <a16:creationId xmlns="" xmlns:a16="http://schemas.microsoft.com/office/drawing/2014/main" id="{7608A32D-44F3-01F2-D6ED-924DFF3CC333}"/>
              </a:ext>
            </a:extLst>
          </p:cNvPr>
          <p:cNvSpPr/>
          <p:nvPr/>
        </p:nvSpPr>
        <p:spPr>
          <a:xfrm rot="10800000">
            <a:off x="-35168" y="277945"/>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chemeClr val="accent4">
                  <a:lumMod val="20000"/>
                  <a:lumOff val="80000"/>
                </a:schemeClr>
              </a:gs>
              <a:gs pos="50000">
                <a:schemeClr val="bg1"/>
              </a:gs>
              <a:gs pos="100000">
                <a:schemeClr val="accent4">
                  <a:lumMod val="20000"/>
                  <a:lumOff val="80000"/>
                </a:schemeClr>
              </a:gs>
            </a:gsLst>
            <a:lin ang="0" scaled="1"/>
            <a:tileRect/>
          </a:gradFill>
          <a:ln w="15875">
            <a:solidFill>
              <a:schemeClr val="accent1">
                <a:alpha val="0"/>
              </a:schemeClr>
            </a:solid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Text Placeholder 2">
            <a:extLst>
              <a:ext uri="{FF2B5EF4-FFF2-40B4-BE49-F238E27FC236}">
                <a16:creationId xmlns="" xmlns:a16="http://schemas.microsoft.com/office/drawing/2014/main" id="{476B4C36-B64B-F839-789E-0C40D5E60E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endParaRPr lang="en-GB" dirty="0"/>
          </a:p>
        </p:txBody>
      </p:sp>
      <p:sp>
        <p:nvSpPr>
          <p:cNvPr id="8" name="Free-form: Shape 13">
            <a:extLst>
              <a:ext uri="{FF2B5EF4-FFF2-40B4-BE49-F238E27FC236}">
                <a16:creationId xmlns="" xmlns:a16="http://schemas.microsoft.com/office/drawing/2014/main" id="{1DE142EE-E501-93E6-565D-AB4A5A647F0F}"/>
              </a:ext>
            </a:extLst>
          </p:cNvPr>
          <p:cNvSpPr/>
          <p:nvPr/>
        </p:nvSpPr>
        <p:spPr>
          <a:xfrm rot="10800000">
            <a:off x="-2090" y="-18190"/>
            <a:ext cx="12192000" cy="89882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Shape 13">
            <a:extLst>
              <a:ext uri="{FF2B5EF4-FFF2-40B4-BE49-F238E27FC236}">
                <a16:creationId xmlns="" xmlns:a16="http://schemas.microsoft.com/office/drawing/2014/main" id="{776A7918-93DA-D7CE-97A3-DDF18B379B65}"/>
              </a:ext>
            </a:extLst>
          </p:cNvPr>
          <p:cNvSpPr/>
          <p:nvPr/>
        </p:nvSpPr>
        <p:spPr>
          <a:xfrm rot="10800000">
            <a:off x="-26376" y="-237830"/>
            <a:ext cx="12218376" cy="965187"/>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chemeClr val="accent4">
                  <a:lumMod val="40000"/>
                  <a:lumOff val="60000"/>
                </a:schemeClr>
              </a:gs>
              <a:gs pos="100000">
                <a:schemeClr val="bg1"/>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Footer Placeholder 4">
            <a:extLst>
              <a:ext uri="{FF2B5EF4-FFF2-40B4-BE49-F238E27FC236}">
                <a16:creationId xmlns="" xmlns:a16="http://schemas.microsoft.com/office/drawing/2014/main" id="{F164827E-F028-4C94-EB63-600BCABCD15C}"/>
              </a:ext>
            </a:extLst>
          </p:cNvPr>
          <p:cNvSpPr>
            <a:spLocks noGrp="1"/>
          </p:cNvSpPr>
          <p:nvPr>
            <p:ph type="ftr" sz="quarter" idx="3"/>
          </p:nvPr>
        </p:nvSpPr>
        <p:spPr>
          <a:xfrm>
            <a:off x="8474613" y="6564113"/>
            <a:ext cx="2879187" cy="365125"/>
          </a:xfrm>
          <a:prstGeom prst="rect">
            <a:avLst/>
          </a:prstGeom>
        </p:spPr>
        <p:txBody>
          <a:bodyPr vert="horz" lIns="91440" tIns="45720" rIns="91440" bIns="45720" rtlCol="0" anchor="ctr"/>
          <a:lstStyle>
            <a:lvl1pPr algn="r">
              <a:defRPr sz="1200">
                <a:solidFill>
                  <a:schemeClr val="bg1"/>
                </a:solidFill>
              </a:defRPr>
            </a:lvl1pPr>
          </a:lstStyle>
          <a:p>
            <a:r>
              <a:rPr lang="en-GB" dirty="0"/>
              <a:t>Rotor Hub and Pitch System / Optimus Syria</a:t>
            </a:r>
          </a:p>
        </p:txBody>
      </p:sp>
      <p:sp>
        <p:nvSpPr>
          <p:cNvPr id="6" name="Slide Number Placeholder 5">
            <a:extLst>
              <a:ext uri="{FF2B5EF4-FFF2-40B4-BE49-F238E27FC236}">
                <a16:creationId xmlns="" xmlns:a16="http://schemas.microsoft.com/office/drawing/2014/main" id="{00B8DD39-3F07-862A-3C91-AC524529184A}"/>
              </a:ext>
            </a:extLst>
          </p:cNvPr>
          <p:cNvSpPr>
            <a:spLocks noGrp="1"/>
          </p:cNvSpPr>
          <p:nvPr>
            <p:ph type="sldNum" sz="quarter" idx="4"/>
          </p:nvPr>
        </p:nvSpPr>
        <p:spPr>
          <a:xfrm>
            <a:off x="1949570" y="6566803"/>
            <a:ext cx="928958" cy="365125"/>
          </a:xfrm>
          <a:prstGeom prst="rect">
            <a:avLst/>
          </a:prstGeom>
        </p:spPr>
        <p:txBody>
          <a:bodyPr vert="horz" lIns="91440" tIns="45720" rIns="91440" bIns="45720" rtlCol="0" anchor="ctr"/>
          <a:lstStyle>
            <a:lvl1pPr algn="ctr">
              <a:defRPr sz="1200">
                <a:solidFill>
                  <a:schemeClr val="bg1"/>
                </a:solidFill>
              </a:defRPr>
            </a:lvl1pPr>
          </a:lstStyle>
          <a:p>
            <a:fld id="{013F6232-4F06-48BA-8F69-BF531F607829}" type="slidenum">
              <a:rPr lang="en-GB" smtClean="0"/>
              <a:pPr/>
              <a:t>‹#›</a:t>
            </a:fld>
            <a:endParaRPr lang="en-GB" dirty="0"/>
          </a:p>
        </p:txBody>
      </p:sp>
      <p:sp>
        <p:nvSpPr>
          <p:cNvPr id="4" name="Date Placeholder 3">
            <a:extLst>
              <a:ext uri="{FF2B5EF4-FFF2-40B4-BE49-F238E27FC236}">
                <a16:creationId xmlns="" xmlns:a16="http://schemas.microsoft.com/office/drawing/2014/main" id="{A6D593D3-E60D-CF97-AC8A-2B02D933B02F}"/>
              </a:ext>
            </a:extLst>
          </p:cNvPr>
          <p:cNvSpPr>
            <a:spLocks noGrp="1"/>
          </p:cNvSpPr>
          <p:nvPr>
            <p:ph type="dt" sz="half" idx="2"/>
          </p:nvPr>
        </p:nvSpPr>
        <p:spPr>
          <a:xfrm>
            <a:off x="838200" y="6566803"/>
            <a:ext cx="1111370" cy="365125"/>
          </a:xfrm>
          <a:prstGeom prst="rect">
            <a:avLst/>
          </a:prstGeom>
        </p:spPr>
        <p:txBody>
          <a:bodyPr vert="horz" lIns="91440" tIns="45720" rIns="91440" bIns="45720" rtlCol="0" anchor="ctr"/>
          <a:lstStyle>
            <a:lvl1pPr algn="l">
              <a:defRPr sz="1200">
                <a:solidFill>
                  <a:schemeClr val="bg1"/>
                </a:solidFill>
              </a:defRPr>
            </a:lvl1pPr>
          </a:lstStyle>
          <a:p>
            <a:fld id="{A90C3CAC-04C1-4CA4-98F0-49CD057AD2FD}" type="datetime1">
              <a:rPr lang="en-GB" smtClean="0"/>
              <a:pPr/>
              <a:t>16/11/2025</a:t>
            </a:fld>
            <a:endParaRPr lang="en-GB" dirty="0"/>
          </a:p>
        </p:txBody>
      </p:sp>
      <p:sp>
        <p:nvSpPr>
          <p:cNvPr id="11" name="Free-form: Shape 13">
            <a:extLst>
              <a:ext uri="{FF2B5EF4-FFF2-40B4-BE49-F238E27FC236}">
                <a16:creationId xmlns="" xmlns:a16="http://schemas.microsoft.com/office/drawing/2014/main" id="{1ABD3F4B-4853-EC8E-00EB-5109F86CE0F1}"/>
              </a:ext>
            </a:extLst>
          </p:cNvPr>
          <p:cNvSpPr/>
          <p:nvPr userDrawn="1"/>
        </p:nvSpPr>
        <p:spPr>
          <a:xfrm rot="10800000">
            <a:off x="-35168" y="277945"/>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chemeClr val="accent4">
                  <a:lumMod val="20000"/>
                  <a:lumOff val="80000"/>
                </a:schemeClr>
              </a:gs>
              <a:gs pos="50000">
                <a:schemeClr val="bg1"/>
              </a:gs>
              <a:gs pos="100000">
                <a:schemeClr val="accent4">
                  <a:lumMod val="20000"/>
                  <a:lumOff val="80000"/>
                </a:schemeClr>
              </a:gs>
            </a:gsLst>
            <a:lin ang="0" scaled="1"/>
            <a:tileRect/>
          </a:gradFill>
          <a:ln w="15875">
            <a:solidFill>
              <a:schemeClr val="accent1">
                <a:alpha val="0"/>
              </a:schemeClr>
            </a:solid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Free-form: Shape 13">
            <a:extLst>
              <a:ext uri="{FF2B5EF4-FFF2-40B4-BE49-F238E27FC236}">
                <a16:creationId xmlns="" xmlns:a16="http://schemas.microsoft.com/office/drawing/2014/main" id="{2BF40EC9-0D42-5E08-04BD-F330229C7518}"/>
              </a:ext>
            </a:extLst>
          </p:cNvPr>
          <p:cNvSpPr/>
          <p:nvPr userDrawn="1"/>
        </p:nvSpPr>
        <p:spPr>
          <a:xfrm rot="10800000">
            <a:off x="-2090" y="-18190"/>
            <a:ext cx="12192000" cy="89882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Free-form: Shape 13">
            <a:extLst>
              <a:ext uri="{FF2B5EF4-FFF2-40B4-BE49-F238E27FC236}">
                <a16:creationId xmlns="" xmlns:a16="http://schemas.microsoft.com/office/drawing/2014/main" id="{0BB1BAA4-B843-57F3-9FCE-C9585D332FAE}"/>
              </a:ext>
            </a:extLst>
          </p:cNvPr>
          <p:cNvSpPr/>
          <p:nvPr userDrawn="1"/>
        </p:nvSpPr>
        <p:spPr>
          <a:xfrm rot="10800000">
            <a:off x="-26376" y="-254312"/>
            <a:ext cx="12218376" cy="965187"/>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chemeClr val="accent4">
                  <a:lumMod val="40000"/>
                  <a:lumOff val="60000"/>
                </a:schemeClr>
              </a:gs>
              <a:gs pos="100000">
                <a:schemeClr val="bg1"/>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laceholder 1">
            <a:extLst>
              <a:ext uri="{FF2B5EF4-FFF2-40B4-BE49-F238E27FC236}">
                <a16:creationId xmlns="" xmlns:a16="http://schemas.microsoft.com/office/drawing/2014/main" id="{74A75E23-C68E-95B1-6539-4A187BBC42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dirty="0"/>
              <a:t>Mastertitelformat bearbeiten</a:t>
            </a:r>
            <a:endParaRPr lang="en-GB" dirty="0"/>
          </a:p>
        </p:txBody>
      </p:sp>
    </p:spTree>
    <p:extLst>
      <p:ext uri="{BB962C8B-B14F-4D97-AF65-F5344CB8AC3E}">
        <p14:creationId xmlns="" xmlns:p14="http://schemas.microsoft.com/office/powerpoint/2010/main" val="2653178425"/>
      </p:ext>
    </p:extLst>
  </p:cSld>
  <p:clrMap bg1="lt1" tx1="dk1" bg2="lt2" tx2="dk2" accent1="accent1" accent2="accent2" accent3="accent3" accent4="accent4" accent5="accent5" accent6="accent6" hlink="hlink" folHlink="folHlink"/>
  <p:sldLayoutIdLst>
    <p:sldLayoutId id="2147483687" r:id="rId1"/>
    <p:sldLayoutId id="2147483663" r:id="rId2"/>
    <p:sldLayoutId id="2147483686" r:id="rId3"/>
    <p:sldLayoutId id="2147483674" r:id="rId4"/>
    <p:sldLayoutId id="2147483685" r:id="rId5"/>
    <p:sldLayoutId id="2147483684" r:id="rId6"/>
    <p:sldLayoutId id="2147483688" r:id="rId7"/>
    <p:sldLayoutId id="2147483666" r:id="rId8"/>
    <p:sldLayoutId id="2147483689" r:id="rId9"/>
    <p:sldLayoutId id="2147483662" r:id="rId10"/>
    <p:sldLayoutId id="2147483690" r:id="rId11"/>
    <p:sldLayoutId id="2147483664" r:id="rId12"/>
    <p:sldLayoutId id="2147483665" r:id="rId13"/>
    <p:sldLayoutId id="2147483667" r:id="rId14"/>
    <p:sldLayoutId id="2147483668" r:id="rId15"/>
    <p:sldLayoutId id="2147483669" r:id="rId16"/>
    <p:sldLayoutId id="2147483670" r:id="rId17"/>
    <p:sldLayoutId id="2147483671" r:id="rId18"/>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196580-01E6-4EFE-836F-AA1E171E6E67}" type="datetimeFigureOut">
              <a:rPr lang="en-US" smtClean="0"/>
              <a:pPr/>
              <a:t>16-Nov-25</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957B9B0-7DA0-449E-A7EC-01D9B7BD21C2}"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 xmlns:a16="http://schemas.microsoft.com/office/drawing/2014/main" id="{65620995-1DFE-FB81-B1FD-1F43AD25E6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dirty="0"/>
              <a:t>Mastertitelformat bearbeiten</a:t>
            </a:r>
          </a:p>
        </p:txBody>
      </p:sp>
      <p:sp>
        <p:nvSpPr>
          <p:cNvPr id="3" name="Textplatzhalter 2">
            <a:extLst>
              <a:ext uri="{FF2B5EF4-FFF2-40B4-BE49-F238E27FC236}">
                <a16:creationId xmlns="" xmlns:a16="http://schemas.microsoft.com/office/drawing/2014/main" id="{BF9FFA78-25BC-8AF7-71C4-CCA91A9325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Footer Placeholder 4">
            <a:extLst>
              <a:ext uri="{FF2B5EF4-FFF2-40B4-BE49-F238E27FC236}">
                <a16:creationId xmlns="" xmlns:a16="http://schemas.microsoft.com/office/drawing/2014/main" id="{8CB32A29-5E71-00A9-66DA-1FED8EA8FAF3}"/>
              </a:ext>
            </a:extLst>
          </p:cNvPr>
          <p:cNvSpPr>
            <a:spLocks noGrp="1"/>
          </p:cNvSpPr>
          <p:nvPr>
            <p:ph type="ftr" sz="quarter" idx="3"/>
          </p:nvPr>
        </p:nvSpPr>
        <p:spPr>
          <a:xfrm>
            <a:off x="8474613" y="6564113"/>
            <a:ext cx="2879187" cy="365125"/>
          </a:xfrm>
          <a:prstGeom prst="rect">
            <a:avLst/>
          </a:prstGeom>
        </p:spPr>
        <p:txBody>
          <a:bodyPr vert="horz" lIns="91440" tIns="45720" rIns="91440" bIns="45720" rtlCol="0" anchor="ctr"/>
          <a:lstStyle>
            <a:lvl1pPr algn="r">
              <a:defRPr sz="1200">
                <a:solidFill>
                  <a:schemeClr val="bg1"/>
                </a:solidFill>
              </a:defRPr>
            </a:lvl1pPr>
          </a:lstStyle>
          <a:p>
            <a:r>
              <a:rPr lang="en-GB" dirty="0"/>
              <a:t>Rotor Hub and Pitch System / Optimus Syria</a:t>
            </a:r>
          </a:p>
        </p:txBody>
      </p:sp>
      <p:sp>
        <p:nvSpPr>
          <p:cNvPr id="8" name="Slide Number Placeholder 5">
            <a:extLst>
              <a:ext uri="{FF2B5EF4-FFF2-40B4-BE49-F238E27FC236}">
                <a16:creationId xmlns="" xmlns:a16="http://schemas.microsoft.com/office/drawing/2014/main" id="{75A1141D-8ADF-66F7-AB0C-CAA4E1B2CB82}"/>
              </a:ext>
            </a:extLst>
          </p:cNvPr>
          <p:cNvSpPr>
            <a:spLocks noGrp="1"/>
          </p:cNvSpPr>
          <p:nvPr>
            <p:ph type="sldNum" sz="quarter" idx="4"/>
          </p:nvPr>
        </p:nvSpPr>
        <p:spPr>
          <a:xfrm>
            <a:off x="1949570" y="6566803"/>
            <a:ext cx="928958" cy="365125"/>
          </a:xfrm>
          <a:prstGeom prst="rect">
            <a:avLst/>
          </a:prstGeom>
        </p:spPr>
        <p:txBody>
          <a:bodyPr vert="horz" lIns="91440" tIns="45720" rIns="91440" bIns="45720" rtlCol="0" anchor="ctr"/>
          <a:lstStyle>
            <a:lvl1pPr algn="ctr">
              <a:defRPr sz="1200">
                <a:solidFill>
                  <a:schemeClr val="bg1"/>
                </a:solidFill>
              </a:defRPr>
            </a:lvl1pPr>
          </a:lstStyle>
          <a:p>
            <a:fld id="{013F6232-4F06-48BA-8F69-BF531F607829}" type="slidenum">
              <a:rPr lang="en-GB" smtClean="0"/>
              <a:pPr/>
              <a:t>‹#›</a:t>
            </a:fld>
            <a:endParaRPr lang="en-GB" dirty="0"/>
          </a:p>
        </p:txBody>
      </p:sp>
      <p:sp>
        <p:nvSpPr>
          <p:cNvPr id="9" name="Date Placeholder 3">
            <a:extLst>
              <a:ext uri="{FF2B5EF4-FFF2-40B4-BE49-F238E27FC236}">
                <a16:creationId xmlns="" xmlns:a16="http://schemas.microsoft.com/office/drawing/2014/main" id="{07138566-A99B-8C60-010B-13E0F43C5657}"/>
              </a:ext>
            </a:extLst>
          </p:cNvPr>
          <p:cNvSpPr>
            <a:spLocks noGrp="1"/>
          </p:cNvSpPr>
          <p:nvPr>
            <p:ph type="dt" sz="half" idx="2"/>
          </p:nvPr>
        </p:nvSpPr>
        <p:spPr>
          <a:xfrm>
            <a:off x="838200" y="6566803"/>
            <a:ext cx="1111370" cy="365125"/>
          </a:xfrm>
          <a:prstGeom prst="rect">
            <a:avLst/>
          </a:prstGeom>
        </p:spPr>
        <p:txBody>
          <a:bodyPr vert="horz" lIns="91440" tIns="45720" rIns="91440" bIns="45720" rtlCol="0" anchor="ctr"/>
          <a:lstStyle>
            <a:lvl1pPr algn="l">
              <a:defRPr sz="1200">
                <a:solidFill>
                  <a:schemeClr val="bg1"/>
                </a:solidFill>
              </a:defRPr>
            </a:lvl1pPr>
          </a:lstStyle>
          <a:p>
            <a:fld id="{EA0CBDBF-D81E-48AE-86BB-BD540A8A418D}" type="datetime1">
              <a:rPr lang="en-GB" smtClean="0"/>
              <a:pPr/>
              <a:t>16/11/2025</a:t>
            </a:fld>
            <a:endParaRPr lang="en-GB" dirty="0"/>
          </a:p>
        </p:txBody>
      </p:sp>
    </p:spTree>
    <p:extLst>
      <p:ext uri="{BB962C8B-B14F-4D97-AF65-F5344CB8AC3E}">
        <p14:creationId xmlns="" xmlns:p14="http://schemas.microsoft.com/office/powerpoint/2010/main" val="3811557844"/>
      </p:ext>
    </p:extLst>
  </p:cSld>
  <p:clrMap bg1="lt1" tx1="dk1" bg2="lt2" tx2="dk2" accent1="accent1" accent2="accent2" accent3="accent3" accent4="accent4" accent5="accent5" accent6="accent6" hlink="hlink" folHlink="folHlink"/>
  <p:sldLayoutIdLst>
    <p:sldLayoutId id="2147483673" r:id="rId1"/>
    <p:sldLayoutId id="2147483675" r:id="rId2"/>
    <p:sldLayoutId id="2147483676" r:id="rId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1.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8" Type="http://schemas.openxmlformats.org/officeDocument/2006/relationships/hyperlink" Target="https://www.skf.com/binaries/pub12/Images/0901d1968019d1ed-17099EN_SKF_Automatic_Lubricators_tcm_12-66465.pdf" TargetMode="External"/><Relationship Id="rId3" Type="http://schemas.openxmlformats.org/officeDocument/2006/relationships/hyperlink" Target="http://www.ith.de/schraubwerkzeuge/hydraulische-drehmomentschrauber" TargetMode="External"/><Relationship Id="rId7" Type="http://schemas.openxmlformats.org/officeDocument/2006/relationships/hyperlink" Target="https://www.machinerylubrication.com/Read/29285/manual-automatic-lubrication" TargetMode="External"/><Relationship Id="rId2" Type="http://schemas.openxmlformats.org/officeDocument/2006/relationships/hyperlink" Target="https://www.bonfiglioli.com/_default_upload_bucket/TR_CAT_WIND_STD_ENG_R05_1.pdf?_gl=1*st0uf6*_up*MQ..*_ga*MTkwODc0NTgyMS4xNzYzMTE5NzE0*_ga_B0519ZEPFF*czE3NjMxMTk3MTQkbzEkZzAkdDE3NjMxMTk3MTQkajYwJGwwJGgw" TargetMode="External"/><Relationship Id="rId1" Type="http://schemas.openxmlformats.org/officeDocument/2006/relationships/slideLayout" Target="../slideLayouts/slideLayout11.xml"/><Relationship Id="rId6" Type="http://schemas.openxmlformats.org/officeDocument/2006/relationships/hyperlink" Target="https://www.skf.com/group/industries/wind-energy/operation-and-maintenance/windlub" TargetMode="External"/><Relationship Id="rId5" Type="http://schemas.openxmlformats.org/officeDocument/2006/relationships/hyperlink" Target="https://download.sew-eurodrive.com/download/pdf/22134204_G07.pdf(14.11.2025)" TargetMode="External"/><Relationship Id="rId4" Type="http://schemas.openxmlformats.org/officeDocument/2006/relationships/hyperlink" Target="https://search.abb.com/library/Download.aspx?DocumentID=9AKK107743&amp;LanguageCode=en&amp;DocumentPartId=IE5%20&amp;%20High%20output&amp;Action=Launch"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umsplatzhalter 4">
            <a:extLst>
              <a:ext uri="{FF2B5EF4-FFF2-40B4-BE49-F238E27FC236}">
                <a16:creationId xmlns="" xmlns:a16="http://schemas.microsoft.com/office/drawing/2014/main" id="{626B2514-13D3-FEE4-A76A-25778AA00477}"/>
              </a:ext>
            </a:extLst>
          </p:cNvPr>
          <p:cNvSpPr>
            <a:spLocks noGrp="1"/>
          </p:cNvSpPr>
          <p:nvPr>
            <p:ph type="dt" sz="half" idx="11"/>
          </p:nvPr>
        </p:nvSpPr>
        <p:spPr/>
        <p:txBody>
          <a:bodyPr/>
          <a:lstStyle/>
          <a:p>
            <a:fld id="{B47C1733-F87C-4CC9-88C2-2A7482A75C5A}" type="datetime1">
              <a:rPr lang="en-GB" smtClean="0"/>
              <a:pPr/>
              <a:t>16/11/2025</a:t>
            </a:fld>
            <a:endParaRPr lang="en-GB" dirty="0"/>
          </a:p>
        </p:txBody>
      </p:sp>
      <p:sp>
        <p:nvSpPr>
          <p:cNvPr id="6" name="Fußzeilenplatzhalter 5">
            <a:extLst>
              <a:ext uri="{FF2B5EF4-FFF2-40B4-BE49-F238E27FC236}">
                <a16:creationId xmlns="" xmlns:a16="http://schemas.microsoft.com/office/drawing/2014/main" id="{8F11D7F1-39D2-6CD0-A45E-2199A3CF9435}"/>
              </a:ext>
            </a:extLst>
          </p:cNvPr>
          <p:cNvSpPr>
            <a:spLocks noGrp="1"/>
          </p:cNvSpPr>
          <p:nvPr>
            <p:ph type="ftr" sz="quarter" idx="12"/>
          </p:nvPr>
        </p:nvSpPr>
        <p:spPr>
          <a:xfrm>
            <a:off x="7968343" y="6564113"/>
            <a:ext cx="3385457" cy="365125"/>
          </a:xfrm>
        </p:spPr>
        <p:txBody>
          <a:bodyPr/>
          <a:lstStyle/>
          <a:p>
            <a:r>
              <a:rPr lang="en-GB" dirty="0"/>
              <a:t>Rotor Hub and Pitch System / Optimus Syria</a:t>
            </a:r>
          </a:p>
        </p:txBody>
      </p:sp>
      <p:sp>
        <p:nvSpPr>
          <p:cNvPr id="7" name="Foliennummernplatzhalter 6">
            <a:extLst>
              <a:ext uri="{FF2B5EF4-FFF2-40B4-BE49-F238E27FC236}">
                <a16:creationId xmlns="" xmlns:a16="http://schemas.microsoft.com/office/drawing/2014/main" id="{4E7ED1BF-5D66-636D-5730-97FE37F44811}"/>
              </a:ext>
            </a:extLst>
          </p:cNvPr>
          <p:cNvSpPr>
            <a:spLocks noGrp="1"/>
          </p:cNvSpPr>
          <p:nvPr>
            <p:ph type="sldNum" sz="quarter" idx="13"/>
          </p:nvPr>
        </p:nvSpPr>
        <p:spPr/>
        <p:txBody>
          <a:bodyPr/>
          <a:lstStyle/>
          <a:p>
            <a:fld id="{013F6232-4F06-48BA-8F69-BF531F607829}" type="slidenum">
              <a:rPr lang="en-GB" smtClean="0"/>
              <a:pPr/>
              <a:t>1</a:t>
            </a:fld>
            <a:endParaRPr lang="en-GB" dirty="0"/>
          </a:p>
        </p:txBody>
      </p:sp>
      <p:sp>
        <p:nvSpPr>
          <p:cNvPr id="10" name="Title 1">
            <a:extLst>
              <a:ext uri="{FF2B5EF4-FFF2-40B4-BE49-F238E27FC236}">
                <a16:creationId xmlns="" xmlns:a16="http://schemas.microsoft.com/office/drawing/2014/main" id="{99F47672-3CC8-A3D9-5404-84F2B78B6280}"/>
              </a:ext>
            </a:extLst>
          </p:cNvPr>
          <p:cNvSpPr>
            <a:spLocks noGrp="1"/>
          </p:cNvSpPr>
          <p:nvPr>
            <p:ph type="ctrTitle"/>
          </p:nvPr>
        </p:nvSpPr>
        <p:spPr>
          <a:xfrm>
            <a:off x="1215894" y="2726598"/>
            <a:ext cx="9144000" cy="912598"/>
          </a:xfrm>
        </p:spPr>
        <p:txBody>
          <a:bodyPr>
            <a:noAutofit/>
          </a:bodyPr>
          <a:lstStyle/>
          <a:p>
            <a:r>
              <a:rPr lang="it-IT" sz="4000" dirty="0">
                <a:latin typeface="Times New Roman" pitchFamily="18" charset="0"/>
                <a:cs typeface="Times New Roman" pitchFamily="18" charset="0"/>
              </a:rPr>
              <a:t>Rotor Hub And Pitch System</a:t>
            </a:r>
            <a:endParaRPr lang="en-GB" sz="4000" dirty="0">
              <a:latin typeface="Times New Roman" pitchFamily="18" charset="0"/>
              <a:cs typeface="Times New Roman" pitchFamily="18" charset="0"/>
            </a:endParaRPr>
          </a:p>
        </p:txBody>
      </p:sp>
      <p:sp>
        <p:nvSpPr>
          <p:cNvPr id="15" name="TextBox 14"/>
          <p:cNvSpPr txBox="1"/>
          <p:nvPr/>
        </p:nvSpPr>
        <p:spPr>
          <a:xfrm>
            <a:off x="407963" y="4121834"/>
            <a:ext cx="3130088" cy="1477328"/>
          </a:xfrm>
          <a:prstGeom prst="rect">
            <a:avLst/>
          </a:prstGeom>
          <a:noFill/>
        </p:spPr>
        <p:txBody>
          <a:bodyPr wrap="none" rtlCol="0">
            <a:spAutoFit/>
          </a:bodyPr>
          <a:lstStyle/>
          <a:p>
            <a:r>
              <a:rPr lang="en-US" b="1" dirty="0">
                <a:latin typeface="Times New Roman" pitchFamily="18" charset="0"/>
                <a:cs typeface="Times New Roman" pitchFamily="18" charset="0"/>
              </a:rPr>
              <a:t>Group Members :</a:t>
            </a:r>
          </a:p>
          <a:p>
            <a:pPr marL="342900" indent="-342900">
              <a:buFont typeface="+mj-lt"/>
              <a:buAutoNum type="arabicPeriod"/>
            </a:pPr>
            <a:r>
              <a:rPr lang="en-US" dirty="0">
                <a:latin typeface="Times New Roman" pitchFamily="18" charset="0"/>
                <a:cs typeface="Times New Roman" pitchFamily="18" charset="0"/>
              </a:rPr>
              <a:t>Dhruvin Kakdiya</a:t>
            </a:r>
          </a:p>
          <a:p>
            <a:pPr marL="342900" indent="-342900">
              <a:buFont typeface="+mj-lt"/>
              <a:buAutoNum type="arabicPeriod"/>
            </a:pPr>
            <a:r>
              <a:rPr lang="en-US" dirty="0">
                <a:latin typeface="Times New Roman" pitchFamily="18" charset="0"/>
                <a:cs typeface="Times New Roman" pitchFamily="18" charset="0"/>
              </a:rPr>
              <a:t>Adharsh Pappinisseri Veedu</a:t>
            </a:r>
          </a:p>
          <a:p>
            <a:pPr marL="342900" indent="-342900">
              <a:buFont typeface="+mj-lt"/>
              <a:buAutoNum type="arabicPeriod"/>
            </a:pPr>
            <a:r>
              <a:rPr lang="en-US" dirty="0">
                <a:latin typeface="Times New Roman" pitchFamily="18" charset="0"/>
                <a:cs typeface="Times New Roman" pitchFamily="18" charset="0"/>
              </a:rPr>
              <a:t>Muthu Thirunavukarasu</a:t>
            </a:r>
          </a:p>
          <a:p>
            <a:pPr marL="342900" indent="-342900">
              <a:buFont typeface="+mj-lt"/>
              <a:buAutoNum type="arabicPeriod"/>
            </a:pPr>
            <a:r>
              <a:rPr lang="en-US" dirty="0">
                <a:latin typeface="Times New Roman" pitchFamily="18" charset="0"/>
                <a:cs typeface="Times New Roman" pitchFamily="18" charset="0"/>
              </a:rPr>
              <a:t>Syed Mohammed Sikandar</a:t>
            </a:r>
          </a:p>
        </p:txBody>
      </p:sp>
      <p:sp>
        <p:nvSpPr>
          <p:cNvPr id="16" name="Subtitle 2">
            <a:extLst>
              <a:ext uri="{FF2B5EF4-FFF2-40B4-BE49-F238E27FC236}">
                <a16:creationId xmlns="" xmlns:a16="http://schemas.microsoft.com/office/drawing/2014/main" id="{277A63BB-08BE-619B-2533-3CC69CC19E93}"/>
              </a:ext>
            </a:extLst>
          </p:cNvPr>
          <p:cNvSpPr>
            <a:spLocks noGrp="1"/>
          </p:cNvSpPr>
          <p:nvPr>
            <p:ph type="subTitle" idx="1"/>
          </p:nvPr>
        </p:nvSpPr>
        <p:spPr>
          <a:xfrm>
            <a:off x="5908430" y="4188655"/>
            <a:ext cx="5899051" cy="1655762"/>
          </a:xfrm>
        </p:spPr>
        <p:txBody>
          <a:bodyPr>
            <a:normAutofit/>
          </a:bodyPr>
          <a:lstStyle/>
          <a:p>
            <a:r>
              <a:rPr lang="it-IT" sz="2000" dirty="0">
                <a:latin typeface="Times New Roman" pitchFamily="18" charset="0"/>
                <a:cs typeface="Times New Roman" pitchFamily="18" charset="0"/>
              </a:rPr>
              <a:t>Week number : </a:t>
            </a:r>
            <a:r>
              <a:rPr lang="it-IT" sz="2000" dirty="0" smtClean="0">
                <a:latin typeface="Times New Roman" pitchFamily="18" charset="0"/>
                <a:cs typeface="Times New Roman" pitchFamily="18" charset="0"/>
              </a:rPr>
              <a:t>08</a:t>
            </a:r>
            <a:endParaRPr lang="it-IT" sz="2000" dirty="0">
              <a:latin typeface="Times New Roman" pitchFamily="18" charset="0"/>
              <a:cs typeface="Times New Roman" pitchFamily="18" charset="0"/>
            </a:endParaRPr>
          </a:p>
          <a:p>
            <a:r>
              <a:rPr lang="it-IT" sz="2000" dirty="0">
                <a:latin typeface="Times New Roman" pitchFamily="18" charset="0"/>
                <a:cs typeface="Times New Roman" pitchFamily="18" charset="0"/>
              </a:rPr>
              <a:t>Date: </a:t>
            </a:r>
            <a:r>
              <a:rPr lang="it-IT" sz="2000" dirty="0" smtClean="0">
                <a:latin typeface="Times New Roman" pitchFamily="18" charset="0"/>
                <a:cs typeface="Times New Roman" pitchFamily="18" charset="0"/>
              </a:rPr>
              <a:t>18/11/2025</a:t>
            </a:r>
            <a:endParaRPr lang="it-IT" sz="2000" dirty="0">
              <a:latin typeface="Times New Roman" pitchFamily="18" charset="0"/>
              <a:cs typeface="Times New Roman" pitchFamily="18" charset="0"/>
            </a:endParaRPr>
          </a:p>
          <a:p>
            <a:r>
              <a:rPr lang="it-IT" sz="2000" dirty="0">
                <a:latin typeface="Times New Roman" pitchFamily="18" charset="0"/>
                <a:cs typeface="Times New Roman" pitchFamily="18" charset="0"/>
              </a:rPr>
              <a:t>Supervisor: Prof. Peter Quell</a:t>
            </a:r>
            <a:endParaRPr lang="en-GB" sz="2000" dirty="0">
              <a:latin typeface="Times New Roman" pitchFamily="18" charset="0"/>
              <a:cs typeface="Times New Roman" pitchFamily="18" charset="0"/>
            </a:endParaRPr>
          </a:p>
        </p:txBody>
      </p:sp>
    </p:spTree>
    <p:extLst>
      <p:ext uri="{BB962C8B-B14F-4D97-AF65-F5344CB8AC3E}">
        <p14:creationId xmlns="" xmlns:p14="http://schemas.microsoft.com/office/powerpoint/2010/main" val="1515102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2">
            <a:extLst>
              <a:ext uri="{FF2B5EF4-FFF2-40B4-BE49-F238E27FC236}">
                <a16:creationId xmlns="" xmlns:a16="http://schemas.microsoft.com/office/drawing/2014/main" id="{0C666DE2-1276-7519-CD3A-64862C4F70AB}"/>
              </a:ext>
            </a:extLst>
          </p:cNvPr>
          <p:cNvSpPr>
            <a:spLocks noGrp="1"/>
          </p:cNvSpPr>
          <p:nvPr>
            <p:ph idx="1"/>
          </p:nvPr>
        </p:nvSpPr>
        <p:spPr/>
        <p:txBody>
          <a:bodyPr>
            <a:normAutofit/>
          </a:bodyPr>
          <a:lstStyle>
            <a:lvl1pPr marL="514350" indent="-514350">
              <a:buFont typeface="+mj-lt"/>
              <a:buAutoNum type="arabicPeriod"/>
              <a:defRPr sz="2200"/>
            </a:lvl1pPr>
            <a:lvl2pPr marL="971550" indent="-514350">
              <a:buFont typeface="+mj-lt"/>
              <a:buAutoNum type="romanLcPeriod"/>
              <a:defRPr sz="2000"/>
            </a:lvl2pPr>
          </a:lstStyle>
          <a:p>
            <a:pPr lvl="1">
              <a:lnSpc>
                <a:spcPct val="150000"/>
              </a:lnSpc>
              <a:buNone/>
            </a:pPr>
            <a:endParaRPr lang="en-US" sz="2800" dirty="0">
              <a:latin typeface="Arial" panose="020B0604020202020204" pitchFamily="34" charset="0"/>
              <a:cs typeface="Arial" panose="020B0604020202020204" pitchFamily="34" charset="0"/>
            </a:endParaRPr>
          </a:p>
          <a:p>
            <a:pPr lvl="1">
              <a:lnSpc>
                <a:spcPct val="150000"/>
              </a:lnSpc>
              <a:buFont typeface="+mj-lt"/>
              <a:buAutoNum type="arabicPeriod"/>
            </a:pPr>
            <a:endParaRPr lang="de-DE" sz="2800" dirty="0">
              <a:latin typeface="Times New Roman" pitchFamily="18" charset="0"/>
              <a:cs typeface="Times New Roman" pitchFamily="18" charset="0"/>
            </a:endParaRPr>
          </a:p>
        </p:txBody>
      </p:sp>
      <p:sp>
        <p:nvSpPr>
          <p:cNvPr id="22" name="Titel 21">
            <a:extLst>
              <a:ext uri="{FF2B5EF4-FFF2-40B4-BE49-F238E27FC236}">
                <a16:creationId xmlns="" xmlns:a16="http://schemas.microsoft.com/office/drawing/2014/main" id="{C01C5AA7-5821-01BD-1AC8-74837347C777}"/>
              </a:ext>
            </a:extLst>
          </p:cNvPr>
          <p:cNvSpPr>
            <a:spLocks noGrp="1"/>
          </p:cNvSpPr>
          <p:nvPr>
            <p:ph type="title"/>
          </p:nvPr>
        </p:nvSpPr>
        <p:spPr>
          <a:xfrm>
            <a:off x="851263" y="0"/>
            <a:ext cx="10515600" cy="1325563"/>
          </a:xfrm>
        </p:spPr>
        <p:txBody>
          <a:bodyPr/>
          <a:lstStyle/>
          <a:p>
            <a:pPr algn="ctr"/>
            <a:r>
              <a:rPr lang="de-DE" dirty="0">
                <a:latin typeface="Times New Roman" pitchFamily="18" charset="0"/>
                <a:cs typeface="Times New Roman" pitchFamily="18" charset="0"/>
              </a:rPr>
              <a:t>List of contents </a:t>
            </a:r>
          </a:p>
        </p:txBody>
      </p:sp>
      <p:sp>
        <p:nvSpPr>
          <p:cNvPr id="23" name="Datumsplatzhalter 22">
            <a:extLst>
              <a:ext uri="{FF2B5EF4-FFF2-40B4-BE49-F238E27FC236}">
                <a16:creationId xmlns="" xmlns:a16="http://schemas.microsoft.com/office/drawing/2014/main" id="{278CF838-7112-4F3F-EAE6-B2D4ED8FB4EE}"/>
              </a:ext>
            </a:extLst>
          </p:cNvPr>
          <p:cNvSpPr>
            <a:spLocks noGrp="1"/>
          </p:cNvSpPr>
          <p:nvPr>
            <p:ph type="dt" sz="half" idx="10"/>
          </p:nvPr>
        </p:nvSpPr>
        <p:spPr/>
        <p:txBody>
          <a:bodyPr/>
          <a:lstStyle/>
          <a:p>
            <a:fld id="{2CA69754-B76E-4698-9FD4-22B63EC7C81C}" type="datetime1">
              <a:rPr lang="en-GB" smtClean="0"/>
              <a:pPr/>
              <a:t>16/11/2025</a:t>
            </a:fld>
            <a:endParaRPr lang="en-GB" dirty="0"/>
          </a:p>
        </p:txBody>
      </p:sp>
      <p:sp>
        <p:nvSpPr>
          <p:cNvPr id="24" name="Fußzeilenplatzhalter 23">
            <a:extLst>
              <a:ext uri="{FF2B5EF4-FFF2-40B4-BE49-F238E27FC236}">
                <a16:creationId xmlns="" xmlns:a16="http://schemas.microsoft.com/office/drawing/2014/main" id="{7A4CB245-78A9-C73E-8215-8D18B2739C00}"/>
              </a:ext>
            </a:extLst>
          </p:cNvPr>
          <p:cNvSpPr>
            <a:spLocks noGrp="1"/>
          </p:cNvSpPr>
          <p:nvPr>
            <p:ph type="ftr" sz="quarter" idx="11"/>
          </p:nvPr>
        </p:nvSpPr>
        <p:spPr>
          <a:xfrm>
            <a:off x="7968343" y="6564113"/>
            <a:ext cx="3385457" cy="365125"/>
          </a:xfrm>
        </p:spPr>
        <p:txBody>
          <a:bodyPr/>
          <a:lstStyle/>
          <a:p>
            <a:r>
              <a:rPr lang="en-GB" dirty="0"/>
              <a:t>Rotor Hub and Pitch System / Optimus Syria</a:t>
            </a:r>
          </a:p>
        </p:txBody>
      </p:sp>
      <p:sp>
        <p:nvSpPr>
          <p:cNvPr id="25" name="Foliennummernplatzhalter 24">
            <a:extLst>
              <a:ext uri="{FF2B5EF4-FFF2-40B4-BE49-F238E27FC236}">
                <a16:creationId xmlns="" xmlns:a16="http://schemas.microsoft.com/office/drawing/2014/main" id="{1F1D02DB-C1C0-0C64-772D-D708982E9FB1}"/>
              </a:ext>
            </a:extLst>
          </p:cNvPr>
          <p:cNvSpPr>
            <a:spLocks noGrp="1"/>
          </p:cNvSpPr>
          <p:nvPr>
            <p:ph type="sldNum" sz="quarter" idx="12"/>
          </p:nvPr>
        </p:nvSpPr>
        <p:spPr/>
        <p:txBody>
          <a:bodyPr/>
          <a:lstStyle/>
          <a:p>
            <a:fld id="{013F6232-4F06-48BA-8F69-BF531F607829}" type="slidenum">
              <a:rPr lang="en-GB" smtClean="0"/>
              <a:pPr/>
              <a:t>2</a:t>
            </a:fld>
            <a:endParaRPr lang="en-GB"/>
          </a:p>
        </p:txBody>
      </p:sp>
      <p:sp>
        <p:nvSpPr>
          <p:cNvPr id="8" name="Text Placeholder 7"/>
          <p:cNvSpPr>
            <a:spLocks noGrp="1"/>
          </p:cNvSpPr>
          <p:nvPr>
            <p:ph type="body" sz="quarter" idx="18"/>
          </p:nvPr>
        </p:nvSpPr>
        <p:spPr/>
        <p:txBody>
          <a:bodyPr>
            <a:normAutofit/>
          </a:bodyPr>
          <a:lstStyle/>
          <a:p>
            <a:pPr marL="342900" indent="-342900"/>
            <a:r>
              <a:rPr lang="en-US" sz="1400" dirty="0" err="1">
                <a:latin typeface="Times New Roman" pitchFamily="18" charset="0"/>
                <a:cs typeface="Times New Roman" pitchFamily="18" charset="0"/>
              </a:rPr>
              <a:t>Dhruvin</a:t>
            </a:r>
            <a:r>
              <a:rPr lang="en-US" sz="1400" dirty="0">
                <a:latin typeface="Times New Roman" pitchFamily="18" charset="0"/>
                <a:cs typeface="Times New Roman" pitchFamily="18" charset="0"/>
              </a:rPr>
              <a:t> </a:t>
            </a:r>
            <a:r>
              <a:rPr lang="en-US" sz="1400" dirty="0" err="1">
                <a:latin typeface="Times New Roman" pitchFamily="18" charset="0"/>
                <a:cs typeface="Times New Roman" pitchFamily="18" charset="0"/>
              </a:rPr>
              <a:t>Kakdiya</a:t>
            </a:r>
            <a:endParaRPr lang="en-US" sz="1400" dirty="0">
              <a:latin typeface="Times New Roman" pitchFamily="18" charset="0"/>
              <a:cs typeface="Times New Roman" pitchFamily="18" charset="0"/>
            </a:endParaRPr>
          </a:p>
        </p:txBody>
      </p:sp>
      <p:sp>
        <p:nvSpPr>
          <p:cNvPr id="10" name="TextBox 9"/>
          <p:cNvSpPr txBox="1"/>
          <p:nvPr/>
        </p:nvSpPr>
        <p:spPr>
          <a:xfrm>
            <a:off x="1175657" y="1867989"/>
            <a:ext cx="4373313" cy="2554545"/>
          </a:xfrm>
          <a:prstGeom prst="rect">
            <a:avLst/>
          </a:prstGeom>
          <a:noFill/>
        </p:spPr>
        <p:txBody>
          <a:bodyPr wrap="none" rtlCol="0">
            <a:spAutoFit/>
          </a:bodyPr>
          <a:lstStyle/>
          <a:p>
            <a:pPr marL="228600" indent="-228600" algn="l">
              <a:lnSpc>
                <a:spcPct val="200000"/>
              </a:lnSpc>
              <a:buAutoNum type="arabicPeriod"/>
            </a:pPr>
            <a:r>
              <a:rPr lang="en-US" sz="2000" dirty="0" smtClean="0">
                <a:latin typeface="Arial" pitchFamily="34" charset="0"/>
                <a:cs typeface="Arial" pitchFamily="34" charset="0"/>
              </a:rPr>
              <a:t>Bolt calculations</a:t>
            </a:r>
          </a:p>
          <a:p>
            <a:pPr marL="228600" indent="-228600">
              <a:lnSpc>
                <a:spcPct val="200000"/>
              </a:lnSpc>
              <a:buAutoNum type="arabicPeriod"/>
            </a:pPr>
            <a:r>
              <a:rPr lang="en-IN" sz="2000" dirty="0" smtClean="0">
                <a:latin typeface="Arial" pitchFamily="34" charset="0"/>
                <a:cs typeface="Arial" pitchFamily="34" charset="0"/>
              </a:rPr>
              <a:t>Alternative source for pitch System</a:t>
            </a:r>
          </a:p>
          <a:p>
            <a:pPr marL="228600" indent="-228600">
              <a:lnSpc>
                <a:spcPct val="200000"/>
              </a:lnSpc>
              <a:buAutoNum type="arabicPeriod"/>
            </a:pPr>
            <a:r>
              <a:rPr lang="en-IN" sz="2000" dirty="0" smtClean="0">
                <a:latin typeface="Arial" pitchFamily="34" charset="0"/>
                <a:cs typeface="Arial" pitchFamily="34" charset="0"/>
              </a:rPr>
              <a:t> Lubrication System</a:t>
            </a:r>
          </a:p>
          <a:p>
            <a:pPr marL="228600" indent="-228600">
              <a:lnSpc>
                <a:spcPct val="200000"/>
              </a:lnSpc>
              <a:buAutoNum type="arabicPeriod"/>
            </a:pPr>
            <a:r>
              <a:rPr lang="en-US" sz="2000" dirty="0" smtClean="0">
                <a:latin typeface="Arial" pitchFamily="34" charset="0"/>
                <a:cs typeface="Arial" pitchFamily="34" charset="0"/>
              </a:rPr>
              <a:t>CAD Model of Blade Bearing</a:t>
            </a:r>
          </a:p>
        </p:txBody>
      </p:sp>
    </p:spTree>
    <p:extLst>
      <p:ext uri="{BB962C8B-B14F-4D97-AF65-F5344CB8AC3E}">
        <p14:creationId xmlns="" xmlns:p14="http://schemas.microsoft.com/office/powerpoint/2010/main" val="1106553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3187B13-A6D7-9DCF-6F19-72AA1A7E64A3}"/>
            </a:ext>
          </a:extLst>
        </p:cNvPr>
        <p:cNvGrpSpPr/>
        <p:nvPr/>
      </p:nvGrpSpPr>
      <p:grpSpPr>
        <a:xfrm>
          <a:off x="0" y="0"/>
          <a:ext cx="0" cy="0"/>
          <a:chOff x="0" y="0"/>
          <a:chExt cx="0" cy="0"/>
        </a:xfrm>
      </p:grpSpPr>
      <p:sp>
        <p:nvSpPr>
          <p:cNvPr id="4" name="Datumsplatzhalter 3">
            <a:extLst>
              <a:ext uri="{FF2B5EF4-FFF2-40B4-BE49-F238E27FC236}">
                <a16:creationId xmlns="" xmlns:a16="http://schemas.microsoft.com/office/drawing/2014/main" id="{36198DB7-BA0B-B4BB-CC48-BDD78CD68FD4}"/>
              </a:ext>
            </a:extLst>
          </p:cNvPr>
          <p:cNvSpPr>
            <a:spLocks noGrp="1"/>
          </p:cNvSpPr>
          <p:nvPr>
            <p:ph type="dt" sz="half" idx="10"/>
          </p:nvPr>
        </p:nvSpPr>
        <p:spPr/>
        <p:txBody>
          <a:bodyPr/>
          <a:lstStyle/>
          <a:p>
            <a:fld id="{14BC6257-D954-4541-A20C-37FB7797A083}" type="datetime1">
              <a:rPr lang="en-GB" smtClean="0"/>
              <a:pPr/>
              <a:t>16/11/2025</a:t>
            </a:fld>
            <a:endParaRPr lang="en-GB" dirty="0"/>
          </a:p>
        </p:txBody>
      </p:sp>
      <p:sp>
        <p:nvSpPr>
          <p:cNvPr id="6" name="Fußzeilenplatzhalter 5">
            <a:extLst>
              <a:ext uri="{FF2B5EF4-FFF2-40B4-BE49-F238E27FC236}">
                <a16:creationId xmlns="" xmlns:a16="http://schemas.microsoft.com/office/drawing/2014/main" id="{E323E133-B311-53BB-EDA8-08E809A1DE3C}"/>
              </a:ext>
            </a:extLst>
          </p:cNvPr>
          <p:cNvSpPr>
            <a:spLocks noGrp="1"/>
          </p:cNvSpPr>
          <p:nvPr>
            <p:ph type="ftr" sz="quarter" idx="11"/>
          </p:nvPr>
        </p:nvSpPr>
        <p:spPr>
          <a:xfrm>
            <a:off x="7981407" y="6564113"/>
            <a:ext cx="3372394" cy="365125"/>
          </a:xfrm>
        </p:spPr>
        <p:txBody>
          <a:bodyPr/>
          <a:lstStyle/>
          <a:p>
            <a:r>
              <a:rPr lang="en-GB" dirty="0"/>
              <a:t>Rotor Hub and Pitch System / Optimus Syria</a:t>
            </a:r>
          </a:p>
        </p:txBody>
      </p:sp>
      <p:sp>
        <p:nvSpPr>
          <p:cNvPr id="5" name="Foliennummernplatzhalter 4">
            <a:extLst>
              <a:ext uri="{FF2B5EF4-FFF2-40B4-BE49-F238E27FC236}">
                <a16:creationId xmlns="" xmlns:a16="http://schemas.microsoft.com/office/drawing/2014/main" id="{E6CB5DBB-6949-8A9B-B6B9-9C71B20CA957}"/>
              </a:ext>
            </a:extLst>
          </p:cNvPr>
          <p:cNvSpPr>
            <a:spLocks noGrp="1"/>
          </p:cNvSpPr>
          <p:nvPr>
            <p:ph type="sldNum" sz="quarter" idx="12"/>
          </p:nvPr>
        </p:nvSpPr>
        <p:spPr/>
        <p:txBody>
          <a:bodyPr/>
          <a:lstStyle/>
          <a:p>
            <a:fld id="{013F6232-4F06-48BA-8F69-BF531F607829}" type="slidenum">
              <a:rPr lang="en-GB" smtClean="0"/>
              <a:pPr/>
              <a:t>3</a:t>
            </a:fld>
            <a:endParaRPr lang="en-GB" dirty="0"/>
          </a:p>
        </p:txBody>
      </p:sp>
      <p:sp>
        <p:nvSpPr>
          <p:cNvPr id="11" name="Text Placeholder 10"/>
          <p:cNvSpPr>
            <a:spLocks noGrp="1"/>
          </p:cNvSpPr>
          <p:nvPr>
            <p:ph type="body" sz="quarter" idx="18"/>
          </p:nvPr>
        </p:nvSpPr>
        <p:spPr/>
        <p:txBody>
          <a:bodyPr>
            <a:normAutofit/>
          </a:bodyPr>
          <a:lstStyle/>
          <a:p>
            <a:pPr marL="342900" indent="-342900"/>
            <a:r>
              <a:rPr lang="en-US" sz="1400" dirty="0" err="1">
                <a:latin typeface="Times New Roman" pitchFamily="18" charset="0"/>
                <a:cs typeface="Times New Roman" pitchFamily="18" charset="0"/>
              </a:rPr>
              <a:t>Dhruvin</a:t>
            </a:r>
            <a:r>
              <a:rPr lang="en-US" sz="1400" dirty="0">
                <a:latin typeface="Times New Roman" pitchFamily="18" charset="0"/>
                <a:cs typeface="Times New Roman" pitchFamily="18" charset="0"/>
              </a:rPr>
              <a:t> </a:t>
            </a:r>
            <a:r>
              <a:rPr lang="en-US" sz="1400" dirty="0" err="1">
                <a:latin typeface="Times New Roman" pitchFamily="18" charset="0"/>
                <a:cs typeface="Times New Roman" pitchFamily="18" charset="0"/>
              </a:rPr>
              <a:t>Kakdiya</a:t>
            </a:r>
            <a:endParaRPr lang="en-US" sz="1400" dirty="0">
              <a:latin typeface="Times New Roman" pitchFamily="18" charset="0"/>
              <a:cs typeface="Times New Roman" pitchFamily="18" charset="0"/>
            </a:endParaRPr>
          </a:p>
        </p:txBody>
      </p:sp>
      <p:sp>
        <p:nvSpPr>
          <p:cNvPr id="7" name="Rectangle 6"/>
          <p:cNvSpPr/>
          <p:nvPr/>
        </p:nvSpPr>
        <p:spPr>
          <a:xfrm>
            <a:off x="770709" y="553386"/>
            <a:ext cx="10620102" cy="707886"/>
          </a:xfrm>
          <a:prstGeom prst="rect">
            <a:avLst/>
          </a:prstGeom>
        </p:spPr>
        <p:txBody>
          <a:bodyPr wrap="square">
            <a:spAutoFit/>
          </a:bodyPr>
          <a:lstStyle/>
          <a:p>
            <a:pPr algn="ctr"/>
            <a:r>
              <a:rPr lang="en-US" sz="4000" b="1" dirty="0" smtClean="0">
                <a:latin typeface="Arial" pitchFamily="34" charset="0"/>
                <a:cs typeface="Arial" pitchFamily="34" charset="0"/>
              </a:rPr>
              <a:t>Bolt calculations</a:t>
            </a:r>
            <a:endParaRPr lang="en-US" sz="4000" b="1" dirty="0"/>
          </a:p>
        </p:txBody>
      </p:sp>
      <p:sp>
        <p:nvSpPr>
          <p:cNvPr id="8" name="TextBox 7"/>
          <p:cNvSpPr txBox="1"/>
          <p:nvPr/>
        </p:nvSpPr>
        <p:spPr>
          <a:xfrm>
            <a:off x="836023" y="1423851"/>
            <a:ext cx="4518096" cy="369332"/>
          </a:xfrm>
          <a:prstGeom prst="rect">
            <a:avLst/>
          </a:prstGeom>
          <a:noFill/>
        </p:spPr>
        <p:txBody>
          <a:bodyPr wrap="none" rtlCol="0">
            <a:spAutoFit/>
          </a:bodyPr>
          <a:lstStyle/>
          <a:p>
            <a:pPr>
              <a:buFont typeface="Arial" pitchFamily="34" charset="0"/>
              <a:buChar char="•"/>
            </a:pPr>
            <a:r>
              <a:rPr lang="en-US" b="1" dirty="0" smtClean="0"/>
              <a:t>Hydraulic Torque wrench for M36 bolts</a:t>
            </a:r>
            <a:endParaRPr lang="en-US" b="1" dirty="0" smtClean="0">
              <a:solidFill>
                <a:schemeClr val="bg1"/>
              </a:solidFill>
            </a:endParaRPr>
          </a:p>
        </p:txBody>
      </p:sp>
      <p:pic>
        <p:nvPicPr>
          <p:cNvPr id="10" name="Picture 9">
            <a:extLst>
              <a:ext uri="{FF2B5EF4-FFF2-40B4-BE49-F238E27FC236}">
                <a16:creationId xmlns="" xmlns:a16="http://schemas.microsoft.com/office/drawing/2014/main" id="{9083A8A9-6B54-CADE-12BE-3060FB067061}"/>
              </a:ext>
            </a:extLst>
          </p:cNvPr>
          <p:cNvPicPr>
            <a:picLocks noChangeAspect="1"/>
          </p:cNvPicPr>
          <p:nvPr/>
        </p:nvPicPr>
        <p:blipFill>
          <a:blip r:embed="rId3"/>
          <a:stretch>
            <a:fillRect/>
          </a:stretch>
        </p:blipFill>
        <p:spPr>
          <a:xfrm>
            <a:off x="2909124" y="3441112"/>
            <a:ext cx="2023349" cy="2499577"/>
          </a:xfrm>
          <a:prstGeom prst="rect">
            <a:avLst/>
          </a:prstGeom>
        </p:spPr>
      </p:pic>
      <p:sp>
        <p:nvSpPr>
          <p:cNvPr id="12" name="TextBox 11"/>
          <p:cNvSpPr txBox="1"/>
          <p:nvPr/>
        </p:nvSpPr>
        <p:spPr>
          <a:xfrm>
            <a:off x="1280161" y="2377440"/>
            <a:ext cx="1866986" cy="1815882"/>
          </a:xfrm>
          <a:prstGeom prst="rect">
            <a:avLst/>
          </a:prstGeom>
          <a:noFill/>
        </p:spPr>
        <p:txBody>
          <a:bodyPr wrap="none" rtlCol="0">
            <a:spAutoFit/>
          </a:bodyPr>
          <a:lstStyle/>
          <a:p>
            <a:pPr algn="l">
              <a:buFontTx/>
              <a:buChar char="-"/>
            </a:pPr>
            <a:r>
              <a:rPr lang="en-US" sz="1600" dirty="0" smtClean="0"/>
              <a:t> Tool specification</a:t>
            </a:r>
          </a:p>
          <a:p>
            <a:pPr algn="l">
              <a:buFontTx/>
              <a:buChar char="-"/>
            </a:pPr>
            <a:endParaRPr lang="en-US" sz="1600" dirty="0" smtClean="0"/>
          </a:p>
          <a:p>
            <a:pPr algn="l">
              <a:buFont typeface="Wingdings" pitchFamily="2" charset="2"/>
              <a:buChar char="§"/>
            </a:pPr>
            <a:r>
              <a:rPr lang="en-US" sz="1600" dirty="0" smtClean="0"/>
              <a:t> ITH TYPE CX5</a:t>
            </a:r>
          </a:p>
          <a:p>
            <a:pPr algn="l">
              <a:buFont typeface="Wingdings" pitchFamily="2" charset="2"/>
              <a:buChar char="§"/>
            </a:pPr>
            <a:endParaRPr lang="en-US" sz="1600" dirty="0" smtClean="0"/>
          </a:p>
          <a:p>
            <a:pPr algn="l">
              <a:buFont typeface="Wingdings" pitchFamily="2" charset="2"/>
              <a:buChar char="§"/>
            </a:pPr>
            <a:r>
              <a:rPr lang="en-US" sz="1600" dirty="0" smtClean="0"/>
              <a:t> SW 55</a:t>
            </a:r>
          </a:p>
          <a:p>
            <a:pPr algn="l">
              <a:buFont typeface="Wingdings" pitchFamily="2" charset="2"/>
              <a:buChar char="§"/>
            </a:pPr>
            <a:r>
              <a:rPr lang="en-US" sz="1600" dirty="0" smtClean="0"/>
              <a:t> D= 87 mm</a:t>
            </a:r>
          </a:p>
          <a:p>
            <a:pPr algn="l">
              <a:buFont typeface="Wingdings" pitchFamily="2" charset="2"/>
              <a:buChar char="§"/>
            </a:pPr>
            <a:r>
              <a:rPr lang="en-US" sz="1600" dirty="0" smtClean="0"/>
              <a:t> T= 36 MM</a:t>
            </a:r>
          </a:p>
        </p:txBody>
      </p:sp>
      <p:pic>
        <p:nvPicPr>
          <p:cNvPr id="13" name="Picture 12">
            <a:extLst>
              <a:ext uri="{FF2B5EF4-FFF2-40B4-BE49-F238E27FC236}">
                <a16:creationId xmlns="" xmlns:a16="http://schemas.microsoft.com/office/drawing/2014/main" id="{4C2BD0F0-3B84-54A7-A657-C5674615B76C}"/>
              </a:ext>
            </a:extLst>
          </p:cNvPr>
          <p:cNvPicPr>
            <a:picLocks noChangeAspect="1"/>
          </p:cNvPicPr>
          <p:nvPr/>
        </p:nvPicPr>
        <p:blipFill>
          <a:blip r:embed="rId4"/>
          <a:stretch>
            <a:fillRect/>
          </a:stretch>
        </p:blipFill>
        <p:spPr>
          <a:xfrm>
            <a:off x="5512321" y="2022402"/>
            <a:ext cx="5948688" cy="3450935"/>
          </a:xfrm>
          <a:prstGeom prst="rect">
            <a:avLst/>
          </a:prstGeom>
        </p:spPr>
      </p:pic>
      <p:sp>
        <p:nvSpPr>
          <p:cNvPr id="14" name="TextBox 13"/>
          <p:cNvSpPr txBox="1"/>
          <p:nvPr/>
        </p:nvSpPr>
        <p:spPr>
          <a:xfrm>
            <a:off x="7811589" y="5865223"/>
            <a:ext cx="647934" cy="276999"/>
          </a:xfrm>
          <a:prstGeom prst="rect">
            <a:avLst/>
          </a:prstGeom>
          <a:noFill/>
        </p:spPr>
        <p:txBody>
          <a:bodyPr wrap="none" rtlCol="0">
            <a:spAutoFit/>
          </a:bodyPr>
          <a:lstStyle/>
          <a:p>
            <a:pPr algn="l"/>
            <a:r>
              <a:rPr lang="en-US" sz="1200" dirty="0" smtClean="0"/>
              <a:t>[1] ITH</a:t>
            </a:r>
          </a:p>
        </p:txBody>
      </p:sp>
    </p:spTree>
    <p:extLst>
      <p:ext uri="{BB962C8B-B14F-4D97-AF65-F5344CB8AC3E}">
        <p14:creationId xmlns="" xmlns:p14="http://schemas.microsoft.com/office/powerpoint/2010/main" val="13284015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3187B13-A6D7-9DCF-6F19-72AA1A7E64A3}"/>
            </a:ext>
          </a:extLst>
        </p:cNvPr>
        <p:cNvGrpSpPr/>
        <p:nvPr/>
      </p:nvGrpSpPr>
      <p:grpSpPr>
        <a:xfrm>
          <a:off x="0" y="0"/>
          <a:ext cx="0" cy="0"/>
          <a:chOff x="0" y="0"/>
          <a:chExt cx="0" cy="0"/>
        </a:xfrm>
      </p:grpSpPr>
      <p:sp>
        <p:nvSpPr>
          <p:cNvPr id="4" name="Datumsplatzhalter 3">
            <a:extLst>
              <a:ext uri="{FF2B5EF4-FFF2-40B4-BE49-F238E27FC236}">
                <a16:creationId xmlns="" xmlns:a16="http://schemas.microsoft.com/office/drawing/2014/main" id="{36198DB7-BA0B-B4BB-CC48-BDD78CD68FD4}"/>
              </a:ext>
            </a:extLst>
          </p:cNvPr>
          <p:cNvSpPr>
            <a:spLocks noGrp="1"/>
          </p:cNvSpPr>
          <p:nvPr>
            <p:ph type="dt" sz="half" idx="10"/>
          </p:nvPr>
        </p:nvSpPr>
        <p:spPr/>
        <p:txBody>
          <a:bodyPr/>
          <a:lstStyle/>
          <a:p>
            <a:fld id="{14BC6257-D954-4541-A20C-37FB7797A083}" type="datetime1">
              <a:rPr lang="en-GB" smtClean="0"/>
              <a:pPr/>
              <a:t>16/11/2025</a:t>
            </a:fld>
            <a:endParaRPr lang="en-GB" dirty="0"/>
          </a:p>
        </p:txBody>
      </p:sp>
      <p:sp>
        <p:nvSpPr>
          <p:cNvPr id="6" name="Fußzeilenplatzhalter 5">
            <a:extLst>
              <a:ext uri="{FF2B5EF4-FFF2-40B4-BE49-F238E27FC236}">
                <a16:creationId xmlns="" xmlns:a16="http://schemas.microsoft.com/office/drawing/2014/main" id="{E323E133-B311-53BB-EDA8-08E809A1DE3C}"/>
              </a:ext>
            </a:extLst>
          </p:cNvPr>
          <p:cNvSpPr>
            <a:spLocks noGrp="1"/>
          </p:cNvSpPr>
          <p:nvPr>
            <p:ph type="ftr" sz="quarter" idx="11"/>
          </p:nvPr>
        </p:nvSpPr>
        <p:spPr>
          <a:xfrm>
            <a:off x="7981407" y="6564113"/>
            <a:ext cx="3372394" cy="365125"/>
          </a:xfrm>
        </p:spPr>
        <p:txBody>
          <a:bodyPr/>
          <a:lstStyle/>
          <a:p>
            <a:r>
              <a:rPr lang="en-GB" dirty="0"/>
              <a:t>Rotor Hub and Pitch System / Optimus Syria</a:t>
            </a:r>
          </a:p>
        </p:txBody>
      </p:sp>
      <p:sp>
        <p:nvSpPr>
          <p:cNvPr id="5" name="Foliennummernplatzhalter 4">
            <a:extLst>
              <a:ext uri="{FF2B5EF4-FFF2-40B4-BE49-F238E27FC236}">
                <a16:creationId xmlns="" xmlns:a16="http://schemas.microsoft.com/office/drawing/2014/main" id="{E6CB5DBB-6949-8A9B-B6B9-9C71B20CA957}"/>
              </a:ext>
            </a:extLst>
          </p:cNvPr>
          <p:cNvSpPr>
            <a:spLocks noGrp="1"/>
          </p:cNvSpPr>
          <p:nvPr>
            <p:ph type="sldNum" sz="quarter" idx="12"/>
          </p:nvPr>
        </p:nvSpPr>
        <p:spPr/>
        <p:txBody>
          <a:bodyPr/>
          <a:lstStyle/>
          <a:p>
            <a:fld id="{013F6232-4F06-48BA-8F69-BF531F607829}" type="slidenum">
              <a:rPr lang="en-GB" smtClean="0"/>
              <a:pPr/>
              <a:t>4</a:t>
            </a:fld>
            <a:endParaRPr lang="en-GB" dirty="0"/>
          </a:p>
        </p:txBody>
      </p:sp>
      <p:sp>
        <p:nvSpPr>
          <p:cNvPr id="11" name="Text Placeholder 10"/>
          <p:cNvSpPr>
            <a:spLocks noGrp="1"/>
          </p:cNvSpPr>
          <p:nvPr>
            <p:ph type="body" sz="quarter" idx="18"/>
          </p:nvPr>
        </p:nvSpPr>
        <p:spPr/>
        <p:txBody>
          <a:bodyPr>
            <a:normAutofit/>
          </a:bodyPr>
          <a:lstStyle/>
          <a:p>
            <a:pPr marL="342900" indent="-342900"/>
            <a:r>
              <a:rPr lang="en-US" sz="1400" dirty="0" err="1">
                <a:latin typeface="Times New Roman" pitchFamily="18" charset="0"/>
                <a:cs typeface="Times New Roman" pitchFamily="18" charset="0"/>
              </a:rPr>
              <a:t>Dhruvin</a:t>
            </a:r>
            <a:r>
              <a:rPr lang="en-US" sz="1400" dirty="0">
                <a:latin typeface="Times New Roman" pitchFamily="18" charset="0"/>
                <a:cs typeface="Times New Roman" pitchFamily="18" charset="0"/>
              </a:rPr>
              <a:t> </a:t>
            </a:r>
            <a:r>
              <a:rPr lang="en-US" sz="1400" dirty="0" err="1">
                <a:latin typeface="Times New Roman" pitchFamily="18" charset="0"/>
                <a:cs typeface="Times New Roman" pitchFamily="18" charset="0"/>
              </a:rPr>
              <a:t>Kakdiya</a:t>
            </a:r>
            <a:endParaRPr lang="en-US" sz="1400" dirty="0">
              <a:latin typeface="Times New Roman" pitchFamily="18" charset="0"/>
              <a:cs typeface="Times New Roman" pitchFamily="18" charset="0"/>
            </a:endParaRPr>
          </a:p>
        </p:txBody>
      </p:sp>
      <p:sp>
        <p:nvSpPr>
          <p:cNvPr id="8" name="TextBox 7"/>
          <p:cNvSpPr txBox="1"/>
          <p:nvPr/>
        </p:nvSpPr>
        <p:spPr>
          <a:xfrm>
            <a:off x="1240971" y="1750423"/>
            <a:ext cx="5131533" cy="1631216"/>
          </a:xfrm>
          <a:prstGeom prst="rect">
            <a:avLst/>
          </a:prstGeom>
          <a:noFill/>
        </p:spPr>
        <p:txBody>
          <a:bodyPr wrap="none" rtlCol="0">
            <a:spAutoFit/>
          </a:bodyPr>
          <a:lstStyle/>
          <a:p>
            <a:pPr>
              <a:buFont typeface="Wingdings" pitchFamily="2" charset="2"/>
              <a:buChar char="§"/>
            </a:pPr>
            <a:r>
              <a:rPr lang="en-US" sz="1600" dirty="0" smtClean="0"/>
              <a:t> No. of bolts in outer ring = </a:t>
            </a:r>
            <a:r>
              <a:rPr lang="el-GR" sz="1600" b="1" dirty="0" smtClean="0"/>
              <a:t>π</a:t>
            </a:r>
            <a:r>
              <a:rPr lang="en-US" sz="1600" b="1" dirty="0" smtClean="0"/>
              <a:t>d / D of machine = 122 </a:t>
            </a:r>
            <a:endParaRPr lang="en-US" sz="1600" dirty="0" smtClean="0"/>
          </a:p>
          <a:p>
            <a:pPr algn="l">
              <a:buFont typeface="Arial" pitchFamily="34" charset="0"/>
              <a:buChar char="•"/>
            </a:pPr>
            <a:endParaRPr lang="en-US" sz="1600" dirty="0" smtClean="0"/>
          </a:p>
          <a:p>
            <a:pPr algn="l">
              <a:buFont typeface="Arial" pitchFamily="34" charset="0"/>
              <a:buChar char="•"/>
            </a:pPr>
            <a:r>
              <a:rPr lang="en-US" sz="1600" dirty="0" smtClean="0"/>
              <a:t> BCD d = 3400 MM</a:t>
            </a:r>
          </a:p>
          <a:p>
            <a:pPr algn="l">
              <a:buFont typeface="Arial" pitchFamily="34" charset="0"/>
              <a:buChar char="•"/>
            </a:pPr>
            <a:r>
              <a:rPr lang="en-US" sz="1600" dirty="0" smtClean="0"/>
              <a:t> D of machine = 87</a:t>
            </a:r>
          </a:p>
          <a:p>
            <a:pPr algn="l">
              <a:buFont typeface="Arial" pitchFamily="34" charset="0"/>
              <a:buChar char="•"/>
            </a:pPr>
            <a:endParaRPr lang="en-US" sz="1200" dirty="0" smtClean="0"/>
          </a:p>
          <a:p>
            <a:pPr algn="l">
              <a:buFont typeface="Arial" pitchFamily="34" charset="0"/>
              <a:buChar char="•"/>
            </a:pPr>
            <a:endParaRPr lang="en-US" sz="1200" dirty="0" smtClean="0"/>
          </a:p>
          <a:p>
            <a:pPr algn="l"/>
            <a:endParaRPr lang="en-US" sz="1200" dirty="0" smtClean="0"/>
          </a:p>
        </p:txBody>
      </p:sp>
    </p:spTree>
    <p:extLst>
      <p:ext uri="{BB962C8B-B14F-4D97-AF65-F5344CB8AC3E}">
        <p14:creationId xmlns="" xmlns:p14="http://schemas.microsoft.com/office/powerpoint/2010/main" val="13284015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3187B13-A6D7-9DCF-6F19-72AA1A7E64A3}"/>
            </a:ext>
          </a:extLst>
        </p:cNvPr>
        <p:cNvGrpSpPr/>
        <p:nvPr/>
      </p:nvGrpSpPr>
      <p:grpSpPr>
        <a:xfrm>
          <a:off x="0" y="0"/>
          <a:ext cx="0" cy="0"/>
          <a:chOff x="0" y="0"/>
          <a:chExt cx="0" cy="0"/>
        </a:xfrm>
      </p:grpSpPr>
      <p:sp>
        <p:nvSpPr>
          <p:cNvPr id="4" name="Datumsplatzhalter 3">
            <a:extLst>
              <a:ext uri="{FF2B5EF4-FFF2-40B4-BE49-F238E27FC236}">
                <a16:creationId xmlns="" xmlns:a16="http://schemas.microsoft.com/office/drawing/2014/main" id="{36198DB7-BA0B-B4BB-CC48-BDD78CD68FD4}"/>
              </a:ext>
            </a:extLst>
          </p:cNvPr>
          <p:cNvSpPr>
            <a:spLocks noGrp="1"/>
          </p:cNvSpPr>
          <p:nvPr>
            <p:ph type="dt" sz="half" idx="10"/>
          </p:nvPr>
        </p:nvSpPr>
        <p:spPr/>
        <p:txBody>
          <a:bodyPr/>
          <a:lstStyle/>
          <a:p>
            <a:fld id="{14BC6257-D954-4541-A20C-37FB7797A083}" type="datetime1">
              <a:rPr lang="en-GB" smtClean="0"/>
              <a:pPr/>
              <a:t>16/11/2025</a:t>
            </a:fld>
            <a:endParaRPr lang="en-GB" dirty="0"/>
          </a:p>
        </p:txBody>
      </p:sp>
      <p:sp>
        <p:nvSpPr>
          <p:cNvPr id="6" name="Fußzeilenplatzhalter 5">
            <a:extLst>
              <a:ext uri="{FF2B5EF4-FFF2-40B4-BE49-F238E27FC236}">
                <a16:creationId xmlns="" xmlns:a16="http://schemas.microsoft.com/office/drawing/2014/main" id="{E323E133-B311-53BB-EDA8-08E809A1DE3C}"/>
              </a:ext>
            </a:extLst>
          </p:cNvPr>
          <p:cNvSpPr>
            <a:spLocks noGrp="1"/>
          </p:cNvSpPr>
          <p:nvPr>
            <p:ph type="ftr" sz="quarter" idx="11"/>
          </p:nvPr>
        </p:nvSpPr>
        <p:spPr>
          <a:xfrm>
            <a:off x="7981407" y="6564113"/>
            <a:ext cx="3372394" cy="365125"/>
          </a:xfrm>
        </p:spPr>
        <p:txBody>
          <a:bodyPr/>
          <a:lstStyle/>
          <a:p>
            <a:r>
              <a:rPr lang="en-GB" dirty="0"/>
              <a:t>Rotor Hub and Pitch System / Optimus Syria</a:t>
            </a:r>
          </a:p>
        </p:txBody>
      </p:sp>
      <p:sp>
        <p:nvSpPr>
          <p:cNvPr id="5" name="Foliennummernplatzhalter 4">
            <a:extLst>
              <a:ext uri="{FF2B5EF4-FFF2-40B4-BE49-F238E27FC236}">
                <a16:creationId xmlns="" xmlns:a16="http://schemas.microsoft.com/office/drawing/2014/main" id="{E6CB5DBB-6949-8A9B-B6B9-9C71B20CA957}"/>
              </a:ext>
            </a:extLst>
          </p:cNvPr>
          <p:cNvSpPr>
            <a:spLocks noGrp="1"/>
          </p:cNvSpPr>
          <p:nvPr>
            <p:ph type="sldNum" sz="quarter" idx="12"/>
          </p:nvPr>
        </p:nvSpPr>
        <p:spPr/>
        <p:txBody>
          <a:bodyPr/>
          <a:lstStyle/>
          <a:p>
            <a:fld id="{013F6232-4F06-48BA-8F69-BF531F607829}" type="slidenum">
              <a:rPr lang="en-GB" smtClean="0"/>
              <a:pPr/>
              <a:t>5</a:t>
            </a:fld>
            <a:endParaRPr lang="en-GB" dirty="0"/>
          </a:p>
        </p:txBody>
      </p:sp>
      <p:sp>
        <p:nvSpPr>
          <p:cNvPr id="11" name="Text Placeholder 10"/>
          <p:cNvSpPr>
            <a:spLocks noGrp="1"/>
          </p:cNvSpPr>
          <p:nvPr>
            <p:ph type="body" sz="quarter" idx="18"/>
          </p:nvPr>
        </p:nvSpPr>
        <p:spPr/>
        <p:txBody>
          <a:bodyPr>
            <a:normAutofit/>
          </a:bodyPr>
          <a:lstStyle/>
          <a:p>
            <a:pPr marL="342900" indent="-342900"/>
            <a:r>
              <a:rPr lang="en-US" sz="1400" dirty="0" err="1">
                <a:latin typeface="Times New Roman" pitchFamily="18" charset="0"/>
                <a:cs typeface="Times New Roman" pitchFamily="18" charset="0"/>
              </a:rPr>
              <a:t>Dhruvin</a:t>
            </a:r>
            <a:r>
              <a:rPr lang="en-US" sz="1400" dirty="0">
                <a:latin typeface="Times New Roman" pitchFamily="18" charset="0"/>
                <a:cs typeface="Times New Roman" pitchFamily="18" charset="0"/>
              </a:rPr>
              <a:t> </a:t>
            </a:r>
            <a:r>
              <a:rPr lang="en-US" sz="1400" dirty="0" err="1">
                <a:latin typeface="Times New Roman" pitchFamily="18" charset="0"/>
                <a:cs typeface="Times New Roman" pitchFamily="18" charset="0"/>
              </a:rPr>
              <a:t>Kakdiya</a:t>
            </a:r>
            <a:endParaRPr lang="en-US" sz="1400" dirty="0">
              <a:latin typeface="Times New Roman" pitchFamily="18" charset="0"/>
              <a:cs typeface="Times New Roman" pitchFamily="18" charset="0"/>
            </a:endParaRPr>
          </a:p>
        </p:txBody>
      </p:sp>
      <p:sp>
        <p:nvSpPr>
          <p:cNvPr id="7" name="TextBox 6"/>
          <p:cNvSpPr txBox="1"/>
          <p:nvPr/>
        </p:nvSpPr>
        <p:spPr>
          <a:xfrm>
            <a:off x="849086" y="431074"/>
            <a:ext cx="10463348" cy="892552"/>
          </a:xfrm>
          <a:prstGeom prst="rect">
            <a:avLst/>
          </a:prstGeom>
          <a:noFill/>
        </p:spPr>
        <p:txBody>
          <a:bodyPr wrap="square" rtlCol="0">
            <a:spAutoFit/>
          </a:bodyPr>
          <a:lstStyle/>
          <a:p>
            <a:pPr algn="ctr"/>
            <a:r>
              <a:rPr lang="en-IN" sz="4000" b="1" dirty="0" smtClean="0">
                <a:latin typeface="Arial" pitchFamily="34" charset="0"/>
                <a:cs typeface="Arial" pitchFamily="34" charset="0"/>
              </a:rPr>
              <a:t>Alternative source for pitch System</a:t>
            </a:r>
          </a:p>
          <a:p>
            <a:pPr algn="l"/>
            <a:endParaRPr lang="en-US" sz="1200" dirty="0" smtClean="0">
              <a:solidFill>
                <a:schemeClr val="bg1"/>
              </a:solidFill>
            </a:endParaRPr>
          </a:p>
        </p:txBody>
      </p:sp>
      <p:sp>
        <p:nvSpPr>
          <p:cNvPr id="8" name="TextBox 7">
            <a:extLst>
              <a:ext uri="{FF2B5EF4-FFF2-40B4-BE49-F238E27FC236}">
                <a16:creationId xmlns="" xmlns:a16="http://schemas.microsoft.com/office/drawing/2014/main" id="{7BAA7621-80F6-655E-0AC9-7E86A00E242D}"/>
              </a:ext>
            </a:extLst>
          </p:cNvPr>
          <p:cNvSpPr txBox="1"/>
          <p:nvPr/>
        </p:nvSpPr>
        <p:spPr>
          <a:xfrm>
            <a:off x="562992" y="1325563"/>
            <a:ext cx="8188729" cy="1239635"/>
          </a:xfrm>
          <a:prstGeom prst="rect">
            <a:avLst/>
          </a:prstGeom>
          <a:noFill/>
        </p:spPr>
        <p:txBody>
          <a:bodyPr wrap="square" rtlCol="0">
            <a:spAutoFit/>
          </a:bodyPr>
          <a:lstStyle/>
          <a:p>
            <a:pPr algn="just">
              <a:lnSpc>
                <a:spcPct val="107000"/>
              </a:lnSpc>
              <a:spcAft>
                <a:spcPts val="800"/>
              </a:spcAft>
            </a:pPr>
            <a:r>
              <a:rPr lang="en-IN" kern="100" dirty="0">
                <a:effectLst/>
                <a:latin typeface="Calibri" panose="020F0502020204030204" pitchFamily="34" charset="0"/>
                <a:ea typeface="Calibri" panose="020F0502020204030204" pitchFamily="34" charset="0"/>
                <a:cs typeface="Mangal" panose="02040503050203030202" pitchFamily="18" charset="0"/>
              </a:rPr>
              <a:t> </a:t>
            </a:r>
            <a:r>
              <a:rPr lang="en-US" sz="3200" b="1" dirty="0" smtClean="0"/>
              <a:t>Motor:</a:t>
            </a:r>
            <a:endParaRPr lang="en-IN" sz="1400" kern="100" dirty="0">
              <a:effectLst/>
              <a:latin typeface="Calibri" panose="020F0502020204030204" pitchFamily="34" charset="0"/>
              <a:ea typeface="Calibri" panose="020F0502020204030204" pitchFamily="34" charset="0"/>
              <a:cs typeface="Mangal" panose="02040503050203030202" pitchFamily="18" charset="0"/>
            </a:endParaRPr>
          </a:p>
          <a:p>
            <a:pPr marL="0" marR="0" algn="just">
              <a:lnSpc>
                <a:spcPct val="107000"/>
              </a:lnSpc>
              <a:spcAft>
                <a:spcPts val="800"/>
              </a:spcAft>
              <a:buNone/>
            </a:pPr>
            <a:r>
              <a:rPr lang="en-IN" sz="1400" kern="100" dirty="0">
                <a:effectLst/>
                <a:latin typeface="Calibri" panose="020F0502020204030204" pitchFamily="34" charset="0"/>
                <a:ea typeface="Calibri" panose="020F0502020204030204" pitchFamily="34" charset="0"/>
                <a:cs typeface="Mangal" panose="02040503050203030202" pitchFamily="18" charset="0"/>
              </a:rPr>
              <a:t> </a:t>
            </a:r>
            <a:endParaRPr lang="en-IN" sz="1400" b="1" kern="100" dirty="0">
              <a:solidFill>
                <a:srgbClr val="FF0000"/>
              </a:solidFill>
              <a:effectLst/>
              <a:latin typeface="Calibri" panose="020F0502020204030204" pitchFamily="34" charset="0"/>
              <a:ea typeface="Calibri" panose="020F0502020204030204" pitchFamily="34" charset="0"/>
              <a:cs typeface="Mangal" panose="02040503050203030202" pitchFamily="18" charset="0"/>
            </a:endParaRPr>
          </a:p>
          <a:p>
            <a:pPr algn="just"/>
            <a:endParaRPr lang="en-IN" sz="1200" dirty="0">
              <a:solidFill>
                <a:schemeClr val="bg1"/>
              </a:solidFill>
            </a:endParaRPr>
          </a:p>
        </p:txBody>
      </p:sp>
      <p:pic>
        <p:nvPicPr>
          <p:cNvPr id="9" name="Picture 8">
            <a:extLst>
              <a:ext uri="{FF2B5EF4-FFF2-40B4-BE49-F238E27FC236}">
                <a16:creationId xmlns="" xmlns:a16="http://schemas.microsoft.com/office/drawing/2014/main" id="{ABF76D35-C134-4F52-8072-8B325E084DAE}"/>
              </a:ext>
            </a:extLst>
          </p:cNvPr>
          <p:cNvPicPr>
            <a:picLocks noChangeAspect="1"/>
          </p:cNvPicPr>
          <p:nvPr/>
        </p:nvPicPr>
        <p:blipFill>
          <a:blip r:embed="rId3"/>
          <a:stretch>
            <a:fillRect/>
          </a:stretch>
        </p:blipFill>
        <p:spPr>
          <a:xfrm>
            <a:off x="372863" y="2426704"/>
            <a:ext cx="5819311" cy="2507105"/>
          </a:xfrm>
          <a:prstGeom prst="rect">
            <a:avLst/>
          </a:prstGeom>
        </p:spPr>
      </p:pic>
      <p:pic>
        <p:nvPicPr>
          <p:cNvPr id="10" name="Picture 9">
            <a:extLst>
              <a:ext uri="{FF2B5EF4-FFF2-40B4-BE49-F238E27FC236}">
                <a16:creationId xmlns="" xmlns:a16="http://schemas.microsoft.com/office/drawing/2014/main" id="{F2DAAA05-BC57-49FF-8420-F099F0DF5235}"/>
              </a:ext>
            </a:extLst>
          </p:cNvPr>
          <p:cNvPicPr/>
          <p:nvPr/>
        </p:nvPicPr>
        <p:blipFill>
          <a:blip r:embed="rId4"/>
          <a:stretch>
            <a:fillRect/>
          </a:stretch>
        </p:blipFill>
        <p:spPr>
          <a:xfrm>
            <a:off x="6992086" y="1755301"/>
            <a:ext cx="4078918" cy="2356795"/>
          </a:xfrm>
          <a:prstGeom prst="rect">
            <a:avLst/>
          </a:prstGeom>
        </p:spPr>
      </p:pic>
      <p:pic>
        <p:nvPicPr>
          <p:cNvPr id="12" name="Picture 11">
            <a:extLst>
              <a:ext uri="{FF2B5EF4-FFF2-40B4-BE49-F238E27FC236}">
                <a16:creationId xmlns="" xmlns:a16="http://schemas.microsoft.com/office/drawing/2014/main" id="{C4D339BF-DCD4-4F12-9802-E8152EF5BD56}"/>
              </a:ext>
            </a:extLst>
          </p:cNvPr>
          <p:cNvPicPr>
            <a:picLocks noChangeAspect="1"/>
          </p:cNvPicPr>
          <p:nvPr/>
        </p:nvPicPr>
        <p:blipFill>
          <a:blip r:embed="rId5"/>
          <a:stretch>
            <a:fillRect/>
          </a:stretch>
        </p:blipFill>
        <p:spPr>
          <a:xfrm>
            <a:off x="6767008" y="4611439"/>
            <a:ext cx="5014395" cy="777307"/>
          </a:xfrm>
          <a:prstGeom prst="rect">
            <a:avLst/>
          </a:prstGeom>
        </p:spPr>
      </p:pic>
      <p:sp>
        <p:nvSpPr>
          <p:cNvPr id="13" name="TextBox 12"/>
          <p:cNvSpPr txBox="1"/>
          <p:nvPr/>
        </p:nvSpPr>
        <p:spPr>
          <a:xfrm>
            <a:off x="5264331" y="6204857"/>
            <a:ext cx="356188" cy="276999"/>
          </a:xfrm>
          <a:prstGeom prst="rect">
            <a:avLst/>
          </a:prstGeom>
          <a:noFill/>
        </p:spPr>
        <p:txBody>
          <a:bodyPr wrap="none" rtlCol="0">
            <a:spAutoFit/>
          </a:bodyPr>
          <a:lstStyle/>
          <a:p>
            <a:pPr algn="l"/>
            <a:r>
              <a:rPr lang="en-US" sz="1200" dirty="0" smtClean="0"/>
              <a:t>[2]</a:t>
            </a:r>
          </a:p>
        </p:txBody>
      </p:sp>
    </p:spTree>
    <p:extLst>
      <p:ext uri="{BB962C8B-B14F-4D97-AF65-F5344CB8AC3E}">
        <p14:creationId xmlns="" xmlns:p14="http://schemas.microsoft.com/office/powerpoint/2010/main" val="1328401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 xmlns:a16="http://schemas.microsoft.com/office/drawing/2014/main" id="{E9FDD682-B40F-C5C9-1855-56A85BC15BC8}"/>
              </a:ext>
            </a:extLst>
          </p:cNvPr>
          <p:cNvSpPr>
            <a:spLocks noGrp="1"/>
          </p:cNvSpPr>
          <p:nvPr>
            <p:ph type="dt" sz="half" idx="19"/>
          </p:nvPr>
        </p:nvSpPr>
        <p:spPr/>
        <p:txBody>
          <a:bodyPr/>
          <a:lstStyle/>
          <a:p>
            <a:fld id="{21210EBD-9EF5-4AB5-B924-9199592FA829}" type="datetime1">
              <a:rPr lang="en-GB" smtClean="0"/>
              <a:pPr/>
              <a:t>16/11/2025</a:t>
            </a:fld>
            <a:endParaRPr lang="en-GB"/>
          </a:p>
        </p:txBody>
      </p:sp>
      <p:sp>
        <p:nvSpPr>
          <p:cNvPr id="3" name="Fußzeilenplatzhalter 2">
            <a:extLst>
              <a:ext uri="{FF2B5EF4-FFF2-40B4-BE49-F238E27FC236}">
                <a16:creationId xmlns="" xmlns:a16="http://schemas.microsoft.com/office/drawing/2014/main" id="{D668328F-481A-A412-4E89-23ACFE133DF4}"/>
              </a:ext>
            </a:extLst>
          </p:cNvPr>
          <p:cNvSpPr>
            <a:spLocks noGrp="1"/>
          </p:cNvSpPr>
          <p:nvPr>
            <p:ph type="ftr" sz="quarter" idx="20"/>
          </p:nvPr>
        </p:nvSpPr>
        <p:spPr>
          <a:xfrm>
            <a:off x="8059783" y="6564113"/>
            <a:ext cx="3294018" cy="365125"/>
          </a:xfrm>
        </p:spPr>
        <p:txBody>
          <a:bodyPr/>
          <a:lstStyle/>
          <a:p>
            <a:r>
              <a:rPr lang="en-GB" dirty="0"/>
              <a:t>Rotor Hub and Pitch System / Optimus Syria</a:t>
            </a:r>
          </a:p>
        </p:txBody>
      </p:sp>
      <p:sp>
        <p:nvSpPr>
          <p:cNvPr id="4" name="Foliennummernplatzhalter 3">
            <a:extLst>
              <a:ext uri="{FF2B5EF4-FFF2-40B4-BE49-F238E27FC236}">
                <a16:creationId xmlns="" xmlns:a16="http://schemas.microsoft.com/office/drawing/2014/main" id="{082D30E5-E8EB-4514-D402-7006892C79B8}"/>
              </a:ext>
            </a:extLst>
          </p:cNvPr>
          <p:cNvSpPr>
            <a:spLocks noGrp="1"/>
          </p:cNvSpPr>
          <p:nvPr>
            <p:ph type="sldNum" sz="quarter" idx="21"/>
          </p:nvPr>
        </p:nvSpPr>
        <p:spPr/>
        <p:txBody>
          <a:bodyPr/>
          <a:lstStyle/>
          <a:p>
            <a:fld id="{013F6232-4F06-48BA-8F69-BF531F607829}" type="slidenum">
              <a:rPr lang="en-GB" smtClean="0"/>
              <a:pPr/>
              <a:t>6</a:t>
            </a:fld>
            <a:endParaRPr lang="en-GB" dirty="0"/>
          </a:p>
        </p:txBody>
      </p:sp>
      <p:sp>
        <p:nvSpPr>
          <p:cNvPr id="12" name="Text Placeholder 11"/>
          <p:cNvSpPr>
            <a:spLocks noGrp="1"/>
          </p:cNvSpPr>
          <p:nvPr>
            <p:ph type="body" sz="quarter" idx="18"/>
          </p:nvPr>
        </p:nvSpPr>
        <p:spPr/>
        <p:txBody>
          <a:bodyPr>
            <a:normAutofit/>
          </a:bodyPr>
          <a:lstStyle/>
          <a:p>
            <a:pPr marL="342900" indent="-342900"/>
            <a:r>
              <a:rPr lang="en-US" sz="1400" dirty="0" err="1">
                <a:latin typeface="Times New Roman" pitchFamily="18" charset="0"/>
                <a:cs typeface="Times New Roman" pitchFamily="18" charset="0"/>
              </a:rPr>
              <a:t>Dhruvin</a:t>
            </a:r>
            <a:r>
              <a:rPr lang="en-US" sz="1400" dirty="0">
                <a:latin typeface="Times New Roman" pitchFamily="18" charset="0"/>
                <a:cs typeface="Times New Roman" pitchFamily="18" charset="0"/>
              </a:rPr>
              <a:t> </a:t>
            </a:r>
            <a:r>
              <a:rPr lang="en-US" sz="1400" dirty="0" err="1">
                <a:latin typeface="Times New Roman" pitchFamily="18" charset="0"/>
                <a:cs typeface="Times New Roman" pitchFamily="18" charset="0"/>
              </a:rPr>
              <a:t>Kakdiya</a:t>
            </a:r>
            <a:endParaRPr lang="en-US" sz="1400" dirty="0">
              <a:latin typeface="Times New Roman" pitchFamily="18" charset="0"/>
              <a:cs typeface="Times New Roman" pitchFamily="18" charset="0"/>
            </a:endParaRPr>
          </a:p>
        </p:txBody>
      </p:sp>
      <p:sp>
        <p:nvSpPr>
          <p:cNvPr id="7" name="Content Placeholder 1">
            <a:extLst>
              <a:ext uri="{FF2B5EF4-FFF2-40B4-BE49-F238E27FC236}">
                <a16:creationId xmlns="" xmlns:a16="http://schemas.microsoft.com/office/drawing/2014/main" id="{13DB8106-F4C0-B30F-4E4C-C94AA1BAB7AF}"/>
              </a:ext>
            </a:extLst>
          </p:cNvPr>
          <p:cNvSpPr>
            <a:spLocks noGrp="1"/>
          </p:cNvSpPr>
          <p:nvPr>
            <p:ph idx="1"/>
          </p:nvPr>
        </p:nvSpPr>
        <p:spPr>
          <a:xfrm>
            <a:off x="838200" y="1452570"/>
            <a:ext cx="8953870" cy="4884191"/>
          </a:xfrm>
        </p:spPr>
        <p:txBody>
          <a:bodyPr/>
          <a:lstStyle/>
          <a:p>
            <a:pPr marL="0" indent="0">
              <a:lnSpc>
                <a:spcPct val="107000"/>
              </a:lnSpc>
              <a:spcBef>
                <a:spcPts val="0"/>
              </a:spcBef>
              <a:spcAft>
                <a:spcPts val="800"/>
              </a:spcAft>
              <a:buNone/>
              <a:defRPr/>
            </a:pPr>
            <a:r>
              <a:rPr kumimoji="0" lang="en-IN" sz="1400" b="1"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angal" panose="02040503050203030202" pitchFamily="18" charset="0"/>
              </a:rPr>
              <a:t> </a:t>
            </a:r>
            <a:r>
              <a:rPr lang="en-US" sz="3200" b="1" dirty="0"/>
              <a:t>Gear </a:t>
            </a:r>
            <a:r>
              <a:rPr lang="en-US" sz="3200" b="1" dirty="0" smtClean="0"/>
              <a:t>box:</a:t>
            </a:r>
            <a:endParaRPr lang="en-US" sz="3200" dirty="0"/>
          </a:p>
          <a:p>
            <a:pPr marL="0" indent="0">
              <a:lnSpc>
                <a:spcPct val="107000"/>
              </a:lnSpc>
              <a:spcBef>
                <a:spcPts val="0"/>
              </a:spcBef>
              <a:spcAft>
                <a:spcPts val="800"/>
              </a:spcAft>
              <a:buNone/>
              <a:defRPr/>
            </a:pPr>
            <a:r>
              <a:rPr lang="en-US" sz="1600" dirty="0"/>
              <a:t>Required peak pinion torque: 61.5 KNm . So we opt 711 TW with 80,000 Nm range</a:t>
            </a:r>
          </a:p>
          <a:p>
            <a:pPr marL="0" indent="0">
              <a:lnSpc>
                <a:spcPct val="107000"/>
              </a:lnSpc>
              <a:spcBef>
                <a:spcPts val="0"/>
              </a:spcBef>
              <a:spcAft>
                <a:spcPts val="800"/>
              </a:spcAft>
              <a:buNone/>
              <a:defRPr/>
            </a:pPr>
            <a:r>
              <a:rPr lang="en-US" sz="1600" dirty="0"/>
              <a:t>3 stage planetary </a:t>
            </a:r>
            <a:r>
              <a:rPr lang="en-US" dirty="0"/>
              <a:t>	</a:t>
            </a:r>
          </a:p>
          <a:p>
            <a:pPr marL="0" indent="0">
              <a:buNone/>
            </a:pPr>
            <a:endParaRPr lang="en-IN" dirty="0"/>
          </a:p>
        </p:txBody>
      </p:sp>
      <p:pic>
        <p:nvPicPr>
          <p:cNvPr id="9" name="Picture 8">
            <a:extLst>
              <a:ext uri="{FF2B5EF4-FFF2-40B4-BE49-F238E27FC236}">
                <a16:creationId xmlns="" xmlns:a16="http://schemas.microsoft.com/office/drawing/2014/main" id="{234C0FB3-F9B6-42B9-82FD-E067BCC58AB1}"/>
              </a:ext>
            </a:extLst>
          </p:cNvPr>
          <p:cNvPicPr/>
          <p:nvPr/>
        </p:nvPicPr>
        <p:blipFill>
          <a:blip r:embed="rId2"/>
          <a:stretch>
            <a:fillRect/>
          </a:stretch>
        </p:blipFill>
        <p:spPr>
          <a:xfrm>
            <a:off x="1171404" y="3284715"/>
            <a:ext cx="2973876" cy="2185369"/>
          </a:xfrm>
          <a:prstGeom prst="rect">
            <a:avLst/>
          </a:prstGeom>
        </p:spPr>
      </p:pic>
      <p:pic>
        <p:nvPicPr>
          <p:cNvPr id="11" name="Picture 10">
            <a:extLst>
              <a:ext uri="{FF2B5EF4-FFF2-40B4-BE49-F238E27FC236}">
                <a16:creationId xmlns="" xmlns:a16="http://schemas.microsoft.com/office/drawing/2014/main" id="{2186F029-EDD9-495D-8671-E7CB51524BC2}"/>
              </a:ext>
            </a:extLst>
          </p:cNvPr>
          <p:cNvPicPr/>
          <p:nvPr/>
        </p:nvPicPr>
        <p:blipFill rotWithShape="1">
          <a:blip r:embed="rId3"/>
          <a:srcRect b="12720"/>
          <a:stretch/>
        </p:blipFill>
        <p:spPr bwMode="auto">
          <a:xfrm>
            <a:off x="4478484" y="2573119"/>
            <a:ext cx="5425440" cy="3398520"/>
          </a:xfrm>
          <a:prstGeom prst="rect">
            <a:avLst/>
          </a:prstGeom>
          <a:ln>
            <a:noFill/>
          </a:ln>
          <a:extLst>
            <a:ext uri="{53640926-AAD7-44D8-BBD7-CCE9431645EC}">
              <a14:shadowObscured xmlns="" xmlns:a14="http://schemas.microsoft.com/office/drawing/2010/main"/>
            </a:ext>
          </a:extLst>
        </p:spPr>
      </p:pic>
      <p:sp>
        <p:nvSpPr>
          <p:cNvPr id="13" name="TextBox 12"/>
          <p:cNvSpPr txBox="1"/>
          <p:nvPr/>
        </p:nvSpPr>
        <p:spPr>
          <a:xfrm>
            <a:off x="6975566" y="6100355"/>
            <a:ext cx="356188" cy="276999"/>
          </a:xfrm>
          <a:prstGeom prst="rect">
            <a:avLst/>
          </a:prstGeom>
          <a:noFill/>
        </p:spPr>
        <p:txBody>
          <a:bodyPr wrap="none" rtlCol="0">
            <a:spAutoFit/>
          </a:bodyPr>
          <a:lstStyle/>
          <a:p>
            <a:pPr algn="l"/>
            <a:r>
              <a:rPr lang="en-US" sz="1200" dirty="0" smtClean="0"/>
              <a:t>[3]</a:t>
            </a:r>
          </a:p>
        </p:txBody>
      </p:sp>
    </p:spTree>
    <p:extLst>
      <p:ext uri="{BB962C8B-B14F-4D97-AF65-F5344CB8AC3E}">
        <p14:creationId xmlns="" xmlns:p14="http://schemas.microsoft.com/office/powerpoint/2010/main" val="2953850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umsplatzhalter 1">
            <a:extLst>
              <a:ext uri="{FF2B5EF4-FFF2-40B4-BE49-F238E27FC236}">
                <a16:creationId xmlns="" xmlns:a16="http://schemas.microsoft.com/office/drawing/2014/main" id="{E9FDD682-B40F-C5C9-1855-56A85BC15BC8}"/>
              </a:ext>
            </a:extLst>
          </p:cNvPr>
          <p:cNvSpPr>
            <a:spLocks noGrp="1"/>
          </p:cNvSpPr>
          <p:nvPr>
            <p:ph type="dt" sz="half" idx="19"/>
          </p:nvPr>
        </p:nvSpPr>
        <p:spPr/>
        <p:txBody>
          <a:bodyPr/>
          <a:lstStyle/>
          <a:p>
            <a:fld id="{21210EBD-9EF5-4AB5-B924-9199592FA829}" type="datetime1">
              <a:rPr lang="en-GB" smtClean="0"/>
              <a:pPr/>
              <a:t>16/11/2025</a:t>
            </a:fld>
            <a:endParaRPr lang="en-GB"/>
          </a:p>
        </p:txBody>
      </p:sp>
      <p:sp>
        <p:nvSpPr>
          <p:cNvPr id="3" name="Fußzeilenplatzhalter 2">
            <a:extLst>
              <a:ext uri="{FF2B5EF4-FFF2-40B4-BE49-F238E27FC236}">
                <a16:creationId xmlns="" xmlns:a16="http://schemas.microsoft.com/office/drawing/2014/main" id="{D668328F-481A-A412-4E89-23ACFE133DF4}"/>
              </a:ext>
            </a:extLst>
          </p:cNvPr>
          <p:cNvSpPr>
            <a:spLocks noGrp="1"/>
          </p:cNvSpPr>
          <p:nvPr>
            <p:ph type="ftr" sz="quarter" idx="20"/>
          </p:nvPr>
        </p:nvSpPr>
        <p:spPr>
          <a:xfrm>
            <a:off x="8059783" y="6564113"/>
            <a:ext cx="3294018" cy="365125"/>
          </a:xfrm>
        </p:spPr>
        <p:txBody>
          <a:bodyPr/>
          <a:lstStyle/>
          <a:p>
            <a:r>
              <a:rPr lang="en-GB" dirty="0"/>
              <a:t>Rotor Hub and Pitch System / Optimus Syria</a:t>
            </a:r>
          </a:p>
        </p:txBody>
      </p:sp>
      <p:sp>
        <p:nvSpPr>
          <p:cNvPr id="4" name="Foliennummernplatzhalter 3">
            <a:extLst>
              <a:ext uri="{FF2B5EF4-FFF2-40B4-BE49-F238E27FC236}">
                <a16:creationId xmlns="" xmlns:a16="http://schemas.microsoft.com/office/drawing/2014/main" id="{082D30E5-E8EB-4514-D402-7006892C79B8}"/>
              </a:ext>
            </a:extLst>
          </p:cNvPr>
          <p:cNvSpPr>
            <a:spLocks noGrp="1"/>
          </p:cNvSpPr>
          <p:nvPr>
            <p:ph type="sldNum" sz="quarter" idx="21"/>
          </p:nvPr>
        </p:nvSpPr>
        <p:spPr/>
        <p:txBody>
          <a:bodyPr/>
          <a:lstStyle/>
          <a:p>
            <a:fld id="{013F6232-4F06-48BA-8F69-BF531F607829}" type="slidenum">
              <a:rPr lang="en-GB" smtClean="0"/>
              <a:pPr/>
              <a:t>7</a:t>
            </a:fld>
            <a:endParaRPr lang="en-GB" dirty="0"/>
          </a:p>
        </p:txBody>
      </p:sp>
      <p:sp>
        <p:nvSpPr>
          <p:cNvPr id="12" name="Text Placeholder 11"/>
          <p:cNvSpPr>
            <a:spLocks noGrp="1"/>
          </p:cNvSpPr>
          <p:nvPr>
            <p:ph type="body" sz="quarter" idx="18"/>
          </p:nvPr>
        </p:nvSpPr>
        <p:spPr/>
        <p:txBody>
          <a:bodyPr>
            <a:normAutofit/>
          </a:bodyPr>
          <a:lstStyle/>
          <a:p>
            <a:pPr marL="342900" indent="-342900"/>
            <a:r>
              <a:rPr lang="en-US" sz="1400" dirty="0" err="1">
                <a:latin typeface="Times New Roman" pitchFamily="18" charset="0"/>
                <a:cs typeface="Times New Roman" pitchFamily="18" charset="0"/>
              </a:rPr>
              <a:t>Dhruvin</a:t>
            </a:r>
            <a:r>
              <a:rPr lang="en-US" sz="1400" dirty="0">
                <a:latin typeface="Times New Roman" pitchFamily="18" charset="0"/>
                <a:cs typeface="Times New Roman" pitchFamily="18" charset="0"/>
              </a:rPr>
              <a:t> </a:t>
            </a:r>
            <a:r>
              <a:rPr lang="en-US" sz="1400" dirty="0" err="1">
                <a:latin typeface="Times New Roman" pitchFamily="18" charset="0"/>
                <a:cs typeface="Times New Roman" pitchFamily="18" charset="0"/>
              </a:rPr>
              <a:t>Kakdiya</a:t>
            </a:r>
            <a:endParaRPr lang="en-US" sz="1400" dirty="0">
              <a:latin typeface="Times New Roman" pitchFamily="18" charset="0"/>
              <a:cs typeface="Times New Roman" pitchFamily="18" charset="0"/>
            </a:endParaRPr>
          </a:p>
        </p:txBody>
      </p:sp>
      <p:sp>
        <p:nvSpPr>
          <p:cNvPr id="8" name="Content Placeholder 1">
            <a:extLst>
              <a:ext uri="{FF2B5EF4-FFF2-40B4-BE49-F238E27FC236}">
                <a16:creationId xmlns="" xmlns:a16="http://schemas.microsoft.com/office/drawing/2014/main" id="{13DB8106-F4C0-B30F-4E4C-C94AA1BAB7AF}"/>
              </a:ext>
            </a:extLst>
          </p:cNvPr>
          <p:cNvSpPr>
            <a:spLocks noGrp="1"/>
          </p:cNvSpPr>
          <p:nvPr>
            <p:ph idx="1"/>
          </p:nvPr>
        </p:nvSpPr>
        <p:spPr>
          <a:xfrm>
            <a:off x="838200" y="1452570"/>
            <a:ext cx="8953870" cy="4884191"/>
          </a:xfrm>
        </p:spPr>
        <p:txBody>
          <a:bodyPr/>
          <a:lstStyle/>
          <a:p>
            <a:pPr marL="0" indent="0">
              <a:lnSpc>
                <a:spcPct val="107000"/>
              </a:lnSpc>
              <a:spcBef>
                <a:spcPts val="0"/>
              </a:spcBef>
              <a:spcAft>
                <a:spcPts val="800"/>
              </a:spcAft>
              <a:buNone/>
              <a:defRPr/>
            </a:pPr>
            <a:r>
              <a:rPr kumimoji="0" lang="en-IN" sz="1400" b="1"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angal" panose="02040503050203030202" pitchFamily="18" charset="0"/>
              </a:rPr>
              <a:t> </a:t>
            </a:r>
            <a:r>
              <a:rPr kumimoji="0" lang="en-US" sz="3200" b="1" i="0" u="none" strike="noStrike" kern="100" cap="none" spc="0" normalizeH="0" baseline="0" noProof="0" dirty="0" smtClean="0">
                <a:ln>
                  <a:noFill/>
                </a:ln>
                <a:solidFill>
                  <a:prstClr val="black"/>
                </a:solidFill>
                <a:effectLst/>
                <a:uLnTx/>
                <a:uFillTx/>
                <a:latin typeface="Calibri" panose="020F0502020204030204" pitchFamily="34" charset="0"/>
                <a:ea typeface="Calibri" panose="020F0502020204030204" pitchFamily="34" charset="0"/>
                <a:cs typeface="Mangal" panose="02040503050203030202" pitchFamily="18" charset="0"/>
              </a:rPr>
              <a:t>Brake:</a:t>
            </a:r>
            <a:endParaRPr lang="en-US" sz="3200" dirty="0"/>
          </a:p>
          <a:p>
            <a:pPr marL="0" indent="0">
              <a:lnSpc>
                <a:spcPct val="107000"/>
              </a:lnSpc>
              <a:spcBef>
                <a:spcPts val="0"/>
              </a:spcBef>
              <a:spcAft>
                <a:spcPts val="800"/>
              </a:spcAft>
              <a:buNone/>
              <a:defRPr/>
            </a:pPr>
            <a:r>
              <a:rPr lang="en-US" sz="1600" dirty="0"/>
              <a:t> </a:t>
            </a:r>
            <a:r>
              <a:rPr lang="en-US" sz="1400" kern="100" dirty="0">
                <a:solidFill>
                  <a:prstClr val="black"/>
                </a:solidFill>
                <a:latin typeface="Calibri" panose="020F0502020204030204" pitchFamily="34" charset="0"/>
                <a:cs typeface="Mangal" panose="02040503050203030202" pitchFamily="18" charset="0"/>
              </a:rPr>
              <a:t>𝑀𝐵=Maximum required brake torque = 108 Nm</a:t>
            </a:r>
          </a:p>
          <a:p>
            <a:pPr marL="0" indent="0">
              <a:lnSpc>
                <a:spcPct val="107000"/>
              </a:lnSpc>
              <a:spcBef>
                <a:spcPts val="0"/>
              </a:spcBef>
              <a:spcAft>
                <a:spcPts val="800"/>
              </a:spcAft>
              <a:buNone/>
              <a:defRPr/>
            </a:pPr>
            <a:r>
              <a:rPr lang="en-US" sz="1400" kern="100" dirty="0">
                <a:solidFill>
                  <a:prstClr val="black"/>
                </a:solidFill>
                <a:latin typeface="Calibri" panose="020F0502020204030204" pitchFamily="34" charset="0"/>
                <a:cs typeface="Mangal" panose="02040503050203030202" pitchFamily="18" charset="0"/>
              </a:rPr>
              <a:t>Considering the frame size of the selected motor 200𝑀 and the required brake </a:t>
            </a:r>
            <a:r>
              <a:rPr lang="en-US" sz="1400" kern="100" dirty="0" smtClean="0">
                <a:solidFill>
                  <a:prstClr val="black"/>
                </a:solidFill>
                <a:latin typeface="Calibri" panose="020F0502020204030204" pitchFamily="34" charset="0"/>
                <a:cs typeface="Mangal" panose="02040503050203030202" pitchFamily="18" charset="0"/>
              </a:rPr>
              <a:t>torque, we </a:t>
            </a:r>
            <a:r>
              <a:rPr lang="en-US" sz="1400" kern="100" dirty="0">
                <a:solidFill>
                  <a:prstClr val="black"/>
                </a:solidFill>
                <a:latin typeface="Calibri" panose="020F0502020204030204" pitchFamily="34" charset="0"/>
                <a:cs typeface="Mangal" panose="02040503050203030202" pitchFamily="18" charset="0"/>
              </a:rPr>
              <a:t>chose the 𝐵𝐸30 brake from 𝑆𝐸𝑊−𝐸𝑈𝑅𝑂𝐷𝑅𝐼𝑉𝐸.</a:t>
            </a:r>
          </a:p>
          <a:p>
            <a:pPr marL="0" indent="0">
              <a:buNone/>
            </a:pPr>
            <a:endParaRPr lang="en-IN" sz="1400" kern="100" dirty="0">
              <a:solidFill>
                <a:prstClr val="black"/>
              </a:solidFill>
              <a:latin typeface="Calibri" panose="020F0502020204030204" pitchFamily="34" charset="0"/>
              <a:cs typeface="Mangal" panose="02040503050203030202" pitchFamily="18" charset="0"/>
            </a:endParaRPr>
          </a:p>
        </p:txBody>
      </p:sp>
      <p:pic>
        <p:nvPicPr>
          <p:cNvPr id="9" name="Picture 8">
            <a:extLst>
              <a:ext uri="{FF2B5EF4-FFF2-40B4-BE49-F238E27FC236}">
                <a16:creationId xmlns="" xmlns:a16="http://schemas.microsoft.com/office/drawing/2014/main" id="{8EDAD798-5EF6-414A-BAF8-8E589524F4BA}"/>
              </a:ext>
            </a:extLst>
          </p:cNvPr>
          <p:cNvPicPr>
            <a:picLocks noChangeAspect="1"/>
          </p:cNvPicPr>
          <p:nvPr/>
        </p:nvPicPr>
        <p:blipFill>
          <a:blip r:embed="rId2"/>
          <a:stretch>
            <a:fillRect/>
          </a:stretch>
        </p:blipFill>
        <p:spPr>
          <a:xfrm>
            <a:off x="1016255" y="3195437"/>
            <a:ext cx="4315521" cy="2317595"/>
          </a:xfrm>
          <a:prstGeom prst="rect">
            <a:avLst/>
          </a:prstGeom>
          <a:solidFill>
            <a:srgbClr val="FFFF00"/>
          </a:solidFill>
        </p:spPr>
      </p:pic>
      <p:pic>
        <p:nvPicPr>
          <p:cNvPr id="10" name="Picture 9">
            <a:extLst>
              <a:ext uri="{FF2B5EF4-FFF2-40B4-BE49-F238E27FC236}">
                <a16:creationId xmlns="" xmlns:a16="http://schemas.microsoft.com/office/drawing/2014/main" id="{7F06E3B0-DFEE-49C4-9446-FBEE1D871173}"/>
              </a:ext>
            </a:extLst>
          </p:cNvPr>
          <p:cNvPicPr>
            <a:picLocks noChangeAspect="1"/>
          </p:cNvPicPr>
          <p:nvPr/>
        </p:nvPicPr>
        <p:blipFill>
          <a:blip r:embed="rId3"/>
          <a:stretch>
            <a:fillRect/>
          </a:stretch>
        </p:blipFill>
        <p:spPr>
          <a:xfrm>
            <a:off x="5493668" y="3273118"/>
            <a:ext cx="4322819" cy="2239914"/>
          </a:xfrm>
          <a:prstGeom prst="rect">
            <a:avLst/>
          </a:prstGeom>
        </p:spPr>
      </p:pic>
    </p:spTree>
    <p:extLst>
      <p:ext uri="{BB962C8B-B14F-4D97-AF65-F5344CB8AC3E}">
        <p14:creationId xmlns="" xmlns:p14="http://schemas.microsoft.com/office/powerpoint/2010/main" val="29538506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 xmlns:a16="http://schemas.microsoft.com/office/drawing/2014/main" id="{97AB2181-1D58-C573-4954-87E8EF36B0C8}"/>
              </a:ext>
            </a:extLst>
          </p:cNvPr>
          <p:cNvSpPr>
            <a:spLocks noGrp="1"/>
          </p:cNvSpPr>
          <p:nvPr>
            <p:ph idx="1"/>
          </p:nvPr>
        </p:nvSpPr>
        <p:spPr>
          <a:xfrm>
            <a:off x="838200" y="1515533"/>
            <a:ext cx="10515600" cy="4661430"/>
          </a:xfrm>
        </p:spPr>
        <p:txBody>
          <a:bodyPr>
            <a:normAutofit fontScale="92500" lnSpcReduction="10000"/>
          </a:bodyPr>
          <a:lstStyle/>
          <a:p>
            <a:pPr marL="342900" indent="-342900" algn="just">
              <a:buFont typeface="Wingdings" panose="05000000000000000000" pitchFamily="2" charset="2"/>
              <a:buChar char="ü"/>
            </a:pPr>
            <a:r>
              <a:rPr lang="en-US" sz="1800" dirty="0">
                <a:latin typeface="Arial" panose="020B0604020202020204" pitchFamily="34" charset="0"/>
                <a:cs typeface="Arial" panose="020B0604020202020204" pitchFamily="34" charset="0"/>
              </a:rPr>
              <a:t>A lubrication system is designed to deliver the correct amount of lubricant (usually grease or oil) to moving machine parts. Its primary purpose is to reduce friction, minimize wear, prevent corrosion, and remove contaminants from contact surfaces.   </a:t>
            </a:r>
          </a:p>
          <a:p>
            <a:pPr marL="342900" indent="-342900">
              <a:buFont typeface="Wingdings" panose="05000000000000000000" pitchFamily="2" charset="2"/>
              <a:buChar char="ü"/>
            </a:pPr>
            <a:endParaRPr lang="en-US" sz="18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ü"/>
            </a:pPr>
            <a:endParaRPr lang="en-US" sz="18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ü"/>
            </a:pPr>
            <a:endParaRPr lang="en-US" sz="18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ü"/>
            </a:pPr>
            <a:endParaRPr lang="en-US" sz="18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ü"/>
            </a:pPr>
            <a:endParaRPr lang="en-US" sz="18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ü"/>
            </a:pPr>
            <a:endParaRPr lang="en-US" sz="18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ü"/>
            </a:pPr>
            <a:endParaRPr lang="en-US" sz="18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ü"/>
            </a:pPr>
            <a:endParaRPr lang="en-US" sz="18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ü"/>
            </a:pPr>
            <a:endParaRPr lang="en-US" sz="18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ü"/>
            </a:pPr>
            <a:endParaRPr lang="en-US" sz="1800" dirty="0">
              <a:latin typeface="Arial" panose="020B0604020202020204" pitchFamily="34" charset="0"/>
              <a:cs typeface="Arial" panose="020B0604020202020204" pitchFamily="34" charset="0"/>
            </a:endParaRPr>
          </a:p>
          <a:p>
            <a:pPr marL="342900" indent="-342900">
              <a:buFont typeface="Wingdings" panose="05000000000000000000" pitchFamily="2" charset="2"/>
              <a:buChar char="ü"/>
            </a:pPr>
            <a:r>
              <a:rPr lang="en-US" sz="1800" dirty="0">
                <a:latin typeface="Arial" panose="020B0604020202020204" pitchFamily="34" charset="0"/>
                <a:cs typeface="Arial" panose="020B0604020202020204" pitchFamily="34" charset="0"/>
              </a:rPr>
              <a:t>Automatic lubrication is selected for this turbine because it provides consistent, controlled, and reliable grease delivery to the pitch bearing</a:t>
            </a:r>
            <a:endParaRPr lang="en-IN" sz="1800" dirty="0">
              <a:latin typeface="Arial" panose="020B0604020202020204" pitchFamily="34" charset="0"/>
              <a:cs typeface="Arial" panose="020B0604020202020204" pitchFamily="34" charset="0"/>
            </a:endParaRPr>
          </a:p>
        </p:txBody>
      </p:sp>
      <p:sp>
        <p:nvSpPr>
          <p:cNvPr id="3" name="Title 2">
            <a:extLst>
              <a:ext uri="{FF2B5EF4-FFF2-40B4-BE49-F238E27FC236}">
                <a16:creationId xmlns="" xmlns:a16="http://schemas.microsoft.com/office/drawing/2014/main" id="{C18E6B6F-75AD-0F56-74C1-78BFBED0F17E}"/>
              </a:ext>
            </a:extLst>
          </p:cNvPr>
          <p:cNvSpPr>
            <a:spLocks noGrp="1"/>
          </p:cNvSpPr>
          <p:nvPr>
            <p:ph type="title"/>
          </p:nvPr>
        </p:nvSpPr>
        <p:spPr>
          <a:xfrm>
            <a:off x="939800" y="305142"/>
            <a:ext cx="11717867" cy="1325563"/>
          </a:xfrm>
        </p:spPr>
        <p:txBody>
          <a:bodyPr>
            <a:normAutofit/>
          </a:bodyPr>
          <a:lstStyle/>
          <a:p>
            <a:r>
              <a:rPr lang="en-IN" sz="3200" dirty="0">
                <a:latin typeface="Arial" panose="020B0604020202020204" pitchFamily="34" charset="0"/>
                <a:cs typeface="Arial" panose="020B0604020202020204" pitchFamily="34" charset="0"/>
              </a:rPr>
              <a:t>                           Lubrication System</a:t>
            </a:r>
          </a:p>
        </p:txBody>
      </p:sp>
      <p:sp>
        <p:nvSpPr>
          <p:cNvPr id="4" name="Date Placeholder 3">
            <a:extLst>
              <a:ext uri="{FF2B5EF4-FFF2-40B4-BE49-F238E27FC236}">
                <a16:creationId xmlns="" xmlns:a16="http://schemas.microsoft.com/office/drawing/2014/main" id="{9A36F486-F72B-0169-899C-A59EC282B979}"/>
              </a:ext>
            </a:extLst>
          </p:cNvPr>
          <p:cNvSpPr>
            <a:spLocks noGrp="1"/>
          </p:cNvSpPr>
          <p:nvPr>
            <p:ph type="dt" sz="half" idx="10"/>
          </p:nvPr>
        </p:nvSpPr>
        <p:spPr/>
        <p:txBody>
          <a:bodyPr/>
          <a:lstStyle/>
          <a:p>
            <a:fld id="{3C9CB449-9A05-47ED-ABE6-D776F3C0C66D}" type="datetime1">
              <a:rPr lang="en-GB" smtClean="0"/>
              <a:pPr/>
              <a:t>16/11/2025</a:t>
            </a:fld>
            <a:endParaRPr lang="en-GB" dirty="0"/>
          </a:p>
        </p:txBody>
      </p:sp>
      <p:sp>
        <p:nvSpPr>
          <p:cNvPr id="5" name="Footer Placeholder 4">
            <a:extLst>
              <a:ext uri="{FF2B5EF4-FFF2-40B4-BE49-F238E27FC236}">
                <a16:creationId xmlns="" xmlns:a16="http://schemas.microsoft.com/office/drawing/2014/main" id="{B6A5B214-AB07-3BB2-8827-09F6BA584906}"/>
              </a:ext>
            </a:extLst>
          </p:cNvPr>
          <p:cNvSpPr>
            <a:spLocks noGrp="1"/>
          </p:cNvSpPr>
          <p:nvPr>
            <p:ph type="ftr" sz="quarter" idx="11"/>
          </p:nvPr>
        </p:nvSpPr>
        <p:spPr/>
        <p:txBody>
          <a:bodyPr/>
          <a:lstStyle/>
          <a:p>
            <a:r>
              <a:rPr lang="en-GB"/>
              <a:t>Rotor Hub and Pitch System / Optimus Syria</a:t>
            </a:r>
            <a:endParaRPr lang="en-GB" dirty="0"/>
          </a:p>
        </p:txBody>
      </p:sp>
      <p:sp>
        <p:nvSpPr>
          <p:cNvPr id="6" name="Slide Number Placeholder 5">
            <a:extLst>
              <a:ext uri="{FF2B5EF4-FFF2-40B4-BE49-F238E27FC236}">
                <a16:creationId xmlns="" xmlns:a16="http://schemas.microsoft.com/office/drawing/2014/main" id="{A70FD8C7-1B36-C169-A720-10CC1CFA958A}"/>
              </a:ext>
            </a:extLst>
          </p:cNvPr>
          <p:cNvSpPr>
            <a:spLocks noGrp="1"/>
          </p:cNvSpPr>
          <p:nvPr>
            <p:ph type="sldNum" sz="quarter" idx="12"/>
          </p:nvPr>
        </p:nvSpPr>
        <p:spPr/>
        <p:txBody>
          <a:bodyPr/>
          <a:lstStyle/>
          <a:p>
            <a:fld id="{013F6232-4F06-48BA-8F69-BF531F607829}" type="slidenum">
              <a:rPr lang="en-GB" smtClean="0"/>
              <a:pPr/>
              <a:t>8</a:t>
            </a:fld>
            <a:endParaRPr lang="en-GB" dirty="0"/>
          </a:p>
        </p:txBody>
      </p:sp>
      <p:sp>
        <p:nvSpPr>
          <p:cNvPr id="7" name="Text Placeholder 6">
            <a:extLst>
              <a:ext uri="{FF2B5EF4-FFF2-40B4-BE49-F238E27FC236}">
                <a16:creationId xmlns="" xmlns:a16="http://schemas.microsoft.com/office/drawing/2014/main" id="{A60EBF37-7A14-0A0F-3C3A-C17539A2123D}"/>
              </a:ext>
            </a:extLst>
          </p:cNvPr>
          <p:cNvSpPr>
            <a:spLocks noGrp="1"/>
          </p:cNvSpPr>
          <p:nvPr>
            <p:ph type="body" sz="quarter" idx="18"/>
          </p:nvPr>
        </p:nvSpPr>
        <p:spPr/>
        <p:txBody>
          <a:bodyPr/>
          <a:lstStyle/>
          <a:p>
            <a:pPr marL="342900" indent="-342900"/>
            <a:r>
              <a:rPr lang="en-US" dirty="0" err="1">
                <a:latin typeface="Times New Roman" pitchFamily="18" charset="0"/>
                <a:cs typeface="Times New Roman" pitchFamily="18" charset="0"/>
              </a:rPr>
              <a:t>Dhruvin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Kakdiya</a:t>
            </a:r>
            <a:endParaRPr lang="en-US" dirty="0">
              <a:latin typeface="Times New Roman" pitchFamily="18" charset="0"/>
              <a:cs typeface="Times New Roman" pitchFamily="18" charset="0"/>
            </a:endParaRPr>
          </a:p>
        </p:txBody>
      </p:sp>
      <p:graphicFrame>
        <p:nvGraphicFramePr>
          <p:cNvPr id="10" name="Table 9">
            <a:extLst>
              <a:ext uri="{FF2B5EF4-FFF2-40B4-BE49-F238E27FC236}">
                <a16:creationId xmlns="" xmlns:a16="http://schemas.microsoft.com/office/drawing/2014/main" id="{3D767576-FEF7-EEAA-D11A-E40382801437}"/>
              </a:ext>
            </a:extLst>
          </p:cNvPr>
          <p:cNvGraphicFramePr>
            <a:graphicFrameLocks noGrp="1"/>
          </p:cNvGraphicFramePr>
          <p:nvPr>
            <p:extLst>
              <p:ext uri="{D42A27DB-BD31-4B8C-83A1-F6EECF244321}">
                <p14:modId xmlns="" xmlns:p14="http://schemas.microsoft.com/office/powerpoint/2010/main" val="2014230585"/>
              </p:ext>
            </p:extLst>
          </p:nvPr>
        </p:nvGraphicFramePr>
        <p:xfrm>
          <a:off x="2032000" y="2420474"/>
          <a:ext cx="8127999" cy="2849880"/>
        </p:xfrm>
        <a:graphic>
          <a:graphicData uri="http://schemas.openxmlformats.org/drawingml/2006/table">
            <a:tbl>
              <a:tblPr firstRow="1" bandRow="1">
                <a:tableStyleId>{5C22544A-7EE6-4342-B048-85BDC9FD1C3A}</a:tableStyleId>
              </a:tblPr>
              <a:tblGrid>
                <a:gridCol w="2709333">
                  <a:extLst>
                    <a:ext uri="{9D8B030D-6E8A-4147-A177-3AD203B41FA5}">
                      <a16:colId xmlns="" xmlns:a16="http://schemas.microsoft.com/office/drawing/2014/main" val="1411126563"/>
                    </a:ext>
                  </a:extLst>
                </a:gridCol>
                <a:gridCol w="2709333">
                  <a:extLst>
                    <a:ext uri="{9D8B030D-6E8A-4147-A177-3AD203B41FA5}">
                      <a16:colId xmlns="" xmlns:a16="http://schemas.microsoft.com/office/drawing/2014/main" val="350622900"/>
                    </a:ext>
                  </a:extLst>
                </a:gridCol>
                <a:gridCol w="2709333">
                  <a:extLst>
                    <a:ext uri="{9D8B030D-6E8A-4147-A177-3AD203B41FA5}">
                      <a16:colId xmlns="" xmlns:a16="http://schemas.microsoft.com/office/drawing/2014/main" val="1323376450"/>
                    </a:ext>
                  </a:extLst>
                </a:gridCol>
              </a:tblGrid>
              <a:tr h="370840">
                <a:tc>
                  <a:txBody>
                    <a:bodyPr/>
                    <a:lstStyle/>
                    <a:p>
                      <a:pPr algn="ctr"/>
                      <a:r>
                        <a:rPr lang="en-IN" dirty="0"/>
                        <a:t>Feature</a:t>
                      </a:r>
                    </a:p>
                  </a:txBody>
                  <a:tcPr/>
                </a:tc>
                <a:tc>
                  <a:txBody>
                    <a:bodyPr/>
                    <a:lstStyle/>
                    <a:p>
                      <a:pPr algn="ctr"/>
                      <a:r>
                        <a:rPr lang="en-IN"/>
                        <a:t>Manual Lubrication</a:t>
                      </a:r>
                    </a:p>
                  </a:txBody>
                  <a:tcPr/>
                </a:tc>
                <a:tc>
                  <a:txBody>
                    <a:bodyPr/>
                    <a:lstStyle/>
                    <a:p>
                      <a:pPr algn="ctr"/>
                      <a:r>
                        <a:rPr lang="en-IN"/>
                        <a:t>Automatic Lubrication</a:t>
                      </a:r>
                    </a:p>
                  </a:txBody>
                  <a:tcPr/>
                </a:tc>
                <a:extLst>
                  <a:ext uri="{0D108BD9-81ED-4DB2-BD59-A6C34878D82A}">
                    <a16:rowId xmlns="" xmlns:a16="http://schemas.microsoft.com/office/drawing/2014/main" val="3165322183"/>
                  </a:ext>
                </a:extLst>
              </a:tr>
              <a:tr h="370840">
                <a:tc>
                  <a:txBody>
                    <a:bodyPr/>
                    <a:lstStyle/>
                    <a:p>
                      <a:pPr algn="ctr"/>
                      <a:r>
                        <a:rPr lang="en-IN" sz="1600">
                          <a:latin typeface="Arial" panose="020B0604020202020204" pitchFamily="34" charset="0"/>
                          <a:cs typeface="Arial" panose="020B0604020202020204" pitchFamily="34" charset="0"/>
                        </a:rPr>
                        <a:t>Lubrication Frequency</a:t>
                      </a:r>
                    </a:p>
                  </a:txBody>
                  <a:tcPr/>
                </a:tc>
                <a:tc>
                  <a:txBody>
                    <a:bodyPr/>
                    <a:lstStyle/>
                    <a:p>
                      <a:pPr algn="ctr"/>
                      <a:r>
                        <a:rPr lang="en-IN" sz="1600" dirty="0">
                          <a:latin typeface="Arial" panose="020B0604020202020204" pitchFamily="34" charset="0"/>
                          <a:cs typeface="Arial" panose="020B0604020202020204" pitchFamily="34" charset="0"/>
                        </a:rPr>
                        <a:t>Periodic (scheduled stops)</a:t>
                      </a:r>
                    </a:p>
                  </a:txBody>
                  <a:tcPr/>
                </a:tc>
                <a:tc>
                  <a:txBody>
                    <a:bodyPr/>
                    <a:lstStyle/>
                    <a:p>
                      <a:r>
                        <a:rPr lang="en-IN" sz="1600">
                          <a:latin typeface="Arial" panose="020B0604020202020204" pitchFamily="34" charset="0"/>
                          <a:cs typeface="Arial" panose="020B0604020202020204" pitchFamily="34" charset="0"/>
                        </a:rPr>
                        <a:t>Continuous or timed intervals</a:t>
                      </a:r>
                    </a:p>
                  </a:txBody>
                  <a:tcPr/>
                </a:tc>
                <a:extLst>
                  <a:ext uri="{0D108BD9-81ED-4DB2-BD59-A6C34878D82A}">
                    <a16:rowId xmlns="" xmlns:a16="http://schemas.microsoft.com/office/drawing/2014/main" val="143465077"/>
                  </a:ext>
                </a:extLst>
              </a:tr>
              <a:tr h="370840">
                <a:tc>
                  <a:txBody>
                    <a:bodyPr/>
                    <a:lstStyle/>
                    <a:p>
                      <a:pPr algn="ctr"/>
                      <a:r>
                        <a:rPr lang="en-IN" sz="1600">
                          <a:latin typeface="Arial" panose="020B0604020202020204" pitchFamily="34" charset="0"/>
                          <a:cs typeface="Arial" panose="020B0604020202020204" pitchFamily="34" charset="0"/>
                        </a:rPr>
                        <a:t>Accuracy of Grease dosage</a:t>
                      </a:r>
                    </a:p>
                  </a:txBody>
                  <a:tcPr/>
                </a:tc>
                <a:tc>
                  <a:txBody>
                    <a:bodyPr/>
                    <a:lstStyle/>
                    <a:p>
                      <a:pPr algn="ctr"/>
                      <a:r>
                        <a:rPr lang="en-IN" sz="1600">
                          <a:latin typeface="Arial" panose="020B0604020202020204" pitchFamily="34" charset="0"/>
                          <a:cs typeface="Arial" panose="020B0604020202020204" pitchFamily="34" charset="0"/>
                        </a:rPr>
                        <a:t>Low – operator dependent</a:t>
                      </a:r>
                    </a:p>
                  </a:txBody>
                  <a:tcPr/>
                </a:tc>
                <a:tc>
                  <a:txBody>
                    <a:bodyPr/>
                    <a:lstStyle/>
                    <a:p>
                      <a:pPr algn="ctr"/>
                      <a:r>
                        <a:rPr lang="en-IN" sz="1600">
                          <a:latin typeface="Arial" panose="020B0604020202020204" pitchFamily="34" charset="0"/>
                          <a:cs typeface="Arial" panose="020B0604020202020204" pitchFamily="34" charset="0"/>
                        </a:rPr>
                        <a:t>High – controlled &amp; consistent</a:t>
                      </a:r>
                    </a:p>
                  </a:txBody>
                  <a:tcPr/>
                </a:tc>
                <a:extLst>
                  <a:ext uri="{0D108BD9-81ED-4DB2-BD59-A6C34878D82A}">
                    <a16:rowId xmlns="" xmlns:a16="http://schemas.microsoft.com/office/drawing/2014/main" val="144889317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a:latin typeface="Arial" panose="020B0604020202020204" pitchFamily="34" charset="0"/>
                          <a:cs typeface="Arial" panose="020B0604020202020204" pitchFamily="34" charset="0"/>
                        </a:rPr>
                        <a:t>Downtime</a:t>
                      </a:r>
                    </a:p>
                    <a:p>
                      <a:pPr algn="ctr"/>
                      <a:endParaRPr lang="en-IN" sz="1600">
                        <a:latin typeface="Arial" panose="020B0604020202020204" pitchFamily="34" charset="0"/>
                        <a:cs typeface="Arial" panose="020B06040202020202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a:latin typeface="Arial" panose="020B0604020202020204" pitchFamily="34" charset="0"/>
                          <a:cs typeface="Arial" panose="020B0604020202020204" pitchFamily="34" charset="0"/>
                        </a:rPr>
                        <a:t>Requires stopping turbine</a:t>
                      </a:r>
                    </a:p>
                    <a:p>
                      <a:pPr algn="ctr"/>
                      <a:endParaRPr lang="en-IN" sz="1600">
                        <a:latin typeface="Arial" panose="020B0604020202020204" pitchFamily="34" charset="0"/>
                        <a:cs typeface="Arial" panose="020B0604020202020204" pitchFamily="34" charset="0"/>
                      </a:endParaRPr>
                    </a:p>
                  </a:txBody>
                  <a:tcPr/>
                </a:tc>
                <a:tc>
                  <a:txBody>
                    <a:bodyPr/>
                    <a:lstStyle/>
                    <a:p>
                      <a:r>
                        <a:rPr lang="en-IN" sz="1600">
                          <a:latin typeface="Arial" panose="020B0604020202020204" pitchFamily="34" charset="0"/>
                          <a:cs typeface="Arial" panose="020B0604020202020204" pitchFamily="34" charset="0"/>
                        </a:rPr>
                        <a:t>Can operate while running</a:t>
                      </a:r>
                    </a:p>
                  </a:txBody>
                  <a:tcPr/>
                </a:tc>
                <a:extLst>
                  <a:ext uri="{0D108BD9-81ED-4DB2-BD59-A6C34878D82A}">
                    <a16:rowId xmlns="" xmlns:a16="http://schemas.microsoft.com/office/drawing/2014/main" val="379505468"/>
                  </a:ext>
                </a:extLst>
              </a:tr>
              <a:tr h="370840">
                <a:tc>
                  <a:txBody>
                    <a:bodyPr/>
                    <a:lstStyle/>
                    <a:p>
                      <a:pPr algn="ctr"/>
                      <a:r>
                        <a:rPr lang="en-IN"/>
                        <a:t>Reliability</a:t>
                      </a:r>
                    </a:p>
                  </a:txBody>
                  <a:tcPr/>
                </a:tc>
                <a:tc>
                  <a:txBody>
                    <a:bodyPr/>
                    <a:lstStyle/>
                    <a:p>
                      <a:pPr algn="ctr"/>
                      <a:r>
                        <a:rPr lang="en-IN"/>
                        <a:t>Medium</a:t>
                      </a:r>
                    </a:p>
                  </a:txBody>
                  <a:tcPr/>
                </a:tc>
                <a:tc>
                  <a:txBody>
                    <a:bodyPr/>
                    <a:lstStyle/>
                    <a:p>
                      <a:pPr algn="ctr"/>
                      <a:r>
                        <a:rPr lang="en-IN"/>
                        <a:t>Very High</a:t>
                      </a:r>
                    </a:p>
                  </a:txBody>
                  <a:tcPr/>
                </a:tc>
                <a:extLst>
                  <a:ext uri="{0D108BD9-81ED-4DB2-BD59-A6C34878D82A}">
                    <a16:rowId xmlns="" xmlns:a16="http://schemas.microsoft.com/office/drawing/2014/main" val="2575012918"/>
                  </a:ext>
                </a:extLst>
              </a:tr>
              <a:tr h="370840">
                <a:tc>
                  <a:txBody>
                    <a:bodyPr/>
                    <a:lstStyle/>
                    <a:p>
                      <a:pPr algn="ctr"/>
                      <a:r>
                        <a:rPr lang="en-IN"/>
                        <a:t>Cost</a:t>
                      </a:r>
                    </a:p>
                  </a:txBody>
                  <a:tcPr/>
                </a:tc>
                <a:tc>
                  <a:txBody>
                    <a:bodyPr/>
                    <a:lstStyle/>
                    <a:p>
                      <a:pPr algn="ctr"/>
                      <a:r>
                        <a:rPr lang="en-IN"/>
                        <a:t>Low initial cost</a:t>
                      </a:r>
                    </a:p>
                  </a:txBody>
                  <a:tcPr/>
                </a:tc>
                <a:tc>
                  <a:txBody>
                    <a:bodyPr/>
                    <a:lstStyle/>
                    <a:p>
                      <a:pPr algn="ctr"/>
                      <a:r>
                        <a:rPr lang="en-US" dirty="0"/>
                        <a:t>Higher initial cost </a:t>
                      </a:r>
                      <a:endParaRPr lang="en-IN" dirty="0"/>
                    </a:p>
                  </a:txBody>
                  <a:tcPr/>
                </a:tc>
                <a:extLst>
                  <a:ext uri="{0D108BD9-81ED-4DB2-BD59-A6C34878D82A}">
                    <a16:rowId xmlns="" xmlns:a16="http://schemas.microsoft.com/office/drawing/2014/main" val="2871607636"/>
                  </a:ext>
                </a:extLst>
              </a:tr>
            </a:tbl>
          </a:graphicData>
        </a:graphic>
      </p:graphicFrame>
    </p:spTree>
    <p:extLst>
      <p:ext uri="{BB962C8B-B14F-4D97-AF65-F5344CB8AC3E}">
        <p14:creationId xmlns="" xmlns:p14="http://schemas.microsoft.com/office/powerpoint/2010/main" val="30711184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 xmlns:a16="http://schemas.microsoft.com/office/drawing/2014/main" id="{CF4310EC-E37A-EE68-A483-B4CAEAD0749C}"/>
              </a:ext>
            </a:extLst>
          </p:cNvPr>
          <p:cNvSpPr>
            <a:spLocks noGrp="1"/>
          </p:cNvSpPr>
          <p:nvPr>
            <p:ph idx="1"/>
          </p:nvPr>
        </p:nvSpPr>
        <p:spPr/>
        <p:txBody>
          <a:bodyPr>
            <a:normAutofit lnSpcReduction="10000"/>
          </a:bodyPr>
          <a:lstStyle/>
          <a:p>
            <a:pPr marL="285750" indent="-285750" algn="just">
              <a:buFont typeface="Wingdings" panose="05000000000000000000" pitchFamily="2" charset="2"/>
              <a:buChar char="ü"/>
            </a:pPr>
            <a:endParaRPr lang="en-US" sz="1800">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ü"/>
            </a:pPr>
            <a:endParaRPr lang="en-US" sz="1800">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ü"/>
            </a:pPr>
            <a:endParaRPr lang="en-US" sz="1800">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ü"/>
            </a:pPr>
            <a:endParaRPr lang="en-US" sz="1800">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ü"/>
            </a:pPr>
            <a:endParaRPr lang="en-US" sz="1800">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ü"/>
            </a:pPr>
            <a:endParaRPr lang="en-US" sz="1800">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ü"/>
            </a:pPr>
            <a:endParaRPr lang="en-US" sz="1800">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ü"/>
            </a:pPr>
            <a:endParaRPr lang="en-US" sz="1800">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ü"/>
            </a:pPr>
            <a:r>
              <a:rPr lang="en-US" sz="1800">
                <a:latin typeface="Arial" panose="020B0604020202020204" pitchFamily="34" charset="0"/>
                <a:cs typeface="Arial" panose="020B0604020202020204" pitchFamily="34" charset="0"/>
              </a:rPr>
              <a:t>Progressive lubrication systems are preferred because they offer the most reliable and controlled grease delivery. Each lubrication point receives a precisely metered amount of grease in a fixed sequence, ensuring uniform distribution across all bearing rows. Blockages are immediately detected because the metering pistons stop in sequence, allowing early fault identification and preventing bearing damage</a:t>
            </a:r>
            <a:r>
              <a:rPr lang="en-US" i="1"/>
              <a:t>.</a:t>
            </a:r>
            <a:endParaRPr lang="en-IN"/>
          </a:p>
        </p:txBody>
      </p:sp>
      <p:sp>
        <p:nvSpPr>
          <p:cNvPr id="3" name="Title 2">
            <a:extLst>
              <a:ext uri="{FF2B5EF4-FFF2-40B4-BE49-F238E27FC236}">
                <a16:creationId xmlns="" xmlns:a16="http://schemas.microsoft.com/office/drawing/2014/main" id="{C36B29D2-6518-6516-0EAD-31FDB1D9D2FC}"/>
              </a:ext>
            </a:extLst>
          </p:cNvPr>
          <p:cNvSpPr>
            <a:spLocks noGrp="1"/>
          </p:cNvSpPr>
          <p:nvPr>
            <p:ph type="title"/>
          </p:nvPr>
        </p:nvSpPr>
        <p:spPr/>
        <p:txBody>
          <a:bodyPr>
            <a:normAutofit/>
          </a:bodyPr>
          <a:lstStyle/>
          <a:p>
            <a:pPr algn="ctr"/>
            <a:r>
              <a:rPr lang="en-IN" sz="3200" dirty="0">
                <a:latin typeface="Arial" panose="020B0604020202020204" pitchFamily="34" charset="0"/>
                <a:cs typeface="Arial" panose="020B0604020202020204" pitchFamily="34" charset="0"/>
              </a:rPr>
              <a:t>Types of Automatic Lubrication systems</a:t>
            </a:r>
          </a:p>
        </p:txBody>
      </p:sp>
      <p:sp>
        <p:nvSpPr>
          <p:cNvPr id="4" name="Date Placeholder 3">
            <a:extLst>
              <a:ext uri="{FF2B5EF4-FFF2-40B4-BE49-F238E27FC236}">
                <a16:creationId xmlns="" xmlns:a16="http://schemas.microsoft.com/office/drawing/2014/main" id="{51CA9F92-987B-1360-6843-309E5B31EAEC}"/>
              </a:ext>
            </a:extLst>
          </p:cNvPr>
          <p:cNvSpPr>
            <a:spLocks noGrp="1"/>
          </p:cNvSpPr>
          <p:nvPr>
            <p:ph type="dt" sz="half" idx="10"/>
          </p:nvPr>
        </p:nvSpPr>
        <p:spPr/>
        <p:txBody>
          <a:bodyPr/>
          <a:lstStyle/>
          <a:p>
            <a:fld id="{3C9CB449-9A05-47ED-ABE6-D776F3C0C66D}" type="datetime1">
              <a:rPr lang="en-GB" smtClean="0"/>
              <a:pPr/>
              <a:t>16/11/2025</a:t>
            </a:fld>
            <a:endParaRPr lang="en-GB" dirty="0"/>
          </a:p>
        </p:txBody>
      </p:sp>
      <p:sp>
        <p:nvSpPr>
          <p:cNvPr id="5" name="Footer Placeholder 4">
            <a:extLst>
              <a:ext uri="{FF2B5EF4-FFF2-40B4-BE49-F238E27FC236}">
                <a16:creationId xmlns="" xmlns:a16="http://schemas.microsoft.com/office/drawing/2014/main" id="{9C482D01-1B6B-E380-0589-3E5008FD311B}"/>
              </a:ext>
            </a:extLst>
          </p:cNvPr>
          <p:cNvSpPr>
            <a:spLocks noGrp="1"/>
          </p:cNvSpPr>
          <p:nvPr>
            <p:ph type="ftr" sz="quarter" idx="11"/>
          </p:nvPr>
        </p:nvSpPr>
        <p:spPr/>
        <p:txBody>
          <a:bodyPr/>
          <a:lstStyle/>
          <a:p>
            <a:r>
              <a:rPr lang="en-GB"/>
              <a:t>Rotor Hub and Pitch System / Optimus Syria</a:t>
            </a:r>
            <a:endParaRPr lang="en-GB" dirty="0"/>
          </a:p>
        </p:txBody>
      </p:sp>
      <p:sp>
        <p:nvSpPr>
          <p:cNvPr id="6" name="Slide Number Placeholder 5">
            <a:extLst>
              <a:ext uri="{FF2B5EF4-FFF2-40B4-BE49-F238E27FC236}">
                <a16:creationId xmlns="" xmlns:a16="http://schemas.microsoft.com/office/drawing/2014/main" id="{3552EC85-EA03-5E14-D9B8-53F466E01D20}"/>
              </a:ext>
            </a:extLst>
          </p:cNvPr>
          <p:cNvSpPr>
            <a:spLocks noGrp="1"/>
          </p:cNvSpPr>
          <p:nvPr>
            <p:ph type="sldNum" sz="quarter" idx="12"/>
          </p:nvPr>
        </p:nvSpPr>
        <p:spPr/>
        <p:txBody>
          <a:bodyPr/>
          <a:lstStyle/>
          <a:p>
            <a:fld id="{013F6232-4F06-48BA-8F69-BF531F607829}" type="slidenum">
              <a:rPr lang="en-GB" smtClean="0"/>
              <a:pPr/>
              <a:t>9</a:t>
            </a:fld>
            <a:endParaRPr lang="en-GB" dirty="0"/>
          </a:p>
        </p:txBody>
      </p:sp>
      <p:sp>
        <p:nvSpPr>
          <p:cNvPr id="7" name="Text Placeholder 6">
            <a:extLst>
              <a:ext uri="{FF2B5EF4-FFF2-40B4-BE49-F238E27FC236}">
                <a16:creationId xmlns="" xmlns:a16="http://schemas.microsoft.com/office/drawing/2014/main" id="{15491FA7-45AD-F783-F307-1037E6E9EB03}"/>
              </a:ext>
            </a:extLst>
          </p:cNvPr>
          <p:cNvSpPr>
            <a:spLocks noGrp="1"/>
          </p:cNvSpPr>
          <p:nvPr>
            <p:ph type="body" sz="quarter" idx="18"/>
          </p:nvPr>
        </p:nvSpPr>
        <p:spPr/>
        <p:txBody>
          <a:bodyPr/>
          <a:lstStyle/>
          <a:p>
            <a:pPr marL="342900" indent="-342900"/>
            <a:r>
              <a:rPr lang="en-US" dirty="0" err="1">
                <a:latin typeface="Times New Roman" pitchFamily="18" charset="0"/>
                <a:cs typeface="Times New Roman" pitchFamily="18" charset="0"/>
              </a:rPr>
              <a:t>Dhruvin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Kakdiya</a:t>
            </a:r>
            <a:endParaRPr lang="en-US" dirty="0">
              <a:latin typeface="Times New Roman" pitchFamily="18" charset="0"/>
              <a:cs typeface="Times New Roman" pitchFamily="18" charset="0"/>
            </a:endParaRPr>
          </a:p>
        </p:txBody>
      </p:sp>
      <p:graphicFrame>
        <p:nvGraphicFramePr>
          <p:cNvPr id="8" name="Table 7">
            <a:extLst>
              <a:ext uri="{FF2B5EF4-FFF2-40B4-BE49-F238E27FC236}">
                <a16:creationId xmlns="" xmlns:a16="http://schemas.microsoft.com/office/drawing/2014/main" id="{F314F28D-6554-07FD-2C3F-F77C68E6D149}"/>
              </a:ext>
            </a:extLst>
          </p:cNvPr>
          <p:cNvGraphicFramePr>
            <a:graphicFrameLocks noGrp="1"/>
          </p:cNvGraphicFramePr>
          <p:nvPr>
            <p:extLst>
              <p:ext uri="{D42A27DB-BD31-4B8C-83A1-F6EECF244321}">
                <p14:modId xmlns="" xmlns:p14="http://schemas.microsoft.com/office/powerpoint/2010/main" val="2038277786"/>
              </p:ext>
            </p:extLst>
          </p:nvPr>
        </p:nvGraphicFramePr>
        <p:xfrm>
          <a:off x="1954432" y="1562785"/>
          <a:ext cx="8128000" cy="2992120"/>
        </p:xfrm>
        <a:graphic>
          <a:graphicData uri="http://schemas.openxmlformats.org/drawingml/2006/table">
            <a:tbl>
              <a:tblPr firstRow="1" bandRow="1">
                <a:tableStyleId>{5C22544A-7EE6-4342-B048-85BDC9FD1C3A}</a:tableStyleId>
              </a:tblPr>
              <a:tblGrid>
                <a:gridCol w="2032000">
                  <a:extLst>
                    <a:ext uri="{9D8B030D-6E8A-4147-A177-3AD203B41FA5}">
                      <a16:colId xmlns="" xmlns:a16="http://schemas.microsoft.com/office/drawing/2014/main" val="1619783603"/>
                    </a:ext>
                  </a:extLst>
                </a:gridCol>
                <a:gridCol w="2032000">
                  <a:extLst>
                    <a:ext uri="{9D8B030D-6E8A-4147-A177-3AD203B41FA5}">
                      <a16:colId xmlns="" xmlns:a16="http://schemas.microsoft.com/office/drawing/2014/main" val="2777624648"/>
                    </a:ext>
                  </a:extLst>
                </a:gridCol>
                <a:gridCol w="2032000">
                  <a:extLst>
                    <a:ext uri="{9D8B030D-6E8A-4147-A177-3AD203B41FA5}">
                      <a16:colId xmlns="" xmlns:a16="http://schemas.microsoft.com/office/drawing/2014/main" val="552328225"/>
                    </a:ext>
                  </a:extLst>
                </a:gridCol>
                <a:gridCol w="2032000">
                  <a:extLst>
                    <a:ext uri="{9D8B030D-6E8A-4147-A177-3AD203B41FA5}">
                      <a16:colId xmlns="" xmlns:a16="http://schemas.microsoft.com/office/drawing/2014/main" val="422555070"/>
                    </a:ext>
                  </a:extLst>
                </a:gridCol>
              </a:tblGrid>
              <a:tr h="370840">
                <a:tc>
                  <a:txBody>
                    <a:bodyPr/>
                    <a:lstStyle/>
                    <a:p>
                      <a:pPr algn="ctr"/>
                      <a:r>
                        <a:rPr lang="en-IN"/>
                        <a:t>Type</a:t>
                      </a:r>
                    </a:p>
                  </a:txBody>
                  <a:tcPr/>
                </a:tc>
                <a:tc>
                  <a:txBody>
                    <a:bodyPr/>
                    <a:lstStyle/>
                    <a:p>
                      <a:pPr algn="ctr"/>
                      <a:r>
                        <a:rPr lang="en-IN"/>
                        <a:t>How it works?</a:t>
                      </a:r>
                    </a:p>
                  </a:txBody>
                  <a:tcPr/>
                </a:tc>
                <a:tc>
                  <a:txBody>
                    <a:bodyPr/>
                    <a:lstStyle/>
                    <a:p>
                      <a:pPr algn="ctr"/>
                      <a:r>
                        <a:rPr lang="en-IN"/>
                        <a:t>Advantages</a:t>
                      </a:r>
                    </a:p>
                  </a:txBody>
                  <a:tcPr/>
                </a:tc>
                <a:tc>
                  <a:txBody>
                    <a:bodyPr/>
                    <a:lstStyle/>
                    <a:p>
                      <a:pPr algn="ctr"/>
                      <a:r>
                        <a:rPr lang="en-IN"/>
                        <a:t>Limitations</a:t>
                      </a:r>
                    </a:p>
                  </a:txBody>
                  <a:tcPr/>
                </a:tc>
                <a:extLst>
                  <a:ext uri="{0D108BD9-81ED-4DB2-BD59-A6C34878D82A}">
                    <a16:rowId xmlns="" xmlns:a16="http://schemas.microsoft.com/office/drawing/2014/main" val="3686133166"/>
                  </a:ext>
                </a:extLst>
              </a:tr>
              <a:tr h="370840">
                <a:tc>
                  <a:txBody>
                    <a:bodyPr/>
                    <a:lstStyle/>
                    <a:p>
                      <a:pPr algn="ctr"/>
                      <a:r>
                        <a:rPr lang="en-IN" sz="1600"/>
                        <a:t>Progressive Distributor system</a:t>
                      </a:r>
                    </a:p>
                  </a:txBody>
                  <a:tcPr/>
                </a:tc>
                <a:tc>
                  <a:txBody>
                    <a:bodyPr/>
                    <a:lstStyle/>
                    <a:p>
                      <a:pPr algn="l"/>
                      <a:r>
                        <a:rPr lang="en-US" sz="1600"/>
                        <a:t>One pump → primary metering block → secondary blocks → grease flows through a fixed sequence</a:t>
                      </a:r>
                      <a:endParaRPr lang="en-IN" sz="1600"/>
                    </a:p>
                  </a:txBody>
                  <a:tcPr/>
                </a:tc>
                <a:tc>
                  <a:txBody>
                    <a:bodyPr/>
                    <a:lstStyle/>
                    <a:p>
                      <a:r>
                        <a:rPr lang="en-US" sz="1600"/>
                        <a:t>High reliability, blockage detection, equal distribution, good for large bearings</a:t>
                      </a:r>
                      <a:endParaRPr lang="en-IN" sz="1600"/>
                    </a:p>
                  </a:txBody>
                  <a:tcPr/>
                </a:tc>
                <a:tc>
                  <a:txBody>
                    <a:bodyPr/>
                    <a:lstStyle/>
                    <a:p>
                      <a:r>
                        <a:rPr lang="en-US" sz="1600"/>
                        <a:t>Entire system stops if one outlet blocks (but gives alarm)</a:t>
                      </a:r>
                      <a:endParaRPr lang="en-IN" sz="1600"/>
                    </a:p>
                  </a:txBody>
                  <a:tcPr/>
                </a:tc>
                <a:extLst>
                  <a:ext uri="{0D108BD9-81ED-4DB2-BD59-A6C34878D82A}">
                    <a16:rowId xmlns="" xmlns:a16="http://schemas.microsoft.com/office/drawing/2014/main" val="3415800864"/>
                  </a:ext>
                </a:extLst>
              </a:tr>
              <a:tr h="370840">
                <a:tc>
                  <a:txBody>
                    <a:bodyPr/>
                    <a:lstStyle/>
                    <a:p>
                      <a:pPr algn="ctr"/>
                      <a:r>
                        <a:rPr lang="en-IN" sz="1600"/>
                        <a:t>Injector system</a:t>
                      </a:r>
                    </a:p>
                  </a:txBody>
                  <a:tcPr/>
                </a:tc>
                <a:tc>
                  <a:txBody>
                    <a:bodyPr/>
                    <a:lstStyle/>
                    <a:p>
                      <a:r>
                        <a:rPr lang="en-US" sz="1600"/>
                        <a:t>Each injector delivers a metered shot independently</a:t>
                      </a:r>
                      <a:endParaRPr lang="en-IN" sz="1600"/>
                    </a:p>
                  </a:txBody>
                  <a:tcPr/>
                </a:tc>
                <a:tc>
                  <a:txBody>
                    <a:bodyPr/>
                    <a:lstStyle/>
                    <a:p>
                      <a:r>
                        <a:rPr lang="en-US" sz="1600"/>
                        <a:t>Can supply different outputs per point</a:t>
                      </a:r>
                      <a:endParaRPr lang="en-IN" sz="1600"/>
                    </a:p>
                  </a:txBody>
                  <a:tcPr/>
                </a:tc>
                <a:tc>
                  <a:txBody>
                    <a:bodyPr/>
                    <a:lstStyle/>
                    <a:p>
                      <a:r>
                        <a:rPr lang="en-US" sz="1600"/>
                        <a:t>Injectors require pressure reset cycles; more complex to maintain</a:t>
                      </a:r>
                      <a:endParaRPr lang="en-IN" sz="1600"/>
                    </a:p>
                  </a:txBody>
                  <a:tcPr/>
                </a:tc>
                <a:extLst>
                  <a:ext uri="{0D108BD9-81ED-4DB2-BD59-A6C34878D82A}">
                    <a16:rowId xmlns="" xmlns:a16="http://schemas.microsoft.com/office/drawing/2014/main" val="2530700635"/>
                  </a:ext>
                </a:extLst>
              </a:tr>
            </a:tbl>
          </a:graphicData>
        </a:graphic>
      </p:graphicFrame>
    </p:spTree>
    <p:extLst>
      <p:ext uri="{BB962C8B-B14F-4D97-AF65-F5344CB8AC3E}">
        <p14:creationId xmlns="" xmlns:p14="http://schemas.microsoft.com/office/powerpoint/2010/main" val="37469511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 xmlns:a14="http://schemas.microsoft.com/office/drawing/2010/main" Requires="a14">
          <p:sp>
            <p:nvSpPr>
              <p:cNvPr id="2" name="Content Placeholder 1">
                <a:extLst>
                  <a:ext uri="{FF2B5EF4-FFF2-40B4-BE49-F238E27FC236}">
                    <a16:creationId xmlns:a16="http://schemas.microsoft.com/office/drawing/2014/main" id="{1F6A8429-C707-3A39-DEF5-F75DA846DC79}"/>
                  </a:ext>
                </a:extLst>
              </p:cNvPr>
              <p:cNvSpPr>
                <a:spLocks noGrp="1"/>
              </p:cNvSpPr>
              <p:nvPr>
                <p:ph idx="1"/>
              </p:nvPr>
            </p:nvSpPr>
            <p:spPr/>
            <p:txBody>
              <a:bodyPr>
                <a:normAutofit/>
              </a:bodyPr>
              <a:lstStyle/>
              <a:p>
                <a:pPr marL="0" indent="0">
                  <a:buNone/>
                </a:pPr>
                <a:endParaRPr lang="en-US" sz="2000"/>
              </a:p>
              <a:p>
                <a:pPr marL="0" indent="0">
                  <a:buNone/>
                </a:pPr>
                <a:endParaRPr lang="en-US" sz="1600"/>
              </a:p>
              <a:p>
                <a:pPr marL="0" indent="0">
                  <a:buNone/>
                </a:pPr>
                <a:r>
                  <a:rPr lang="en-US" sz="1600" b="1"/>
                  <a:t>Parameters:</a:t>
                </a:r>
              </a:p>
              <a:p>
                <a:pPr marL="0" indent="0">
                  <a:buNone/>
                </a:pPr>
                <a:r>
                  <a:rPr lang="en-IN" sz="1600"/>
                  <a:t>Raceway outer diameter </a:t>
                </a:r>
                <a14:m>
                  <m:oMath xmlns:m="http://schemas.openxmlformats.org/officeDocument/2006/math">
                    <m:sSub>
                      <m:sSubPr>
                        <m:ctrlPr>
                          <a:rPr lang="ar-AE" sz="1600" i="1">
                            <a:latin typeface="Cambria Math" panose="02040503050406030204" pitchFamily="18" charset="0"/>
                          </a:rPr>
                        </m:ctrlPr>
                      </m:sSubPr>
                      <m:e>
                        <m:r>
                          <a:rPr lang="ar-AE" sz="1600" i="1">
                            <a:latin typeface="Cambria Math" panose="02040503050406030204" pitchFamily="18" charset="0"/>
                          </a:rPr>
                          <m:t>𝐷</m:t>
                        </m:r>
                      </m:e>
                      <m:sub>
                        <m:r>
                          <a:rPr lang="ar-AE" sz="1600" i="1">
                            <a:latin typeface="Cambria Math" panose="02040503050406030204" pitchFamily="18" charset="0"/>
                          </a:rPr>
                          <m:t>𝑜</m:t>
                        </m:r>
                      </m:sub>
                    </m:sSub>
                    <m:r>
                      <a:rPr lang="ar-AE" sz="1600">
                        <a:latin typeface="Cambria Math" panose="02040503050406030204" pitchFamily="18" charset="0"/>
                      </a:rPr>
                      <m:t>=</m:t>
                    </m:r>
                    <m:r>
                      <a:rPr lang="ar-AE" sz="1600">
                        <a:latin typeface="Cambria Math" panose="02040503050406030204" pitchFamily="18" charset="0"/>
                      </a:rPr>
                      <m:t>3229</m:t>
                    </m:r>
                    <m:r>
                      <m:rPr>
                        <m:nor/>
                      </m:rPr>
                      <a:rPr lang="ar-AE" sz="1600" i="1"/>
                      <m:t> </m:t>
                    </m:r>
                    <m:r>
                      <m:rPr>
                        <m:nor/>
                      </m:rPr>
                      <a:rPr lang="en-IN" sz="1600" i="1"/>
                      <m:t>mm</m:t>
                    </m:r>
                    <m:r>
                      <a:rPr lang="en-IN" sz="1600">
                        <a:latin typeface="Cambria Math" panose="02040503050406030204" pitchFamily="18" charset="0"/>
                      </a:rPr>
                      <m:t>=</m:t>
                    </m:r>
                    <m:r>
                      <a:rPr lang="en-IN" sz="1600">
                        <a:latin typeface="Cambria Math" panose="02040503050406030204" pitchFamily="18" charset="0"/>
                      </a:rPr>
                      <m:t>3</m:t>
                    </m:r>
                    <m:r>
                      <a:rPr lang="en-IN" sz="1600">
                        <a:latin typeface="Cambria Math" panose="02040503050406030204" pitchFamily="18" charset="0"/>
                      </a:rPr>
                      <m:t>.</m:t>
                    </m:r>
                    <m:r>
                      <a:rPr lang="en-IN" sz="1600">
                        <a:latin typeface="Cambria Math" panose="02040503050406030204" pitchFamily="18" charset="0"/>
                      </a:rPr>
                      <m:t>229</m:t>
                    </m:r>
                    <m:r>
                      <m:rPr>
                        <m:nor/>
                      </m:rPr>
                      <a:rPr lang="en-IN" sz="1600" i="1"/>
                      <m:t> </m:t>
                    </m:r>
                    <m:r>
                      <m:rPr>
                        <m:nor/>
                      </m:rPr>
                      <a:rPr lang="en-IN" sz="1600" i="1"/>
                      <m:t>m</m:t>
                    </m:r>
                  </m:oMath>
                </a14:m>
                <a:endParaRPr lang="en-IN" sz="1600"/>
              </a:p>
              <a:p>
                <a:pPr marL="0" indent="0">
                  <a:buNone/>
                </a:pPr>
                <a:r>
                  <a:rPr lang="en-IN" sz="1600"/>
                  <a:t>Raceway inner diameter </a:t>
                </a:r>
                <a14:m>
                  <m:oMath xmlns:m="http://schemas.openxmlformats.org/officeDocument/2006/math">
                    <m:sSub>
                      <m:sSubPr>
                        <m:ctrlPr>
                          <a:rPr lang="ar-AE" sz="1600" i="1">
                            <a:latin typeface="Cambria Math" panose="02040503050406030204" pitchFamily="18" charset="0"/>
                          </a:rPr>
                        </m:ctrlPr>
                      </m:sSubPr>
                      <m:e>
                        <m:r>
                          <a:rPr lang="ar-AE" sz="1600" i="1">
                            <a:latin typeface="Cambria Math" panose="02040503050406030204" pitchFamily="18" charset="0"/>
                          </a:rPr>
                          <m:t>𝐷</m:t>
                        </m:r>
                      </m:e>
                      <m:sub>
                        <m:r>
                          <a:rPr lang="ar-AE" sz="1600" i="1">
                            <a:latin typeface="Cambria Math" panose="02040503050406030204" pitchFamily="18" charset="0"/>
                          </a:rPr>
                          <m:t>𝑖</m:t>
                        </m:r>
                      </m:sub>
                    </m:sSub>
                    <m:r>
                      <a:rPr lang="ar-AE" sz="1600">
                        <a:latin typeface="Cambria Math" panose="02040503050406030204" pitchFamily="18" charset="0"/>
                      </a:rPr>
                      <m:t>=</m:t>
                    </m:r>
                    <m:r>
                      <a:rPr lang="ar-AE" sz="1600">
                        <a:latin typeface="Cambria Math" panose="02040503050406030204" pitchFamily="18" charset="0"/>
                      </a:rPr>
                      <m:t>3169</m:t>
                    </m:r>
                    <m:r>
                      <m:rPr>
                        <m:nor/>
                      </m:rPr>
                      <a:rPr lang="ar-AE" sz="1600" i="1"/>
                      <m:t> </m:t>
                    </m:r>
                    <m:r>
                      <m:rPr>
                        <m:nor/>
                      </m:rPr>
                      <a:rPr lang="en-IN" sz="1600" i="1"/>
                      <m:t>mm</m:t>
                    </m:r>
                    <m:r>
                      <a:rPr lang="en-IN" sz="1600">
                        <a:latin typeface="Cambria Math" panose="02040503050406030204" pitchFamily="18" charset="0"/>
                      </a:rPr>
                      <m:t>=</m:t>
                    </m:r>
                    <m:r>
                      <a:rPr lang="en-IN" sz="1600">
                        <a:latin typeface="Cambria Math" panose="02040503050406030204" pitchFamily="18" charset="0"/>
                      </a:rPr>
                      <m:t>3</m:t>
                    </m:r>
                    <m:r>
                      <a:rPr lang="en-IN" sz="1600">
                        <a:latin typeface="Cambria Math" panose="02040503050406030204" pitchFamily="18" charset="0"/>
                      </a:rPr>
                      <m:t>.</m:t>
                    </m:r>
                    <m:r>
                      <a:rPr lang="en-IN" sz="1600">
                        <a:latin typeface="Cambria Math" panose="02040503050406030204" pitchFamily="18" charset="0"/>
                      </a:rPr>
                      <m:t>169</m:t>
                    </m:r>
                    <m:r>
                      <m:rPr>
                        <m:nor/>
                      </m:rPr>
                      <a:rPr lang="en-IN" sz="1600" i="1"/>
                      <m:t> </m:t>
                    </m:r>
                    <m:r>
                      <m:rPr>
                        <m:nor/>
                      </m:rPr>
                      <a:rPr lang="en-IN" sz="1600" i="1"/>
                      <m:t>m</m:t>
                    </m:r>
                  </m:oMath>
                </a14:m>
                <a:endParaRPr lang="en-IN" sz="1600"/>
              </a:p>
              <a:p>
                <a:pPr marL="0" indent="0">
                  <a:buNone/>
                </a:pPr>
                <a:r>
                  <a:rPr lang="en-IN" sz="1600"/>
                  <a:t>Width </a:t>
                </a:r>
                <a14:m>
                  <m:oMath xmlns:m="http://schemas.openxmlformats.org/officeDocument/2006/math">
                    <m:r>
                      <a:rPr lang="en-IN" sz="1600" i="1">
                        <a:latin typeface="Cambria Math" panose="02040503050406030204" pitchFamily="18" charset="0"/>
                      </a:rPr>
                      <m:t>𝐵</m:t>
                    </m:r>
                    <m:r>
                      <a:rPr lang="en-IN" sz="1600">
                        <a:latin typeface="Cambria Math" panose="02040503050406030204" pitchFamily="18" charset="0"/>
                      </a:rPr>
                      <m:t>=</m:t>
                    </m:r>
                    <m:r>
                      <a:rPr lang="en-IN" sz="1600">
                        <a:latin typeface="Cambria Math" panose="02040503050406030204" pitchFamily="18" charset="0"/>
                      </a:rPr>
                      <m:t>61</m:t>
                    </m:r>
                    <m:r>
                      <a:rPr lang="en-IN" sz="1600">
                        <a:latin typeface="Cambria Math" panose="02040503050406030204" pitchFamily="18" charset="0"/>
                      </a:rPr>
                      <m:t>.</m:t>
                    </m:r>
                    <m:r>
                      <a:rPr lang="en-IN" sz="1600">
                        <a:latin typeface="Cambria Math" panose="02040503050406030204" pitchFamily="18" charset="0"/>
                      </a:rPr>
                      <m:t>5</m:t>
                    </m:r>
                    <m:r>
                      <m:rPr>
                        <m:nor/>
                      </m:rPr>
                      <a:rPr lang="en-IN" sz="1600" i="1"/>
                      <m:t> </m:t>
                    </m:r>
                    <m:r>
                      <m:rPr>
                        <m:nor/>
                      </m:rPr>
                      <a:rPr lang="en-IN" sz="1600" i="1"/>
                      <m:t>mm</m:t>
                    </m:r>
                    <m:r>
                      <a:rPr lang="en-IN" sz="1600">
                        <a:latin typeface="Cambria Math" panose="02040503050406030204" pitchFamily="18" charset="0"/>
                      </a:rPr>
                      <m:t>=</m:t>
                    </m:r>
                    <m:r>
                      <a:rPr lang="en-IN" sz="1600">
                        <a:latin typeface="Cambria Math" panose="02040503050406030204" pitchFamily="18" charset="0"/>
                      </a:rPr>
                      <m:t>0</m:t>
                    </m:r>
                    <m:r>
                      <a:rPr lang="en-IN" sz="1600">
                        <a:latin typeface="Cambria Math" panose="02040503050406030204" pitchFamily="18" charset="0"/>
                      </a:rPr>
                      <m:t>.</m:t>
                    </m:r>
                    <m:r>
                      <a:rPr lang="en-IN" sz="1600">
                        <a:latin typeface="Cambria Math" panose="02040503050406030204" pitchFamily="18" charset="0"/>
                      </a:rPr>
                      <m:t>0615</m:t>
                    </m:r>
                    <m:r>
                      <m:rPr>
                        <m:nor/>
                      </m:rPr>
                      <a:rPr lang="en-IN" sz="1600" i="1"/>
                      <m:t> </m:t>
                    </m:r>
                    <m:r>
                      <m:rPr>
                        <m:nor/>
                      </m:rPr>
                      <a:rPr lang="en-IN" sz="1600" i="1" smtClean="0"/>
                      <m:t>m</m:t>
                    </m:r>
                  </m:oMath>
                </a14:m>
                <a:endParaRPr lang="en-IN" sz="1600"/>
              </a:p>
              <a:p>
                <a:pPr marL="0" indent="0">
                  <a:buNone/>
                </a:pPr>
                <a:r>
                  <a:rPr lang="en-IN" sz="1600"/>
                  <a:t>Roller diameter = 60 mm → radius = 30 mm</a:t>
                </a:r>
              </a:p>
              <a:p>
                <a:pPr marL="0" indent="0">
                  <a:buNone/>
                </a:pPr>
                <a:r>
                  <a:rPr lang="en-IN" sz="1600"/>
                  <a:t>Roller length assumed = 60 mm</a:t>
                </a:r>
              </a:p>
              <a:p>
                <a:pPr marL="0" indent="0">
                  <a:buNone/>
                </a:pPr>
                <a:r>
                  <a:rPr lang="en-IN" sz="1600"/>
                  <a:t>Number of rollers = 145</a:t>
                </a:r>
              </a:p>
              <a:p>
                <a:pPr marL="0" indent="0">
                  <a:buNone/>
                </a:pPr>
                <a:r>
                  <a:rPr lang="en-IN" sz="1600"/>
                  <a:t>Grease density = 0.90 kg/L</a:t>
                </a:r>
              </a:p>
              <a:p>
                <a:pPr marL="0" indent="0">
                  <a:buNone/>
                </a:pPr>
                <a:r>
                  <a:rPr lang="en-IN" sz="1600"/>
                  <a:t>Fill fraction = 80%</a:t>
                </a:r>
              </a:p>
              <a:p>
                <a:pPr marL="0" indent="0">
                  <a:buNone/>
                </a:pPr>
                <a:r>
                  <a:rPr lang="en-IN" sz="1600"/>
                  <a:t>Relubrication fraction = 50% per year</a:t>
                </a:r>
              </a:p>
              <a:p>
                <a:pPr marL="0" indent="0">
                  <a:buNone/>
                </a:pPr>
                <a:endParaRPr lang="en-IN" sz="2000"/>
              </a:p>
            </p:txBody>
          </p:sp>
        </mc:Choice>
        <mc:Fallback>
          <p:sp>
            <p:nvSpPr>
              <p:cNvPr id="2" name="Content Placeholder 1">
                <a:extLst>
                  <a:ext uri="{FF2B5EF4-FFF2-40B4-BE49-F238E27FC236}">
                    <a16:creationId xmlns:a14="http://schemas.microsoft.com/office/drawing/2010/main" xmlns="" xmlns:a16="http://schemas.microsoft.com/office/drawing/2014/main" id="{1F6A8429-C707-3A39-DEF5-F75DA846DC79}"/>
                  </a:ext>
                </a:extLst>
              </p:cNvPr>
              <p:cNvSpPr>
                <a:spLocks noGrp="1" noRot="1" noChangeAspect="1" noMove="1" noResize="1" noEditPoints="1" noAdjustHandles="1" noChangeArrowheads="1" noChangeShapeType="1" noTextEdit="1"/>
              </p:cNvSpPr>
              <p:nvPr>
                <p:ph idx="1"/>
              </p:nvPr>
            </p:nvSpPr>
            <p:spPr>
              <a:blipFill>
                <a:blip r:embed="rId2"/>
                <a:stretch>
                  <a:fillRect l="-348"/>
                </a:stretch>
              </a:blipFill>
            </p:spPr>
            <p:txBody>
              <a:bodyPr/>
              <a:lstStyle/>
              <a:p>
                <a:r>
                  <a:rPr lang="en-IN">
                    <a:noFill/>
                  </a:rPr>
                  <a:t> </a:t>
                </a:r>
              </a:p>
            </p:txBody>
          </p:sp>
        </mc:Fallback>
      </mc:AlternateContent>
      <p:sp>
        <p:nvSpPr>
          <p:cNvPr id="3" name="Title 2">
            <a:extLst>
              <a:ext uri="{FF2B5EF4-FFF2-40B4-BE49-F238E27FC236}">
                <a16:creationId xmlns="" xmlns:a16="http://schemas.microsoft.com/office/drawing/2014/main" id="{803FB4E3-420B-1689-07EE-9D9859AA54F7}"/>
              </a:ext>
            </a:extLst>
          </p:cNvPr>
          <p:cNvSpPr>
            <a:spLocks noGrp="1"/>
          </p:cNvSpPr>
          <p:nvPr>
            <p:ph type="title"/>
          </p:nvPr>
        </p:nvSpPr>
        <p:spPr/>
        <p:txBody>
          <a:bodyPr>
            <a:normAutofit/>
          </a:bodyPr>
          <a:lstStyle/>
          <a:p>
            <a:pPr algn="ctr"/>
            <a:r>
              <a:rPr lang="en-IN" sz="3200">
                <a:latin typeface="Arial" panose="020B0604020202020204" pitchFamily="34" charset="0"/>
                <a:cs typeface="Arial" panose="020B0604020202020204" pitchFamily="34" charset="0"/>
              </a:rPr>
              <a:t>Grease Volume Calculation</a:t>
            </a:r>
          </a:p>
        </p:txBody>
      </p:sp>
      <p:sp>
        <p:nvSpPr>
          <p:cNvPr id="4" name="Date Placeholder 3">
            <a:extLst>
              <a:ext uri="{FF2B5EF4-FFF2-40B4-BE49-F238E27FC236}">
                <a16:creationId xmlns="" xmlns:a16="http://schemas.microsoft.com/office/drawing/2014/main" id="{2145C320-D671-A643-6BAD-1FD75DADD0C1}"/>
              </a:ext>
            </a:extLst>
          </p:cNvPr>
          <p:cNvSpPr>
            <a:spLocks noGrp="1"/>
          </p:cNvSpPr>
          <p:nvPr>
            <p:ph type="dt" sz="half" idx="10"/>
          </p:nvPr>
        </p:nvSpPr>
        <p:spPr/>
        <p:txBody>
          <a:bodyPr/>
          <a:lstStyle/>
          <a:p>
            <a:fld id="{3C9CB449-9A05-47ED-ABE6-D776F3C0C66D}" type="datetime1">
              <a:rPr lang="en-GB" smtClean="0"/>
              <a:pPr/>
              <a:t>16/11/2025</a:t>
            </a:fld>
            <a:endParaRPr lang="en-GB" dirty="0"/>
          </a:p>
        </p:txBody>
      </p:sp>
      <p:sp>
        <p:nvSpPr>
          <p:cNvPr id="5" name="Footer Placeholder 4">
            <a:extLst>
              <a:ext uri="{FF2B5EF4-FFF2-40B4-BE49-F238E27FC236}">
                <a16:creationId xmlns="" xmlns:a16="http://schemas.microsoft.com/office/drawing/2014/main" id="{5320870F-BF4D-0F2A-92B2-E624D863D52D}"/>
              </a:ext>
            </a:extLst>
          </p:cNvPr>
          <p:cNvSpPr>
            <a:spLocks noGrp="1"/>
          </p:cNvSpPr>
          <p:nvPr>
            <p:ph type="ftr" sz="quarter" idx="11"/>
          </p:nvPr>
        </p:nvSpPr>
        <p:spPr/>
        <p:txBody>
          <a:bodyPr/>
          <a:lstStyle/>
          <a:p>
            <a:r>
              <a:rPr lang="en-GB"/>
              <a:t>Rotor Hub and Pitch System / Optimus Syria</a:t>
            </a:r>
            <a:endParaRPr lang="en-GB" dirty="0"/>
          </a:p>
        </p:txBody>
      </p:sp>
      <p:sp>
        <p:nvSpPr>
          <p:cNvPr id="6" name="Slide Number Placeholder 5">
            <a:extLst>
              <a:ext uri="{FF2B5EF4-FFF2-40B4-BE49-F238E27FC236}">
                <a16:creationId xmlns="" xmlns:a16="http://schemas.microsoft.com/office/drawing/2014/main" id="{7BFB8EE3-3FDD-A58E-1DB9-40735C5FFE1A}"/>
              </a:ext>
            </a:extLst>
          </p:cNvPr>
          <p:cNvSpPr>
            <a:spLocks noGrp="1"/>
          </p:cNvSpPr>
          <p:nvPr>
            <p:ph type="sldNum" sz="quarter" idx="12"/>
          </p:nvPr>
        </p:nvSpPr>
        <p:spPr/>
        <p:txBody>
          <a:bodyPr/>
          <a:lstStyle/>
          <a:p>
            <a:fld id="{013F6232-4F06-48BA-8F69-BF531F607829}" type="slidenum">
              <a:rPr lang="en-GB" smtClean="0"/>
              <a:pPr/>
              <a:t>10</a:t>
            </a:fld>
            <a:endParaRPr lang="en-GB" dirty="0"/>
          </a:p>
        </p:txBody>
      </p:sp>
      <p:sp>
        <p:nvSpPr>
          <p:cNvPr id="7" name="Text Placeholder 6">
            <a:extLst>
              <a:ext uri="{FF2B5EF4-FFF2-40B4-BE49-F238E27FC236}">
                <a16:creationId xmlns="" xmlns:a16="http://schemas.microsoft.com/office/drawing/2014/main" id="{C6F44C4C-6658-3E7B-B635-81291358284F}"/>
              </a:ext>
            </a:extLst>
          </p:cNvPr>
          <p:cNvSpPr>
            <a:spLocks noGrp="1"/>
          </p:cNvSpPr>
          <p:nvPr>
            <p:ph type="body" sz="quarter" idx="18"/>
          </p:nvPr>
        </p:nvSpPr>
        <p:spPr/>
        <p:txBody>
          <a:bodyPr/>
          <a:lstStyle/>
          <a:p>
            <a:pPr marL="342900" indent="-342900"/>
            <a:r>
              <a:rPr lang="en-US" dirty="0" err="1">
                <a:latin typeface="Times New Roman" pitchFamily="18" charset="0"/>
                <a:cs typeface="Times New Roman" pitchFamily="18" charset="0"/>
              </a:rPr>
              <a:t>Dhruvin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Kakdiya</a:t>
            </a:r>
            <a:endParaRPr lang="en-US" dirty="0">
              <a:latin typeface="Times New Roman" pitchFamily="18" charset="0"/>
              <a:cs typeface="Times New Roman" pitchFamily="18" charset="0"/>
            </a:endParaRPr>
          </a:p>
        </p:txBody>
      </p:sp>
      <p:sp>
        <p:nvSpPr>
          <p:cNvPr id="8" name="Rectangle: Rounded Corners 7">
            <a:extLst>
              <a:ext uri="{FF2B5EF4-FFF2-40B4-BE49-F238E27FC236}">
                <a16:creationId xmlns="" xmlns:a16="http://schemas.microsoft.com/office/drawing/2014/main" id="{2C7FA1CC-EC33-2C32-C209-059D1E04F792}"/>
              </a:ext>
            </a:extLst>
          </p:cNvPr>
          <p:cNvSpPr/>
          <p:nvPr/>
        </p:nvSpPr>
        <p:spPr>
          <a:xfrm>
            <a:off x="1786466" y="1511013"/>
            <a:ext cx="8847668" cy="626534"/>
          </a:xfrm>
          <a:prstGeom prst="round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a:t>Amount of Grease Required = Volume of 3 Raceway − (Volume of Roller × Number of Rollers)</a:t>
            </a:r>
            <a:endParaRPr lang="en-IN" sz="1600"/>
          </a:p>
        </p:txBody>
      </p:sp>
    </p:spTree>
    <p:extLst>
      <p:ext uri="{BB962C8B-B14F-4D97-AF65-F5344CB8AC3E}">
        <p14:creationId xmlns="" xmlns:p14="http://schemas.microsoft.com/office/powerpoint/2010/main" val="19718383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 xmlns:a14="http://schemas.microsoft.com/office/drawing/2010/main" Requires="a14">
          <p:sp>
            <p:nvSpPr>
              <p:cNvPr id="2" name="Content Placeholder 1">
                <a:extLst>
                  <a:ext uri="{FF2B5EF4-FFF2-40B4-BE49-F238E27FC236}">
                    <a16:creationId xmlns:a16="http://schemas.microsoft.com/office/drawing/2014/main" id="{F9C4E935-C1CE-9DF8-D8C5-37ADF530B3EA}"/>
                  </a:ext>
                </a:extLst>
              </p:cNvPr>
              <p:cNvSpPr>
                <a:spLocks noGrp="1"/>
              </p:cNvSpPr>
              <p:nvPr>
                <p:ph idx="1"/>
              </p:nvPr>
            </p:nvSpPr>
            <p:spPr/>
            <p:txBody>
              <a:bodyPr/>
              <a:lstStyle/>
              <a:p>
                <a:pPr marL="0" indent="0">
                  <a:buNone/>
                </a:pPr>
                <a:r>
                  <a:rPr lang="en-IN" sz="2000" b="1">
                    <a:latin typeface="Arial" panose="020B0604020202020204" pitchFamily="34" charset="0"/>
                    <a:cs typeface="Arial" panose="020B0604020202020204" pitchFamily="34" charset="0"/>
                  </a:rPr>
                  <a:t>Raceway volume (one row)</a:t>
                </a:r>
              </a:p>
              <a:p>
                <a:pPr marL="0" indent="0" algn="ctr">
                  <a:lnSpc>
                    <a:spcPct val="150000"/>
                  </a:lnSpc>
                  <a:buNone/>
                </a:pPr>
                <a:r>
                  <a:rPr lang="en-IN" sz="1800"/>
                  <a:t>V </a:t>
                </a:r>
                <a:r>
                  <a:rPr lang="el-GR" sz="1800"/>
                  <a:t>=π</a:t>
                </a:r>
                <a:r>
                  <a:rPr lang="en-IN" sz="1800"/>
                  <a:t/>
                </a:r>
                <a:r>
                  <a:rPr lang="el-GR" sz="1800"/>
                  <a:t>(</a:t>
                </a:r>
                <a14:m>
                  <m:oMath xmlns:m="http://schemas.openxmlformats.org/officeDocument/2006/math">
                    <m:sSubSup>
                      <m:sSubSupPr>
                        <m:ctrlPr>
                          <a:rPr lang="ar-AE" sz="1800" i="1">
                            <a:latin typeface="Cambria Math" panose="02040503050406030204" pitchFamily="18" charset="0"/>
                          </a:rPr>
                        </m:ctrlPr>
                      </m:sSubSupPr>
                      <m:e>
                        <m:r>
                          <a:rPr lang="ar-AE" sz="1800" i="1">
                            <a:latin typeface="Cambria Math" panose="02040503050406030204" pitchFamily="18" charset="0"/>
                          </a:rPr>
                          <m:t>𝑅</m:t>
                        </m:r>
                      </m:e>
                      <m:sub>
                        <m:r>
                          <a:rPr lang="ar-AE" sz="1800" i="1">
                            <a:latin typeface="Cambria Math" panose="02040503050406030204" pitchFamily="18" charset="0"/>
                          </a:rPr>
                          <m:t>𝑜</m:t>
                        </m:r>
                      </m:sub>
                      <m:sup>
                        <m:r>
                          <a:rPr lang="ar-AE" sz="1800">
                            <a:latin typeface="Cambria Math" panose="02040503050406030204" pitchFamily="18" charset="0"/>
                          </a:rPr>
                          <m:t>2</m:t>
                        </m:r>
                      </m:sup>
                    </m:sSubSup>
                    <m:r>
                      <a:rPr lang="ar-AE" sz="1800">
                        <a:latin typeface="Cambria Math" panose="02040503050406030204" pitchFamily="18" charset="0"/>
                      </a:rPr>
                      <m:t>−</m:t>
                    </m:r>
                    <m:sSubSup>
                      <m:sSubSupPr>
                        <m:ctrlPr>
                          <a:rPr lang="ar-AE" sz="1800" i="1">
                            <a:latin typeface="Cambria Math" panose="02040503050406030204" pitchFamily="18" charset="0"/>
                          </a:rPr>
                        </m:ctrlPr>
                      </m:sSubSupPr>
                      <m:e>
                        <m:r>
                          <a:rPr lang="ar-AE" sz="1800" i="1">
                            <a:latin typeface="Cambria Math" panose="02040503050406030204" pitchFamily="18" charset="0"/>
                          </a:rPr>
                          <m:t>𝑅</m:t>
                        </m:r>
                      </m:e>
                      <m:sub>
                        <m:r>
                          <a:rPr lang="ar-AE" sz="1800" i="1">
                            <a:latin typeface="Cambria Math" panose="02040503050406030204" pitchFamily="18" charset="0"/>
                          </a:rPr>
                          <m:t>𝑖</m:t>
                        </m:r>
                      </m:sub>
                      <m:sup>
                        <m:r>
                          <a:rPr lang="ar-AE" sz="1800">
                            <a:latin typeface="Cambria Math" panose="02040503050406030204" pitchFamily="18" charset="0"/>
                          </a:rPr>
                          <m:t>2</m:t>
                        </m:r>
                      </m:sup>
                    </m:sSubSup>
                  </m:oMath>
                </a14:m>
                <a:r>
                  <a:rPr lang="en-IN" sz="1800"/>
                  <a:t>)B </a:t>
                </a:r>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ar-AE" sz="1800" i="1">
                              <a:latin typeface="Cambria Math" panose="02040503050406030204" pitchFamily="18" charset="0"/>
                            </a:rPr>
                          </m:ctrlPr>
                        </m:sSubPr>
                        <m:e>
                          <m:r>
                            <a:rPr lang="ar-AE" sz="1800" i="1">
                              <a:latin typeface="Cambria Math" panose="02040503050406030204" pitchFamily="18" charset="0"/>
                            </a:rPr>
                            <m:t>𝑅</m:t>
                          </m:r>
                        </m:e>
                        <m:sub>
                          <m:r>
                            <a:rPr lang="ar-AE" sz="1800" i="1">
                              <a:latin typeface="Cambria Math" panose="02040503050406030204" pitchFamily="18" charset="0"/>
                            </a:rPr>
                            <m:t>𝑜</m:t>
                          </m:r>
                        </m:sub>
                      </m:sSub>
                      <m:r>
                        <a:rPr lang="ar-AE" sz="1800">
                          <a:latin typeface="Cambria Math" panose="02040503050406030204" pitchFamily="18" charset="0"/>
                        </a:rPr>
                        <m:t>=</m:t>
                      </m:r>
                      <m:r>
                        <a:rPr lang="ar-AE" sz="1800">
                          <a:latin typeface="Cambria Math" panose="02040503050406030204" pitchFamily="18" charset="0"/>
                        </a:rPr>
                        <m:t>1</m:t>
                      </m:r>
                      <m:r>
                        <a:rPr lang="ar-AE" sz="1800">
                          <a:latin typeface="Cambria Math" panose="02040503050406030204" pitchFamily="18" charset="0"/>
                        </a:rPr>
                        <m:t>.</m:t>
                      </m:r>
                      <m:r>
                        <a:rPr lang="ar-AE" sz="1800">
                          <a:latin typeface="Cambria Math" panose="02040503050406030204" pitchFamily="18" charset="0"/>
                        </a:rPr>
                        <m:t>6145</m:t>
                      </m:r>
                      <m:r>
                        <a:rPr lang="ar-AE" sz="1800">
                          <a:latin typeface="Cambria Math" panose="02040503050406030204" pitchFamily="18" charset="0"/>
                        </a:rPr>
                        <m:t>,</m:t>
                      </m:r>
                      <m:r>
                        <m:rPr>
                          <m:nor/>
                        </m:rPr>
                        <a:rPr lang="ar-AE" sz="1800" i="1"/>
                        <m:t>  </m:t>
                      </m:r>
                      <m:sSub>
                        <m:sSubPr>
                          <m:ctrlPr>
                            <a:rPr lang="ar-AE" sz="1800" i="1">
                              <a:latin typeface="Cambria Math" panose="02040503050406030204" pitchFamily="18" charset="0"/>
                            </a:rPr>
                          </m:ctrlPr>
                        </m:sSubPr>
                        <m:e>
                          <m:r>
                            <a:rPr lang="ar-AE" sz="1800" i="1">
                              <a:latin typeface="Cambria Math" panose="02040503050406030204" pitchFamily="18" charset="0"/>
                            </a:rPr>
                            <m:t>𝑅</m:t>
                          </m:r>
                        </m:e>
                        <m:sub>
                          <m:r>
                            <a:rPr lang="ar-AE" sz="1800" i="1">
                              <a:latin typeface="Cambria Math" panose="02040503050406030204" pitchFamily="18" charset="0"/>
                            </a:rPr>
                            <m:t>𝑖</m:t>
                          </m:r>
                        </m:sub>
                      </m:sSub>
                      <m:r>
                        <a:rPr lang="ar-AE" sz="1800">
                          <a:latin typeface="Cambria Math" panose="02040503050406030204" pitchFamily="18" charset="0"/>
                        </a:rPr>
                        <m:t>=</m:t>
                      </m:r>
                      <m:r>
                        <a:rPr lang="ar-AE" sz="1800">
                          <a:latin typeface="Cambria Math" panose="02040503050406030204" pitchFamily="18" charset="0"/>
                        </a:rPr>
                        <m:t>1</m:t>
                      </m:r>
                      <m:r>
                        <a:rPr lang="ar-AE" sz="1800">
                          <a:latin typeface="Cambria Math" panose="02040503050406030204" pitchFamily="18" charset="0"/>
                        </a:rPr>
                        <m:t>.</m:t>
                      </m:r>
                      <m:r>
                        <a:rPr lang="ar-AE" sz="1800">
                          <a:latin typeface="Cambria Math" panose="02040503050406030204" pitchFamily="18" charset="0"/>
                        </a:rPr>
                        <m:t>5845</m:t>
                      </m:r>
                      <m:r>
                        <m:rPr>
                          <m:nor/>
                        </m:rPr>
                        <a:rPr lang="ar-AE" sz="1800" i="1"/>
                        <m:t> </m:t>
                      </m:r>
                      <m:r>
                        <m:rPr>
                          <m:nor/>
                        </m:rPr>
                        <a:rPr lang="en-IN" sz="1800" i="1"/>
                        <m:t>m</m:t>
                      </m:r>
                    </m:oMath>
                  </m:oMathPara>
                </a14:m>
                <a:endParaRPr lang="en-IN" sz="1800" b="0"/>
              </a:p>
              <a:p>
                <a:pPr marL="0" indent="0">
                  <a:lnSpc>
                    <a:spcPct val="150000"/>
                  </a:lnSpc>
                  <a:buNone/>
                </a:pPr>
                <a14:m>
                  <m:oMathPara xmlns:m="http://schemas.openxmlformats.org/officeDocument/2006/math">
                    <m:oMathParaPr>
                      <m:jc m:val="centerGroup"/>
                    </m:oMathParaPr>
                    <m:oMath xmlns:m="http://schemas.openxmlformats.org/officeDocument/2006/math">
                      <m:sSubSup>
                        <m:sSubSupPr>
                          <m:ctrlPr>
                            <a:rPr lang="ar-AE" sz="1800" i="1">
                              <a:latin typeface="Cambria Math" panose="02040503050406030204" pitchFamily="18" charset="0"/>
                            </a:rPr>
                          </m:ctrlPr>
                        </m:sSubSupPr>
                        <m:e>
                          <m:r>
                            <a:rPr lang="ar-AE" sz="1800" i="1">
                              <a:latin typeface="Cambria Math" panose="02040503050406030204" pitchFamily="18" charset="0"/>
                            </a:rPr>
                            <m:t>𝑅</m:t>
                          </m:r>
                        </m:e>
                        <m:sub>
                          <m:r>
                            <a:rPr lang="ar-AE" sz="1800" i="1">
                              <a:latin typeface="Cambria Math" panose="02040503050406030204" pitchFamily="18" charset="0"/>
                            </a:rPr>
                            <m:t>𝑜</m:t>
                          </m:r>
                        </m:sub>
                        <m:sup>
                          <m:r>
                            <a:rPr lang="ar-AE" sz="1800">
                              <a:latin typeface="Cambria Math" panose="02040503050406030204" pitchFamily="18" charset="0"/>
                            </a:rPr>
                            <m:t>2</m:t>
                          </m:r>
                        </m:sup>
                      </m:sSubSup>
                      <m:r>
                        <a:rPr lang="ar-AE" sz="1800">
                          <a:latin typeface="Cambria Math" panose="02040503050406030204" pitchFamily="18" charset="0"/>
                        </a:rPr>
                        <m:t>−</m:t>
                      </m:r>
                      <m:sSubSup>
                        <m:sSubSupPr>
                          <m:ctrlPr>
                            <a:rPr lang="ar-AE" sz="1800" i="1">
                              <a:latin typeface="Cambria Math" panose="02040503050406030204" pitchFamily="18" charset="0"/>
                            </a:rPr>
                          </m:ctrlPr>
                        </m:sSubSupPr>
                        <m:e>
                          <m:r>
                            <a:rPr lang="ar-AE" sz="1800" i="1">
                              <a:latin typeface="Cambria Math" panose="02040503050406030204" pitchFamily="18" charset="0"/>
                            </a:rPr>
                            <m:t>𝑅</m:t>
                          </m:r>
                        </m:e>
                        <m:sub>
                          <m:r>
                            <a:rPr lang="ar-AE" sz="1800" i="1">
                              <a:latin typeface="Cambria Math" panose="02040503050406030204" pitchFamily="18" charset="0"/>
                            </a:rPr>
                            <m:t>𝑖</m:t>
                          </m:r>
                        </m:sub>
                        <m:sup>
                          <m:r>
                            <a:rPr lang="ar-AE" sz="1800">
                              <a:latin typeface="Cambria Math" panose="02040503050406030204" pitchFamily="18" charset="0"/>
                            </a:rPr>
                            <m:t>2</m:t>
                          </m:r>
                        </m:sup>
                      </m:sSubSup>
                      <m:r>
                        <a:rPr lang="ar-AE" sz="1800">
                          <a:latin typeface="Cambria Math" panose="02040503050406030204" pitchFamily="18" charset="0"/>
                        </a:rPr>
                        <m:t>=</m:t>
                      </m:r>
                      <m:r>
                        <a:rPr lang="ar-AE" sz="1800">
                          <a:latin typeface="Cambria Math" panose="02040503050406030204" pitchFamily="18" charset="0"/>
                        </a:rPr>
                        <m:t>0</m:t>
                      </m:r>
                      <m:r>
                        <a:rPr lang="ar-AE" sz="1800">
                          <a:latin typeface="Cambria Math" panose="02040503050406030204" pitchFamily="18" charset="0"/>
                        </a:rPr>
                        <m:t>.</m:t>
                      </m:r>
                      <m:r>
                        <a:rPr lang="ar-AE" sz="1800">
                          <a:latin typeface="Cambria Math" panose="02040503050406030204" pitchFamily="18" charset="0"/>
                        </a:rPr>
                        <m:t>0955</m:t>
                      </m:r>
                      <m:r>
                        <m:rPr>
                          <m:nor/>
                        </m:rPr>
                        <a:rPr lang="ar-AE" sz="1800" i="1"/>
                        <m:t> </m:t>
                      </m:r>
                      <m:sSup>
                        <m:sSupPr>
                          <m:ctrlPr>
                            <a:rPr lang="ar-AE" sz="1800" i="1">
                              <a:latin typeface="Cambria Math" panose="02040503050406030204" pitchFamily="18" charset="0"/>
                            </a:rPr>
                          </m:ctrlPr>
                        </m:sSupPr>
                        <m:e>
                          <m:r>
                            <m:rPr>
                              <m:nor/>
                            </m:rPr>
                            <a:rPr lang="en-IN" sz="1800" i="1"/>
                            <m:t>m</m:t>
                          </m:r>
                        </m:e>
                        <m:sup>
                          <m:r>
                            <a:rPr lang="ar-AE" sz="1800">
                              <a:latin typeface="Cambria Math" panose="02040503050406030204" pitchFamily="18" charset="0"/>
                            </a:rPr>
                            <m:t>2</m:t>
                          </m:r>
                        </m:sup>
                      </m:sSup>
                    </m:oMath>
                  </m:oMathPara>
                </a14:m>
                <a:endParaRPr lang="en-IN" sz="1800" b="0"/>
              </a:p>
              <a:p>
                <a:pPr marL="0" indent="0">
                  <a:lnSpc>
                    <a:spcPct val="100000"/>
                  </a:lnSpc>
                  <a:buNone/>
                </a:pPr>
                <a:endParaRPr lang="en-IN" sz="1800"/>
              </a:p>
              <a:p>
                <a:pPr marL="0" indent="0">
                  <a:lnSpc>
                    <a:spcPct val="100000"/>
                  </a:lnSpc>
                  <a:buNone/>
                </a:pPr>
                <a:endParaRPr lang="en-IN" sz="1800" b="0"/>
              </a:p>
              <a:p>
                <a:pPr marL="0" indent="0">
                  <a:lnSpc>
                    <a:spcPct val="100000"/>
                  </a:lnSpc>
                  <a:buNone/>
                </a:pPr>
                <a:endParaRPr lang="en-IN" sz="1800"/>
              </a:p>
              <a:p>
                <a:pPr marL="0" indent="0">
                  <a:lnSpc>
                    <a:spcPct val="100000"/>
                  </a:lnSpc>
                  <a:buNone/>
                </a:pPr>
                <a:r>
                  <a:rPr lang="en-IN" sz="2000" b="1">
                    <a:latin typeface="Arial" panose="020B0604020202020204" pitchFamily="34" charset="0"/>
                    <a:cs typeface="Arial" panose="020B0604020202020204" pitchFamily="34" charset="0"/>
                  </a:rPr>
                  <a:t>For Three Raceway,</a:t>
                </a:r>
              </a:p>
              <a:p>
                <a:pPr marL="0" indent="0">
                  <a:lnSpc>
                    <a:spcPct val="100000"/>
                  </a:lnSpc>
                  <a:buNone/>
                </a:pPr>
                <a:endParaRPr lang="ar-AE" sz="1800" b="0"/>
              </a:p>
              <a:p>
                <a:pPr marL="0" indent="0" algn="ctr">
                  <a:lnSpc>
                    <a:spcPct val="100000"/>
                  </a:lnSpc>
                  <a:buNone/>
                </a:pPr>
                <a:r>
                  <a:rPr lang="en-IN" sz="1800"/>
                  <a:t/>
                </a:r>
                <a:endParaRPr lang="en-IN" sz="1800" b="0"/>
              </a:p>
              <a:p>
                <a:pPr marL="0" indent="0">
                  <a:lnSpc>
                    <a:spcPct val="100000"/>
                  </a:lnSpc>
                  <a:buNone/>
                </a:pPr>
                <a:endParaRPr lang="en-IN" sz="1800">
                  <a:latin typeface="Arial" panose="020B0604020202020204" pitchFamily="34" charset="0"/>
                  <a:cs typeface="Arial" panose="020B0604020202020204" pitchFamily="34" charset="0"/>
                </a:endParaRPr>
              </a:p>
              <a:p>
                <a:pPr marL="0" indent="0">
                  <a:buNone/>
                </a:pPr>
                <a:endParaRPr lang="en-IN">
                  <a:latin typeface="Arial" panose="020B0604020202020204" pitchFamily="34" charset="0"/>
                  <a:cs typeface="Arial" panose="020B0604020202020204" pitchFamily="34" charset="0"/>
                </a:endParaRPr>
              </a:p>
            </p:txBody>
          </p:sp>
        </mc:Choice>
        <mc:Fallback>
          <p:sp>
            <p:nvSpPr>
              <p:cNvPr id="2" name="Content Placeholder 1">
                <a:extLst>
                  <a:ext uri="{FF2B5EF4-FFF2-40B4-BE49-F238E27FC236}">
                    <a16:creationId xmlns:a14="http://schemas.microsoft.com/office/drawing/2010/main" xmlns="" xmlns:a16="http://schemas.microsoft.com/office/drawing/2014/main" id="{F9C4E935-C1CE-9DF8-D8C5-37ADF530B3EA}"/>
                  </a:ext>
                </a:extLst>
              </p:cNvPr>
              <p:cNvSpPr>
                <a:spLocks noGrp="1" noRot="1" noChangeAspect="1" noMove="1" noResize="1" noEditPoints="1" noAdjustHandles="1" noChangeArrowheads="1" noChangeShapeType="1" noTextEdit="1"/>
              </p:cNvSpPr>
              <p:nvPr>
                <p:ph idx="1"/>
              </p:nvPr>
            </p:nvSpPr>
            <p:spPr>
              <a:blipFill>
                <a:blip r:embed="rId2"/>
                <a:stretch>
                  <a:fillRect l="-638" t="-1261"/>
                </a:stretch>
              </a:blipFill>
            </p:spPr>
            <p:txBody>
              <a:bodyPr/>
              <a:lstStyle/>
              <a:p>
                <a:r>
                  <a:rPr lang="en-IN">
                    <a:noFill/>
                  </a:rPr>
                  <a:t> </a:t>
                </a:r>
              </a:p>
            </p:txBody>
          </p:sp>
        </mc:Fallback>
      </mc:AlternateContent>
      <p:sp>
        <p:nvSpPr>
          <p:cNvPr id="4" name="Date Placeholder 3">
            <a:extLst>
              <a:ext uri="{FF2B5EF4-FFF2-40B4-BE49-F238E27FC236}">
                <a16:creationId xmlns="" xmlns:a16="http://schemas.microsoft.com/office/drawing/2014/main" id="{D6B8AFCD-715E-167E-15F7-6D0995DD91ED}"/>
              </a:ext>
            </a:extLst>
          </p:cNvPr>
          <p:cNvSpPr>
            <a:spLocks noGrp="1"/>
          </p:cNvSpPr>
          <p:nvPr>
            <p:ph type="dt" sz="half" idx="10"/>
          </p:nvPr>
        </p:nvSpPr>
        <p:spPr/>
        <p:txBody>
          <a:bodyPr/>
          <a:lstStyle/>
          <a:p>
            <a:fld id="{3C9CB449-9A05-47ED-ABE6-D776F3C0C66D}" type="datetime1">
              <a:rPr lang="en-GB" smtClean="0"/>
              <a:pPr/>
              <a:t>16/11/2025</a:t>
            </a:fld>
            <a:endParaRPr lang="en-GB" dirty="0"/>
          </a:p>
        </p:txBody>
      </p:sp>
      <p:sp>
        <p:nvSpPr>
          <p:cNvPr id="5" name="Footer Placeholder 4">
            <a:extLst>
              <a:ext uri="{FF2B5EF4-FFF2-40B4-BE49-F238E27FC236}">
                <a16:creationId xmlns="" xmlns:a16="http://schemas.microsoft.com/office/drawing/2014/main" id="{510489AD-445F-CBE2-FB35-1C1EA12B3ED7}"/>
              </a:ext>
            </a:extLst>
          </p:cNvPr>
          <p:cNvSpPr>
            <a:spLocks noGrp="1"/>
          </p:cNvSpPr>
          <p:nvPr>
            <p:ph type="ftr" sz="quarter" idx="11"/>
          </p:nvPr>
        </p:nvSpPr>
        <p:spPr/>
        <p:txBody>
          <a:bodyPr/>
          <a:lstStyle/>
          <a:p>
            <a:r>
              <a:rPr lang="en-GB"/>
              <a:t>Rotor Hub and Pitch System / Optimus Syria</a:t>
            </a:r>
            <a:endParaRPr lang="en-GB" dirty="0"/>
          </a:p>
        </p:txBody>
      </p:sp>
      <p:sp>
        <p:nvSpPr>
          <p:cNvPr id="6" name="Slide Number Placeholder 5">
            <a:extLst>
              <a:ext uri="{FF2B5EF4-FFF2-40B4-BE49-F238E27FC236}">
                <a16:creationId xmlns="" xmlns:a16="http://schemas.microsoft.com/office/drawing/2014/main" id="{80CA953C-52BB-7AAD-9FAF-8ADD75B3390B}"/>
              </a:ext>
            </a:extLst>
          </p:cNvPr>
          <p:cNvSpPr>
            <a:spLocks noGrp="1"/>
          </p:cNvSpPr>
          <p:nvPr>
            <p:ph type="sldNum" sz="quarter" idx="12"/>
          </p:nvPr>
        </p:nvSpPr>
        <p:spPr/>
        <p:txBody>
          <a:bodyPr/>
          <a:lstStyle/>
          <a:p>
            <a:fld id="{013F6232-4F06-48BA-8F69-BF531F607829}" type="slidenum">
              <a:rPr lang="en-GB" smtClean="0"/>
              <a:pPr/>
              <a:t>11</a:t>
            </a:fld>
            <a:endParaRPr lang="en-GB" dirty="0"/>
          </a:p>
        </p:txBody>
      </p:sp>
      <p:sp>
        <p:nvSpPr>
          <p:cNvPr id="7" name="Text Placeholder 6">
            <a:extLst>
              <a:ext uri="{FF2B5EF4-FFF2-40B4-BE49-F238E27FC236}">
                <a16:creationId xmlns="" xmlns:a16="http://schemas.microsoft.com/office/drawing/2014/main" id="{1B7ED030-5E3A-7D33-4C55-9A02F0D0751E}"/>
              </a:ext>
            </a:extLst>
          </p:cNvPr>
          <p:cNvSpPr>
            <a:spLocks noGrp="1"/>
          </p:cNvSpPr>
          <p:nvPr>
            <p:ph type="body" sz="quarter" idx="18"/>
          </p:nvPr>
        </p:nvSpPr>
        <p:spPr/>
        <p:txBody>
          <a:bodyPr/>
          <a:lstStyle/>
          <a:p>
            <a:pPr marL="342900" indent="-342900"/>
            <a:r>
              <a:rPr lang="en-US" dirty="0" err="1">
                <a:latin typeface="Times New Roman" pitchFamily="18" charset="0"/>
                <a:cs typeface="Times New Roman" pitchFamily="18" charset="0"/>
              </a:rPr>
              <a:t>Dhruvin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Kakdiya</a:t>
            </a:r>
            <a:endParaRPr lang="en-US" dirty="0">
              <a:latin typeface="Times New Roman" pitchFamily="18" charset="0"/>
              <a:cs typeface="Times New Roman" pitchFamily="18" charset="0"/>
            </a:endParaRPr>
          </a:p>
        </p:txBody>
      </p:sp>
      <mc:AlternateContent xmlns:mc="http://schemas.openxmlformats.org/markup-compatibility/2006">
        <mc:Choice xmlns="" xmlns:a14="http://schemas.microsoft.com/office/drawing/2010/main" Requires="a14">
          <p:sp>
            <p:nvSpPr>
              <p:cNvPr id="8" name="Rectangle: Rounded Corners 7">
                <a:extLst>
                  <a:ext uri="{FF2B5EF4-FFF2-40B4-BE49-F238E27FC236}">
                    <a16:creationId xmlns:a16="http://schemas.microsoft.com/office/drawing/2014/main" id="{BFBA4BE9-D380-CB65-6553-2840D7D7FD39}"/>
                  </a:ext>
                </a:extLst>
              </p:cNvPr>
              <p:cNvSpPr/>
              <p:nvPr/>
            </p:nvSpPr>
            <p:spPr>
              <a:xfrm>
                <a:off x="3259667" y="3730360"/>
                <a:ext cx="5842000" cy="541867"/>
              </a:xfrm>
              <a:prstGeom prst="round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IN"/>
                  <a:t> V</a:t>
                </a:r>
                <a14:m>
                  <m:oMath xmlns:m="http://schemas.openxmlformats.org/officeDocument/2006/math">
                    <m:r>
                      <a:rPr lang="ar-AE">
                        <a:latin typeface="Cambria Math" panose="02040503050406030204" pitchFamily="18" charset="0"/>
                      </a:rPr>
                      <m:t>=</m:t>
                    </m:r>
                    <m:r>
                      <a:rPr lang="ar-AE" i="1">
                        <a:latin typeface="Cambria Math" panose="02040503050406030204" pitchFamily="18" charset="0"/>
                      </a:rPr>
                      <m:t>𝜋</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0955</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0615</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01854</m:t>
                    </m:r>
                    <m:sSup>
                      <m:sSupPr>
                        <m:ctrlPr>
                          <a:rPr lang="ar-AE" i="1">
                            <a:latin typeface="Cambria Math" panose="02040503050406030204" pitchFamily="18" charset="0"/>
                          </a:rPr>
                        </m:ctrlPr>
                      </m:sSupPr>
                      <m:e>
                        <m:r>
                          <m:rPr>
                            <m:nor/>
                          </m:rPr>
                          <a:rPr lang="ar-AE" i="1"/>
                          <m:t> </m:t>
                        </m:r>
                        <m:r>
                          <m:rPr>
                            <m:nor/>
                          </m:rPr>
                          <a:rPr lang="en-IN" i="1"/>
                          <m:t>m</m:t>
                        </m:r>
                      </m:e>
                      <m:sup>
                        <m:r>
                          <a:rPr lang="ar-AE">
                            <a:latin typeface="Cambria Math" panose="02040503050406030204" pitchFamily="18" charset="0"/>
                          </a:rPr>
                          <m:t>3</m:t>
                        </m:r>
                      </m:sup>
                    </m:sSup>
                    <m:r>
                      <a:rPr lang="ar-AE">
                        <a:latin typeface="Cambria Math" panose="02040503050406030204" pitchFamily="18" charset="0"/>
                      </a:rPr>
                      <m:t>=</m:t>
                    </m:r>
                    <m:r>
                      <a:rPr lang="ar-AE">
                        <a:latin typeface="Cambria Math" panose="02040503050406030204" pitchFamily="18" charset="0"/>
                      </a:rPr>
                      <m:t>18</m:t>
                    </m:r>
                    <m:r>
                      <a:rPr lang="ar-AE">
                        <a:latin typeface="Cambria Math" panose="02040503050406030204" pitchFamily="18" charset="0"/>
                      </a:rPr>
                      <m:t>.</m:t>
                    </m:r>
                    <m:r>
                      <a:rPr lang="ar-AE">
                        <a:latin typeface="Cambria Math" panose="02040503050406030204" pitchFamily="18" charset="0"/>
                      </a:rPr>
                      <m:t>54</m:t>
                    </m:r>
                    <m:r>
                      <m:rPr>
                        <m:nor/>
                      </m:rPr>
                      <a:rPr lang="ar-AE" i="1"/>
                      <m:t> </m:t>
                    </m:r>
                    <m:r>
                      <m:rPr>
                        <m:nor/>
                      </m:rPr>
                      <a:rPr lang="en-IN" i="1"/>
                      <m:t>L</m:t>
                    </m:r>
                  </m:oMath>
                </a14:m>
                <a:endParaRPr lang="en-IN"/>
              </a:p>
            </p:txBody>
          </p:sp>
        </mc:Choice>
        <mc:Fallback>
          <p:sp>
            <p:nvSpPr>
              <p:cNvPr id="8" name="Rectangle: Rounded Corners 7">
                <a:extLst>
                  <a:ext uri="{FF2B5EF4-FFF2-40B4-BE49-F238E27FC236}">
                    <a16:creationId xmlns:a14="http://schemas.microsoft.com/office/drawing/2010/main" xmlns="" xmlns:a16="http://schemas.microsoft.com/office/drawing/2014/main" id="{BFBA4BE9-D380-CB65-6553-2840D7D7FD39}"/>
                  </a:ext>
                </a:extLst>
              </p:cNvPr>
              <p:cNvSpPr>
                <a:spLocks noRot="1" noChangeAspect="1" noMove="1" noResize="1" noEditPoints="1" noAdjustHandles="1" noChangeArrowheads="1" noChangeShapeType="1" noTextEdit="1"/>
              </p:cNvSpPr>
              <p:nvPr/>
            </p:nvSpPr>
            <p:spPr>
              <a:xfrm>
                <a:off x="3259667" y="3730360"/>
                <a:ext cx="5842000" cy="541867"/>
              </a:xfrm>
              <a:prstGeom prst="roundRect">
                <a:avLst/>
              </a:prstGeom>
              <a:blipFill>
                <a:blip r:embed="rId3"/>
                <a:stretch>
                  <a:fillRect/>
                </a:stretch>
              </a:blipFill>
              <a:ln>
                <a:solidFill>
                  <a:srgbClr val="FF0000"/>
                </a:solidFill>
              </a:ln>
            </p:spPr>
            <p:txBody>
              <a:bodyPr/>
              <a:lstStyle/>
              <a:p>
                <a:r>
                  <a:rPr lang="en-IN">
                    <a:noFill/>
                  </a:rPr>
                  <a:t> </a:t>
                </a:r>
              </a:p>
            </p:txBody>
          </p:sp>
        </mc:Fallback>
      </mc:AlternateContent>
      <p:sp>
        <p:nvSpPr>
          <p:cNvPr id="9" name="Rectangle: Rounded Corners 8">
            <a:extLst>
              <a:ext uri="{FF2B5EF4-FFF2-40B4-BE49-F238E27FC236}">
                <a16:creationId xmlns="" xmlns:a16="http://schemas.microsoft.com/office/drawing/2014/main" id="{8DD2F995-FDE5-9373-B906-CE6F3377E2D6}"/>
              </a:ext>
            </a:extLst>
          </p:cNvPr>
          <p:cNvSpPr/>
          <p:nvPr/>
        </p:nvSpPr>
        <p:spPr>
          <a:xfrm>
            <a:off x="4216400" y="5505681"/>
            <a:ext cx="3403600" cy="541867"/>
          </a:xfrm>
          <a:prstGeom prst="round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IN" sz="1600"/>
              <a:t>Vraceway,total​=3×18.54=55.62 L</a:t>
            </a:r>
            <a:endParaRPr lang="ar-AE" sz="1600"/>
          </a:p>
        </p:txBody>
      </p:sp>
    </p:spTree>
    <p:extLst>
      <p:ext uri="{BB962C8B-B14F-4D97-AF65-F5344CB8AC3E}">
        <p14:creationId xmlns="" xmlns:p14="http://schemas.microsoft.com/office/powerpoint/2010/main" val="15814142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 xmlns:a16="http://schemas.microsoft.com/office/drawing/2014/main" id="{58A4F3A5-F3EB-94EF-F6EC-1E97AC31FF95}"/>
              </a:ext>
            </a:extLst>
          </p:cNvPr>
          <p:cNvSpPr>
            <a:spLocks noGrp="1"/>
          </p:cNvSpPr>
          <p:nvPr>
            <p:ph idx="1"/>
          </p:nvPr>
        </p:nvSpPr>
        <p:spPr>
          <a:xfrm>
            <a:off x="711200" y="1597025"/>
            <a:ext cx="10515600" cy="4609042"/>
          </a:xfrm>
        </p:spPr>
        <p:txBody>
          <a:bodyPr>
            <a:normAutofit/>
          </a:bodyPr>
          <a:lstStyle/>
          <a:p>
            <a:pPr marL="0" indent="0" algn="just">
              <a:buNone/>
            </a:pPr>
            <a:r>
              <a:rPr lang="en-US" sz="1700">
                <a:latin typeface="Arial" panose="020B0604020202020204" pitchFamily="34" charset="0"/>
                <a:cs typeface="Arial" panose="020B0604020202020204" pitchFamily="34" charset="0"/>
              </a:rPr>
              <a:t>We convert grease volume (liters) into mass (kg) because grease is purchased, applied, measured, and calculated in mass, and density differences make mass the only reliable engineering unit.</a:t>
            </a:r>
          </a:p>
          <a:p>
            <a:pPr marL="0" indent="0" algn="ctr">
              <a:buNone/>
            </a:pPr>
            <a:r>
              <a:rPr lang="en-IN" sz="1700" b="1"/>
              <a:t>Mass=Volume×Density </a:t>
            </a:r>
          </a:p>
          <a:p>
            <a:pPr marL="0" indent="0">
              <a:buNone/>
            </a:pPr>
            <a:endParaRPr lang="en-IN" sz="1700"/>
          </a:p>
          <a:p>
            <a:pPr marL="0" indent="0" algn="ctr">
              <a:buNone/>
            </a:pPr>
            <a:endParaRPr lang="ar-AE" sz="1700" b="0"/>
          </a:p>
          <a:p>
            <a:pPr marL="0" indent="0" algn="just">
              <a:buNone/>
            </a:pPr>
            <a:r>
              <a:rPr lang="en-US" sz="1700"/>
              <a:t>At 80% fill the mass in the raceway is,</a:t>
            </a:r>
          </a:p>
          <a:p>
            <a:pPr marL="0" indent="0">
              <a:buNone/>
            </a:pPr>
            <a:endParaRPr lang="en-US" sz="1700"/>
          </a:p>
          <a:p>
            <a:pPr marL="0" indent="0">
              <a:buNone/>
            </a:pPr>
            <a:endParaRPr lang="en-US" sz="1700"/>
          </a:p>
          <a:p>
            <a:pPr marL="0" indent="0">
              <a:buNone/>
            </a:pPr>
            <a:r>
              <a:rPr lang="en-US" sz="1700"/>
              <a:t>Annual Relub (50% of filled mass)</a:t>
            </a:r>
          </a:p>
          <a:p>
            <a:pPr marL="0" indent="0">
              <a:buNone/>
            </a:pPr>
            <a:endParaRPr lang="en-US" sz="1700"/>
          </a:p>
          <a:p>
            <a:pPr marL="0" indent="0">
              <a:buNone/>
            </a:pPr>
            <a:endParaRPr lang="en-IN" sz="1700" b="1"/>
          </a:p>
          <a:p>
            <a:pPr marL="0" indent="0">
              <a:buNone/>
            </a:pPr>
            <a:r>
              <a:rPr lang="en-IN" sz="1600">
                <a:latin typeface="Arial" panose="020B0604020202020204" pitchFamily="34" charset="0"/>
                <a:cs typeface="Arial" panose="020B0604020202020204" pitchFamily="34" charset="0"/>
              </a:rPr>
              <a:t>Pitch bearing gear: Requires 5.00 kg/year </a:t>
            </a:r>
          </a:p>
          <a:p>
            <a:pPr marL="0" indent="0">
              <a:buNone/>
            </a:pPr>
            <a:r>
              <a:rPr lang="en-IN" sz="1600">
                <a:latin typeface="Arial" panose="020B0604020202020204" pitchFamily="34" charset="0"/>
                <a:cs typeface="Arial" panose="020B0604020202020204" pitchFamily="34" charset="0"/>
              </a:rPr>
              <a:t>Total Annual Requirement</a:t>
            </a:r>
          </a:p>
          <a:p>
            <a:pPr marL="0" indent="0">
              <a:buNone/>
            </a:pPr>
            <a:endParaRPr lang="en-US" sz="1800"/>
          </a:p>
          <a:p>
            <a:pPr marL="0" indent="0">
              <a:buNone/>
            </a:pPr>
            <a:endParaRPr lang="en-IN" sz="1800">
              <a:latin typeface="Arial" panose="020B0604020202020204" pitchFamily="34" charset="0"/>
              <a:cs typeface="Arial" panose="020B0604020202020204" pitchFamily="34" charset="0"/>
            </a:endParaRPr>
          </a:p>
        </p:txBody>
      </p:sp>
      <p:sp>
        <p:nvSpPr>
          <p:cNvPr id="3" name="Title 2">
            <a:extLst>
              <a:ext uri="{FF2B5EF4-FFF2-40B4-BE49-F238E27FC236}">
                <a16:creationId xmlns="" xmlns:a16="http://schemas.microsoft.com/office/drawing/2014/main" id="{0108975A-A2F5-CB0D-ADEE-75335198B8A8}"/>
              </a:ext>
            </a:extLst>
          </p:cNvPr>
          <p:cNvSpPr>
            <a:spLocks noGrp="1"/>
          </p:cNvSpPr>
          <p:nvPr>
            <p:ph type="title"/>
          </p:nvPr>
        </p:nvSpPr>
        <p:spPr/>
        <p:txBody>
          <a:bodyPr>
            <a:normAutofit/>
          </a:bodyPr>
          <a:lstStyle/>
          <a:p>
            <a:pPr algn="ctr"/>
            <a:r>
              <a:rPr lang="en-IN" sz="2800"/>
              <a:t>Annual Grease Requirement</a:t>
            </a:r>
          </a:p>
        </p:txBody>
      </p:sp>
      <p:sp>
        <p:nvSpPr>
          <p:cNvPr id="4" name="Date Placeholder 3">
            <a:extLst>
              <a:ext uri="{FF2B5EF4-FFF2-40B4-BE49-F238E27FC236}">
                <a16:creationId xmlns="" xmlns:a16="http://schemas.microsoft.com/office/drawing/2014/main" id="{0360D41F-9C12-DF5D-273D-CEAA18A64E8D}"/>
              </a:ext>
            </a:extLst>
          </p:cNvPr>
          <p:cNvSpPr>
            <a:spLocks noGrp="1"/>
          </p:cNvSpPr>
          <p:nvPr>
            <p:ph type="dt" sz="half" idx="10"/>
          </p:nvPr>
        </p:nvSpPr>
        <p:spPr/>
        <p:txBody>
          <a:bodyPr/>
          <a:lstStyle/>
          <a:p>
            <a:fld id="{3C9CB449-9A05-47ED-ABE6-D776F3C0C66D}" type="datetime1">
              <a:rPr lang="en-GB" smtClean="0"/>
              <a:pPr/>
              <a:t>16/11/2025</a:t>
            </a:fld>
            <a:endParaRPr lang="en-GB" dirty="0"/>
          </a:p>
        </p:txBody>
      </p:sp>
      <p:sp>
        <p:nvSpPr>
          <p:cNvPr id="5" name="Footer Placeholder 4">
            <a:extLst>
              <a:ext uri="{FF2B5EF4-FFF2-40B4-BE49-F238E27FC236}">
                <a16:creationId xmlns="" xmlns:a16="http://schemas.microsoft.com/office/drawing/2014/main" id="{DD468172-6707-3FD4-58FA-408D4B81487F}"/>
              </a:ext>
            </a:extLst>
          </p:cNvPr>
          <p:cNvSpPr>
            <a:spLocks noGrp="1"/>
          </p:cNvSpPr>
          <p:nvPr>
            <p:ph type="ftr" sz="quarter" idx="11"/>
          </p:nvPr>
        </p:nvSpPr>
        <p:spPr/>
        <p:txBody>
          <a:bodyPr/>
          <a:lstStyle/>
          <a:p>
            <a:r>
              <a:rPr lang="en-GB"/>
              <a:t>Rotor Hub and Pitch System / Optimus Syria</a:t>
            </a:r>
            <a:endParaRPr lang="en-GB" dirty="0"/>
          </a:p>
        </p:txBody>
      </p:sp>
      <p:sp>
        <p:nvSpPr>
          <p:cNvPr id="6" name="Slide Number Placeholder 5">
            <a:extLst>
              <a:ext uri="{FF2B5EF4-FFF2-40B4-BE49-F238E27FC236}">
                <a16:creationId xmlns="" xmlns:a16="http://schemas.microsoft.com/office/drawing/2014/main" id="{584C5D3C-904D-BA38-A194-2FEBF5F1E6A5}"/>
              </a:ext>
            </a:extLst>
          </p:cNvPr>
          <p:cNvSpPr>
            <a:spLocks noGrp="1"/>
          </p:cNvSpPr>
          <p:nvPr>
            <p:ph type="sldNum" sz="quarter" idx="12"/>
          </p:nvPr>
        </p:nvSpPr>
        <p:spPr/>
        <p:txBody>
          <a:bodyPr/>
          <a:lstStyle/>
          <a:p>
            <a:fld id="{013F6232-4F06-48BA-8F69-BF531F607829}" type="slidenum">
              <a:rPr lang="en-GB" smtClean="0"/>
              <a:pPr/>
              <a:t>12</a:t>
            </a:fld>
            <a:endParaRPr lang="en-GB" dirty="0"/>
          </a:p>
        </p:txBody>
      </p:sp>
      <p:sp>
        <p:nvSpPr>
          <p:cNvPr id="7" name="Text Placeholder 6">
            <a:extLst>
              <a:ext uri="{FF2B5EF4-FFF2-40B4-BE49-F238E27FC236}">
                <a16:creationId xmlns="" xmlns:a16="http://schemas.microsoft.com/office/drawing/2014/main" id="{D86583C5-52A5-2081-D00E-81F689429AAE}"/>
              </a:ext>
            </a:extLst>
          </p:cNvPr>
          <p:cNvSpPr>
            <a:spLocks noGrp="1"/>
          </p:cNvSpPr>
          <p:nvPr>
            <p:ph type="body" sz="quarter" idx="18"/>
          </p:nvPr>
        </p:nvSpPr>
        <p:spPr/>
        <p:txBody>
          <a:bodyPr/>
          <a:lstStyle/>
          <a:p>
            <a:pPr marL="342900" indent="-342900"/>
            <a:r>
              <a:rPr lang="en-US" dirty="0" err="1">
                <a:latin typeface="Times New Roman" pitchFamily="18" charset="0"/>
                <a:cs typeface="Times New Roman" pitchFamily="18" charset="0"/>
              </a:rPr>
              <a:t>Dhruvin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Kakdiya</a:t>
            </a:r>
            <a:endParaRPr lang="en-US" dirty="0">
              <a:latin typeface="Times New Roman" pitchFamily="18" charset="0"/>
              <a:cs typeface="Times New Roman" pitchFamily="18" charset="0"/>
            </a:endParaRPr>
          </a:p>
        </p:txBody>
      </p:sp>
      <mc:AlternateContent xmlns:mc="http://schemas.openxmlformats.org/markup-compatibility/2006">
        <mc:Choice xmlns="" xmlns:a14="http://schemas.microsoft.com/office/drawing/2010/main" Requires="a14">
          <p:sp>
            <p:nvSpPr>
              <p:cNvPr id="8" name="Rectangle: Rounded Corners 7">
                <a:extLst>
                  <a:ext uri="{FF2B5EF4-FFF2-40B4-BE49-F238E27FC236}">
                    <a16:creationId xmlns:a16="http://schemas.microsoft.com/office/drawing/2014/main" id="{34A2DC83-D7B6-D95B-1E20-A63A42E98826}"/>
                  </a:ext>
                </a:extLst>
              </p:cNvPr>
              <p:cNvSpPr/>
              <p:nvPr/>
            </p:nvSpPr>
            <p:spPr>
              <a:xfrm>
                <a:off x="4318260" y="2608299"/>
                <a:ext cx="3555478" cy="448734"/>
              </a:xfrm>
              <a:prstGeom prst="round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IN" sz="1600"/>
                  <a:t>Mass </a:t>
                </a:r>
                <a14:m>
                  <m:oMath xmlns:m="http://schemas.openxmlformats.org/officeDocument/2006/math">
                    <m:r>
                      <a:rPr lang="en-IN" sz="1600">
                        <a:latin typeface="Cambria Math" panose="02040503050406030204" pitchFamily="18" charset="0"/>
                      </a:rPr>
                      <m:t>=</m:t>
                    </m:r>
                    <m:r>
                      <a:rPr lang="en-IN" sz="1600">
                        <a:latin typeface="Cambria Math" panose="02040503050406030204" pitchFamily="18" charset="0"/>
                      </a:rPr>
                      <m:t>31</m:t>
                    </m:r>
                    <m:r>
                      <a:rPr lang="en-IN" sz="1600">
                        <a:latin typeface="Cambria Math" panose="02040503050406030204" pitchFamily="18" charset="0"/>
                      </a:rPr>
                      <m:t>.</m:t>
                    </m:r>
                    <m:r>
                      <a:rPr lang="en-IN" sz="1600">
                        <a:latin typeface="Cambria Math" panose="02040503050406030204" pitchFamily="18" charset="0"/>
                      </a:rPr>
                      <m:t>03</m:t>
                    </m:r>
                    <m:r>
                      <m:rPr>
                        <m:nor/>
                      </m:rPr>
                      <a:rPr lang="en-IN" sz="1600" i="1"/>
                      <m:t> </m:t>
                    </m:r>
                    <m:r>
                      <m:rPr>
                        <m:nor/>
                      </m:rPr>
                      <a:rPr lang="en-IN" sz="1600" i="1"/>
                      <m:t>L</m:t>
                    </m:r>
                    <m:r>
                      <a:rPr lang="en-IN" sz="1600">
                        <a:latin typeface="Cambria Math" panose="02040503050406030204" pitchFamily="18" charset="0"/>
                      </a:rPr>
                      <m:t>×</m:t>
                    </m:r>
                    <m:r>
                      <a:rPr lang="en-IN" sz="1600">
                        <a:latin typeface="Cambria Math" panose="02040503050406030204" pitchFamily="18" charset="0"/>
                      </a:rPr>
                      <m:t>0</m:t>
                    </m:r>
                    <m:r>
                      <a:rPr lang="en-IN" sz="1600">
                        <a:latin typeface="Cambria Math" panose="02040503050406030204" pitchFamily="18" charset="0"/>
                      </a:rPr>
                      <m:t>.</m:t>
                    </m:r>
                    <m:r>
                      <a:rPr lang="en-IN" sz="1600">
                        <a:latin typeface="Cambria Math" panose="02040503050406030204" pitchFamily="18" charset="0"/>
                      </a:rPr>
                      <m:t>90</m:t>
                    </m:r>
                    <m:r>
                      <m:rPr>
                        <m:nor/>
                      </m:rPr>
                      <a:rPr lang="en-IN" sz="1600" i="1"/>
                      <m:t> </m:t>
                    </m:r>
                    <m:f>
                      <m:fPr>
                        <m:ctrlPr>
                          <a:rPr lang="ar-AE" sz="1600" i="1">
                            <a:latin typeface="Cambria Math" panose="02040503050406030204" pitchFamily="18" charset="0"/>
                          </a:rPr>
                        </m:ctrlPr>
                      </m:fPr>
                      <m:num>
                        <m:r>
                          <m:rPr>
                            <m:nor/>
                          </m:rPr>
                          <a:rPr lang="en-IN" sz="1600" i="1"/>
                          <m:t>kg</m:t>
                        </m:r>
                      </m:num>
                      <m:den>
                        <m:r>
                          <m:rPr>
                            <m:nor/>
                          </m:rPr>
                          <a:rPr lang="en-IN" sz="1600" i="1"/>
                          <m:t>L</m:t>
                        </m:r>
                      </m:den>
                    </m:f>
                  </m:oMath>
                </a14:m>
                <a:r>
                  <a:rPr lang="en-IN" sz="1600"/>
                  <a:t/>
                </a:r>
                <a14:m>
                  <m:oMath xmlns:m="http://schemas.openxmlformats.org/officeDocument/2006/math">
                    <m:r>
                      <a:rPr lang="en-IN" sz="1600">
                        <a:latin typeface="Cambria Math" panose="02040503050406030204" pitchFamily="18" charset="0"/>
                      </a:rPr>
                      <m:t>=</m:t>
                    </m:r>
                    <m:r>
                      <a:rPr lang="en-IN" sz="1600">
                        <a:latin typeface="Cambria Math" panose="02040503050406030204" pitchFamily="18" charset="0"/>
                      </a:rPr>
                      <m:t>27</m:t>
                    </m:r>
                    <m:r>
                      <a:rPr lang="en-IN" sz="1600">
                        <a:latin typeface="Cambria Math" panose="02040503050406030204" pitchFamily="18" charset="0"/>
                      </a:rPr>
                      <m:t>.</m:t>
                    </m:r>
                    <m:r>
                      <a:rPr lang="en-IN" sz="1600">
                        <a:latin typeface="Cambria Math" panose="02040503050406030204" pitchFamily="18" charset="0"/>
                      </a:rPr>
                      <m:t>93</m:t>
                    </m:r>
                    <m:r>
                      <a:rPr lang="en-IN" sz="1600">
                        <a:latin typeface="Cambria Math" panose="02040503050406030204" pitchFamily="18" charset="0"/>
                      </a:rPr>
                      <m:t> </m:t>
                    </m:r>
                    <m:r>
                      <m:rPr>
                        <m:sty m:val="p"/>
                      </m:rPr>
                      <a:rPr lang="en-IN" sz="1600">
                        <a:latin typeface="Cambria Math" panose="02040503050406030204" pitchFamily="18" charset="0"/>
                      </a:rPr>
                      <m:t>Kg</m:t>
                    </m:r>
                  </m:oMath>
                </a14:m>
                <a:endParaRPr lang="ar-AE" sz="1600"/>
              </a:p>
            </p:txBody>
          </p:sp>
        </mc:Choice>
        <mc:Fallback>
          <p:sp>
            <p:nvSpPr>
              <p:cNvPr id="8" name="Rectangle: Rounded Corners 7">
                <a:extLst>
                  <a:ext uri="{FF2B5EF4-FFF2-40B4-BE49-F238E27FC236}">
                    <a16:creationId xmlns:a14="http://schemas.microsoft.com/office/drawing/2010/main" xmlns="" xmlns:a16="http://schemas.microsoft.com/office/drawing/2014/main" id="{34A2DC83-D7B6-D95B-1E20-A63A42E98826}"/>
                  </a:ext>
                </a:extLst>
              </p:cNvPr>
              <p:cNvSpPr>
                <a:spLocks noRot="1" noChangeAspect="1" noMove="1" noResize="1" noEditPoints="1" noAdjustHandles="1" noChangeArrowheads="1" noChangeShapeType="1" noTextEdit="1"/>
              </p:cNvSpPr>
              <p:nvPr/>
            </p:nvSpPr>
            <p:spPr>
              <a:xfrm>
                <a:off x="4318260" y="2608299"/>
                <a:ext cx="3555478" cy="448734"/>
              </a:xfrm>
              <a:prstGeom prst="roundRect">
                <a:avLst/>
              </a:prstGeom>
              <a:blipFill>
                <a:blip r:embed="rId2"/>
                <a:stretch>
                  <a:fillRect b="-7895"/>
                </a:stretch>
              </a:blipFill>
              <a:ln>
                <a:solidFill>
                  <a:srgbClr val="FF0000"/>
                </a:solidFill>
              </a:ln>
            </p:spPr>
            <p:txBody>
              <a:bodyPr/>
              <a:lstStyle/>
              <a:p>
                <a:r>
                  <a:rPr lang="en-IN">
                    <a:noFill/>
                  </a:rPr>
                  <a:t> </a:t>
                </a:r>
              </a:p>
            </p:txBody>
          </p:sp>
        </mc:Fallback>
      </mc:AlternateContent>
      <p:sp>
        <p:nvSpPr>
          <p:cNvPr id="9" name="Rectangle: Rounded Corners 8">
            <a:extLst>
              <a:ext uri="{FF2B5EF4-FFF2-40B4-BE49-F238E27FC236}">
                <a16:creationId xmlns="" xmlns:a16="http://schemas.microsoft.com/office/drawing/2014/main" id="{8DD8CDC9-3ADC-0EC0-D1A4-E19D76B81E60}"/>
              </a:ext>
            </a:extLst>
          </p:cNvPr>
          <p:cNvSpPr/>
          <p:nvPr/>
        </p:nvSpPr>
        <p:spPr>
          <a:xfrm>
            <a:off x="4775200" y="3615833"/>
            <a:ext cx="2506134" cy="329353"/>
          </a:xfrm>
          <a:prstGeom prst="round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IN" sz="1600"/>
              <a:t>27.93 kg×0.80=22.34 kg</a:t>
            </a:r>
          </a:p>
        </p:txBody>
      </p:sp>
      <mc:AlternateContent xmlns:mc="http://schemas.openxmlformats.org/markup-compatibility/2006">
        <mc:Choice xmlns="" xmlns:a14="http://schemas.microsoft.com/office/drawing/2010/main" Requires="a14">
          <p:sp>
            <p:nvSpPr>
              <p:cNvPr id="10" name="Rectangle: Rounded Corners 9">
                <a:extLst>
                  <a:ext uri="{FF2B5EF4-FFF2-40B4-BE49-F238E27FC236}">
                    <a16:creationId xmlns:a16="http://schemas.microsoft.com/office/drawing/2014/main" id="{EF32874B-2AB7-3BBA-2B54-E2D8F01974A0}"/>
                  </a:ext>
                </a:extLst>
              </p:cNvPr>
              <p:cNvSpPr/>
              <p:nvPr/>
            </p:nvSpPr>
            <p:spPr>
              <a:xfrm>
                <a:off x="4550833" y="4728353"/>
                <a:ext cx="3090333" cy="448733"/>
              </a:xfrm>
              <a:prstGeom prst="round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22</m:t>
                      </m:r>
                      <m:r>
                        <a:rPr lang="en-US" sz="1600">
                          <a:latin typeface="Cambria Math" panose="02040503050406030204" pitchFamily="18" charset="0"/>
                        </a:rPr>
                        <m:t>.</m:t>
                      </m:r>
                      <m:r>
                        <a:rPr lang="en-US" sz="1600" i="1">
                          <a:latin typeface="Cambria Math" panose="02040503050406030204" pitchFamily="18" charset="0"/>
                        </a:rPr>
                        <m:t>34</m:t>
                      </m:r>
                      <m:r>
                        <m:rPr>
                          <m:nor/>
                        </m:rPr>
                        <a:rPr lang="en-IN" sz="1600"/>
                        <m:t> </m:t>
                      </m:r>
                      <m:r>
                        <m:rPr>
                          <m:nor/>
                        </m:rPr>
                        <a:rPr lang="en-IN" sz="1600"/>
                        <m:t>kg</m:t>
                      </m:r>
                      <m:r>
                        <a:rPr lang="en-US" sz="1600">
                          <a:latin typeface="Cambria Math" panose="02040503050406030204" pitchFamily="18" charset="0"/>
                        </a:rPr>
                        <m:t>×</m:t>
                      </m:r>
                      <m:r>
                        <a:rPr lang="en-US" sz="1600" i="1">
                          <a:latin typeface="Cambria Math" panose="02040503050406030204" pitchFamily="18" charset="0"/>
                        </a:rPr>
                        <m:t>0</m:t>
                      </m:r>
                      <m:r>
                        <a:rPr lang="en-US" sz="1600">
                          <a:latin typeface="Cambria Math" panose="02040503050406030204" pitchFamily="18" charset="0"/>
                        </a:rPr>
                        <m:t>.</m:t>
                      </m:r>
                      <m:r>
                        <a:rPr lang="en-US" sz="1600" i="1">
                          <a:latin typeface="Cambria Math" panose="02040503050406030204" pitchFamily="18" charset="0"/>
                        </a:rPr>
                        <m:t>50</m:t>
                      </m:r>
                      <m:r>
                        <a:rPr lang="en-US" sz="1600">
                          <a:latin typeface="Cambria Math" panose="02040503050406030204" pitchFamily="18" charset="0"/>
                        </a:rPr>
                        <m:t>=</m:t>
                      </m:r>
                      <m:r>
                        <a:rPr lang="en-US" sz="1600" i="1">
                          <a:latin typeface="Cambria Math" panose="02040503050406030204" pitchFamily="18" charset="0"/>
                        </a:rPr>
                        <m:t>11</m:t>
                      </m:r>
                      <m:r>
                        <a:rPr lang="en-US" sz="1600">
                          <a:latin typeface="Cambria Math" panose="02040503050406030204" pitchFamily="18" charset="0"/>
                        </a:rPr>
                        <m:t>.</m:t>
                      </m:r>
                      <m:r>
                        <a:rPr lang="en-US" sz="1600" i="1">
                          <a:latin typeface="Cambria Math" panose="02040503050406030204" pitchFamily="18" charset="0"/>
                        </a:rPr>
                        <m:t>17</m:t>
                      </m:r>
                      <m:r>
                        <m:rPr>
                          <m:nor/>
                        </m:rPr>
                        <a:rPr lang="en-US" sz="1600" i="1">
                          <a:latin typeface="Arial" panose="020B0604020202020204" pitchFamily="34" charset="0"/>
                          <a:cs typeface="Arial" panose="020B0604020202020204" pitchFamily="34" charset="0"/>
                        </a:rPr>
                        <m:t> </m:t>
                      </m:r>
                      <m:r>
                        <m:rPr>
                          <m:sty m:val="p"/>
                        </m:rPr>
                        <a:rPr lang="en-US" sz="1600" i="1">
                          <a:latin typeface="Cambria Math" panose="02040503050406030204" pitchFamily="18" charset="0"/>
                        </a:rPr>
                        <m:t>kg</m:t>
                      </m:r>
                      <m:r>
                        <a:rPr lang="en-US" sz="1600">
                          <a:latin typeface="Cambria Math" panose="02040503050406030204" pitchFamily="18" charset="0"/>
                        </a:rPr>
                        <m:t>/</m:t>
                      </m:r>
                      <m:r>
                        <m:rPr>
                          <m:sty m:val="p"/>
                        </m:rPr>
                        <a:rPr lang="en-US" sz="1600" i="1">
                          <a:latin typeface="Cambria Math" panose="02040503050406030204" pitchFamily="18" charset="0"/>
                        </a:rPr>
                        <m:t>year</m:t>
                      </m:r>
                    </m:oMath>
                  </m:oMathPara>
                </a14:m>
                <a:endParaRPr lang="en-US" sz="1600">
                  <a:latin typeface="Arial" panose="020B0604020202020204" pitchFamily="34" charset="0"/>
                  <a:cs typeface="Arial" panose="020B0604020202020204" pitchFamily="34" charset="0"/>
                </a:endParaRPr>
              </a:p>
            </p:txBody>
          </p:sp>
        </mc:Choice>
        <mc:Fallback>
          <p:sp>
            <p:nvSpPr>
              <p:cNvPr id="10" name="Rectangle: Rounded Corners 9">
                <a:extLst>
                  <a:ext uri="{FF2B5EF4-FFF2-40B4-BE49-F238E27FC236}">
                    <a16:creationId xmlns:a14="http://schemas.microsoft.com/office/drawing/2010/main" xmlns="" xmlns:a16="http://schemas.microsoft.com/office/drawing/2014/main" id="{EF32874B-2AB7-3BBA-2B54-E2D8F01974A0}"/>
                  </a:ext>
                </a:extLst>
              </p:cNvPr>
              <p:cNvSpPr>
                <a:spLocks noRot="1" noChangeAspect="1" noMove="1" noResize="1" noEditPoints="1" noAdjustHandles="1" noChangeArrowheads="1" noChangeShapeType="1" noTextEdit="1"/>
              </p:cNvSpPr>
              <p:nvPr/>
            </p:nvSpPr>
            <p:spPr>
              <a:xfrm>
                <a:off x="4550833" y="4728353"/>
                <a:ext cx="3090333" cy="448733"/>
              </a:xfrm>
              <a:prstGeom prst="roundRect">
                <a:avLst/>
              </a:prstGeom>
              <a:blipFill>
                <a:blip r:embed="rId3"/>
                <a:stretch>
                  <a:fillRect/>
                </a:stretch>
              </a:blipFill>
              <a:ln>
                <a:solidFill>
                  <a:srgbClr val="FF0000"/>
                </a:solidFill>
              </a:ln>
            </p:spPr>
            <p:txBody>
              <a:bodyPr/>
              <a:lstStyle/>
              <a:p>
                <a:r>
                  <a:rPr lang="en-IN">
                    <a:noFill/>
                  </a:rPr>
                  <a:t> </a:t>
                </a:r>
              </a:p>
            </p:txBody>
          </p:sp>
        </mc:Fallback>
      </mc:AlternateContent>
      <p:sp>
        <p:nvSpPr>
          <p:cNvPr id="12" name="Rectangle: Rounded Corners 11">
            <a:extLst>
              <a:ext uri="{FF2B5EF4-FFF2-40B4-BE49-F238E27FC236}">
                <a16:creationId xmlns="" xmlns:a16="http://schemas.microsoft.com/office/drawing/2014/main" id="{8633EB93-ED69-9BC8-E6CC-749C876FC624}"/>
              </a:ext>
            </a:extLst>
          </p:cNvPr>
          <p:cNvSpPr/>
          <p:nvPr/>
        </p:nvSpPr>
        <p:spPr>
          <a:xfrm>
            <a:off x="4318261" y="5960253"/>
            <a:ext cx="3818205" cy="365125"/>
          </a:xfrm>
          <a:prstGeom prst="round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600">
                <a:latin typeface="Arial" panose="020B0604020202020204" pitchFamily="34" charset="0"/>
                <a:cs typeface="Arial" panose="020B0604020202020204" pitchFamily="34" charset="0"/>
              </a:rPr>
              <a:t>(11.17 kg+5.00 kg)=16.17 kg/year</a:t>
            </a:r>
            <a:endParaRPr lang="en-IN" sz="1600">
              <a:latin typeface="Arial" panose="020B0604020202020204" pitchFamily="34" charset="0"/>
              <a:cs typeface="Arial" panose="020B0604020202020204" pitchFamily="34" charset="0"/>
            </a:endParaRPr>
          </a:p>
        </p:txBody>
      </p:sp>
    </p:spTree>
    <p:extLst>
      <p:ext uri="{BB962C8B-B14F-4D97-AF65-F5344CB8AC3E}">
        <p14:creationId xmlns="" xmlns:p14="http://schemas.microsoft.com/office/powerpoint/2010/main" val="1775723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 xmlns:a16="http://schemas.microsoft.com/office/drawing/2014/main" id="{0A782B2F-7513-9DF1-15B4-32B64EE8373D}"/>
              </a:ext>
            </a:extLst>
          </p:cNvPr>
          <p:cNvSpPr>
            <a:spLocks noGrp="1"/>
          </p:cNvSpPr>
          <p:nvPr>
            <p:ph idx="1"/>
          </p:nvPr>
        </p:nvSpPr>
        <p:spPr/>
        <p:txBody>
          <a:bodyPr/>
          <a:lstStyle/>
          <a:p>
            <a:pPr marL="0" indent="0">
              <a:buNone/>
            </a:pPr>
            <a:r>
              <a:rPr lang="en-IN" sz="1800" b="1">
                <a:latin typeface="Arial" panose="020B0604020202020204" pitchFamily="34" charset="0"/>
                <a:cs typeface="Arial" panose="020B0604020202020204" pitchFamily="34" charset="0"/>
              </a:rPr>
              <a:t>For a 6-month operational period</a:t>
            </a:r>
          </a:p>
          <a:p>
            <a:pPr marL="0" indent="0">
              <a:buNone/>
            </a:pPr>
            <a:r>
              <a:rPr lang="en-IN" sz="1800">
                <a:latin typeface="Arial" panose="020B0604020202020204" pitchFamily="34" charset="0"/>
                <a:cs typeface="Arial" panose="020B0604020202020204" pitchFamily="34" charset="0"/>
              </a:rPr>
              <a:t>Monthly consumption:</a:t>
            </a:r>
          </a:p>
          <a:p>
            <a:pPr marL="0" indent="0">
              <a:buNone/>
            </a:pPr>
            <a:endParaRPr lang="en-IN" sz="1800"/>
          </a:p>
          <a:p>
            <a:pPr marL="0" indent="0">
              <a:buNone/>
            </a:pPr>
            <a:endParaRPr lang="en-IN" sz="1800"/>
          </a:p>
          <a:p>
            <a:pPr marL="0" indent="0">
              <a:buNone/>
            </a:pPr>
            <a:endParaRPr lang="en-IN" sz="1800"/>
          </a:p>
          <a:p>
            <a:pPr marL="0" indent="0">
              <a:buNone/>
            </a:pPr>
            <a:r>
              <a:rPr lang="en-US" sz="1800" b="1">
                <a:latin typeface="Arial" panose="020B0604020202020204" pitchFamily="34" charset="0"/>
                <a:cs typeface="Arial" panose="020B0604020202020204" pitchFamily="34" charset="0"/>
              </a:rPr>
              <a:t>Grease for 6 months (per bearing)</a:t>
            </a:r>
            <a:endParaRPr lang="en-US" sz="1800">
              <a:latin typeface="Arial" panose="020B0604020202020204" pitchFamily="34" charset="0"/>
              <a:cs typeface="Arial" panose="020B0604020202020204" pitchFamily="34" charset="0"/>
            </a:endParaRPr>
          </a:p>
          <a:p>
            <a:pPr marL="0" indent="0">
              <a:buNone/>
            </a:pPr>
            <a:endParaRPr lang="en-US" sz="1800">
              <a:latin typeface="Arial" panose="020B0604020202020204" pitchFamily="34" charset="0"/>
              <a:cs typeface="Arial" panose="020B0604020202020204" pitchFamily="34" charset="0"/>
            </a:endParaRPr>
          </a:p>
          <a:p>
            <a:pPr marL="0" indent="0">
              <a:buNone/>
            </a:pPr>
            <a:endParaRPr lang="ar-AE" sz="1800"/>
          </a:p>
          <a:p>
            <a:pPr marL="0" indent="0">
              <a:buNone/>
            </a:pPr>
            <a:r>
              <a:rPr lang="en-US" b="1"/>
              <a:t>For 3 identical bearings (total)</a:t>
            </a:r>
            <a:endParaRPr lang="en-US"/>
          </a:p>
          <a:p>
            <a:pPr marL="0" indent="0">
              <a:buNone/>
            </a:pPr>
            <a:endParaRPr lang="en-US" sz="1800">
              <a:latin typeface="Arial" panose="020B0604020202020204" pitchFamily="34" charset="0"/>
              <a:cs typeface="Arial" panose="020B0604020202020204" pitchFamily="34" charset="0"/>
            </a:endParaRPr>
          </a:p>
          <a:p>
            <a:endParaRPr lang="en-IN"/>
          </a:p>
        </p:txBody>
      </p:sp>
      <p:sp>
        <p:nvSpPr>
          <p:cNvPr id="3" name="Title 2">
            <a:extLst>
              <a:ext uri="{FF2B5EF4-FFF2-40B4-BE49-F238E27FC236}">
                <a16:creationId xmlns="" xmlns:a16="http://schemas.microsoft.com/office/drawing/2014/main" id="{9D902CC3-B26B-109E-51D0-9AA2E3F4BECC}"/>
              </a:ext>
            </a:extLst>
          </p:cNvPr>
          <p:cNvSpPr>
            <a:spLocks noGrp="1"/>
          </p:cNvSpPr>
          <p:nvPr>
            <p:ph type="title"/>
          </p:nvPr>
        </p:nvSpPr>
        <p:spPr/>
        <p:txBody>
          <a:bodyPr>
            <a:normAutofit/>
          </a:bodyPr>
          <a:lstStyle/>
          <a:p>
            <a:pPr algn="ctr"/>
            <a:r>
              <a:rPr lang="en-IN" sz="2800"/>
              <a:t>Grease Volume for Maintenance Interval</a:t>
            </a:r>
          </a:p>
        </p:txBody>
      </p:sp>
      <p:sp>
        <p:nvSpPr>
          <p:cNvPr id="4" name="Date Placeholder 3">
            <a:extLst>
              <a:ext uri="{FF2B5EF4-FFF2-40B4-BE49-F238E27FC236}">
                <a16:creationId xmlns="" xmlns:a16="http://schemas.microsoft.com/office/drawing/2014/main" id="{F791DAD1-316C-B53F-7FFF-8F3731482F4F}"/>
              </a:ext>
            </a:extLst>
          </p:cNvPr>
          <p:cNvSpPr>
            <a:spLocks noGrp="1"/>
          </p:cNvSpPr>
          <p:nvPr>
            <p:ph type="dt" sz="half" idx="10"/>
          </p:nvPr>
        </p:nvSpPr>
        <p:spPr/>
        <p:txBody>
          <a:bodyPr/>
          <a:lstStyle/>
          <a:p>
            <a:fld id="{3C9CB449-9A05-47ED-ABE6-D776F3C0C66D}" type="datetime1">
              <a:rPr lang="en-GB" smtClean="0"/>
              <a:pPr/>
              <a:t>16/11/2025</a:t>
            </a:fld>
            <a:endParaRPr lang="en-GB" dirty="0"/>
          </a:p>
        </p:txBody>
      </p:sp>
      <p:sp>
        <p:nvSpPr>
          <p:cNvPr id="5" name="Footer Placeholder 4">
            <a:extLst>
              <a:ext uri="{FF2B5EF4-FFF2-40B4-BE49-F238E27FC236}">
                <a16:creationId xmlns="" xmlns:a16="http://schemas.microsoft.com/office/drawing/2014/main" id="{88EF2E2F-0DAE-1448-C3CF-B7698B36A2D1}"/>
              </a:ext>
            </a:extLst>
          </p:cNvPr>
          <p:cNvSpPr>
            <a:spLocks noGrp="1"/>
          </p:cNvSpPr>
          <p:nvPr>
            <p:ph type="ftr" sz="quarter" idx="11"/>
          </p:nvPr>
        </p:nvSpPr>
        <p:spPr/>
        <p:txBody>
          <a:bodyPr/>
          <a:lstStyle/>
          <a:p>
            <a:r>
              <a:rPr lang="en-GB"/>
              <a:t>Rotor Hub and Pitch System / Optimus Syria</a:t>
            </a:r>
            <a:endParaRPr lang="en-GB" dirty="0"/>
          </a:p>
        </p:txBody>
      </p:sp>
      <p:sp>
        <p:nvSpPr>
          <p:cNvPr id="6" name="Slide Number Placeholder 5">
            <a:extLst>
              <a:ext uri="{FF2B5EF4-FFF2-40B4-BE49-F238E27FC236}">
                <a16:creationId xmlns="" xmlns:a16="http://schemas.microsoft.com/office/drawing/2014/main" id="{CF22F32C-ACA2-FCDB-027E-1AA7C3D7AD91}"/>
              </a:ext>
            </a:extLst>
          </p:cNvPr>
          <p:cNvSpPr>
            <a:spLocks noGrp="1"/>
          </p:cNvSpPr>
          <p:nvPr>
            <p:ph type="sldNum" sz="quarter" idx="12"/>
          </p:nvPr>
        </p:nvSpPr>
        <p:spPr/>
        <p:txBody>
          <a:bodyPr/>
          <a:lstStyle/>
          <a:p>
            <a:fld id="{013F6232-4F06-48BA-8F69-BF531F607829}" type="slidenum">
              <a:rPr lang="en-GB" smtClean="0"/>
              <a:pPr/>
              <a:t>13</a:t>
            </a:fld>
            <a:endParaRPr lang="en-GB" dirty="0"/>
          </a:p>
        </p:txBody>
      </p:sp>
      <p:sp>
        <p:nvSpPr>
          <p:cNvPr id="7" name="Text Placeholder 6">
            <a:extLst>
              <a:ext uri="{FF2B5EF4-FFF2-40B4-BE49-F238E27FC236}">
                <a16:creationId xmlns="" xmlns:a16="http://schemas.microsoft.com/office/drawing/2014/main" id="{F33F0EFD-2F5F-0CC7-6E5A-B0AFEA994F75}"/>
              </a:ext>
            </a:extLst>
          </p:cNvPr>
          <p:cNvSpPr>
            <a:spLocks noGrp="1"/>
          </p:cNvSpPr>
          <p:nvPr>
            <p:ph type="body" sz="quarter" idx="18"/>
          </p:nvPr>
        </p:nvSpPr>
        <p:spPr/>
        <p:txBody>
          <a:bodyPr/>
          <a:lstStyle/>
          <a:p>
            <a:r>
              <a:rPr lang="en-US" dirty="0" err="1">
                <a:latin typeface="Times New Roman" pitchFamily="18" charset="0"/>
                <a:cs typeface="Times New Roman" pitchFamily="18" charset="0"/>
              </a:rPr>
              <a:t>Dhruvin</a:t>
            </a:r>
            <a:r>
              <a:rPr lang="en-US" dirty="0">
                <a:latin typeface="Times New Roman" pitchFamily="18" charset="0"/>
                <a:cs typeface="Times New Roman" pitchFamily="18" charset="0"/>
              </a:rPr>
              <a:t> </a:t>
            </a:r>
            <a:r>
              <a:rPr lang="en-US" dirty="0" err="1" smtClean="0">
                <a:latin typeface="Times New Roman" pitchFamily="18" charset="0"/>
                <a:cs typeface="Times New Roman" pitchFamily="18" charset="0"/>
              </a:rPr>
              <a:t>Kakdiya</a:t>
            </a:r>
            <a:endParaRPr lang="en-US" dirty="0">
              <a:latin typeface="Times New Roman" pitchFamily="18" charset="0"/>
              <a:cs typeface="Times New Roman" pitchFamily="18" charset="0"/>
            </a:endParaRPr>
          </a:p>
        </p:txBody>
      </p:sp>
      <mc:AlternateContent xmlns:mc="http://schemas.openxmlformats.org/markup-compatibility/2006">
        <mc:Choice xmlns="" xmlns:a14="http://schemas.microsoft.com/office/drawing/2010/main" Requires="a14">
          <p:sp>
            <p:nvSpPr>
              <p:cNvPr id="12" name="Rectangle: Rounded Corners 11">
                <a:extLst>
                  <a:ext uri="{FF2B5EF4-FFF2-40B4-BE49-F238E27FC236}">
                    <a16:creationId xmlns:a16="http://schemas.microsoft.com/office/drawing/2014/main" id="{3849BA8F-33A6-5204-AA31-B05F7347621C}"/>
                  </a:ext>
                </a:extLst>
              </p:cNvPr>
              <p:cNvSpPr/>
              <p:nvPr/>
            </p:nvSpPr>
            <p:spPr>
              <a:xfrm>
                <a:off x="5088301" y="4188883"/>
                <a:ext cx="2201665" cy="465667"/>
              </a:xfrm>
              <a:prstGeom prst="round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14:m>
                  <m:oMath xmlns:m="http://schemas.openxmlformats.org/officeDocument/2006/math">
                    <m:r>
                      <a:rPr lang="en-US" i="1" smtClean="0">
                        <a:latin typeface="Cambria Math" panose="02040503050406030204" pitchFamily="18" charset="0"/>
                      </a:rPr>
                      <m:t>1</m:t>
                    </m:r>
                    <m:r>
                      <a:rPr lang="en-US">
                        <a:latin typeface="Cambria Math" panose="02040503050406030204" pitchFamily="18" charset="0"/>
                      </a:rPr>
                      <m:t>.</m:t>
                    </m:r>
                    <m:r>
                      <a:rPr lang="en-US" i="1">
                        <a:latin typeface="Cambria Math" panose="02040503050406030204" pitchFamily="18" charset="0"/>
                      </a:rPr>
                      <m:t>348</m:t>
                    </m:r>
                    <m:r>
                      <a:rPr lang="en-US">
                        <a:latin typeface="Cambria Math" panose="02040503050406030204" pitchFamily="18" charset="0"/>
                      </a:rPr>
                      <m:t>×</m:t>
                    </m:r>
                    <m:r>
                      <a:rPr lang="en-IN">
                        <a:latin typeface="Cambria Math" panose="02040503050406030204" pitchFamily="18" charset="0"/>
                      </a:rPr>
                      <m:t>6</m:t>
                    </m:r>
                    <m:r>
                      <a:rPr lang="en-US">
                        <a:latin typeface="Cambria Math" panose="02040503050406030204" pitchFamily="18" charset="0"/>
                      </a:rPr>
                      <m:t>=</m:t>
                    </m:r>
                    <m:r>
                      <a:rPr lang="en-IN" b="0" i="1" smtClean="0">
                        <a:latin typeface="Cambria Math" panose="02040503050406030204" pitchFamily="18" charset="0"/>
                      </a:rPr>
                      <m:t>8</m:t>
                    </m:r>
                    <m:r>
                      <a:rPr lang="en-IN" b="0" i="1" smtClean="0">
                        <a:latin typeface="Cambria Math" panose="02040503050406030204" pitchFamily="18" charset="0"/>
                      </a:rPr>
                      <m:t>.</m:t>
                    </m:r>
                    <m:r>
                      <a:rPr lang="en-IN" b="0" i="1" smtClean="0">
                        <a:latin typeface="Cambria Math" panose="02040503050406030204" pitchFamily="18" charset="0"/>
                      </a:rPr>
                      <m:t>08</m:t>
                    </m:r>
                  </m:oMath>
                </a14:m>
                <a:r>
                  <a:rPr lang="en-IN"/>
                  <a:t> kg</a:t>
                </a:r>
                <a:endParaRPr lang="en-US">
                  <a:latin typeface="Arial" panose="020B0604020202020204" pitchFamily="34" charset="0"/>
                  <a:cs typeface="Arial" panose="020B0604020202020204" pitchFamily="34" charset="0"/>
                </a:endParaRPr>
              </a:p>
            </p:txBody>
          </p:sp>
        </mc:Choice>
        <mc:Fallback>
          <p:sp>
            <p:nvSpPr>
              <p:cNvPr id="12" name="Rectangle: Rounded Corners 11">
                <a:extLst>
                  <a:ext uri="{FF2B5EF4-FFF2-40B4-BE49-F238E27FC236}">
                    <a16:creationId xmlns:a14="http://schemas.microsoft.com/office/drawing/2010/main" xmlns="" xmlns:a16="http://schemas.microsoft.com/office/drawing/2014/main" id="{3849BA8F-33A6-5204-AA31-B05F7347621C}"/>
                  </a:ext>
                </a:extLst>
              </p:cNvPr>
              <p:cNvSpPr>
                <a:spLocks noRot="1" noChangeAspect="1" noMove="1" noResize="1" noEditPoints="1" noAdjustHandles="1" noChangeArrowheads="1" noChangeShapeType="1" noTextEdit="1"/>
              </p:cNvSpPr>
              <p:nvPr/>
            </p:nvSpPr>
            <p:spPr>
              <a:xfrm>
                <a:off x="5088301" y="4188883"/>
                <a:ext cx="2201665" cy="465667"/>
              </a:xfrm>
              <a:prstGeom prst="roundRect">
                <a:avLst/>
              </a:prstGeom>
              <a:blipFill>
                <a:blip r:embed="rId2"/>
                <a:stretch>
                  <a:fillRect b="-7500"/>
                </a:stretch>
              </a:blipFill>
              <a:ln>
                <a:solidFill>
                  <a:srgbClr val="FF0000"/>
                </a:solidFill>
              </a:ln>
            </p:spPr>
            <p:txBody>
              <a:bodyPr/>
              <a:lstStyle/>
              <a:p>
                <a:r>
                  <a:rPr lang="en-IN">
                    <a:noFill/>
                  </a:rPr>
                  <a:t> </a:t>
                </a:r>
              </a:p>
            </p:txBody>
          </p:sp>
        </mc:Fallback>
      </mc:AlternateContent>
      <p:sp>
        <p:nvSpPr>
          <p:cNvPr id="13" name="Rectangle: Rounded Corners 12">
            <a:extLst>
              <a:ext uri="{FF2B5EF4-FFF2-40B4-BE49-F238E27FC236}">
                <a16:creationId xmlns="" xmlns:a16="http://schemas.microsoft.com/office/drawing/2014/main" id="{FD8CC5CA-B082-D35E-B562-FEC53EA785C8}"/>
              </a:ext>
            </a:extLst>
          </p:cNvPr>
          <p:cNvSpPr/>
          <p:nvPr/>
        </p:nvSpPr>
        <p:spPr>
          <a:xfrm>
            <a:off x="4682067" y="2624667"/>
            <a:ext cx="3200400" cy="567266"/>
          </a:xfrm>
          <a:prstGeom prst="round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pPr algn="ctr"/>
            <a:r>
              <a:rPr lang="en-IN"/>
              <a:t>16.17 kg /12 = 1.348 kg/month</a:t>
            </a:r>
          </a:p>
        </p:txBody>
      </p:sp>
      <mc:AlternateContent xmlns:mc="http://schemas.openxmlformats.org/markup-compatibility/2006">
        <mc:Choice xmlns="" xmlns:a14="http://schemas.microsoft.com/office/drawing/2010/main" Requires="a14">
          <p:sp>
            <p:nvSpPr>
              <p:cNvPr id="17" name="Rectangle: Rounded Corners 16">
                <a:extLst>
                  <a:ext uri="{FF2B5EF4-FFF2-40B4-BE49-F238E27FC236}">
                    <a16:creationId xmlns:a16="http://schemas.microsoft.com/office/drawing/2014/main" id="{F37AF7A4-FD43-9D19-6C68-F4EA521CF9A0}"/>
                  </a:ext>
                </a:extLst>
              </p:cNvPr>
              <p:cNvSpPr/>
              <p:nvPr/>
            </p:nvSpPr>
            <p:spPr>
              <a:xfrm>
                <a:off x="5020734" y="5651500"/>
                <a:ext cx="2523066" cy="465667"/>
              </a:xfrm>
              <a:prstGeom prst="roundRect">
                <a:avLst/>
              </a:prstGeom>
              <a:ln>
                <a:solidFill>
                  <a:srgbClr val="FF0000"/>
                </a:solidFill>
              </a:ln>
            </p:spPr>
            <p:style>
              <a:lnRef idx="2">
                <a:schemeClr val="dk1"/>
              </a:lnRef>
              <a:fillRef idx="1">
                <a:schemeClr val="lt1"/>
              </a:fillRef>
              <a:effectRef idx="0">
                <a:schemeClr val="dk1"/>
              </a:effectRef>
              <a:fontRef idx="minor">
                <a:schemeClr val="dk1"/>
              </a:fontRef>
            </p:style>
            <p:txBody>
              <a:bodyPr rtlCol="0" anchor="ctr"/>
              <a:lstStyle/>
              <a:p>
                <a:r>
                  <a:rPr lang="en-US">
                    <a:latin typeface="Arial" panose="020B0604020202020204" pitchFamily="34" charset="0"/>
                    <a:cs typeface="Arial" panose="020B0604020202020204" pitchFamily="34" charset="0"/>
                  </a:rPr>
                  <a:t>8.08 kg</a:t>
                </a:r>
                <a14:m>
                  <m:oMath xmlns:m="http://schemas.openxmlformats.org/officeDocument/2006/math">
                    <m:r>
                      <a:rPr lang="en-US">
                        <a:latin typeface="Cambria Math" panose="02040503050406030204" pitchFamily="18" charset="0"/>
                      </a:rPr>
                      <m:t>×</m:t>
                    </m:r>
                    <m:r>
                      <a:rPr lang="en-US" i="1">
                        <a:latin typeface="Cambria Math" panose="02040503050406030204" pitchFamily="18" charset="0"/>
                      </a:rPr>
                      <m:t>3</m:t>
                    </m:r>
                    <m:r>
                      <a:rPr lang="en-US">
                        <a:latin typeface="Cambria Math" panose="02040503050406030204" pitchFamily="18" charset="0"/>
                      </a:rPr>
                      <m:t>=</m:t>
                    </m:r>
                    <m:r>
                      <m:rPr>
                        <m:nor/>
                      </m:rPr>
                      <a:rPr lang="en-IN">
                        <a:latin typeface="Arial" panose="020B0604020202020204" pitchFamily="34" charset="0"/>
                        <a:cs typeface="Arial" panose="020B0604020202020204" pitchFamily="34" charset="0"/>
                      </a:rPr>
                      <m:t>24.24</m:t>
                    </m:r>
                    <m:r>
                      <m:rPr>
                        <m:nor/>
                      </m:rPr>
                      <a:rPr lang="en-US" i="1">
                        <a:latin typeface="Arial" panose="020B0604020202020204" pitchFamily="34" charset="0"/>
                        <a:cs typeface="Arial" panose="020B0604020202020204" pitchFamily="34" charset="0"/>
                      </a:rPr>
                      <m:t> </m:t>
                    </m:r>
                  </m:oMath>
                </a14:m>
                <a:r>
                  <a:rPr lang="en-IN"/>
                  <a:t>kg</a:t>
                </a:r>
                <a:endParaRPr lang="en-US">
                  <a:latin typeface="Arial" panose="020B0604020202020204" pitchFamily="34" charset="0"/>
                  <a:cs typeface="Arial" panose="020B0604020202020204" pitchFamily="34" charset="0"/>
                </a:endParaRPr>
              </a:p>
            </p:txBody>
          </p:sp>
        </mc:Choice>
        <mc:Fallback>
          <p:sp>
            <p:nvSpPr>
              <p:cNvPr id="17" name="Rectangle: Rounded Corners 16">
                <a:extLst>
                  <a:ext uri="{FF2B5EF4-FFF2-40B4-BE49-F238E27FC236}">
                    <a16:creationId xmlns:a14="http://schemas.microsoft.com/office/drawing/2010/main" xmlns="" xmlns:a16="http://schemas.microsoft.com/office/drawing/2014/main" id="{F37AF7A4-FD43-9D19-6C68-F4EA521CF9A0}"/>
                  </a:ext>
                </a:extLst>
              </p:cNvPr>
              <p:cNvSpPr>
                <a:spLocks noRot="1" noChangeAspect="1" noMove="1" noResize="1" noEditPoints="1" noAdjustHandles="1" noChangeArrowheads="1" noChangeShapeType="1" noTextEdit="1"/>
              </p:cNvSpPr>
              <p:nvPr/>
            </p:nvSpPr>
            <p:spPr>
              <a:xfrm>
                <a:off x="5020734" y="5651500"/>
                <a:ext cx="2523066" cy="465667"/>
              </a:xfrm>
              <a:prstGeom prst="roundRect">
                <a:avLst/>
              </a:prstGeom>
              <a:blipFill>
                <a:blip r:embed="rId3"/>
                <a:stretch>
                  <a:fillRect l="-959" b="-8861"/>
                </a:stretch>
              </a:blipFill>
              <a:ln>
                <a:solidFill>
                  <a:srgbClr val="FF0000"/>
                </a:solidFill>
              </a:ln>
            </p:spPr>
            <p:txBody>
              <a:bodyPr/>
              <a:lstStyle/>
              <a:p>
                <a:r>
                  <a:rPr lang="en-IN">
                    <a:noFill/>
                  </a:rPr>
                  <a:t> </a:t>
                </a:r>
              </a:p>
            </p:txBody>
          </p:sp>
        </mc:Fallback>
      </mc:AlternateContent>
    </p:spTree>
    <p:extLst>
      <p:ext uri="{BB962C8B-B14F-4D97-AF65-F5344CB8AC3E}">
        <p14:creationId xmlns="" xmlns:p14="http://schemas.microsoft.com/office/powerpoint/2010/main" val="18598655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2F440DCE-F2E3-F1A3-569A-F772E5550510}"/>
              </a:ext>
            </a:extLst>
          </p:cNvPr>
          <p:cNvSpPr>
            <a:spLocks noGrp="1"/>
          </p:cNvSpPr>
          <p:nvPr>
            <p:ph type="title"/>
          </p:nvPr>
        </p:nvSpPr>
        <p:spPr/>
        <p:txBody>
          <a:bodyPr/>
          <a:lstStyle/>
          <a:p>
            <a:r>
              <a:rPr lang="en-US" dirty="0"/>
              <a:t>CAD Model of Blade Bearing</a:t>
            </a:r>
            <a:endParaRPr lang="en-IN" dirty="0"/>
          </a:p>
        </p:txBody>
      </p:sp>
      <p:sp>
        <p:nvSpPr>
          <p:cNvPr id="4" name="Date Placeholder 3">
            <a:extLst>
              <a:ext uri="{FF2B5EF4-FFF2-40B4-BE49-F238E27FC236}">
                <a16:creationId xmlns="" xmlns:a16="http://schemas.microsoft.com/office/drawing/2014/main" id="{DD8F4A17-6FE8-D212-D251-02CF59099FCC}"/>
              </a:ext>
            </a:extLst>
          </p:cNvPr>
          <p:cNvSpPr>
            <a:spLocks noGrp="1"/>
          </p:cNvSpPr>
          <p:nvPr>
            <p:ph type="dt" sz="half" idx="10"/>
          </p:nvPr>
        </p:nvSpPr>
        <p:spPr/>
        <p:txBody>
          <a:bodyPr/>
          <a:lstStyle/>
          <a:p>
            <a:fld id="{3C9CB449-9A05-47ED-ABE6-D776F3C0C66D}" type="datetime1">
              <a:rPr lang="en-GB" smtClean="0"/>
              <a:pPr/>
              <a:t>16/11/2025</a:t>
            </a:fld>
            <a:endParaRPr lang="en-GB" dirty="0"/>
          </a:p>
        </p:txBody>
      </p:sp>
      <p:sp>
        <p:nvSpPr>
          <p:cNvPr id="5" name="Footer Placeholder 4">
            <a:extLst>
              <a:ext uri="{FF2B5EF4-FFF2-40B4-BE49-F238E27FC236}">
                <a16:creationId xmlns="" xmlns:a16="http://schemas.microsoft.com/office/drawing/2014/main" id="{0C888BBB-92D7-0E2F-7729-4C1583EAAB5A}"/>
              </a:ext>
            </a:extLst>
          </p:cNvPr>
          <p:cNvSpPr>
            <a:spLocks noGrp="1"/>
          </p:cNvSpPr>
          <p:nvPr>
            <p:ph type="ftr" sz="quarter" idx="11"/>
          </p:nvPr>
        </p:nvSpPr>
        <p:spPr/>
        <p:txBody>
          <a:bodyPr/>
          <a:lstStyle/>
          <a:p>
            <a:r>
              <a:rPr lang="en-GB"/>
              <a:t>Rotor Hub and Pitch System / Optimus Syria</a:t>
            </a:r>
            <a:endParaRPr lang="en-GB" dirty="0"/>
          </a:p>
        </p:txBody>
      </p:sp>
      <p:sp>
        <p:nvSpPr>
          <p:cNvPr id="6" name="Slide Number Placeholder 5">
            <a:extLst>
              <a:ext uri="{FF2B5EF4-FFF2-40B4-BE49-F238E27FC236}">
                <a16:creationId xmlns="" xmlns:a16="http://schemas.microsoft.com/office/drawing/2014/main" id="{C7664BDC-B25B-2220-E057-7A1C8F37626C}"/>
              </a:ext>
            </a:extLst>
          </p:cNvPr>
          <p:cNvSpPr>
            <a:spLocks noGrp="1"/>
          </p:cNvSpPr>
          <p:nvPr>
            <p:ph type="sldNum" sz="quarter" idx="12"/>
          </p:nvPr>
        </p:nvSpPr>
        <p:spPr/>
        <p:txBody>
          <a:bodyPr/>
          <a:lstStyle/>
          <a:p>
            <a:fld id="{013F6232-4F06-48BA-8F69-BF531F607829}" type="slidenum">
              <a:rPr lang="en-GB" smtClean="0"/>
              <a:pPr/>
              <a:t>14</a:t>
            </a:fld>
            <a:endParaRPr lang="en-GB" dirty="0"/>
          </a:p>
        </p:txBody>
      </p:sp>
      <p:sp>
        <p:nvSpPr>
          <p:cNvPr id="7" name="Text Placeholder 6">
            <a:extLst>
              <a:ext uri="{FF2B5EF4-FFF2-40B4-BE49-F238E27FC236}">
                <a16:creationId xmlns="" xmlns:a16="http://schemas.microsoft.com/office/drawing/2014/main" id="{2CD2D9EA-7DF1-D2CD-ED8C-B3ABB752A890}"/>
              </a:ext>
            </a:extLst>
          </p:cNvPr>
          <p:cNvSpPr>
            <a:spLocks noGrp="1"/>
          </p:cNvSpPr>
          <p:nvPr>
            <p:ph type="body" sz="quarter" idx="18"/>
          </p:nvPr>
        </p:nvSpPr>
        <p:spPr/>
        <p:txBody>
          <a:bodyPr/>
          <a:lstStyle/>
          <a:p>
            <a:pPr marL="342900" indent="-342900"/>
            <a:r>
              <a:rPr lang="en-US" dirty="0" err="1">
                <a:latin typeface="Times New Roman" pitchFamily="18" charset="0"/>
                <a:cs typeface="Times New Roman" pitchFamily="18" charset="0"/>
              </a:rPr>
              <a:t>Dhruvin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Kakdiya</a:t>
            </a:r>
            <a:endParaRPr lang="en-US" dirty="0">
              <a:latin typeface="Times New Roman" pitchFamily="18" charset="0"/>
              <a:cs typeface="Times New Roman" pitchFamily="18" charset="0"/>
            </a:endParaRPr>
          </a:p>
        </p:txBody>
      </p:sp>
      <p:pic>
        <p:nvPicPr>
          <p:cNvPr id="9" name="Picture 8" descr="A grey circular object with a white background">
            <a:extLst>
              <a:ext uri="{FF2B5EF4-FFF2-40B4-BE49-F238E27FC236}">
                <a16:creationId xmlns="" xmlns:a16="http://schemas.microsoft.com/office/drawing/2014/main" id="{5D38B0C2-C6CB-9EC5-3B6B-9406DE9C9956}"/>
              </a:ext>
            </a:extLst>
          </p:cNvPr>
          <p:cNvPicPr>
            <a:picLocks noChangeAspect="1"/>
          </p:cNvPicPr>
          <p:nvPr/>
        </p:nvPicPr>
        <p:blipFill>
          <a:blip r:embed="rId2">
            <a:extLst>
              <a:ext uri="{28A0092B-C50C-407E-A947-70E740481C1C}">
                <a14:useLocalDpi xmlns="" xmlns:a14="http://schemas.microsoft.com/office/drawing/2010/main" val="0"/>
              </a:ext>
            </a:extLst>
          </a:blip>
          <a:stretch>
            <a:fillRect/>
          </a:stretch>
        </p:blipFill>
        <p:spPr>
          <a:xfrm>
            <a:off x="241674" y="1319753"/>
            <a:ext cx="6347794" cy="3643439"/>
          </a:xfrm>
          <a:prstGeom prst="rect">
            <a:avLst/>
          </a:prstGeom>
        </p:spPr>
      </p:pic>
      <p:pic>
        <p:nvPicPr>
          <p:cNvPr id="11" name="Picture 10" descr="A close-up of a curved metal object&#10;&#10;AI-generated content may be incorrect.">
            <a:extLst>
              <a:ext uri="{FF2B5EF4-FFF2-40B4-BE49-F238E27FC236}">
                <a16:creationId xmlns="" xmlns:a16="http://schemas.microsoft.com/office/drawing/2014/main" id="{FEDA656F-2CD3-8760-D178-8B14CFF52C1D}"/>
              </a:ext>
            </a:extLst>
          </p:cNvPr>
          <p:cNvPicPr>
            <a:picLocks noChangeAspect="1"/>
          </p:cNvPicPr>
          <p:nvPr/>
        </p:nvPicPr>
        <p:blipFill>
          <a:blip r:embed="rId3">
            <a:extLst>
              <a:ext uri="{28A0092B-C50C-407E-A947-70E740481C1C}">
                <a14:useLocalDpi xmlns="" xmlns:a14="http://schemas.microsoft.com/office/drawing/2010/main" val="0"/>
              </a:ext>
            </a:extLst>
          </a:blip>
          <a:srcRect t="-872" r="24748"/>
          <a:stretch>
            <a:fillRect/>
          </a:stretch>
        </p:blipFill>
        <p:spPr>
          <a:xfrm>
            <a:off x="6810196" y="1452443"/>
            <a:ext cx="4687898" cy="3378057"/>
          </a:xfrm>
          <a:prstGeom prst="rect">
            <a:avLst/>
          </a:prstGeom>
        </p:spPr>
      </p:pic>
      <p:sp>
        <p:nvSpPr>
          <p:cNvPr id="12" name="TextBox 11">
            <a:extLst>
              <a:ext uri="{FF2B5EF4-FFF2-40B4-BE49-F238E27FC236}">
                <a16:creationId xmlns="" xmlns:a16="http://schemas.microsoft.com/office/drawing/2014/main" id="{9565EE3C-C4DB-15AC-D226-59CF9BB3ECFD}"/>
              </a:ext>
            </a:extLst>
          </p:cNvPr>
          <p:cNvSpPr txBox="1"/>
          <p:nvPr/>
        </p:nvSpPr>
        <p:spPr>
          <a:xfrm>
            <a:off x="1949570" y="4824692"/>
            <a:ext cx="3443591" cy="276999"/>
          </a:xfrm>
          <a:prstGeom prst="rect">
            <a:avLst/>
          </a:prstGeom>
          <a:noFill/>
        </p:spPr>
        <p:txBody>
          <a:bodyPr wrap="square" rtlCol="0">
            <a:spAutoFit/>
          </a:bodyPr>
          <a:lstStyle/>
          <a:p>
            <a:pPr algn="l"/>
            <a:r>
              <a:rPr lang="en-US" sz="1200" b="1" dirty="0">
                <a:solidFill>
                  <a:schemeClr val="tx1">
                    <a:lumMod val="50000"/>
                    <a:lumOff val="50000"/>
                  </a:schemeClr>
                </a:solidFill>
                <a:latin typeface="Times New Roman" panose="02020603050405020304" pitchFamily="18" charset="0"/>
                <a:cs typeface="Times New Roman" panose="02020603050405020304" pitchFamily="18" charset="0"/>
              </a:rPr>
              <a:t>Orthographic view</a:t>
            </a:r>
            <a:endParaRPr lang="en-IN" sz="1200" b="1"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 xmlns:a16="http://schemas.microsoft.com/office/drawing/2014/main" id="{193C20A9-94AA-D9D2-BF48-7D4BC4C1F8FB}"/>
              </a:ext>
            </a:extLst>
          </p:cNvPr>
          <p:cNvSpPr txBox="1"/>
          <p:nvPr/>
        </p:nvSpPr>
        <p:spPr>
          <a:xfrm>
            <a:off x="7957226" y="4581728"/>
            <a:ext cx="2811293" cy="276999"/>
          </a:xfrm>
          <a:prstGeom prst="rect">
            <a:avLst/>
          </a:prstGeom>
          <a:noFill/>
        </p:spPr>
        <p:txBody>
          <a:bodyPr wrap="square" rtlCol="0">
            <a:spAutoFit/>
          </a:bodyPr>
          <a:lstStyle/>
          <a:p>
            <a:pPr algn="l"/>
            <a:r>
              <a:rPr lang="en-US" sz="1200" b="1" dirty="0">
                <a:solidFill>
                  <a:schemeClr val="tx1">
                    <a:lumMod val="50000"/>
                    <a:lumOff val="50000"/>
                  </a:schemeClr>
                </a:solidFill>
                <a:latin typeface="Times New Roman" panose="02020603050405020304" pitchFamily="18" charset="0"/>
                <a:cs typeface="Times New Roman" panose="02020603050405020304" pitchFamily="18" charset="0"/>
              </a:rPr>
              <a:t>Sectional view</a:t>
            </a:r>
            <a:endParaRPr lang="en-IN" sz="1200" b="1"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 xmlns:a16="http://schemas.microsoft.com/office/drawing/2014/main" id="{B761921E-7BDE-55CB-9221-B565C324D2CE}"/>
              </a:ext>
            </a:extLst>
          </p:cNvPr>
          <p:cNvSpPr txBox="1"/>
          <p:nvPr/>
        </p:nvSpPr>
        <p:spPr>
          <a:xfrm>
            <a:off x="4664126" y="5538885"/>
            <a:ext cx="5418306" cy="276999"/>
          </a:xfrm>
          <a:prstGeom prst="rect">
            <a:avLst/>
          </a:prstGeom>
          <a:noFill/>
        </p:spPr>
        <p:txBody>
          <a:bodyPr wrap="square" rtlCol="0">
            <a:spAutoFit/>
          </a:bodyPr>
          <a:lstStyle/>
          <a:p>
            <a:pPr algn="l"/>
            <a:r>
              <a:rPr lang="en-US" sz="1200" b="1" dirty="0">
                <a:solidFill>
                  <a:schemeClr val="tx1">
                    <a:lumMod val="50000"/>
                    <a:lumOff val="50000"/>
                  </a:schemeClr>
                </a:solidFill>
                <a:latin typeface="Times New Roman" panose="02020603050405020304" pitchFamily="18" charset="0"/>
                <a:cs typeface="Times New Roman" panose="02020603050405020304" pitchFamily="18" charset="0"/>
              </a:rPr>
              <a:t>(8) Fig. : Outer ring rotating triple row roller bearing (Assembly) </a:t>
            </a:r>
            <a:endParaRPr lang="en-IN" sz="1200" b="1"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2651712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 xmlns:a16="http://schemas.microsoft.com/office/drawing/2014/main" id="{CDCB6ED1-18E3-9640-3D93-84F8B0B15004}"/>
              </a:ext>
            </a:extLst>
          </p:cNvPr>
          <p:cNvSpPr>
            <a:spLocks noGrp="1"/>
          </p:cNvSpPr>
          <p:nvPr>
            <p:ph type="title"/>
          </p:nvPr>
        </p:nvSpPr>
        <p:spPr/>
        <p:txBody>
          <a:bodyPr/>
          <a:lstStyle/>
          <a:p>
            <a:pPr algn="ctr"/>
            <a:r>
              <a:rPr lang="de-DE" dirty="0">
                <a:latin typeface="Arial" panose="020B0604020202020204" pitchFamily="34" charset="0"/>
                <a:cs typeface="Arial" panose="020B0604020202020204" pitchFamily="34" charset="0"/>
              </a:rPr>
              <a:t>Bibliography</a:t>
            </a:r>
          </a:p>
        </p:txBody>
      </p:sp>
      <p:sp>
        <p:nvSpPr>
          <p:cNvPr id="3" name="Content Placeholder 2">
            <a:extLst>
              <a:ext uri="{FF2B5EF4-FFF2-40B4-BE49-F238E27FC236}">
                <a16:creationId xmlns="" xmlns:a16="http://schemas.microsoft.com/office/drawing/2014/main" id="{E9E853A4-1968-0FCD-18F0-DEA78504D7EE}"/>
              </a:ext>
            </a:extLst>
          </p:cNvPr>
          <p:cNvSpPr>
            <a:spLocks noGrp="1"/>
          </p:cNvSpPr>
          <p:nvPr>
            <p:ph idx="1"/>
          </p:nvPr>
        </p:nvSpPr>
        <p:spPr/>
        <p:txBody>
          <a:bodyPr/>
          <a:lstStyle/>
          <a:p>
            <a:pPr marL="342900" indent="-342900"/>
            <a:endParaRPr lang="en-IN" dirty="0" smtClean="0">
              <a:latin typeface="Arial" panose="020B0604020202020204" pitchFamily="34" charset="0"/>
              <a:cs typeface="Arial" panose="020B0604020202020204" pitchFamily="34" charset="0"/>
              <a:hlinkClick r:id="rId2"/>
            </a:endParaRPr>
          </a:p>
          <a:p>
            <a:pPr marL="342900" indent="-342900">
              <a:buFont typeface="+mj-lt"/>
              <a:buAutoNum type="arabicPeriod"/>
            </a:pPr>
            <a:r>
              <a:rPr lang="en-US" dirty="0" smtClean="0"/>
              <a:t>ITH. (</a:t>
            </a:r>
            <a:r>
              <a:rPr lang="en-US" dirty="0" err="1" smtClean="0"/>
              <a:t>n.d</a:t>
            </a:r>
            <a:r>
              <a:rPr lang="en-US" dirty="0" smtClean="0"/>
              <a:t>.). ITH Hydraulic Torque Wrenches Catalog. Retrieved November 08, 2025, from </a:t>
            </a:r>
            <a:r>
              <a:rPr lang="en-US" dirty="0" smtClean="0">
                <a:hlinkClick r:id="rId3"/>
              </a:rPr>
              <a:t>www.ITH.de/schraubwerkzeuge/hydraulische-drehmomentschrauber</a:t>
            </a:r>
            <a:r>
              <a:rPr lang="en-US" dirty="0" smtClean="0"/>
              <a:t> (12.11.2025)</a:t>
            </a:r>
          </a:p>
          <a:p>
            <a:pPr marL="342900" indent="-342900">
              <a:buFont typeface="+mj-lt"/>
              <a:buAutoNum type="arabicPeriod"/>
            </a:pPr>
            <a:r>
              <a:rPr lang="en-IN" dirty="0" smtClean="0">
                <a:latin typeface="Arial" panose="020B0604020202020204" pitchFamily="34" charset="0"/>
                <a:cs typeface="Arial" panose="020B0604020202020204" pitchFamily="34" charset="0"/>
                <a:hlinkClick r:id="rId2"/>
              </a:rPr>
              <a:t>https://www.bonfiglioli.com/_default_upload_bucket/TR_CAT_WIND_STD_ENG_R05_1.pdf?_gl=1*st0uf6*_up*MQ..*_</a:t>
            </a:r>
            <a:r>
              <a:rPr lang="en-IN" dirty="0" err="1" smtClean="0">
                <a:latin typeface="Arial" panose="020B0604020202020204" pitchFamily="34" charset="0"/>
                <a:cs typeface="Arial" panose="020B0604020202020204" pitchFamily="34" charset="0"/>
                <a:hlinkClick r:id="rId2"/>
              </a:rPr>
              <a:t>ga</a:t>
            </a:r>
            <a:r>
              <a:rPr lang="en-IN" dirty="0" smtClean="0">
                <a:latin typeface="Arial" panose="020B0604020202020204" pitchFamily="34" charset="0"/>
                <a:cs typeface="Arial" panose="020B0604020202020204" pitchFamily="34" charset="0"/>
                <a:hlinkClick r:id="rId2"/>
              </a:rPr>
              <a:t>*MTkwODc0NTgyMS4xNzYzMTE5NzE0*_ga_B0519ZEPFF*czE3NjMxMTk3MTQkbzEkZzAkdDE3NjMxMTk3MTQkajYwJGwwJGgw</a:t>
            </a:r>
            <a:r>
              <a:rPr lang="en-IN" dirty="0" smtClean="0">
                <a:latin typeface="Arial" panose="020B0604020202020204" pitchFamily="34" charset="0"/>
                <a:cs typeface="Arial" panose="020B0604020202020204" pitchFamily="34" charset="0"/>
              </a:rPr>
              <a:t> (14.11.2025)</a:t>
            </a:r>
          </a:p>
          <a:p>
            <a:pPr marL="342900" indent="-342900">
              <a:buFont typeface="+mj-lt"/>
              <a:buAutoNum type="arabicPeriod"/>
            </a:pPr>
            <a:r>
              <a:rPr lang="en-US" dirty="0" smtClean="0"/>
              <a:t> </a:t>
            </a:r>
            <a:r>
              <a:rPr lang="en-US" dirty="0">
                <a:hlinkClick r:id="rId4"/>
              </a:rPr>
              <a:t>Low voltage motor catalog: Synchronous reluctance motors, 9AKK107743 EN 09-2023</a:t>
            </a:r>
            <a:r>
              <a:rPr lang="en-US" dirty="0"/>
              <a:t> (</a:t>
            </a:r>
            <a:r>
              <a:rPr lang="en-IN" dirty="0">
                <a:latin typeface="Arial" panose="020B0604020202020204" pitchFamily="34" charset="0"/>
                <a:cs typeface="Arial" panose="020B0604020202020204" pitchFamily="34" charset="0"/>
              </a:rPr>
              <a:t>14.11.2025)</a:t>
            </a:r>
          </a:p>
          <a:p>
            <a:pPr marL="342900" indent="-342900">
              <a:buFont typeface="+mj-lt"/>
              <a:buAutoNum type="arabicPeriod"/>
            </a:pPr>
            <a:r>
              <a:rPr lang="en-US" dirty="0">
                <a:hlinkClick r:id="rId5"/>
              </a:rPr>
              <a:t>https://download.sew-eurodrive.com/download/pdf/22134204_G07.pdf(</a:t>
            </a:r>
            <a:r>
              <a:rPr lang="en-IN" dirty="0">
                <a:latin typeface="Arial" panose="020B0604020202020204" pitchFamily="34" charset="0"/>
                <a:cs typeface="Arial" panose="020B0604020202020204" pitchFamily="34" charset="0"/>
                <a:hlinkClick r:id="rId5"/>
              </a:rPr>
              <a:t>14.11.2025)</a:t>
            </a:r>
            <a:endParaRPr lang="en-IN" dirty="0">
              <a:latin typeface="Arial" panose="020B0604020202020204" pitchFamily="34" charset="0"/>
              <a:cs typeface="Arial" panose="020B0604020202020204" pitchFamily="34" charset="0"/>
            </a:endParaRPr>
          </a:p>
          <a:p>
            <a:pPr marL="342900" indent="-342900">
              <a:buFont typeface="+mj-lt"/>
              <a:buAutoNum type="arabicPeriod"/>
            </a:pPr>
            <a:r>
              <a:rPr lang="en-US" dirty="0"/>
              <a:t>SKF — Determining grease quantities &amp; general bearing lubrication guidance [14.11.25]</a:t>
            </a:r>
          </a:p>
          <a:p>
            <a:pPr marL="342900" indent="-342900">
              <a:buFont typeface="+mj-lt"/>
              <a:buAutoNum type="arabicPeriod"/>
            </a:pPr>
            <a:r>
              <a:rPr lang="en-US" dirty="0">
                <a:hlinkClick r:id="rId6"/>
              </a:rPr>
              <a:t>https://www.skf.com/group/industries/wind-energy/operation-and-maintenance/windlub</a:t>
            </a:r>
            <a:r>
              <a:rPr lang="en-US" dirty="0"/>
              <a:t> [15.11.25]</a:t>
            </a:r>
          </a:p>
          <a:p>
            <a:pPr marL="342900" indent="-342900">
              <a:buFont typeface="+mj-lt"/>
              <a:buAutoNum type="arabicPeriod"/>
            </a:pPr>
            <a:r>
              <a:rPr lang="en-US" dirty="0">
                <a:hlinkClick r:id="rId7"/>
              </a:rPr>
              <a:t>https://www.machinerylubrication.com/Read/29285/manual-automatic-lubrication</a:t>
            </a:r>
            <a:r>
              <a:rPr lang="en-US" dirty="0"/>
              <a:t> [15.11.25]</a:t>
            </a:r>
          </a:p>
          <a:p>
            <a:pPr marL="342900" indent="-342900">
              <a:buFont typeface="+mj-lt"/>
              <a:buAutoNum type="arabicPeriod"/>
            </a:pPr>
            <a:r>
              <a:rPr lang="en-US" dirty="0">
                <a:hlinkClick r:id="rId8"/>
              </a:rPr>
              <a:t>https://www.skf.com/binaries/pub12/Images/0901d1968019d1ed-17099EN_SKF_Automatic_Lubricators_tcm_12-66465.pdf</a:t>
            </a:r>
            <a:r>
              <a:rPr lang="en-US" dirty="0"/>
              <a:t> [15.11.25]</a:t>
            </a:r>
          </a:p>
          <a:p>
            <a:pPr marL="342900" indent="-342900">
              <a:buFont typeface="+mj-lt"/>
              <a:buAutoNum type="arabicPeriod"/>
            </a:pPr>
            <a:r>
              <a:rPr lang="en-US" dirty="0">
                <a:solidFill>
                  <a:schemeClr val="tx1">
                    <a:lumMod val="50000"/>
                    <a:lumOff val="50000"/>
                  </a:schemeClr>
                </a:solidFill>
              </a:rPr>
              <a:t>Fig. : Outer ring rotating triple row roller bearing (Assembly) </a:t>
            </a:r>
            <a:endParaRPr lang="en-IN" dirty="0">
              <a:solidFill>
                <a:schemeClr val="tx1">
                  <a:lumMod val="50000"/>
                  <a:lumOff val="50000"/>
                </a:schemeClr>
              </a:solidFill>
            </a:endParaRPr>
          </a:p>
          <a:p>
            <a:pPr marL="342900" indent="-342900">
              <a:buFont typeface="Arial" panose="020B0604020202020204" pitchFamily="34" charset="0"/>
              <a:buAutoNum type="arabicPeriod"/>
            </a:pPr>
            <a:endParaRPr lang="en-US" dirty="0"/>
          </a:p>
          <a:p>
            <a:pPr marL="342900" indent="-342900">
              <a:buFont typeface="Arial" panose="020B0604020202020204" pitchFamily="34" charset="0"/>
              <a:buAutoNum type="arabicPeriod"/>
            </a:pPr>
            <a:endParaRPr lang="en-US" dirty="0"/>
          </a:p>
          <a:p>
            <a:pPr marL="342900" indent="-342900">
              <a:buFont typeface="Arial" panose="020B0604020202020204" pitchFamily="34" charset="0"/>
              <a:buAutoNum type="arabicPeriod"/>
            </a:pPr>
            <a:endParaRPr lang="en-US" dirty="0"/>
          </a:p>
          <a:p>
            <a:pPr marL="342900" indent="-342900">
              <a:buFont typeface="Arial" panose="020B0604020202020204" pitchFamily="34" charset="0"/>
              <a:buAutoNum type="arabicPeriod"/>
            </a:pPr>
            <a:endParaRPr lang="en-US" dirty="0"/>
          </a:p>
          <a:p>
            <a:pPr marL="342900" indent="-342900">
              <a:buFont typeface="Arial" panose="020B0604020202020204" pitchFamily="34" charset="0"/>
              <a:buAutoNum type="arabicPeriod"/>
            </a:pPr>
            <a:endParaRPr lang="en-IN" dirty="0">
              <a:latin typeface="Arial" panose="020B0604020202020204" pitchFamily="34" charset="0"/>
              <a:cs typeface="Arial" panose="020B0604020202020204" pitchFamily="34" charset="0"/>
            </a:endParaRPr>
          </a:p>
          <a:p>
            <a:pPr marL="342900" indent="-342900">
              <a:buAutoNum type="arabicPeriod"/>
            </a:pPr>
            <a:endParaRPr lang="en-US" dirty="0"/>
          </a:p>
          <a:p>
            <a:endParaRPr lang="en-US" dirty="0"/>
          </a:p>
        </p:txBody>
      </p:sp>
      <p:sp>
        <p:nvSpPr>
          <p:cNvPr id="4" name="Datumsplatzhalter 3">
            <a:extLst>
              <a:ext uri="{FF2B5EF4-FFF2-40B4-BE49-F238E27FC236}">
                <a16:creationId xmlns="" xmlns:a16="http://schemas.microsoft.com/office/drawing/2014/main" id="{D0D8ED35-2E13-75BD-2A2E-AC6374785462}"/>
              </a:ext>
            </a:extLst>
          </p:cNvPr>
          <p:cNvSpPr>
            <a:spLocks noGrp="1"/>
          </p:cNvSpPr>
          <p:nvPr>
            <p:ph type="dt" sz="half" idx="10"/>
          </p:nvPr>
        </p:nvSpPr>
        <p:spPr/>
        <p:txBody>
          <a:bodyPr/>
          <a:lstStyle/>
          <a:p>
            <a:fld id="{80D92ABB-B105-4A5A-A207-EB1AE7E4FBD2}" type="datetime1">
              <a:rPr lang="en-GB" smtClean="0"/>
              <a:pPr/>
              <a:t>16/11/2025</a:t>
            </a:fld>
            <a:endParaRPr lang="en-GB" dirty="0"/>
          </a:p>
        </p:txBody>
      </p:sp>
      <p:sp>
        <p:nvSpPr>
          <p:cNvPr id="6" name="Fußzeilenplatzhalter 5">
            <a:extLst>
              <a:ext uri="{FF2B5EF4-FFF2-40B4-BE49-F238E27FC236}">
                <a16:creationId xmlns="" xmlns:a16="http://schemas.microsoft.com/office/drawing/2014/main" id="{40055318-CDFF-2436-5D76-D30CE5CB6A48}"/>
              </a:ext>
            </a:extLst>
          </p:cNvPr>
          <p:cNvSpPr>
            <a:spLocks noGrp="1"/>
          </p:cNvSpPr>
          <p:nvPr>
            <p:ph type="ftr" sz="quarter" idx="11"/>
          </p:nvPr>
        </p:nvSpPr>
        <p:spPr/>
        <p:txBody>
          <a:bodyPr/>
          <a:lstStyle/>
          <a:p>
            <a:r>
              <a:rPr lang="en-GB" dirty="0"/>
              <a:t>Rotor Hub and Pitch System / Optimus Syria</a:t>
            </a:r>
          </a:p>
        </p:txBody>
      </p:sp>
      <p:sp>
        <p:nvSpPr>
          <p:cNvPr id="5" name="Foliennummernplatzhalter 4">
            <a:extLst>
              <a:ext uri="{FF2B5EF4-FFF2-40B4-BE49-F238E27FC236}">
                <a16:creationId xmlns="" xmlns:a16="http://schemas.microsoft.com/office/drawing/2014/main" id="{162673D2-F682-F630-F59F-C4FFF6A906E1}"/>
              </a:ext>
            </a:extLst>
          </p:cNvPr>
          <p:cNvSpPr>
            <a:spLocks noGrp="1"/>
          </p:cNvSpPr>
          <p:nvPr>
            <p:ph type="sldNum" sz="quarter" idx="12"/>
          </p:nvPr>
        </p:nvSpPr>
        <p:spPr/>
        <p:txBody>
          <a:bodyPr/>
          <a:lstStyle/>
          <a:p>
            <a:fld id="{013F6232-4F06-48BA-8F69-BF531F607829}" type="slidenum">
              <a:rPr lang="en-GB" smtClean="0"/>
              <a:pPr/>
              <a:t>15</a:t>
            </a:fld>
            <a:endParaRPr lang="en-GB" dirty="0"/>
          </a:p>
        </p:txBody>
      </p:sp>
      <p:sp>
        <p:nvSpPr>
          <p:cNvPr id="9" name="Text Placeholder 8"/>
          <p:cNvSpPr>
            <a:spLocks noGrp="1"/>
          </p:cNvSpPr>
          <p:nvPr>
            <p:ph type="body" sz="quarter" idx="18"/>
          </p:nvPr>
        </p:nvSpPr>
        <p:spPr/>
        <p:txBody>
          <a:bodyPr>
            <a:normAutofit/>
          </a:bodyPr>
          <a:lstStyle/>
          <a:p>
            <a:r>
              <a:rPr lang="en-US" sz="1400" dirty="0">
                <a:latin typeface="Times New Roman" pitchFamily="18" charset="0"/>
                <a:cs typeface="Times New Roman" pitchFamily="18" charset="0"/>
              </a:rPr>
              <a:t> </a:t>
            </a:r>
          </a:p>
        </p:txBody>
      </p:sp>
    </p:spTree>
    <p:extLst>
      <p:ext uri="{BB962C8B-B14F-4D97-AF65-F5344CB8AC3E}">
        <p14:creationId xmlns="" xmlns:p14="http://schemas.microsoft.com/office/powerpoint/2010/main" val="761244998"/>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gn="l">
          <a:defRPr sz="1200" dirty="0" smtClean="0">
            <a:solidFill>
              <a:schemeClr val="bg1"/>
            </a:solidFill>
          </a:defRPr>
        </a:defPPr>
      </a:lstStyle>
    </a:txDef>
  </a:objectDefaults>
  <a:extraClrSchemeLst/>
  <a:extLst>
    <a:ext uri="{05A4C25C-085E-4340-85A3-A5531E510DB2}">
      <thm15:themeFamily xmlns="" xmlns:thm15="http://schemas.microsoft.com/office/thememl/2012/main" name="Präsentation3" id="{489382AE-0E20-4DDB-AC58-6881343BCB06}" vid="{12EB4CDA-A9DA-4F07-A373-8B888615A8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Benutzerdefiniertes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Präsentation3" id="{489382AE-0E20-4DDB-AC58-6881343BCB06}" vid="{BC3BCC29-301C-4D70-A384-97DBC337907C}"/>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 dockstate="right" visibility="0" width="438"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BCD039B6-C6AB-492A-94BF-C46AF895D2E7}">
  <we:reference id="WA200007130" version="1.0.0.1" store="en-US" storeType="omex"/>
  <we:alternateReferences>
    <we:reference id="WA200007130" version="1.0.0.1" store="en-US"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73D784B2-E216-4A14-BE4B-F0CA301E2B20}">
  <we:reference id="WA200005566" version="3.0.0.3" store="en-US" storeType="omex"/>
  <we:alternateReferences>
    <we:reference id="WA200005566" version="3.0.0.3" store="en-US"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Presentation template_final</Template>
  <TotalTime>923</TotalTime>
  <Words>885</Words>
  <Application>Microsoft Office PowerPoint</Application>
  <PresentationFormat>Custom</PresentationFormat>
  <Paragraphs>211</Paragraphs>
  <Slides>15</Slides>
  <Notes>3</Notes>
  <HiddenSlides>0</HiddenSlides>
  <MMClips>0</MMClips>
  <ScaleCrop>false</ScaleCrop>
  <HeadingPairs>
    <vt:vector size="4" baseType="variant">
      <vt:variant>
        <vt:lpstr>Theme</vt:lpstr>
      </vt:variant>
      <vt:variant>
        <vt:i4>3</vt:i4>
      </vt:variant>
      <vt:variant>
        <vt:lpstr>Slide Titles</vt:lpstr>
      </vt:variant>
      <vt:variant>
        <vt:i4>15</vt:i4>
      </vt:variant>
    </vt:vector>
  </HeadingPairs>
  <TitlesOfParts>
    <vt:vector size="18" baseType="lpstr">
      <vt:lpstr>Office</vt:lpstr>
      <vt:lpstr>Custom Design</vt:lpstr>
      <vt:lpstr>Benutzerdefiniertes Design</vt:lpstr>
      <vt:lpstr>Rotor Hub And Pitch System</vt:lpstr>
      <vt:lpstr>List of contents </vt:lpstr>
      <vt:lpstr>Slide 3</vt:lpstr>
      <vt:lpstr>Slide 4</vt:lpstr>
      <vt:lpstr>Slide 5</vt:lpstr>
      <vt:lpstr>Slide 6</vt:lpstr>
      <vt:lpstr>Slide 7</vt:lpstr>
      <vt:lpstr>                           Lubrication System</vt:lpstr>
      <vt:lpstr>Types of Automatic Lubrication systems</vt:lpstr>
      <vt:lpstr>Grease Volume Calculation</vt:lpstr>
      <vt:lpstr>Slide 11</vt:lpstr>
      <vt:lpstr>Annual Grease Requirement</vt:lpstr>
      <vt:lpstr>Grease Volume for Maintenance Interval</vt:lpstr>
      <vt:lpstr>CAD Model of Blade Bearing</vt:lpstr>
      <vt:lpstr>Bibliography</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Rotor Hub And Pitch System</dc:title>
  <dc:creator>harsh panchal</dc:creator>
  <cp:lastModifiedBy>Dhruvin</cp:lastModifiedBy>
  <cp:revision>52</cp:revision>
  <dcterms:created xsi:type="dcterms:W3CDTF">2025-10-02T13:56:12Z</dcterms:created>
  <dcterms:modified xsi:type="dcterms:W3CDTF">2025-11-16T21:28:31Z</dcterms:modified>
</cp:coreProperties>
</file>