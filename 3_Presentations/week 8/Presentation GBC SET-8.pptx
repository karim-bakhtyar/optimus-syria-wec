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1"/>
  </p:notesMasterIdLst>
  <p:sldIdLst>
    <p:sldId id="271" r:id="rId3"/>
    <p:sldId id="256" r:id="rId4"/>
    <p:sldId id="259" r:id="rId5"/>
    <p:sldId id="286" r:id="rId6"/>
    <p:sldId id="310" r:id="rId7"/>
    <p:sldId id="319" r:id="rId8"/>
    <p:sldId id="314" r:id="rId9"/>
    <p:sldId id="316" r:id="rId10"/>
    <p:sldId id="323" r:id="rId11"/>
    <p:sldId id="324" r:id="rId12"/>
    <p:sldId id="326" r:id="rId13"/>
    <p:sldId id="328" r:id="rId14"/>
    <p:sldId id="327" r:id="rId15"/>
    <p:sldId id="308" r:id="rId16"/>
    <p:sldId id="320" r:id="rId17"/>
    <p:sldId id="321" r:id="rId18"/>
    <p:sldId id="322" r:id="rId19"/>
    <p:sldId id="27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56"/>
          </p14:sldIdLst>
        </p14:section>
        <p14:section name="List of Content" id="{531AC0BB-816B-410D-BA56-36D5099BF673}">
          <p14:sldIdLst>
            <p14:sldId id="259"/>
          </p14:sldIdLst>
        </p14:section>
        <p14:section name="Main slides" id="{BD6EF26E-A09A-41FB-8480-E6BC53006862}">
          <p14:sldIdLst>
            <p14:sldId id="286"/>
            <p14:sldId id="310"/>
            <p14:sldId id="319"/>
            <p14:sldId id="314"/>
            <p14:sldId id="316"/>
            <p14:sldId id="323"/>
            <p14:sldId id="324"/>
            <p14:sldId id="326"/>
            <p14:sldId id="328"/>
            <p14:sldId id="327"/>
            <p14:sldId id="308"/>
            <p14:sldId id="320"/>
            <p14:sldId id="321"/>
            <p14:sldId id="322"/>
          </p14:sldIdLst>
        </p14:section>
        <p14:section name="Bibliography" id="{4B1BE071-296A-4A26-8CA8-772A89E6818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1DFFD"/>
    <a:srgbClr val="EBED77"/>
    <a:srgbClr val="C0F5FF"/>
    <a:srgbClr val="8ECEFA"/>
    <a:srgbClr val="92C6E6"/>
    <a:srgbClr val="80D2F7"/>
    <a:srgbClr val="7ED1F7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DA61C-1163-5E4F-2459-D994CEB8208F}" v="1005" dt="2025-11-17T06:20:11.153"/>
    <p1510:client id="{96E9C055-BB66-3FC5-3B3B-76875EE7C051}" v="26" dt="2025-11-17T09:39:14.067"/>
    <p1510:client id="{B915F212-C627-D9DC-E8A0-F4A14D111873}" v="171" dt="2025-11-16T10:34:07.847"/>
    <p1510:client id="{E771003E-458A-A326-7848-F5FA618E8808}" v="172" dt="2025-11-17T10:02:30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5/10/relationships/revisionInfo" Target="revisionInfo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17/11/2025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0036-D7DD-42C8-B5AA-1A1F3B29326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F872-E966-4E82-A983-56302FF6F23D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8C58-2FD7-4CE4-B4DC-DEF691109F84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AF5F-6746-45B9-A9FE-BBDE38F21A62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A9E8-7F5B-48DD-918E-3D5CE3382CA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5290-9E56-44C7-B8BB-35B380DF0EF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F0FC-57EE-4F63-A5B2-1419F641B3FB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4EF9-9D62-4E5B-A559-3AD64F589666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FDC8-E43A-43A1-931C-3C6B81D788B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233B-7A79-4043-88EA-ECED45D3F6EF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5656-A676-4972-ADDE-468CB1EDD68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5BE2-6702-4930-A56D-B5476ACA0DF0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475-D91E-4E33-BF8F-90378BE577F9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1E26-A48B-4DE6-94E7-B322713FCCC0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A3D-964C-4047-935E-BF23384B028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5ED4-4AEA-4BEE-9543-97F42F3A9DF7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2E45-CF5C-48EE-9BF1-31EB6A888072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E8120-3341-455E-87F6-3553B5B3458C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9507-0DDD-4F0A-9398-E897CDBED1CB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C440-4EA5-4D0A-B191-1DC4B1D8ACAD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45C8B-BD3D-4C3C-97C3-5C69D979E78D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1AAB-076A-4A0E-8268-D589047ED16D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6C39C-11C9-4478-AACD-4B99CE86271F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C1E37-113B-4587-99CC-1F6CD3314CBE}" type="datetime1">
              <a:rPr lang="en-GB" smtClean="0"/>
              <a:pPr/>
              <a:t>17/11/2025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/>
              </a:rPr>
              <a:t>Date: 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/>
              </a:rPr>
              <a:t>18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045" y="1748938"/>
            <a:ext cx="9144000" cy="912598"/>
          </a:xfrm>
        </p:spPr>
        <p:txBody>
          <a:bodyPr>
            <a:noAutofit/>
          </a:bodyPr>
          <a:lstStyle/>
          <a:p>
            <a:r>
              <a:rPr lang="it-IT" sz="3600" dirty="0">
                <a:latin typeface="Times New Roman"/>
                <a:cs typeface="Times New Roman"/>
              </a:rPr>
              <a:t>Weekly report: Team </a:t>
            </a:r>
            <a:r>
              <a:rPr lang="it-IT" sz="3600" dirty="0" err="1">
                <a:latin typeface="Times New Roman"/>
                <a:cs typeface="Times New Roman"/>
              </a:rPr>
              <a:t>Gearbox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Brake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Coupling</a:t>
            </a:r>
            <a:r>
              <a:rPr lang="it-IT" sz="3600" dirty="0">
                <a:latin typeface="Times New Roman"/>
                <a:cs typeface="Times New Roman"/>
              </a:rPr>
              <a:t> </a:t>
            </a:r>
            <a:endParaRPr lang="en-GB" sz="3600" dirty="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6656" y="2650278"/>
            <a:ext cx="589905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>
                <a:latin typeface="Times New Roman"/>
                <a:cs typeface="Times New Roman"/>
              </a:rPr>
              <a:t>Week </a:t>
            </a:r>
            <a:r>
              <a:rPr lang="it-IT" sz="2000" dirty="0" err="1">
                <a:latin typeface="Times New Roman"/>
                <a:cs typeface="Times New Roman"/>
              </a:rPr>
              <a:t>number</a:t>
            </a:r>
            <a:r>
              <a:rPr lang="it-IT" sz="2000" dirty="0">
                <a:latin typeface="Times New Roman"/>
                <a:cs typeface="Times New Roman"/>
              </a:rPr>
              <a:t> : 08</a:t>
            </a:r>
          </a:p>
          <a:p>
            <a:r>
              <a:rPr lang="it-IT" sz="2000" dirty="0">
                <a:latin typeface="Times New Roman"/>
                <a:cs typeface="Times New Roman"/>
              </a:rPr>
              <a:t>Date: 18/11/2025</a:t>
            </a:r>
          </a:p>
          <a:p>
            <a:r>
              <a:rPr lang="it-IT" sz="2000" dirty="0">
                <a:latin typeface="Times New Roman"/>
                <a:cs typeface="Times New Roman"/>
              </a:rPr>
              <a:t>Supervisor: Prof. Peter </a:t>
            </a:r>
            <a:r>
              <a:rPr lang="it-IT" sz="2000" err="1">
                <a:latin typeface="Times New Roman"/>
                <a:cs typeface="Times New Roman"/>
              </a:rPr>
              <a:t>Quell</a:t>
            </a:r>
            <a:endParaRPr lang="en-GB" sz="2000" err="1">
              <a:latin typeface="Times New Roman"/>
              <a:cs typeface="Times New Roman"/>
            </a:endParaRPr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-299280" y="5942449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sz="11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4845" y="6542724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59" y="3992437"/>
            <a:ext cx="84957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Group Members :</a:t>
            </a:r>
            <a:r>
              <a:rPr lang="en-US" dirty="0" err="1">
                <a:latin typeface="Times New Roman"/>
                <a:cs typeface="Times New Roman"/>
              </a:rPr>
              <a:t>Nehang</a:t>
            </a:r>
            <a:r>
              <a:rPr lang="en-US" dirty="0">
                <a:latin typeface="Times New Roman"/>
                <a:cs typeface="Times New Roman"/>
              </a:rPr>
              <a:t> Jitendra </a:t>
            </a:r>
            <a:r>
              <a:rPr lang="en-US" dirty="0" err="1">
                <a:latin typeface="Times New Roman"/>
                <a:cs typeface="Times New Roman"/>
              </a:rPr>
              <a:t>Joshi,Santo</a:t>
            </a:r>
            <a:r>
              <a:rPr lang="en-US" dirty="0">
                <a:latin typeface="Times New Roman"/>
                <a:cs typeface="Times New Roman"/>
              </a:rPr>
              <a:t> Mazumder,</a:t>
            </a:r>
            <a:r>
              <a:rPr lang="fi-FI" dirty="0">
                <a:latin typeface="Times New Roman"/>
                <a:cs typeface="Times New Roman"/>
              </a:rPr>
              <a:t>Md </a:t>
            </a:r>
            <a:r>
              <a:rPr lang="fi-FI" dirty="0" err="1">
                <a:latin typeface="Times New Roman"/>
                <a:cs typeface="Times New Roman"/>
              </a:rPr>
              <a:t>Razaul</a:t>
            </a:r>
            <a:r>
              <a:rPr lang="fi-FI" dirty="0">
                <a:latin typeface="Times New Roman"/>
                <a:cs typeface="Times New Roman"/>
              </a:rPr>
              <a:t> Karim Rahat </a:t>
            </a:r>
            <a:endParaRPr lang="en-US"/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</a:t>
            </a:r>
            <a:endParaRPr lang="fi-FI" dirty="0" err="1">
              <a:latin typeface="Aptos"/>
              <a:cs typeface="Times New Roman"/>
            </a:endParaRPr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          </a:t>
            </a:r>
            <a:r>
              <a:rPr lang="en-GB" dirty="0">
                <a:latin typeface="Times New Roman"/>
                <a:ea typeface="+mn-lt"/>
                <a:cs typeface="+mn-lt"/>
              </a:rPr>
              <a:t>Presented by</a:t>
            </a:r>
            <a:r>
              <a:rPr lang="fi-FI" dirty="0">
                <a:latin typeface="Times New Roman"/>
                <a:cs typeface="Times New Roman"/>
              </a:rPr>
              <a:t> -</a:t>
            </a:r>
            <a:r>
              <a:rPr lang="fi-FI" dirty="0" err="1">
                <a:latin typeface="Times New Roman"/>
                <a:cs typeface="Times New Roman"/>
              </a:rPr>
              <a:t>Nehang</a:t>
            </a:r>
            <a:r>
              <a:rPr lang="fi-FI" dirty="0">
                <a:latin typeface="Times New Roman"/>
                <a:cs typeface="Times New Roman"/>
              </a:rPr>
              <a:t> </a:t>
            </a:r>
            <a:r>
              <a:rPr lang="fi-FI" dirty="0" err="1">
                <a:latin typeface="Times New Roman"/>
                <a:cs typeface="Times New Roman"/>
              </a:rPr>
              <a:t>Jitendra</a:t>
            </a:r>
            <a:r>
              <a:rPr lang="fi-FI" dirty="0">
                <a:latin typeface="Times New Roman"/>
                <a:cs typeface="Times New Roman"/>
              </a:rPr>
              <a:t> </a:t>
            </a:r>
            <a:r>
              <a:rPr lang="fi-FI" dirty="0" err="1">
                <a:latin typeface="Times New Roman"/>
                <a:cs typeface="Times New Roman"/>
              </a:rPr>
              <a:t>Joshi</a:t>
            </a:r>
          </a:p>
          <a:p>
            <a:pPr marL="342900" indent="-342900">
              <a:buFont typeface="+mj-lt"/>
              <a:buAutoNum type="arabicPeriod"/>
            </a:pPr>
            <a:endParaRPr lang="fi-FI">
              <a:latin typeface="Times New Roman"/>
              <a:cs typeface="Times New Roman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30319656-CF5E-28CD-1CFD-A3C3C62A9F2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583" y="445344"/>
            <a:ext cx="4340796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List of Content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7249" y="1176770"/>
            <a:ext cx="4908022" cy="1107482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de-DE" dirty="0">
                <a:latin typeface="Times New Roman"/>
                <a:cs typeface="Times New Roman"/>
              </a:rPr>
              <a:t>1.Calculation </a:t>
            </a:r>
            <a:r>
              <a:rPr lang="de-DE" dirty="0" err="1">
                <a:latin typeface="Times New Roman"/>
                <a:cs typeface="Times New Roman"/>
              </a:rPr>
              <a:t>of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the</a:t>
            </a:r>
            <a:r>
              <a:rPr lang="de-DE" dirty="0">
                <a:latin typeface="Times New Roman"/>
                <a:cs typeface="Times New Roman"/>
              </a:rPr>
              <a:t> 1st </a:t>
            </a:r>
            <a:r>
              <a:rPr lang="de-DE" dirty="0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of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planetary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gear</a:t>
            </a:r>
            <a:r>
              <a:rPr lang="de-DE" dirty="0">
                <a:latin typeface="Times New Roman"/>
                <a:cs typeface="Times New Roman"/>
              </a:rPr>
              <a:t> and 2nd </a:t>
            </a:r>
            <a:r>
              <a:rPr lang="de-DE" dirty="0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 also Spur </a:t>
            </a:r>
            <a:r>
              <a:rPr lang="de-DE" dirty="0" err="1">
                <a:latin typeface="Times New Roman"/>
                <a:cs typeface="Times New Roman"/>
              </a:rPr>
              <a:t>gear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dirty="0" err="1">
                <a:latin typeface="Times New Roman"/>
                <a:cs typeface="Times New Roman"/>
              </a:rPr>
              <a:t>calculation</a:t>
            </a:r>
            <a:r>
              <a:rPr lang="de-DE" dirty="0">
                <a:latin typeface="Times New Roman"/>
                <a:cs typeface="Times New Roman"/>
              </a:rPr>
              <a:t> </a:t>
            </a:r>
            <a:r>
              <a:rPr lang="de-DE" dirty="0" err="1">
                <a:latin typeface="Times New Roman"/>
                <a:cs typeface="Times New Roman"/>
              </a:rPr>
              <a:t>updated</a:t>
            </a: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2.Steps of Pin for Elastomeric Bearing</a:t>
            </a:r>
            <a:endParaRPr lang="en-GB" sz="2400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3.Hss coupling calculation</a:t>
            </a:r>
            <a:endParaRPr lang="en-GB" dirty="0"/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Aptos"/>
              <a:cs typeface="Times New Roman"/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63B77199-F2F5-F9F9-06EC-BD0AB57A03F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023AAA1-8831-C3DD-47D8-1F8FC9C754D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FFC50-4C89-84CB-5779-0D186AF1D280}"/>
              </a:ext>
            </a:extLst>
          </p:cNvPr>
          <p:cNvCxnSpPr/>
          <p:nvPr/>
        </p:nvCxnSpPr>
        <p:spPr>
          <a:xfrm>
            <a:off x="636818" y="13242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B298-2227-C934-41C1-5F11AA14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0EC2E18-1B20-D0F3-723E-B5B4175CF414}"/>
              </a:ext>
            </a:extLst>
          </p:cNvPr>
          <p:cNvSpPr/>
          <p:nvPr/>
        </p:nvSpPr>
        <p:spPr>
          <a:xfrm rot="10800000">
            <a:off x="-20791" y="407341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94322735-02B7-7E2B-72A2-A32DD6D30A9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EAEFAC5-C70D-D3AA-2E24-E385A7B1902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CBB6A10-2B01-A654-2C92-00A665DA2BF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4473B2-1CF6-31B7-EFE3-3E86AFD3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142635-10E6-AA78-A80A-017ACFB03E0F}"/>
              </a:ext>
            </a:extLst>
          </p:cNvPr>
          <p:cNvCxnSpPr/>
          <p:nvPr/>
        </p:nvCxnSpPr>
        <p:spPr>
          <a:xfrm>
            <a:off x="484418" y="138753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A20818F3-2E31-BD59-DCB5-5E70D634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71" y="64698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ea typeface="Calibri Light"/>
                <a:cs typeface="Calibri Light"/>
              </a:rPr>
              <a:t>Formulas for Planetary gear</a:t>
            </a:r>
            <a:endParaRPr lang="en-GB" sz="2800">
              <a:latin typeface="Times New Roman"/>
              <a:ea typeface="Calibri Light"/>
              <a:cs typeface="Calibri Light"/>
            </a:endParaRP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6283D84C-5BBC-D3E3-28A8-FD6CA0FD495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64E3051-FB31-BD60-0BE3-C1B08A95D50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D16BC43-31DF-4D7C-B0CD-0111499A0AD3}"/>
              </a:ext>
            </a:extLst>
          </p:cNvPr>
          <p:cNvSpPr txBox="1"/>
          <p:nvPr/>
        </p:nvSpPr>
        <p:spPr>
          <a:xfrm>
            <a:off x="7210251" y="5411476"/>
            <a:ext cx="307617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z  = No. of Teeth</a:t>
            </a:r>
            <a:endParaRPr lang="en-IN" sz="16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r>
              <a:rPr lang="en-IN" sz="1600" dirty="0"/>
              <a:t>n = RPM</a:t>
            </a:r>
            <a:endParaRPr lang="en-IN" sz="1600" b="1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 = Pitch Circle Diameter</a:t>
            </a:r>
          </a:p>
          <a:p>
            <a:r>
              <a:rPr lang="en-IN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= Gear Ratio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9B63C686-E132-4051-AF77-AE752F248D97}"/>
              </a:ext>
            </a:extLst>
          </p:cNvPr>
          <p:cNvSpPr txBox="1"/>
          <p:nvPr/>
        </p:nvSpPr>
        <p:spPr>
          <a:xfrm>
            <a:off x="345241" y="5949098"/>
            <a:ext cx="68517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>
                <a:latin typeface="Times New Roman"/>
                <a:cs typeface="Times New Roman"/>
              </a:rPr>
              <a:t>Reference: Lecture Notes by Prof. Peter Quell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E3E61B-05F3-B606-8690-A13190125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53665"/>
              </p:ext>
            </p:extLst>
          </p:nvPr>
        </p:nvGraphicFramePr>
        <p:xfrm>
          <a:off x="790575" y="1713871"/>
          <a:ext cx="4514850" cy="3228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1926600920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4452518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+( 2 x </a:t>
                      </a:r>
                      <a:r>
                        <a:rPr lang="pl-P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z_Planet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</a:t>
                      </a:r>
                      <a:endParaRPr lang="pl-PL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0707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-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/ 2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8210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No. of Planets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 and 4</a:t>
                      </a:r>
                      <a:endParaRPr lang="en-US" dirty="0"/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277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2530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/2) – 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/2)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7281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695739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Gap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+ 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 * Pi / (No. of Planets) - 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8154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94D3348-8AE7-245F-A73B-E302A5F24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58797"/>
              </p:ext>
            </p:extLst>
          </p:nvPr>
        </p:nvGraphicFramePr>
        <p:xfrm>
          <a:off x="5947733" y="1622934"/>
          <a:ext cx="4667250" cy="33232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3625">
                  <a:extLst>
                    <a:ext uri="{9D8B030D-6E8A-4147-A177-3AD203B41FA5}">
                      <a16:colId xmlns:a16="http://schemas.microsoft.com/office/drawing/2014/main" val="49009956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1234642766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Face Width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10 x Module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59131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Tooth Depth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2.25 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61062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n_Ring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0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797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Carrier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10.12 rpm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275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(1-i_1) x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Carrier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274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i_Sun,Planet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z_Planet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/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z_Sun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119220"/>
                  </a:ext>
                </a:extLst>
              </a:tr>
              <a:tr h="52294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/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i_Sun,Planet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9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70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A489-E730-C38B-1673-A74574B2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F71F6DB6-CFD1-8513-D431-0890CA55CB3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9612B36-4A90-BE26-5C1F-B2C6A1B03A4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6ACEABC4-8528-759B-1231-BF783ACBB72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7ECF46C-DA95-B304-2358-C89C7AD26F5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D6E70D-A51C-D75A-EE3A-2F064F1E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AE188D-B3A8-D475-DFF0-3500985A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Calculation</a:t>
            </a:r>
            <a:r>
              <a:rPr lang="de-DE" sz="2400" b="1" dirty="0">
                <a:latin typeface="Times New Roman"/>
                <a:cs typeface="Times New Roman"/>
              </a:rPr>
              <a:t> </a:t>
            </a:r>
            <a:r>
              <a:rPr lang="de-DE" sz="2400" b="1" err="1">
                <a:latin typeface="Times New Roman"/>
                <a:cs typeface="Times New Roman"/>
              </a:rPr>
              <a:t>for</a:t>
            </a:r>
            <a:r>
              <a:rPr lang="de-DE" sz="2400" b="1" dirty="0">
                <a:latin typeface="Times New Roman"/>
                <a:cs typeface="Times New Roman"/>
              </a:rPr>
              <a:t> 1st </a:t>
            </a:r>
            <a:r>
              <a:rPr lang="de-DE" sz="2400" b="1" err="1">
                <a:latin typeface="Times New Roman"/>
                <a:cs typeface="Times New Roman"/>
              </a:rPr>
              <a:t>stage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of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planetary</a:t>
            </a:r>
            <a:endParaRPr lang="de-DE" sz="2400" b="1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CC0A95-C0FF-7350-9F98-241EF26C1C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04C6A064-AAB6-1B86-6380-0404D595604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7F5CEDF-26A8-6565-6DD1-B130B944A3A1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4EAD-ED1E-0B7D-1896-D580C88325CD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E948E1-C67E-8C53-A47C-64D54D645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638799"/>
              </p:ext>
            </p:extLst>
          </p:nvPr>
        </p:nvGraphicFramePr>
        <p:xfrm>
          <a:off x="330679" y="2329132"/>
          <a:ext cx="4806868" cy="404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4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4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z_Sun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z_Ring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126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z_Planet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No. of 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(z_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S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un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 + 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R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ing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)/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o.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of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Tooth Depth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D_Sun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(mm)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3D7350-851D-A0E6-75B2-3F7FDAAA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0204385"/>
              </p:ext>
            </p:extLst>
          </p:nvPr>
        </p:nvGraphicFramePr>
        <p:xfrm>
          <a:off x="372661" y="1383734"/>
          <a:ext cx="4732160" cy="87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703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I-1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5.2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sp>
        <p:nvSpPr>
          <p:cNvPr id="15" name="TextBox 12">
            <a:extLst>
              <a:ext uri="{FF2B5EF4-FFF2-40B4-BE49-F238E27FC236}">
                <a16:creationId xmlns:a16="http://schemas.microsoft.com/office/drawing/2014/main" id="{891681F1-19DD-4D38-8668-56539A2E55A4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A84101F-95A9-40D8-1B7D-1A02FF66C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3178305"/>
              </p:ext>
            </p:extLst>
          </p:nvPr>
        </p:nvGraphicFramePr>
        <p:xfrm>
          <a:off x="6626811" y="1383733"/>
          <a:ext cx="4732160" cy="8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66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D_Planets</a:t>
                      </a:r>
                      <a:r>
                        <a:rPr lang="en-IN" sz="18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736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F99B5B3-B7FA-0B89-0BD4-759AE5E48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459387"/>
              </p:ext>
            </p:extLst>
          </p:nvPr>
        </p:nvGraphicFramePr>
        <p:xfrm>
          <a:off x="6613584" y="2329132"/>
          <a:ext cx="4808962" cy="395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529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3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D_Ring</a:t>
                      </a:r>
                      <a:r>
                        <a:rPr lang="en-US" sz="16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2016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Gap (mm)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573.44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Face Width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n_Ring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Carrier 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10.12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42.50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i_Sun,Planet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1.35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31.48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81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F25-F77B-6BE4-BBE4-F471C13D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BF528FB-1E91-97F5-8CF5-E26431E1ACC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8AE5CC3-0F85-D3E9-E1A0-9A5F5CF54BE6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E62060B-DF47-56AD-D623-6508A96FB21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076DCD-8FBC-C35B-7DD6-9AE68BDEF42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96C440-D4A2-CE7F-B105-72233925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B954A8-4E91-ABFC-2D56-D555AAE7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cs typeface="Times New Roman"/>
              </a:rPr>
              <a:t>Calculation for 2nd stage of planetary</a:t>
            </a:r>
            <a:endParaRPr lang="en-US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BD80ED-6864-6039-11CC-9981DB4F4DFC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CE2403C-DBC4-E8DB-4C71-CE46CA0B69D9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176BADCD-9740-D145-4CDF-D00B39A5BDE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148E-FD5A-6534-8DB3-479A92C12DB6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15E3C2-BD61-7B53-EB3D-0227DB63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8556535"/>
              </p:ext>
            </p:extLst>
          </p:nvPr>
        </p:nvGraphicFramePr>
        <p:xfrm>
          <a:off x="330679" y="2329132"/>
          <a:ext cx="4806868" cy="404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4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4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z_Sun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z_Ring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z_Planet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No. of 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(z_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S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un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 + z_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R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ing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)/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N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o.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of</a:t>
                      </a:r>
                      <a:r>
                        <a:rPr lang="pl-PL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</a:t>
                      </a:r>
                      <a:r>
                        <a:rPr lang="pl-PL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Planets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Tooth Depth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rgbClr val="002060"/>
                          </a:solidFill>
                          <a:latin typeface="Times New Roman"/>
                        </a:rPr>
                        <a:t>D_Sun</a:t>
                      </a:r>
                      <a:r>
                        <a:rPr lang="en-IN" sz="1600" b="1" i="0" u="none" strike="noStrike" noProof="0" dirty="0">
                          <a:solidFill>
                            <a:srgbClr val="002060"/>
                          </a:solidFill>
                          <a:latin typeface="Times New Roman"/>
                        </a:rPr>
                        <a:t> (mm)</a:t>
                      </a:r>
                      <a:endParaRPr lang="en-US" sz="1600" b="1" dirty="0"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5F7F7E-C687-F15F-0A93-4C21F5B1E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038659"/>
              </p:ext>
            </p:extLst>
          </p:nvPr>
        </p:nvGraphicFramePr>
        <p:xfrm>
          <a:off x="372661" y="1383734"/>
          <a:ext cx="4732160" cy="87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703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I-2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4.7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sp>
        <p:nvSpPr>
          <p:cNvPr id="15" name="TextBox 12">
            <a:extLst>
              <a:ext uri="{FF2B5EF4-FFF2-40B4-BE49-F238E27FC236}">
                <a16:creationId xmlns:a16="http://schemas.microsoft.com/office/drawing/2014/main" id="{4ED521A0-47A7-195B-6CD1-B58FA65546BD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D17AF2-2B1E-C01F-581E-9C5C58631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543630"/>
              </p:ext>
            </p:extLst>
          </p:nvPr>
        </p:nvGraphicFramePr>
        <p:xfrm>
          <a:off x="6626811" y="1383733"/>
          <a:ext cx="4732160" cy="8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66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D_Planets</a:t>
                      </a:r>
                      <a:r>
                        <a:rPr lang="en-IN" sz="18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0A3F2C6-0521-CC1B-F9DC-A8779AB5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2477025"/>
              </p:ext>
            </p:extLst>
          </p:nvPr>
        </p:nvGraphicFramePr>
        <p:xfrm>
          <a:off x="6627961" y="2329131"/>
          <a:ext cx="4806866" cy="395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3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3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D_Ring</a:t>
                      </a:r>
                      <a:r>
                        <a:rPr lang="en-US" sz="16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900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Gap (mm)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137.25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Face Width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n_Ring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Carrier 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78.4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516.56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i_Sun,Planet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0.75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688.74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6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592B-A808-5CC6-4995-DA59509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D205F7-2858-6C1E-0F02-89F20B14793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44807DC-5362-A6CD-6869-FC4B2825281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0250385-F411-15FC-8B98-031BA8FB938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D32871-C2B4-ED41-E285-40157A8030C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D6636F-FC26-E004-D2E1-27C6D0D9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F38159-DC58-43DB-89D4-69FE0558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 dirty="0">
                <a:latin typeface="Times New Roman"/>
                <a:cs typeface="Times New Roman"/>
              </a:rPr>
              <a:t>Spur </a:t>
            </a:r>
            <a:r>
              <a:rPr lang="de-DE" sz="2400" b="1" err="1">
                <a:latin typeface="Times New Roman"/>
                <a:cs typeface="Times New Roman"/>
              </a:rPr>
              <a:t>gear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stage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 err="1">
                <a:latin typeface="Times New Roman"/>
                <a:cs typeface="Times New Roman"/>
              </a:rPr>
              <a:t>calculation</a:t>
            </a:r>
            <a:endParaRPr lang="de-DE" sz="2400" b="1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91226D-1F36-549D-02B8-3BCC092D004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404C9AE-873A-0667-40CB-CEBF4D05407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0E75D59-A11A-CDCE-624E-424D2DFCB833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555A-5C64-8E1B-0573-E42F1B58B99A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3B2557-A714-E5E2-2822-CC43269E4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6448824"/>
              </p:ext>
            </p:extLst>
          </p:nvPr>
        </p:nvGraphicFramePr>
        <p:xfrm>
          <a:off x="359433" y="1394603"/>
          <a:ext cx="4911454" cy="490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27">
                  <a:extLst>
                    <a:ext uri="{9D8B030D-6E8A-4147-A177-3AD203B41FA5}">
                      <a16:colId xmlns:a16="http://schemas.microsoft.com/office/drawing/2014/main" val="3901863023"/>
                    </a:ext>
                  </a:extLst>
                </a:gridCol>
                <a:gridCol w="2455727">
                  <a:extLst>
                    <a:ext uri="{9D8B030D-6E8A-4147-A177-3AD203B41FA5}">
                      <a16:colId xmlns:a16="http://schemas.microsoft.com/office/drawing/2014/main" val="1225176775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I-3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4.8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012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871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Center </a:t>
                      </a:r>
                      <a:r>
                        <a:rPr lang="en-US" b="1">
                          <a:latin typeface="Times New Roman"/>
                        </a:rPr>
                        <a:t>distance</a:t>
                      </a:r>
                      <a:r>
                        <a:rPr lang="en-US" b="1" dirty="0">
                          <a:latin typeface="Times New Roman"/>
                        </a:rPr>
                        <a:t>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585.8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11519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No of teeth on 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67561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No.teeth</a:t>
                      </a:r>
                      <a:r>
                        <a:rPr lang="en-US" b="1" dirty="0">
                          <a:latin typeface="Times New Roman"/>
                        </a:rPr>
                        <a:t> on 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01364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Width of the gear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0478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Hight factor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122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Tooth depth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20.25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764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36558E-F1A6-DD50-4616-303201B9D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2888153"/>
              </p:ext>
            </p:extLst>
          </p:nvPr>
        </p:nvGraphicFramePr>
        <p:xfrm>
          <a:off x="6642338" y="1365847"/>
          <a:ext cx="4911454" cy="4933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27">
                  <a:extLst>
                    <a:ext uri="{9D8B030D-6E8A-4147-A177-3AD203B41FA5}">
                      <a16:colId xmlns:a16="http://schemas.microsoft.com/office/drawing/2014/main" val="3901863023"/>
                    </a:ext>
                  </a:extLst>
                </a:gridCol>
                <a:gridCol w="2455727">
                  <a:extLst>
                    <a:ext uri="{9D8B030D-6E8A-4147-A177-3AD203B41FA5}">
                      <a16:colId xmlns:a16="http://schemas.microsoft.com/office/drawing/2014/main" val="1225176775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Bottom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012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Dia of input shaft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871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Dia of output shaft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11519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PCD of 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67561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PCD of 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01364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Face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0478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Input shaft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516.56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122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Output shaft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764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B938CCB-4B15-8C0F-59CC-6B8BB9B2EF39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</p:spTree>
    <p:extLst>
      <p:ext uri="{BB962C8B-B14F-4D97-AF65-F5344CB8AC3E}">
        <p14:creationId xmlns:p14="http://schemas.microsoft.com/office/powerpoint/2010/main" val="166003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A9B61-C222-9F58-972D-31B07672B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073834B-E243-29BB-1A7F-31A5D50EF9BF}"/>
              </a:ext>
            </a:extLst>
          </p:cNvPr>
          <p:cNvSpPr/>
          <p:nvPr/>
        </p:nvSpPr>
        <p:spPr>
          <a:xfrm rot="10800000">
            <a:off x="-26376" y="277946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96EA3D85-978D-834B-5F29-7670EBE7EB3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B6517F8-F090-C580-9578-180534EE9AC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58366BD-2546-4EEF-527C-6F59774B2B1E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DD0C0F6-BEEC-9292-4626-BC2B8982D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 b="1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2C10B54-4C09-0B61-ECB5-FE6AD5D36806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0E26D9AD-47EF-3893-7813-A2BADF763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074" y="0"/>
            <a:ext cx="10515600" cy="1325563"/>
          </a:xfrm>
        </p:spPr>
        <p:txBody>
          <a:bodyPr/>
          <a:lstStyle/>
          <a:p>
            <a:pPr algn="ctr"/>
            <a:br>
              <a:rPr lang="en-US" sz="2900" dirty="0">
                <a:latin typeface="Times New Roman"/>
                <a:cs typeface="Times New Roman"/>
              </a:rPr>
            </a:br>
            <a:endParaRPr lang="en-US" sz="2900">
              <a:latin typeface="Times New Roman"/>
              <a:cs typeface="Times New Roman"/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7ECDEDF5-D50D-9381-054B-2D793327057E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80490718-7479-6054-2C6C-11AEC183D20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4" name="Title 11">
            <a:extLst>
              <a:ext uri="{FF2B5EF4-FFF2-40B4-BE49-F238E27FC236}">
                <a16:creationId xmlns:a16="http://schemas.microsoft.com/office/drawing/2014/main" id="{70795BA6-2EB1-3075-8DDA-AF8439C9318E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2800">
                <a:latin typeface="Times New Roman"/>
                <a:ea typeface="Calibri Light"/>
                <a:cs typeface="Calibri Light"/>
              </a:rPr>
              <a:t>Overview gearbox data</a:t>
            </a:r>
            <a:endParaRPr lang="en-IN" sz="2800" dirty="0">
              <a:latin typeface="Times New Roman"/>
              <a:ea typeface="Calibri Light"/>
              <a:cs typeface="Calibri Light"/>
            </a:endParaRP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2" name="Picture 1" descr="A screenshot of a table&#10;&#10;AI-generated content may be incorrect.">
            <a:extLst>
              <a:ext uri="{FF2B5EF4-FFF2-40B4-BE49-F238E27FC236}">
                <a16:creationId xmlns:a16="http://schemas.microsoft.com/office/drawing/2014/main" id="{4865BF6D-7DF6-9210-EC6E-32E920759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557" y="1238881"/>
            <a:ext cx="5104322" cy="261182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1A2F0C-DD14-0F53-DD95-29BBBBC802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784" y="1238969"/>
            <a:ext cx="5103603" cy="2611648"/>
          </a:xfrm>
          <a:prstGeom prst="rect">
            <a:avLst/>
          </a:prstGeom>
        </p:spPr>
      </p:pic>
      <p:pic>
        <p:nvPicPr>
          <p:cNvPr id="14" name="Picture 1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AA793E4D-B904-DD29-3105-0900B73830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345" y="3960782"/>
            <a:ext cx="5104142" cy="2602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311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D028-A776-AF3C-E34F-DBFFD3CE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659E667-F0F3-376D-0E9E-3AD3820B01D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3363396-B6CD-659F-83DA-A24A1313853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4F383F2-A50D-E9B7-84E6-704A417275FB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D7111A7-B45C-A4C5-A5BC-92459C6CB52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CAA432-45A2-AD42-876C-40CA6C4A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C91C8A-0008-CA26-7E85-AD6958B5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230025-7CDB-9B19-605E-EEBF96728A42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EF1D309-A68A-DD6A-AA16-4321774111F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1620671-1BFA-E5EA-BB26-FE501F19E58F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B2B6A9-AD46-0E37-5F3F-418218836CC2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3FD9FD29-019B-530E-9736-19D6DCD9C6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18" r="-197" b="-3675"/>
          <a:stretch>
            <a:fillRect/>
          </a:stretch>
        </p:blipFill>
        <p:spPr>
          <a:xfrm>
            <a:off x="478317" y="1385709"/>
            <a:ext cx="8259268" cy="2553558"/>
          </a:xfrm>
          <a:prstGeom prst="rect">
            <a:avLst/>
          </a:prstGeom>
        </p:spPr>
      </p:pic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065E24D-9358-BE8E-7805-09F37A9F5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55" y="3939217"/>
            <a:ext cx="8874604" cy="2631416"/>
          </a:xfrm>
          <a:prstGeom prst="rect">
            <a:avLst/>
          </a:prstGeom>
        </p:spPr>
      </p:pic>
      <p:sp>
        <p:nvSpPr>
          <p:cNvPr id="13" name="Title 11">
            <a:extLst>
              <a:ext uri="{FF2B5EF4-FFF2-40B4-BE49-F238E27FC236}">
                <a16:creationId xmlns:a16="http://schemas.microsoft.com/office/drawing/2014/main" id="{568A0AE2-9514-D633-9232-8FBB47B05B69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Steps of Pin for Elastomeric Bearing</a:t>
            </a:r>
            <a:endParaRPr lang="en-US" sz="2800" dirty="0">
              <a:latin typeface="Times New Roman"/>
            </a:endParaRP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70015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A2780-A2D9-37D7-6DEE-3079D982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BE543CB-D9F6-160A-F97A-58021E5DD7D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7C42C563-9D6D-557C-FD83-20D16988662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2A634BC-CC66-F53D-1109-065E0FA16A9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1B6108AB-6969-BDEE-3D8B-56FA5924A21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C588CE6-BD29-922A-4D04-C49D95B40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10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084E96-99BD-7BEA-C60E-6A9B06841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81197E-906E-1466-7FD6-DDCC7331F707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EFAE5A68-7F86-A966-1BA4-BF09D339ECB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CBCD3D16-E136-57AB-BA70-4F84E3511C7F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84F8C-A5F0-C7EC-A617-C0E8D15AC267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FA71B45-DEF1-430D-C577-196581CAA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214" y="1487518"/>
            <a:ext cx="10511645" cy="4688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051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1C74B-5930-0AAF-BEDF-95BD39146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F223D08D-F772-58FC-10F4-A963A50CBAA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B08E042-C3C7-36CA-35A6-1603B2E0431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6EC1675-2ECE-97FD-0F4A-92523DF3D66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0829626-F109-D3CD-3502-EA4D9CF973F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3F584B4-828F-0535-0195-028DAC853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01E025E-718C-F5B3-CA47-2B0C6586F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E6FA1B5-BBE3-32DA-4089-3D493E14550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15610C63-7AD8-1729-D609-EC2ED29428B9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A7FFE56C-E959-4328-24C4-1A1AA57C414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47C30-9024-4D25-C5C2-3C98D6D78D55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7" name="Picture 6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6DEB0C53-2AB9-E7B7-3311-D7E3631FDF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241" y="1386876"/>
            <a:ext cx="10527101" cy="4199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952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52DFF0-40D5-7429-311C-C6290DE4E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8078D804-3B2D-448B-F742-9FC9EB075DA7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E139973-866D-455C-7D2C-30403CD88623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9565267-815C-03A6-B4F3-F47398B7D8E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DEDAD22-1594-1655-AFD8-3C5D42CB228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5327B16-6FB0-0A9C-17D0-BE87E10AF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272214-33A4-6991-883E-FCD920220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BF140E9-9808-B231-3166-D4B08EFD30F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348684F-79BB-3ADD-F93F-CCF4CF3CE4ED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1A31A8D5-E60A-75A8-1394-DEB1D14ED616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E82FC-B044-A9DE-093D-6597FCA648DE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4" name="Picture 3" descr="A white sheet with black text&#10;&#10;AI-generated content may be incorrect.">
            <a:extLst>
              <a:ext uri="{FF2B5EF4-FFF2-40B4-BE49-F238E27FC236}">
                <a16:creationId xmlns:a16="http://schemas.microsoft.com/office/drawing/2014/main" id="{35A5E963-167E-D252-89A1-FF0898989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868" y="1391459"/>
            <a:ext cx="11207509" cy="4377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28339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B876AC-D36B-4889-886A-378345313F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4B7EC1F-F84E-BBA6-7FBE-3F1A392648B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09B6AB3-0250-D0A3-9324-FCA77FC5F1C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1AED1A1-80B3-D8E0-04E4-E298564C8E5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D88F60CC-5F74-1165-2A03-238B3A757170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A16A2F2-A6C0-2200-2BED-2E8EFBD9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13D7527-8297-A484-91C0-DC4B4C8D9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DA58680-AF1B-DB4C-21B6-7540D8C502CC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31622624-2906-A353-220B-E5049A169B98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A1F64B53-5B98-0A5D-DA73-CA3B833D1A42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CFBA2-5772-1642-F1B7-F1DDDC974B64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pic>
        <p:nvPicPr>
          <p:cNvPr id="4" name="Picture 3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BAACD714-F118-3BE6-A3FB-6B6DA36256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467" b="13964"/>
          <a:stretch>
            <a:fillRect/>
          </a:stretch>
        </p:blipFill>
        <p:spPr>
          <a:xfrm>
            <a:off x="282905" y="1388056"/>
            <a:ext cx="9994927" cy="274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9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14B2E-C80F-3C17-EE51-E5D43D3181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6B2A98C0-9BDC-58C1-EE9E-A27B5F5FAD3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211426A-9A93-EACF-76B2-19EF20EB962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764EE54-3494-F6D3-6F6F-AE509CF19E1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61C0950-CB0C-5EF1-3A33-2DDE90EEBB94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2334EB4-432B-FA26-13D1-2EEE6A94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1779F5A-80EB-61EE-BBE2-192F2DD19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Torque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and </a:t>
            </a:r>
            <a:r>
              <a:rPr lang="de-DE" sz="2800" err="1">
                <a:latin typeface="Times New Roman"/>
                <a:ea typeface="+mj-lt"/>
                <a:cs typeface="+mj-lt"/>
              </a:rPr>
              <a:t>rotational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r>
              <a:rPr lang="de-DE" sz="2800" err="1">
                <a:latin typeface="Times New Roman"/>
                <a:ea typeface="+mj-lt"/>
                <a:cs typeface="+mj-lt"/>
              </a:rPr>
              <a:t>speed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r>
              <a:rPr lang="de-DE" sz="2800" err="1">
                <a:latin typeface="Times New Roman"/>
                <a:ea typeface="+mj-lt"/>
                <a:cs typeface="+mj-lt"/>
              </a:rPr>
              <a:t>calculation</a:t>
            </a:r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r>
              <a:rPr lang="de-DE" sz="2800" err="1">
                <a:latin typeface="Times New Roman"/>
                <a:ea typeface="+mj-lt"/>
                <a:cs typeface="+mj-lt"/>
              </a:rPr>
              <a:t>for</a:t>
            </a:r>
            <a:r>
              <a:rPr lang="de-DE" sz="2800">
                <a:latin typeface="Times New Roman"/>
                <a:ea typeface="+mj-lt"/>
                <a:cs typeface="+mj-lt"/>
              </a:rPr>
              <a:t> Rotor and Generator 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352DCD-C871-69E8-2CA8-FC898B0F36A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8433617-724A-C6CB-3941-3A377FBAD44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451DCF60-749F-919C-3630-F2FD627CD93B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93DCF-E530-73C2-BCF1-5E53D05BECD4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104C029-36B9-8D40-C36E-0D0F02F25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665593"/>
              </p:ext>
            </p:extLst>
          </p:nvPr>
        </p:nvGraphicFramePr>
        <p:xfrm>
          <a:off x="488830" y="1250830"/>
          <a:ext cx="4373566" cy="3659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783">
                  <a:extLst>
                    <a:ext uri="{9D8B030D-6E8A-4147-A177-3AD203B41FA5}">
                      <a16:colId xmlns:a16="http://schemas.microsoft.com/office/drawing/2014/main" val="550184801"/>
                    </a:ext>
                  </a:extLst>
                </a:gridCol>
                <a:gridCol w="2186783">
                  <a:extLst>
                    <a:ext uri="{9D8B030D-6E8A-4147-A177-3AD203B41FA5}">
                      <a16:colId xmlns:a16="http://schemas.microsoft.com/office/drawing/2014/main" val="2489318114"/>
                    </a:ext>
                  </a:extLst>
                </a:gridCol>
              </a:tblGrid>
              <a:tr h="71717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Rotor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950664"/>
                  </a:ext>
                </a:extLst>
              </a:tr>
              <a:tr h="98085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 rotor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5.4  MW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694248"/>
                  </a:ext>
                </a:extLst>
              </a:tr>
              <a:tr h="980856">
                <a:tc>
                  <a:txBody>
                    <a:bodyPr/>
                    <a:lstStyle/>
                    <a:p>
                      <a:r>
                        <a:rPr lang="en-US" b="1" dirty="0" err="1">
                          <a:latin typeface="Times New Roman"/>
                        </a:rPr>
                        <a:t>nlss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10.12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167293"/>
                  </a:ext>
                </a:extLst>
              </a:tr>
              <a:tr h="980856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M rotor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5,095 KN 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99140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B5EE08EF-AE22-444D-AFE5-2641958B62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0724031"/>
              </p:ext>
            </p:extLst>
          </p:nvPr>
        </p:nvGraphicFramePr>
        <p:xfrm>
          <a:off x="6886754" y="1207698"/>
          <a:ext cx="4791918" cy="37211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5959">
                  <a:extLst>
                    <a:ext uri="{9D8B030D-6E8A-4147-A177-3AD203B41FA5}">
                      <a16:colId xmlns:a16="http://schemas.microsoft.com/office/drawing/2014/main" val="550184801"/>
                    </a:ext>
                  </a:extLst>
                </a:gridCol>
                <a:gridCol w="2395959">
                  <a:extLst>
                    <a:ext uri="{9D8B030D-6E8A-4147-A177-3AD203B41FA5}">
                      <a16:colId xmlns:a16="http://schemas.microsoft.com/office/drawing/2014/main" val="2489318114"/>
                    </a:ext>
                  </a:extLst>
                </a:gridCol>
              </a:tblGrid>
              <a:tr h="835688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bg1"/>
                          </a:solidFill>
                          <a:latin typeface="Times New Roman"/>
                        </a:rPr>
                        <a:t>Generator side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6950664"/>
                  </a:ext>
                </a:extLst>
              </a:tr>
              <a:tr h="961830">
                <a:tc>
                  <a:txBody>
                    <a:bodyPr/>
                    <a:lstStyle/>
                    <a:p>
                      <a:r>
                        <a:rPr lang="en-US" b="1" err="1">
                          <a:solidFill>
                            <a:schemeClr val="tx1"/>
                          </a:solidFill>
                          <a:latin typeface="Times New Roman"/>
                        </a:rPr>
                        <a:t>nhss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1200 rpm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694248"/>
                  </a:ext>
                </a:extLst>
              </a:tr>
              <a:tr h="96183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Ratio </a:t>
                      </a:r>
                      <a:r>
                        <a:rPr lang="en-US" b="1" err="1">
                          <a:solidFill>
                            <a:schemeClr val="tx1"/>
                          </a:solidFill>
                          <a:latin typeface="Times New Roman"/>
                        </a:rPr>
                        <a:t>i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1200 /10.12 = 118.57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7167293"/>
                  </a:ext>
                </a:extLst>
              </a:tr>
              <a:tr h="96183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M generator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41.9 </a:t>
                      </a:r>
                      <a:r>
                        <a:rPr lang="en-US" b="1" err="1">
                          <a:solidFill>
                            <a:schemeClr val="tx1"/>
                          </a:solidFill>
                          <a:latin typeface="Times New Roman"/>
                        </a:rPr>
                        <a:t>KNm</a:t>
                      </a:r>
                      <a:endParaRPr lang="en-US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099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30628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0274A-5418-BCA6-9740-5894F90C1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3BF1BEE-E524-E3A0-7205-43D9B77DA5BB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949DD88-71FA-2403-015B-B548D9CBB828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F55ACCD-451B-EB01-4811-A15704D9EF1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20AB502-D4CE-87B4-20C4-BE7B4960BD17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FBD6BC-779B-CE1B-BE31-0BEE33688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42ADD07-D5F6-5E98-DBCD-90F775C2B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>
                <a:latin typeface="Times New Roman"/>
                <a:cs typeface="Times New Roman"/>
              </a:rPr>
              <a:t>Hss coupling calculation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30E4E3F-FA5B-DC79-D916-E3F4B79110A2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547BF03B-A00D-91DF-BAD4-F9053AA262C6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E26ED2D-8494-9414-AFF9-125AB7DE978B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B0DD6-4A68-3632-479A-5E18F5441D06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>
                <a:latin typeface="Times New Roman"/>
                <a:cs typeface="Times New Roman"/>
              </a:rPr>
              <a:t>Hss nominal torque Mn.gen - 41.9 KNm</a:t>
            </a:r>
            <a:endParaRPr lang="en-GB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000">
                <a:latin typeface="Times New Roman"/>
                <a:cs typeface="Times New Roman"/>
              </a:rPr>
              <a:t>Breakdown fator k-2.5  T allowable 100 n/mm^2</a:t>
            </a:r>
          </a:p>
          <a:p>
            <a:pPr marL="0" indent="0">
              <a:buNone/>
            </a:pPr>
            <a:r>
              <a:rPr lang="en-GB" sz="2000" dirty="0">
                <a:latin typeface="Times New Roman"/>
                <a:cs typeface="Times New Roman"/>
              </a:rPr>
              <a:t>Md.hss=MNgen*k = 41.9 KNm * 2.5 = </a:t>
            </a:r>
            <a:r>
              <a:rPr lang="en-GB" sz="2000" b="1" u="sng">
                <a:latin typeface="Times New Roman"/>
                <a:cs typeface="Times New Roman"/>
              </a:rPr>
              <a:t>104.75 KNm</a:t>
            </a:r>
            <a:endParaRPr lang="en-GB" sz="2000" b="1" u="sng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b="1">
                <a:latin typeface="Times New Roman"/>
                <a:cs typeface="Times New Roman"/>
              </a:rPr>
              <a:t>Minimum diameter . Dhss=         3  (16*104.75*10^6 )N.mm/ 3.14 *100 N/mm^2</a:t>
            </a: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b="1" dirty="0">
                <a:latin typeface="Times New Roman"/>
                <a:cs typeface="Times New Roman"/>
              </a:rPr>
              <a:t>Dhss = </a:t>
            </a:r>
            <a:r>
              <a:rPr lang="en-GB" sz="1800" b="1" u="sng">
                <a:latin typeface="Times New Roman"/>
                <a:cs typeface="Times New Roman"/>
              </a:rPr>
              <a:t>174.73 mm</a:t>
            </a:r>
            <a:endParaRPr lang="en-GB" sz="1800" b="1" u="sng" dirty="0">
              <a:latin typeface="Times New Roman"/>
              <a:cs typeface="Times New Roman"/>
            </a:endParaRPr>
          </a:p>
          <a:p>
            <a:endParaRPr lang="en-GB" dirty="0">
              <a:latin typeface="Aptos"/>
              <a:cs typeface="Times New Roman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1197533-E73C-856B-2F92-5EA3CF30A7B6}"/>
              </a:ext>
            </a:extLst>
          </p:cNvPr>
          <p:cNvCxnSpPr/>
          <p:nvPr/>
        </p:nvCxnSpPr>
        <p:spPr>
          <a:xfrm flipV="1">
            <a:off x="4185784" y="3257739"/>
            <a:ext cx="1450422" cy="27064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F878B92-3C9D-3629-D9F2-C2984AD56DA2}"/>
              </a:ext>
            </a:extLst>
          </p:cNvPr>
          <p:cNvCxnSpPr/>
          <p:nvPr/>
        </p:nvCxnSpPr>
        <p:spPr>
          <a:xfrm>
            <a:off x="4258234" y="3272117"/>
            <a:ext cx="14941" cy="508000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8EB3059-1558-D90B-7768-57D448D110C8}"/>
              </a:ext>
            </a:extLst>
          </p:cNvPr>
          <p:cNvCxnSpPr/>
          <p:nvPr/>
        </p:nvCxnSpPr>
        <p:spPr>
          <a:xfrm>
            <a:off x="3959411" y="3316940"/>
            <a:ext cx="268941" cy="522941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980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C9C0A-233E-E9CA-B6AF-7A079C5B3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9D23EF2-FF35-015C-F14F-AAC430A4E41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7F9F429-5766-62D1-DA91-8EE2B443774C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23B5BE2F-F315-B6B9-D8B1-3AF11D342D52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0875013-6A48-0662-A4D1-470255BE19C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101D1FD-41D5-AAA0-1424-7D43B81C6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B60DA0-8F34-67C3-C621-80916DC71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Torque</a:t>
            </a:r>
            <a:r>
              <a:rPr lang="de-DE" sz="2800">
                <a:latin typeface="Times New Roman"/>
                <a:ea typeface="+mj-lt"/>
                <a:cs typeface="+mj-lt"/>
              </a:rPr>
              <a:t> calculation for HSS coupling radex NANA </a:t>
            </a:r>
            <a:endParaRPr lang="de-DE" sz="280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148ABF-033E-52E4-23CA-C586A5F83F7C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E8DC2E32-7D5D-D3F1-0C22-D49976079928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6B6244FF-4DE0-096D-4DB3-E46BFF4FDC0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20684-DEC9-67EB-B6F5-8AF35B796B56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latin typeface="Times New Roman"/>
                <a:cs typeface="Times New Roman"/>
              </a:rPr>
              <a:t>Nominal torque = P- 5.4 * 10^6 W Nhss= 1200 rpm</a:t>
            </a:r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000" b="1">
                <a:latin typeface="Times New Roman"/>
                <a:cs typeface="Times New Roman"/>
              </a:rPr>
              <a:t>TN = p *60 / 2*3.14*1200 </a:t>
            </a:r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000" b="1">
                <a:latin typeface="Times New Roman"/>
                <a:cs typeface="Times New Roman"/>
              </a:rPr>
              <a:t>=  5.4 * 10^6 *60 / 2*3.14*1200 = </a:t>
            </a:r>
            <a:r>
              <a:rPr lang="en-GB" sz="2000" b="1" u="sng">
                <a:latin typeface="Times New Roman"/>
                <a:cs typeface="Times New Roman"/>
              </a:rPr>
              <a:t>42971.835 Nm</a:t>
            </a:r>
            <a:endParaRPr lang="en-GB" sz="2000" b="1" u="sng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 </a:t>
            </a: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6482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4B2AB-2EAE-ECD2-EF53-5F0DD31D7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46312DB8-F5FA-02A4-A7B5-10496978381B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3E1966-AAA7-DFB5-4A5D-318A138AD08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2CD88A9-6D5D-BE54-488B-DFBE0AA5DF5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FE5EFF6-EA44-168B-7CB7-B90095CCAE7F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81563AB-1B51-E792-FBF6-1A913EC7F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22177C7-042C-A759-4F1F-6494C22A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 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B24F8A-FCC2-FDE6-3885-99C28CAC08FD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01C52B86-E399-0904-451A-AD8FB58443C0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1495DF9D-C750-5640-60C3-64DDF6C4E88F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AE7E0-09D1-8268-3067-ACEE21E27C02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b="1">
                <a:latin typeface="Times New Roman"/>
                <a:cs typeface="Times New Roman"/>
              </a:rPr>
              <a:t>Medium or highspeed shaft calculation nN,mss = nNlss * I gearbox</a:t>
            </a:r>
            <a:endParaRPr lang="en-GB" sz="2000" b="1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2000" b="1">
                <a:latin typeface="Times New Roman"/>
                <a:cs typeface="Times New Roman"/>
              </a:rPr>
              <a:t>= 10.12 rpm * 118.57 = </a:t>
            </a:r>
            <a:r>
              <a:rPr lang="en-GB" sz="2000" b="1" u="sng">
                <a:latin typeface="Times New Roman"/>
                <a:cs typeface="Times New Roman"/>
              </a:rPr>
              <a:t>1199.93 rpm</a:t>
            </a:r>
            <a:endParaRPr lang="en-GB" sz="2000" b="1" u="sng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dirty="0">
                <a:latin typeface="Times New Roman"/>
                <a:cs typeface="Times New Roman"/>
              </a:rPr>
              <a:t>        </a:t>
            </a:r>
            <a:r>
              <a:rPr lang="en-GB" sz="1800" b="1">
                <a:latin typeface="Times New Roman"/>
                <a:cs typeface="Times New Roman"/>
              </a:rPr>
              <a:t> Nominal low speed shaft calculation (MN,Lss)</a:t>
            </a:r>
          </a:p>
          <a:p>
            <a:pPr marL="0" indent="0">
              <a:buNone/>
            </a:pPr>
            <a:r>
              <a:rPr lang="en-GB" sz="1800" b="1">
                <a:latin typeface="Times New Roman"/>
                <a:cs typeface="Times New Roman"/>
              </a:rPr>
              <a:t>MN,Lss = MN gen * I gearbox / n gearbox</a:t>
            </a:r>
          </a:p>
          <a:p>
            <a:pPr marL="0" indent="0">
              <a:buNone/>
            </a:pPr>
            <a:r>
              <a:rPr lang="en-GB" sz="1800" b="1" dirty="0">
                <a:latin typeface="Times New Roman"/>
                <a:cs typeface="Times New Roman"/>
              </a:rPr>
              <a:t>= 41.9 KNm * 118.57 / 0.97  = </a:t>
            </a:r>
            <a:r>
              <a:rPr lang="en-GB" sz="1800" b="1" u="sng">
                <a:latin typeface="Times New Roman"/>
                <a:cs typeface="Times New Roman"/>
              </a:rPr>
              <a:t>5121.74 KNm</a:t>
            </a:r>
            <a:endParaRPr lang="en-GB" sz="1800" b="1" u="sng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GB" sz="1800" b="1">
                <a:latin typeface="Times New Roman"/>
                <a:cs typeface="Times New Roman"/>
              </a:rPr>
              <a:t>Breakdown torque (Mbreakdown) = MN.lss * 2.5 = </a:t>
            </a:r>
            <a:r>
              <a:rPr lang="en-GB" sz="1800" b="1" u="sng">
                <a:latin typeface="Times New Roman"/>
                <a:cs typeface="Times New Roman"/>
              </a:rPr>
              <a:t>12804.38 KNm</a:t>
            </a:r>
            <a:endParaRPr lang="en-GB" sz="1800" b="1" u="sng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GB" sz="1800" b="1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sp>
        <p:nvSpPr>
          <p:cNvPr id="7" name="Titel 1">
            <a:extLst>
              <a:ext uri="{FF2B5EF4-FFF2-40B4-BE49-F238E27FC236}">
                <a16:creationId xmlns:a16="http://schemas.microsoft.com/office/drawing/2014/main" id="{A9EA8218-82C9-A0F2-5101-593C9FCD07B3}"/>
              </a:ext>
            </a:extLst>
          </p:cNvPr>
          <p:cNvSpPr txBox="1">
            <a:spLocks/>
          </p:cNvSpPr>
          <p:nvPr/>
        </p:nvSpPr>
        <p:spPr>
          <a:xfrm>
            <a:off x="651195" y="511480"/>
            <a:ext cx="11184418" cy="71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sz="2800" dirty="0">
                <a:latin typeface="Times New Roman"/>
                <a:cs typeface="Times New Roman"/>
              </a:rPr>
              <a:t>Torque</a:t>
            </a:r>
            <a:r>
              <a:rPr lang="de-DE" sz="2800">
                <a:latin typeface="Times New Roman"/>
                <a:ea typeface="+mj-lt"/>
                <a:cs typeface="+mj-lt"/>
              </a:rPr>
              <a:t> calculation for HSS coupling radex NANA </a:t>
            </a:r>
            <a:endParaRPr lang="de-DE"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0755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73320" y="1376739"/>
            <a:ext cx="11218984" cy="34163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Gearbox</a:t>
            </a:r>
          </a:p>
          <a:p>
            <a:r>
              <a:rPr lang="en-US" dirty="0">
                <a:latin typeface="Times New Roman"/>
                <a:cs typeface="Times New Roman"/>
              </a:rPr>
              <a:t>(1) Previous year Optimus projects(60E,92LE,Shakti 15-11-2025</a:t>
            </a:r>
          </a:p>
          <a:p>
            <a:r>
              <a:rPr lang="en-US" dirty="0">
                <a:latin typeface="Times New Roman"/>
                <a:cs typeface="Times New Roman"/>
              </a:rPr>
              <a:t>(2) 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Roloff Matek </a:t>
            </a:r>
            <a:r>
              <a:rPr lang="en-IN" dirty="0" err="1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Maschinenelemente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 13-11-2025</a:t>
            </a:r>
          </a:p>
          <a:p>
            <a:r>
              <a:rPr lang="en-US" dirty="0">
                <a:latin typeface="Times New Roman"/>
                <a:cs typeface="Times New Roman"/>
              </a:rPr>
              <a:t>(3) Lecture notes – Mechanical drive train by </a:t>
            </a:r>
            <a:r>
              <a:rPr lang="en-US" dirty="0" err="1">
                <a:latin typeface="Times New Roman"/>
                <a:cs typeface="Times New Roman"/>
              </a:rPr>
              <a:t>Prof.Peter</a:t>
            </a:r>
            <a:r>
              <a:rPr lang="en-US" dirty="0">
                <a:latin typeface="Times New Roman"/>
                <a:cs typeface="Times New Roman"/>
              </a:rPr>
              <a:t> Quell.14-11-2025</a:t>
            </a:r>
          </a:p>
          <a:p>
            <a:r>
              <a:rPr lang="en-US" dirty="0">
                <a:latin typeface="Times New Roman"/>
                <a:cs typeface="Times New Roman"/>
              </a:rPr>
              <a:t>(4)</a:t>
            </a:r>
            <a:r>
              <a:rPr lang="en-US" dirty="0">
                <a:latin typeface="Times New Roman"/>
                <a:ea typeface="+mn-lt"/>
                <a:cs typeface="+mn-lt"/>
              </a:rPr>
              <a:t>Shigley's mechanical engineering design and PSG data book 14-11-2025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(5)thecatalystis</a:t>
            </a:r>
            <a:r>
              <a:rPr lang="en-US" dirty="0">
                <a:latin typeface="Times New Roman"/>
                <a:ea typeface="+mn-lt"/>
                <a:cs typeface="+mn-lt"/>
              </a:rPr>
              <a:t>.com website 15-11-2025</a:t>
            </a:r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latin typeface="Aptos"/>
              <a:cs typeface="Times New Roman"/>
            </a:endParaRPr>
          </a:p>
          <a:p>
            <a:endParaRPr lang="en-US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Bibliography</a:t>
            </a:r>
            <a:r>
              <a:rPr lang="en-US" sz="2400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0345E6-CF06-28DF-4FC1-25E3760C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18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123406F-280E-0AE2-1CA5-076787BBFD2B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10A1338-E7A7-5577-14B1-2D44C353F0BE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18-11-2025</a:t>
            </a:r>
          </a:p>
        </p:txBody>
      </p:sp>
    </p:spTree>
    <p:extLst>
      <p:ext uri="{BB962C8B-B14F-4D97-AF65-F5344CB8AC3E}">
        <p14:creationId xmlns:p14="http://schemas.microsoft.com/office/powerpoint/2010/main" val="153393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18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Office Theme</vt:lpstr>
      <vt:lpstr>Custom Design</vt:lpstr>
      <vt:lpstr>PowerPoint Presentation</vt:lpstr>
      <vt:lpstr>Weekly report: Team Gearbox, Brake, Coupling </vt:lpstr>
      <vt:lpstr>List of Content</vt:lpstr>
      <vt:lpstr> Formulas for Planetary gear  </vt:lpstr>
      <vt:lpstr> Calculation for 1st stage of planetary</vt:lpstr>
      <vt:lpstr>Calculation for 2nd stage of planetary</vt:lpstr>
      <vt:lpstr>Spur gear stage calculation</vt:lpstr>
      <vt:lpstr> </vt:lpstr>
      <vt:lpstr> </vt:lpstr>
      <vt:lpstr> </vt:lpstr>
      <vt:lpstr> </vt:lpstr>
      <vt:lpstr> </vt:lpstr>
      <vt:lpstr> </vt:lpstr>
      <vt:lpstr>Torque and rotational speed calculation for Rotor and Generator </vt:lpstr>
      <vt:lpstr>Hss coupling calculation</vt:lpstr>
      <vt:lpstr>Torque calculation for HSS coupling radex NANA </vt:lpstr>
      <vt:lpstr>  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revision>2464</cp:revision>
  <dcterms:created xsi:type="dcterms:W3CDTF">2025-07-21T13:11:31Z</dcterms:created>
  <dcterms:modified xsi:type="dcterms:W3CDTF">2025-11-17T10:23:57Z</dcterms:modified>
</cp:coreProperties>
</file>