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handoutMasterIdLst>
    <p:handoutMasterId r:id="rId20"/>
  </p:handoutMasterIdLst>
  <p:sldIdLst>
    <p:sldId id="271" r:id="rId3"/>
    <p:sldId id="263" r:id="rId4"/>
    <p:sldId id="259" r:id="rId5"/>
    <p:sldId id="293" r:id="rId6"/>
    <p:sldId id="302" r:id="rId7"/>
    <p:sldId id="303" r:id="rId8"/>
    <p:sldId id="300" r:id="rId9"/>
    <p:sldId id="304" r:id="rId10"/>
    <p:sldId id="295" r:id="rId11"/>
    <p:sldId id="305" r:id="rId12"/>
    <p:sldId id="307" r:id="rId13"/>
    <p:sldId id="308" r:id="rId14"/>
    <p:sldId id="290" r:id="rId15"/>
    <p:sldId id="291" r:id="rId16"/>
    <p:sldId id="30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93"/>
            <p14:sldId id="302"/>
            <p14:sldId id="303"/>
            <p14:sldId id="300"/>
            <p14:sldId id="304"/>
            <p14:sldId id="295"/>
            <p14:sldId id="305"/>
            <p14:sldId id="307"/>
            <p14:sldId id="308"/>
            <p14:sldId id="290"/>
            <p14:sldId id="291"/>
            <p14:sldId id="306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3" Type="http://schemas.openxmlformats.org/officeDocument/2006/relationships/slide" Target="slides/slide1.xml" /><Relationship Id="rId21" Type="http://schemas.openxmlformats.org/officeDocument/2006/relationships/presProps" Target="presProp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tableStyles" Target="tableStyle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theme" Target="theme/theme1.xml" /><Relationship Id="rId10" Type="http://schemas.openxmlformats.org/officeDocument/2006/relationships/slide" Target="slides/slide8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F882E33-D020-7E7B-7744-FA472C533769}"/>
              </a:ext>
            </a:extLst>
          </p:cNvPr>
          <p:cNvSpPr txBox="1">
            <a:spLocks/>
          </p:cNvSpPr>
          <p:nvPr userDrawn="1"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Jill Sadariya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18/11/2025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7" Type="http://schemas.openxmlformats.org/officeDocument/2006/relationships/image" Target="../media/image21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2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h.de/schraubwerkzeuge/hydraulische-drehmomentschrauber" TargetMode="External" /><Relationship Id="rId2" Type="http://schemas.openxmlformats.org/officeDocument/2006/relationships/hyperlink" Target="https://www.skf.com/group/products/rolling-bearings/roller-bearings/spherical-roller-bearings/productid-240%2F1120" TargetMode="External" /><Relationship Id="rId1" Type="http://schemas.openxmlformats.org/officeDocument/2006/relationships/slideLayout" Target="../slideLayouts/slideLayout11.xml" /><Relationship Id="rId4" Type="http://schemas.openxmlformats.org/officeDocument/2006/relationships/hyperlink" Target="https://www.aramfix.com/product/din-931-hex-bolt-m36x350mm-grade-10-9-plain-metric-partially-hex-5-pcs-box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18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08</a:t>
            </a:r>
          </a:p>
          <a:p>
            <a:pPr algn="ctr"/>
            <a:r>
              <a:rPr lang="it-IT" sz="2000" dirty="0">
                <a:latin typeface="Aptos (Textkörper)"/>
              </a:rPr>
              <a:t>Date: 18 /11/2025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Jill Sadariya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r>
              <a:rPr lang="en-US" sz="2400" dirty="0"/>
              <a:t>Bolted Flange Calculation –Hub side.</a:t>
            </a:r>
          </a:p>
          <a:p>
            <a:r>
              <a:rPr lang="en-US" sz="2400" dirty="0"/>
              <a:t>Flange  Screw dimension Calculation.</a:t>
            </a:r>
          </a:p>
          <a:p>
            <a:pPr lvl="0"/>
            <a:r>
              <a:rPr lang="en-US" sz="2400" dirty="0"/>
              <a:t>Hydraulic </a:t>
            </a:r>
            <a:r>
              <a:rPr lang="en-US" sz="2400" dirty="0" err="1"/>
              <a:t>Torqure</a:t>
            </a:r>
            <a:r>
              <a:rPr lang="en-US" sz="2400" dirty="0"/>
              <a:t> wrench for M36 bolts.</a:t>
            </a:r>
          </a:p>
          <a:p>
            <a:pPr lvl="0"/>
            <a:r>
              <a:rPr lang="en-US" sz="2400" dirty="0"/>
              <a:t>Bolted Flange Calculation –Gear box side.</a:t>
            </a:r>
          </a:p>
          <a:p>
            <a:pPr lvl="0"/>
            <a:r>
              <a:rPr lang="en-US" sz="2400" dirty="0"/>
              <a:t>Rotor Lock Pin Calculations.</a:t>
            </a:r>
          </a:p>
          <a:p>
            <a:r>
              <a:rPr lang="en-US" sz="2400" dirty="0"/>
              <a:t>CAD Model of Spherical roller Bearing.</a:t>
            </a:r>
          </a:p>
          <a:p>
            <a:pPr lvl="0"/>
            <a:r>
              <a:rPr lang="en-US" sz="2400" dirty="0"/>
              <a:t>Bibliography.</a:t>
            </a:r>
          </a:p>
          <a:p>
            <a:pPr lvl="1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8B48-AFBC-977A-0522-B41A6AB6AD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6CB-B0C5-2B6D-5368-CE32F9B5121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C3878AB6-C127-E823-0D24-805AE9B9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37364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sz="2800" dirty="0"/>
              <a:t>Bolted Flange Calculation –Hub side without Rotor lock  consideration </a:t>
            </a:r>
            <a:endParaRPr lang="en-GB" sz="2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207BB2-16C8-FCFF-61CD-1A01BE3A5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46475"/>
              </p:ext>
            </p:extLst>
          </p:nvPr>
        </p:nvGraphicFramePr>
        <p:xfrm>
          <a:off x="6423768" y="1604867"/>
          <a:ext cx="5585568" cy="364826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6249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396392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844731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698196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1900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1740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200" dirty="0">
                          <a:effectLst/>
                        </a:rPr>
                        <a:t>N</a:t>
                      </a:r>
                      <a:r>
                        <a:rPr lang="pt-BR" sz="1200" baseline="-25000" dirty="0">
                          <a:effectLst/>
                        </a:rPr>
                        <a:t>total</a:t>
                      </a:r>
                      <a:r>
                        <a:rPr lang="pt-BR" sz="1200" dirty="0">
                          <a:effectLst/>
                        </a:rPr>
                        <a:t> = N</a:t>
                      </a:r>
                      <a:r>
                        <a:rPr lang="pt-BR" sz="1200" baseline="-25000" dirty="0">
                          <a:effectLst/>
                        </a:rPr>
                        <a:t>ICB</a:t>
                      </a:r>
                      <a:r>
                        <a:rPr lang="pt-BR" sz="1200" dirty="0">
                          <a:effectLst/>
                        </a:rPr>
                        <a:t> + N</a:t>
                      </a:r>
                      <a:r>
                        <a:rPr lang="pt-BR" sz="12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63+68=131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Total tensile force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a,F,ges</a:t>
                      </a:r>
                      <a:endParaRPr lang="en-US" sz="12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633.7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kN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4171539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Lateral force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q,F,ges</a:t>
                      </a:r>
                      <a:endParaRPr lang="en-US" sz="12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1810.5 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624187393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Torsional moment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</a:t>
                      </a:r>
                      <a:r>
                        <a:rPr lang="en-US" sz="1200" baseline="-25000" dirty="0">
                          <a:effectLst/>
                        </a:rPr>
                        <a:t>t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2747.0 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kN.m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40428480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Bending moment on 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</a:t>
                      </a:r>
                      <a:r>
                        <a:rPr lang="en-US" sz="1200" baseline="-25000" dirty="0">
                          <a:effectLst/>
                        </a:rPr>
                        <a:t>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21573.8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 err="1">
                          <a:effectLst/>
                        </a:rPr>
                        <a:t>kN.m</a:t>
                      </a:r>
                      <a:endParaRPr lang="en-US" sz="12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744763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D90D661-6172-B06B-6972-DC7C13F869AA}"/>
              </a:ext>
            </a:extLst>
          </p:cNvPr>
          <p:cNvSpPr txBox="1"/>
          <p:nvPr/>
        </p:nvSpPr>
        <p:spPr>
          <a:xfrm>
            <a:off x="9608975" y="5524102"/>
            <a:ext cx="2491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*</a:t>
            </a:r>
            <a:r>
              <a:rPr lang="en-US" sz="1200" dirty="0">
                <a:solidFill>
                  <a:srgbClr val="FF0000"/>
                </a:solidFill>
              </a:rPr>
              <a:t>F &amp;M are scaled up from Shakti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32447-0960-0F40-531E-1FEA99B26E5F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Optimus Shakti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8ABFA8-AB63-EFB5-FE48-DB2AA9FD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1" y="1604867"/>
            <a:ext cx="5777438" cy="3648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370DE1-E470-05D3-40D4-DE93AAC9536F}"/>
              </a:ext>
            </a:extLst>
          </p:cNvPr>
          <p:cNvSpPr txBox="1"/>
          <p:nvPr/>
        </p:nvSpPr>
        <p:spPr>
          <a:xfrm>
            <a:off x="709127" y="5632968"/>
            <a:ext cx="3601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200" dirty="0"/>
              <a:t>Hole </a:t>
            </a:r>
            <a:r>
              <a:rPr lang="en-US" sz="1200" dirty="0" err="1"/>
              <a:t>dia</a:t>
            </a:r>
            <a:r>
              <a:rPr lang="en-US" sz="1200" dirty="0"/>
              <a:t> =  39 mm (36+3mm)  </a:t>
            </a:r>
            <a:r>
              <a:rPr lang="en-US" sz="1200" dirty="0">
                <a:solidFill>
                  <a:schemeClr val="bg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8166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97425-7880-5A7B-5B79-4994A39BA4A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52C91-64A3-0044-4115-CB748A4479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B2321-0CF4-0215-33C1-F1A60CBCA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12" y="2235913"/>
            <a:ext cx="4109619" cy="2386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BC0F74-016E-39F5-EAAA-22853079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44" y="1710923"/>
            <a:ext cx="3679400" cy="3436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8CA863-F015-1372-A88E-140DC8B785D6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 err="1"/>
              <a:t>Source:ARAMFIX</a:t>
            </a:r>
            <a:endParaRPr lang="en-US" sz="900" dirty="0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98D923F-0C01-B4AD-1662-43C8877D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64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dirty="0"/>
              <a:t> Flange  Screw dimension Calculation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898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209D-94BE-0C74-9494-12DE1D1A34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9C27B-13A0-DB77-965B-9A742449A52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B836E-F4ED-8A72-530F-12308CAD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0" t="8206"/>
          <a:stretch>
            <a:fillRect/>
          </a:stretch>
        </p:blipFill>
        <p:spPr>
          <a:xfrm>
            <a:off x="4733902" y="1432104"/>
            <a:ext cx="6920032" cy="42689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B600FE-41CA-789C-2271-4FB727904C3C}"/>
              </a:ext>
            </a:extLst>
          </p:cNvPr>
          <p:cNvSpPr/>
          <p:nvPr/>
        </p:nvSpPr>
        <p:spPr>
          <a:xfrm>
            <a:off x="10748864" y="3741576"/>
            <a:ext cx="410547" cy="29858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04C75-0BA2-2E3B-97F0-9B96BFF49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9" y="1602651"/>
            <a:ext cx="3933434" cy="853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EE1B10-CCB9-25D1-81C6-AAB3BE9B890F}"/>
              </a:ext>
            </a:extLst>
          </p:cNvPr>
          <p:cNvSpPr txBox="1"/>
          <p:nvPr/>
        </p:nvSpPr>
        <p:spPr>
          <a:xfrm>
            <a:off x="2414049" y="2456165"/>
            <a:ext cx="2493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Roloff-Matek (RM) </a:t>
            </a:r>
            <a:r>
              <a:rPr lang="en-US" sz="1200" dirty="0" err="1"/>
              <a:t>equat</a:t>
            </a:r>
            <a:r>
              <a:rPr lang="en-US" sz="1200" dirty="0"/>
              <a:t>. 8.2</a:t>
            </a:r>
            <a:endParaRPr lang="en-US" sz="1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4841C7-2245-41C8-F471-9D6289C40D41}"/>
                  </a:ext>
                </a:extLst>
              </p:cNvPr>
              <p:cNvSpPr txBox="1"/>
              <p:nvPr/>
            </p:nvSpPr>
            <p:spPr>
              <a:xfrm>
                <a:off x="42969" y="2848014"/>
                <a:ext cx="47809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R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p0.2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= 940  N/</a:t>
                </a:r>
                <a:r>
                  <a:rPr kumimoji="0" lang="en-US" altLang="en-US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mm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2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(Proof stress for Grade 10.9)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= 1.24 (Reduction factor for assumed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𝐺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=0.14)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en-US" altLang="en-US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= 1.4(Tightening factor)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4841C7-2245-41C8-F471-9D6289C40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" y="2848014"/>
                <a:ext cx="4780958" cy="1200329"/>
              </a:xfrm>
              <a:prstGeom prst="rect">
                <a:avLst/>
              </a:prstGeom>
              <a:blipFill>
                <a:blip r:embed="rId4"/>
                <a:stretch>
                  <a:fillRect l="-102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4">
            <a:extLst>
              <a:ext uri="{FF2B5EF4-FFF2-40B4-BE49-F238E27FC236}">
                <a16:creationId xmlns:a16="http://schemas.microsoft.com/office/drawing/2014/main" id="{31AE7620-3400-A6BE-B00B-CDECF5B3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dirty="0"/>
              <a:t> Flange  Screw dimension Calculation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46F4BE-46B5-DADE-D581-794817838447}"/>
                  </a:ext>
                </a:extLst>
              </p:cNvPr>
              <p:cNvSpPr txBox="1"/>
              <p:nvPr/>
            </p:nvSpPr>
            <p:spPr>
              <a:xfrm>
                <a:off x="42969" y="4039012"/>
                <a:ext cx="433251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en-US" dirty="0">
                    <a:latin typeface="Google Sans Text"/>
                  </a:rPr>
                  <a:t>= 1.1 (Elastic compliance for Shank screw)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Google Sans Text"/>
                  </a:rPr>
                  <a:t>E = 205,000 </a:t>
                </a:r>
                <a:r>
                  <a:rPr lang="en-US" altLang="en-US" dirty="0">
                    <a:solidFill>
                      <a:prstClr val="black"/>
                    </a:solidFill>
                    <a:latin typeface="Google Sans Text"/>
                  </a:rPr>
                  <a:t>N/mm</a:t>
                </a:r>
                <a:r>
                  <a:rPr lang="en-US" altLang="en-US" baseline="30000" dirty="0">
                    <a:solidFill>
                      <a:prstClr val="black"/>
                    </a:solidFill>
                    <a:latin typeface="Google Sans Text"/>
                  </a:rPr>
                  <a:t>2</a:t>
                </a:r>
                <a:r>
                  <a:rPr lang="en-US" altLang="en-US" dirty="0">
                    <a:solidFill>
                      <a:prstClr val="black"/>
                    </a:solidFill>
                    <a:latin typeface="Google Sans Text"/>
                  </a:rPr>
                  <a:t> </a:t>
                </a:r>
                <a:r>
                  <a:rPr lang="en-US" altLang="en-US" dirty="0">
                    <a:latin typeface="Google Sans Text"/>
                  </a:rPr>
                  <a:t>(Modulus of Elasticity for Steel)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Google Sans Text"/>
                  </a:rPr>
                  <a:t>F</a:t>
                </a:r>
                <a:r>
                  <a:rPr lang="en-US" altLang="en-US" baseline="-25000" dirty="0">
                    <a:latin typeface="Google Sans Text"/>
                  </a:rPr>
                  <a:t>z</a:t>
                </a:r>
                <a:r>
                  <a:rPr lang="en-US" altLang="en-US" dirty="0">
                    <a:latin typeface="Google Sans Text"/>
                  </a:rPr>
                  <a:t>= 0.011 mm (Average settlement)</a:t>
                </a:r>
                <a:endParaRPr lang="en-US" altLang="en-US" dirty="0">
                  <a:latin typeface="Arial" panose="020B0604020202020204" pitchFamily="34" charset="0"/>
                </a:endParaRPr>
              </a:p>
              <a:p>
                <a:pPr algn="l"/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46F4BE-46B5-DADE-D581-794817838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" y="4039012"/>
                <a:ext cx="4332515" cy="1384995"/>
              </a:xfrm>
              <a:prstGeom prst="rect">
                <a:avLst/>
              </a:prstGeom>
              <a:blipFill>
                <a:blip r:embed="rId5"/>
                <a:stretch>
                  <a:fillRect l="-1125" t="-2643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33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D6C8-CF9A-13D6-B909-9A993872C86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57CE0-A087-9C66-9C98-903AE5CC4B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6D2EFD0-9F42-1D1A-7CE0-20BC533C29D5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mtClean="0">
                <a:solidFill>
                  <a:prstClr val="white"/>
                </a:solidFill>
                <a:latin typeface="Aptos" panose="02110004020202020204"/>
              </a:rPr>
              <a:pPr/>
              <a:t>7</a:t>
            </a:fld>
            <a:endParaRPr lang="en-GB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A85F3B-DDF0-61BC-9CBB-4F4CF7B90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49" r="55657" b="50732"/>
          <a:stretch>
            <a:fillRect/>
          </a:stretch>
        </p:blipFill>
        <p:spPr>
          <a:xfrm>
            <a:off x="552719" y="1547966"/>
            <a:ext cx="4308530" cy="59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594304-AB87-369B-47E3-823C97793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80" r="46776" b="45077"/>
          <a:stretch>
            <a:fillRect/>
          </a:stretch>
        </p:blipFill>
        <p:spPr>
          <a:xfrm>
            <a:off x="460748" y="2366384"/>
            <a:ext cx="5053644" cy="591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B92392-3310-3337-ABEB-C00DB8BA1E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81" t="41481" r="681" b="30348"/>
          <a:stretch>
            <a:fillRect/>
          </a:stretch>
        </p:blipFill>
        <p:spPr>
          <a:xfrm>
            <a:off x="338980" y="2957805"/>
            <a:ext cx="9716342" cy="724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776D32-3F33-0F93-9992-43E6F2EE1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71" y="3777169"/>
            <a:ext cx="3360711" cy="708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07198A-6E22-BCB2-EE74-D719927D0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912" y="4588303"/>
            <a:ext cx="1996613" cy="6706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F5201E-7447-789B-71E6-13BF79F0C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71" y="5345580"/>
            <a:ext cx="3139712" cy="6248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F7A8D3-2F1F-F54F-19E9-8893C4336146}"/>
              </a:ext>
            </a:extLst>
          </p:cNvPr>
          <p:cNvSpPr txBox="1"/>
          <p:nvPr/>
        </p:nvSpPr>
        <p:spPr>
          <a:xfrm>
            <a:off x="1079912" y="597047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Ferf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Fa,ges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+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Fkl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B4CD95E-A05E-75B3-C16D-B4BD96FE3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266" y="4754152"/>
            <a:ext cx="40036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Axial Force from Thrust/Tensile Load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7C946E-FE10-2E39-9ED5-6DA770911571}"/>
              </a:ext>
            </a:extLst>
          </p:cNvPr>
          <p:cNvSpPr txBox="1"/>
          <p:nvPr/>
        </p:nvSpPr>
        <p:spPr>
          <a:xfrm>
            <a:off x="4221155" y="3145925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 Axial Force from Bending Moment (Multi-Circle)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375F12-3FD0-10F4-285F-3EB8CCAA956D}"/>
              </a:ext>
            </a:extLst>
          </p:cNvPr>
          <p:cNvSpPr txBox="1"/>
          <p:nvPr/>
        </p:nvSpPr>
        <p:spPr>
          <a:xfrm>
            <a:off x="3287266" y="597047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Requird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total axial force of the screw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Ferf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19" name="Titel 4">
            <a:extLst>
              <a:ext uri="{FF2B5EF4-FFF2-40B4-BE49-F238E27FC236}">
                <a16:creationId xmlns:a16="http://schemas.microsoft.com/office/drawing/2014/main" id="{4774B561-3BEF-C0DB-61A5-0ACFF7B8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dirty="0"/>
              <a:t> Flange  Screw dimension Calculation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862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6F622-8003-10C5-DD64-519391E3485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6DC06-6BAD-898E-46E9-D0862F34D40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B2FF4F-082E-C33E-DF92-51A1FE3AD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91168"/>
              </p:ext>
            </p:extLst>
          </p:nvPr>
        </p:nvGraphicFramePr>
        <p:xfrm>
          <a:off x="838200" y="1427583"/>
          <a:ext cx="10198360" cy="498183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738327">
                  <a:extLst>
                    <a:ext uri="{9D8B030D-6E8A-4147-A177-3AD203B41FA5}">
                      <a16:colId xmlns:a16="http://schemas.microsoft.com/office/drawing/2014/main" val="449592070"/>
                    </a:ext>
                  </a:extLst>
                </a:gridCol>
                <a:gridCol w="1060580">
                  <a:extLst>
                    <a:ext uri="{9D8B030D-6E8A-4147-A177-3AD203B41FA5}">
                      <a16:colId xmlns:a16="http://schemas.microsoft.com/office/drawing/2014/main" val="3185516393"/>
                    </a:ext>
                  </a:extLst>
                </a:gridCol>
                <a:gridCol w="3399453">
                  <a:extLst>
                    <a:ext uri="{9D8B030D-6E8A-4147-A177-3AD203B41FA5}">
                      <a16:colId xmlns:a16="http://schemas.microsoft.com/office/drawing/2014/main" val="2036554686"/>
                    </a:ext>
                  </a:extLst>
                </a:gridCol>
              </a:tblGrid>
              <a:tr h="2357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b="1" dirty="0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b="1">
                          <a:solidFill>
                            <a:srgbClr val="1B1C1D"/>
                          </a:solidFill>
                          <a:effectLst/>
                        </a:rPr>
                        <a:t>Unit</a:t>
                      </a:r>
                      <a:endParaRPr 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4009065891"/>
                  </a:ext>
                </a:extLst>
              </a:tr>
              <a:tr h="53649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Shear force on screw by external lateral force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13.821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  <a:p>
                      <a:pPr algn="ctr" rtl="0">
                        <a:buNone/>
                      </a:pP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546286951"/>
                  </a:ext>
                </a:extLst>
              </a:tr>
              <a:tr h="53649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Shear force on screw by torsional moment    F</a:t>
                      </a:r>
                      <a:r>
                        <a:rPr lang="en-US" sz="1600" baseline="-25000" dirty="0">
                          <a:solidFill>
                            <a:srgbClr val="1B1C1D"/>
                          </a:solidFill>
                          <a:effectLst/>
                        </a:rPr>
                        <a:t>q, mt, max</a:t>
                      </a:r>
                      <a:endParaRPr lang="en-US" sz="1600" baseline="-25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23.931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2753413064"/>
                  </a:ext>
                </a:extLst>
              </a:tr>
              <a:tr h="5769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Total shear force on screw by torsion and lateral forces F</a:t>
                      </a:r>
                      <a:r>
                        <a:rPr lang="en-US" sz="1600" baseline="-25000" dirty="0">
                          <a:solidFill>
                            <a:srgbClr val="1B1C1D"/>
                          </a:solidFill>
                          <a:effectLst/>
                        </a:rPr>
                        <a:t>q, </a:t>
                      </a:r>
                      <a:r>
                        <a:rPr lang="en-US" sz="1600" baseline="-25000" dirty="0" err="1">
                          <a:solidFill>
                            <a:srgbClr val="1B1C1D"/>
                          </a:solidFill>
                          <a:effectLst/>
                        </a:rPr>
                        <a:t>ges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37.752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2097559496"/>
                  </a:ext>
                </a:extLst>
              </a:tr>
              <a:tr h="53649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Axial force on screw by thrust or tensile force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4.837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603627559"/>
                  </a:ext>
                </a:extLst>
              </a:tr>
              <a:tr h="53649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Axial force on screw by bending moment        M</a:t>
                      </a:r>
                      <a:r>
                        <a:rPr lang="en-US" sz="1600" baseline="-25000" dirty="0">
                          <a:solidFill>
                            <a:srgbClr val="1B1C1D"/>
                          </a:solidFill>
                          <a:effectLst/>
                        </a:rPr>
                        <a:t>b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187.970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760432312"/>
                  </a:ext>
                </a:extLst>
              </a:tr>
              <a:tr h="53649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Total axial force on screw F</a:t>
                      </a:r>
                      <a:r>
                        <a:rPr lang="en-US" sz="1600" baseline="-25000" dirty="0">
                          <a:solidFill>
                            <a:srgbClr val="1B1C1D"/>
                          </a:solidFill>
                          <a:effectLst/>
                        </a:rPr>
                        <a:t>a, </a:t>
                      </a:r>
                      <a:r>
                        <a:rPr lang="en-US" sz="1600" baseline="-25000" dirty="0" err="1">
                          <a:solidFill>
                            <a:srgbClr val="1B1C1D"/>
                          </a:solidFill>
                          <a:effectLst/>
                        </a:rPr>
                        <a:t>ges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192.807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  <a:p>
                      <a:pPr algn="ctr" rtl="0">
                        <a:buNone/>
                      </a:pP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4240259455"/>
                  </a:ext>
                </a:extLst>
              </a:tr>
              <a:tr h="44673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Required force of individual screw  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</a:rPr>
                        <a:t>F</a:t>
                      </a:r>
                      <a:r>
                        <a:rPr lang="en-US" sz="1600" baseline="-25000" dirty="0" err="1">
                          <a:solidFill>
                            <a:srgbClr val="1B1C1D"/>
                          </a:solidFill>
                          <a:effectLst/>
                        </a:rPr>
                        <a:t>kl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125.840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2219814690"/>
                  </a:ext>
                </a:extLst>
              </a:tr>
              <a:tr h="40941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Required total axial </a:t>
                      </a:r>
                      <a:r>
                        <a:rPr lang="en-US" sz="1600" b="1" dirty="0" err="1">
                          <a:solidFill>
                            <a:srgbClr val="1B1C1D"/>
                          </a:solidFill>
                          <a:effectLst/>
                        </a:rPr>
                        <a:t>forceF</a:t>
                      </a:r>
                      <a:r>
                        <a:rPr lang="en-US" sz="1600" b="1" baseline="-25000" dirty="0" err="1">
                          <a:solidFill>
                            <a:srgbClr val="1B1C1D"/>
                          </a:solidFill>
                          <a:effectLst/>
                        </a:rPr>
                        <a:t>erf</a:t>
                      </a:r>
                      <a:endParaRPr lang="en-US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318.647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KN</a:t>
                      </a: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1865285008"/>
                  </a:ext>
                </a:extLst>
              </a:tr>
              <a:tr h="5769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 err="1">
                          <a:solidFill>
                            <a:srgbClr val="1B1C1D"/>
                          </a:solidFill>
                          <a:effectLst/>
                        </a:rPr>
                        <a:t>A</a:t>
                      </a:r>
                      <a:r>
                        <a:rPr lang="en-US" sz="1600" b="1" baseline="-25000" dirty="0" err="1">
                          <a:solidFill>
                            <a:srgbClr val="1B1C1D"/>
                          </a:solidFill>
                          <a:effectLst/>
                        </a:rPr>
                        <a:t>S,min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&gt; </a:t>
                      </a:r>
                      <a:r>
                        <a:rPr lang="en-US" sz="1600" b="1" dirty="0" err="1">
                          <a:solidFill>
                            <a:srgbClr val="1B1C1D"/>
                          </a:solidFill>
                          <a:effectLst/>
                        </a:rPr>
                        <a:t>F</a:t>
                      </a:r>
                      <a:r>
                        <a:rPr lang="en-US" sz="1600" b="1" baseline="-25000" dirty="0" err="1">
                          <a:solidFill>
                            <a:srgbClr val="1B1C1D"/>
                          </a:solidFill>
                          <a:effectLst/>
                        </a:rPr>
                        <a:t>erf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/ (</a:t>
                      </a:r>
                      <a:r>
                        <a:rPr kumimoji="0" lang="en-US" altLang="en-US" sz="1600" b="1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oogle Sans Tex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US" altLang="en-US" sz="16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oogle Sans Text"/>
                          <a:ea typeface="+mn-ea"/>
                          <a:cs typeface="+mn-cs"/>
                        </a:rPr>
                        <a:t>p0.2</a:t>
                      </a:r>
                      <a:r>
                        <a:rPr kumimoji="0" lang="en-US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oogle Sans Text"/>
                          <a:ea typeface="+mn-ea"/>
                          <a:cs typeface="+mn-cs"/>
                        </a:rPr>
                        <a:t> *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0.9)</a:t>
                      </a:r>
                      <a:endParaRPr lang="en-US" sz="16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376.16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kumimoji="0" lang="en-US" altLang="en-US" sz="16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oogle Sans Text"/>
                          <a:ea typeface="+mn-ea"/>
                          <a:cs typeface="+mn-cs"/>
                        </a:rPr>
                        <a:t>mm</a:t>
                      </a:r>
                      <a:r>
                        <a:rPr kumimoji="0" lang="en-US" altLang="en-US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oogle Sans Text"/>
                          <a:ea typeface="+mn-ea"/>
                          <a:cs typeface="+mn-cs"/>
                        </a:rPr>
                        <a:t>2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4849" marR="54849" marT="36566" marB="36566" anchor="ctr"/>
                </a:tc>
                <a:extLst>
                  <a:ext uri="{0D108BD9-81ED-4DB2-BD59-A6C34878D82A}">
                    <a16:rowId xmlns:a16="http://schemas.microsoft.com/office/drawing/2014/main" val="2155692590"/>
                  </a:ext>
                </a:extLst>
              </a:tr>
            </a:tbl>
          </a:graphicData>
        </a:graphic>
      </p:graphicFrame>
      <p:sp>
        <p:nvSpPr>
          <p:cNvPr id="9" name="Titel 4">
            <a:extLst>
              <a:ext uri="{FF2B5EF4-FFF2-40B4-BE49-F238E27FC236}">
                <a16:creationId xmlns:a16="http://schemas.microsoft.com/office/drawing/2014/main" id="{E0ED94B0-4BFA-C313-871F-D0E3C75B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dirty="0"/>
              <a:t> Flange  Screw dimension Calculation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3283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7CD7F-1436-D450-B5D1-6B4CE100600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E1E13-60A0-BAE3-FBD8-63B074C940F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9AD0B-DB85-ED3B-961C-C52733E7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Hydraulic </a:t>
            </a:r>
            <a:r>
              <a:rPr lang="en-US" sz="3600" dirty="0" err="1"/>
              <a:t>Torqure</a:t>
            </a:r>
            <a:r>
              <a:rPr lang="en-US" sz="3600" dirty="0"/>
              <a:t> wrench for M36 bolts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BD0F0-3B84-54A7-A657-C5674615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83" y="1539076"/>
            <a:ext cx="6515665" cy="3779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E0A52D-BE66-BB56-1C1A-F3F83662FABA}"/>
              </a:ext>
            </a:extLst>
          </p:cNvPr>
          <p:cNvSpPr txBox="1"/>
          <p:nvPr/>
        </p:nvSpPr>
        <p:spPr>
          <a:xfrm>
            <a:off x="7436338" y="1690688"/>
            <a:ext cx="18941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D-87</a:t>
            </a:r>
          </a:p>
          <a:p>
            <a:r>
              <a:rPr lang="en-US" dirty="0"/>
              <a:t>Diameter of the socket at hexagonal head side of the Bolt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83A8A9-6B54-CADE-12BE-3060FB067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055" y="1690688"/>
            <a:ext cx="2023349" cy="24995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7BBAD9-5290-6915-E2E7-E652005139F7}"/>
              </a:ext>
            </a:extLst>
          </p:cNvPr>
          <p:cNvSpPr txBox="1"/>
          <p:nvPr/>
        </p:nvSpPr>
        <p:spPr>
          <a:xfrm>
            <a:off x="838200" y="5659409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ITH Type- CX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0A4C5-91A4-8D4A-79C9-91B872C68D3B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ITH</a:t>
            </a:r>
          </a:p>
        </p:txBody>
      </p:sp>
    </p:spTree>
    <p:extLst>
      <p:ext uri="{BB962C8B-B14F-4D97-AF65-F5344CB8AC3E}">
        <p14:creationId xmlns:p14="http://schemas.microsoft.com/office/powerpoint/2010/main" val="240175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10775-D325-83CA-8214-E3F1CD5A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2F835-5620-C5E4-12F3-5B1AE2F05A2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CE779-FEF3-F1D8-21AC-3C7C00BB387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0B2EB06D-0788-F26B-CD14-47AF2D30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37364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sz="2800" dirty="0"/>
              <a:t>Bolted Flange Calculation –Gear box side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DC737-0BB7-F024-D631-FE19924C473B}"/>
              </a:ext>
            </a:extLst>
          </p:cNvPr>
          <p:cNvSpPr txBox="1"/>
          <p:nvPr/>
        </p:nvSpPr>
        <p:spPr>
          <a:xfrm>
            <a:off x="1151289" y="4506444"/>
            <a:ext cx="3601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dirty="0"/>
              <a:t>Hole </a:t>
            </a:r>
            <a:r>
              <a:rPr lang="en-US" dirty="0" err="1"/>
              <a:t>dia</a:t>
            </a:r>
            <a:r>
              <a:rPr lang="en-US" dirty="0"/>
              <a:t> =  39 mm (36+3mm)  </a:t>
            </a:r>
            <a:r>
              <a:rPr lang="en-US" sz="1200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069A63-B4C9-D8D8-1202-EB223E845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486372"/>
              </p:ext>
            </p:extLst>
          </p:nvPr>
        </p:nvGraphicFramePr>
        <p:xfrm>
          <a:off x="1151289" y="1884786"/>
          <a:ext cx="5585568" cy="239979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46249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396392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844731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698196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/>
                        <a:t>Flange Outer Diameter</a:t>
                      </a:r>
                      <a:endParaRPr lang="en-US" sz="18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1576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/>
                        <a:t>Pitch Circle Diameter</a:t>
                      </a:r>
                      <a:endParaRPr lang="en-US" sz="18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PCD</a:t>
                      </a:r>
                      <a:endParaRPr lang="en-US" sz="18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1376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/>
                        <a:t>Maximum Number of Holes (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18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800" dirty="0">
                          <a:effectLst/>
                        </a:rPr>
                        <a:t>N</a:t>
                      </a:r>
                      <a:r>
                        <a:rPr lang="pt-BR" sz="1800" baseline="-25000" dirty="0">
                          <a:effectLst/>
                        </a:rPr>
                        <a:t>total</a:t>
                      </a:r>
                      <a:r>
                        <a:rPr lang="pt-BR" sz="1800" dirty="0">
                          <a:effectLst/>
                        </a:rPr>
                        <a:t> </a:t>
                      </a:r>
                      <a:endParaRPr lang="pt-BR" sz="18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49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/>
                        <a:t>Minimum Center-to-Center Pitch</a:t>
                      </a:r>
                      <a:endParaRPr lang="en-US" sz="18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800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</a:t>
                      </a:r>
                      <a:endParaRPr lang="en-US" sz="18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87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41715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9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8898-EC61-7056-6807-8D66D4AE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33B88-9058-EA8F-15EA-0110AF4BD35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21ECF-1748-2E1B-6B67-1DD768C5D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2E256C00-DD07-765A-BCAB-9EC117D3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37364"/>
            <a:ext cx="10515600" cy="1325563"/>
          </a:xfrm>
        </p:spPr>
        <p:txBody>
          <a:bodyPr/>
          <a:lstStyle/>
          <a:p>
            <a:r>
              <a:rPr lang="de-DE" dirty="0"/>
              <a:t> </a:t>
            </a:r>
            <a:r>
              <a:rPr lang="en-US" sz="4800" dirty="0"/>
              <a:t>Rotor Lock pin Calculations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4D5251-3A93-EE46-C99C-30F3A5BAC28C}"/>
                  </a:ext>
                </a:extLst>
              </p:cNvPr>
              <p:cNvSpPr txBox="1"/>
              <p:nvPr/>
            </p:nvSpPr>
            <p:spPr>
              <a:xfrm>
                <a:off x="838200" y="1731547"/>
                <a:ext cx="4461621" cy="487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2∗</m:t>
                        </m:r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4D5251-3A93-EE46-C99C-30F3A5BAC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31547"/>
                <a:ext cx="4461621" cy="487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1EE5AD6-17EA-80D3-4B9C-5F50E287E700}"/>
              </a:ext>
            </a:extLst>
          </p:cNvPr>
          <p:cNvSpPr txBox="1"/>
          <p:nvPr/>
        </p:nvSpPr>
        <p:spPr>
          <a:xfrm>
            <a:off x="2072953" y="184450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where, Lock pin hole circle radius r = 1425mm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398985-C1E7-72D3-28FA-F8533078ABE5}"/>
              </a:ext>
            </a:extLst>
          </p:cNvPr>
          <p:cNvSpPr txBox="1"/>
          <p:nvPr/>
        </p:nvSpPr>
        <p:spPr>
          <a:xfrm>
            <a:off x="760479" y="2395421"/>
            <a:ext cx="830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Torsional moment scaled from shakti Mt= 2747.45 </a:t>
            </a:r>
            <a:r>
              <a:rPr lang="en-US" dirty="0" err="1"/>
              <a:t>KNm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43EDD-2010-5C3D-D793-8F9996811203}"/>
              </a:ext>
            </a:extLst>
          </p:cNvPr>
          <p:cNvSpPr txBox="1"/>
          <p:nvPr/>
        </p:nvSpPr>
        <p:spPr>
          <a:xfrm>
            <a:off x="755251" y="2764753"/>
            <a:ext cx="96670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Torsional moment (considering 250% of the calculated value), </a:t>
            </a:r>
            <a:r>
              <a:rPr lang="en-US" dirty="0">
                <a:highlight>
                  <a:srgbClr val="FFFF00"/>
                </a:highlight>
              </a:rPr>
              <a:t>same 250%</a:t>
            </a:r>
            <a:r>
              <a:rPr lang="en-US" dirty="0"/>
              <a:t> percentage used  in Optimus Shakti and Optimus 60E</a:t>
            </a:r>
          </a:p>
        </p:txBody>
      </p:sp>
      <p:sp>
        <p:nvSpPr>
          <p:cNvPr id="15" name="Double Wave 14">
            <a:extLst>
              <a:ext uri="{FF2B5EF4-FFF2-40B4-BE49-F238E27FC236}">
                <a16:creationId xmlns:a16="http://schemas.microsoft.com/office/drawing/2014/main" id="{BE5A626F-59BD-3687-85D4-A0F84CE5A67E}"/>
              </a:ext>
            </a:extLst>
          </p:cNvPr>
          <p:cNvSpPr/>
          <p:nvPr/>
        </p:nvSpPr>
        <p:spPr>
          <a:xfrm>
            <a:off x="7512699" y="2395421"/>
            <a:ext cx="699796" cy="369333"/>
          </a:xfrm>
          <a:prstGeom prst="doubleWav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Doubt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F6B2A-5313-5B58-27FA-0E9F80BB2373}"/>
              </a:ext>
            </a:extLst>
          </p:cNvPr>
          <p:cNvSpPr txBox="1"/>
          <p:nvPr/>
        </p:nvSpPr>
        <p:spPr>
          <a:xfrm>
            <a:off x="755251" y="3498759"/>
            <a:ext cx="830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Torsional moment Mt= 6868.25 </a:t>
            </a:r>
            <a:r>
              <a:rPr lang="en-US" dirty="0" err="1"/>
              <a:t>KNm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27D237-23DB-2810-C5A4-3F25A17DB9FF}"/>
                  </a:ext>
                </a:extLst>
              </p:cNvPr>
              <p:cNvSpPr txBox="1"/>
              <p:nvPr/>
            </p:nvSpPr>
            <p:spPr>
              <a:xfrm>
                <a:off x="838200" y="3917740"/>
                <a:ext cx="446162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=2410.04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kN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27D237-23DB-2810-C5A4-3F25A17DB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7740"/>
                <a:ext cx="4461621" cy="307777"/>
              </a:xfrm>
              <a:prstGeom prst="rect">
                <a:avLst/>
              </a:prstGeom>
              <a:blipFill>
                <a:blip r:embed="rId3"/>
                <a:stretch>
                  <a:fillRect l="-3283" t="-22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6715340-2892-615E-5658-D5777C7DD21A}"/>
              </a:ext>
            </a:extLst>
          </p:cNvPr>
          <p:cNvSpPr txBox="1"/>
          <p:nvPr/>
        </p:nvSpPr>
        <p:spPr>
          <a:xfrm>
            <a:off x="755251" y="4275166"/>
            <a:ext cx="1017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Thickness of Integrated rotor lock disc =   Flange </a:t>
            </a:r>
            <a:r>
              <a:rPr lang="en-US" dirty="0" err="1"/>
              <a:t>thickness+thickness</a:t>
            </a:r>
            <a:r>
              <a:rPr lang="en-US" dirty="0"/>
              <a:t> of disc= 150+100=250mm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C3100-E7B4-C15A-2B5A-61E11D826EC1}"/>
              </a:ext>
            </a:extLst>
          </p:cNvPr>
          <p:cNvSpPr txBox="1"/>
          <p:nvPr/>
        </p:nvSpPr>
        <p:spPr>
          <a:xfrm>
            <a:off x="755251" y="481733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Bending Moment acting on the Lock pin ,</a:t>
            </a:r>
            <a:r>
              <a:rPr lang="en-US" sz="1800" dirty="0" err="1">
                <a:solidFill>
                  <a:srgbClr val="1B1C1D"/>
                </a:solidFill>
                <a:effectLst/>
              </a:rPr>
              <a:t>M</a:t>
            </a:r>
            <a:r>
              <a:rPr lang="en-US" sz="1800" baseline="-25000" dirty="0" err="1">
                <a:solidFill>
                  <a:srgbClr val="1B1C1D"/>
                </a:solidFill>
                <a:effectLst/>
              </a:rPr>
              <a:t>bpin</a:t>
            </a:r>
            <a:r>
              <a:rPr lang="en-US" sz="1800" baseline="-25000" dirty="0">
                <a:solidFill>
                  <a:srgbClr val="1B1C1D"/>
                </a:solidFill>
                <a:effectLst/>
              </a:rPr>
              <a:t>=</a:t>
            </a:r>
            <a:r>
              <a:rPr lang="en-US" sz="1800" dirty="0">
                <a:solidFill>
                  <a:srgbClr val="1B1C1D"/>
                </a:solidFill>
                <a:effectLst/>
              </a:rPr>
              <a:t>F*L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B1C1D"/>
                </a:solidFill>
              </a:rPr>
              <a:t>M</a:t>
            </a:r>
            <a:r>
              <a:rPr lang="en-US" baseline="-25000" dirty="0" err="1">
                <a:solidFill>
                  <a:srgbClr val="1B1C1D"/>
                </a:solidFill>
              </a:rPr>
              <a:t>bpin</a:t>
            </a:r>
            <a:r>
              <a:rPr lang="en-US" baseline="-25000" dirty="0">
                <a:solidFill>
                  <a:srgbClr val="1B1C1D"/>
                </a:solidFill>
              </a:rPr>
              <a:t>=</a:t>
            </a:r>
            <a:r>
              <a:rPr lang="en-US" dirty="0">
                <a:solidFill>
                  <a:srgbClr val="1B1C1D"/>
                </a:solidFill>
              </a:rPr>
              <a:t>2410.04*135 =325355.4KN.mm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E1747D-AB53-1286-B693-0D515C230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699" y="4704393"/>
            <a:ext cx="3132549" cy="6943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591E863-7B37-B90D-3E33-7F19DECF01BD}"/>
              </a:ext>
            </a:extLst>
          </p:cNvPr>
          <p:cNvSpPr txBox="1"/>
          <p:nvPr/>
        </p:nvSpPr>
        <p:spPr>
          <a:xfrm>
            <a:off x="699549" y="5578356"/>
            <a:ext cx="4738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pressure acting on the hole of the disk ,P= F/A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P= 479.6  </a:t>
            </a:r>
            <a:r>
              <a:rPr lang="en-US" altLang="en-US" sz="1600" dirty="0">
                <a:solidFill>
                  <a:prstClr val="black"/>
                </a:solidFill>
                <a:latin typeface="Google Sans Text"/>
              </a:rPr>
              <a:t> N/mm</a:t>
            </a:r>
            <a:r>
              <a:rPr lang="en-US" altLang="en-US" sz="1600" baseline="30000" dirty="0">
                <a:solidFill>
                  <a:prstClr val="black"/>
                </a:solidFill>
                <a:latin typeface="Google Sans Text"/>
              </a:rPr>
              <a:t>2</a:t>
            </a:r>
            <a:r>
              <a:rPr lang="en-US" altLang="en-US" sz="1600" dirty="0">
                <a:solidFill>
                  <a:prstClr val="black"/>
                </a:solidFill>
                <a:latin typeface="Google Sans Text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94DAF3-D8BC-576A-75BA-7C875F47AAB1}"/>
              </a:ext>
            </a:extLst>
          </p:cNvPr>
          <p:cNvSpPr txBox="1"/>
          <p:nvPr/>
        </p:nvSpPr>
        <p:spPr>
          <a:xfrm>
            <a:off x="5840434" y="5552949"/>
            <a:ext cx="587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00"/>
                </a:highlight>
              </a:rPr>
              <a:t>The disk hole </a:t>
            </a:r>
            <a:r>
              <a:rPr lang="en-US" sz="1600" dirty="0"/>
              <a:t>= Diameter of lock pin +3mm =  198+3= </a:t>
            </a:r>
            <a:r>
              <a:rPr lang="en-US" sz="1600" dirty="0">
                <a:highlight>
                  <a:srgbClr val="FFFF00"/>
                </a:highlight>
              </a:rPr>
              <a:t>201 mm </a:t>
            </a:r>
            <a:endParaRPr lang="en-US" sz="16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EC6B6-9AC8-0D9D-2D2B-FD831E4A9225}"/>
              </a:ext>
            </a:extLst>
          </p:cNvPr>
          <p:cNvSpPr txBox="1"/>
          <p:nvPr/>
        </p:nvSpPr>
        <p:spPr>
          <a:xfrm>
            <a:off x="5840434" y="5871517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Pressure acting area of the hole, A=201*135=5025 mm2</a:t>
            </a:r>
          </a:p>
        </p:txBody>
      </p:sp>
    </p:spTree>
    <p:extLst>
      <p:ext uri="{BB962C8B-B14F-4D97-AF65-F5344CB8AC3E}">
        <p14:creationId xmlns:p14="http://schemas.microsoft.com/office/powerpoint/2010/main" val="225331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3C55B-5CA2-81A9-CA04-49EB5346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5C27B-2E83-034E-ECB2-9190F60B7E8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F9240-28C0-2E64-3B3C-429D07091A8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AFFD87D5-BEBA-4E82-27FD-42EA96FD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37364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 pin Calculations </a:t>
            </a:r>
            <a:endParaRPr lang="en-GB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CE1AF-D85E-B447-1E89-A8667B311C6C}"/>
              </a:ext>
            </a:extLst>
          </p:cNvPr>
          <p:cNvSpPr txBox="1"/>
          <p:nvPr/>
        </p:nvSpPr>
        <p:spPr>
          <a:xfrm>
            <a:off x="889552" y="1662927"/>
            <a:ext cx="75951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Allowable bending stress of the material 42CrMO4 = 0.66fy                              Where Yield strength of the material 42CrMO4 , </a:t>
            </a:r>
            <a:r>
              <a:rPr lang="en-US" dirty="0" err="1"/>
              <a:t>fy</a:t>
            </a:r>
            <a:r>
              <a:rPr lang="en-US" dirty="0"/>
              <a:t> = 650 MPa or 650 N/mm2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Allowable bending stress of the material 42CrMO4 = 0.66 × 650 N/mm2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Allowable bending stress, σ = 429 N/mm2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Allowable bending stress of 42CrMO4 is more than the Pressure acting on the hole of the disc.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680FE-9203-C3B9-1F26-9950BA1F6E93}"/>
              </a:ext>
            </a:extLst>
          </p:cNvPr>
          <p:cNvSpPr txBox="1"/>
          <p:nvPr/>
        </p:nvSpPr>
        <p:spPr>
          <a:xfrm>
            <a:off x="2878528" y="410835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Allowable bending stress</a:t>
            </a:r>
            <a:r>
              <a:rPr lang="el-GR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E2ADA7-DFE1-2B42-0224-E76CBCC0342F}"/>
                  </a:ext>
                </a:extLst>
              </p:cNvPr>
              <p:cNvSpPr txBox="1"/>
              <p:nvPr/>
            </p:nvSpPr>
            <p:spPr>
              <a:xfrm>
                <a:off x="1067313" y="3992274"/>
                <a:ext cx="4801395" cy="4985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/>
                      <m:t>σ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/>
                          <m:t>𝑀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  <m:r>
                          <m:rPr>
                            <m:nor/>
                          </m:rPr>
                          <a:rPr lang="en-US" sz="2000" dirty="0"/>
                          <m:t>𝑏</m:t>
                        </m:r>
                        <m:r>
                          <m:rPr>
                            <m:nor/>
                          </m:rPr>
                          <a:rPr lang="en-US" sz="2000" dirty="0"/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𝑝𝑖𝑛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/>
                          <m:t>𝑊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E2ADA7-DFE1-2B42-0224-E76CBCC03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13" y="3992274"/>
                <a:ext cx="4801395" cy="4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71DDA-B519-5A81-F73C-810262295792}"/>
                  </a:ext>
                </a:extLst>
              </p:cNvPr>
              <p:cNvSpPr txBox="1"/>
              <p:nvPr/>
            </p:nvSpPr>
            <p:spPr>
              <a:xfrm>
                <a:off x="1067313" y="4477686"/>
                <a:ext cx="4801395" cy="4985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/>
                      <m:t>W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000" dirty="0"/>
                          <m:t>𝜋</m:t>
                        </m:r>
                        <m:r>
                          <m:rPr>
                            <m:nor/>
                          </m:rPr>
                          <a:rPr lang="fr-FR" sz="2000" dirty="0"/>
                          <m:t> × </m:t>
                        </m:r>
                        <m:r>
                          <m:rPr>
                            <m:nor/>
                          </m:rPr>
                          <a:rPr lang="fr-FR" sz="2000" dirty="0"/>
                          <m:t>𝑑</m:t>
                        </m:r>
                        <m:r>
                          <m:rPr>
                            <m:nor/>
                          </m:rPr>
                          <a:rPr lang="fr-FR" sz="2000" baseline="300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000" dirty="0"/>
                          <m:t>32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71DDA-B519-5A81-F73C-810262295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13" y="4477686"/>
                <a:ext cx="4801395" cy="498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14BB477-F595-5733-5028-03B9C9058B51}"/>
              </a:ext>
            </a:extLst>
          </p:cNvPr>
          <p:cNvSpPr txBox="1"/>
          <p:nvPr/>
        </p:nvSpPr>
        <p:spPr>
          <a:xfrm>
            <a:off x="974008" y="5159506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diameter of the Lock pin, </a:t>
            </a:r>
            <a:r>
              <a:rPr lang="en-US" dirty="0">
                <a:highlight>
                  <a:srgbClr val="FFFF00"/>
                </a:highlight>
              </a:rPr>
              <a:t>d1 = 198mm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53B5A-3E10-3D8B-A08C-0972C77BB518}"/>
              </a:ext>
            </a:extLst>
          </p:cNvPr>
          <p:cNvSpPr txBox="1"/>
          <p:nvPr/>
        </p:nvSpPr>
        <p:spPr>
          <a:xfrm>
            <a:off x="974008" y="5658104"/>
            <a:ext cx="587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ighlight>
                  <a:srgbClr val="FFFF00"/>
                </a:highlight>
              </a:rPr>
              <a:t>The disk hole </a:t>
            </a:r>
            <a:r>
              <a:rPr lang="en-US" sz="1600" dirty="0"/>
              <a:t>= Diameter of lock pin +3mm =  198+3= </a:t>
            </a:r>
            <a:r>
              <a:rPr lang="en-US" sz="1600" dirty="0">
                <a:highlight>
                  <a:srgbClr val="FFFF00"/>
                </a:highlight>
              </a:rPr>
              <a:t>201 mm </a:t>
            </a:r>
            <a:endParaRPr lang="en-US" sz="16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487CF6-11CB-F9D4-941D-568CFC7F5930}"/>
              </a:ext>
            </a:extLst>
          </p:cNvPr>
          <p:cNvSpPr txBox="1"/>
          <p:nvPr/>
        </p:nvSpPr>
        <p:spPr>
          <a:xfrm>
            <a:off x="974007" y="6064429"/>
            <a:ext cx="6975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ighlight>
                  <a:srgbClr val="FFFF00"/>
                </a:highlight>
              </a:rPr>
              <a:t>The Length of Lock pin L1 </a:t>
            </a:r>
            <a:r>
              <a:rPr lang="en-US" sz="1600" dirty="0"/>
              <a:t>= 365mm (Assumed same as Optimus Shakti)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endParaRPr lang="en-US" sz="16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10B448-EBB2-1198-D9CE-0501E8574556}"/>
              </a:ext>
            </a:extLst>
          </p:cNvPr>
          <p:cNvSpPr/>
          <p:nvPr/>
        </p:nvSpPr>
        <p:spPr>
          <a:xfrm>
            <a:off x="7949682" y="4976284"/>
            <a:ext cx="3175005" cy="81802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41CE0A-6164-F93F-DB0E-ADA69283B123}"/>
              </a:ext>
            </a:extLst>
          </p:cNvPr>
          <p:cNvCxnSpPr/>
          <p:nvPr/>
        </p:nvCxnSpPr>
        <p:spPr>
          <a:xfrm flipH="1">
            <a:off x="7679094" y="4976284"/>
            <a:ext cx="270588" cy="183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876C84-8683-81B7-3D8D-D7FE72D4DF3A}"/>
              </a:ext>
            </a:extLst>
          </p:cNvPr>
          <p:cNvCxnSpPr/>
          <p:nvPr/>
        </p:nvCxnSpPr>
        <p:spPr>
          <a:xfrm>
            <a:off x="7679094" y="5159506"/>
            <a:ext cx="0" cy="49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9C45D2A-6906-8962-F3C1-B84B9D64E500}"/>
              </a:ext>
            </a:extLst>
          </p:cNvPr>
          <p:cNvCxnSpPr/>
          <p:nvPr/>
        </p:nvCxnSpPr>
        <p:spPr>
          <a:xfrm>
            <a:off x="7679094" y="5658104"/>
            <a:ext cx="270588" cy="1362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0516B9-AD7B-987D-D2CC-69CA45352218}"/>
              </a:ext>
            </a:extLst>
          </p:cNvPr>
          <p:cNvCxnSpPr/>
          <p:nvPr/>
        </p:nvCxnSpPr>
        <p:spPr>
          <a:xfrm>
            <a:off x="7949682" y="5977997"/>
            <a:ext cx="30630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F0444D3-B5D9-9158-BF50-9EBE4F3365EF}"/>
              </a:ext>
            </a:extLst>
          </p:cNvPr>
          <p:cNvSpPr txBox="1"/>
          <p:nvPr/>
        </p:nvSpPr>
        <p:spPr>
          <a:xfrm>
            <a:off x="9210613" y="5996658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C48B56-B396-71AE-5B74-CC03414387C5}"/>
              </a:ext>
            </a:extLst>
          </p:cNvPr>
          <p:cNvSpPr txBox="1"/>
          <p:nvPr/>
        </p:nvSpPr>
        <p:spPr>
          <a:xfrm>
            <a:off x="7534469" y="4704052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D51A36-74BC-36E9-B049-872825CC01B4}"/>
              </a:ext>
            </a:extLst>
          </p:cNvPr>
          <p:cNvCxnSpPr>
            <a:cxnSpLocks/>
          </p:cNvCxnSpPr>
          <p:nvPr/>
        </p:nvCxnSpPr>
        <p:spPr>
          <a:xfrm>
            <a:off x="7487799" y="4938614"/>
            <a:ext cx="3825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DBCE19C-318A-AC83-64D6-739E5538AC6D}"/>
              </a:ext>
            </a:extLst>
          </p:cNvPr>
          <p:cNvCxnSpPr>
            <a:cxnSpLocks/>
          </p:cNvCxnSpPr>
          <p:nvPr/>
        </p:nvCxnSpPr>
        <p:spPr>
          <a:xfrm flipV="1">
            <a:off x="7554430" y="5159506"/>
            <a:ext cx="0" cy="586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8C67DE8-7562-987B-4E11-4F5E390FD632}"/>
              </a:ext>
            </a:extLst>
          </p:cNvPr>
          <p:cNvSpPr txBox="1"/>
          <p:nvPr/>
        </p:nvSpPr>
        <p:spPr>
          <a:xfrm>
            <a:off x="7204548" y="5324193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DB9C27-375A-819C-8BA8-6A4C4293D25A}"/>
              </a:ext>
            </a:extLst>
          </p:cNvPr>
          <p:cNvCxnSpPr>
            <a:cxnSpLocks/>
          </p:cNvCxnSpPr>
          <p:nvPr/>
        </p:nvCxnSpPr>
        <p:spPr>
          <a:xfrm flipV="1">
            <a:off x="11233802" y="4976284"/>
            <a:ext cx="0" cy="818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32F6DF-30EA-C783-62C8-A110A41D92CD}"/>
              </a:ext>
            </a:extLst>
          </p:cNvPr>
          <p:cNvSpPr txBox="1"/>
          <p:nvPr/>
        </p:nvSpPr>
        <p:spPr>
          <a:xfrm>
            <a:off x="11217992" y="5205672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7BC3B0-26CF-954E-F603-9CE5E21A75E4}"/>
              </a:ext>
            </a:extLst>
          </p:cNvPr>
          <p:cNvSpPr txBox="1"/>
          <p:nvPr/>
        </p:nvSpPr>
        <p:spPr>
          <a:xfrm>
            <a:off x="7298871" y="4529995"/>
            <a:ext cx="1012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L2= 35mm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4516DA-1406-D6E1-C157-A4C600084427}"/>
              </a:ext>
            </a:extLst>
          </p:cNvPr>
          <p:cNvSpPr txBox="1"/>
          <p:nvPr/>
        </p:nvSpPr>
        <p:spPr>
          <a:xfrm>
            <a:off x="11249612" y="5408805"/>
            <a:ext cx="1038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D1=198mm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0B664-7D32-0CD9-5F18-3913603BAA47}"/>
              </a:ext>
            </a:extLst>
          </p:cNvPr>
          <p:cNvSpPr txBox="1"/>
          <p:nvPr/>
        </p:nvSpPr>
        <p:spPr>
          <a:xfrm>
            <a:off x="6743692" y="5164273"/>
            <a:ext cx="989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D2=82mm</a:t>
            </a:r>
          </a:p>
        </p:txBody>
      </p:sp>
    </p:spTree>
    <p:extLst>
      <p:ext uri="{BB962C8B-B14F-4D97-AF65-F5344CB8AC3E}">
        <p14:creationId xmlns:p14="http://schemas.microsoft.com/office/powerpoint/2010/main" val="236359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5D84-0DF0-4DDC-33A2-9DA6DAE5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278" y="584200"/>
            <a:ext cx="14807876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240/1600 CAF/W33   Spherical roller bearing CAD Scaled Model </a:t>
            </a:r>
            <a:b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1624C-8A30-B27D-7DE2-71385735A5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68195-0B9C-59F4-2840-1243E9BD0F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08A417-1695-9B75-D86E-61895F8A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1" y="1518767"/>
            <a:ext cx="6553543" cy="4755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6F475-0932-9D2D-1BA1-3FEB19AC3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386" y="1518767"/>
            <a:ext cx="3901778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68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6A1D-80A5-DC55-FBEE-14616ACE1D8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60136-B635-800B-A1C5-F2FC1B924C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F4A1B-5C70-D8B9-835B-288ABF6069E4}"/>
              </a:ext>
            </a:extLst>
          </p:cNvPr>
          <p:cNvSpPr txBox="1"/>
          <p:nvPr/>
        </p:nvSpPr>
        <p:spPr>
          <a:xfrm>
            <a:off x="1034143" y="144819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Bearing  Dimensions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A3259A-E7F5-7EF7-63C1-81217D9E6ED0}"/>
              </a:ext>
            </a:extLst>
          </p:cNvPr>
          <p:cNvGraphicFramePr>
            <a:graphicFrameLocks noGrp="1"/>
          </p:cNvGraphicFramePr>
          <p:nvPr/>
        </p:nvGraphicFramePr>
        <p:xfrm>
          <a:off x="1393885" y="1943670"/>
          <a:ext cx="8701836" cy="27432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00612">
                  <a:extLst>
                    <a:ext uri="{9D8B030D-6E8A-4147-A177-3AD203B41FA5}">
                      <a16:colId xmlns:a16="http://schemas.microsoft.com/office/drawing/2014/main" val="3748437465"/>
                    </a:ext>
                  </a:extLst>
                </a:gridCol>
                <a:gridCol w="2900612">
                  <a:extLst>
                    <a:ext uri="{9D8B030D-6E8A-4147-A177-3AD203B41FA5}">
                      <a16:colId xmlns:a16="http://schemas.microsoft.com/office/drawing/2014/main" val="3058241877"/>
                    </a:ext>
                  </a:extLst>
                </a:gridCol>
                <a:gridCol w="2900612">
                  <a:extLst>
                    <a:ext uri="{9D8B030D-6E8A-4147-A177-3AD203B41FA5}">
                      <a16:colId xmlns:a16="http://schemas.microsoft.com/office/drawing/2014/main" val="235897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Parameter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Symbol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Scaled × 1.4286 (1600 bore)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901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Bore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1600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3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Outer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highlight>
                            <a:srgbClr val="FFFF00"/>
                          </a:highlight>
                        </a:rPr>
                        <a:t>2240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804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Total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highlight>
                            <a:srgbClr val="FFFF00"/>
                          </a:highlight>
                        </a:rPr>
                        <a:t>630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2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Rollers per row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650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Dᵣ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132.86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621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Roller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Lᵣ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249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8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W33 groove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17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144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Bearing steel / brass (CA)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625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4958B4-468F-2CE3-2918-DA7066FD6C4C}"/>
              </a:ext>
            </a:extLst>
          </p:cNvPr>
          <p:cNvSpPr txBox="1"/>
          <p:nvPr/>
        </p:nvSpPr>
        <p:spPr>
          <a:xfrm>
            <a:off x="838200" y="5117421"/>
            <a:ext cx="1043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dirty="0"/>
              <a:t>The scaled bearing size closely  matches the specification mentioned in the SKF email communication regarding the outer diameter and width.</a:t>
            </a:r>
          </a:p>
        </p:txBody>
      </p:sp>
    </p:spTree>
    <p:extLst>
      <p:ext uri="{BB962C8B-B14F-4D97-AF65-F5344CB8AC3E}">
        <p14:creationId xmlns:p14="http://schemas.microsoft.com/office/powerpoint/2010/main" val="1735972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B18D4-E2C0-A622-32A6-BCA1475B89F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DB525-5895-0240-6D8E-D7C58A85AB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73CC9-C133-6770-5E04-B88C7272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47" y="1332706"/>
            <a:ext cx="3962743" cy="3565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4FDA2F-201F-8B54-B76A-1737F532CFBA}"/>
              </a:ext>
            </a:extLst>
          </p:cNvPr>
          <p:cNvSpPr txBox="1"/>
          <p:nvPr/>
        </p:nvSpPr>
        <p:spPr>
          <a:xfrm>
            <a:off x="8842839" y="5058961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Optimus 60E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8CF5A26-779D-2A96-FBCD-F1B0CBAA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478" y="669925"/>
            <a:ext cx="14807876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Lock Nut</a:t>
            </a:r>
            <a:b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F2510C-F3A5-4D9F-34F7-48A97C5651B7}"/>
              </a:ext>
            </a:extLst>
          </p:cNvPr>
          <p:cNvSpPr txBox="1"/>
          <p:nvPr/>
        </p:nvSpPr>
        <p:spPr>
          <a:xfrm>
            <a:off x="1106878" y="2332554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Nominal Thread depth = .5*24 =12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1A648-3F80-8202-4A7A-8B3948CDA832}"/>
              </a:ext>
            </a:extLst>
          </p:cNvPr>
          <p:cNvSpPr txBox="1"/>
          <p:nvPr/>
        </p:nvSpPr>
        <p:spPr>
          <a:xfrm>
            <a:off x="1106878" y="1963222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Tr 1600*24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AE9236-D5E5-72D0-B4E2-2F94C5A6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607" y="1963953"/>
            <a:ext cx="2080440" cy="12955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E441EEB-CD7C-6E9F-12D5-965A34293B1B}"/>
              </a:ext>
            </a:extLst>
          </p:cNvPr>
          <p:cNvSpPr txBox="1"/>
          <p:nvPr/>
        </p:nvSpPr>
        <p:spPr>
          <a:xfrm>
            <a:off x="583002" y="3879116"/>
            <a:ext cx="730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/>
              <a:t>A</a:t>
            </a:r>
            <a:r>
              <a:rPr lang="en-US" dirty="0"/>
              <a:t>ssumed scaled up value based on Optimus  Shakti and Optimus 60E</a:t>
            </a:r>
          </a:p>
        </p:txBody>
      </p:sp>
    </p:spTree>
    <p:extLst>
      <p:ext uri="{BB962C8B-B14F-4D97-AF65-F5344CB8AC3E}">
        <p14:creationId xmlns:p14="http://schemas.microsoft.com/office/powerpoint/2010/main" val="1490541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240/1120 CAF/W33 - Spherical roller bearings</a:t>
            </a:r>
            <a:r>
              <a:rPr lang="en-US" dirty="0"/>
              <a:t>. Retrieved October 29, 2025, from </a:t>
            </a:r>
            <a:r>
              <a:rPr lang="en-US" dirty="0">
                <a:hlinkClick r:id="rId2"/>
              </a:rPr>
              <a:t>https://www.skf.com/group/products/rolling-bearings/roller-bearings/spherical-roller-bearings/productid-240%2F1120</a:t>
            </a:r>
            <a:r>
              <a:rPr lang="en-US" dirty="0"/>
              <a:t> CAF%2FW33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</a:t>
            </a:r>
            <a:r>
              <a:rPr lang="en-US" dirty="0">
                <a:hlinkClick r:id="rId3"/>
              </a:rPr>
              <a:t>www.ITH.de/schraubwerkzeuge/hydraulische-drehmomentschrauber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dirty="0" err="1">
                <a:solidFill>
                  <a:srgbClr val="1B1C1D"/>
                </a:solidFill>
                <a:latin typeface="Google Sans Text"/>
              </a:rPr>
              <a:t>Aramfix</a:t>
            </a:r>
            <a:r>
              <a:rPr lang="en-US" altLang="en-US" dirty="0">
                <a:solidFill>
                  <a:srgbClr val="1B1C1D"/>
                </a:solidFill>
                <a:latin typeface="Google Sans Text"/>
              </a:rPr>
              <a:t>. (n.d.). DIN 931 Hex Bolt M36x350mm Grade 10.9 Plain Metric Partially Hex. Retrieved November 17, 2025, from </a:t>
            </a:r>
            <a:r>
              <a:rPr lang="en-US" altLang="en-US" dirty="0">
                <a:solidFill>
                  <a:srgbClr val="0B57D0"/>
                </a:solidFill>
                <a:latin typeface="Google Sans Text"/>
                <a:hlinkClick r:id="rId4"/>
              </a:rPr>
              <a:t>www.aramfix.com/product/din-931-hex-bolt-m36x350mm-grade-10-9-plain-metric-partially-hex-5-pcs-box</a:t>
            </a:r>
            <a:endParaRPr lang="en-US" altLang="en-US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18/11/2025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</TotalTime>
  <Words>1036</Words>
  <Application>Microsoft Office PowerPoint</Application>
  <PresentationFormat>Widescreen</PresentationFormat>
  <Paragraphs>233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</vt:lpstr>
      <vt:lpstr>Benutzerdefiniertes Design</vt:lpstr>
      <vt:lpstr>PowerPoint Presentation</vt:lpstr>
      <vt:lpstr>PowerPoint Presentation</vt:lpstr>
      <vt:lpstr>Agenda</vt:lpstr>
      <vt:lpstr> Bolted Flange Calculation –Hub side without Rotor lock  consideration </vt:lpstr>
      <vt:lpstr>  Flange  Screw dimension Calculation </vt:lpstr>
      <vt:lpstr>  Flange  Screw dimension Calculation </vt:lpstr>
      <vt:lpstr>  Flange  Screw dimension Calculation </vt:lpstr>
      <vt:lpstr>  Flange  Screw dimension Calculation </vt:lpstr>
      <vt:lpstr>Hydraulic Torqure wrench for M36 bolts</vt:lpstr>
      <vt:lpstr> Bolted Flange Calculation –Gear box side</vt:lpstr>
      <vt:lpstr> Rotor Lock pin Calculations</vt:lpstr>
      <vt:lpstr> Rotor Lock pin Calculations </vt:lpstr>
      <vt:lpstr>240/1600 CAF/W33   Spherical roller bearing CAD Scaled Model  </vt:lpstr>
      <vt:lpstr>PowerPoint Presentation</vt:lpstr>
      <vt:lpstr>Lock Nut 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54</cp:revision>
  <dcterms:created xsi:type="dcterms:W3CDTF">2025-10-24T16:53:52Z</dcterms:created>
  <dcterms:modified xsi:type="dcterms:W3CDTF">2025-11-17T05:26:44Z</dcterms:modified>
</cp:coreProperties>
</file>