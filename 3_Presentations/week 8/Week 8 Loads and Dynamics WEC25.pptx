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6"/>
  </p:notesMasterIdLst>
  <p:sldIdLst>
    <p:sldId id="256" r:id="rId3"/>
    <p:sldId id="259" r:id="rId4"/>
    <p:sldId id="272" r:id="rId5"/>
    <p:sldId id="274" r:id="rId6"/>
    <p:sldId id="281" r:id="rId7"/>
    <p:sldId id="280" r:id="rId8"/>
    <p:sldId id="282" r:id="rId9"/>
    <p:sldId id="283" r:id="rId10"/>
    <p:sldId id="284" r:id="rId11"/>
    <p:sldId id="285" r:id="rId12"/>
    <p:sldId id="286" r:id="rId13"/>
    <p:sldId id="276"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rst slide" id="{EBA04D78-D1FF-49F4-BDD6-03EE135E606E}">
          <p14:sldIdLst>
            <p14:sldId id="256"/>
          </p14:sldIdLst>
        </p14:section>
        <p14:section name="text slide" id="{65043596-36B7-4360-BB5C-7A99EFAEC5C9}">
          <p14:sldIdLst>
            <p14:sldId id="259"/>
          </p14:sldIdLst>
        </p14:section>
        <p14:section name="graph slide" id="{B26F6679-C236-4D3D-BC2F-CAE5ED400718}">
          <p14:sldIdLst>
            <p14:sldId id="272"/>
            <p14:sldId id="274"/>
            <p14:sldId id="281"/>
            <p14:sldId id="280"/>
            <p14:sldId id="282"/>
            <p14:sldId id="283"/>
            <p14:sldId id="284"/>
            <p14:sldId id="285"/>
            <p14:sldId id="286"/>
            <p14:sldId id="276"/>
          </p14:sldIdLst>
        </p14:section>
        <p14:section name="bibliography" id="{2ECB0A3B-7D16-4F98-AD6A-5308DF7BF078}">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AB6C1"/>
    <a:srgbClr val="FFFFFF"/>
    <a:srgbClr val="8ECEFA"/>
    <a:srgbClr val="92C6E6"/>
    <a:srgbClr val="80D2F7"/>
    <a:srgbClr val="7ED1F7"/>
    <a:srgbClr val="A1DFFD"/>
    <a:srgbClr val="C0F5FF"/>
    <a:srgbClr val="3C96FA"/>
    <a:srgbClr val="BDE5F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754" autoAdjust="0"/>
    <p:restoredTop sz="94660"/>
  </p:normalViewPr>
  <p:slideViewPr>
    <p:cSldViewPr snapToGrid="0">
      <p:cViewPr varScale="1">
        <p:scale>
          <a:sx n="78" d="100"/>
          <a:sy n="78" d="100"/>
        </p:scale>
        <p:origin x="134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52B7C8-164C-4140-932B-122F288D33CD}" type="datetimeFigureOut">
              <a:rPr lang="en-GB" smtClean="0"/>
              <a:t>16/11/2025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23327E-A3FE-4279-B080-AD6DAF9EDC39}" type="slidenum">
              <a:rPr lang="en-GB" smtClean="0"/>
              <a:t>‹#›</a:t>
            </a:fld>
            <a:endParaRPr lang="en-GB"/>
          </a:p>
        </p:txBody>
      </p:sp>
    </p:spTree>
    <p:extLst>
      <p:ext uri="{BB962C8B-B14F-4D97-AF65-F5344CB8AC3E}">
        <p14:creationId xmlns:p14="http://schemas.microsoft.com/office/powerpoint/2010/main" val="3775679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23327E-A3FE-4279-B080-AD6DAF9EDC39}" type="slidenum">
              <a:rPr lang="en-GB" smtClean="0"/>
              <a:t>1</a:t>
            </a:fld>
            <a:endParaRPr lang="en-GB"/>
          </a:p>
        </p:txBody>
      </p:sp>
    </p:spTree>
    <p:extLst>
      <p:ext uri="{BB962C8B-B14F-4D97-AF65-F5344CB8AC3E}">
        <p14:creationId xmlns:p14="http://schemas.microsoft.com/office/powerpoint/2010/main" val="31155244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23327E-A3FE-4279-B080-AD6DAF9EDC39}" type="slidenum">
              <a:rPr lang="en-GB" smtClean="0"/>
              <a:t>2</a:t>
            </a:fld>
            <a:endParaRPr lang="en-GB"/>
          </a:p>
        </p:txBody>
      </p:sp>
    </p:spTree>
    <p:extLst>
      <p:ext uri="{BB962C8B-B14F-4D97-AF65-F5344CB8AC3E}">
        <p14:creationId xmlns:p14="http://schemas.microsoft.com/office/powerpoint/2010/main" val="1705338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7A657-38CD-C08A-9C1B-B9CD7AC4C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A27432-D777-E332-0F94-ABB4525D71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729F61-B842-CCB8-1ABF-372A5F3AF169}"/>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AFAA884-AC4C-4119-B1F3-CB5E5B1F0659}"/>
              </a:ext>
            </a:extLst>
          </p:cNvPr>
          <p:cNvSpPr>
            <a:spLocks noGrp="1"/>
          </p:cNvSpPr>
          <p:nvPr>
            <p:ph type="sldNum" sz="quarter" idx="5"/>
          </p:nvPr>
        </p:nvSpPr>
        <p:spPr/>
        <p:txBody>
          <a:bodyPr/>
          <a:lstStyle/>
          <a:p>
            <a:fld id="{CA23327E-A3FE-4279-B080-AD6DAF9EDC39}" type="slidenum">
              <a:rPr lang="en-GB" smtClean="0"/>
              <a:t>3</a:t>
            </a:fld>
            <a:endParaRPr lang="en-GB"/>
          </a:p>
        </p:txBody>
      </p:sp>
    </p:spTree>
    <p:extLst>
      <p:ext uri="{BB962C8B-B14F-4D97-AF65-F5344CB8AC3E}">
        <p14:creationId xmlns:p14="http://schemas.microsoft.com/office/powerpoint/2010/main" val="33475487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4DF72-239B-2727-0741-72937FFF74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B9894-365C-F1BB-C6D1-80520BA77B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81D379-0A6D-3B73-FF18-8C52247F6BAF}"/>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F0B8C640-6E38-186E-E4E5-20F5F6977CC5}"/>
              </a:ext>
            </a:extLst>
          </p:cNvPr>
          <p:cNvSpPr>
            <a:spLocks noGrp="1"/>
          </p:cNvSpPr>
          <p:nvPr>
            <p:ph type="sldNum" sz="quarter" idx="5"/>
          </p:nvPr>
        </p:nvSpPr>
        <p:spPr/>
        <p:txBody>
          <a:bodyPr/>
          <a:lstStyle/>
          <a:p>
            <a:fld id="{CA23327E-A3FE-4279-B080-AD6DAF9EDC39}" type="slidenum">
              <a:rPr lang="en-GB" smtClean="0"/>
              <a:t>4</a:t>
            </a:fld>
            <a:endParaRPr lang="en-GB"/>
          </a:p>
        </p:txBody>
      </p:sp>
    </p:spTree>
    <p:extLst>
      <p:ext uri="{BB962C8B-B14F-4D97-AF65-F5344CB8AC3E}">
        <p14:creationId xmlns:p14="http://schemas.microsoft.com/office/powerpoint/2010/main" val="5640769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EAFC5A-F5F3-56B6-0321-C12BDD1AFE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7FEB2-D58C-82EF-30C4-D7690F253F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29F48F-90DE-A1A7-AC91-8D253534D1B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BC6E226-7E9E-3C4F-1080-0B98C8849F00}"/>
              </a:ext>
            </a:extLst>
          </p:cNvPr>
          <p:cNvSpPr>
            <a:spLocks noGrp="1"/>
          </p:cNvSpPr>
          <p:nvPr>
            <p:ph type="sldNum" sz="quarter" idx="5"/>
          </p:nvPr>
        </p:nvSpPr>
        <p:spPr/>
        <p:txBody>
          <a:bodyPr/>
          <a:lstStyle/>
          <a:p>
            <a:fld id="{CA23327E-A3FE-4279-B080-AD6DAF9EDC39}" type="slidenum">
              <a:rPr lang="en-GB" smtClean="0"/>
              <a:t>5</a:t>
            </a:fld>
            <a:endParaRPr lang="en-GB"/>
          </a:p>
        </p:txBody>
      </p:sp>
    </p:spTree>
    <p:extLst>
      <p:ext uri="{BB962C8B-B14F-4D97-AF65-F5344CB8AC3E}">
        <p14:creationId xmlns:p14="http://schemas.microsoft.com/office/powerpoint/2010/main" val="383054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4C2A3-9F2F-09CD-03FF-F40DFF027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B5876-FE32-2D10-D55D-A3D936FA8A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FF8598-94A5-8349-C872-8A53D8DDA670}"/>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6F17DE48-201E-94AF-71C6-8C8EECDFDBC3}"/>
              </a:ext>
            </a:extLst>
          </p:cNvPr>
          <p:cNvSpPr>
            <a:spLocks noGrp="1"/>
          </p:cNvSpPr>
          <p:nvPr>
            <p:ph type="sldNum" sz="quarter" idx="5"/>
          </p:nvPr>
        </p:nvSpPr>
        <p:spPr/>
        <p:txBody>
          <a:bodyPr/>
          <a:lstStyle/>
          <a:p>
            <a:fld id="{CA23327E-A3FE-4279-B080-AD6DAF9EDC39}" type="slidenum">
              <a:rPr lang="en-GB" smtClean="0"/>
              <a:t>6</a:t>
            </a:fld>
            <a:endParaRPr lang="en-GB"/>
          </a:p>
        </p:txBody>
      </p:sp>
    </p:spTree>
    <p:extLst>
      <p:ext uri="{BB962C8B-B14F-4D97-AF65-F5344CB8AC3E}">
        <p14:creationId xmlns:p14="http://schemas.microsoft.com/office/powerpoint/2010/main" val="4462464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9C1A7-2D16-2777-5998-B195EF07E3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BBF84D-8CC2-84D3-AE8B-13FBB0C58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4BEE6-7E2A-583A-AA9C-DD040C57CEA2}"/>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DC8EA31A-65FE-5A57-796E-D6BA4FB41C01}"/>
              </a:ext>
            </a:extLst>
          </p:cNvPr>
          <p:cNvSpPr>
            <a:spLocks noGrp="1"/>
          </p:cNvSpPr>
          <p:nvPr>
            <p:ph type="sldNum" sz="quarter" idx="5"/>
          </p:nvPr>
        </p:nvSpPr>
        <p:spPr/>
        <p:txBody>
          <a:bodyPr/>
          <a:lstStyle/>
          <a:p>
            <a:fld id="{CA23327E-A3FE-4279-B080-AD6DAF9EDC39}" type="slidenum">
              <a:rPr lang="en-GB" smtClean="0"/>
              <a:t>7</a:t>
            </a:fld>
            <a:endParaRPr lang="en-GB"/>
          </a:p>
        </p:txBody>
      </p:sp>
    </p:spTree>
    <p:extLst>
      <p:ext uri="{BB962C8B-B14F-4D97-AF65-F5344CB8AC3E}">
        <p14:creationId xmlns:p14="http://schemas.microsoft.com/office/powerpoint/2010/main" val="4134310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543E0-B784-04F3-66D9-2E7B85C978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41B586-4024-065A-97DB-51EE3C721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D455D4-0702-C70C-26B7-C6636B96D44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C7D53900-0D41-9D59-4380-CA1385B62E1E}"/>
              </a:ext>
            </a:extLst>
          </p:cNvPr>
          <p:cNvSpPr>
            <a:spLocks noGrp="1"/>
          </p:cNvSpPr>
          <p:nvPr>
            <p:ph type="sldNum" sz="quarter" idx="5"/>
          </p:nvPr>
        </p:nvSpPr>
        <p:spPr/>
        <p:txBody>
          <a:bodyPr/>
          <a:lstStyle/>
          <a:p>
            <a:fld id="{CA23327E-A3FE-4279-B080-AD6DAF9EDC39}" type="slidenum">
              <a:rPr lang="en-GB" smtClean="0"/>
              <a:t>8</a:t>
            </a:fld>
            <a:endParaRPr lang="en-GB"/>
          </a:p>
        </p:txBody>
      </p:sp>
    </p:spTree>
    <p:extLst>
      <p:ext uri="{BB962C8B-B14F-4D97-AF65-F5344CB8AC3E}">
        <p14:creationId xmlns:p14="http://schemas.microsoft.com/office/powerpoint/2010/main" val="21500442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3E4FE-D863-5940-8FA9-96346A53AB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41BC0B-331C-94C8-CE65-0CE95E1FC6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9ABD9-190B-3AF7-6555-82254735D15E}"/>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96B8987A-6642-5398-40F4-2B2A5A735776}"/>
              </a:ext>
            </a:extLst>
          </p:cNvPr>
          <p:cNvSpPr>
            <a:spLocks noGrp="1"/>
          </p:cNvSpPr>
          <p:nvPr>
            <p:ph type="sldNum" sz="quarter" idx="5"/>
          </p:nvPr>
        </p:nvSpPr>
        <p:spPr/>
        <p:txBody>
          <a:bodyPr/>
          <a:lstStyle/>
          <a:p>
            <a:fld id="{CA23327E-A3FE-4279-B080-AD6DAF9EDC39}" type="slidenum">
              <a:rPr lang="en-GB" smtClean="0"/>
              <a:t>9</a:t>
            </a:fld>
            <a:endParaRPr lang="en-GB"/>
          </a:p>
        </p:txBody>
      </p:sp>
    </p:spTree>
    <p:extLst>
      <p:ext uri="{BB962C8B-B14F-4D97-AF65-F5344CB8AC3E}">
        <p14:creationId xmlns:p14="http://schemas.microsoft.com/office/powerpoint/2010/main" val="37541422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8F126-6D5C-8913-B46C-F52A83E1B5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47A504-E1BE-3608-B192-122E5EB0F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A6A28-3418-3418-5290-E6699EE945F1}"/>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73E04D85-A9A3-2671-984A-A74E1DD81CF0}"/>
              </a:ext>
            </a:extLst>
          </p:cNvPr>
          <p:cNvSpPr>
            <a:spLocks noGrp="1"/>
          </p:cNvSpPr>
          <p:nvPr>
            <p:ph type="sldNum" sz="quarter" idx="5"/>
          </p:nvPr>
        </p:nvSpPr>
        <p:spPr/>
        <p:txBody>
          <a:bodyPr/>
          <a:lstStyle/>
          <a:p>
            <a:fld id="{CA23327E-A3FE-4279-B080-AD6DAF9EDC39}" type="slidenum">
              <a:rPr lang="en-GB" smtClean="0"/>
              <a:t>10</a:t>
            </a:fld>
            <a:endParaRPr lang="en-GB"/>
          </a:p>
        </p:txBody>
      </p:sp>
    </p:spTree>
    <p:extLst>
      <p:ext uri="{BB962C8B-B14F-4D97-AF65-F5344CB8AC3E}">
        <p14:creationId xmlns:p14="http://schemas.microsoft.com/office/powerpoint/2010/main" val="4114202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414F5-8F09-3974-5228-B38F3593C3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641005-F990-CE8C-6259-1B3902A11E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F4283-07AB-6D4D-5229-8C8620D4C793}"/>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8D6E6DE7-7723-433F-ABCF-B22882ABA3C2}"/>
              </a:ext>
            </a:extLst>
          </p:cNvPr>
          <p:cNvSpPr>
            <a:spLocks noGrp="1"/>
          </p:cNvSpPr>
          <p:nvPr>
            <p:ph type="sldNum" sz="quarter" idx="5"/>
          </p:nvPr>
        </p:nvSpPr>
        <p:spPr/>
        <p:txBody>
          <a:bodyPr/>
          <a:lstStyle/>
          <a:p>
            <a:fld id="{CA23327E-A3FE-4279-B080-AD6DAF9EDC39}" type="slidenum">
              <a:rPr lang="en-GB" smtClean="0"/>
              <a:t>11</a:t>
            </a:fld>
            <a:endParaRPr lang="en-GB"/>
          </a:p>
        </p:txBody>
      </p:sp>
    </p:spTree>
    <p:extLst>
      <p:ext uri="{BB962C8B-B14F-4D97-AF65-F5344CB8AC3E}">
        <p14:creationId xmlns:p14="http://schemas.microsoft.com/office/powerpoint/2010/main" val="22115353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8841A-68C1-E977-EF10-2F1370226F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C33C6E-A737-72C2-AA57-F437EC30B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C0D82A-8C4C-1044-594E-580A10C113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5BBD6B7-AC09-0DC6-468A-449328D325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23327E-A3FE-4279-B080-AD6DAF9EDC39}" type="slidenum">
              <a:rPr kumimoji="0" lang="en-GB"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423139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A23327E-A3FE-4279-B080-AD6DAF9EDC39}" type="slidenum">
              <a:rPr lang="en-GB" smtClean="0"/>
              <a:t>13</a:t>
            </a:fld>
            <a:endParaRPr lang="en-GB"/>
          </a:p>
        </p:txBody>
      </p:sp>
    </p:spTree>
    <p:extLst>
      <p:ext uri="{BB962C8B-B14F-4D97-AF65-F5344CB8AC3E}">
        <p14:creationId xmlns:p14="http://schemas.microsoft.com/office/powerpoint/2010/main" val="229405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9CFF2-C4A0-C88B-1E9C-7E885138560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E0F93A8F-E2E3-B4BD-3B84-D178AF0ED97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10D5BFD4-B46B-34FE-9A8B-9033E96DC691}"/>
              </a:ext>
            </a:extLst>
          </p:cNvPr>
          <p:cNvSpPr>
            <a:spLocks noGrp="1"/>
          </p:cNvSpPr>
          <p:nvPr>
            <p:ph type="dt" sz="half" idx="10"/>
          </p:nvPr>
        </p:nvSpPr>
        <p:spPr/>
        <p:txBody>
          <a:bodyPr/>
          <a:lstStyle/>
          <a:p>
            <a:fld id="{A442582E-7652-4336-8F82-B8F78DEBE1E6}" type="datetime1">
              <a:rPr lang="en-GB" smtClean="0"/>
              <a:t>16/11/2025</a:t>
            </a:fld>
            <a:endParaRPr lang="en-GB"/>
          </a:p>
        </p:txBody>
      </p:sp>
      <p:sp>
        <p:nvSpPr>
          <p:cNvPr id="6" name="Slide Number Placeholder 5">
            <a:extLst>
              <a:ext uri="{FF2B5EF4-FFF2-40B4-BE49-F238E27FC236}">
                <a16:creationId xmlns:a16="http://schemas.microsoft.com/office/drawing/2014/main" id="{93F83137-53E8-FAAE-F427-32424D867174}"/>
              </a:ext>
            </a:extLst>
          </p:cNvPr>
          <p:cNvSpPr>
            <a:spLocks noGrp="1"/>
          </p:cNvSpPr>
          <p:nvPr>
            <p:ph type="sldNum" sz="quarter" idx="12"/>
          </p:nvPr>
        </p:nvSpPr>
        <p:spPr>
          <a:xfrm>
            <a:off x="5873579" y="6356350"/>
            <a:ext cx="403654" cy="365125"/>
          </a:xfrm>
        </p:spPr>
        <p:txBody>
          <a:bodyPr/>
          <a:lstStyle>
            <a:lvl1pPr>
              <a:defRPr sz="1600"/>
            </a:lvl1pPr>
          </a:lstStyle>
          <a:p>
            <a:fld id="{013F6232-4F06-48BA-8F69-BF531F607829}" type="slidenum">
              <a:rPr lang="en-GB" smtClean="0"/>
              <a:pPr/>
              <a:t>‹#›</a:t>
            </a:fld>
            <a:endParaRPr lang="en-GB" dirty="0"/>
          </a:p>
        </p:txBody>
      </p:sp>
    </p:spTree>
    <p:extLst>
      <p:ext uri="{BB962C8B-B14F-4D97-AF65-F5344CB8AC3E}">
        <p14:creationId xmlns:p14="http://schemas.microsoft.com/office/powerpoint/2010/main" val="4220339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93033-AA4A-D955-AE39-E7F2A40C8A4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638BDBB-4827-8B89-3EE0-5A3DD22172F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2EA4901-6338-2E30-CCE8-77FD13F592F1}"/>
              </a:ext>
            </a:extLst>
          </p:cNvPr>
          <p:cNvSpPr>
            <a:spLocks noGrp="1"/>
          </p:cNvSpPr>
          <p:nvPr>
            <p:ph type="dt" sz="half" idx="10"/>
          </p:nvPr>
        </p:nvSpPr>
        <p:spPr/>
        <p:txBody>
          <a:bodyPr/>
          <a:lstStyle/>
          <a:p>
            <a:fld id="{2521100E-89DB-4D21-B66A-B5E24FA59FB2}" type="datetime1">
              <a:rPr lang="en-GB" smtClean="0"/>
              <a:t>16/11/2025</a:t>
            </a:fld>
            <a:endParaRPr lang="en-GB"/>
          </a:p>
        </p:txBody>
      </p:sp>
      <p:sp>
        <p:nvSpPr>
          <p:cNvPr id="6" name="Slide Number Placeholder 5">
            <a:extLst>
              <a:ext uri="{FF2B5EF4-FFF2-40B4-BE49-F238E27FC236}">
                <a16:creationId xmlns:a16="http://schemas.microsoft.com/office/drawing/2014/main" id="{1E6B5D97-094A-D8D8-0C4D-1DC08462EC16}"/>
              </a:ext>
            </a:extLst>
          </p:cNvPr>
          <p:cNvSpPr>
            <a:spLocks noGrp="1"/>
          </p:cNvSpPr>
          <p:nvPr>
            <p:ph type="sldNum" sz="quarter" idx="12"/>
          </p:nvPr>
        </p:nvSpPr>
        <p:spPr>
          <a:xfrm>
            <a:off x="5769428" y="6349546"/>
            <a:ext cx="653143" cy="365125"/>
          </a:xfrm>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4227013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90F5D-2977-B8B5-3FC5-DF3AE8740EF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75C247B5-0632-4013-2832-15D3D21A8CE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61A4BC1-6A36-94FE-17CE-DFAD0BF1ACA3}"/>
              </a:ext>
            </a:extLst>
          </p:cNvPr>
          <p:cNvSpPr>
            <a:spLocks noGrp="1"/>
          </p:cNvSpPr>
          <p:nvPr>
            <p:ph type="dt" sz="half" idx="10"/>
          </p:nvPr>
        </p:nvSpPr>
        <p:spPr/>
        <p:txBody>
          <a:bodyPr/>
          <a:lstStyle/>
          <a:p>
            <a:fld id="{5537878B-5315-4496-8D10-2F17543DB034}" type="datetime1">
              <a:rPr lang="en-GB" smtClean="0"/>
              <a:t>16/11/2025</a:t>
            </a:fld>
            <a:endParaRPr lang="en-GB"/>
          </a:p>
        </p:txBody>
      </p:sp>
      <p:sp>
        <p:nvSpPr>
          <p:cNvPr id="5" name="Footer Placeholder 4">
            <a:extLst>
              <a:ext uri="{FF2B5EF4-FFF2-40B4-BE49-F238E27FC236}">
                <a16:creationId xmlns:a16="http://schemas.microsoft.com/office/drawing/2014/main" id="{88D5FD8C-55CD-AD30-1E91-60750BCCDF7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15A2AD0-0D56-CC63-D932-D1C61C778073}"/>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3669486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3920-E451-6E8D-B0CB-C3FB9C0F70BE}"/>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D47CFBA5-B73E-6B89-322D-7C32A35A121C}"/>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4BF8199-371A-141A-1CD7-D551EEEFDFB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D963C60A-FE48-2910-84A1-612B23A7822D}"/>
              </a:ext>
            </a:extLst>
          </p:cNvPr>
          <p:cNvSpPr>
            <a:spLocks noGrp="1"/>
          </p:cNvSpPr>
          <p:nvPr>
            <p:ph type="dt" sz="half" idx="10"/>
          </p:nvPr>
        </p:nvSpPr>
        <p:spPr/>
        <p:txBody>
          <a:bodyPr/>
          <a:lstStyle/>
          <a:p>
            <a:fld id="{DEBEA969-CEB0-4E87-8DDD-72161074DF01}" type="datetime1">
              <a:rPr lang="en-GB" smtClean="0"/>
              <a:t>16/11/2025</a:t>
            </a:fld>
            <a:endParaRPr lang="en-GB"/>
          </a:p>
        </p:txBody>
      </p:sp>
      <p:sp>
        <p:nvSpPr>
          <p:cNvPr id="6" name="Footer Placeholder 5">
            <a:extLst>
              <a:ext uri="{FF2B5EF4-FFF2-40B4-BE49-F238E27FC236}">
                <a16:creationId xmlns:a16="http://schemas.microsoft.com/office/drawing/2014/main" id="{D7BC67CE-6F73-71D9-BF0B-18A7CD945CD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E580765-E2ED-A6A2-9401-8425BFA02772}"/>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645754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BF7B7-87CF-1A3E-E33E-44DC6E0152FF}"/>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84B21B8D-C5F5-5242-4069-B1546B4BC0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74D26CD-98BD-17E2-BE55-DBB74BBC640E}"/>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163B8D60-279E-D76A-9222-12B704BAEB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A1AF34B-F683-41AD-C71C-8E8C66CC4CC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9696258-07C0-0BF2-CA2A-156B572B5B53}"/>
              </a:ext>
            </a:extLst>
          </p:cNvPr>
          <p:cNvSpPr>
            <a:spLocks noGrp="1"/>
          </p:cNvSpPr>
          <p:nvPr>
            <p:ph type="dt" sz="half" idx="10"/>
          </p:nvPr>
        </p:nvSpPr>
        <p:spPr/>
        <p:txBody>
          <a:bodyPr/>
          <a:lstStyle/>
          <a:p>
            <a:fld id="{6335A96A-71C8-435E-B03B-275B6E0D4AB2}" type="datetime1">
              <a:rPr lang="en-GB" smtClean="0"/>
              <a:t>16/11/2025</a:t>
            </a:fld>
            <a:endParaRPr lang="en-GB"/>
          </a:p>
        </p:txBody>
      </p:sp>
      <p:sp>
        <p:nvSpPr>
          <p:cNvPr id="8" name="Footer Placeholder 7">
            <a:extLst>
              <a:ext uri="{FF2B5EF4-FFF2-40B4-BE49-F238E27FC236}">
                <a16:creationId xmlns:a16="http://schemas.microsoft.com/office/drawing/2014/main" id="{6B07D047-C31B-4C8F-E0B3-75014FF62F8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484742A-6F5B-071B-E0EA-980402529BCA}"/>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848101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7C287-18A0-EB82-8A27-F94CA3880D06}"/>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42CDD78-FBCD-76B9-2CA1-031942F2198D}"/>
              </a:ext>
            </a:extLst>
          </p:cNvPr>
          <p:cNvSpPr>
            <a:spLocks noGrp="1"/>
          </p:cNvSpPr>
          <p:nvPr>
            <p:ph type="dt" sz="half" idx="10"/>
          </p:nvPr>
        </p:nvSpPr>
        <p:spPr/>
        <p:txBody>
          <a:bodyPr/>
          <a:lstStyle/>
          <a:p>
            <a:fld id="{9402E411-883A-45F0-8C4F-B0FE2C65FB28}" type="datetime1">
              <a:rPr lang="en-GB" smtClean="0"/>
              <a:t>16/11/2025</a:t>
            </a:fld>
            <a:endParaRPr lang="en-GB"/>
          </a:p>
        </p:txBody>
      </p:sp>
      <p:sp>
        <p:nvSpPr>
          <p:cNvPr id="4" name="Footer Placeholder 3">
            <a:extLst>
              <a:ext uri="{FF2B5EF4-FFF2-40B4-BE49-F238E27FC236}">
                <a16:creationId xmlns:a16="http://schemas.microsoft.com/office/drawing/2014/main" id="{FC8218E7-E787-22C8-B531-FFEC9002A9B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50876BDA-2FCA-9763-2EA1-4033A5600EFC}"/>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786705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F0FDB8F-73D7-2EBC-A62D-4DC73794646B}"/>
              </a:ext>
            </a:extLst>
          </p:cNvPr>
          <p:cNvSpPr>
            <a:spLocks noGrp="1"/>
          </p:cNvSpPr>
          <p:nvPr>
            <p:ph type="dt" sz="half" idx="10"/>
          </p:nvPr>
        </p:nvSpPr>
        <p:spPr/>
        <p:txBody>
          <a:bodyPr/>
          <a:lstStyle/>
          <a:p>
            <a:fld id="{986F6F48-3B55-4945-B23D-B0C51AFE28E6}" type="datetime1">
              <a:rPr lang="en-GB" smtClean="0"/>
              <a:t>16/11/2025</a:t>
            </a:fld>
            <a:endParaRPr lang="en-GB"/>
          </a:p>
        </p:txBody>
      </p:sp>
      <p:sp>
        <p:nvSpPr>
          <p:cNvPr id="3" name="Footer Placeholder 2">
            <a:extLst>
              <a:ext uri="{FF2B5EF4-FFF2-40B4-BE49-F238E27FC236}">
                <a16:creationId xmlns:a16="http://schemas.microsoft.com/office/drawing/2014/main" id="{8CD8D704-B4F5-F739-D1FA-65F2302BC18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AC7751D-0392-D26F-33B1-9B05704F88C2}"/>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4024279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4D20E-7D43-D4CD-1058-46300B8EE4F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3EB6584A-B476-0EA1-C12B-07C273F70E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51694232-1597-B186-D108-397BCF214D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93685DB-F13A-97BE-F448-174160797353}"/>
              </a:ext>
            </a:extLst>
          </p:cNvPr>
          <p:cNvSpPr>
            <a:spLocks noGrp="1"/>
          </p:cNvSpPr>
          <p:nvPr>
            <p:ph type="dt" sz="half" idx="10"/>
          </p:nvPr>
        </p:nvSpPr>
        <p:spPr/>
        <p:txBody>
          <a:bodyPr/>
          <a:lstStyle/>
          <a:p>
            <a:fld id="{86209ACC-63FA-4EE9-AE4D-ECCDA5B91432}" type="datetime1">
              <a:rPr lang="en-GB" smtClean="0"/>
              <a:t>16/11/2025</a:t>
            </a:fld>
            <a:endParaRPr lang="en-GB"/>
          </a:p>
        </p:txBody>
      </p:sp>
      <p:sp>
        <p:nvSpPr>
          <p:cNvPr id="6" name="Footer Placeholder 5">
            <a:extLst>
              <a:ext uri="{FF2B5EF4-FFF2-40B4-BE49-F238E27FC236}">
                <a16:creationId xmlns:a16="http://schemas.microsoft.com/office/drawing/2014/main" id="{5D70ACE2-CF77-9AC4-52EF-82FBD40BB67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560D674-CAD3-59F8-9DF5-CA4D8E7A04CE}"/>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3727982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2DC87-27CE-5A07-9629-719DC91DE4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3F65E744-3606-1D16-E7B2-58DAFC3E88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EA9C703-BF20-85AF-358A-01ADED33CF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4AE937-083F-51CA-E382-30FE9BEB01B2}"/>
              </a:ext>
            </a:extLst>
          </p:cNvPr>
          <p:cNvSpPr>
            <a:spLocks noGrp="1"/>
          </p:cNvSpPr>
          <p:nvPr>
            <p:ph type="dt" sz="half" idx="10"/>
          </p:nvPr>
        </p:nvSpPr>
        <p:spPr/>
        <p:txBody>
          <a:bodyPr/>
          <a:lstStyle/>
          <a:p>
            <a:fld id="{F38D1FE4-6F4F-4845-8022-15597911E7C2}" type="datetime1">
              <a:rPr lang="en-GB" smtClean="0"/>
              <a:t>16/11/2025</a:t>
            </a:fld>
            <a:endParaRPr lang="en-GB"/>
          </a:p>
        </p:txBody>
      </p:sp>
      <p:sp>
        <p:nvSpPr>
          <p:cNvPr id="6" name="Footer Placeholder 5">
            <a:extLst>
              <a:ext uri="{FF2B5EF4-FFF2-40B4-BE49-F238E27FC236}">
                <a16:creationId xmlns:a16="http://schemas.microsoft.com/office/drawing/2014/main" id="{A11F255A-C1CC-7A32-A0B3-4283D85836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476C013-C03F-024A-D0F4-FF67E6709890}"/>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20363175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44B09-72C5-4D15-0E4C-46764EB8C8D5}"/>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91B470E9-1D3C-D5B3-7A54-66BD9009970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3516D05-728D-ACC9-D7EA-DC9D733002C0}"/>
              </a:ext>
            </a:extLst>
          </p:cNvPr>
          <p:cNvSpPr>
            <a:spLocks noGrp="1"/>
          </p:cNvSpPr>
          <p:nvPr>
            <p:ph type="dt" sz="half" idx="10"/>
          </p:nvPr>
        </p:nvSpPr>
        <p:spPr/>
        <p:txBody>
          <a:bodyPr/>
          <a:lstStyle/>
          <a:p>
            <a:fld id="{C6E4C014-E638-4D69-B7E7-9E0555AE7620}" type="datetime1">
              <a:rPr lang="en-GB" smtClean="0"/>
              <a:t>16/11/2025</a:t>
            </a:fld>
            <a:endParaRPr lang="en-GB"/>
          </a:p>
        </p:txBody>
      </p:sp>
      <p:sp>
        <p:nvSpPr>
          <p:cNvPr id="5" name="Footer Placeholder 4">
            <a:extLst>
              <a:ext uri="{FF2B5EF4-FFF2-40B4-BE49-F238E27FC236}">
                <a16:creationId xmlns:a16="http://schemas.microsoft.com/office/drawing/2014/main" id="{EE74FC10-CEAF-B332-2960-AABF9CE254E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E6ED6E7-B58D-A523-935C-4B108C943DAE}"/>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2868758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68A110-A33F-744D-89CB-FFCF49E08A8C}"/>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DB6FACB-31E5-361F-D71D-18FCBA5503E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4A399A6-3C5A-016E-2F7E-AE842F8D7BA5}"/>
              </a:ext>
            </a:extLst>
          </p:cNvPr>
          <p:cNvSpPr>
            <a:spLocks noGrp="1"/>
          </p:cNvSpPr>
          <p:nvPr>
            <p:ph type="dt" sz="half" idx="10"/>
          </p:nvPr>
        </p:nvSpPr>
        <p:spPr/>
        <p:txBody>
          <a:bodyPr/>
          <a:lstStyle/>
          <a:p>
            <a:fld id="{3F55F2F9-D101-4F42-A846-5D94E4802AD7}" type="datetime1">
              <a:rPr lang="en-GB" smtClean="0"/>
              <a:t>16/11/2025</a:t>
            </a:fld>
            <a:endParaRPr lang="en-GB"/>
          </a:p>
        </p:txBody>
      </p:sp>
      <p:sp>
        <p:nvSpPr>
          <p:cNvPr id="5" name="Footer Placeholder 4">
            <a:extLst>
              <a:ext uri="{FF2B5EF4-FFF2-40B4-BE49-F238E27FC236}">
                <a16:creationId xmlns:a16="http://schemas.microsoft.com/office/drawing/2014/main" id="{016242F9-DB70-E4F8-D075-6A90518751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EFAB33-4759-572E-2291-D19531D81F22}"/>
              </a:ext>
            </a:extLst>
          </p:cNvPr>
          <p:cNvSpPr>
            <a:spLocks noGrp="1"/>
          </p:cNvSpPr>
          <p:nvPr>
            <p:ph type="sldNum" sz="quarter" idx="12"/>
          </p:nvPr>
        </p:nvSpPr>
        <p:spPr/>
        <p:txBody>
          <a:bodyPr/>
          <a:lstStyle/>
          <a:p>
            <a:fld id="{013F6232-4F06-48BA-8F69-BF531F607829}" type="slidenum">
              <a:rPr lang="en-GB" smtClean="0"/>
              <a:t>‹#›</a:t>
            </a:fld>
            <a:endParaRPr lang="en-GB"/>
          </a:p>
        </p:txBody>
      </p:sp>
    </p:spTree>
    <p:extLst>
      <p:ext uri="{BB962C8B-B14F-4D97-AF65-F5344CB8AC3E}">
        <p14:creationId xmlns:p14="http://schemas.microsoft.com/office/powerpoint/2010/main" val="1391460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AEF21-84C8-586D-C38F-81DE3F931CE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313036B-E08D-B4B8-69CB-C42176842BD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7193DB72-09E0-8BDF-14B4-4FA2820C1DB6}"/>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5" name="Footer Placeholder 4">
            <a:extLst>
              <a:ext uri="{FF2B5EF4-FFF2-40B4-BE49-F238E27FC236}">
                <a16:creationId xmlns:a16="http://schemas.microsoft.com/office/drawing/2014/main" id="{181F2740-59F3-8354-CF52-53337A807A6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80C06A1-E2ED-D4C3-86B0-3C97240937FD}"/>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39985083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8E779-A5CF-33E3-89F5-B43337C2715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C69D232-4F34-AEFC-AFD0-741DABBA5F1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DC5F2E77-D5DF-1D17-C854-897B9DD3BE1B}"/>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5" name="Footer Placeholder 4">
            <a:extLst>
              <a:ext uri="{FF2B5EF4-FFF2-40B4-BE49-F238E27FC236}">
                <a16:creationId xmlns:a16="http://schemas.microsoft.com/office/drawing/2014/main" id="{313614D6-F2CE-1582-32E1-94A59C7A80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C27D5C-0D68-9101-A36C-9187E79BB9B4}"/>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9463929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58CC5-208E-4B47-6CAD-E29FCCC3966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EDB79405-6B60-96C3-7F85-CE10C287709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8DECBA10-7C40-29AA-A669-FC240702E6BA}"/>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5" name="Footer Placeholder 4">
            <a:extLst>
              <a:ext uri="{FF2B5EF4-FFF2-40B4-BE49-F238E27FC236}">
                <a16:creationId xmlns:a16="http://schemas.microsoft.com/office/drawing/2014/main" id="{8C999825-A403-E91C-FFA8-F874E991D81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CCBFE7-28C4-5DF1-911F-E0B622EAA9FC}"/>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8722198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7720-A6A0-DF50-E2F8-F9527E23D10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F86D186-8E32-BEAD-C81B-DE65895FD56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BFE57542-2B68-1767-C023-57D111E4E84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B385A417-9018-30E4-0A47-8170AD7D24FD}"/>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6" name="Footer Placeholder 5">
            <a:extLst>
              <a:ext uri="{FF2B5EF4-FFF2-40B4-BE49-F238E27FC236}">
                <a16:creationId xmlns:a16="http://schemas.microsoft.com/office/drawing/2014/main" id="{B07AF8F7-6A80-4F6A-4E5F-660537A2513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0AD3418-4BA9-CD34-AE32-0EF416780FDD}"/>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34703660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908D8-A3B6-96B0-A29C-1B8262BE54E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6E905487-0425-138F-F9A2-0872272282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33BCB02-5AB4-A5E9-0917-4B9DD049B77B}"/>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A0A50C77-85F2-0754-8AD9-7A5A4AEF653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03DDF01-B6D2-31ED-A641-114B1A0ADBF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1B1FCA1D-B4D0-56C6-A678-3E0624361E96}"/>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8" name="Footer Placeholder 7">
            <a:extLst>
              <a:ext uri="{FF2B5EF4-FFF2-40B4-BE49-F238E27FC236}">
                <a16:creationId xmlns:a16="http://schemas.microsoft.com/office/drawing/2014/main" id="{C30E1DB4-3501-792C-CAF9-4235B2E9152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CDD0757-7BFA-7895-D03C-767D64050241}"/>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4247317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62EA9-258F-B5EB-624D-2EFA68C4193F}"/>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BE148340-45BA-0901-1551-9D9DAFF07F55}"/>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4" name="Footer Placeholder 3">
            <a:extLst>
              <a:ext uri="{FF2B5EF4-FFF2-40B4-BE49-F238E27FC236}">
                <a16:creationId xmlns:a16="http://schemas.microsoft.com/office/drawing/2014/main" id="{9F42F2D2-B0BF-4202-0381-8243671BB647}"/>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5F6687B-3FE7-76CE-1134-2B3A5D187F18}"/>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7476281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9B9E6C1-24CC-682A-8886-999E9A21F168}"/>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3" name="Footer Placeholder 2">
            <a:extLst>
              <a:ext uri="{FF2B5EF4-FFF2-40B4-BE49-F238E27FC236}">
                <a16:creationId xmlns:a16="http://schemas.microsoft.com/office/drawing/2014/main" id="{DB275448-9567-EFBD-FC78-2B80C2BDF35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30E95C70-5A8D-518E-49A4-1BE45385336E}"/>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2280157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520AB-BD7C-3FEC-DC53-91B047807E0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4EFA408-CFF5-5EB0-4399-BB87E6CF023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12736F81-445C-5EF6-6E32-68D1E9C1C9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A08E69-7027-0F17-B524-CD221B586F57}"/>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6" name="Footer Placeholder 5">
            <a:extLst>
              <a:ext uri="{FF2B5EF4-FFF2-40B4-BE49-F238E27FC236}">
                <a16:creationId xmlns:a16="http://schemas.microsoft.com/office/drawing/2014/main" id="{A5145A00-EFDD-31BA-C55F-26A6CC9020D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31ACCAF-2E21-16F5-1C68-06D177E12AA8}"/>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255247333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EA28B-29EC-E505-5884-CB4B1C6FD8B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65425986-DCF9-FBB5-39AD-D04792C653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51AEB0E-C7EC-4F26-009D-409178E43F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C4AB446-5A6F-5112-F417-65A55A0DC581}"/>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6" name="Footer Placeholder 5">
            <a:extLst>
              <a:ext uri="{FF2B5EF4-FFF2-40B4-BE49-F238E27FC236}">
                <a16:creationId xmlns:a16="http://schemas.microsoft.com/office/drawing/2014/main" id="{5F42D12D-03AA-1A0A-4595-8E0638173A6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FCB350E-16AC-3E65-1704-09F648ABBBE3}"/>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1637644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C8C89-C725-395E-E708-BEF95E19CCE8}"/>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341E4975-013E-CB40-86C9-4D346B73C94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9A6C674-4D68-9DAC-8E93-7EB627FCC2B1}"/>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5" name="Footer Placeholder 4">
            <a:extLst>
              <a:ext uri="{FF2B5EF4-FFF2-40B4-BE49-F238E27FC236}">
                <a16:creationId xmlns:a16="http://schemas.microsoft.com/office/drawing/2014/main" id="{14CC36B8-CAAE-BDC6-8DF5-9451A698F11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26750A4-9B92-8DB3-B407-A8A74CEA4CAC}"/>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229780521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9A6511-7D12-4461-0A24-9B3134C2C7DF}"/>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C05222EB-F23C-083B-09C9-48B924AC7F6D}"/>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3A908F9-D1F7-F94A-CA98-198F714C58D6}"/>
              </a:ext>
            </a:extLst>
          </p:cNvPr>
          <p:cNvSpPr>
            <a:spLocks noGrp="1"/>
          </p:cNvSpPr>
          <p:nvPr>
            <p:ph type="dt" sz="half" idx="10"/>
          </p:nvPr>
        </p:nvSpPr>
        <p:spPr/>
        <p:txBody>
          <a:bodyPr/>
          <a:lstStyle/>
          <a:p>
            <a:fld id="{B8D3EC99-01D5-4EE5-ACB1-C061987EA0AA}" type="datetimeFigureOut">
              <a:rPr lang="en-GB" smtClean="0"/>
              <a:t>16/11/2025</a:t>
            </a:fld>
            <a:endParaRPr lang="en-GB"/>
          </a:p>
        </p:txBody>
      </p:sp>
      <p:sp>
        <p:nvSpPr>
          <p:cNvPr id="5" name="Footer Placeholder 4">
            <a:extLst>
              <a:ext uri="{FF2B5EF4-FFF2-40B4-BE49-F238E27FC236}">
                <a16:creationId xmlns:a16="http://schemas.microsoft.com/office/drawing/2014/main" id="{AFD1FCF1-AD09-ED98-9C1F-DDCABBE25E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B63C831-E5D1-B4E6-5F4E-FB9FFB5D91C1}"/>
              </a:ext>
            </a:extLst>
          </p:cNvPr>
          <p:cNvSpPr>
            <a:spLocks noGrp="1"/>
          </p:cNvSpPr>
          <p:nvPr>
            <p:ph type="sldNum" sz="quarter" idx="12"/>
          </p:nvPr>
        </p:nvSpPr>
        <p:spPr/>
        <p:txBody>
          <a:bodyPr/>
          <a:lstStyle/>
          <a:p>
            <a:fld id="{B126457B-11B5-4397-9456-911FAE9FD3F4}" type="slidenum">
              <a:rPr lang="en-GB" smtClean="0"/>
              <a:t>‹#›</a:t>
            </a:fld>
            <a:endParaRPr lang="en-GB"/>
          </a:p>
        </p:txBody>
      </p:sp>
    </p:spTree>
    <p:extLst>
      <p:ext uri="{BB962C8B-B14F-4D97-AF65-F5344CB8AC3E}">
        <p14:creationId xmlns:p14="http://schemas.microsoft.com/office/powerpoint/2010/main" val="3056425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A75E23-C68E-95B1-6539-4A187BBC42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76B4C36-B64B-F839-789E-0C40D5E60E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A6D593D3-E60D-CF97-AC8A-2B02D933B0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516A2C-1914-4EE9-9598-2A06F9BE67BF}" type="datetime1">
              <a:rPr lang="en-GB" smtClean="0"/>
              <a:t>16/11/2025</a:t>
            </a:fld>
            <a:endParaRPr lang="en-GB"/>
          </a:p>
        </p:txBody>
      </p:sp>
      <p:sp>
        <p:nvSpPr>
          <p:cNvPr id="5" name="Footer Placeholder 4">
            <a:extLst>
              <a:ext uri="{FF2B5EF4-FFF2-40B4-BE49-F238E27FC236}">
                <a16:creationId xmlns:a16="http://schemas.microsoft.com/office/drawing/2014/main" id="{F164827E-F028-4C94-EB63-600BCABCD1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0B8DD39-3F07-862A-3C91-AC52452918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13F6232-4F06-48BA-8F69-BF531F607829}" type="slidenum">
              <a:rPr lang="en-GB" smtClean="0"/>
              <a:t>‹#›</a:t>
            </a:fld>
            <a:endParaRPr lang="en-GB"/>
          </a:p>
        </p:txBody>
      </p:sp>
    </p:spTree>
    <p:extLst>
      <p:ext uri="{BB962C8B-B14F-4D97-AF65-F5344CB8AC3E}">
        <p14:creationId xmlns:p14="http://schemas.microsoft.com/office/powerpoint/2010/main" val="27250772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F324F72-DEC3-C328-E288-A7FC5B1D56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4A7096B6-F39D-5D3A-895A-1CE61CD3F6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20726E2-FBE9-5D75-A698-6FD0ED0970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D3EC99-01D5-4EE5-ACB1-C061987EA0AA}" type="datetimeFigureOut">
              <a:rPr lang="en-GB" smtClean="0"/>
              <a:t>16/11/2025</a:t>
            </a:fld>
            <a:endParaRPr lang="en-GB"/>
          </a:p>
        </p:txBody>
      </p:sp>
      <p:sp>
        <p:nvSpPr>
          <p:cNvPr id="5" name="Footer Placeholder 4">
            <a:extLst>
              <a:ext uri="{FF2B5EF4-FFF2-40B4-BE49-F238E27FC236}">
                <a16:creationId xmlns:a16="http://schemas.microsoft.com/office/drawing/2014/main" id="{775CAFA2-68FA-9BA2-4F27-A8680F5079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1A027B2-667B-4034-930B-AB076347AC1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126457B-11B5-4397-9456-911FAE9FD3F4}" type="slidenum">
              <a:rPr lang="en-GB" smtClean="0"/>
              <a:t>‹#›</a:t>
            </a:fld>
            <a:endParaRPr lang="en-GB"/>
          </a:p>
        </p:txBody>
      </p:sp>
    </p:spTree>
    <p:extLst>
      <p:ext uri="{BB962C8B-B14F-4D97-AF65-F5344CB8AC3E}">
        <p14:creationId xmlns:p14="http://schemas.microsoft.com/office/powerpoint/2010/main" val="25614817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47672-3CC8-A3D9-5404-84F2B78B6280}"/>
              </a:ext>
            </a:extLst>
          </p:cNvPr>
          <p:cNvSpPr>
            <a:spLocks noGrp="1"/>
          </p:cNvSpPr>
          <p:nvPr>
            <p:ph type="ctrTitle"/>
          </p:nvPr>
        </p:nvSpPr>
        <p:spPr>
          <a:xfrm>
            <a:off x="1412841" y="2206093"/>
            <a:ext cx="9144000" cy="912598"/>
          </a:xfrm>
        </p:spPr>
        <p:txBody>
          <a:bodyPr>
            <a:noAutofit/>
          </a:bodyPr>
          <a:lstStyle/>
          <a:p>
            <a:r>
              <a:rPr lang="it-IT" sz="4400" dirty="0"/>
              <a:t>Weekly report: Load &amp; Dynamics</a:t>
            </a:r>
            <a:endParaRPr lang="en-GB" sz="4400" dirty="0"/>
          </a:p>
        </p:txBody>
      </p:sp>
      <p:sp>
        <p:nvSpPr>
          <p:cNvPr id="3" name="Subtitle 2">
            <a:extLst>
              <a:ext uri="{FF2B5EF4-FFF2-40B4-BE49-F238E27FC236}">
                <a16:creationId xmlns:a16="http://schemas.microsoft.com/office/drawing/2014/main" id="{277A63BB-08BE-619B-2533-3CC69CC19E93}"/>
              </a:ext>
            </a:extLst>
          </p:cNvPr>
          <p:cNvSpPr>
            <a:spLocks noGrp="1"/>
          </p:cNvSpPr>
          <p:nvPr>
            <p:ph type="subTitle" idx="1"/>
          </p:nvPr>
        </p:nvSpPr>
        <p:spPr>
          <a:xfrm>
            <a:off x="1524000" y="3429000"/>
            <a:ext cx="9144000" cy="1795324"/>
          </a:xfrm>
        </p:spPr>
        <p:txBody>
          <a:bodyPr>
            <a:normAutofit/>
          </a:bodyPr>
          <a:lstStyle/>
          <a:p>
            <a:r>
              <a:rPr lang="it-IT" sz="2000" dirty="0"/>
              <a:t>Week number: 08</a:t>
            </a:r>
          </a:p>
          <a:p>
            <a:r>
              <a:rPr lang="it-IT" sz="2000" dirty="0"/>
              <a:t>Date: 18/11/2025</a:t>
            </a:r>
          </a:p>
          <a:p>
            <a:r>
              <a:rPr lang="it-IT" sz="2000" dirty="0"/>
              <a:t>Supervisor: Mr. </a:t>
            </a:r>
            <a:r>
              <a:rPr lang="en-US" sz="2000" dirty="0" err="1"/>
              <a:t>Manjock</a:t>
            </a:r>
            <a:endParaRPr lang="en-GB" sz="2000" dirty="0"/>
          </a:p>
        </p:txBody>
      </p:sp>
      <p:pic>
        <p:nvPicPr>
          <p:cNvPr id="8" name="Picture 8" descr="Hochschule Flensburg (Fachhochschule) – Wikipedia">
            <a:extLst>
              <a:ext uri="{FF2B5EF4-FFF2-40B4-BE49-F238E27FC236}">
                <a16:creationId xmlns:a16="http://schemas.microsoft.com/office/drawing/2014/main" id="{E88D30C2-B846-594F-69A8-55F55380460E}"/>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70439" y="264131"/>
            <a:ext cx="2518129" cy="1672124"/>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9" name="Picture 14" descr="A black background with blue text&#10;&#10;AI-generated content may be incorrect.">
            <a:extLst>
              <a:ext uri="{FF2B5EF4-FFF2-40B4-BE49-F238E27FC236}">
                <a16:creationId xmlns:a16="http://schemas.microsoft.com/office/drawing/2014/main" id="{EE7EEC8C-633A-AEB3-3E8A-978E3C75A188}"/>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445647" y="719916"/>
            <a:ext cx="3586922" cy="1040207"/>
          </a:xfrm>
          <a:custGeom>
            <a:avLst/>
            <a:gdLst/>
            <a:ahLst/>
            <a:cxnLst/>
            <a:rect l="l" t="t" r="r" b="b"/>
            <a:pathLst>
              <a:path w="2028107" h="1916009">
                <a:moveTo>
                  <a:pt x="35370" y="0"/>
                </a:moveTo>
                <a:lnTo>
                  <a:pt x="1992737" y="0"/>
                </a:lnTo>
                <a:cubicBezTo>
                  <a:pt x="2012271" y="0"/>
                  <a:pt x="2028107" y="15836"/>
                  <a:pt x="2028107" y="35370"/>
                </a:cubicBezTo>
                <a:lnTo>
                  <a:pt x="2028107" y="1880639"/>
                </a:lnTo>
                <a:cubicBezTo>
                  <a:pt x="2028107" y="1900173"/>
                  <a:pt x="2012271" y="1916009"/>
                  <a:pt x="1992737" y="1916009"/>
                </a:cubicBezTo>
                <a:lnTo>
                  <a:pt x="35370" y="1916009"/>
                </a:lnTo>
                <a:cubicBezTo>
                  <a:pt x="15836" y="1916009"/>
                  <a:pt x="0" y="1900173"/>
                  <a:pt x="0" y="1880639"/>
                </a:cubicBezTo>
                <a:lnTo>
                  <a:pt x="0" y="35370"/>
                </a:lnTo>
                <a:cubicBezTo>
                  <a:pt x="0" y="15836"/>
                  <a:pt x="15836" y="0"/>
                  <a:pt x="35370" y="0"/>
                </a:cubicBezTo>
                <a:close/>
              </a:path>
            </a:pathLst>
          </a:custGeom>
          <a:noFill/>
          <a:extLst>
            <a:ext uri="{909E8E84-426E-40DD-AFC4-6F175D3DCCD1}">
              <a14:hiddenFill xmlns:a14="http://schemas.microsoft.com/office/drawing/2010/main">
                <a:solidFill>
                  <a:srgbClr val="FFFFFF"/>
                </a:solidFill>
              </a14:hiddenFill>
            </a:ext>
          </a:extLst>
        </p:spPr>
      </p:pic>
      <p:pic>
        <p:nvPicPr>
          <p:cNvPr id="11" name="Grafik 10">
            <a:extLst>
              <a:ext uri="{FF2B5EF4-FFF2-40B4-BE49-F238E27FC236}">
                <a16:creationId xmlns:a16="http://schemas.microsoft.com/office/drawing/2014/main" id="{D13120F1-DE8B-A6AA-A1D5-19926A98F028}"/>
              </a:ext>
            </a:extLst>
          </p:cNvPr>
          <p:cNvPicPr>
            <a:picLocks noChangeAspect="1"/>
          </p:cNvPicPr>
          <p:nvPr/>
        </p:nvPicPr>
        <p:blipFill>
          <a:blip r:embed="rId5"/>
          <a:stretch>
            <a:fillRect/>
          </a:stretch>
        </p:blipFill>
        <p:spPr>
          <a:xfrm>
            <a:off x="3825103" y="243054"/>
            <a:ext cx="3684008" cy="1703223"/>
          </a:xfrm>
          <a:prstGeom prst="rect">
            <a:avLst/>
          </a:prstGeom>
        </p:spPr>
      </p:pic>
      <p:sp>
        <p:nvSpPr>
          <p:cNvPr id="13" name="Textfeld 12">
            <a:extLst>
              <a:ext uri="{FF2B5EF4-FFF2-40B4-BE49-F238E27FC236}">
                <a16:creationId xmlns:a16="http://schemas.microsoft.com/office/drawing/2014/main" id="{132D16E5-6BE7-8FC8-CFB3-81C918BB45F1}"/>
              </a:ext>
            </a:extLst>
          </p:cNvPr>
          <p:cNvSpPr txBox="1"/>
          <p:nvPr/>
        </p:nvSpPr>
        <p:spPr>
          <a:xfrm>
            <a:off x="2172911" y="4701104"/>
            <a:ext cx="7370674" cy="954107"/>
          </a:xfrm>
          <a:prstGeom prst="rect">
            <a:avLst/>
          </a:prstGeom>
          <a:noFill/>
        </p:spPr>
        <p:txBody>
          <a:bodyPr wrap="square" rtlCol="0">
            <a:spAutoFit/>
          </a:bodyPr>
          <a:lstStyle/>
          <a:p>
            <a:pPr algn="ctr"/>
            <a:r>
              <a:rPr lang="de-DE" sz="1400" dirty="0"/>
              <a:t>Group members:  </a:t>
            </a:r>
            <a:r>
              <a:rPr lang="en-US" sz="1400" dirty="0"/>
              <a:t>Md Aman, Arham Memon, Paresh </a:t>
            </a:r>
            <a:r>
              <a:rPr lang="en-US" sz="1400" dirty="0" err="1"/>
              <a:t>Nakum</a:t>
            </a:r>
            <a:endParaRPr lang="en-US" sz="1400" dirty="0"/>
          </a:p>
          <a:p>
            <a:pPr algn="ctr"/>
            <a:endParaRPr lang="en-US" sz="1400" dirty="0"/>
          </a:p>
          <a:p>
            <a:pPr algn="ctr"/>
            <a:r>
              <a:rPr lang="en-US" sz="1400" dirty="0"/>
              <a:t>Presenter  – Md Aman, Arham Memon, Paresh </a:t>
            </a:r>
            <a:r>
              <a:rPr lang="en-US" sz="1400" dirty="0" err="1"/>
              <a:t>Nakum</a:t>
            </a:r>
            <a:endParaRPr lang="en-US" sz="1400" dirty="0"/>
          </a:p>
          <a:p>
            <a:pPr algn="ctr"/>
            <a:endParaRPr lang="en-US" sz="1400" dirty="0"/>
          </a:p>
        </p:txBody>
      </p:sp>
      <p:sp>
        <p:nvSpPr>
          <p:cNvPr id="34" name="Free-form: Shape 13">
            <a:extLst>
              <a:ext uri="{FF2B5EF4-FFF2-40B4-BE49-F238E27FC236}">
                <a16:creationId xmlns:a16="http://schemas.microsoft.com/office/drawing/2014/main" id="{44C88E41-E5B3-0D11-A4D3-711DA18380C9}"/>
              </a:ext>
            </a:extLst>
          </p:cNvPr>
          <p:cNvSpPr/>
          <p:nvPr/>
        </p:nvSpPr>
        <p:spPr>
          <a:xfrm>
            <a:off x="0" y="5526425"/>
            <a:ext cx="12218376" cy="72825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solidFill>
              <a:schemeClr val="bg1"/>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Free-form: Shape 13">
            <a:extLst>
              <a:ext uri="{FF2B5EF4-FFF2-40B4-BE49-F238E27FC236}">
                <a16:creationId xmlns:a16="http://schemas.microsoft.com/office/drawing/2014/main" id="{C26B78DF-71CA-5509-F4C5-6276C7251B89}"/>
              </a:ext>
            </a:extLst>
          </p:cNvPr>
          <p:cNvSpPr/>
          <p:nvPr/>
        </p:nvSpPr>
        <p:spPr>
          <a:xfrm>
            <a:off x="0" y="5838824"/>
            <a:ext cx="12192000" cy="675673"/>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6" name="Free-form: Shape 13">
            <a:extLst>
              <a:ext uri="{FF2B5EF4-FFF2-40B4-BE49-F238E27FC236}">
                <a16:creationId xmlns:a16="http://schemas.microsoft.com/office/drawing/2014/main" id="{2AC7F7CE-A165-18C0-6918-B9EA07638042}"/>
              </a:ext>
            </a:extLst>
          </p:cNvPr>
          <p:cNvSpPr/>
          <p:nvPr/>
        </p:nvSpPr>
        <p:spPr>
          <a:xfrm>
            <a:off x="31399" y="5928072"/>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Rechteck 17">
            <a:extLst>
              <a:ext uri="{FF2B5EF4-FFF2-40B4-BE49-F238E27FC236}">
                <a16:creationId xmlns:a16="http://schemas.microsoft.com/office/drawing/2014/main" id="{735E7E19-AD9A-2739-2D13-BC73EA4C7596}"/>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9" name="Picture 18" descr="A white windmill with clouds in the background&#10;&#10;AI-generated content may be incorrect.">
            <a:extLst>
              <a:ext uri="{FF2B5EF4-FFF2-40B4-BE49-F238E27FC236}">
                <a16:creationId xmlns:a16="http://schemas.microsoft.com/office/drawing/2014/main" id="{2FD2ECB6-38EA-E857-A881-0C8E141A489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79950" y="5377946"/>
            <a:ext cx="1753782" cy="1313633"/>
          </a:xfrm>
          <a:prstGeom prst="rect">
            <a:avLst/>
          </a:prstGeom>
        </p:spPr>
      </p:pic>
      <p:sp>
        <p:nvSpPr>
          <p:cNvPr id="6" name="Slide Number Placeholder 5">
            <a:extLst>
              <a:ext uri="{FF2B5EF4-FFF2-40B4-BE49-F238E27FC236}">
                <a16:creationId xmlns:a16="http://schemas.microsoft.com/office/drawing/2014/main" id="{5C14389E-5559-8492-2D9E-AFA299DB9AB1}"/>
              </a:ext>
            </a:extLst>
          </p:cNvPr>
          <p:cNvSpPr>
            <a:spLocks noGrp="1"/>
          </p:cNvSpPr>
          <p:nvPr>
            <p:ph type="sldNum" sz="quarter" idx="12"/>
          </p:nvPr>
        </p:nvSpPr>
        <p:spPr>
          <a:xfrm>
            <a:off x="1833304" y="6538183"/>
            <a:ext cx="287215" cy="365125"/>
          </a:xfrm>
        </p:spPr>
        <p:txBody>
          <a:bodyPr/>
          <a:lstStyle/>
          <a:p>
            <a:fld id="{013F6232-4F06-48BA-8F69-BF531F607829}" type="slidenum">
              <a:rPr lang="en-GB" sz="1400" smtClean="0">
                <a:solidFill>
                  <a:schemeClr val="bg1"/>
                </a:solidFill>
              </a:rPr>
              <a:t>1</a:t>
            </a:fld>
            <a:endParaRPr lang="en-GB" sz="1400" dirty="0">
              <a:solidFill>
                <a:schemeClr val="bg1"/>
              </a:solidFill>
            </a:endParaRPr>
          </a:p>
        </p:txBody>
      </p:sp>
      <p:sp>
        <p:nvSpPr>
          <p:cNvPr id="5" name="TextBox 4">
            <a:extLst>
              <a:ext uri="{FF2B5EF4-FFF2-40B4-BE49-F238E27FC236}">
                <a16:creationId xmlns:a16="http://schemas.microsoft.com/office/drawing/2014/main" id="{4685FE85-99F3-27E8-5CBF-44E0008EEEDF}"/>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7" name="TextBox 6">
            <a:extLst>
              <a:ext uri="{FF2B5EF4-FFF2-40B4-BE49-F238E27FC236}">
                <a16:creationId xmlns:a16="http://schemas.microsoft.com/office/drawing/2014/main" id="{67C3F47E-3A0A-ECB9-FD0E-ABA07059CAA3}"/>
              </a:ext>
            </a:extLst>
          </p:cNvPr>
          <p:cNvSpPr txBox="1"/>
          <p:nvPr/>
        </p:nvSpPr>
        <p:spPr>
          <a:xfrm>
            <a:off x="4865311" y="6580732"/>
            <a:ext cx="2925213" cy="276999"/>
          </a:xfrm>
          <a:prstGeom prst="rect">
            <a:avLst/>
          </a:prstGeom>
          <a:noFill/>
        </p:spPr>
        <p:txBody>
          <a:bodyPr wrap="square" rtlCol="0">
            <a:spAutoFit/>
          </a:bodyPr>
          <a:lstStyle/>
          <a:p>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p:txBody>
      </p:sp>
      <p:sp>
        <p:nvSpPr>
          <p:cNvPr id="10" name="TextBox 9">
            <a:extLst>
              <a:ext uri="{FF2B5EF4-FFF2-40B4-BE49-F238E27FC236}">
                <a16:creationId xmlns:a16="http://schemas.microsoft.com/office/drawing/2014/main" id="{67AC26A0-56D2-A25C-6223-88C5F72E508E}"/>
              </a:ext>
            </a:extLst>
          </p:cNvPr>
          <p:cNvSpPr txBox="1"/>
          <p:nvPr/>
        </p:nvSpPr>
        <p:spPr>
          <a:xfrm>
            <a:off x="10533589" y="6549897"/>
            <a:ext cx="1245696" cy="276999"/>
          </a:xfrm>
          <a:prstGeom prst="rect">
            <a:avLst/>
          </a:prstGeom>
          <a:noFill/>
        </p:spPr>
        <p:txBody>
          <a:bodyPr wrap="square" rtlCol="0">
            <a:spAutoFit/>
          </a:bodyPr>
          <a:lstStyle/>
          <a:p>
            <a:r>
              <a:rPr lang="en-US" sz="1200" dirty="0">
                <a:solidFill>
                  <a:schemeClr val="bg1"/>
                </a:solidFill>
              </a:rPr>
              <a:t>Optimus Syria</a:t>
            </a:r>
          </a:p>
        </p:txBody>
      </p:sp>
    </p:spTree>
    <p:extLst>
      <p:ext uri="{BB962C8B-B14F-4D97-AF65-F5344CB8AC3E}">
        <p14:creationId xmlns:p14="http://schemas.microsoft.com/office/powerpoint/2010/main" val="736408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Shape 13">
            <a:extLst>
              <a:ext uri="{FF2B5EF4-FFF2-40B4-BE49-F238E27FC236}">
                <a16:creationId xmlns:a16="http://schemas.microsoft.com/office/drawing/2014/main" id="{727BC127-4545-D3CD-4862-C320531ABA9D}"/>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5F9413CA-8E0D-B250-B31E-4AA68BA7D014}"/>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87E5E9A3-5B8C-CBB5-88F6-FB4E956A66F7}"/>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837C855E-F70E-F97A-5061-29D00BA11349}"/>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Box 18">
            <a:extLst>
              <a:ext uri="{FF2B5EF4-FFF2-40B4-BE49-F238E27FC236}">
                <a16:creationId xmlns:a16="http://schemas.microsoft.com/office/drawing/2014/main" id="{26533BD2-7016-D99B-8D14-5716721F009D}"/>
              </a:ext>
            </a:extLst>
          </p:cNvPr>
          <p:cNvSpPr txBox="1"/>
          <p:nvPr/>
        </p:nvSpPr>
        <p:spPr>
          <a:xfrm>
            <a:off x="342900" y="1465091"/>
            <a:ext cx="11218984" cy="3046988"/>
          </a:xfrm>
          <a:prstGeom prst="rect">
            <a:avLst/>
          </a:prstGeom>
          <a:noFill/>
        </p:spPr>
        <p:txBody>
          <a:bodyPr wrap="square" rtlCol="0">
            <a:spAutoFit/>
          </a:bodyPr>
          <a:lstStyle/>
          <a:p>
            <a:endParaRPr lang="it-IT" dirty="0"/>
          </a:p>
          <a:p>
            <a:endParaRPr lang="it-IT" dirty="0"/>
          </a:p>
          <a:p>
            <a:pPr marL="342900" indent="-342900">
              <a:buFont typeface="Arial" panose="020B0604020202020204" pitchFamily="34" charset="0"/>
              <a:buChar char="•"/>
            </a:pPr>
            <a:r>
              <a:rPr lang="en-US" sz="2400" dirty="0">
                <a:cs typeface="Times New Roman" panose="02020603050405020304" pitchFamily="18" charset="0"/>
              </a:rPr>
              <a:t>DLC 4.2 Case Simulation - normal stop during extreme operating gust  (EOG)</a:t>
            </a:r>
          </a:p>
          <a:p>
            <a:pPr marL="342900" indent="-342900">
              <a:buFont typeface="Arial" panose="020B0604020202020204" pitchFamily="34" charset="0"/>
              <a:buChar char="•"/>
            </a:pPr>
            <a:r>
              <a:rPr lang="en-US" sz="2400" dirty="0">
                <a:cs typeface="Times New Roman" panose="02020603050405020304" pitchFamily="18" charset="0"/>
              </a:rPr>
              <a:t>Updated DLC 5.1- emergency stop during normal operation</a:t>
            </a:r>
          </a:p>
          <a:p>
            <a:pPr marL="342900" indent="-342900">
              <a:buFont typeface="Arial" panose="020B0604020202020204" pitchFamily="34" charset="0"/>
              <a:buChar char="•"/>
            </a:pPr>
            <a:r>
              <a:rPr lang="en-US" sz="2400" dirty="0">
                <a:cs typeface="Times New Roman" panose="02020603050405020304" pitchFamily="18" charset="0"/>
              </a:rPr>
              <a:t>Updated DLC 6.1 – with different </a:t>
            </a:r>
            <a:r>
              <a:rPr lang="en-US" sz="2400" dirty="0" err="1">
                <a:cs typeface="Times New Roman" panose="02020603050405020304" pitchFamily="18" charset="0"/>
              </a:rPr>
              <a:t>Randseed</a:t>
            </a:r>
            <a:endParaRPr lang="en-US" sz="2400" dirty="0">
              <a:cs typeface="Times New Roman" panose="02020603050405020304" pitchFamily="18" charset="0"/>
            </a:endParaRPr>
          </a:p>
          <a:p>
            <a:pPr marL="342900" indent="-342900">
              <a:buFont typeface="Arial" panose="020B0604020202020204" pitchFamily="34" charset="0"/>
              <a:buChar char="•"/>
            </a:pPr>
            <a:r>
              <a:rPr lang="en-US" sz="2400" dirty="0">
                <a:cs typeface="Times New Roman" panose="02020603050405020304" pitchFamily="18" charset="0"/>
              </a:rPr>
              <a:t>Conclusion &amp; Future Plan</a:t>
            </a:r>
          </a:p>
          <a:p>
            <a:pPr marL="342900" indent="-342900">
              <a:buFont typeface="Arial" panose="020B0604020202020204" pitchFamily="34" charset="0"/>
              <a:buChar char="•"/>
            </a:pPr>
            <a:r>
              <a:rPr lang="en-US" sz="2400" dirty="0">
                <a:cs typeface="Times New Roman" panose="02020603050405020304" pitchFamily="18" charset="0"/>
              </a:rPr>
              <a:t>Bibliography</a:t>
            </a:r>
          </a:p>
          <a:p>
            <a:endParaRPr lang="en-US" dirty="0">
              <a:cs typeface="Times New Roman" panose="02020603050405020304" pitchFamily="18" charset="0"/>
            </a:endParaRPr>
          </a:p>
          <a:p>
            <a:pPr marL="342900" indent="-342900">
              <a:buFont typeface="Arial" panose="020B0604020202020204" pitchFamily="34" charset="0"/>
              <a:buChar char="•"/>
            </a:pPr>
            <a:endParaRPr lang="en-GB" dirty="0">
              <a:cs typeface="Times New Roman" panose="02020603050405020304" pitchFamily="18" charset="0"/>
            </a:endParaRPr>
          </a:p>
        </p:txBody>
      </p:sp>
      <p:sp>
        <p:nvSpPr>
          <p:cNvPr id="5" name="Slide Number Placeholder 5">
            <a:extLst>
              <a:ext uri="{FF2B5EF4-FFF2-40B4-BE49-F238E27FC236}">
                <a16:creationId xmlns:a16="http://schemas.microsoft.com/office/drawing/2014/main" id="{9E0AA001-DA32-5B78-E7F7-573800334952}"/>
              </a:ext>
            </a:extLst>
          </p:cNvPr>
          <p:cNvSpPr>
            <a:spLocks noGrp="1"/>
          </p:cNvSpPr>
          <p:nvPr>
            <p:ph type="sldNum" sz="quarter" idx="12"/>
          </p:nvPr>
        </p:nvSpPr>
        <p:spPr>
          <a:xfrm>
            <a:off x="1833304" y="6536048"/>
            <a:ext cx="287215" cy="365125"/>
          </a:xfrm>
        </p:spPr>
        <p:txBody>
          <a:bodyPr/>
          <a:lstStyle/>
          <a:p>
            <a:fld id="{013F6232-4F06-48BA-8F69-BF531F607829}" type="slidenum">
              <a:rPr lang="en-GB" sz="1400" smtClean="0">
                <a:solidFill>
                  <a:schemeClr val="bg1"/>
                </a:solidFill>
              </a:rPr>
              <a:t>2</a:t>
            </a:fld>
            <a:endParaRPr lang="en-GB" sz="1400" dirty="0">
              <a:solidFill>
                <a:schemeClr val="bg1"/>
              </a:solidFill>
            </a:endParaRPr>
          </a:p>
        </p:txBody>
      </p:sp>
      <p:sp>
        <p:nvSpPr>
          <p:cNvPr id="2" name="Titel 1">
            <a:extLst>
              <a:ext uri="{FF2B5EF4-FFF2-40B4-BE49-F238E27FC236}">
                <a16:creationId xmlns:a16="http://schemas.microsoft.com/office/drawing/2014/main" id="{FEBE381E-3397-D2E2-45A9-C6F7EAF78AC9}"/>
              </a:ext>
            </a:extLst>
          </p:cNvPr>
          <p:cNvSpPr>
            <a:spLocks noGrp="1"/>
          </p:cNvSpPr>
          <p:nvPr>
            <p:ph type="title"/>
          </p:nvPr>
        </p:nvSpPr>
        <p:spPr>
          <a:xfrm>
            <a:off x="484418" y="502853"/>
            <a:ext cx="7982574" cy="712728"/>
          </a:xfrm>
        </p:spPr>
        <p:txBody>
          <a:bodyPr>
            <a:normAutofit/>
          </a:bodyPr>
          <a:lstStyle/>
          <a:p>
            <a:r>
              <a:rPr lang="en-US" sz="4400" dirty="0"/>
              <a:t>Agenda For </a:t>
            </a:r>
            <a:r>
              <a:rPr lang="it-IT" dirty="0"/>
              <a:t>Loads &amp; Dynamics</a:t>
            </a:r>
            <a:endParaRPr lang="en-US" sz="4400" dirty="0"/>
          </a:p>
        </p:txBody>
      </p:sp>
      <p:cxnSp>
        <p:nvCxnSpPr>
          <p:cNvPr id="6" name="Straight Connector 5">
            <a:extLst>
              <a:ext uri="{FF2B5EF4-FFF2-40B4-BE49-F238E27FC236}">
                <a16:creationId xmlns:a16="http://schemas.microsoft.com/office/drawing/2014/main" id="{8873AD17-49A9-1372-BEA3-994BB76CBDE8}"/>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5A568D94-AF6A-68C5-CAEA-EBE1FF802F45}"/>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7" name="TextBox 6">
            <a:extLst>
              <a:ext uri="{FF2B5EF4-FFF2-40B4-BE49-F238E27FC236}">
                <a16:creationId xmlns:a16="http://schemas.microsoft.com/office/drawing/2014/main" id="{C1CE810C-6C17-B4BE-B68E-E8F18C7174DF}"/>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8" name="TextBox 7">
            <a:extLst>
              <a:ext uri="{FF2B5EF4-FFF2-40B4-BE49-F238E27FC236}">
                <a16:creationId xmlns:a16="http://schemas.microsoft.com/office/drawing/2014/main" id="{533A0BF8-D04C-9D69-012E-654B8A52187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spTree>
    <p:extLst>
      <p:ext uri="{BB962C8B-B14F-4D97-AF65-F5344CB8AC3E}">
        <p14:creationId xmlns:p14="http://schemas.microsoft.com/office/powerpoint/2010/main" val="1106553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E8FF8-26DF-DC06-1B1F-F4D35D45F9CD}"/>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92FA550B-EB6E-3B35-199D-08961285DE1F}"/>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59242A21-7A46-18F7-EA7C-13BC6DD60667}"/>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F4AA6590-F0D8-22DD-ED57-A88257127BEA}"/>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0F413404-13D4-6412-411C-C04E3A756749}"/>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9CB54AB6-8A88-1136-3EFD-86057EF72137}"/>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B8B79BB5-F40F-1D1D-0CD5-F61223D41496}"/>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65BA4BB8-3F22-F9EA-D25E-727719E5DF0D}"/>
              </a:ext>
            </a:extLst>
          </p:cNvPr>
          <p:cNvSpPr txBox="1">
            <a:spLocks/>
          </p:cNvSpPr>
          <p:nvPr/>
        </p:nvSpPr>
        <p:spPr>
          <a:xfrm>
            <a:off x="1833304" y="6515527"/>
            <a:ext cx="287215"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3</a:t>
            </a:fld>
            <a:endParaRPr lang="en-GB" sz="1400" dirty="0">
              <a:solidFill>
                <a:schemeClr val="bg1"/>
              </a:solidFill>
            </a:endParaRPr>
          </a:p>
        </p:txBody>
      </p:sp>
      <p:sp>
        <p:nvSpPr>
          <p:cNvPr id="16" name="TextBox 15">
            <a:extLst>
              <a:ext uri="{FF2B5EF4-FFF2-40B4-BE49-F238E27FC236}">
                <a16:creationId xmlns:a16="http://schemas.microsoft.com/office/drawing/2014/main" id="{7188BC5F-AD6B-0BFD-8145-2C691A0D105E}"/>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7" name="Title 6">
            <a:extLst>
              <a:ext uri="{FF2B5EF4-FFF2-40B4-BE49-F238E27FC236}">
                <a16:creationId xmlns:a16="http://schemas.microsoft.com/office/drawing/2014/main" id="{2C20E2D1-B8F9-295C-5F3E-269F0C17CE24}"/>
              </a:ext>
            </a:extLst>
          </p:cNvPr>
          <p:cNvSpPr>
            <a:spLocks noGrp="1"/>
          </p:cNvSpPr>
          <p:nvPr>
            <p:ph type="title"/>
          </p:nvPr>
        </p:nvSpPr>
        <p:spPr>
          <a:xfrm>
            <a:off x="475626" y="363628"/>
            <a:ext cx="10515600" cy="937132"/>
          </a:xfrm>
        </p:spPr>
        <p:txBody>
          <a:bodyPr>
            <a:normAutofit/>
          </a:bodyPr>
          <a:lstStyle/>
          <a:p>
            <a:r>
              <a:rPr lang="en-US" dirty="0"/>
              <a:t>DLC 4.2 </a:t>
            </a:r>
            <a:r>
              <a:rPr lang="en-US" sz="2800" dirty="0"/>
              <a:t>Normal Shutdown</a:t>
            </a:r>
            <a:endParaRPr lang="en-US" dirty="0"/>
          </a:p>
        </p:txBody>
      </p:sp>
      <p:sp>
        <p:nvSpPr>
          <p:cNvPr id="5" name="TextBox 4">
            <a:extLst>
              <a:ext uri="{FF2B5EF4-FFF2-40B4-BE49-F238E27FC236}">
                <a16:creationId xmlns:a16="http://schemas.microsoft.com/office/drawing/2014/main" id="{A5C3B30B-9950-90F6-233E-64FA395AFE19}"/>
              </a:ext>
            </a:extLst>
          </p:cNvPr>
          <p:cNvSpPr txBox="1"/>
          <p:nvPr/>
        </p:nvSpPr>
        <p:spPr>
          <a:xfrm>
            <a:off x="636695" y="1386443"/>
            <a:ext cx="10100132" cy="923330"/>
          </a:xfrm>
          <a:prstGeom prst="rect">
            <a:avLst/>
          </a:prstGeom>
          <a:noFill/>
        </p:spPr>
        <p:txBody>
          <a:bodyPr wrap="square">
            <a:spAutoFit/>
          </a:bodyPr>
          <a:lstStyle/>
          <a:p>
            <a:pPr algn="just">
              <a:buNone/>
            </a:pPr>
            <a:r>
              <a:rPr lang="en-US" dirty="0"/>
              <a:t>DLC 4.2 (Design Load Case 4.2) considers the </a:t>
            </a:r>
            <a:r>
              <a:rPr lang="en-US" b="1" dirty="0"/>
              <a:t>Extreme Operating Gust (EOG)</a:t>
            </a:r>
            <a:r>
              <a:rPr lang="en-US" dirty="0"/>
              <a:t> event, designed to test the turbine's ability to withstand sudden, sharp changes in wind speed while the machine is operating and a normal shutdown is initiated.</a:t>
            </a:r>
          </a:p>
        </p:txBody>
      </p:sp>
      <p:pic>
        <p:nvPicPr>
          <p:cNvPr id="15" name="Picture 14" descr="A white sheet with black text&#10;&#10;AI-generated content may be incorrect.">
            <a:extLst>
              <a:ext uri="{FF2B5EF4-FFF2-40B4-BE49-F238E27FC236}">
                <a16:creationId xmlns:a16="http://schemas.microsoft.com/office/drawing/2014/main" id="{FB4DBDC5-3C97-0D47-86F1-B424BF62F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6550" y="2781723"/>
            <a:ext cx="4926876" cy="1815165"/>
          </a:xfrm>
          <a:prstGeom prst="rect">
            <a:avLst/>
          </a:prstGeom>
        </p:spPr>
      </p:pic>
      <p:cxnSp>
        <p:nvCxnSpPr>
          <p:cNvPr id="21" name="Straight Arrow Connector 20">
            <a:extLst>
              <a:ext uri="{FF2B5EF4-FFF2-40B4-BE49-F238E27FC236}">
                <a16:creationId xmlns:a16="http://schemas.microsoft.com/office/drawing/2014/main" id="{D77CB4BF-65AE-150C-B306-B94BB40DC198}"/>
              </a:ext>
            </a:extLst>
          </p:cNvPr>
          <p:cNvCxnSpPr>
            <a:cxnSpLocks/>
          </p:cNvCxnSpPr>
          <p:nvPr/>
        </p:nvCxnSpPr>
        <p:spPr>
          <a:xfrm>
            <a:off x="4653647" y="2892610"/>
            <a:ext cx="288470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DA49F760-D71B-FC27-D606-EE1FE60F100C}"/>
              </a:ext>
            </a:extLst>
          </p:cNvPr>
          <p:cNvSpPr txBox="1"/>
          <p:nvPr/>
        </p:nvSpPr>
        <p:spPr>
          <a:xfrm>
            <a:off x="7516555" y="2727308"/>
            <a:ext cx="2646549" cy="369332"/>
          </a:xfrm>
          <a:prstGeom prst="rect">
            <a:avLst/>
          </a:prstGeom>
          <a:noFill/>
        </p:spPr>
        <p:txBody>
          <a:bodyPr wrap="square" rtlCol="0">
            <a:spAutoFit/>
          </a:bodyPr>
          <a:lstStyle/>
          <a:p>
            <a:r>
              <a:rPr lang="en-US" b="1" dirty="0"/>
              <a:t>Normal Wind Profile</a:t>
            </a:r>
          </a:p>
        </p:txBody>
      </p:sp>
      <p:cxnSp>
        <p:nvCxnSpPr>
          <p:cNvPr id="24" name="Straight Arrow Connector 23">
            <a:extLst>
              <a:ext uri="{FF2B5EF4-FFF2-40B4-BE49-F238E27FC236}">
                <a16:creationId xmlns:a16="http://schemas.microsoft.com/office/drawing/2014/main" id="{DD7A26EE-1F0D-A88C-D84C-C3284F761556}"/>
              </a:ext>
            </a:extLst>
          </p:cNvPr>
          <p:cNvCxnSpPr>
            <a:cxnSpLocks/>
            <a:endCxn id="25" idx="1"/>
          </p:cNvCxnSpPr>
          <p:nvPr/>
        </p:nvCxnSpPr>
        <p:spPr>
          <a:xfrm>
            <a:off x="4443366" y="3494812"/>
            <a:ext cx="2955202"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5" name="TextBox 24">
            <a:extLst>
              <a:ext uri="{FF2B5EF4-FFF2-40B4-BE49-F238E27FC236}">
                <a16:creationId xmlns:a16="http://schemas.microsoft.com/office/drawing/2014/main" id="{E03953A3-529A-1753-5E09-4BFF04B8F328}"/>
              </a:ext>
            </a:extLst>
          </p:cNvPr>
          <p:cNvSpPr txBox="1"/>
          <p:nvPr/>
        </p:nvSpPr>
        <p:spPr>
          <a:xfrm>
            <a:off x="7398568" y="3310146"/>
            <a:ext cx="2711000" cy="369332"/>
          </a:xfrm>
          <a:prstGeom prst="rect">
            <a:avLst/>
          </a:prstGeom>
          <a:noFill/>
        </p:spPr>
        <p:txBody>
          <a:bodyPr wrap="square" rtlCol="0">
            <a:spAutoFit/>
          </a:bodyPr>
          <a:lstStyle/>
          <a:p>
            <a:r>
              <a:rPr lang="en-US" b="1" dirty="0"/>
              <a:t>Extreme Operating Gust</a:t>
            </a:r>
          </a:p>
        </p:txBody>
      </p:sp>
      <p:sp>
        <p:nvSpPr>
          <p:cNvPr id="3" name="TextBox 2">
            <a:extLst>
              <a:ext uri="{FF2B5EF4-FFF2-40B4-BE49-F238E27FC236}">
                <a16:creationId xmlns:a16="http://schemas.microsoft.com/office/drawing/2014/main" id="{21AA9557-5815-05F1-D6CD-78B10B62A90E}"/>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sp>
        <p:nvSpPr>
          <p:cNvPr id="8" name="Rectangle 7">
            <a:extLst>
              <a:ext uri="{FF2B5EF4-FFF2-40B4-BE49-F238E27FC236}">
                <a16:creationId xmlns:a16="http://schemas.microsoft.com/office/drawing/2014/main" id="{C5CF0721-F949-62E7-76F3-8C561ABAFF78}"/>
              </a:ext>
            </a:extLst>
          </p:cNvPr>
          <p:cNvSpPr/>
          <p:nvPr/>
        </p:nvSpPr>
        <p:spPr>
          <a:xfrm>
            <a:off x="636695" y="5377013"/>
            <a:ext cx="1253163" cy="520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4.2</a:t>
            </a:r>
          </a:p>
        </p:txBody>
      </p:sp>
      <p:sp>
        <p:nvSpPr>
          <p:cNvPr id="17" name="TextBox 16">
            <a:extLst>
              <a:ext uri="{FF2B5EF4-FFF2-40B4-BE49-F238E27FC236}">
                <a16:creationId xmlns:a16="http://schemas.microsoft.com/office/drawing/2014/main" id="{07D1A2C3-B56C-85F8-C0A8-587661FEA5D1}"/>
              </a:ext>
            </a:extLst>
          </p:cNvPr>
          <p:cNvSpPr txBox="1"/>
          <p:nvPr/>
        </p:nvSpPr>
        <p:spPr>
          <a:xfrm>
            <a:off x="2676832" y="5314306"/>
            <a:ext cx="8402883" cy="646331"/>
          </a:xfrm>
          <a:prstGeom prst="rect">
            <a:avLst/>
          </a:prstGeom>
          <a:noFill/>
        </p:spPr>
        <p:txBody>
          <a:bodyPr wrap="square">
            <a:spAutoFit/>
          </a:bodyPr>
          <a:lstStyle/>
          <a:p>
            <a:r>
              <a:rPr lang="en-US" dirty="0"/>
              <a:t>EOG is critical because the gust suddenly overloads the drivetrain, forcing the pitch controller to maintain stability.</a:t>
            </a:r>
          </a:p>
        </p:txBody>
      </p:sp>
    </p:spTree>
    <p:extLst>
      <p:ext uri="{BB962C8B-B14F-4D97-AF65-F5344CB8AC3E}">
        <p14:creationId xmlns:p14="http://schemas.microsoft.com/office/powerpoint/2010/main" val="26281878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B0BD9-DCF0-C18F-CBB5-2240AFCB3A0A}"/>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B159757D-E8D1-CE00-CF03-A7F07B520892}"/>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D42583EF-B99F-25C0-6636-4C358972E861}"/>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EA481050-6497-E015-F00B-773A67097377}"/>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9AE3724C-C897-174D-25D3-46EBDC40CF0B}"/>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27FC496C-7C4C-B904-0F4A-0008FCB82057}"/>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361EC4E4-F3C9-96A7-FF0E-5944B4943812}"/>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9A1B0BF1-DB42-C121-AE22-C67847C8C00B}"/>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4</a:t>
            </a:fld>
            <a:endParaRPr lang="en-GB" sz="1400" dirty="0">
              <a:solidFill>
                <a:schemeClr val="bg1"/>
              </a:solidFill>
            </a:endParaRPr>
          </a:p>
        </p:txBody>
      </p:sp>
      <p:sp>
        <p:nvSpPr>
          <p:cNvPr id="16" name="TextBox 15">
            <a:extLst>
              <a:ext uri="{FF2B5EF4-FFF2-40B4-BE49-F238E27FC236}">
                <a16:creationId xmlns:a16="http://schemas.microsoft.com/office/drawing/2014/main" id="{6CDD220A-BD95-30F8-877F-4F2054D7BA5E}"/>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441F367E-5E58-F8AE-5DB3-99B5E136100A}"/>
              </a:ext>
            </a:extLst>
          </p:cNvPr>
          <p:cNvSpPr>
            <a:spLocks noGrp="1"/>
          </p:cNvSpPr>
          <p:nvPr>
            <p:ph type="title"/>
          </p:nvPr>
        </p:nvSpPr>
        <p:spPr>
          <a:xfrm>
            <a:off x="475626" y="363628"/>
            <a:ext cx="10515600" cy="937132"/>
          </a:xfrm>
        </p:spPr>
        <p:txBody>
          <a:bodyPr>
            <a:normAutofit/>
          </a:bodyPr>
          <a:lstStyle/>
          <a:p>
            <a:r>
              <a:rPr lang="en-US" dirty="0"/>
              <a:t>DLC 4.2 </a:t>
            </a:r>
            <a:r>
              <a:rPr lang="en-US" sz="2800" dirty="0"/>
              <a:t>Simulation examples </a:t>
            </a:r>
            <a:endParaRPr lang="en-US" dirty="0"/>
          </a:p>
        </p:txBody>
      </p:sp>
      <p:sp>
        <p:nvSpPr>
          <p:cNvPr id="2" name="TextBox 1">
            <a:extLst>
              <a:ext uri="{FF2B5EF4-FFF2-40B4-BE49-F238E27FC236}">
                <a16:creationId xmlns:a16="http://schemas.microsoft.com/office/drawing/2014/main" id="{FD5088D7-AEDE-B664-5B30-306A3734761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12" name="Picture 11" descr="A graph on a white grid&#10;&#10;AI-generated content may be incorrect.">
            <a:extLst>
              <a:ext uri="{FF2B5EF4-FFF2-40B4-BE49-F238E27FC236}">
                <a16:creationId xmlns:a16="http://schemas.microsoft.com/office/drawing/2014/main" id="{FFC81CDD-AFC5-503F-AEC0-B6D8825595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232" y="1577134"/>
            <a:ext cx="10176387" cy="4548740"/>
          </a:xfrm>
          <a:prstGeom prst="rect">
            <a:avLst/>
          </a:prstGeom>
        </p:spPr>
      </p:pic>
      <p:sp>
        <p:nvSpPr>
          <p:cNvPr id="17" name="TextBox 16">
            <a:extLst>
              <a:ext uri="{FF2B5EF4-FFF2-40B4-BE49-F238E27FC236}">
                <a16:creationId xmlns:a16="http://schemas.microsoft.com/office/drawing/2014/main" id="{D5088FBD-C812-6E5D-A7E2-A3B2D31F2FDF}"/>
              </a:ext>
            </a:extLst>
          </p:cNvPr>
          <p:cNvSpPr txBox="1"/>
          <p:nvPr/>
        </p:nvSpPr>
        <p:spPr>
          <a:xfrm>
            <a:off x="10991226" y="1577134"/>
            <a:ext cx="907583" cy="369332"/>
          </a:xfrm>
          <a:prstGeom prst="rect">
            <a:avLst/>
          </a:prstGeom>
          <a:noFill/>
        </p:spPr>
        <p:txBody>
          <a:bodyPr wrap="square" rtlCol="0">
            <a:spAutoFit/>
          </a:bodyPr>
          <a:lstStyle/>
          <a:p>
            <a:r>
              <a:rPr lang="en-US" dirty="0"/>
              <a:t>10 m/s</a:t>
            </a:r>
          </a:p>
        </p:txBody>
      </p:sp>
    </p:spTree>
    <p:extLst>
      <p:ext uri="{BB962C8B-B14F-4D97-AF65-F5344CB8AC3E}">
        <p14:creationId xmlns:p14="http://schemas.microsoft.com/office/powerpoint/2010/main" val="19553840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3C398-AA62-E157-8B6E-26DDC152F91E}"/>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72500D61-2F05-A114-2FE5-0FA952AEAA1A}"/>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A1EB7822-EC27-D6D4-056B-15BFB169EB73}"/>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6F7CCEA3-81D0-2017-AF1B-CB1F32B243C1}"/>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CC725B46-0C45-739A-5F70-B406CA67BC59}"/>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92FD7E98-668B-EE0C-ECD9-FB998C3BF601}"/>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E756517A-CE8B-E1F3-9491-F79AF52E226F}"/>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EC459639-8F72-2FCD-7C82-A30A1850B3D7}"/>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5</a:t>
            </a:fld>
            <a:endParaRPr lang="en-GB" sz="1400" dirty="0">
              <a:solidFill>
                <a:schemeClr val="bg1"/>
              </a:solidFill>
            </a:endParaRPr>
          </a:p>
        </p:txBody>
      </p:sp>
      <p:sp>
        <p:nvSpPr>
          <p:cNvPr id="16" name="TextBox 15">
            <a:extLst>
              <a:ext uri="{FF2B5EF4-FFF2-40B4-BE49-F238E27FC236}">
                <a16:creationId xmlns:a16="http://schemas.microsoft.com/office/drawing/2014/main" id="{E4FF50F0-ADA0-B781-ECDF-7D5AC366A851}"/>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83F850BC-A0BF-35F6-B142-67BAECB500D7}"/>
              </a:ext>
            </a:extLst>
          </p:cNvPr>
          <p:cNvSpPr>
            <a:spLocks noGrp="1"/>
          </p:cNvSpPr>
          <p:nvPr>
            <p:ph type="title"/>
          </p:nvPr>
        </p:nvSpPr>
        <p:spPr>
          <a:xfrm>
            <a:off x="475626" y="363628"/>
            <a:ext cx="10515600" cy="937132"/>
          </a:xfrm>
        </p:spPr>
        <p:txBody>
          <a:bodyPr>
            <a:normAutofit/>
          </a:bodyPr>
          <a:lstStyle/>
          <a:p>
            <a:r>
              <a:rPr lang="en-US" dirty="0"/>
              <a:t>DLC 4.2 </a:t>
            </a:r>
            <a:r>
              <a:rPr lang="en-US" sz="2800" dirty="0"/>
              <a:t>Simulation examples </a:t>
            </a:r>
            <a:endParaRPr lang="en-US" dirty="0"/>
          </a:p>
        </p:txBody>
      </p:sp>
      <p:sp>
        <p:nvSpPr>
          <p:cNvPr id="2" name="TextBox 1">
            <a:extLst>
              <a:ext uri="{FF2B5EF4-FFF2-40B4-BE49-F238E27FC236}">
                <a16:creationId xmlns:a16="http://schemas.microsoft.com/office/drawing/2014/main" id="{1EB2A037-32B7-1386-217D-B0F33DC7C25B}"/>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sp>
        <p:nvSpPr>
          <p:cNvPr id="15" name="TextBox 14">
            <a:extLst>
              <a:ext uri="{FF2B5EF4-FFF2-40B4-BE49-F238E27FC236}">
                <a16:creationId xmlns:a16="http://schemas.microsoft.com/office/drawing/2014/main" id="{8390EEC4-96BF-A0C0-6939-C1262BC6E5B5}"/>
              </a:ext>
            </a:extLst>
          </p:cNvPr>
          <p:cNvSpPr txBox="1"/>
          <p:nvPr/>
        </p:nvSpPr>
        <p:spPr>
          <a:xfrm>
            <a:off x="10828421" y="1300760"/>
            <a:ext cx="1037786" cy="369332"/>
          </a:xfrm>
          <a:prstGeom prst="rect">
            <a:avLst/>
          </a:prstGeom>
          <a:noFill/>
        </p:spPr>
        <p:txBody>
          <a:bodyPr wrap="square" rtlCol="0">
            <a:spAutoFit/>
          </a:bodyPr>
          <a:lstStyle/>
          <a:p>
            <a:r>
              <a:rPr lang="en-US" dirty="0"/>
              <a:t>12 m/s</a:t>
            </a:r>
          </a:p>
        </p:txBody>
      </p:sp>
      <p:pic>
        <p:nvPicPr>
          <p:cNvPr id="5" name="Picture 4" descr="A graph of a graph&#10;&#10;AI-generated content may be incorrect.">
            <a:extLst>
              <a:ext uri="{FF2B5EF4-FFF2-40B4-BE49-F238E27FC236}">
                <a16:creationId xmlns:a16="http://schemas.microsoft.com/office/drawing/2014/main" id="{C8D0800D-688C-CDE8-BF0A-3456DB43D6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6341" y="1322169"/>
            <a:ext cx="10194170" cy="3190838"/>
          </a:xfrm>
          <a:prstGeom prst="rect">
            <a:avLst/>
          </a:prstGeom>
        </p:spPr>
      </p:pic>
      <p:sp>
        <p:nvSpPr>
          <p:cNvPr id="7" name="TextBox 6">
            <a:extLst>
              <a:ext uri="{FF2B5EF4-FFF2-40B4-BE49-F238E27FC236}">
                <a16:creationId xmlns:a16="http://schemas.microsoft.com/office/drawing/2014/main" id="{A98414A4-8534-71B0-24AE-11B3B69D5CDB}"/>
              </a:ext>
            </a:extLst>
          </p:cNvPr>
          <p:cNvSpPr txBox="1"/>
          <p:nvPr/>
        </p:nvSpPr>
        <p:spPr>
          <a:xfrm>
            <a:off x="492651" y="4925545"/>
            <a:ext cx="10723316" cy="1200329"/>
          </a:xfrm>
          <a:prstGeom prst="rect">
            <a:avLst/>
          </a:prstGeom>
          <a:noFill/>
        </p:spPr>
        <p:txBody>
          <a:bodyPr wrap="square" rtlCol="0">
            <a:spAutoFit/>
          </a:bodyPr>
          <a:lstStyle/>
          <a:p>
            <a:pPr algn="just"/>
            <a:r>
              <a:rPr lang="en-US" dirty="0"/>
              <a:t>The simulation confirms the controller's robust stability across all operating regimes. The turbine manages the extreme gust by transitioning control: at low speeds 7.5m/s, rotor speed absorbs the load, while at high speeds 10m/s, 12m/s, 25m/s, the pitch controller quickly sheds aerodynamic power. This validates that the system can withstand the maximum transient loading conditions required by this design load case.</a:t>
            </a:r>
          </a:p>
        </p:txBody>
      </p:sp>
    </p:spTree>
    <p:extLst>
      <p:ext uri="{BB962C8B-B14F-4D97-AF65-F5344CB8AC3E}">
        <p14:creationId xmlns:p14="http://schemas.microsoft.com/office/powerpoint/2010/main" val="834871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6CF81A-89AE-6A7D-5979-48ED21FD4E69}"/>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EE03CF96-185B-2658-DA0E-BB323964A50C}"/>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2033A1E3-BA81-803A-8464-7739BEF74DE5}"/>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F836B583-9013-9F3B-7492-85F594D35CC2}"/>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FD4E28B6-9FE1-A316-96B5-DF2B92A5A2A6}"/>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5" name="Slide Number Placeholder 5">
            <a:extLst>
              <a:ext uri="{FF2B5EF4-FFF2-40B4-BE49-F238E27FC236}">
                <a16:creationId xmlns:a16="http://schemas.microsoft.com/office/drawing/2014/main" id="{6340897B-2D2D-B14D-4532-C6060030DED1}"/>
              </a:ext>
            </a:extLst>
          </p:cNvPr>
          <p:cNvSpPr>
            <a:spLocks noGrp="1"/>
          </p:cNvSpPr>
          <p:nvPr>
            <p:ph type="sldNum" sz="quarter" idx="12"/>
          </p:nvPr>
        </p:nvSpPr>
        <p:spPr>
          <a:xfrm>
            <a:off x="1702154" y="6515528"/>
            <a:ext cx="436367" cy="365125"/>
          </a:xfrm>
        </p:spPr>
        <p:txBody>
          <a:bodyPr/>
          <a:lstStyle/>
          <a:p>
            <a:fld id="{013F6232-4F06-48BA-8F69-BF531F607829}" type="slidenum">
              <a:rPr lang="en-GB" sz="1400" smtClean="0">
                <a:solidFill>
                  <a:schemeClr val="bg1"/>
                </a:solidFill>
              </a:rPr>
              <a:t>6</a:t>
            </a:fld>
            <a:endParaRPr lang="en-GB" sz="1400" dirty="0">
              <a:solidFill>
                <a:schemeClr val="bg1"/>
              </a:solidFill>
            </a:endParaRPr>
          </a:p>
        </p:txBody>
      </p:sp>
      <p:sp>
        <p:nvSpPr>
          <p:cNvPr id="2" name="Titel 1">
            <a:extLst>
              <a:ext uri="{FF2B5EF4-FFF2-40B4-BE49-F238E27FC236}">
                <a16:creationId xmlns:a16="http://schemas.microsoft.com/office/drawing/2014/main" id="{5D4E4E7B-DC09-CAB5-9681-66C2BE3C6BC3}"/>
              </a:ext>
            </a:extLst>
          </p:cNvPr>
          <p:cNvSpPr>
            <a:spLocks noGrp="1"/>
          </p:cNvSpPr>
          <p:nvPr>
            <p:ph type="title"/>
          </p:nvPr>
        </p:nvSpPr>
        <p:spPr>
          <a:xfrm>
            <a:off x="484418" y="502853"/>
            <a:ext cx="7982574" cy="712728"/>
          </a:xfrm>
        </p:spPr>
        <p:txBody>
          <a:bodyPr>
            <a:normAutofit/>
          </a:bodyPr>
          <a:lstStyle/>
          <a:p>
            <a:r>
              <a:rPr lang="en-US" dirty="0"/>
              <a:t>DLC 5.1</a:t>
            </a:r>
            <a:r>
              <a:rPr lang="en-US" sz="2800" dirty="0"/>
              <a:t>Emergency Stop</a:t>
            </a:r>
            <a:endParaRPr lang="en-US" sz="4400" dirty="0"/>
          </a:p>
        </p:txBody>
      </p:sp>
      <p:cxnSp>
        <p:nvCxnSpPr>
          <p:cNvPr id="6" name="Straight Connector 5">
            <a:extLst>
              <a:ext uri="{FF2B5EF4-FFF2-40B4-BE49-F238E27FC236}">
                <a16:creationId xmlns:a16="http://schemas.microsoft.com/office/drawing/2014/main" id="{5A76CCC5-BE8F-3059-F240-FFDA685B8118}"/>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1AEFF1AF-0F40-9658-C5D3-F01172ED3D34}"/>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7" name="TextBox 6">
            <a:extLst>
              <a:ext uri="{FF2B5EF4-FFF2-40B4-BE49-F238E27FC236}">
                <a16:creationId xmlns:a16="http://schemas.microsoft.com/office/drawing/2014/main" id="{47BB11CD-D484-AA86-FAB7-480CDE1803BD}"/>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2" name="TextBox 11">
            <a:extLst>
              <a:ext uri="{FF2B5EF4-FFF2-40B4-BE49-F238E27FC236}">
                <a16:creationId xmlns:a16="http://schemas.microsoft.com/office/drawing/2014/main" id="{809CDD5E-D65A-88A8-5367-077A1BD5F633}"/>
              </a:ext>
            </a:extLst>
          </p:cNvPr>
          <p:cNvSpPr txBox="1"/>
          <p:nvPr/>
        </p:nvSpPr>
        <p:spPr>
          <a:xfrm>
            <a:off x="484418" y="1416551"/>
            <a:ext cx="10822858" cy="646331"/>
          </a:xfrm>
          <a:prstGeom prst="rect">
            <a:avLst/>
          </a:prstGeom>
          <a:noFill/>
        </p:spPr>
        <p:txBody>
          <a:bodyPr wrap="square">
            <a:spAutoFit/>
          </a:bodyPr>
          <a:lstStyle/>
          <a:p>
            <a:r>
              <a:rPr lang="en-US" dirty="0"/>
              <a:t>This load case covers manual actuation of the emergency stop pushbutton. For this load case, the rotor shall be brought to a standstill as quick as possible.</a:t>
            </a:r>
          </a:p>
        </p:txBody>
      </p:sp>
      <p:sp>
        <p:nvSpPr>
          <p:cNvPr id="8" name="TextBox 7">
            <a:extLst>
              <a:ext uri="{FF2B5EF4-FFF2-40B4-BE49-F238E27FC236}">
                <a16:creationId xmlns:a16="http://schemas.microsoft.com/office/drawing/2014/main" id="{AE613022-C3DE-FEF1-A8C6-D3C6CEC440A0}"/>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15" name="Picture 14" descr="A white rectangular object with black text&#10;&#10;AI-generated content may be incorrect.">
            <a:extLst>
              <a:ext uri="{FF2B5EF4-FFF2-40B4-BE49-F238E27FC236}">
                <a16:creationId xmlns:a16="http://schemas.microsoft.com/office/drawing/2014/main" id="{83DB82D2-F8B7-FD32-0435-43D7421B07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174" y="2903027"/>
            <a:ext cx="6711314" cy="896539"/>
          </a:xfrm>
          <a:prstGeom prst="rect">
            <a:avLst/>
          </a:prstGeom>
        </p:spPr>
      </p:pic>
      <p:sp>
        <p:nvSpPr>
          <p:cNvPr id="19" name="TextBox 18">
            <a:extLst>
              <a:ext uri="{FF2B5EF4-FFF2-40B4-BE49-F238E27FC236}">
                <a16:creationId xmlns:a16="http://schemas.microsoft.com/office/drawing/2014/main" id="{BFA7EC57-53AC-8AD7-A5E7-486981FB67CC}"/>
              </a:ext>
            </a:extLst>
          </p:cNvPr>
          <p:cNvSpPr txBox="1"/>
          <p:nvPr/>
        </p:nvSpPr>
        <p:spPr>
          <a:xfrm>
            <a:off x="2655611" y="4639711"/>
            <a:ext cx="7776415" cy="646331"/>
          </a:xfrm>
          <a:prstGeom prst="rect">
            <a:avLst/>
          </a:prstGeom>
          <a:noFill/>
        </p:spPr>
        <p:txBody>
          <a:bodyPr wrap="square">
            <a:spAutoFit/>
          </a:bodyPr>
          <a:lstStyle/>
          <a:p>
            <a:r>
              <a:rPr lang="en-US" dirty="0"/>
              <a:t>DLC 5.1 is used to calculate the </a:t>
            </a:r>
            <a:r>
              <a:rPr lang="en-US" b="1" dirty="0"/>
              <a:t>maximum loads</a:t>
            </a:r>
            <a:r>
              <a:rPr lang="en-US" dirty="0"/>
              <a:t> resulting from a sudden </a:t>
            </a:r>
            <a:r>
              <a:rPr lang="en-US" b="1" dirty="0"/>
              <a:t>emergency stop</a:t>
            </a:r>
            <a:r>
              <a:rPr lang="en-US" dirty="0"/>
              <a:t>, ensuring the turbine's safety systems and structure survive.</a:t>
            </a:r>
          </a:p>
        </p:txBody>
      </p:sp>
      <p:sp>
        <p:nvSpPr>
          <p:cNvPr id="20" name="Rectangle 19">
            <a:extLst>
              <a:ext uri="{FF2B5EF4-FFF2-40B4-BE49-F238E27FC236}">
                <a16:creationId xmlns:a16="http://schemas.microsoft.com/office/drawing/2014/main" id="{CE55EE46-FB3A-FC1A-BC98-E31BEA194D15}"/>
              </a:ext>
            </a:extLst>
          </p:cNvPr>
          <p:cNvSpPr/>
          <p:nvPr/>
        </p:nvSpPr>
        <p:spPr>
          <a:xfrm>
            <a:off x="667174" y="4745519"/>
            <a:ext cx="1253163" cy="52091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WHY 5.1</a:t>
            </a:r>
          </a:p>
        </p:txBody>
      </p:sp>
      <p:cxnSp>
        <p:nvCxnSpPr>
          <p:cNvPr id="4" name="Straight Arrow Connector 3">
            <a:extLst>
              <a:ext uri="{FF2B5EF4-FFF2-40B4-BE49-F238E27FC236}">
                <a16:creationId xmlns:a16="http://schemas.microsoft.com/office/drawing/2014/main" id="{5B423446-F96A-6082-873E-C02951BD33FD}"/>
              </a:ext>
            </a:extLst>
          </p:cNvPr>
          <p:cNvCxnSpPr>
            <a:cxnSpLocks/>
          </p:cNvCxnSpPr>
          <p:nvPr/>
        </p:nvCxnSpPr>
        <p:spPr>
          <a:xfrm>
            <a:off x="5547640" y="3079412"/>
            <a:ext cx="300642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0CA20B05-4FE8-EE96-BE1F-63DDDE8EF2A0}"/>
              </a:ext>
            </a:extLst>
          </p:cNvPr>
          <p:cNvSpPr txBox="1"/>
          <p:nvPr/>
        </p:nvSpPr>
        <p:spPr>
          <a:xfrm>
            <a:off x="8466992" y="2860422"/>
            <a:ext cx="2948474" cy="369332"/>
          </a:xfrm>
          <a:prstGeom prst="rect">
            <a:avLst/>
          </a:prstGeom>
          <a:noFill/>
        </p:spPr>
        <p:txBody>
          <a:bodyPr wrap="square" rtlCol="0">
            <a:spAutoFit/>
          </a:bodyPr>
          <a:lstStyle/>
          <a:p>
            <a:r>
              <a:rPr lang="en-US" b="1" dirty="0"/>
              <a:t>Normal Turbulence Model</a:t>
            </a:r>
          </a:p>
        </p:txBody>
      </p:sp>
    </p:spTree>
    <p:extLst>
      <p:ext uri="{BB962C8B-B14F-4D97-AF65-F5344CB8AC3E}">
        <p14:creationId xmlns:p14="http://schemas.microsoft.com/office/powerpoint/2010/main" val="34227321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81A91D-0D30-96E2-0A2E-5308384897AE}"/>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3D487275-F76B-8B22-DA82-3483317B0D9E}"/>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CD6213C2-65A2-CD68-B6E8-51BC4FF6BE7C}"/>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11D59D38-A49E-0576-DEB3-749F7B9E2898}"/>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ABCE7ABD-62F0-C527-CD0F-852884751DDE}"/>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EE44EFBA-49A1-D5A7-F636-A063CB69B540}"/>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9DAFD3E-A2A1-E7CA-6C94-936D52565242}"/>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086A5876-492E-CD18-0C18-D5E2EA9D3BC6}"/>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7</a:t>
            </a:fld>
            <a:endParaRPr lang="en-GB" sz="1400" dirty="0">
              <a:solidFill>
                <a:schemeClr val="bg1"/>
              </a:solidFill>
            </a:endParaRPr>
          </a:p>
        </p:txBody>
      </p:sp>
      <p:sp>
        <p:nvSpPr>
          <p:cNvPr id="16" name="TextBox 15">
            <a:extLst>
              <a:ext uri="{FF2B5EF4-FFF2-40B4-BE49-F238E27FC236}">
                <a16:creationId xmlns:a16="http://schemas.microsoft.com/office/drawing/2014/main" id="{57D256AA-1FBE-924C-877D-D1CEC62A34A8}"/>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2" name="TextBox 1">
            <a:extLst>
              <a:ext uri="{FF2B5EF4-FFF2-40B4-BE49-F238E27FC236}">
                <a16:creationId xmlns:a16="http://schemas.microsoft.com/office/drawing/2014/main" id="{81B29638-3003-86DC-11DD-A4214A6769A9}"/>
              </a:ext>
            </a:extLst>
          </p:cNvPr>
          <p:cNvSpPr txBox="1"/>
          <p:nvPr/>
        </p:nvSpPr>
        <p:spPr>
          <a:xfrm>
            <a:off x="4639231" y="6588382"/>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4" name="Picture 3">
            <a:extLst>
              <a:ext uri="{FF2B5EF4-FFF2-40B4-BE49-F238E27FC236}">
                <a16:creationId xmlns:a16="http://schemas.microsoft.com/office/drawing/2014/main" id="{FA58D217-4FEB-E752-A52D-67873A13552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484418" y="1231844"/>
            <a:ext cx="10176387" cy="2582983"/>
          </a:xfrm>
          <a:prstGeom prst="rect">
            <a:avLst/>
          </a:prstGeom>
        </p:spPr>
      </p:pic>
      <p:pic>
        <p:nvPicPr>
          <p:cNvPr id="12" name="Picture 11">
            <a:extLst>
              <a:ext uri="{FF2B5EF4-FFF2-40B4-BE49-F238E27FC236}">
                <a16:creationId xmlns:a16="http://schemas.microsoft.com/office/drawing/2014/main" id="{82F031BB-3483-061E-8310-54C3498B4A99}"/>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475626" y="3937561"/>
            <a:ext cx="10185179" cy="2589918"/>
          </a:xfrm>
          <a:prstGeom prst="rect">
            <a:avLst/>
          </a:prstGeom>
        </p:spPr>
      </p:pic>
      <p:sp>
        <p:nvSpPr>
          <p:cNvPr id="15" name="TextBox 14">
            <a:extLst>
              <a:ext uri="{FF2B5EF4-FFF2-40B4-BE49-F238E27FC236}">
                <a16:creationId xmlns:a16="http://schemas.microsoft.com/office/drawing/2014/main" id="{1FEBB0AC-2CC2-2419-AE11-D807C552C5C8}"/>
              </a:ext>
            </a:extLst>
          </p:cNvPr>
          <p:cNvSpPr txBox="1"/>
          <p:nvPr/>
        </p:nvSpPr>
        <p:spPr>
          <a:xfrm>
            <a:off x="10678588" y="1201778"/>
            <a:ext cx="1037786" cy="369332"/>
          </a:xfrm>
          <a:prstGeom prst="rect">
            <a:avLst/>
          </a:prstGeom>
          <a:noFill/>
        </p:spPr>
        <p:txBody>
          <a:bodyPr wrap="square" rtlCol="0">
            <a:spAutoFit/>
          </a:bodyPr>
          <a:lstStyle/>
          <a:p>
            <a:r>
              <a:rPr lang="en-US" dirty="0"/>
              <a:t>8 m/s</a:t>
            </a:r>
          </a:p>
        </p:txBody>
      </p:sp>
      <p:sp>
        <p:nvSpPr>
          <p:cNvPr id="17" name="TextBox 16">
            <a:extLst>
              <a:ext uri="{FF2B5EF4-FFF2-40B4-BE49-F238E27FC236}">
                <a16:creationId xmlns:a16="http://schemas.microsoft.com/office/drawing/2014/main" id="{53A45ED8-A34B-B869-9B81-B694F10F5F00}"/>
              </a:ext>
            </a:extLst>
          </p:cNvPr>
          <p:cNvSpPr txBox="1"/>
          <p:nvPr/>
        </p:nvSpPr>
        <p:spPr>
          <a:xfrm>
            <a:off x="10743689" y="4024116"/>
            <a:ext cx="907583" cy="369332"/>
          </a:xfrm>
          <a:prstGeom prst="rect">
            <a:avLst/>
          </a:prstGeom>
          <a:noFill/>
        </p:spPr>
        <p:txBody>
          <a:bodyPr wrap="square" rtlCol="0">
            <a:spAutoFit/>
          </a:bodyPr>
          <a:lstStyle/>
          <a:p>
            <a:r>
              <a:rPr lang="en-US" dirty="0"/>
              <a:t>12 m/s</a:t>
            </a:r>
          </a:p>
        </p:txBody>
      </p:sp>
      <p:sp>
        <p:nvSpPr>
          <p:cNvPr id="7" name="Titel 1">
            <a:extLst>
              <a:ext uri="{FF2B5EF4-FFF2-40B4-BE49-F238E27FC236}">
                <a16:creationId xmlns:a16="http://schemas.microsoft.com/office/drawing/2014/main" id="{B17E6420-1E40-3498-E74D-9CA99D3AE742}"/>
              </a:ext>
            </a:extLst>
          </p:cNvPr>
          <p:cNvSpPr txBox="1">
            <a:spLocks/>
          </p:cNvSpPr>
          <p:nvPr/>
        </p:nvSpPr>
        <p:spPr>
          <a:xfrm>
            <a:off x="484418" y="502853"/>
            <a:ext cx="7982574" cy="7127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DLC 5.1</a:t>
            </a:r>
            <a:r>
              <a:rPr lang="en-US" sz="2800"/>
              <a:t>Emergency Stop</a:t>
            </a:r>
            <a:endParaRPr lang="en-US" dirty="0"/>
          </a:p>
        </p:txBody>
      </p:sp>
    </p:spTree>
    <p:extLst>
      <p:ext uri="{BB962C8B-B14F-4D97-AF65-F5344CB8AC3E}">
        <p14:creationId xmlns:p14="http://schemas.microsoft.com/office/powerpoint/2010/main" val="1711949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A8BE-2E2E-E421-B2F0-D37586579F22}"/>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E8F2E9AB-85DC-E78D-3689-32FC7FF1ACE4}"/>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9BFC718E-CCCA-4AF2-69B8-F33339D307E5}"/>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585A0122-8D3F-A8A1-25B7-84827925A56D}"/>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C1DF4B80-99AA-02DC-8CBD-9F4A7E784CBF}"/>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3245BE64-B496-AEB7-3D41-4F733A9224E5}"/>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E417D69-F434-E4F0-A03A-8FB7DB01342A}"/>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9D70B1BC-4A08-69AC-1526-8A91D9C87BA0}"/>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8</a:t>
            </a:fld>
            <a:endParaRPr lang="en-GB" sz="1400" dirty="0">
              <a:solidFill>
                <a:schemeClr val="bg1"/>
              </a:solidFill>
            </a:endParaRPr>
          </a:p>
        </p:txBody>
      </p:sp>
      <p:sp>
        <p:nvSpPr>
          <p:cNvPr id="16" name="TextBox 15">
            <a:extLst>
              <a:ext uri="{FF2B5EF4-FFF2-40B4-BE49-F238E27FC236}">
                <a16:creationId xmlns:a16="http://schemas.microsoft.com/office/drawing/2014/main" id="{27F6873F-2197-8A67-9468-417C0E6C7AC7}"/>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2" name="TextBox 1">
            <a:extLst>
              <a:ext uri="{FF2B5EF4-FFF2-40B4-BE49-F238E27FC236}">
                <a16:creationId xmlns:a16="http://schemas.microsoft.com/office/drawing/2014/main" id="{9BA8DD9E-34F4-A3C5-6B9F-E8109B7B3C26}"/>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sp>
        <p:nvSpPr>
          <p:cNvPr id="15" name="TextBox 14">
            <a:extLst>
              <a:ext uri="{FF2B5EF4-FFF2-40B4-BE49-F238E27FC236}">
                <a16:creationId xmlns:a16="http://schemas.microsoft.com/office/drawing/2014/main" id="{039C66E7-3F36-7D1C-C3A1-41314A6CD917}"/>
              </a:ext>
            </a:extLst>
          </p:cNvPr>
          <p:cNvSpPr txBox="1"/>
          <p:nvPr/>
        </p:nvSpPr>
        <p:spPr>
          <a:xfrm>
            <a:off x="11347314" y="1243133"/>
            <a:ext cx="1037786" cy="369332"/>
          </a:xfrm>
          <a:prstGeom prst="rect">
            <a:avLst/>
          </a:prstGeom>
          <a:noFill/>
        </p:spPr>
        <p:txBody>
          <a:bodyPr wrap="square" rtlCol="0">
            <a:spAutoFit/>
          </a:bodyPr>
          <a:lstStyle/>
          <a:p>
            <a:r>
              <a:rPr lang="en-US" dirty="0"/>
              <a:t>25 m/s</a:t>
            </a:r>
          </a:p>
        </p:txBody>
      </p:sp>
      <p:pic>
        <p:nvPicPr>
          <p:cNvPr id="5" name="Picture 4">
            <a:extLst>
              <a:ext uri="{FF2B5EF4-FFF2-40B4-BE49-F238E27FC236}">
                <a16:creationId xmlns:a16="http://schemas.microsoft.com/office/drawing/2014/main" id="{CF7E1DB7-8025-BFE3-EC5C-A7F903AC8118}"/>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574654" y="1223063"/>
            <a:ext cx="10772660" cy="2816473"/>
          </a:xfrm>
          <a:prstGeom prst="rect">
            <a:avLst/>
          </a:prstGeom>
        </p:spPr>
      </p:pic>
      <p:graphicFrame>
        <p:nvGraphicFramePr>
          <p:cNvPr id="3" name="Table 2">
            <a:extLst>
              <a:ext uri="{FF2B5EF4-FFF2-40B4-BE49-F238E27FC236}">
                <a16:creationId xmlns:a16="http://schemas.microsoft.com/office/drawing/2014/main" id="{0C8A8900-9C8A-9087-FD9B-42895E6F7253}"/>
              </a:ext>
            </a:extLst>
          </p:cNvPr>
          <p:cNvGraphicFramePr>
            <a:graphicFrameLocks noGrp="1"/>
          </p:cNvGraphicFramePr>
          <p:nvPr>
            <p:extLst>
              <p:ext uri="{D42A27DB-BD31-4B8C-83A1-F6EECF244321}">
                <p14:modId xmlns:p14="http://schemas.microsoft.com/office/powerpoint/2010/main" val="3909010052"/>
              </p:ext>
            </p:extLst>
          </p:nvPr>
        </p:nvGraphicFramePr>
        <p:xfrm>
          <a:off x="574654" y="4078321"/>
          <a:ext cx="10772660" cy="2330982"/>
        </p:xfrm>
        <a:graphic>
          <a:graphicData uri="http://schemas.openxmlformats.org/drawingml/2006/table">
            <a:tbl>
              <a:tblPr firstRow="1" bandRow="1">
                <a:tableStyleId>{5C22544A-7EE6-4342-B048-85BDC9FD1C3A}</a:tableStyleId>
              </a:tblPr>
              <a:tblGrid>
                <a:gridCol w="1849121">
                  <a:extLst>
                    <a:ext uri="{9D8B030D-6E8A-4147-A177-3AD203B41FA5}">
                      <a16:colId xmlns:a16="http://schemas.microsoft.com/office/drawing/2014/main" val="2784532970"/>
                    </a:ext>
                  </a:extLst>
                </a:gridCol>
                <a:gridCol w="1950720">
                  <a:extLst>
                    <a:ext uri="{9D8B030D-6E8A-4147-A177-3AD203B41FA5}">
                      <a16:colId xmlns:a16="http://schemas.microsoft.com/office/drawing/2014/main" val="3744199244"/>
                    </a:ext>
                  </a:extLst>
                </a:gridCol>
                <a:gridCol w="2834640">
                  <a:extLst>
                    <a:ext uri="{9D8B030D-6E8A-4147-A177-3AD203B41FA5}">
                      <a16:colId xmlns:a16="http://schemas.microsoft.com/office/drawing/2014/main" val="61651470"/>
                    </a:ext>
                  </a:extLst>
                </a:gridCol>
                <a:gridCol w="4138179">
                  <a:extLst>
                    <a:ext uri="{9D8B030D-6E8A-4147-A177-3AD203B41FA5}">
                      <a16:colId xmlns:a16="http://schemas.microsoft.com/office/drawing/2014/main" val="1699850758"/>
                    </a:ext>
                  </a:extLst>
                </a:gridCol>
              </a:tblGrid>
              <a:tr h="399649">
                <a:tc>
                  <a:txBody>
                    <a:bodyPr/>
                    <a:lstStyle/>
                    <a:p>
                      <a:pPr algn="ctr" rtl="0" fontAlgn="b">
                        <a:buNone/>
                      </a:pPr>
                      <a:r>
                        <a:rPr lang="en-US" sz="1400" dirty="0">
                          <a:effectLst/>
                        </a:rPr>
                        <a:t>Wind Speed (</a:t>
                      </a:r>
                      <a:r>
                        <a:rPr lang="en-US" sz="1400" dirty="0" err="1">
                          <a:effectLst/>
                        </a:rPr>
                        <a:t>Vhub</a:t>
                      </a:r>
                      <a:r>
                        <a:rPr lang="en-US" sz="1400" dirty="0">
                          <a:effectLst/>
                        </a:rPr>
                        <a:t>​)</a:t>
                      </a:r>
                    </a:p>
                  </a:txBody>
                  <a:tcPr marL="22860" marR="22860" marT="15240" marB="15240" anchor="ctr"/>
                </a:tc>
                <a:tc>
                  <a:txBody>
                    <a:bodyPr/>
                    <a:lstStyle/>
                    <a:p>
                      <a:pPr algn="ctr" rtl="0" fontAlgn="b">
                        <a:buNone/>
                      </a:pPr>
                      <a:r>
                        <a:rPr lang="en-US" sz="1400">
                          <a:effectLst/>
                        </a:rPr>
                        <a:t>Operating Region</a:t>
                      </a:r>
                    </a:p>
                  </a:txBody>
                  <a:tcPr marL="22860" marR="22860" marT="15240" marB="15240" anchor="ctr"/>
                </a:tc>
                <a:tc>
                  <a:txBody>
                    <a:bodyPr/>
                    <a:lstStyle/>
                    <a:p>
                      <a:pPr algn="ctr" rtl="0" fontAlgn="b">
                        <a:buNone/>
                      </a:pPr>
                      <a:r>
                        <a:rPr lang="en-US" sz="1400">
                          <a:effectLst/>
                        </a:rPr>
                        <a:t>HSSBTq Spike (Brake Load)</a:t>
                      </a:r>
                    </a:p>
                  </a:txBody>
                  <a:tcPr marL="22860" marR="22860" marT="15240" marB="15240" anchor="ctr"/>
                </a:tc>
                <a:tc>
                  <a:txBody>
                    <a:bodyPr/>
                    <a:lstStyle/>
                    <a:p>
                      <a:pPr algn="ctr" rtl="0" fontAlgn="b">
                        <a:buNone/>
                      </a:pPr>
                      <a:r>
                        <a:rPr lang="en-US" sz="1400" dirty="0">
                          <a:effectLst/>
                        </a:rPr>
                        <a:t>Pitch Action</a:t>
                      </a:r>
                    </a:p>
                  </a:txBody>
                  <a:tcPr marL="22860" marR="22860" marT="15240" marB="15240" anchor="ctr"/>
                </a:tc>
                <a:extLst>
                  <a:ext uri="{0D108BD9-81ED-4DB2-BD59-A6C34878D82A}">
                    <a16:rowId xmlns:a16="http://schemas.microsoft.com/office/drawing/2014/main" val="612970905"/>
                  </a:ext>
                </a:extLst>
              </a:tr>
              <a:tr h="558052">
                <a:tc>
                  <a:txBody>
                    <a:bodyPr/>
                    <a:lstStyle/>
                    <a:p>
                      <a:pPr algn="ctr" rtl="0" fontAlgn="b">
                        <a:buNone/>
                      </a:pPr>
                      <a:r>
                        <a:rPr lang="en-US" sz="1400">
                          <a:effectLst/>
                        </a:rPr>
                        <a:t>8 m/s (Below Rated)</a:t>
                      </a:r>
                    </a:p>
                  </a:txBody>
                  <a:tcPr marL="22860" marR="22860" marT="15240" marB="15240" anchor="ctr"/>
                </a:tc>
                <a:tc>
                  <a:txBody>
                    <a:bodyPr/>
                    <a:lstStyle/>
                    <a:p>
                      <a:pPr algn="ctr" rtl="0" fontAlgn="b">
                        <a:buNone/>
                      </a:pPr>
                      <a:r>
                        <a:rPr lang="en-US" sz="1400" dirty="0">
                          <a:effectLst/>
                        </a:rPr>
                        <a:t>Partial Load</a:t>
                      </a:r>
                    </a:p>
                  </a:txBody>
                  <a:tcPr marL="22860" marR="22860" marT="15240" marB="15240" anchor="ctr"/>
                </a:tc>
                <a:tc>
                  <a:txBody>
                    <a:bodyPr/>
                    <a:lstStyle/>
                    <a:p>
                      <a:pPr algn="ctr" rtl="0" fontAlgn="b">
                        <a:buNone/>
                      </a:pPr>
                      <a:r>
                        <a:rPr lang="en-US" sz="1400">
                          <a:effectLst/>
                        </a:rPr>
                        <a:t>Lowest spike (e.g., ±5 kN-m).</a:t>
                      </a:r>
                    </a:p>
                  </a:txBody>
                  <a:tcPr marL="22860" marR="22860" marT="15240" marB="15240" anchor="ctr"/>
                </a:tc>
                <a:tc>
                  <a:txBody>
                    <a:bodyPr/>
                    <a:lstStyle/>
                    <a:p>
                      <a:pPr algn="ctr" rtl="0" fontAlgn="b">
                        <a:buNone/>
                      </a:pPr>
                      <a:r>
                        <a:rPr lang="en-US" sz="1400" dirty="0">
                          <a:effectLst/>
                        </a:rPr>
                        <a:t>Pitch moves quickly from ≈0∘ to max angle.</a:t>
                      </a:r>
                    </a:p>
                  </a:txBody>
                  <a:tcPr marL="22860" marR="22860" marT="15240" marB="15240" anchor="ctr"/>
                </a:tc>
                <a:extLst>
                  <a:ext uri="{0D108BD9-81ED-4DB2-BD59-A6C34878D82A}">
                    <a16:rowId xmlns:a16="http://schemas.microsoft.com/office/drawing/2014/main" val="3288033046"/>
                  </a:ext>
                </a:extLst>
              </a:tr>
              <a:tr h="558052">
                <a:tc>
                  <a:txBody>
                    <a:bodyPr/>
                    <a:lstStyle/>
                    <a:p>
                      <a:pPr algn="ctr" rtl="0" fontAlgn="b">
                        <a:buNone/>
                      </a:pPr>
                      <a:r>
                        <a:rPr lang="en-US" sz="1400" dirty="0">
                          <a:effectLst/>
                        </a:rPr>
                        <a:t>12 m/s (Above Rated)</a:t>
                      </a:r>
                    </a:p>
                  </a:txBody>
                  <a:tcPr marL="22860" marR="22860" marT="15240" marB="15240" anchor="ctr"/>
                </a:tc>
                <a:tc>
                  <a:txBody>
                    <a:bodyPr/>
                    <a:lstStyle/>
                    <a:p>
                      <a:pPr algn="ctr" rtl="0" fontAlgn="b">
                        <a:buNone/>
                      </a:pPr>
                      <a:r>
                        <a:rPr lang="en-US" sz="1400">
                          <a:effectLst/>
                        </a:rPr>
                        <a:t>Full Load</a:t>
                      </a:r>
                    </a:p>
                  </a:txBody>
                  <a:tcPr marL="22860" marR="22860" marT="15240" marB="15240" anchor="ctr"/>
                </a:tc>
                <a:tc>
                  <a:txBody>
                    <a:bodyPr/>
                    <a:lstStyle/>
                    <a:p>
                      <a:pPr algn="ctr" rtl="0" fontAlgn="b">
                        <a:buNone/>
                      </a:pPr>
                      <a:r>
                        <a:rPr lang="nn-NO" sz="1400">
                          <a:effectLst/>
                        </a:rPr>
                        <a:t>Medium spike (e.g., ±10 kN-m).</a:t>
                      </a:r>
                    </a:p>
                  </a:txBody>
                  <a:tcPr marL="22860" marR="22860" marT="15240" marB="15240" anchor="ctr"/>
                </a:tc>
                <a:tc>
                  <a:txBody>
                    <a:bodyPr/>
                    <a:lstStyle/>
                    <a:p>
                      <a:pPr algn="ctr" rtl="0" fontAlgn="b">
                        <a:buNone/>
                      </a:pPr>
                      <a:r>
                        <a:rPr lang="en-US" sz="1400">
                          <a:effectLst/>
                        </a:rPr>
                        <a:t>Pitch moves quickly from ≈1∘ to max angle.</a:t>
                      </a:r>
                    </a:p>
                  </a:txBody>
                  <a:tcPr marL="22860" marR="22860" marT="15240" marB="15240" anchor="ctr"/>
                </a:tc>
                <a:extLst>
                  <a:ext uri="{0D108BD9-81ED-4DB2-BD59-A6C34878D82A}">
                    <a16:rowId xmlns:a16="http://schemas.microsoft.com/office/drawing/2014/main" val="4053066127"/>
                  </a:ext>
                </a:extLst>
              </a:tr>
              <a:tr h="815229">
                <a:tc>
                  <a:txBody>
                    <a:bodyPr/>
                    <a:lstStyle/>
                    <a:p>
                      <a:pPr algn="ctr" rtl="0" fontAlgn="b">
                        <a:buNone/>
                      </a:pPr>
                      <a:r>
                        <a:rPr lang="en-US" sz="1400" dirty="0">
                          <a:effectLst/>
                        </a:rPr>
                        <a:t>25 m/s (Cut-Out)</a:t>
                      </a:r>
                    </a:p>
                  </a:txBody>
                  <a:tcPr marL="22860" marR="22860" marT="15240" marB="15240" anchor="ctr"/>
                </a:tc>
                <a:tc>
                  <a:txBody>
                    <a:bodyPr/>
                    <a:lstStyle/>
                    <a:p>
                      <a:pPr algn="ctr" rtl="0" fontAlgn="b">
                        <a:buNone/>
                      </a:pPr>
                      <a:r>
                        <a:rPr lang="en-US" sz="1400" dirty="0">
                          <a:effectLst/>
                        </a:rPr>
                        <a:t>Full Load (Maximum)</a:t>
                      </a:r>
                    </a:p>
                  </a:txBody>
                  <a:tcPr marL="22860" marR="22860" marT="15240" marB="15240" anchor="ctr"/>
                </a:tc>
                <a:tc>
                  <a:txBody>
                    <a:bodyPr/>
                    <a:lstStyle/>
                    <a:p>
                      <a:pPr algn="ctr" rtl="0" fontAlgn="b">
                        <a:buNone/>
                      </a:pPr>
                      <a:r>
                        <a:rPr lang="en-US" sz="1400" dirty="0">
                          <a:effectLst/>
                        </a:rPr>
                        <a:t>Highest spike (e.g., ±30 </a:t>
                      </a:r>
                      <a:r>
                        <a:rPr lang="en-US" sz="1400" dirty="0" err="1">
                          <a:effectLst/>
                        </a:rPr>
                        <a:t>kN</a:t>
                      </a:r>
                      <a:r>
                        <a:rPr lang="en-US" sz="1400" dirty="0">
                          <a:effectLst/>
                        </a:rPr>
                        <a:t>-m).</a:t>
                      </a:r>
                    </a:p>
                  </a:txBody>
                  <a:tcPr marL="22860" marR="22860" marT="15240" marB="15240" anchor="ctr"/>
                </a:tc>
                <a:tc>
                  <a:txBody>
                    <a:bodyPr/>
                    <a:lstStyle/>
                    <a:p>
                      <a:pPr algn="ctr" rtl="0" fontAlgn="b">
                        <a:buNone/>
                      </a:pPr>
                      <a:r>
                        <a:rPr lang="en-US" sz="1400" dirty="0">
                          <a:effectLst/>
                        </a:rPr>
                        <a:t>Pitch moves quickly from a high operating angle (≈7∘) to max angle.</a:t>
                      </a:r>
                    </a:p>
                  </a:txBody>
                  <a:tcPr marL="22860" marR="22860" marT="15240" marB="15240" anchor="ctr"/>
                </a:tc>
                <a:extLst>
                  <a:ext uri="{0D108BD9-81ED-4DB2-BD59-A6C34878D82A}">
                    <a16:rowId xmlns:a16="http://schemas.microsoft.com/office/drawing/2014/main" val="1722995317"/>
                  </a:ext>
                </a:extLst>
              </a:tr>
            </a:tbl>
          </a:graphicData>
        </a:graphic>
      </p:graphicFrame>
      <p:sp>
        <p:nvSpPr>
          <p:cNvPr id="8" name="Titel 1">
            <a:extLst>
              <a:ext uri="{FF2B5EF4-FFF2-40B4-BE49-F238E27FC236}">
                <a16:creationId xmlns:a16="http://schemas.microsoft.com/office/drawing/2014/main" id="{3D96599A-105B-578E-61AE-728E92E7741C}"/>
              </a:ext>
            </a:extLst>
          </p:cNvPr>
          <p:cNvSpPr txBox="1">
            <a:spLocks/>
          </p:cNvSpPr>
          <p:nvPr/>
        </p:nvSpPr>
        <p:spPr>
          <a:xfrm>
            <a:off x="484418" y="502853"/>
            <a:ext cx="7982574" cy="712728"/>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DLC 5.1</a:t>
            </a:r>
            <a:r>
              <a:rPr lang="en-US" sz="2800" dirty="0"/>
              <a:t>Emergency Stop</a:t>
            </a:r>
            <a:endParaRPr lang="en-US" dirty="0"/>
          </a:p>
        </p:txBody>
      </p:sp>
    </p:spTree>
    <p:extLst>
      <p:ext uri="{BB962C8B-B14F-4D97-AF65-F5344CB8AC3E}">
        <p14:creationId xmlns:p14="http://schemas.microsoft.com/office/powerpoint/2010/main" val="28951696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B1C51D-191F-C76A-0B76-42D79E49162B}"/>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E83DBB46-0100-3040-D804-B958E9145A95}"/>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651858F2-4281-9489-61EB-DC1E37DA0D4C}"/>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3297BF38-9560-8699-311E-27354CE039D4}"/>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72819EE0-2B86-A6D7-4433-61577BC31ACF}"/>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AD505879-7034-E692-EF49-2EFD03FD4D73}"/>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0E7351B9-4428-510F-3962-7C390BDE2314}"/>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D2BD15C8-C770-28A3-2DBF-0A3AFEAB95C4}"/>
              </a:ext>
            </a:extLst>
          </p:cNvPr>
          <p:cNvSpPr txBox="1">
            <a:spLocks/>
          </p:cNvSpPr>
          <p:nvPr/>
        </p:nvSpPr>
        <p:spPr>
          <a:xfrm>
            <a:off x="1833304" y="6559591"/>
            <a:ext cx="287215" cy="298409"/>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9</a:t>
            </a:fld>
            <a:endParaRPr lang="en-GB" sz="1400" dirty="0">
              <a:solidFill>
                <a:schemeClr val="bg1"/>
              </a:solidFill>
            </a:endParaRPr>
          </a:p>
        </p:txBody>
      </p:sp>
      <p:sp>
        <p:nvSpPr>
          <p:cNvPr id="16" name="TextBox 15">
            <a:extLst>
              <a:ext uri="{FF2B5EF4-FFF2-40B4-BE49-F238E27FC236}">
                <a16:creationId xmlns:a16="http://schemas.microsoft.com/office/drawing/2014/main" id="{F7DC751A-62C6-9CCB-AEBC-90ACD93979FC}"/>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19" name="Title 6">
            <a:extLst>
              <a:ext uri="{FF2B5EF4-FFF2-40B4-BE49-F238E27FC236}">
                <a16:creationId xmlns:a16="http://schemas.microsoft.com/office/drawing/2014/main" id="{E625F4E4-DC31-2D46-F52C-48150AF9EC8A}"/>
              </a:ext>
            </a:extLst>
          </p:cNvPr>
          <p:cNvSpPr>
            <a:spLocks noGrp="1"/>
          </p:cNvSpPr>
          <p:nvPr>
            <p:ph type="title"/>
          </p:nvPr>
        </p:nvSpPr>
        <p:spPr>
          <a:xfrm>
            <a:off x="475626" y="363628"/>
            <a:ext cx="10515600" cy="937132"/>
          </a:xfrm>
        </p:spPr>
        <p:txBody>
          <a:bodyPr>
            <a:normAutofit/>
          </a:bodyPr>
          <a:lstStyle/>
          <a:p>
            <a:r>
              <a:rPr lang="en-US" dirty="0"/>
              <a:t>DLC 6.1</a:t>
            </a:r>
            <a:r>
              <a:rPr lang="en-US" sz="2800" dirty="0"/>
              <a:t>With Different </a:t>
            </a:r>
            <a:r>
              <a:rPr lang="en-US" sz="2800" dirty="0" err="1"/>
              <a:t>Randseed</a:t>
            </a:r>
            <a:r>
              <a:rPr lang="en-US" dirty="0"/>
              <a:t> </a:t>
            </a:r>
          </a:p>
        </p:txBody>
      </p:sp>
      <p:sp>
        <p:nvSpPr>
          <p:cNvPr id="2" name="TextBox 1">
            <a:extLst>
              <a:ext uri="{FF2B5EF4-FFF2-40B4-BE49-F238E27FC236}">
                <a16:creationId xmlns:a16="http://schemas.microsoft.com/office/drawing/2014/main" id="{FB813297-FACF-9618-227B-3287032AA8E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sp>
        <p:nvSpPr>
          <p:cNvPr id="8" name="TextBox 7">
            <a:extLst>
              <a:ext uri="{FF2B5EF4-FFF2-40B4-BE49-F238E27FC236}">
                <a16:creationId xmlns:a16="http://schemas.microsoft.com/office/drawing/2014/main" id="{F06EC464-B673-28D0-CC6B-4CCAA17A251D}"/>
              </a:ext>
            </a:extLst>
          </p:cNvPr>
          <p:cNvSpPr txBox="1"/>
          <p:nvPr/>
        </p:nvSpPr>
        <p:spPr>
          <a:xfrm>
            <a:off x="690716" y="1465091"/>
            <a:ext cx="11012686" cy="923330"/>
          </a:xfrm>
          <a:prstGeom prst="rect">
            <a:avLst/>
          </a:prstGeom>
          <a:noFill/>
        </p:spPr>
        <p:txBody>
          <a:bodyPr wrap="square">
            <a:spAutoFit/>
          </a:bodyPr>
          <a:lstStyle/>
          <a:p>
            <a:pPr algn="just"/>
            <a:r>
              <a:rPr lang="en-US" dirty="0"/>
              <a:t>DLC 6.1 requires the turbine to be running in a </a:t>
            </a:r>
            <a:r>
              <a:rPr lang="en-US" b="1" dirty="0"/>
              <a:t>standby or parked condition</a:t>
            </a:r>
            <a:r>
              <a:rPr lang="en-US" dirty="0"/>
              <a:t> (i.e., not producing power but ready to operate) when it is hit by a turbulent wind field where the mean speed is the </a:t>
            </a:r>
            <a:r>
              <a:rPr lang="en-US" b="1" dirty="0"/>
              <a:t>50-year extreme wind speed. </a:t>
            </a:r>
            <a:endParaRPr lang="en-US" dirty="0"/>
          </a:p>
        </p:txBody>
      </p:sp>
      <p:pic>
        <p:nvPicPr>
          <p:cNvPr id="17" name="Picture 16" descr="A graph of a wind turbine&#10;&#10;AI-generated content may be incorrect.">
            <a:extLst>
              <a:ext uri="{FF2B5EF4-FFF2-40B4-BE49-F238E27FC236}">
                <a16:creationId xmlns:a16="http://schemas.microsoft.com/office/drawing/2014/main" id="{521C411D-B79F-EA8D-C544-FFD4074C8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3304" y="2552752"/>
            <a:ext cx="8244761" cy="3600526"/>
          </a:xfrm>
          <a:prstGeom prst="rect">
            <a:avLst/>
          </a:prstGeom>
        </p:spPr>
      </p:pic>
      <p:sp>
        <p:nvSpPr>
          <p:cNvPr id="20" name="TextBox 19">
            <a:extLst>
              <a:ext uri="{FF2B5EF4-FFF2-40B4-BE49-F238E27FC236}">
                <a16:creationId xmlns:a16="http://schemas.microsoft.com/office/drawing/2014/main" id="{35089E7D-A894-4EDE-C219-3B2DAEF99C84}"/>
              </a:ext>
            </a:extLst>
          </p:cNvPr>
          <p:cNvSpPr txBox="1"/>
          <p:nvPr/>
        </p:nvSpPr>
        <p:spPr>
          <a:xfrm>
            <a:off x="10176387" y="2552752"/>
            <a:ext cx="1527015" cy="369332"/>
          </a:xfrm>
          <a:prstGeom prst="rect">
            <a:avLst/>
          </a:prstGeom>
          <a:noFill/>
        </p:spPr>
        <p:txBody>
          <a:bodyPr wrap="square" rtlCol="0">
            <a:spAutoFit/>
          </a:bodyPr>
          <a:lstStyle/>
          <a:p>
            <a:r>
              <a:rPr lang="en-US" dirty="0"/>
              <a:t>42.5 m/s</a:t>
            </a:r>
          </a:p>
        </p:txBody>
      </p:sp>
    </p:spTree>
    <p:extLst>
      <p:ext uri="{BB962C8B-B14F-4D97-AF65-F5344CB8AC3E}">
        <p14:creationId xmlns:p14="http://schemas.microsoft.com/office/powerpoint/2010/main" val="963219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62D630-CD90-B91F-35E5-E39CA8E29233}"/>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AB24B209-C289-7847-ABD4-43262A497BE4}"/>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CF57CF09-3E20-008B-A01B-26A8E167656F}"/>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EEA4CDAD-673D-D08B-56EB-DBC5D65727AC}"/>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AA69D525-C48B-9670-3F52-7417F822488D}"/>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C1B42FFC-28D5-25CF-C047-BECE9C6A88F3}"/>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6E3AB08D-FF2A-C3EC-6D0E-9105FF15D41A}"/>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D396BFEB-62AC-21AD-391B-7C9720B140EF}"/>
              </a:ext>
            </a:extLst>
          </p:cNvPr>
          <p:cNvSpPr txBox="1">
            <a:spLocks/>
          </p:cNvSpPr>
          <p:nvPr/>
        </p:nvSpPr>
        <p:spPr>
          <a:xfrm>
            <a:off x="1833304" y="6576994"/>
            <a:ext cx="437948" cy="28100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10</a:t>
            </a:fld>
            <a:endParaRPr lang="en-GB" sz="1400" dirty="0">
              <a:solidFill>
                <a:schemeClr val="bg1"/>
              </a:solidFill>
            </a:endParaRPr>
          </a:p>
        </p:txBody>
      </p:sp>
      <p:sp>
        <p:nvSpPr>
          <p:cNvPr id="16" name="TextBox 15">
            <a:extLst>
              <a:ext uri="{FF2B5EF4-FFF2-40B4-BE49-F238E27FC236}">
                <a16:creationId xmlns:a16="http://schemas.microsoft.com/office/drawing/2014/main" id="{E51DD33E-02A0-788C-9A7F-70F99CCCAB4B}"/>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2" name="TextBox 1">
            <a:extLst>
              <a:ext uri="{FF2B5EF4-FFF2-40B4-BE49-F238E27FC236}">
                <a16:creationId xmlns:a16="http://schemas.microsoft.com/office/drawing/2014/main" id="{EC5F71CC-4D28-1DF8-CEAB-E68B0FC45DDD}"/>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4" name="Picture 3" descr="A graph of a wind turbine&#10;&#10;AI-generated content may be incorrect.">
            <a:extLst>
              <a:ext uri="{FF2B5EF4-FFF2-40B4-BE49-F238E27FC236}">
                <a16:creationId xmlns:a16="http://schemas.microsoft.com/office/drawing/2014/main" id="{3B66C7C5-4043-B4E9-68FA-D1CC40F68C4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2795" y="1204036"/>
            <a:ext cx="9237618" cy="2482116"/>
          </a:xfrm>
          <a:prstGeom prst="rect">
            <a:avLst/>
          </a:prstGeom>
        </p:spPr>
      </p:pic>
      <p:pic>
        <p:nvPicPr>
          <p:cNvPr id="7" name="Picture 6" descr="A graph with blue and green lines&#10;&#10;AI-generated content may be incorrect.">
            <a:extLst>
              <a:ext uri="{FF2B5EF4-FFF2-40B4-BE49-F238E27FC236}">
                <a16:creationId xmlns:a16="http://schemas.microsoft.com/office/drawing/2014/main" id="{91E2FA86-2788-2E87-7AF2-AD437376B4B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2796" y="3732410"/>
            <a:ext cx="9237618" cy="2761962"/>
          </a:xfrm>
          <a:prstGeom prst="rect">
            <a:avLst/>
          </a:prstGeom>
        </p:spPr>
      </p:pic>
      <p:sp>
        <p:nvSpPr>
          <p:cNvPr id="12" name="TextBox 11">
            <a:extLst>
              <a:ext uri="{FF2B5EF4-FFF2-40B4-BE49-F238E27FC236}">
                <a16:creationId xmlns:a16="http://schemas.microsoft.com/office/drawing/2014/main" id="{F48E9B7F-4443-2C34-A124-CCBB6EC96D64}"/>
              </a:ext>
            </a:extLst>
          </p:cNvPr>
          <p:cNvSpPr txBox="1"/>
          <p:nvPr/>
        </p:nvSpPr>
        <p:spPr>
          <a:xfrm>
            <a:off x="10066971" y="1344571"/>
            <a:ext cx="1209367" cy="646331"/>
          </a:xfrm>
          <a:prstGeom prst="rect">
            <a:avLst/>
          </a:prstGeom>
          <a:noFill/>
        </p:spPr>
        <p:txBody>
          <a:bodyPr wrap="square" rtlCol="0">
            <a:spAutoFit/>
          </a:bodyPr>
          <a:lstStyle/>
          <a:p>
            <a:r>
              <a:rPr lang="en-US" dirty="0"/>
              <a:t>42.5 m/s @ 10 seed</a:t>
            </a:r>
          </a:p>
        </p:txBody>
      </p:sp>
      <p:sp>
        <p:nvSpPr>
          <p:cNvPr id="22" name="Title 6">
            <a:extLst>
              <a:ext uri="{FF2B5EF4-FFF2-40B4-BE49-F238E27FC236}">
                <a16:creationId xmlns:a16="http://schemas.microsoft.com/office/drawing/2014/main" id="{C72AF9F5-2B7C-470E-59C1-88A5162FC288}"/>
              </a:ext>
            </a:extLst>
          </p:cNvPr>
          <p:cNvSpPr txBox="1">
            <a:spLocks/>
          </p:cNvSpPr>
          <p:nvPr/>
        </p:nvSpPr>
        <p:spPr>
          <a:xfrm>
            <a:off x="475626" y="363628"/>
            <a:ext cx="10515600" cy="9371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DLC 6.1</a:t>
            </a:r>
            <a:r>
              <a:rPr lang="en-US" sz="2800"/>
              <a:t>With Different Randseed</a:t>
            </a:r>
            <a:r>
              <a:rPr lang="en-US"/>
              <a:t> </a:t>
            </a:r>
            <a:endParaRPr lang="en-US" dirty="0"/>
          </a:p>
        </p:txBody>
      </p:sp>
      <p:sp>
        <p:nvSpPr>
          <p:cNvPr id="23" name="TextBox 22">
            <a:extLst>
              <a:ext uri="{FF2B5EF4-FFF2-40B4-BE49-F238E27FC236}">
                <a16:creationId xmlns:a16="http://schemas.microsoft.com/office/drawing/2014/main" id="{7B4AEA4A-883D-396E-96AE-A84B19B6C885}"/>
              </a:ext>
            </a:extLst>
          </p:cNvPr>
          <p:cNvSpPr txBox="1"/>
          <p:nvPr/>
        </p:nvSpPr>
        <p:spPr>
          <a:xfrm>
            <a:off x="10167582" y="3767453"/>
            <a:ext cx="1454147" cy="646331"/>
          </a:xfrm>
          <a:prstGeom prst="rect">
            <a:avLst/>
          </a:prstGeom>
          <a:noFill/>
        </p:spPr>
        <p:txBody>
          <a:bodyPr wrap="square" rtlCol="0">
            <a:spAutoFit/>
          </a:bodyPr>
          <a:lstStyle/>
          <a:p>
            <a:r>
              <a:rPr lang="en-US" dirty="0"/>
              <a:t>42.5 m/s @530 seed</a:t>
            </a:r>
          </a:p>
        </p:txBody>
      </p:sp>
    </p:spTree>
    <p:extLst>
      <p:ext uri="{BB962C8B-B14F-4D97-AF65-F5344CB8AC3E}">
        <p14:creationId xmlns:p14="http://schemas.microsoft.com/office/powerpoint/2010/main" val="13240036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3197FC-8146-9E98-2111-A0542224A0BB}"/>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4350364F-F602-5ECD-1977-7104047F79D1}"/>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4661B0EF-690C-79F2-1AB8-61D1D37DD3B8}"/>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DDDF99D9-F011-A9A9-4822-B0EFAB91C29C}"/>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1F8B719F-30F3-EC6D-F8C8-748FCC9C0BF0}"/>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cxnSp>
        <p:nvCxnSpPr>
          <p:cNvPr id="6" name="Straight Connector 5">
            <a:extLst>
              <a:ext uri="{FF2B5EF4-FFF2-40B4-BE49-F238E27FC236}">
                <a16:creationId xmlns:a16="http://schemas.microsoft.com/office/drawing/2014/main" id="{E8FB78CF-4D49-4ACC-18F9-FD4AB3EB31AC}"/>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DF1F9728-C770-F191-6560-77CF4B8AC301}"/>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4" name="Slide Number Placeholder 5">
            <a:extLst>
              <a:ext uri="{FF2B5EF4-FFF2-40B4-BE49-F238E27FC236}">
                <a16:creationId xmlns:a16="http://schemas.microsoft.com/office/drawing/2014/main" id="{45CF30FF-8F1D-7771-B419-8DF49BC12395}"/>
              </a:ext>
            </a:extLst>
          </p:cNvPr>
          <p:cNvSpPr txBox="1">
            <a:spLocks/>
          </p:cNvSpPr>
          <p:nvPr/>
        </p:nvSpPr>
        <p:spPr>
          <a:xfrm>
            <a:off x="1833304" y="6576994"/>
            <a:ext cx="447780" cy="28100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11</a:t>
            </a:fld>
            <a:endParaRPr lang="en-GB" sz="1400" dirty="0">
              <a:solidFill>
                <a:schemeClr val="bg1"/>
              </a:solidFill>
            </a:endParaRPr>
          </a:p>
        </p:txBody>
      </p:sp>
      <p:sp>
        <p:nvSpPr>
          <p:cNvPr id="16" name="TextBox 15">
            <a:extLst>
              <a:ext uri="{FF2B5EF4-FFF2-40B4-BE49-F238E27FC236}">
                <a16:creationId xmlns:a16="http://schemas.microsoft.com/office/drawing/2014/main" id="{C1A771D9-3022-5DD3-33A0-997E26701BF5}"/>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2" name="TextBox 1">
            <a:extLst>
              <a:ext uri="{FF2B5EF4-FFF2-40B4-BE49-F238E27FC236}">
                <a16:creationId xmlns:a16="http://schemas.microsoft.com/office/drawing/2014/main" id="{844E7A63-624F-CDE0-3E0F-F117FD792EA1}"/>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pic>
        <p:nvPicPr>
          <p:cNvPr id="17" name="Picture 16" descr="A graph of a wind turbine&#10;&#10;AI-generated content may be incorrect.">
            <a:extLst>
              <a:ext uri="{FF2B5EF4-FFF2-40B4-BE49-F238E27FC236}">
                <a16:creationId xmlns:a16="http://schemas.microsoft.com/office/drawing/2014/main" id="{39D6E3B3-7865-ADC9-BA43-889C1971CE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439" y="1386444"/>
            <a:ext cx="9965406" cy="3185556"/>
          </a:xfrm>
          <a:prstGeom prst="rect">
            <a:avLst/>
          </a:prstGeom>
        </p:spPr>
      </p:pic>
      <p:sp>
        <p:nvSpPr>
          <p:cNvPr id="20" name="TextBox 19">
            <a:extLst>
              <a:ext uri="{FF2B5EF4-FFF2-40B4-BE49-F238E27FC236}">
                <a16:creationId xmlns:a16="http://schemas.microsoft.com/office/drawing/2014/main" id="{9D6B576F-2E0E-CCD8-9FB3-DC6548484DFE}"/>
              </a:ext>
            </a:extLst>
          </p:cNvPr>
          <p:cNvSpPr txBox="1"/>
          <p:nvPr/>
        </p:nvSpPr>
        <p:spPr>
          <a:xfrm>
            <a:off x="10669865" y="1395393"/>
            <a:ext cx="1290396" cy="923330"/>
          </a:xfrm>
          <a:prstGeom prst="rect">
            <a:avLst/>
          </a:prstGeom>
          <a:noFill/>
        </p:spPr>
        <p:txBody>
          <a:bodyPr wrap="square" rtlCol="0">
            <a:spAutoFit/>
          </a:bodyPr>
          <a:lstStyle/>
          <a:p>
            <a:r>
              <a:rPr lang="en-US" dirty="0"/>
              <a:t>42.5 m/s @-5221 Seed</a:t>
            </a:r>
          </a:p>
        </p:txBody>
      </p:sp>
      <p:sp>
        <p:nvSpPr>
          <p:cNvPr id="4" name="TextBox 3">
            <a:extLst>
              <a:ext uri="{FF2B5EF4-FFF2-40B4-BE49-F238E27FC236}">
                <a16:creationId xmlns:a16="http://schemas.microsoft.com/office/drawing/2014/main" id="{8FF72F5E-1F02-776A-CC2D-E42137449753}"/>
              </a:ext>
            </a:extLst>
          </p:cNvPr>
          <p:cNvSpPr txBox="1"/>
          <p:nvPr/>
        </p:nvSpPr>
        <p:spPr>
          <a:xfrm>
            <a:off x="594439" y="4774257"/>
            <a:ext cx="10075426" cy="1754326"/>
          </a:xfrm>
          <a:prstGeom prst="rect">
            <a:avLst/>
          </a:prstGeom>
          <a:noFill/>
        </p:spPr>
        <p:txBody>
          <a:bodyPr wrap="square">
            <a:spAutoFit/>
          </a:bodyPr>
          <a:lstStyle/>
          <a:p>
            <a:pPr algn="just"/>
            <a:r>
              <a:rPr lang="en-US" dirty="0"/>
              <a:t>The use of different </a:t>
            </a:r>
            <a:r>
              <a:rPr lang="en-US" b="1" dirty="0"/>
              <a:t>random seeds</a:t>
            </a:r>
            <a:r>
              <a:rPr lang="en-US" dirty="0"/>
              <a:t> is mandatory for </a:t>
            </a:r>
            <a:r>
              <a:rPr lang="en-US" b="1" dirty="0"/>
              <a:t>DLC 6.1 EWM</a:t>
            </a:r>
            <a:r>
              <a:rPr lang="en-US" dirty="0"/>
              <a:t> because it generates </a:t>
            </a:r>
            <a:r>
              <a:rPr lang="en-US" b="1" dirty="0"/>
              <a:t>unique realizations</a:t>
            </a:r>
            <a:r>
              <a:rPr lang="en-US" dirty="0"/>
              <a:t> of the extreme turbulent wind field. Since maximum structural loads depend critically on the unpredictable timing and spatial distribution of the largest gusts hitting the rotor, running multiple seeds guarantees that the </a:t>
            </a:r>
            <a:r>
              <a:rPr lang="en-US" b="1" dirty="0"/>
              <a:t>worst-case load combination</a:t>
            </a:r>
            <a:r>
              <a:rPr lang="en-US" dirty="0"/>
              <a:t> is found. This process provides the </a:t>
            </a:r>
            <a:r>
              <a:rPr lang="en-US" b="1" dirty="0"/>
              <a:t>statistical confidence</a:t>
            </a:r>
            <a:r>
              <a:rPr lang="en-US" dirty="0"/>
              <a:t> required by certification bodies to define the ultimate load envelope of the turbine.</a:t>
            </a:r>
          </a:p>
        </p:txBody>
      </p:sp>
      <p:sp>
        <p:nvSpPr>
          <p:cNvPr id="12" name="Title 6">
            <a:extLst>
              <a:ext uri="{FF2B5EF4-FFF2-40B4-BE49-F238E27FC236}">
                <a16:creationId xmlns:a16="http://schemas.microsoft.com/office/drawing/2014/main" id="{0F430681-AC1F-7C61-EC5A-093FC63A4E91}"/>
              </a:ext>
            </a:extLst>
          </p:cNvPr>
          <p:cNvSpPr txBox="1">
            <a:spLocks/>
          </p:cNvSpPr>
          <p:nvPr/>
        </p:nvSpPr>
        <p:spPr>
          <a:xfrm>
            <a:off x="475626" y="363628"/>
            <a:ext cx="10515600" cy="93713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DLC 6.1</a:t>
            </a:r>
            <a:r>
              <a:rPr lang="en-US" sz="2800"/>
              <a:t>With Different Randseed</a:t>
            </a:r>
            <a:r>
              <a:rPr lang="en-US"/>
              <a:t> </a:t>
            </a:r>
            <a:endParaRPr lang="en-US" dirty="0"/>
          </a:p>
        </p:txBody>
      </p:sp>
    </p:spTree>
    <p:extLst>
      <p:ext uri="{BB962C8B-B14F-4D97-AF65-F5344CB8AC3E}">
        <p14:creationId xmlns:p14="http://schemas.microsoft.com/office/powerpoint/2010/main" val="25842230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320EFD-879B-333A-DADF-811203A9DF4E}"/>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D1146A40-1723-98E5-0A30-1B424176E4E2}"/>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10" name="Free-form: Shape 13">
            <a:extLst>
              <a:ext uri="{FF2B5EF4-FFF2-40B4-BE49-F238E27FC236}">
                <a16:creationId xmlns:a16="http://schemas.microsoft.com/office/drawing/2014/main" id="{EA702EAB-710C-AE5B-0FAC-DE25147E387D}"/>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9" name="Free-form: Shape 13">
            <a:extLst>
              <a:ext uri="{FF2B5EF4-FFF2-40B4-BE49-F238E27FC236}">
                <a16:creationId xmlns:a16="http://schemas.microsoft.com/office/drawing/2014/main" id="{F63D863B-C1BD-E06D-7371-B341E5FB1974}"/>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8" name="Rechteck 17">
            <a:extLst>
              <a:ext uri="{FF2B5EF4-FFF2-40B4-BE49-F238E27FC236}">
                <a16:creationId xmlns:a16="http://schemas.microsoft.com/office/drawing/2014/main" id="{AA9F3BE4-1887-9E96-1479-96A7764214B0}"/>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2" name="Titel 1">
            <a:extLst>
              <a:ext uri="{FF2B5EF4-FFF2-40B4-BE49-F238E27FC236}">
                <a16:creationId xmlns:a16="http://schemas.microsoft.com/office/drawing/2014/main" id="{477EE61D-15D7-3F86-7CDD-CCB0A1FCCDB2}"/>
              </a:ext>
            </a:extLst>
          </p:cNvPr>
          <p:cNvSpPr>
            <a:spLocks noGrp="1"/>
          </p:cNvSpPr>
          <p:nvPr>
            <p:ph type="title"/>
          </p:nvPr>
        </p:nvSpPr>
        <p:spPr>
          <a:xfrm>
            <a:off x="484417" y="502853"/>
            <a:ext cx="9234617" cy="712728"/>
          </a:xfrm>
        </p:spPr>
        <p:txBody>
          <a:bodyPr>
            <a:normAutofit/>
          </a:bodyPr>
          <a:lstStyle/>
          <a:p>
            <a:r>
              <a:rPr lang="en-GB" dirty="0"/>
              <a:t>Conclusion &amp; Future Plan</a:t>
            </a:r>
            <a:endParaRPr lang="de-DE" dirty="0"/>
          </a:p>
        </p:txBody>
      </p:sp>
      <p:cxnSp>
        <p:nvCxnSpPr>
          <p:cNvPr id="6" name="Straight Connector 5">
            <a:extLst>
              <a:ext uri="{FF2B5EF4-FFF2-40B4-BE49-F238E27FC236}">
                <a16:creationId xmlns:a16="http://schemas.microsoft.com/office/drawing/2014/main" id="{CDE2EB72-B6B0-6F50-0553-8A7EBA47EF3F}"/>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3F80CF7-D661-ECEA-C323-8A635239A2B9}"/>
              </a:ext>
            </a:extLst>
          </p:cNvPr>
          <p:cNvSpPr txBox="1"/>
          <p:nvPr/>
        </p:nvSpPr>
        <p:spPr>
          <a:xfrm>
            <a:off x="573779" y="1557134"/>
            <a:ext cx="9155959" cy="1754326"/>
          </a:xfrm>
          <a:prstGeom prst="rect">
            <a:avLst/>
          </a:prstGeom>
          <a:noFill/>
        </p:spPr>
        <p:txBody>
          <a:bodyPr wrap="square" rtlCol="0">
            <a:spAutoFit/>
          </a:bodyPr>
          <a:lstStyle/>
          <a:p>
            <a:r>
              <a:rPr lang="en-US" dirty="0"/>
              <a:t>In the last week we</a:t>
            </a:r>
          </a:p>
          <a:p>
            <a:pPr marL="285750" indent="-285750" algn="just">
              <a:buFont typeface="Arial" panose="020B0604020202020204" pitchFamily="34" charset="0"/>
              <a:buChar char="•"/>
            </a:pPr>
            <a:r>
              <a:rPr lang="en-US" dirty="0"/>
              <a:t>Configured Wind Simulations for DLC 4.2</a:t>
            </a:r>
          </a:p>
          <a:p>
            <a:pPr marL="285750" indent="-285750" algn="just">
              <a:buFont typeface="Arial" panose="020B0604020202020204" pitchFamily="34" charset="0"/>
              <a:buChar char="•"/>
            </a:pPr>
            <a:r>
              <a:rPr lang="en-US" dirty="0"/>
              <a:t>Update Simulation with DLC 5.1</a:t>
            </a:r>
          </a:p>
          <a:p>
            <a:pPr marL="285750" indent="-285750" algn="just">
              <a:buFont typeface="Arial" panose="020B0604020202020204" pitchFamily="34" charset="0"/>
              <a:buChar char="•"/>
            </a:pPr>
            <a:r>
              <a:rPr lang="en-US" dirty="0"/>
              <a:t>Analyzed DLC 6.1 with different random seed cases (different turbulent wind pattern)</a:t>
            </a:r>
          </a:p>
          <a:p>
            <a:pPr marL="285750" indent="-285750" algn="just">
              <a:buFont typeface="Arial" panose="020B0604020202020204" pitchFamily="34" charset="0"/>
              <a:buChar char="•"/>
            </a:pPr>
            <a:r>
              <a:rPr lang="en-US" dirty="0"/>
              <a:t>Provided forces and moments at different section of turbine to other teams</a:t>
            </a:r>
          </a:p>
          <a:p>
            <a:pPr marL="285750" indent="-285750">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C427E92C-A5CB-BC0F-09F3-87A452931C35}"/>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12" name="Slide Number Placeholder 5">
            <a:extLst>
              <a:ext uri="{FF2B5EF4-FFF2-40B4-BE49-F238E27FC236}">
                <a16:creationId xmlns:a16="http://schemas.microsoft.com/office/drawing/2014/main" id="{AA120C60-37B7-21C9-2762-545988EF49AC}"/>
              </a:ext>
            </a:extLst>
          </p:cNvPr>
          <p:cNvSpPr txBox="1">
            <a:spLocks/>
          </p:cNvSpPr>
          <p:nvPr/>
        </p:nvSpPr>
        <p:spPr>
          <a:xfrm>
            <a:off x="1731792" y="6557579"/>
            <a:ext cx="386021" cy="3198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12</a:t>
            </a:fld>
            <a:endParaRPr lang="en-GB" sz="1400" dirty="0">
              <a:solidFill>
                <a:schemeClr val="bg1"/>
              </a:solidFill>
            </a:endParaRPr>
          </a:p>
        </p:txBody>
      </p:sp>
      <p:sp>
        <p:nvSpPr>
          <p:cNvPr id="13" name="TextBox 12">
            <a:extLst>
              <a:ext uri="{FF2B5EF4-FFF2-40B4-BE49-F238E27FC236}">
                <a16:creationId xmlns:a16="http://schemas.microsoft.com/office/drawing/2014/main" id="{A901270B-C2B0-1B61-E8C4-35B5C0C53617}"/>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3" name="TextBox 2">
            <a:extLst>
              <a:ext uri="{FF2B5EF4-FFF2-40B4-BE49-F238E27FC236}">
                <a16:creationId xmlns:a16="http://schemas.microsoft.com/office/drawing/2014/main" id="{A84FF063-5965-7429-D9BA-AB5A1465307A}"/>
              </a:ext>
            </a:extLst>
          </p:cNvPr>
          <p:cNvSpPr txBox="1"/>
          <p:nvPr/>
        </p:nvSpPr>
        <p:spPr>
          <a:xfrm>
            <a:off x="573779" y="3909159"/>
            <a:ext cx="9913991" cy="2031325"/>
          </a:xfrm>
          <a:prstGeom prst="rect">
            <a:avLst/>
          </a:prstGeom>
          <a:noFill/>
        </p:spPr>
        <p:txBody>
          <a:bodyPr wrap="square" rtlCol="0">
            <a:spAutoFit/>
          </a:bodyPr>
          <a:lstStyle/>
          <a:p>
            <a:r>
              <a:rPr lang="en-US" dirty="0"/>
              <a:t>In the next week</a:t>
            </a:r>
          </a:p>
          <a:p>
            <a:pPr marL="285750" indent="-285750">
              <a:buFont typeface="Arial" panose="020B0604020202020204" pitchFamily="34" charset="0"/>
              <a:buChar char="•"/>
            </a:pPr>
            <a:r>
              <a:rPr lang="en-US" dirty="0"/>
              <a:t>Simulate </a:t>
            </a:r>
            <a:r>
              <a:rPr lang="en-US" dirty="0" err="1"/>
              <a:t>OpenFAST</a:t>
            </a:r>
            <a:r>
              <a:rPr lang="en-US" dirty="0"/>
              <a:t> for updated parameter of turbine </a:t>
            </a:r>
          </a:p>
          <a:p>
            <a:pPr marL="285750" indent="-285750">
              <a:buFont typeface="Arial" panose="020B0604020202020204" pitchFamily="34" charset="0"/>
              <a:buChar char="•"/>
            </a:pPr>
            <a:r>
              <a:rPr lang="en-US" dirty="0"/>
              <a:t>Configure Simulation with other DLC Cases</a:t>
            </a:r>
          </a:p>
          <a:p>
            <a:pPr marL="285750" indent="-285750">
              <a:buFont typeface="Arial" panose="020B0604020202020204" pitchFamily="34" charset="0"/>
              <a:buChar char="•"/>
            </a:pPr>
            <a:r>
              <a:rPr lang="en-US" dirty="0"/>
              <a:t>Work with different groups</a:t>
            </a:r>
          </a:p>
          <a:p>
            <a:pPr marL="285750" indent="-285750">
              <a:buFont typeface="Arial" panose="020B0604020202020204" pitchFamily="34" charset="0"/>
              <a:buChar char="•"/>
            </a:pPr>
            <a:r>
              <a:rPr lang="en-US" dirty="0"/>
              <a:t>Start Calculation of </a:t>
            </a:r>
            <a:r>
              <a:rPr lang="en-US" dirty="0" err="1"/>
              <a:t>MExtremes</a:t>
            </a:r>
            <a:endParaRPr lang="en-US" dirty="0"/>
          </a:p>
          <a:p>
            <a:endParaRPr lang="en-US" dirty="0"/>
          </a:p>
          <a:p>
            <a:pPr marL="285750" indent="-285750">
              <a:buFont typeface="Arial" panose="020B0604020202020204" pitchFamily="34" charset="0"/>
              <a:buChar char="•"/>
            </a:pPr>
            <a:endParaRPr lang="en-US" dirty="0"/>
          </a:p>
        </p:txBody>
      </p:sp>
      <p:sp>
        <p:nvSpPr>
          <p:cNvPr id="5" name="TextBox 4">
            <a:extLst>
              <a:ext uri="{FF2B5EF4-FFF2-40B4-BE49-F238E27FC236}">
                <a16:creationId xmlns:a16="http://schemas.microsoft.com/office/drawing/2014/main" id="{3FBDBC2E-3437-E6C8-FD16-AAD0C747D974}"/>
              </a:ext>
            </a:extLst>
          </p:cNvPr>
          <p:cNvSpPr txBox="1"/>
          <p:nvPr/>
        </p:nvSpPr>
        <p:spPr>
          <a:xfrm>
            <a:off x="4629394" y="6576994"/>
            <a:ext cx="2887161" cy="276999"/>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p>
        </p:txBody>
      </p:sp>
    </p:spTree>
    <p:extLst>
      <p:ext uri="{BB962C8B-B14F-4D97-AF65-F5344CB8AC3E}">
        <p14:creationId xmlns:p14="http://schemas.microsoft.com/office/powerpoint/2010/main" val="40780479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F9DB2-1C60-2A59-656D-A5B74C9C4890}"/>
            </a:ext>
          </a:extLst>
        </p:cNvPr>
        <p:cNvGrpSpPr/>
        <p:nvPr/>
      </p:nvGrpSpPr>
      <p:grpSpPr>
        <a:xfrm>
          <a:off x="0" y="0"/>
          <a:ext cx="0" cy="0"/>
          <a:chOff x="0" y="0"/>
          <a:chExt cx="0" cy="0"/>
        </a:xfrm>
      </p:grpSpPr>
      <p:sp>
        <p:nvSpPr>
          <p:cNvPr id="11" name="Free-form: Shape 13">
            <a:extLst>
              <a:ext uri="{FF2B5EF4-FFF2-40B4-BE49-F238E27FC236}">
                <a16:creationId xmlns:a16="http://schemas.microsoft.com/office/drawing/2014/main" id="{28A9E759-5D36-7577-1B72-EEFA19D202C6}"/>
              </a:ext>
            </a:extLst>
          </p:cNvPr>
          <p:cNvSpPr/>
          <p:nvPr/>
        </p:nvSpPr>
        <p:spPr>
          <a:xfrm rot="10800000">
            <a:off x="-35168" y="277945"/>
            <a:ext cx="12216286" cy="898824"/>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46954 h 1270146"/>
              <a:gd name="connsiteX1" fmla="*/ 2358147 w 9478107"/>
              <a:gd name="connsiteY1" fmla="*/ 302992 h 1270146"/>
              <a:gd name="connsiteX2" fmla="*/ 4457699 w 9478107"/>
              <a:gd name="connsiteY2" fmla="*/ 373331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16261 w 9478107"/>
              <a:gd name="connsiteY3" fmla="*/ 33816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724642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9478107 w 9478107"/>
              <a:gd name="connsiteY4" fmla="*/ 346954 h 1270146"/>
              <a:gd name="connsiteX5" fmla="*/ 9469315 w 9478107"/>
              <a:gd name="connsiteY5" fmla="*/ 1252562 h 1270146"/>
              <a:gd name="connsiteX6" fmla="*/ 7253653 w 9478107"/>
              <a:gd name="connsiteY6" fmla="*/ 1243769 h 1270146"/>
              <a:gd name="connsiteX7" fmla="*/ 4826976 w 9478107"/>
              <a:gd name="connsiteY7" fmla="*/ 1270146 h 1270146"/>
              <a:gd name="connsiteX8" fmla="*/ 2751992 w 9478107"/>
              <a:gd name="connsiteY8" fmla="*/ 1261354 h 1270146"/>
              <a:gd name="connsiteX9" fmla="*/ 0 w 9478107"/>
              <a:gd name="connsiteY9" fmla="*/ 1208600 h 1270146"/>
              <a:gd name="connsiteX10" fmla="*/ 8792 w 9478107"/>
              <a:gd name="connsiteY10"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755857 w 9478107"/>
              <a:gd name="connsiteY4" fmla="*/ 446231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8792 w 9478107"/>
              <a:gd name="connsiteY0" fmla="*/ 346954 h 1270146"/>
              <a:gd name="connsiteX1" fmla="*/ 2358147 w 9478107"/>
              <a:gd name="connsiteY1" fmla="*/ 302992 h 1270146"/>
              <a:gd name="connsiteX2" fmla="*/ 5127546 w 9478107"/>
              <a:gd name="connsiteY2" fmla="*/ 115678 h 1270146"/>
              <a:gd name="connsiteX3" fmla="*/ 7084613 w 9478107"/>
              <a:gd name="connsiteY3" fmla="*/ 647346 h 1270146"/>
              <a:gd name="connsiteX4" fmla="*/ 8557637 w 9478107"/>
              <a:gd name="connsiteY4" fmla="*/ 716768 h 1270146"/>
              <a:gd name="connsiteX5" fmla="*/ 9478107 w 9478107"/>
              <a:gd name="connsiteY5" fmla="*/ 346954 h 1270146"/>
              <a:gd name="connsiteX6" fmla="*/ 9469315 w 9478107"/>
              <a:gd name="connsiteY6" fmla="*/ 1252562 h 1270146"/>
              <a:gd name="connsiteX7" fmla="*/ 7253653 w 9478107"/>
              <a:gd name="connsiteY7" fmla="*/ 1243769 h 1270146"/>
              <a:gd name="connsiteX8" fmla="*/ 4826976 w 9478107"/>
              <a:gd name="connsiteY8" fmla="*/ 1270146 h 1270146"/>
              <a:gd name="connsiteX9" fmla="*/ 2751992 w 9478107"/>
              <a:gd name="connsiteY9" fmla="*/ 1261354 h 1270146"/>
              <a:gd name="connsiteX10" fmla="*/ 0 w 9478107"/>
              <a:gd name="connsiteY10" fmla="*/ 1208600 h 1270146"/>
              <a:gd name="connsiteX11" fmla="*/ 8792 w 9478107"/>
              <a:gd name="connsiteY11" fmla="*/ 346954 h 1270146"/>
              <a:gd name="connsiteX0" fmla="*/ 15627 w 9484942"/>
              <a:gd name="connsiteY0" fmla="*/ 346954 h 1277035"/>
              <a:gd name="connsiteX1" fmla="*/ 2364982 w 9484942"/>
              <a:gd name="connsiteY1" fmla="*/ 302992 h 1277035"/>
              <a:gd name="connsiteX2" fmla="*/ 5134381 w 9484942"/>
              <a:gd name="connsiteY2" fmla="*/ 115678 h 1277035"/>
              <a:gd name="connsiteX3" fmla="*/ 7091448 w 9484942"/>
              <a:gd name="connsiteY3" fmla="*/ 647346 h 1277035"/>
              <a:gd name="connsiteX4" fmla="*/ 8564472 w 9484942"/>
              <a:gd name="connsiteY4" fmla="*/ 716768 h 1277035"/>
              <a:gd name="connsiteX5" fmla="*/ 9484942 w 9484942"/>
              <a:gd name="connsiteY5" fmla="*/ 346954 h 1277035"/>
              <a:gd name="connsiteX6" fmla="*/ 9476150 w 9484942"/>
              <a:gd name="connsiteY6" fmla="*/ 1252562 h 1277035"/>
              <a:gd name="connsiteX7" fmla="*/ 7260488 w 9484942"/>
              <a:gd name="connsiteY7" fmla="*/ 1243769 h 1277035"/>
              <a:gd name="connsiteX8" fmla="*/ 4833811 w 9484942"/>
              <a:gd name="connsiteY8" fmla="*/ 1270146 h 1277035"/>
              <a:gd name="connsiteX9" fmla="*/ 2758827 w 9484942"/>
              <a:gd name="connsiteY9" fmla="*/ 1261354 h 1277035"/>
              <a:gd name="connsiteX10" fmla="*/ 0 w 9484942"/>
              <a:gd name="connsiteY10" fmla="*/ 1273013 h 1277035"/>
              <a:gd name="connsiteX11" fmla="*/ 15627 w 9484942"/>
              <a:gd name="connsiteY11" fmla="*/ 346954 h 1277035"/>
              <a:gd name="connsiteX0" fmla="*/ 15627 w 9484942"/>
              <a:gd name="connsiteY0" fmla="*/ 346954 h 1300002"/>
              <a:gd name="connsiteX1" fmla="*/ 2364982 w 9484942"/>
              <a:gd name="connsiteY1" fmla="*/ 302992 h 1300002"/>
              <a:gd name="connsiteX2" fmla="*/ 5134381 w 9484942"/>
              <a:gd name="connsiteY2" fmla="*/ 115678 h 1300002"/>
              <a:gd name="connsiteX3" fmla="*/ 7091448 w 9484942"/>
              <a:gd name="connsiteY3" fmla="*/ 647346 h 1300002"/>
              <a:gd name="connsiteX4" fmla="*/ 8564472 w 9484942"/>
              <a:gd name="connsiteY4" fmla="*/ 716768 h 1300002"/>
              <a:gd name="connsiteX5" fmla="*/ 9484942 w 9484942"/>
              <a:gd name="connsiteY5" fmla="*/ 346954 h 1300002"/>
              <a:gd name="connsiteX6" fmla="*/ 9476150 w 9484942"/>
              <a:gd name="connsiteY6" fmla="*/ 1252562 h 1300002"/>
              <a:gd name="connsiteX7" fmla="*/ 7260488 w 9484942"/>
              <a:gd name="connsiteY7" fmla="*/ 1243769 h 1300002"/>
              <a:gd name="connsiteX8" fmla="*/ 4833811 w 9484942"/>
              <a:gd name="connsiteY8" fmla="*/ 1270146 h 1300002"/>
              <a:gd name="connsiteX9" fmla="*/ 2779333 w 9484942"/>
              <a:gd name="connsiteY9" fmla="*/ 1300002 h 1300002"/>
              <a:gd name="connsiteX10" fmla="*/ 0 w 9484942"/>
              <a:gd name="connsiteY10" fmla="*/ 1273013 h 1300002"/>
              <a:gd name="connsiteX11" fmla="*/ 15627 w 9484942"/>
              <a:gd name="connsiteY11" fmla="*/ 346954 h 1300002"/>
              <a:gd name="connsiteX0" fmla="*/ 15627 w 9484942"/>
              <a:gd name="connsiteY0" fmla="*/ 346954 h 1346830"/>
              <a:gd name="connsiteX1" fmla="*/ 2364982 w 9484942"/>
              <a:gd name="connsiteY1" fmla="*/ 302992 h 1346830"/>
              <a:gd name="connsiteX2" fmla="*/ 5134381 w 9484942"/>
              <a:gd name="connsiteY2" fmla="*/ 115678 h 1346830"/>
              <a:gd name="connsiteX3" fmla="*/ 7091448 w 9484942"/>
              <a:gd name="connsiteY3" fmla="*/ 647346 h 1346830"/>
              <a:gd name="connsiteX4" fmla="*/ 8564472 w 9484942"/>
              <a:gd name="connsiteY4" fmla="*/ 716768 h 1346830"/>
              <a:gd name="connsiteX5" fmla="*/ 9484942 w 9484942"/>
              <a:gd name="connsiteY5" fmla="*/ 346954 h 1346830"/>
              <a:gd name="connsiteX6" fmla="*/ 9476150 w 9484942"/>
              <a:gd name="connsiteY6" fmla="*/ 1252562 h 1346830"/>
              <a:gd name="connsiteX7" fmla="*/ 7267323 w 9484942"/>
              <a:gd name="connsiteY7" fmla="*/ 1346830 h 1346830"/>
              <a:gd name="connsiteX8" fmla="*/ 4833811 w 9484942"/>
              <a:gd name="connsiteY8" fmla="*/ 1270146 h 1346830"/>
              <a:gd name="connsiteX9" fmla="*/ 2779333 w 9484942"/>
              <a:gd name="connsiteY9" fmla="*/ 1300002 h 1346830"/>
              <a:gd name="connsiteX10" fmla="*/ 0 w 9484942"/>
              <a:gd name="connsiteY10" fmla="*/ 1273013 h 1346830"/>
              <a:gd name="connsiteX11" fmla="*/ 15627 w 9484942"/>
              <a:gd name="connsiteY11" fmla="*/ 346954 h 1346830"/>
              <a:gd name="connsiteX0" fmla="*/ 15627 w 9484942"/>
              <a:gd name="connsiteY0" fmla="*/ 346954 h 1308182"/>
              <a:gd name="connsiteX1" fmla="*/ 2364982 w 9484942"/>
              <a:gd name="connsiteY1" fmla="*/ 302992 h 1308182"/>
              <a:gd name="connsiteX2" fmla="*/ 5134381 w 9484942"/>
              <a:gd name="connsiteY2" fmla="*/ 115678 h 1308182"/>
              <a:gd name="connsiteX3" fmla="*/ 7091448 w 9484942"/>
              <a:gd name="connsiteY3" fmla="*/ 647346 h 1308182"/>
              <a:gd name="connsiteX4" fmla="*/ 8564472 w 9484942"/>
              <a:gd name="connsiteY4" fmla="*/ 716768 h 1308182"/>
              <a:gd name="connsiteX5" fmla="*/ 9484942 w 9484942"/>
              <a:gd name="connsiteY5" fmla="*/ 346954 h 1308182"/>
              <a:gd name="connsiteX6" fmla="*/ 9476150 w 9484942"/>
              <a:gd name="connsiteY6" fmla="*/ 1252562 h 1308182"/>
              <a:gd name="connsiteX7" fmla="*/ 7246817 w 9484942"/>
              <a:gd name="connsiteY7" fmla="*/ 1308182 h 1308182"/>
              <a:gd name="connsiteX8" fmla="*/ 4833811 w 9484942"/>
              <a:gd name="connsiteY8" fmla="*/ 1270146 h 1308182"/>
              <a:gd name="connsiteX9" fmla="*/ 2779333 w 9484942"/>
              <a:gd name="connsiteY9" fmla="*/ 1300002 h 1308182"/>
              <a:gd name="connsiteX10" fmla="*/ 0 w 9484942"/>
              <a:gd name="connsiteY10" fmla="*/ 1273013 h 1308182"/>
              <a:gd name="connsiteX11" fmla="*/ 15627 w 9484942"/>
              <a:gd name="connsiteY11" fmla="*/ 346954 h 1308182"/>
              <a:gd name="connsiteX0" fmla="*/ 15627 w 9496987"/>
              <a:gd name="connsiteY0" fmla="*/ 346954 h 1316976"/>
              <a:gd name="connsiteX1" fmla="*/ 2364982 w 9496987"/>
              <a:gd name="connsiteY1" fmla="*/ 302992 h 1316976"/>
              <a:gd name="connsiteX2" fmla="*/ 5134381 w 9496987"/>
              <a:gd name="connsiteY2" fmla="*/ 115678 h 1316976"/>
              <a:gd name="connsiteX3" fmla="*/ 7091448 w 9496987"/>
              <a:gd name="connsiteY3" fmla="*/ 647346 h 1316976"/>
              <a:gd name="connsiteX4" fmla="*/ 8564472 w 9496987"/>
              <a:gd name="connsiteY4" fmla="*/ 716768 h 1316976"/>
              <a:gd name="connsiteX5" fmla="*/ 9484942 w 9496987"/>
              <a:gd name="connsiteY5" fmla="*/ 346954 h 1316976"/>
              <a:gd name="connsiteX6" fmla="*/ 9496656 w 9496987"/>
              <a:gd name="connsiteY6" fmla="*/ 1316976 h 1316976"/>
              <a:gd name="connsiteX7" fmla="*/ 7246817 w 9496987"/>
              <a:gd name="connsiteY7" fmla="*/ 1308182 h 1316976"/>
              <a:gd name="connsiteX8" fmla="*/ 4833811 w 9496987"/>
              <a:gd name="connsiteY8" fmla="*/ 1270146 h 1316976"/>
              <a:gd name="connsiteX9" fmla="*/ 2779333 w 9496987"/>
              <a:gd name="connsiteY9" fmla="*/ 1300002 h 1316976"/>
              <a:gd name="connsiteX10" fmla="*/ 0 w 9496987"/>
              <a:gd name="connsiteY10" fmla="*/ 1273013 h 1316976"/>
              <a:gd name="connsiteX11" fmla="*/ 15627 w 9496987"/>
              <a:gd name="connsiteY11" fmla="*/ 346954 h 1316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496987" h="1316976">
                <a:moveTo>
                  <a:pt x="15627" y="346954"/>
                </a:moveTo>
                <a:cubicBezTo>
                  <a:pt x="677981" y="352815"/>
                  <a:pt x="1280597" y="-406254"/>
                  <a:pt x="2364982" y="302992"/>
                </a:cubicBezTo>
                <a:cubicBezTo>
                  <a:pt x="3590042" y="1000515"/>
                  <a:pt x="4346637" y="58286"/>
                  <a:pt x="5134381" y="115678"/>
                </a:cubicBezTo>
                <a:cubicBezTo>
                  <a:pt x="5922125" y="173070"/>
                  <a:pt x="6479894" y="562194"/>
                  <a:pt x="7091448" y="647346"/>
                </a:cubicBezTo>
                <a:cubicBezTo>
                  <a:pt x="7703002" y="732498"/>
                  <a:pt x="8165556" y="766833"/>
                  <a:pt x="8564472" y="716768"/>
                </a:cubicBezTo>
                <a:cubicBezTo>
                  <a:pt x="8963388" y="666703"/>
                  <a:pt x="9372868" y="242625"/>
                  <a:pt x="9484942" y="346954"/>
                </a:cubicBezTo>
                <a:cubicBezTo>
                  <a:pt x="9482011" y="648823"/>
                  <a:pt x="9499587" y="1015107"/>
                  <a:pt x="9496656" y="1316976"/>
                </a:cubicBezTo>
                <a:lnTo>
                  <a:pt x="7246817" y="1308182"/>
                </a:lnTo>
                <a:lnTo>
                  <a:pt x="4833811" y="1270146"/>
                </a:lnTo>
                <a:lnTo>
                  <a:pt x="2779333" y="1300002"/>
                </a:lnTo>
                <a:lnTo>
                  <a:pt x="0" y="1273013"/>
                </a:lnTo>
                <a:cubicBezTo>
                  <a:pt x="2931" y="988728"/>
                  <a:pt x="3903" y="648823"/>
                  <a:pt x="15627" y="346954"/>
                </a:cubicBezTo>
                <a:close/>
              </a:path>
            </a:pathLst>
          </a:custGeom>
          <a:gradFill flip="none" rotWithShape="1">
            <a:gsLst>
              <a:gs pos="0">
                <a:schemeClr val="accent4">
                  <a:lumMod val="20000"/>
                  <a:lumOff val="80000"/>
                </a:schemeClr>
              </a:gs>
              <a:gs pos="50000">
                <a:schemeClr val="bg1"/>
              </a:gs>
              <a:gs pos="100000">
                <a:schemeClr val="accent4">
                  <a:lumMod val="20000"/>
                  <a:lumOff val="80000"/>
                </a:schemeClr>
              </a:gs>
            </a:gsLst>
            <a:lin ang="0" scaled="1"/>
            <a:tileRect/>
          </a:gradFill>
          <a:ln w="15875">
            <a:solidFill>
              <a:schemeClr val="accent1">
                <a:alpha val="0"/>
              </a:schemeClr>
            </a:solid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0" name="Free-form: Shape 13">
            <a:extLst>
              <a:ext uri="{FF2B5EF4-FFF2-40B4-BE49-F238E27FC236}">
                <a16:creationId xmlns:a16="http://schemas.microsoft.com/office/drawing/2014/main" id="{0DF2E086-1F77-7ADA-A072-C1020548044D}"/>
              </a:ext>
            </a:extLst>
          </p:cNvPr>
          <p:cNvSpPr/>
          <p:nvPr/>
        </p:nvSpPr>
        <p:spPr>
          <a:xfrm rot="10800000">
            <a:off x="-2090" y="-10376"/>
            <a:ext cx="12192000" cy="898826"/>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78107" h="1273677">
                <a:moveTo>
                  <a:pt x="8792" y="350485"/>
                </a:moveTo>
                <a:cubicBezTo>
                  <a:pt x="671146" y="356346"/>
                  <a:pt x="973014" y="-402723"/>
                  <a:pt x="2057399" y="306523"/>
                </a:cubicBezTo>
                <a:cubicBezTo>
                  <a:pt x="3282459" y="1004046"/>
                  <a:pt x="3979984" y="611323"/>
                  <a:pt x="4457699" y="376862"/>
                </a:cubicBezTo>
                <a:cubicBezTo>
                  <a:pt x="5723792" y="-223945"/>
                  <a:pt x="6216161" y="-7069"/>
                  <a:pt x="7016261" y="341693"/>
                </a:cubicBezTo>
                <a:cubicBezTo>
                  <a:pt x="8672145" y="977671"/>
                  <a:pt x="8657492" y="347554"/>
                  <a:pt x="9478107" y="350485"/>
                </a:cubicBezTo>
                <a:cubicBezTo>
                  <a:pt x="9475176" y="652354"/>
                  <a:pt x="9472246" y="954224"/>
                  <a:pt x="9469315" y="1256093"/>
                </a:cubicBezTo>
                <a:lnTo>
                  <a:pt x="7253653" y="1247300"/>
                </a:lnTo>
                <a:lnTo>
                  <a:pt x="4826976" y="1273677"/>
                </a:lnTo>
                <a:lnTo>
                  <a:pt x="2751992" y="1264885"/>
                </a:lnTo>
                <a:lnTo>
                  <a:pt x="0" y="1212131"/>
                </a:lnTo>
                <a:cubicBezTo>
                  <a:pt x="2931" y="927846"/>
                  <a:pt x="-2932" y="652354"/>
                  <a:pt x="8792" y="350485"/>
                </a:cubicBezTo>
                <a:close/>
              </a:path>
            </a:pathLst>
          </a:cu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ree-form: Shape 13">
            <a:extLst>
              <a:ext uri="{FF2B5EF4-FFF2-40B4-BE49-F238E27FC236}">
                <a16:creationId xmlns:a16="http://schemas.microsoft.com/office/drawing/2014/main" id="{16784C5A-545D-7FC3-0803-92836236CBEC}"/>
              </a:ext>
            </a:extLst>
          </p:cNvPr>
          <p:cNvSpPr/>
          <p:nvPr/>
        </p:nvSpPr>
        <p:spPr>
          <a:xfrm rot="10800000">
            <a:off x="-26376" y="-237830"/>
            <a:ext cx="12218376" cy="965187"/>
          </a:xfrm>
          <a:custGeom>
            <a:avLst/>
            <a:gdLst>
              <a:gd name="connsiteX0" fmla="*/ 17585 w 9486900"/>
              <a:gd name="connsiteY0" fmla="*/ 8792 h 931984"/>
              <a:gd name="connsiteX1" fmla="*/ 2004646 w 9486900"/>
              <a:gd name="connsiteY1" fmla="*/ 26376 h 931984"/>
              <a:gd name="connsiteX2" fmla="*/ 4466492 w 9486900"/>
              <a:gd name="connsiteY2" fmla="*/ 35169 h 931984"/>
              <a:gd name="connsiteX3" fmla="*/ 7025054 w 9486900"/>
              <a:gd name="connsiteY3" fmla="*/ 0 h 931984"/>
              <a:gd name="connsiteX4" fmla="*/ 9486900 w 9486900"/>
              <a:gd name="connsiteY4" fmla="*/ 8792 h 931984"/>
              <a:gd name="connsiteX5" fmla="*/ 9478108 w 9486900"/>
              <a:gd name="connsiteY5" fmla="*/ 914400 h 931984"/>
              <a:gd name="connsiteX6" fmla="*/ 7262446 w 9486900"/>
              <a:gd name="connsiteY6" fmla="*/ 905607 h 931984"/>
              <a:gd name="connsiteX7" fmla="*/ 4835769 w 9486900"/>
              <a:gd name="connsiteY7" fmla="*/ 931984 h 931984"/>
              <a:gd name="connsiteX8" fmla="*/ 2760785 w 9486900"/>
              <a:gd name="connsiteY8" fmla="*/ 923192 h 931984"/>
              <a:gd name="connsiteX9" fmla="*/ 0 w 9486900"/>
              <a:gd name="connsiteY9" fmla="*/ 879230 h 931984"/>
              <a:gd name="connsiteX10" fmla="*/ 17585 w 9486900"/>
              <a:gd name="connsiteY10" fmla="*/ 8792 h 931984"/>
              <a:gd name="connsiteX0" fmla="*/ 17585 w 9486900"/>
              <a:gd name="connsiteY0" fmla="*/ 168095 h 1091287"/>
              <a:gd name="connsiteX1" fmla="*/ 2004646 w 9486900"/>
              <a:gd name="connsiteY1" fmla="*/ 185679 h 1091287"/>
              <a:gd name="connsiteX2" fmla="*/ 4466492 w 9486900"/>
              <a:gd name="connsiteY2" fmla="*/ 194472 h 1091287"/>
              <a:gd name="connsiteX3" fmla="*/ 7025054 w 9486900"/>
              <a:gd name="connsiteY3" fmla="*/ 159303 h 1091287"/>
              <a:gd name="connsiteX4" fmla="*/ 9486900 w 9486900"/>
              <a:gd name="connsiteY4" fmla="*/ 168095 h 1091287"/>
              <a:gd name="connsiteX5" fmla="*/ 9478108 w 9486900"/>
              <a:gd name="connsiteY5" fmla="*/ 1073703 h 1091287"/>
              <a:gd name="connsiteX6" fmla="*/ 7262446 w 9486900"/>
              <a:gd name="connsiteY6" fmla="*/ 1064910 h 1091287"/>
              <a:gd name="connsiteX7" fmla="*/ 4835769 w 9486900"/>
              <a:gd name="connsiteY7" fmla="*/ 1091287 h 1091287"/>
              <a:gd name="connsiteX8" fmla="*/ 2760785 w 9486900"/>
              <a:gd name="connsiteY8" fmla="*/ 1082495 h 1091287"/>
              <a:gd name="connsiteX9" fmla="*/ 0 w 9486900"/>
              <a:gd name="connsiteY9" fmla="*/ 1038533 h 1091287"/>
              <a:gd name="connsiteX10" fmla="*/ 17585 w 9486900"/>
              <a:gd name="connsiteY10" fmla="*/ 168095 h 1091287"/>
              <a:gd name="connsiteX0" fmla="*/ 17585 w 9486900"/>
              <a:gd name="connsiteY0" fmla="*/ 234508 h 1157700"/>
              <a:gd name="connsiteX1" fmla="*/ 2004646 w 9486900"/>
              <a:gd name="connsiteY1" fmla="*/ 252092 h 1157700"/>
              <a:gd name="connsiteX2" fmla="*/ 4466492 w 9486900"/>
              <a:gd name="connsiteY2" fmla="*/ 260885 h 1157700"/>
              <a:gd name="connsiteX3" fmla="*/ 7025054 w 9486900"/>
              <a:gd name="connsiteY3" fmla="*/ 225716 h 1157700"/>
              <a:gd name="connsiteX4" fmla="*/ 9486900 w 9486900"/>
              <a:gd name="connsiteY4" fmla="*/ 234508 h 1157700"/>
              <a:gd name="connsiteX5" fmla="*/ 9478108 w 9486900"/>
              <a:gd name="connsiteY5" fmla="*/ 1140116 h 1157700"/>
              <a:gd name="connsiteX6" fmla="*/ 7262446 w 9486900"/>
              <a:gd name="connsiteY6" fmla="*/ 1131323 h 1157700"/>
              <a:gd name="connsiteX7" fmla="*/ 4835769 w 9486900"/>
              <a:gd name="connsiteY7" fmla="*/ 1157700 h 1157700"/>
              <a:gd name="connsiteX8" fmla="*/ 2760785 w 9486900"/>
              <a:gd name="connsiteY8" fmla="*/ 1148908 h 1157700"/>
              <a:gd name="connsiteX9" fmla="*/ 0 w 9486900"/>
              <a:gd name="connsiteY9" fmla="*/ 1104946 h 1157700"/>
              <a:gd name="connsiteX10" fmla="*/ 17585 w 9486900"/>
              <a:gd name="connsiteY10" fmla="*/ 234508 h 115770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17585 w 9486900"/>
              <a:gd name="connsiteY0" fmla="*/ 375168 h 1298360"/>
              <a:gd name="connsiteX1" fmla="*/ 2004646 w 9486900"/>
              <a:gd name="connsiteY1" fmla="*/ 392752 h 1298360"/>
              <a:gd name="connsiteX2" fmla="*/ 4466492 w 9486900"/>
              <a:gd name="connsiteY2" fmla="*/ 401545 h 1298360"/>
              <a:gd name="connsiteX3" fmla="*/ 7025054 w 9486900"/>
              <a:gd name="connsiteY3" fmla="*/ 366376 h 1298360"/>
              <a:gd name="connsiteX4" fmla="*/ 9486900 w 9486900"/>
              <a:gd name="connsiteY4" fmla="*/ 375168 h 1298360"/>
              <a:gd name="connsiteX5" fmla="*/ 9478108 w 9486900"/>
              <a:gd name="connsiteY5" fmla="*/ 1280776 h 1298360"/>
              <a:gd name="connsiteX6" fmla="*/ 7262446 w 9486900"/>
              <a:gd name="connsiteY6" fmla="*/ 1271983 h 1298360"/>
              <a:gd name="connsiteX7" fmla="*/ 4835769 w 9486900"/>
              <a:gd name="connsiteY7" fmla="*/ 1298360 h 1298360"/>
              <a:gd name="connsiteX8" fmla="*/ 2760785 w 9486900"/>
              <a:gd name="connsiteY8" fmla="*/ 1289568 h 1298360"/>
              <a:gd name="connsiteX9" fmla="*/ 0 w 9486900"/>
              <a:gd name="connsiteY9" fmla="*/ 1245606 h 1298360"/>
              <a:gd name="connsiteX10" fmla="*/ 17585 w 9486900"/>
              <a:gd name="connsiteY10" fmla="*/ 375168 h 1298360"/>
              <a:gd name="connsiteX0" fmla="*/ 8792 w 9478107"/>
              <a:gd name="connsiteY0" fmla="*/ 375168 h 1298360"/>
              <a:gd name="connsiteX1" fmla="*/ 1995853 w 9478107"/>
              <a:gd name="connsiteY1" fmla="*/ 392752 h 1298360"/>
              <a:gd name="connsiteX2" fmla="*/ 4457699 w 9478107"/>
              <a:gd name="connsiteY2" fmla="*/ 401545 h 1298360"/>
              <a:gd name="connsiteX3" fmla="*/ 7016261 w 9478107"/>
              <a:gd name="connsiteY3" fmla="*/ 366376 h 1298360"/>
              <a:gd name="connsiteX4" fmla="*/ 9478107 w 9478107"/>
              <a:gd name="connsiteY4" fmla="*/ 375168 h 1298360"/>
              <a:gd name="connsiteX5" fmla="*/ 9469315 w 9478107"/>
              <a:gd name="connsiteY5" fmla="*/ 1280776 h 1298360"/>
              <a:gd name="connsiteX6" fmla="*/ 7253653 w 9478107"/>
              <a:gd name="connsiteY6" fmla="*/ 1271983 h 1298360"/>
              <a:gd name="connsiteX7" fmla="*/ 4826976 w 9478107"/>
              <a:gd name="connsiteY7" fmla="*/ 1298360 h 1298360"/>
              <a:gd name="connsiteX8" fmla="*/ 2751992 w 9478107"/>
              <a:gd name="connsiteY8" fmla="*/ 1289568 h 1298360"/>
              <a:gd name="connsiteX9" fmla="*/ 0 w 9478107"/>
              <a:gd name="connsiteY9" fmla="*/ 1236814 h 1298360"/>
              <a:gd name="connsiteX10" fmla="*/ 8792 w 9478107"/>
              <a:gd name="connsiteY10" fmla="*/ 375168 h 1298360"/>
              <a:gd name="connsiteX0" fmla="*/ 8792 w 9478107"/>
              <a:gd name="connsiteY0" fmla="*/ 421112 h 1344304"/>
              <a:gd name="connsiteX1" fmla="*/ 2057399 w 9478107"/>
              <a:gd name="connsiteY1" fmla="*/ 377150 h 1344304"/>
              <a:gd name="connsiteX2" fmla="*/ 4457699 w 9478107"/>
              <a:gd name="connsiteY2" fmla="*/ 447489 h 1344304"/>
              <a:gd name="connsiteX3" fmla="*/ 7016261 w 9478107"/>
              <a:gd name="connsiteY3" fmla="*/ 412320 h 1344304"/>
              <a:gd name="connsiteX4" fmla="*/ 9478107 w 9478107"/>
              <a:gd name="connsiteY4" fmla="*/ 421112 h 1344304"/>
              <a:gd name="connsiteX5" fmla="*/ 9469315 w 9478107"/>
              <a:gd name="connsiteY5" fmla="*/ 1326720 h 1344304"/>
              <a:gd name="connsiteX6" fmla="*/ 7253653 w 9478107"/>
              <a:gd name="connsiteY6" fmla="*/ 1317927 h 1344304"/>
              <a:gd name="connsiteX7" fmla="*/ 4826976 w 9478107"/>
              <a:gd name="connsiteY7" fmla="*/ 1344304 h 1344304"/>
              <a:gd name="connsiteX8" fmla="*/ 2751992 w 9478107"/>
              <a:gd name="connsiteY8" fmla="*/ 1335512 h 1344304"/>
              <a:gd name="connsiteX9" fmla="*/ 0 w 9478107"/>
              <a:gd name="connsiteY9" fmla="*/ 1282758 h 1344304"/>
              <a:gd name="connsiteX10" fmla="*/ 8792 w 9478107"/>
              <a:gd name="connsiteY10" fmla="*/ 421112 h 1344304"/>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9478107 w 9478107"/>
              <a:gd name="connsiteY4" fmla="*/ 350485 h 1273677"/>
              <a:gd name="connsiteX5" fmla="*/ 9469315 w 9478107"/>
              <a:gd name="connsiteY5" fmla="*/ 1256093 h 1273677"/>
              <a:gd name="connsiteX6" fmla="*/ 7253653 w 9478107"/>
              <a:gd name="connsiteY6" fmla="*/ 1247300 h 1273677"/>
              <a:gd name="connsiteX7" fmla="*/ 4826976 w 9478107"/>
              <a:gd name="connsiteY7" fmla="*/ 1273677 h 1273677"/>
              <a:gd name="connsiteX8" fmla="*/ 2751992 w 9478107"/>
              <a:gd name="connsiteY8" fmla="*/ 1264885 h 1273677"/>
              <a:gd name="connsiteX9" fmla="*/ 0 w 9478107"/>
              <a:gd name="connsiteY9" fmla="*/ 1212131 h 1273677"/>
              <a:gd name="connsiteX10" fmla="*/ 8792 w 9478107"/>
              <a:gd name="connsiteY10" fmla="*/ 350485 h 1273677"/>
              <a:gd name="connsiteX0" fmla="*/ 8792 w 9478107"/>
              <a:gd name="connsiteY0" fmla="*/ 350485 h 1273677"/>
              <a:gd name="connsiteX1" fmla="*/ 2057399 w 9478107"/>
              <a:gd name="connsiteY1" fmla="*/ 306523 h 1273677"/>
              <a:gd name="connsiteX2" fmla="*/ 4457699 w 9478107"/>
              <a:gd name="connsiteY2" fmla="*/ 376862 h 1273677"/>
              <a:gd name="connsiteX3" fmla="*/ 7016261 w 9478107"/>
              <a:gd name="connsiteY3" fmla="*/ 341693 h 1273677"/>
              <a:gd name="connsiteX4" fmla="*/ 8414099 w 9478107"/>
              <a:gd name="connsiteY4" fmla="*/ 797823 h 1273677"/>
              <a:gd name="connsiteX5" fmla="*/ 9478107 w 9478107"/>
              <a:gd name="connsiteY5" fmla="*/ 350485 h 1273677"/>
              <a:gd name="connsiteX6" fmla="*/ 9469315 w 9478107"/>
              <a:gd name="connsiteY6" fmla="*/ 1256093 h 1273677"/>
              <a:gd name="connsiteX7" fmla="*/ 7253653 w 9478107"/>
              <a:gd name="connsiteY7" fmla="*/ 1247300 h 1273677"/>
              <a:gd name="connsiteX8" fmla="*/ 4826976 w 9478107"/>
              <a:gd name="connsiteY8" fmla="*/ 1273677 h 1273677"/>
              <a:gd name="connsiteX9" fmla="*/ 2751992 w 9478107"/>
              <a:gd name="connsiteY9" fmla="*/ 1264885 h 1273677"/>
              <a:gd name="connsiteX10" fmla="*/ 0 w 9478107"/>
              <a:gd name="connsiteY10" fmla="*/ 1212131 h 1273677"/>
              <a:gd name="connsiteX11" fmla="*/ 8792 w 9478107"/>
              <a:gd name="connsiteY11" fmla="*/ 350485 h 1273677"/>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78107"/>
              <a:gd name="connsiteY0" fmla="*/ 463370 h 1386562"/>
              <a:gd name="connsiteX1" fmla="*/ 2057399 w 9478107"/>
              <a:gd name="connsiteY1" fmla="*/ 419408 h 1386562"/>
              <a:gd name="connsiteX2" fmla="*/ 4457699 w 9478107"/>
              <a:gd name="connsiteY2" fmla="*/ 489747 h 1386562"/>
              <a:gd name="connsiteX3" fmla="*/ 7009426 w 9478107"/>
              <a:gd name="connsiteY3" fmla="*/ 98357 h 1386562"/>
              <a:gd name="connsiteX4" fmla="*/ 8414099 w 9478107"/>
              <a:gd name="connsiteY4" fmla="*/ 910708 h 1386562"/>
              <a:gd name="connsiteX5" fmla="*/ 9478107 w 9478107"/>
              <a:gd name="connsiteY5" fmla="*/ 463370 h 1386562"/>
              <a:gd name="connsiteX6" fmla="*/ 9469315 w 9478107"/>
              <a:gd name="connsiteY6" fmla="*/ 1368978 h 1386562"/>
              <a:gd name="connsiteX7" fmla="*/ 7253653 w 9478107"/>
              <a:gd name="connsiteY7" fmla="*/ 1360185 h 1386562"/>
              <a:gd name="connsiteX8" fmla="*/ 4826976 w 9478107"/>
              <a:gd name="connsiteY8" fmla="*/ 1386562 h 1386562"/>
              <a:gd name="connsiteX9" fmla="*/ 2751992 w 9478107"/>
              <a:gd name="connsiteY9" fmla="*/ 1377770 h 1386562"/>
              <a:gd name="connsiteX10" fmla="*/ 0 w 9478107"/>
              <a:gd name="connsiteY10" fmla="*/ 1325016 h 1386562"/>
              <a:gd name="connsiteX11" fmla="*/ 8792 w 9478107"/>
              <a:gd name="connsiteY11" fmla="*/ 463370 h 1386562"/>
              <a:gd name="connsiteX0" fmla="*/ 8792 w 9498612"/>
              <a:gd name="connsiteY0" fmla="*/ 463370 h 1386562"/>
              <a:gd name="connsiteX1" fmla="*/ 2057399 w 9498612"/>
              <a:gd name="connsiteY1" fmla="*/ 419408 h 1386562"/>
              <a:gd name="connsiteX2" fmla="*/ 4457699 w 9498612"/>
              <a:gd name="connsiteY2" fmla="*/ 489747 h 1386562"/>
              <a:gd name="connsiteX3" fmla="*/ 7009426 w 9498612"/>
              <a:gd name="connsiteY3" fmla="*/ 98357 h 1386562"/>
              <a:gd name="connsiteX4" fmla="*/ 8414099 w 9498612"/>
              <a:gd name="connsiteY4" fmla="*/ 910708 h 1386562"/>
              <a:gd name="connsiteX5" fmla="*/ 9498612 w 9498612"/>
              <a:gd name="connsiteY5" fmla="*/ 200892 h 1386562"/>
              <a:gd name="connsiteX6" fmla="*/ 9469315 w 9498612"/>
              <a:gd name="connsiteY6" fmla="*/ 1368978 h 1386562"/>
              <a:gd name="connsiteX7" fmla="*/ 7253653 w 9498612"/>
              <a:gd name="connsiteY7" fmla="*/ 1360185 h 1386562"/>
              <a:gd name="connsiteX8" fmla="*/ 4826976 w 9498612"/>
              <a:gd name="connsiteY8" fmla="*/ 1386562 h 1386562"/>
              <a:gd name="connsiteX9" fmla="*/ 2751992 w 9498612"/>
              <a:gd name="connsiteY9" fmla="*/ 1377770 h 1386562"/>
              <a:gd name="connsiteX10" fmla="*/ 0 w 9498612"/>
              <a:gd name="connsiteY10" fmla="*/ 1325016 h 1386562"/>
              <a:gd name="connsiteX11" fmla="*/ 8792 w 9498612"/>
              <a:gd name="connsiteY11" fmla="*/ 463370 h 1386562"/>
              <a:gd name="connsiteX0" fmla="*/ 8792 w 9498612"/>
              <a:gd name="connsiteY0" fmla="*/ 444298 h 1367490"/>
              <a:gd name="connsiteX1" fmla="*/ 2057399 w 9498612"/>
              <a:gd name="connsiteY1" fmla="*/ 400336 h 1367490"/>
              <a:gd name="connsiteX2" fmla="*/ 4320995 w 9498612"/>
              <a:gd name="connsiteY2" fmla="*/ 695656 h 1367490"/>
              <a:gd name="connsiteX3" fmla="*/ 7009426 w 9498612"/>
              <a:gd name="connsiteY3" fmla="*/ 79285 h 1367490"/>
              <a:gd name="connsiteX4" fmla="*/ 8414099 w 9498612"/>
              <a:gd name="connsiteY4" fmla="*/ 891636 h 1367490"/>
              <a:gd name="connsiteX5" fmla="*/ 9498612 w 9498612"/>
              <a:gd name="connsiteY5" fmla="*/ 181820 h 1367490"/>
              <a:gd name="connsiteX6" fmla="*/ 9469315 w 9498612"/>
              <a:gd name="connsiteY6" fmla="*/ 1349906 h 1367490"/>
              <a:gd name="connsiteX7" fmla="*/ 7253653 w 9498612"/>
              <a:gd name="connsiteY7" fmla="*/ 1341113 h 1367490"/>
              <a:gd name="connsiteX8" fmla="*/ 4826976 w 9498612"/>
              <a:gd name="connsiteY8" fmla="*/ 1367490 h 1367490"/>
              <a:gd name="connsiteX9" fmla="*/ 2751992 w 9498612"/>
              <a:gd name="connsiteY9" fmla="*/ 1358698 h 1367490"/>
              <a:gd name="connsiteX10" fmla="*/ 0 w 9498612"/>
              <a:gd name="connsiteY10" fmla="*/ 1305944 h 1367490"/>
              <a:gd name="connsiteX11" fmla="*/ 8792 w 9498612"/>
              <a:gd name="connsiteY11" fmla="*/ 444298 h 1367490"/>
              <a:gd name="connsiteX0" fmla="*/ 8792 w 9498612"/>
              <a:gd name="connsiteY0" fmla="*/ 428789 h 1351981"/>
              <a:gd name="connsiteX1" fmla="*/ 2057399 w 9498612"/>
              <a:gd name="connsiteY1" fmla="*/ 384827 h 1351981"/>
              <a:gd name="connsiteX2" fmla="*/ 3698995 w 9498612"/>
              <a:gd name="connsiteY2" fmla="*/ 961374 h 1351981"/>
              <a:gd name="connsiteX3" fmla="*/ 7009426 w 9498612"/>
              <a:gd name="connsiteY3" fmla="*/ 63776 h 1351981"/>
              <a:gd name="connsiteX4" fmla="*/ 8414099 w 9498612"/>
              <a:gd name="connsiteY4" fmla="*/ 876127 h 1351981"/>
              <a:gd name="connsiteX5" fmla="*/ 9498612 w 9498612"/>
              <a:gd name="connsiteY5" fmla="*/ 166311 h 1351981"/>
              <a:gd name="connsiteX6" fmla="*/ 9469315 w 9498612"/>
              <a:gd name="connsiteY6" fmla="*/ 1334397 h 1351981"/>
              <a:gd name="connsiteX7" fmla="*/ 7253653 w 9498612"/>
              <a:gd name="connsiteY7" fmla="*/ 1325604 h 1351981"/>
              <a:gd name="connsiteX8" fmla="*/ 4826976 w 9498612"/>
              <a:gd name="connsiteY8" fmla="*/ 1351981 h 1351981"/>
              <a:gd name="connsiteX9" fmla="*/ 2751992 w 9498612"/>
              <a:gd name="connsiteY9" fmla="*/ 1343189 h 1351981"/>
              <a:gd name="connsiteX10" fmla="*/ 0 w 9498612"/>
              <a:gd name="connsiteY10" fmla="*/ 1290435 h 1351981"/>
              <a:gd name="connsiteX11" fmla="*/ 8792 w 9498612"/>
              <a:gd name="connsiteY11" fmla="*/ 428789 h 1351981"/>
              <a:gd name="connsiteX0" fmla="*/ 8792 w 9498612"/>
              <a:gd name="connsiteY0" fmla="*/ 595005 h 1518197"/>
              <a:gd name="connsiteX1" fmla="*/ 2057399 w 9498612"/>
              <a:gd name="connsiteY1" fmla="*/ 551043 h 1518197"/>
              <a:gd name="connsiteX2" fmla="*/ 3698995 w 9498612"/>
              <a:gd name="connsiteY2" fmla="*/ 1127590 h 1518197"/>
              <a:gd name="connsiteX3" fmla="*/ 5386116 w 9498612"/>
              <a:gd name="connsiteY3" fmla="*/ 48678 h 1518197"/>
              <a:gd name="connsiteX4" fmla="*/ 7009426 w 9498612"/>
              <a:gd name="connsiteY4" fmla="*/ 229992 h 1518197"/>
              <a:gd name="connsiteX5" fmla="*/ 8414099 w 9498612"/>
              <a:gd name="connsiteY5" fmla="*/ 1042343 h 1518197"/>
              <a:gd name="connsiteX6" fmla="*/ 9498612 w 9498612"/>
              <a:gd name="connsiteY6" fmla="*/ 332527 h 1518197"/>
              <a:gd name="connsiteX7" fmla="*/ 9469315 w 9498612"/>
              <a:gd name="connsiteY7" fmla="*/ 1500613 h 1518197"/>
              <a:gd name="connsiteX8" fmla="*/ 7253653 w 9498612"/>
              <a:gd name="connsiteY8" fmla="*/ 1491820 h 1518197"/>
              <a:gd name="connsiteX9" fmla="*/ 4826976 w 9498612"/>
              <a:gd name="connsiteY9" fmla="*/ 1518197 h 1518197"/>
              <a:gd name="connsiteX10" fmla="*/ 2751992 w 9498612"/>
              <a:gd name="connsiteY10" fmla="*/ 1509405 h 1518197"/>
              <a:gd name="connsiteX11" fmla="*/ 0 w 9498612"/>
              <a:gd name="connsiteY11" fmla="*/ 1456651 h 1518197"/>
              <a:gd name="connsiteX12" fmla="*/ 8792 w 9498612"/>
              <a:gd name="connsiteY12" fmla="*/ 595005 h 1518197"/>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 name="connsiteX0" fmla="*/ 8792 w 9498612"/>
              <a:gd name="connsiteY0" fmla="*/ 629716 h 1552908"/>
              <a:gd name="connsiteX1" fmla="*/ 2057399 w 9498612"/>
              <a:gd name="connsiteY1" fmla="*/ 585754 h 1552908"/>
              <a:gd name="connsiteX2" fmla="*/ 3698995 w 9498612"/>
              <a:gd name="connsiteY2" fmla="*/ 1162301 h 1552908"/>
              <a:gd name="connsiteX3" fmla="*/ 5386116 w 9498612"/>
              <a:gd name="connsiteY3" fmla="*/ 83389 h 1552908"/>
              <a:gd name="connsiteX4" fmla="*/ 7009426 w 9498612"/>
              <a:gd name="connsiteY4" fmla="*/ 264703 h 1552908"/>
              <a:gd name="connsiteX5" fmla="*/ 8414099 w 9498612"/>
              <a:gd name="connsiteY5" fmla="*/ 1077054 h 1552908"/>
              <a:gd name="connsiteX6" fmla="*/ 9498612 w 9498612"/>
              <a:gd name="connsiteY6" fmla="*/ 367238 h 1552908"/>
              <a:gd name="connsiteX7" fmla="*/ 9469315 w 9498612"/>
              <a:gd name="connsiteY7" fmla="*/ 1535324 h 1552908"/>
              <a:gd name="connsiteX8" fmla="*/ 7253653 w 9498612"/>
              <a:gd name="connsiteY8" fmla="*/ 1526531 h 1552908"/>
              <a:gd name="connsiteX9" fmla="*/ 4826976 w 9498612"/>
              <a:gd name="connsiteY9" fmla="*/ 1552908 h 1552908"/>
              <a:gd name="connsiteX10" fmla="*/ 2751992 w 9498612"/>
              <a:gd name="connsiteY10" fmla="*/ 1544116 h 1552908"/>
              <a:gd name="connsiteX11" fmla="*/ 0 w 9498612"/>
              <a:gd name="connsiteY11" fmla="*/ 1491362 h 1552908"/>
              <a:gd name="connsiteX12" fmla="*/ 8792 w 9498612"/>
              <a:gd name="connsiteY12" fmla="*/ 629716 h 1552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8612" h="1552908">
                <a:moveTo>
                  <a:pt x="8792" y="629716"/>
                </a:moveTo>
                <a:cubicBezTo>
                  <a:pt x="671146" y="635577"/>
                  <a:pt x="973014" y="-123492"/>
                  <a:pt x="2057399" y="585754"/>
                </a:cubicBezTo>
                <a:cubicBezTo>
                  <a:pt x="3282459" y="1283277"/>
                  <a:pt x="3144209" y="1246028"/>
                  <a:pt x="3698995" y="1162301"/>
                </a:cubicBezTo>
                <a:cubicBezTo>
                  <a:pt x="4253781" y="1078574"/>
                  <a:pt x="4834377" y="232989"/>
                  <a:pt x="5386116" y="83389"/>
                </a:cubicBezTo>
                <a:cubicBezTo>
                  <a:pt x="5937855" y="-66211"/>
                  <a:pt x="6463751" y="-19649"/>
                  <a:pt x="7009426" y="264703"/>
                </a:cubicBezTo>
                <a:cubicBezTo>
                  <a:pt x="7646042" y="612966"/>
                  <a:pt x="8003791" y="1075589"/>
                  <a:pt x="8414099" y="1077054"/>
                </a:cubicBezTo>
                <a:cubicBezTo>
                  <a:pt x="8824407" y="1078519"/>
                  <a:pt x="9320464" y="250238"/>
                  <a:pt x="9498612" y="367238"/>
                </a:cubicBezTo>
                <a:cubicBezTo>
                  <a:pt x="9495681" y="669107"/>
                  <a:pt x="9472246" y="1233455"/>
                  <a:pt x="9469315" y="1535324"/>
                </a:cubicBezTo>
                <a:lnTo>
                  <a:pt x="7253653" y="1526531"/>
                </a:lnTo>
                <a:lnTo>
                  <a:pt x="4826976" y="1552908"/>
                </a:lnTo>
                <a:lnTo>
                  <a:pt x="2751992" y="1544116"/>
                </a:lnTo>
                <a:lnTo>
                  <a:pt x="0" y="1491362"/>
                </a:lnTo>
                <a:cubicBezTo>
                  <a:pt x="2931" y="1207077"/>
                  <a:pt x="-2932" y="931585"/>
                  <a:pt x="8792" y="629716"/>
                </a:cubicBezTo>
                <a:close/>
              </a:path>
            </a:pathLst>
          </a:custGeom>
          <a:gradFill>
            <a:gsLst>
              <a:gs pos="0">
                <a:srgbClr val="EFFCFF"/>
              </a:gs>
              <a:gs pos="50000">
                <a:schemeClr val="accent4">
                  <a:lumMod val="40000"/>
                  <a:lumOff val="60000"/>
                </a:schemeClr>
              </a:gs>
              <a:gs pos="100000">
                <a:schemeClr val="bg1"/>
              </a:gs>
            </a:gsLst>
            <a:lin ang="5400000" scaled="1"/>
          </a:gradFill>
          <a:ln>
            <a:noFill/>
          </a:ln>
          <a:effectLst>
            <a:glow>
              <a:srgbClr val="FFFF00"/>
            </a:glow>
            <a:outerShdw algn="ctr" rotWithShape="0">
              <a:schemeClr val="tx1"/>
            </a:outerShdw>
          </a:effectLst>
          <a:scene3d>
            <a:camera prst="orthographicFront"/>
            <a:lightRig rig="threePt" dir="t"/>
          </a:scene3d>
          <a:sp3d>
            <a:bevelT w="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hteck 17">
            <a:extLst>
              <a:ext uri="{FF2B5EF4-FFF2-40B4-BE49-F238E27FC236}">
                <a16:creationId xmlns:a16="http://schemas.microsoft.com/office/drawing/2014/main" id="{3F48FE32-30A8-91E8-073B-1CE94513A3C5}"/>
              </a:ext>
            </a:extLst>
          </p:cNvPr>
          <p:cNvSpPr/>
          <p:nvPr/>
        </p:nvSpPr>
        <p:spPr>
          <a:xfrm>
            <a:off x="-7747" y="6538183"/>
            <a:ext cx="12207494" cy="319817"/>
          </a:xfrm>
          <a:prstGeom prst="rect">
            <a:avLst/>
          </a:prstGeom>
          <a:solidFill>
            <a:srgbClr val="8ECE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9" name="TextBox 18">
            <a:extLst>
              <a:ext uri="{FF2B5EF4-FFF2-40B4-BE49-F238E27FC236}">
                <a16:creationId xmlns:a16="http://schemas.microsoft.com/office/drawing/2014/main" id="{E32C03B4-4368-B8A0-5078-A33BA60C0D0C}"/>
              </a:ext>
            </a:extLst>
          </p:cNvPr>
          <p:cNvSpPr txBox="1"/>
          <p:nvPr/>
        </p:nvSpPr>
        <p:spPr>
          <a:xfrm>
            <a:off x="463483" y="1401679"/>
            <a:ext cx="10547024" cy="1754326"/>
          </a:xfrm>
          <a:prstGeom prst="rect">
            <a:avLst/>
          </a:prstGeom>
          <a:noFill/>
        </p:spPr>
        <p:txBody>
          <a:bodyPr wrap="square" rtlCol="0">
            <a:spAutoFit/>
          </a:bodyPr>
          <a:lstStyle/>
          <a:p>
            <a:endParaRPr lang="it-IT" dirty="0"/>
          </a:p>
          <a:p>
            <a:pPr marL="285750" indent="-285750">
              <a:buFont typeface="Arial" panose="020B0604020202020204" pitchFamily="34" charset="0"/>
              <a:buChar char="•"/>
            </a:pPr>
            <a:r>
              <a:rPr lang="en-GB" dirty="0">
                <a:solidFill>
                  <a:schemeClr val="tx1">
                    <a:lumMod val="95000"/>
                    <a:lumOff val="5000"/>
                  </a:schemeClr>
                </a:solidFill>
                <a:cs typeface="Times New Roman" panose="02020603050405020304" pitchFamily="18" charset="0"/>
              </a:rPr>
              <a:t>Load Reports of the OPTIMUS projects </a:t>
            </a:r>
          </a:p>
          <a:p>
            <a:pPr marL="285750" indent="-285750">
              <a:buFont typeface="Arial" panose="020B0604020202020204" pitchFamily="34" charset="0"/>
              <a:buChar char="•"/>
            </a:pPr>
            <a:r>
              <a:rPr lang="en-US" dirty="0">
                <a:cs typeface="Times New Roman" panose="02020603050405020304" pitchFamily="18" charset="0"/>
              </a:rPr>
              <a:t>GL Guideline for the Certification of Wind Turbines Edition 2010</a:t>
            </a:r>
          </a:p>
          <a:p>
            <a:pPr marL="285750" indent="-285750">
              <a:buFont typeface="Arial" panose="020B0604020202020204" pitchFamily="34" charset="0"/>
              <a:buChar char="•"/>
            </a:pPr>
            <a:r>
              <a:rPr lang="en-US" dirty="0"/>
              <a:t>Standard, DNVGL-ST-0376 – Edition December 2015</a:t>
            </a:r>
            <a:endParaRPr lang="en-GB" dirty="0">
              <a:cs typeface="Times New Roman" panose="02020603050405020304" pitchFamily="18" charset="0"/>
            </a:endParaRPr>
          </a:p>
          <a:p>
            <a:pPr marL="285750" indent="-285750">
              <a:buFont typeface="Arial" panose="020B0604020202020204" pitchFamily="34" charset="0"/>
              <a:buChar char="•"/>
            </a:pPr>
            <a:r>
              <a:rPr lang="en-GB" dirty="0"/>
              <a:t>IEC 61400-1 2019-02, Ed. 4.0/ DNVGL-ST-0437 Loads and site conditions for wind turbines 11-2016</a:t>
            </a:r>
            <a:endParaRPr lang="en-GB" dirty="0">
              <a:cs typeface="Times New Roman" panose="02020603050405020304" pitchFamily="18" charset="0"/>
            </a:endParaRPr>
          </a:p>
          <a:p>
            <a:pPr marL="285750" indent="-285750">
              <a:buFont typeface="Arial" panose="020B0604020202020204" pitchFamily="34" charset="0"/>
              <a:buChar char="•"/>
            </a:pPr>
            <a:r>
              <a:rPr lang="en-GB" dirty="0" err="1">
                <a:cs typeface="Times New Roman" panose="02020603050405020304" pitchFamily="18" charset="0"/>
              </a:rPr>
              <a:t>TurbSim</a:t>
            </a:r>
            <a:r>
              <a:rPr lang="en-GB" dirty="0">
                <a:cs typeface="Times New Roman" panose="02020603050405020304" pitchFamily="18" charset="0"/>
              </a:rPr>
              <a:t>, </a:t>
            </a:r>
            <a:r>
              <a:rPr lang="en-GB" dirty="0" err="1">
                <a:cs typeface="Times New Roman" panose="02020603050405020304" pitchFamily="18" charset="0"/>
              </a:rPr>
              <a:t>OpenFAST</a:t>
            </a:r>
            <a:r>
              <a:rPr lang="en-GB" dirty="0">
                <a:cs typeface="Times New Roman" panose="02020603050405020304" pitchFamily="18" charset="0"/>
              </a:rPr>
              <a:t> &amp; NREL 5 MW</a:t>
            </a:r>
          </a:p>
        </p:txBody>
      </p:sp>
      <p:sp>
        <p:nvSpPr>
          <p:cNvPr id="2" name="Titel 1">
            <a:extLst>
              <a:ext uri="{FF2B5EF4-FFF2-40B4-BE49-F238E27FC236}">
                <a16:creationId xmlns:a16="http://schemas.microsoft.com/office/drawing/2014/main" id="{25E1DA7A-832B-59A9-3560-8C4D55C27346}"/>
              </a:ext>
            </a:extLst>
          </p:cNvPr>
          <p:cNvSpPr>
            <a:spLocks noGrp="1"/>
          </p:cNvSpPr>
          <p:nvPr>
            <p:ph type="title"/>
          </p:nvPr>
        </p:nvSpPr>
        <p:spPr>
          <a:xfrm>
            <a:off x="484418" y="502853"/>
            <a:ext cx="2724774" cy="712728"/>
          </a:xfrm>
        </p:spPr>
        <p:txBody>
          <a:bodyPr>
            <a:normAutofit fontScale="90000"/>
          </a:bodyPr>
          <a:lstStyle/>
          <a:p>
            <a:r>
              <a:rPr lang="en-US" dirty="0"/>
              <a:t>References</a:t>
            </a:r>
            <a:endParaRPr lang="de-DE" dirty="0"/>
          </a:p>
        </p:txBody>
      </p:sp>
      <p:cxnSp>
        <p:nvCxnSpPr>
          <p:cNvPr id="6" name="Straight Connector 5">
            <a:extLst>
              <a:ext uri="{FF2B5EF4-FFF2-40B4-BE49-F238E27FC236}">
                <a16:creationId xmlns:a16="http://schemas.microsoft.com/office/drawing/2014/main" id="{A80213FB-EC9C-6767-58CC-49D609115B85}"/>
              </a:ext>
            </a:extLst>
          </p:cNvPr>
          <p:cNvCxnSpPr/>
          <p:nvPr/>
        </p:nvCxnSpPr>
        <p:spPr>
          <a:xfrm>
            <a:off x="484418" y="1171879"/>
            <a:ext cx="11218984" cy="0"/>
          </a:xfrm>
          <a:prstGeom prst="line">
            <a:avLst/>
          </a:prstGeom>
          <a:ln w="38100">
            <a:solidFill>
              <a:srgbClr val="8ECEFA"/>
            </a:solidFill>
          </a:ln>
        </p:spPr>
        <p:style>
          <a:lnRef idx="2">
            <a:schemeClr val="accent1"/>
          </a:lnRef>
          <a:fillRef idx="0">
            <a:schemeClr val="accent1"/>
          </a:fillRef>
          <a:effectRef idx="1">
            <a:schemeClr val="accent1"/>
          </a:effectRef>
          <a:fontRef idx="minor">
            <a:schemeClr val="tx1"/>
          </a:fontRef>
        </p:style>
      </p:cxnSp>
      <p:sp>
        <p:nvSpPr>
          <p:cNvPr id="3" name="TextBox 2">
            <a:extLst>
              <a:ext uri="{FF2B5EF4-FFF2-40B4-BE49-F238E27FC236}">
                <a16:creationId xmlns:a16="http://schemas.microsoft.com/office/drawing/2014/main" id="{DD0B4C1C-527A-83A2-90B3-666A056F7C49}"/>
              </a:ext>
            </a:extLst>
          </p:cNvPr>
          <p:cNvSpPr txBox="1"/>
          <p:nvPr/>
        </p:nvSpPr>
        <p:spPr>
          <a:xfrm>
            <a:off x="412716" y="6565449"/>
            <a:ext cx="1000125" cy="276999"/>
          </a:xfrm>
          <a:prstGeom prst="rect">
            <a:avLst/>
          </a:prstGeom>
          <a:noFill/>
        </p:spPr>
        <p:txBody>
          <a:bodyPr wrap="square" rtlCol="0">
            <a:spAutoFit/>
          </a:bodyPr>
          <a:lstStyle/>
          <a:p>
            <a:r>
              <a:rPr lang="en-US" sz="1200" dirty="0">
                <a:solidFill>
                  <a:schemeClr val="bg1"/>
                </a:solidFill>
              </a:rPr>
              <a:t>18/11/2025</a:t>
            </a:r>
          </a:p>
        </p:txBody>
      </p:sp>
      <p:sp>
        <p:nvSpPr>
          <p:cNvPr id="4" name="Slide Number Placeholder 5">
            <a:extLst>
              <a:ext uri="{FF2B5EF4-FFF2-40B4-BE49-F238E27FC236}">
                <a16:creationId xmlns:a16="http://schemas.microsoft.com/office/drawing/2014/main" id="{21129FCA-49E1-C2AD-B541-FCEDEF0BB603}"/>
              </a:ext>
            </a:extLst>
          </p:cNvPr>
          <p:cNvSpPr txBox="1">
            <a:spLocks/>
          </p:cNvSpPr>
          <p:nvPr/>
        </p:nvSpPr>
        <p:spPr>
          <a:xfrm>
            <a:off x="1833304" y="6538183"/>
            <a:ext cx="376496" cy="319817"/>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13F6232-4F06-48BA-8F69-BF531F607829}" type="slidenum">
              <a:rPr lang="en-GB" sz="1400" smtClean="0">
                <a:solidFill>
                  <a:schemeClr val="bg1"/>
                </a:solidFill>
              </a:rPr>
              <a:pPr/>
              <a:t>13</a:t>
            </a:fld>
            <a:endParaRPr lang="en-GB" sz="1400" dirty="0">
              <a:solidFill>
                <a:schemeClr val="bg1"/>
              </a:solidFill>
            </a:endParaRPr>
          </a:p>
        </p:txBody>
      </p:sp>
      <p:sp>
        <p:nvSpPr>
          <p:cNvPr id="7" name="TextBox 6">
            <a:extLst>
              <a:ext uri="{FF2B5EF4-FFF2-40B4-BE49-F238E27FC236}">
                <a16:creationId xmlns:a16="http://schemas.microsoft.com/office/drawing/2014/main" id="{D1563EE5-B3E5-55A6-0898-3C96C1BE7B95}"/>
              </a:ext>
            </a:extLst>
          </p:cNvPr>
          <p:cNvSpPr txBox="1"/>
          <p:nvPr/>
        </p:nvSpPr>
        <p:spPr>
          <a:xfrm>
            <a:off x="9172575" y="6542216"/>
            <a:ext cx="2787685" cy="276999"/>
          </a:xfrm>
          <a:prstGeom prst="rect">
            <a:avLst/>
          </a:prstGeom>
          <a:noFill/>
        </p:spPr>
        <p:txBody>
          <a:bodyPr wrap="square" rtlCol="0">
            <a:spAutoFit/>
          </a:bodyPr>
          <a:lstStyle/>
          <a:p>
            <a:r>
              <a:rPr lang="en-US" sz="1200" dirty="0">
                <a:solidFill>
                  <a:schemeClr val="bg1"/>
                </a:solidFill>
              </a:rPr>
              <a:t>Load &amp; Dynamics Team/ Optimus Syria</a:t>
            </a:r>
          </a:p>
        </p:txBody>
      </p:sp>
      <p:sp>
        <p:nvSpPr>
          <p:cNvPr id="8" name="TextBox 7">
            <a:extLst>
              <a:ext uri="{FF2B5EF4-FFF2-40B4-BE49-F238E27FC236}">
                <a16:creationId xmlns:a16="http://schemas.microsoft.com/office/drawing/2014/main" id="{EF6F5A4A-1199-5983-E768-1FD9C369309E}"/>
              </a:ext>
            </a:extLst>
          </p:cNvPr>
          <p:cNvSpPr txBox="1"/>
          <p:nvPr/>
        </p:nvSpPr>
        <p:spPr>
          <a:xfrm>
            <a:off x="4629394" y="6576994"/>
            <a:ext cx="2887161" cy="461665"/>
          </a:xfrm>
          <a:prstGeom prst="rect">
            <a:avLst/>
          </a:prstGeom>
          <a:noFill/>
        </p:spPr>
        <p:txBody>
          <a:bodyPr wrap="square" rtlCol="0">
            <a:spAutoFit/>
          </a:bodyPr>
          <a:lstStyle/>
          <a:p>
            <a:pPr algn="ctr"/>
            <a:r>
              <a:rPr lang="en-US" sz="1200" dirty="0">
                <a:solidFill>
                  <a:schemeClr val="bg1"/>
                </a:solidFill>
              </a:rPr>
              <a:t>Md Aman, Arham Memon, Paresh </a:t>
            </a:r>
            <a:r>
              <a:rPr lang="en-US" sz="1200" dirty="0" err="1">
                <a:solidFill>
                  <a:schemeClr val="bg1"/>
                </a:solidFill>
              </a:rPr>
              <a:t>Nakum</a:t>
            </a:r>
            <a:endParaRPr lang="en-US" sz="1200" dirty="0">
              <a:solidFill>
                <a:schemeClr val="bg1"/>
              </a:solidFill>
            </a:endParaRPr>
          </a:p>
          <a:p>
            <a:pPr algn="ctr"/>
            <a:endParaRPr lang="en-US" sz="1200" dirty="0"/>
          </a:p>
        </p:txBody>
      </p:sp>
    </p:spTree>
    <p:extLst>
      <p:ext uri="{BB962C8B-B14F-4D97-AF65-F5344CB8AC3E}">
        <p14:creationId xmlns:p14="http://schemas.microsoft.com/office/powerpoint/2010/main" val="38779412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 dockstate="right" visibility="0" width="438"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BCD039B6-C6AB-492A-94BF-C46AF895D2E7}">
  <we:reference id="WA200007130" version="1.0.0.1" store="en-US" storeType="omex"/>
  <we:alternateReferences>
    <we:reference id="WA200007130" version="1.0.0.1" store="en-US"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73D784B2-E216-4A14-BE4B-F0CA301E2B20}">
  <we:reference id="WA200005566" version="3.0.0.3" store="en-US" storeType="omex"/>
  <we:alternateReferences>
    <we:reference id="WA200005566" version="3.0.0.3" store="en-US"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261</TotalTime>
  <Words>958</Words>
  <Application>Microsoft Office PowerPoint</Application>
  <PresentationFormat>Widescreen</PresentationFormat>
  <Paragraphs>144</Paragraphs>
  <Slides>13</Slides>
  <Notes>13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Aptos Display</vt:lpstr>
      <vt:lpstr>Arial</vt:lpstr>
      <vt:lpstr>Times New Roman</vt:lpstr>
      <vt:lpstr>Office Theme</vt:lpstr>
      <vt:lpstr>Custom Design</vt:lpstr>
      <vt:lpstr>Weekly report: Load &amp; Dynamics</vt:lpstr>
      <vt:lpstr>Agenda For Loads &amp; Dynamics</vt:lpstr>
      <vt:lpstr>DLC 4.2 Normal Shutdown</vt:lpstr>
      <vt:lpstr>DLC 4.2 Simulation examples </vt:lpstr>
      <vt:lpstr>DLC 4.2 Simulation examples </vt:lpstr>
      <vt:lpstr>DLC 5.1Emergency Stop</vt:lpstr>
      <vt:lpstr>PowerPoint Presentation</vt:lpstr>
      <vt:lpstr>PowerPoint Presentation</vt:lpstr>
      <vt:lpstr>DLC 6.1With Different Randseed </vt:lpstr>
      <vt:lpstr>PowerPoint Presentation</vt:lpstr>
      <vt:lpstr>PowerPoint Presentation</vt:lpstr>
      <vt:lpstr>Conclusion &amp; Future Plan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Weekly report lidar-assisted control group</dc:title>
  <dc:creator>Federico De Mita</dc:creator>
  <cp:lastModifiedBy>Md Aman</cp:lastModifiedBy>
  <cp:revision>83</cp:revision>
  <dcterms:created xsi:type="dcterms:W3CDTF">2025-07-21T13:11:31Z</dcterms:created>
  <dcterms:modified xsi:type="dcterms:W3CDTF">2025-11-17T00:05:01Z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umentInfoFinished">
    <vt:lpwstr>True</vt:lpwstr>
  </property>
  <property fmtid="{D5CDD505-2E9C-101B-9397-08002B2CF9AE}" pid="3" name="MSIP_Label_48141450-2387-4aca-b41f-19cd6be9dd3c_Enabled">
    <vt:lpwstr>true</vt:lpwstr>
  </property>
  <property fmtid="{D5CDD505-2E9C-101B-9397-08002B2CF9AE}" pid="4" name="MSIP_Label_48141450-2387-4aca-b41f-19cd6be9dd3c_SetDate">
    <vt:lpwstr>2025-09-28T13:19:16Z</vt:lpwstr>
  </property>
  <property fmtid="{D5CDD505-2E9C-101B-9397-08002B2CF9AE}" pid="5" name="MSIP_Label_48141450-2387-4aca-b41f-19cd6be9dd3c_Method">
    <vt:lpwstr>Standard</vt:lpwstr>
  </property>
  <property fmtid="{D5CDD505-2E9C-101B-9397-08002B2CF9AE}" pid="6" name="MSIP_Label_48141450-2387-4aca-b41f-19cd6be9dd3c_Name">
    <vt:lpwstr>Restricted_Unprotected</vt:lpwstr>
  </property>
  <property fmtid="{D5CDD505-2E9C-101B-9397-08002B2CF9AE}" pid="7" name="MSIP_Label_48141450-2387-4aca-b41f-19cd6be9dd3c_SiteId">
    <vt:lpwstr>adf10e2b-b6e9-41d6-be2f-c12bb566019c</vt:lpwstr>
  </property>
  <property fmtid="{D5CDD505-2E9C-101B-9397-08002B2CF9AE}" pid="8" name="MSIP_Label_48141450-2387-4aca-b41f-19cd6be9dd3c_ActionId">
    <vt:lpwstr>2ebed701-3566-4ac7-9aa9-92359fcb4805</vt:lpwstr>
  </property>
  <property fmtid="{D5CDD505-2E9C-101B-9397-08002B2CF9AE}" pid="9" name="MSIP_Label_48141450-2387-4aca-b41f-19cd6be9dd3c_ContentBits">
    <vt:lpwstr>0</vt:lpwstr>
  </property>
  <property fmtid="{D5CDD505-2E9C-101B-9397-08002B2CF9AE}" pid="10" name="MSIP_Label_48141450-2387-4aca-b41f-19cd6be9dd3c_Tag">
    <vt:lpwstr>10, 3, 0, 1</vt:lpwstr>
  </property>
</Properties>
</file>