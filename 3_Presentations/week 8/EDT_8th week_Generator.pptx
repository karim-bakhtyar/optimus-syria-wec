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7" r:id="rId1"/>
    <p:sldMasterId id="2147483725" r:id="rId2"/>
  </p:sldMasterIdLst>
  <p:notesMasterIdLst>
    <p:notesMasterId r:id="rId13"/>
  </p:notesMasterIdLst>
  <p:handoutMasterIdLst>
    <p:handoutMasterId r:id="rId14"/>
  </p:handoutMasterIdLst>
  <p:sldIdLst>
    <p:sldId id="263" r:id="rId3"/>
    <p:sldId id="259" r:id="rId4"/>
    <p:sldId id="302" r:id="rId5"/>
    <p:sldId id="298" r:id="rId6"/>
    <p:sldId id="299" r:id="rId7"/>
    <p:sldId id="300" r:id="rId8"/>
    <p:sldId id="301" r:id="rId9"/>
    <p:sldId id="303" r:id="rId10"/>
    <p:sldId id="272" r:id="rId11"/>
    <p:sldId id="26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irst slide" id="{EBA04D78-D1FF-49F4-BDD6-03EE135E606E}">
          <p14:sldIdLst>
            <p14:sldId id="263"/>
          </p14:sldIdLst>
        </p14:section>
        <p14:section name="List of contents" id="{65043596-36B7-4360-BB5C-7A99EFAEC5C9}">
          <p14:sldIdLst>
            <p14:sldId id="259"/>
            <p14:sldId id="302"/>
            <p14:sldId id="298"/>
            <p14:sldId id="299"/>
            <p14:sldId id="300"/>
            <p14:sldId id="301"/>
            <p14:sldId id="303"/>
          </p14:sldIdLst>
        </p14:section>
        <p14:section name="Next Step" id="{B26F6679-C236-4D3D-BC2F-CAE5ED400718}">
          <p14:sldIdLst>
            <p14:sldId id="272"/>
          </p14:sldIdLst>
        </p14:section>
        <p14:section name="bibliography" id="{2ECB0A3B-7D16-4F98-AD6A-5308DF7BF078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8ECEFA"/>
    <a:srgbClr val="92C6E6"/>
    <a:srgbClr val="80D2F7"/>
    <a:srgbClr val="7ED1F7"/>
    <a:srgbClr val="A1DFFD"/>
    <a:srgbClr val="C0F5FF"/>
    <a:srgbClr val="3C96FA"/>
    <a:srgbClr val="BDE5F9"/>
    <a:srgbClr val="C1E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F6211F-E38B-4727-AE79-FB91BF2730C7}" v="5" dt="2025-11-15T17:50:56.28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28" autoAdjust="0"/>
    <p:restoredTop sz="94648"/>
  </p:normalViewPr>
  <p:slideViewPr>
    <p:cSldViewPr snapToGrid="0">
      <p:cViewPr>
        <p:scale>
          <a:sx n="66" d="100"/>
          <a:sy n="66" d="100"/>
        </p:scale>
        <p:origin x="1080" y="6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microsoft.com/office/2016/11/relationships/changesInfo" Target="changesInfos/changesInfo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ristina Vergara" userId="2ca01a0e-ac9d-4d2f-8a49-614de77d2bf5" providerId="ADAL" clId="{96CBA73D-C366-46D3-ACAE-9128C05887B7}"/>
    <pc:docChg chg="undo custSel modSld">
      <pc:chgData name="Cristina Vergara" userId="2ca01a0e-ac9d-4d2f-8a49-614de77d2bf5" providerId="ADAL" clId="{96CBA73D-C366-46D3-ACAE-9128C05887B7}" dt="2025-11-15T17:52:22.685" v="93" actId="20577"/>
      <pc:docMkLst>
        <pc:docMk/>
      </pc:docMkLst>
      <pc:sldChg chg="modSp mod">
        <pc:chgData name="Cristina Vergara" userId="2ca01a0e-ac9d-4d2f-8a49-614de77d2bf5" providerId="ADAL" clId="{96CBA73D-C366-46D3-ACAE-9128C05887B7}" dt="2025-11-15T17:52:17.814" v="89" actId="20577"/>
        <pc:sldMkLst>
          <pc:docMk/>
          <pc:sldMk cId="1106553756" sldId="259"/>
        </pc:sldMkLst>
        <pc:spChg chg="mod">
          <ac:chgData name="Cristina Vergara" userId="2ca01a0e-ac9d-4d2f-8a49-614de77d2bf5" providerId="ADAL" clId="{96CBA73D-C366-46D3-ACAE-9128C05887B7}" dt="2025-11-15T17:52:17.814" v="89" actId="20577"/>
          <ac:spMkLst>
            <pc:docMk/>
            <pc:sldMk cId="1106553756" sldId="259"/>
            <ac:spMk id="4" creationId="{5B56400E-FF4C-7F4E-6257-267CD3B18567}"/>
          </ac:spMkLst>
        </pc:spChg>
      </pc:sldChg>
      <pc:sldChg chg="modSp mod">
        <pc:chgData name="Cristina Vergara" userId="2ca01a0e-ac9d-4d2f-8a49-614de77d2bf5" providerId="ADAL" clId="{96CBA73D-C366-46D3-ACAE-9128C05887B7}" dt="2025-11-15T17:52:22.685" v="93" actId="20577"/>
        <pc:sldMkLst>
          <pc:docMk/>
          <pc:sldMk cId="1493159916" sldId="263"/>
        </pc:sldMkLst>
        <pc:spChg chg="mod">
          <ac:chgData name="Cristina Vergara" userId="2ca01a0e-ac9d-4d2f-8a49-614de77d2bf5" providerId="ADAL" clId="{96CBA73D-C366-46D3-ACAE-9128C05887B7}" dt="2025-11-15T17:52:22.685" v="93" actId="20577"/>
          <ac:spMkLst>
            <pc:docMk/>
            <pc:sldMk cId="1493159916" sldId="263"/>
            <ac:spMk id="4" creationId="{06BE6549-3E86-5AE5-9E5E-148C592FC8CE}"/>
          </ac:spMkLst>
        </pc:spChg>
      </pc:sldChg>
      <pc:sldChg chg="addSp delSp modSp mod">
        <pc:chgData name="Cristina Vergara" userId="2ca01a0e-ac9d-4d2f-8a49-614de77d2bf5" providerId="ADAL" clId="{96CBA73D-C366-46D3-ACAE-9128C05887B7}" dt="2025-11-15T17:51:10.975" v="39" actId="20577"/>
        <pc:sldMkLst>
          <pc:docMk/>
          <pc:sldMk cId="40729671" sldId="269"/>
        </pc:sldMkLst>
        <pc:spChg chg="add mod">
          <ac:chgData name="Cristina Vergara" userId="2ca01a0e-ac9d-4d2f-8a49-614de77d2bf5" providerId="ADAL" clId="{96CBA73D-C366-46D3-ACAE-9128C05887B7}" dt="2025-11-15T17:50:47.082" v="2"/>
          <ac:spMkLst>
            <pc:docMk/>
            <pc:sldMk cId="40729671" sldId="269"/>
            <ac:spMk id="3" creationId="{1FA9B441-3B71-70A2-34CD-5F5FF617C57F}"/>
          </ac:spMkLst>
        </pc:spChg>
        <pc:spChg chg="add mod">
          <ac:chgData name="Cristina Vergara" userId="2ca01a0e-ac9d-4d2f-8a49-614de77d2bf5" providerId="ADAL" clId="{96CBA73D-C366-46D3-ACAE-9128C05887B7}" dt="2025-11-15T17:50:56.283" v="5"/>
          <ac:spMkLst>
            <pc:docMk/>
            <pc:sldMk cId="40729671" sldId="269"/>
            <ac:spMk id="4" creationId="{75337407-2A83-5C6F-87A9-5721F782BBD1}"/>
          </ac:spMkLst>
        </pc:spChg>
        <pc:spChg chg="mod">
          <ac:chgData name="Cristina Vergara" userId="2ca01a0e-ac9d-4d2f-8a49-614de77d2bf5" providerId="ADAL" clId="{96CBA73D-C366-46D3-ACAE-9128C05887B7}" dt="2025-11-15T17:51:10.975" v="39" actId="20577"/>
          <ac:spMkLst>
            <pc:docMk/>
            <pc:sldMk cId="40729671" sldId="269"/>
            <ac:spMk id="9" creationId="{41C0995E-FEBD-077C-14BB-63CEFB257421}"/>
          </ac:spMkLst>
        </pc:spChg>
        <pc:spChg chg="add del mod">
          <ac:chgData name="Cristina Vergara" userId="2ca01a0e-ac9d-4d2f-8a49-614de77d2bf5" providerId="ADAL" clId="{96CBA73D-C366-46D3-ACAE-9128C05887B7}" dt="2025-11-15T17:51:07.011" v="37" actId="20577"/>
          <ac:spMkLst>
            <pc:docMk/>
            <pc:sldMk cId="40729671" sldId="269"/>
            <ac:spMk id="11" creationId="{623B4881-1EC5-EE56-191B-9370A1E6C82D}"/>
          </ac:spMkLst>
        </pc:spChg>
      </pc:sldChg>
      <pc:sldChg chg="modSp mod">
        <pc:chgData name="Cristina Vergara" userId="2ca01a0e-ac9d-4d2f-8a49-614de77d2bf5" providerId="ADAL" clId="{96CBA73D-C366-46D3-ACAE-9128C05887B7}" dt="2025-11-15T17:51:15.366" v="41" actId="20577"/>
        <pc:sldMkLst>
          <pc:docMk/>
          <pc:sldMk cId="273071422" sldId="272"/>
        </pc:sldMkLst>
        <pc:spChg chg="mod">
          <ac:chgData name="Cristina Vergara" userId="2ca01a0e-ac9d-4d2f-8a49-614de77d2bf5" providerId="ADAL" clId="{96CBA73D-C366-46D3-ACAE-9128C05887B7}" dt="2025-11-15T17:51:15.366" v="41" actId="20577"/>
          <ac:spMkLst>
            <pc:docMk/>
            <pc:sldMk cId="273071422" sldId="272"/>
            <ac:spMk id="2" creationId="{8AEE8DB0-9841-5964-5327-D15E924DD505}"/>
          </ac:spMkLst>
        </pc:spChg>
      </pc:sldChg>
      <pc:sldChg chg="modSp mod">
        <pc:chgData name="Cristina Vergara" userId="2ca01a0e-ac9d-4d2f-8a49-614de77d2bf5" providerId="ADAL" clId="{96CBA73D-C366-46D3-ACAE-9128C05887B7}" dt="2025-11-15T17:52:06.496" v="81" actId="20577"/>
        <pc:sldMkLst>
          <pc:docMk/>
          <pc:sldMk cId="2843283829" sldId="298"/>
        </pc:sldMkLst>
        <pc:spChg chg="mod">
          <ac:chgData name="Cristina Vergara" userId="2ca01a0e-ac9d-4d2f-8a49-614de77d2bf5" providerId="ADAL" clId="{96CBA73D-C366-46D3-ACAE-9128C05887B7}" dt="2025-11-15T17:52:06.496" v="81" actId="20577"/>
          <ac:spMkLst>
            <pc:docMk/>
            <pc:sldMk cId="2843283829" sldId="298"/>
            <ac:spMk id="4" creationId="{3C44056D-37C7-6B43-578B-D45D99E376E7}"/>
          </ac:spMkLst>
        </pc:spChg>
      </pc:sldChg>
      <pc:sldChg chg="modSp mod">
        <pc:chgData name="Cristina Vergara" userId="2ca01a0e-ac9d-4d2f-8a49-614de77d2bf5" providerId="ADAL" clId="{96CBA73D-C366-46D3-ACAE-9128C05887B7}" dt="2025-11-15T17:51:58.100" v="71" actId="20577"/>
        <pc:sldMkLst>
          <pc:docMk/>
          <pc:sldMk cId="392105073" sldId="299"/>
        </pc:sldMkLst>
        <pc:spChg chg="mod">
          <ac:chgData name="Cristina Vergara" userId="2ca01a0e-ac9d-4d2f-8a49-614de77d2bf5" providerId="ADAL" clId="{96CBA73D-C366-46D3-ACAE-9128C05887B7}" dt="2025-11-15T17:51:58.100" v="71" actId="20577"/>
          <ac:spMkLst>
            <pc:docMk/>
            <pc:sldMk cId="392105073" sldId="299"/>
            <ac:spMk id="4" creationId="{FDF7AF05-68C7-2428-656A-7669441AFFA4}"/>
          </ac:spMkLst>
        </pc:spChg>
      </pc:sldChg>
      <pc:sldChg chg="modSp mod">
        <pc:chgData name="Cristina Vergara" userId="2ca01a0e-ac9d-4d2f-8a49-614de77d2bf5" providerId="ADAL" clId="{96CBA73D-C366-46D3-ACAE-9128C05887B7}" dt="2025-11-15T17:51:44.010" v="65" actId="20577"/>
        <pc:sldMkLst>
          <pc:docMk/>
          <pc:sldMk cId="413979900" sldId="300"/>
        </pc:sldMkLst>
        <pc:spChg chg="mod">
          <ac:chgData name="Cristina Vergara" userId="2ca01a0e-ac9d-4d2f-8a49-614de77d2bf5" providerId="ADAL" clId="{96CBA73D-C366-46D3-ACAE-9128C05887B7}" dt="2025-11-15T17:51:44.010" v="65" actId="20577"/>
          <ac:spMkLst>
            <pc:docMk/>
            <pc:sldMk cId="413979900" sldId="300"/>
            <ac:spMk id="4" creationId="{25829A2A-5B21-83DD-3259-DBE35ABFEF28}"/>
          </ac:spMkLst>
        </pc:spChg>
      </pc:sldChg>
      <pc:sldChg chg="modSp mod">
        <pc:chgData name="Cristina Vergara" userId="2ca01a0e-ac9d-4d2f-8a49-614de77d2bf5" providerId="ADAL" clId="{96CBA73D-C366-46D3-ACAE-9128C05887B7}" dt="2025-11-15T17:51:37.835" v="59" actId="20577"/>
        <pc:sldMkLst>
          <pc:docMk/>
          <pc:sldMk cId="953828342" sldId="301"/>
        </pc:sldMkLst>
        <pc:spChg chg="mod">
          <ac:chgData name="Cristina Vergara" userId="2ca01a0e-ac9d-4d2f-8a49-614de77d2bf5" providerId="ADAL" clId="{96CBA73D-C366-46D3-ACAE-9128C05887B7}" dt="2025-11-15T17:51:37.835" v="59" actId="20577"/>
          <ac:spMkLst>
            <pc:docMk/>
            <pc:sldMk cId="953828342" sldId="301"/>
            <ac:spMk id="4" creationId="{93B9200D-5FA7-47D0-E9EF-67750D33197B}"/>
          </ac:spMkLst>
        </pc:spChg>
      </pc:sldChg>
      <pc:sldChg chg="modSp mod">
        <pc:chgData name="Cristina Vergara" userId="2ca01a0e-ac9d-4d2f-8a49-614de77d2bf5" providerId="ADAL" clId="{96CBA73D-C366-46D3-ACAE-9128C05887B7}" dt="2025-11-15T17:52:12.103" v="85" actId="20577"/>
        <pc:sldMkLst>
          <pc:docMk/>
          <pc:sldMk cId="2205816345" sldId="302"/>
        </pc:sldMkLst>
        <pc:spChg chg="mod">
          <ac:chgData name="Cristina Vergara" userId="2ca01a0e-ac9d-4d2f-8a49-614de77d2bf5" providerId="ADAL" clId="{96CBA73D-C366-46D3-ACAE-9128C05887B7}" dt="2025-11-15T17:52:12.103" v="85" actId="20577"/>
          <ac:spMkLst>
            <pc:docMk/>
            <pc:sldMk cId="2205816345" sldId="302"/>
            <ac:spMk id="4" creationId="{091109B6-7DFF-3074-447B-5B87A635DC2B}"/>
          </ac:spMkLst>
        </pc:spChg>
      </pc:sldChg>
      <pc:sldChg chg="addSp delSp modSp mod">
        <pc:chgData name="Cristina Vergara" userId="2ca01a0e-ac9d-4d2f-8a49-614de77d2bf5" providerId="ADAL" clId="{96CBA73D-C366-46D3-ACAE-9128C05887B7}" dt="2025-11-15T17:51:27.667" v="53" actId="20577"/>
        <pc:sldMkLst>
          <pc:docMk/>
          <pc:sldMk cId="2809174407" sldId="303"/>
        </pc:sldMkLst>
        <pc:spChg chg="mod">
          <ac:chgData name="Cristina Vergara" userId="2ca01a0e-ac9d-4d2f-8a49-614de77d2bf5" providerId="ADAL" clId="{96CBA73D-C366-46D3-ACAE-9128C05887B7}" dt="2025-11-15T17:51:27.667" v="53" actId="20577"/>
          <ac:spMkLst>
            <pc:docMk/>
            <pc:sldMk cId="2809174407" sldId="303"/>
            <ac:spMk id="4" creationId="{397E19D1-43A9-6029-36E6-4B8D174E71EC}"/>
          </ac:spMkLst>
        </pc:spChg>
        <pc:spChg chg="del">
          <ac:chgData name="Cristina Vergara" userId="2ca01a0e-ac9d-4d2f-8a49-614de77d2bf5" providerId="ADAL" clId="{96CBA73D-C366-46D3-ACAE-9128C05887B7}" dt="2025-11-15T17:50:38.433" v="0"/>
          <ac:spMkLst>
            <pc:docMk/>
            <pc:sldMk cId="2809174407" sldId="303"/>
            <ac:spMk id="7" creationId="{3BDA0829-3683-4602-B072-34E40CC5DFC4}"/>
          </ac:spMkLst>
        </pc:spChg>
        <pc:spChg chg="add mod">
          <ac:chgData name="Cristina Vergara" userId="2ca01a0e-ac9d-4d2f-8a49-614de77d2bf5" providerId="ADAL" clId="{96CBA73D-C366-46D3-ACAE-9128C05887B7}" dt="2025-11-15T17:50:38.433" v="0"/>
          <ac:spMkLst>
            <pc:docMk/>
            <pc:sldMk cId="2809174407" sldId="303"/>
            <ac:spMk id="8" creationId="{1DD7BFCC-80C2-ECA2-1D8D-D11B35477C89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F984966E-98CC-6A78-1424-04B6E1F2673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153D721-EFB9-BC0E-1DC1-4F7A40F3125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753E7D-EEC7-43DF-AF05-49FE1E0C7B25}" type="datetimeFigureOut">
              <a:rPr lang="de-DE" smtClean="0"/>
              <a:t>16.11.2025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7BF23EC-0BC1-545E-D00A-3466D80002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de-DE"/>
              <a:t>Aiswarya Vijayan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716600C-B63A-8960-82FD-8DC4BB46C81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1B05C7-DCB9-437C-9E32-70E81341534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95097842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52B7C8-164C-4140-932B-122F288D33CD}" type="datetimeFigureOut">
              <a:rPr lang="en-GB" smtClean="0"/>
              <a:t>16/11/2025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GB"/>
              <a:t>Aiswarya Vijayan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3327E-A3FE-4279-B080-AD6DAF9EDC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5679127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4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Aptos" charset="0"/>
                <a:ea typeface="等线" charset="0"/>
                <a:cs typeface="Aptos" charset="0"/>
              </a:rPr>
              <a:t>10</a:t>
            </a:fld>
            <a:endParaRPr lang="zh-CN" altLang="en-US" sz="1200">
              <a:latin typeface="Aptos" charset="0"/>
              <a:ea typeface="等线" charset="0"/>
              <a:cs typeface="Aptos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E49688-41AC-DE61-6A14-1E1D413817D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GB"/>
              <a:t>Aiswarya Vijayan</a:t>
            </a:r>
          </a:p>
        </p:txBody>
      </p:sp>
    </p:spTree>
    <p:extLst>
      <p:ext uri="{BB962C8B-B14F-4D97-AF65-F5344CB8AC3E}">
        <p14:creationId xmlns:p14="http://schemas.microsoft.com/office/powerpoint/2010/main" val="18866199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ybib.com/tools/ieee-citation-generator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ybib.com/tools/ieee-citation-generator" TargetMode="Externa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slide 1">
    <p:bg>
      <p:bgPr>
        <a:blipFill dpi="0" rotWithShape="1">
          <a:blip r:embed="rId2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7E6E28C-7B17-1432-D698-5D8867EE337B}"/>
              </a:ext>
            </a:extLst>
          </p:cNvPr>
          <p:cNvSpPr txBox="1">
            <a:spLocks/>
          </p:cNvSpPr>
          <p:nvPr/>
        </p:nvSpPr>
        <p:spPr>
          <a:xfrm>
            <a:off x="1412841" y="2281143"/>
            <a:ext cx="9144000" cy="9125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6600" b="1" i="0" u="none" strike="noStrike" kern="1200" cap="none" spc="0" normalizeH="0" baseline="0" noProof="0">
                <a:ln/>
                <a:solidFill>
                  <a:srgbClr val="15608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Optimus Syria</a:t>
            </a:r>
            <a:endParaRPr kumimoji="0" lang="en-GB" sz="6600" b="1" i="0" u="none" strike="noStrike" kern="1200" cap="none" spc="0" normalizeH="0" baseline="0" noProof="0">
              <a:ln/>
              <a:solidFill>
                <a:srgbClr val="156082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9" name="Picture 8" descr="Hochschule Flensburg (Fachhochschule) – Wikipedia">
            <a:extLst>
              <a:ext uri="{FF2B5EF4-FFF2-40B4-BE49-F238E27FC236}">
                <a16:creationId xmlns:a16="http://schemas.microsoft.com/office/drawing/2014/main" id="{A98E8D30-71DB-C779-1E77-2B8D1F3246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77870" y="80932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7FC9E882-BB5D-1CC3-9AD4-1ADE555B83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5999" y="33018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3EFF5A11-92DF-BC35-55CA-EECA202C55B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671"/>
          <a:stretch/>
        </p:blipFill>
        <p:spPr>
          <a:xfrm>
            <a:off x="135741" y="211147"/>
            <a:ext cx="3179298" cy="154190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Picture 6">
            <a:extLst>
              <a:ext uri="{FF2B5EF4-FFF2-40B4-BE49-F238E27FC236}">
                <a16:creationId xmlns:a16="http://schemas.microsoft.com/office/drawing/2014/main" id="{D0057AC6-E958-18E0-BF43-7A806C66C90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029" y="191498"/>
            <a:ext cx="2355285" cy="215005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8" name="Free-form: Shape 13">
            <a:extLst>
              <a:ext uri="{FF2B5EF4-FFF2-40B4-BE49-F238E27FC236}">
                <a16:creationId xmlns:a16="http://schemas.microsoft.com/office/drawing/2014/main" id="{233C0D9D-B26B-1DCE-8493-626ABDD067F7}"/>
              </a:ext>
            </a:extLst>
          </p:cNvPr>
          <p:cNvSpPr/>
          <p:nvPr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Free-form: Shape 13">
            <a:extLst>
              <a:ext uri="{FF2B5EF4-FFF2-40B4-BE49-F238E27FC236}">
                <a16:creationId xmlns:a16="http://schemas.microsoft.com/office/drawing/2014/main" id="{95CC7C89-8F0E-07BF-6D89-44A0358FDFC8}"/>
              </a:ext>
            </a:extLst>
          </p:cNvPr>
          <p:cNvSpPr/>
          <p:nvPr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Free-form: Shape 13">
            <a:extLst>
              <a:ext uri="{FF2B5EF4-FFF2-40B4-BE49-F238E27FC236}">
                <a16:creationId xmlns:a16="http://schemas.microsoft.com/office/drawing/2014/main" id="{4FB94905-8FF2-701D-A980-9368DF7EB04F}"/>
              </a:ext>
            </a:extLst>
          </p:cNvPr>
          <p:cNvSpPr/>
          <p:nvPr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62B0D505-239D-592F-D28C-2537FD6A64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92399" y="4130862"/>
            <a:ext cx="3822700" cy="164669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1st Week Kick Off Presentation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Date: </a:t>
            </a:r>
            <a:r>
              <a:rPr kumimoji="0" lang="it-IT" sz="1800" b="0" i="0" u="none" strike="noStrike" kern="1200" cap="none" spc="0" normalizeH="0" baseline="0" noProof="0" err="1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</a:t>
            </a: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202X</a:t>
            </a:r>
          </a:p>
          <a:p>
            <a:pPr lvl="4"/>
            <a:endParaRPr lang="de-DE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64AB9256-03E9-9046-0C0F-540CE5905E92}"/>
              </a:ext>
            </a:extLst>
          </p:cNvPr>
          <p:cNvSpPr/>
          <p:nvPr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9BDED722-8EE5-8B7F-02CA-CF3939A785C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608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oup starting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-form: Shape 13">
            <a:extLst>
              <a:ext uri="{FF2B5EF4-FFF2-40B4-BE49-F238E27FC236}">
                <a16:creationId xmlns:a16="http://schemas.microsoft.com/office/drawing/2014/main" id="{006CCD24-9C06-8926-5E3D-FFE059D5F3D2}"/>
              </a:ext>
            </a:extLst>
          </p:cNvPr>
          <p:cNvSpPr/>
          <p:nvPr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-form: Shape 13">
            <a:extLst>
              <a:ext uri="{FF2B5EF4-FFF2-40B4-BE49-F238E27FC236}">
                <a16:creationId xmlns:a16="http://schemas.microsoft.com/office/drawing/2014/main" id="{1157507C-DF41-F2F7-53B7-B0DC0D568F3B}"/>
              </a:ext>
            </a:extLst>
          </p:cNvPr>
          <p:cNvSpPr/>
          <p:nvPr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Free-form: Shape 13">
            <a:extLst>
              <a:ext uri="{FF2B5EF4-FFF2-40B4-BE49-F238E27FC236}">
                <a16:creationId xmlns:a16="http://schemas.microsoft.com/office/drawing/2014/main" id="{94DF4395-7D7A-F380-6320-D9BE1ED1DA6D}"/>
              </a:ext>
            </a:extLst>
          </p:cNvPr>
          <p:cNvSpPr/>
          <p:nvPr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7" name="Picture 8" descr="Hochschule Flensburg (Fachhochschule) – Wikipedia">
            <a:extLst>
              <a:ext uri="{FF2B5EF4-FFF2-40B4-BE49-F238E27FC236}">
                <a16:creationId xmlns:a16="http://schemas.microsoft.com/office/drawing/2014/main" id="{811EE0A2-7B7B-66E3-65D6-A7F1D9F14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88A3D22E-A6EF-A83A-86D5-C96D877CA4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427A8DB5-3232-D63A-5CDF-0D3AD6450C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00FE6863-2F47-99AC-390A-A1BB2D1DD0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12841" y="2206093"/>
            <a:ext cx="9144000" cy="912598"/>
          </a:xfrm>
        </p:spPr>
        <p:txBody>
          <a:bodyPr>
            <a:noAutofit/>
          </a:bodyPr>
          <a:lstStyle>
            <a:lvl1pPr algn="ctr">
              <a:defRPr>
                <a:latin typeface="Aptos (Textkörper)"/>
              </a:defRPr>
            </a:lvl1pPr>
          </a:lstStyle>
          <a:p>
            <a:r>
              <a:rPr lang="it-IT" sz="4000"/>
              <a:t>Weekly report: Team X</a:t>
            </a:r>
            <a:endParaRPr lang="en-GB" sz="4000"/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05E4BCC5-2CED-6F6C-22B8-AF74FB7ECFF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12841" y="3429000"/>
            <a:ext cx="9144000" cy="11430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ctr">
              <a:buNone/>
              <a:defRPr sz="1400">
                <a:latin typeface="Aptos (Textkörper)"/>
              </a:defRPr>
            </a:lvl1pPr>
          </a:lstStyle>
          <a:p>
            <a:r>
              <a:rPr lang="it-IT" sz="2000"/>
              <a:t>Week </a:t>
            </a:r>
            <a:r>
              <a:rPr lang="it-IT" sz="2000" err="1"/>
              <a:t>number</a:t>
            </a:r>
            <a:r>
              <a:rPr lang="it-IT" sz="2000"/>
              <a:t>: X</a:t>
            </a:r>
          </a:p>
          <a:p>
            <a:r>
              <a:rPr lang="it-IT" sz="2000"/>
              <a:t>Date: DD/MM/20JJ</a:t>
            </a:r>
          </a:p>
          <a:p>
            <a:r>
              <a:rPr lang="it-IT" sz="2000"/>
              <a:t>Supervisor: X</a:t>
            </a:r>
          </a:p>
        </p:txBody>
      </p:sp>
      <p:sp>
        <p:nvSpPr>
          <p:cNvPr id="33" name="Isosceles Triangle 6">
            <a:extLst>
              <a:ext uri="{FF2B5EF4-FFF2-40B4-BE49-F238E27FC236}">
                <a16:creationId xmlns:a16="http://schemas.microsoft.com/office/drawing/2014/main" id="{8F14EFAA-BA4A-16CF-D530-1409613BCF5B}"/>
              </a:ext>
            </a:extLst>
          </p:cNvPr>
          <p:cNvSpPr/>
          <p:nvPr/>
        </p:nvSpPr>
        <p:spPr>
          <a:xfrm>
            <a:off x="1412841" y="3797919"/>
            <a:ext cx="1380683" cy="886192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Rectangle 7">
            <a:extLst>
              <a:ext uri="{FF2B5EF4-FFF2-40B4-BE49-F238E27FC236}">
                <a16:creationId xmlns:a16="http://schemas.microsoft.com/office/drawing/2014/main" id="{8CE1E011-6342-172C-03D6-BB39C24A4CCA}"/>
              </a:ext>
            </a:extLst>
          </p:cNvPr>
          <p:cNvSpPr/>
          <p:nvPr/>
        </p:nvSpPr>
        <p:spPr>
          <a:xfrm>
            <a:off x="354584" y="4714776"/>
            <a:ext cx="3512337" cy="95079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/>
              <a:t>First slide for groups</a:t>
            </a:r>
            <a:endParaRPr lang="en-GB"/>
          </a:p>
        </p:txBody>
      </p:sp>
      <p:sp>
        <p:nvSpPr>
          <p:cNvPr id="35" name="Rectangle 11">
            <a:extLst>
              <a:ext uri="{FF2B5EF4-FFF2-40B4-BE49-F238E27FC236}">
                <a16:creationId xmlns:a16="http://schemas.microsoft.com/office/drawing/2014/main" id="{6845F127-8728-66DF-03BE-17119A20BE05}"/>
              </a:ext>
            </a:extLst>
          </p:cNvPr>
          <p:cNvSpPr/>
          <p:nvPr/>
        </p:nvSpPr>
        <p:spPr>
          <a:xfrm>
            <a:off x="1860787" y="3750629"/>
            <a:ext cx="484789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C16AED5E-219C-C34B-7790-17DE2532E623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3316826" y="4882309"/>
            <a:ext cx="5128821" cy="331717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latin typeface="Aptos (Textkörper)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: 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64DF9F8D-C604-6899-2A9F-B743F135F77F}"/>
              </a:ext>
            </a:extLst>
          </p:cNvPr>
          <p:cNvSpPr/>
          <p:nvPr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6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B8218494-1E39-5AB1-96DD-936404956E5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5" name="Rectangle 7">
            <a:extLst>
              <a:ext uri="{FF2B5EF4-FFF2-40B4-BE49-F238E27FC236}">
                <a16:creationId xmlns:a16="http://schemas.microsoft.com/office/drawing/2014/main" id="{CA471AD5-5F65-3AF9-9ABB-E6F7475B2672}"/>
              </a:ext>
            </a:extLst>
          </p:cNvPr>
          <p:cNvSpPr/>
          <p:nvPr/>
        </p:nvSpPr>
        <p:spPr>
          <a:xfrm>
            <a:off x="8606553" y="4043001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err="1"/>
              <a:t>This</a:t>
            </a:r>
            <a:r>
              <a:rPr lang="it-IT"/>
              <a:t> slide </a:t>
            </a:r>
            <a:r>
              <a:rPr lang="it-IT" err="1"/>
              <a:t>is</a:t>
            </a:r>
            <a:r>
              <a:rPr lang="it-IT"/>
              <a:t> </a:t>
            </a:r>
            <a:r>
              <a:rPr lang="it-IT" err="1"/>
              <a:t>only</a:t>
            </a:r>
            <a:r>
              <a:rPr lang="it-IT"/>
              <a:t> for </a:t>
            </a:r>
            <a:r>
              <a:rPr lang="it-IT" err="1"/>
              <a:t>explanation</a:t>
            </a:r>
            <a:r>
              <a:rPr lang="it-IT"/>
              <a:t>, </a:t>
            </a:r>
            <a:r>
              <a:rPr lang="it-IT" err="1"/>
              <a:t>dont´t</a:t>
            </a:r>
            <a:r>
              <a:rPr lang="it-IT"/>
              <a:t> use </a:t>
            </a:r>
            <a:r>
              <a:rPr lang="it-IT" err="1"/>
              <a:t>it!</a:t>
            </a:r>
            <a:endParaRPr lang="en-GB"/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92481298-4C0F-EA65-5B6C-A8C69906505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10/21/2025</a:t>
            </a:r>
            <a:endParaRPr lang="en-GB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FE2B40EC-630A-E9C4-E03F-6B44073220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B363FCB4-D064-121D-B878-2F160740580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6182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oup start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-form: Shape 13">
            <a:extLst>
              <a:ext uri="{FF2B5EF4-FFF2-40B4-BE49-F238E27FC236}">
                <a16:creationId xmlns:a16="http://schemas.microsoft.com/office/drawing/2014/main" id="{006CCD24-9C06-8926-5E3D-FFE059D5F3D2}"/>
              </a:ext>
            </a:extLst>
          </p:cNvPr>
          <p:cNvSpPr/>
          <p:nvPr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-form: Shape 13">
            <a:extLst>
              <a:ext uri="{FF2B5EF4-FFF2-40B4-BE49-F238E27FC236}">
                <a16:creationId xmlns:a16="http://schemas.microsoft.com/office/drawing/2014/main" id="{1157507C-DF41-F2F7-53B7-B0DC0D568F3B}"/>
              </a:ext>
            </a:extLst>
          </p:cNvPr>
          <p:cNvSpPr/>
          <p:nvPr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Free-form: Shape 13">
            <a:extLst>
              <a:ext uri="{FF2B5EF4-FFF2-40B4-BE49-F238E27FC236}">
                <a16:creationId xmlns:a16="http://schemas.microsoft.com/office/drawing/2014/main" id="{94DF4395-7D7A-F380-6320-D9BE1ED1DA6D}"/>
              </a:ext>
            </a:extLst>
          </p:cNvPr>
          <p:cNvSpPr/>
          <p:nvPr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7" name="Picture 8" descr="Hochschule Flensburg (Fachhochschule) – Wikipedia">
            <a:extLst>
              <a:ext uri="{FF2B5EF4-FFF2-40B4-BE49-F238E27FC236}">
                <a16:creationId xmlns:a16="http://schemas.microsoft.com/office/drawing/2014/main" id="{811EE0A2-7B7B-66E3-65D6-A7F1D9F14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88A3D22E-A6EF-A83A-86D5-C96D877CA4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427A8DB5-3232-D63A-5CDF-0D3AD6450C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00FE6863-2F47-99AC-390A-A1BB2D1DD0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12841" y="2206093"/>
            <a:ext cx="9144000" cy="912598"/>
          </a:xfrm>
        </p:spPr>
        <p:txBody>
          <a:bodyPr>
            <a:noAutofit/>
          </a:bodyPr>
          <a:lstStyle>
            <a:lvl1pPr algn="ctr">
              <a:defRPr>
                <a:latin typeface="Aptos (Textkörper)"/>
              </a:defRPr>
            </a:lvl1pPr>
          </a:lstStyle>
          <a:p>
            <a:r>
              <a:rPr lang="it-IT" sz="4000"/>
              <a:t>Weekly report: Team X</a:t>
            </a:r>
            <a:endParaRPr lang="en-GB" sz="4000"/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05E4BCC5-2CED-6F6C-22B8-AF74FB7ECFF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ubTitle" idx="1" hasCustomPrompt="1"/>
          </p:nvPr>
        </p:nvSpPr>
        <p:spPr>
          <a:xfrm>
            <a:off x="1412841" y="3429000"/>
            <a:ext cx="9144000" cy="11430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ctr">
              <a:buNone/>
              <a:defRPr sz="1400">
                <a:latin typeface="Aptos (Textkörper)"/>
              </a:defRPr>
            </a:lvl1pPr>
          </a:lstStyle>
          <a:p>
            <a:r>
              <a:rPr lang="it-IT" sz="2000"/>
              <a:t>Week </a:t>
            </a:r>
            <a:r>
              <a:rPr lang="it-IT" sz="2000" err="1"/>
              <a:t>number</a:t>
            </a:r>
            <a:r>
              <a:rPr lang="it-IT" sz="2000"/>
              <a:t>: X</a:t>
            </a:r>
          </a:p>
          <a:p>
            <a:r>
              <a:rPr lang="it-IT" sz="2000"/>
              <a:t>Date: DD/MM/20JJ</a:t>
            </a:r>
          </a:p>
          <a:p>
            <a:r>
              <a:rPr lang="it-IT" sz="2000"/>
              <a:t>Supervisor: X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5588F89-BF05-8BCF-9834-AE05DA2404B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idx="10" hasCustomPrompt="1"/>
          </p:nvPr>
        </p:nvSpPr>
        <p:spPr>
          <a:xfrm>
            <a:off x="3316826" y="4882309"/>
            <a:ext cx="5128821" cy="331717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latin typeface="Aptos (Textkörper)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: 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83077A87-075C-C9F1-CF08-7A350F77E612}"/>
              </a:ext>
            </a:extLst>
          </p:cNvPr>
          <p:cNvSpPr/>
          <p:nvPr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6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B8218494-1E39-5AB1-96DD-936404956E5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B3C889B-2F55-2C2F-122E-E89ABE6A2D9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10/21/2025</a:t>
            </a:r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2877DC7-CA1E-181B-77C7-99C60829ED5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43E1ABD-9DAE-E035-8B0B-D41EFED3FC8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08538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List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/>
              <a:t>Title, </a:t>
            </a:r>
            <a:r>
              <a:rPr lang="de-DE" err="1"/>
              <a:t>example</a:t>
            </a:r>
            <a:r>
              <a:rPr lang="de-DE"/>
              <a:t>: Tasks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week</a:t>
            </a:r>
            <a:endParaRPr lang="de-DE"/>
          </a:p>
          <a:p>
            <a:pPr lvl="1"/>
            <a:r>
              <a:rPr lang="de-DE" err="1"/>
              <a:t>Example</a:t>
            </a:r>
            <a:r>
              <a:rPr lang="de-DE"/>
              <a:t>: </a:t>
            </a:r>
            <a:r>
              <a:rPr lang="de-DE" err="1"/>
              <a:t>drawings</a:t>
            </a:r>
            <a:r>
              <a:rPr lang="de-DE"/>
              <a:t> </a:t>
            </a:r>
            <a:r>
              <a:rPr lang="de-DE" err="1"/>
              <a:t>from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week</a:t>
            </a:r>
            <a:endParaRPr lang="de-DE"/>
          </a:p>
          <a:p>
            <a:pPr lvl="0"/>
            <a:r>
              <a:rPr lang="de-DE"/>
              <a:t>X</a:t>
            </a:r>
          </a:p>
          <a:p>
            <a:pPr lvl="1"/>
            <a:endParaRPr lang="de-DE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List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contents</a:t>
            </a:r>
            <a:endParaRPr lang="en-GB"/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8F6D1F16-A947-CEE2-C58A-50217E901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10/21/2025</a:t>
            </a:r>
            <a:endParaRPr lang="en-GB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873EF994-6CA7-B763-F215-A7D1723E2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67F2F56B-9E4F-A460-92A9-87055C42B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3A8B7922-CD64-E421-B5E5-B7BA56CBCB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Vijay </a:t>
            </a:r>
            <a:r>
              <a:rPr lang="de-DE" err="1"/>
              <a:t>Simha</a:t>
            </a:r>
            <a:r>
              <a:rPr lang="de-DE"/>
              <a:t> Reddy </a:t>
            </a:r>
            <a:r>
              <a:rPr lang="de-DE" err="1"/>
              <a:t>Bogala</a:t>
            </a:r>
            <a:r>
              <a:rPr lang="de-DE"/>
              <a:t>, Josef Remberger</a:t>
            </a:r>
          </a:p>
        </p:txBody>
      </p:sp>
    </p:spTree>
    <p:extLst>
      <p:ext uri="{BB962C8B-B14F-4D97-AF65-F5344CB8AC3E}">
        <p14:creationId xmlns:p14="http://schemas.microsoft.com/office/powerpoint/2010/main" val="2966362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ibliography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err="1"/>
              <a:t>Bibliography</a:t>
            </a:r>
            <a:r>
              <a:rPr lang="de-DE"/>
              <a:t> – </a:t>
            </a:r>
            <a:r>
              <a:rPr lang="de-DE" err="1"/>
              <a:t>team</a:t>
            </a:r>
            <a:r>
              <a:rPr lang="de-DE"/>
              <a:t> </a:t>
            </a:r>
            <a:r>
              <a:rPr lang="de-DE" err="1"/>
              <a:t>name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/>
              <a:t>[1] </a:t>
            </a:r>
            <a:r>
              <a:rPr lang="en-GB"/>
              <a:t>“How HOMER Calculates Wind Turbine Power Output,” </a:t>
            </a:r>
            <a:r>
              <a:rPr lang="en-GB" i="1"/>
              <a:t>Homerenergy.com</a:t>
            </a:r>
            <a:r>
              <a:rPr lang="en-GB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[2] …..</a:t>
            </a:r>
            <a:endParaRPr lang="it-IT"/>
          </a:p>
          <a:p>
            <a:pPr lvl="0"/>
            <a:endParaRPr lang="de-DE"/>
          </a:p>
        </p:txBody>
      </p:sp>
      <p:cxnSp>
        <p:nvCxnSpPr>
          <p:cNvPr id="6" name="Straight Arrow Connector 21">
            <a:extLst>
              <a:ext uri="{FF2B5EF4-FFF2-40B4-BE49-F238E27FC236}">
                <a16:creationId xmlns:a16="http://schemas.microsoft.com/office/drawing/2014/main" id="{9B5BA113-ABD0-9B33-1E2F-5863B083FE29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4994031" y="2734408"/>
            <a:ext cx="1245576" cy="18375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22">
            <a:extLst>
              <a:ext uri="{FF2B5EF4-FFF2-40B4-BE49-F238E27FC236}">
                <a16:creationId xmlns:a16="http://schemas.microsoft.com/office/drawing/2014/main" id="{59531AAE-8AA3-6039-F69E-EDD1AF57C810}"/>
              </a:ext>
            </a:extLst>
          </p:cNvPr>
          <p:cNvSpPr/>
          <p:nvPr userDrawn="1"/>
        </p:nvSpPr>
        <p:spPr>
          <a:xfrm>
            <a:off x="4475285" y="4572000"/>
            <a:ext cx="5969977" cy="167786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/>
              <a:t>The style </a:t>
            </a:r>
            <a:r>
              <a:rPr lang="it-IT" err="1"/>
              <a:t>chosen</a:t>
            </a:r>
            <a:r>
              <a:rPr lang="it-IT"/>
              <a:t> for </a:t>
            </a:r>
            <a:r>
              <a:rPr lang="it-IT" err="1"/>
              <a:t>citation</a:t>
            </a:r>
            <a:r>
              <a:rPr lang="it-IT"/>
              <a:t> </a:t>
            </a:r>
            <a:r>
              <a:rPr lang="it-IT" err="1"/>
              <a:t>is</a:t>
            </a:r>
            <a:r>
              <a:rPr lang="it-IT"/>
              <a:t> IEEE, so </a:t>
            </a:r>
            <a:r>
              <a:rPr lang="it-IT" err="1"/>
              <a:t>if</a:t>
            </a:r>
            <a:r>
              <a:rPr lang="it-IT"/>
              <a:t> </a:t>
            </a:r>
            <a:r>
              <a:rPr lang="it-IT" err="1"/>
              <a:t>you</a:t>
            </a:r>
            <a:r>
              <a:rPr lang="it-IT"/>
              <a:t> </a:t>
            </a:r>
            <a:r>
              <a:rPr lang="it-IT" err="1"/>
              <a:t>want</a:t>
            </a:r>
            <a:r>
              <a:rPr lang="it-IT"/>
              <a:t> to create </a:t>
            </a:r>
            <a:r>
              <a:rPr lang="it-IT" err="1"/>
              <a:t>your</a:t>
            </a:r>
            <a:r>
              <a:rPr lang="it-IT"/>
              <a:t> </a:t>
            </a:r>
            <a:r>
              <a:rPr lang="it-IT" err="1"/>
              <a:t>citation</a:t>
            </a:r>
            <a:r>
              <a:rPr lang="it-IT"/>
              <a:t> follow </a:t>
            </a:r>
            <a:r>
              <a:rPr lang="it-IT" err="1"/>
              <a:t>that</a:t>
            </a:r>
            <a:r>
              <a:rPr lang="it-IT"/>
              <a:t> style. </a:t>
            </a:r>
            <a:r>
              <a:rPr lang="it-IT" err="1"/>
              <a:t>If</a:t>
            </a:r>
            <a:r>
              <a:rPr lang="it-IT"/>
              <a:t> </a:t>
            </a:r>
            <a:r>
              <a:rPr lang="it-IT" err="1"/>
              <a:t>you</a:t>
            </a:r>
            <a:r>
              <a:rPr lang="it-IT"/>
              <a:t> </a:t>
            </a:r>
            <a:r>
              <a:rPr lang="it-IT" err="1"/>
              <a:t>want</a:t>
            </a:r>
            <a:r>
              <a:rPr lang="it-IT"/>
              <a:t> to create an IEEE </a:t>
            </a:r>
            <a:r>
              <a:rPr lang="it-IT" err="1"/>
              <a:t>citation</a:t>
            </a:r>
            <a:r>
              <a:rPr lang="it-IT"/>
              <a:t> from a website, </a:t>
            </a:r>
            <a:r>
              <a:rPr lang="it-IT" err="1"/>
              <a:t>you</a:t>
            </a:r>
            <a:r>
              <a:rPr lang="it-IT"/>
              <a:t> can use some free </a:t>
            </a:r>
            <a:r>
              <a:rPr lang="it-IT" err="1"/>
              <a:t>converters</a:t>
            </a:r>
            <a:r>
              <a:rPr lang="it-IT"/>
              <a:t> </a:t>
            </a:r>
            <a:r>
              <a:rPr lang="it-IT" err="1"/>
              <a:t>available</a:t>
            </a:r>
            <a:r>
              <a:rPr lang="it-IT"/>
              <a:t> on the internet, like:</a:t>
            </a:r>
          </a:p>
          <a:p>
            <a:pPr algn="ctr"/>
            <a:r>
              <a:rPr lang="en-GB" b="1">
                <a:hlinkClick r:id="rId2"/>
              </a:rPr>
              <a:t>https://www.mybib.com/tools/ieee-citation-generator</a:t>
            </a:r>
            <a:r>
              <a:rPr lang="en-GB" b="1"/>
              <a:t> </a:t>
            </a:r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7">
            <a:extLst>
              <a:ext uri="{FF2B5EF4-FFF2-40B4-BE49-F238E27FC236}">
                <a16:creationId xmlns:a16="http://schemas.microsoft.com/office/drawing/2014/main" id="{226F6F8F-D65D-4B43-5785-E89E617F8616}"/>
              </a:ext>
            </a:extLst>
          </p:cNvPr>
          <p:cNvSpPr/>
          <p:nvPr userDrawn="1"/>
        </p:nvSpPr>
        <p:spPr>
          <a:xfrm>
            <a:off x="908165" y="3299037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err="1"/>
              <a:t>This</a:t>
            </a:r>
            <a:r>
              <a:rPr lang="it-IT"/>
              <a:t> slide </a:t>
            </a:r>
            <a:r>
              <a:rPr lang="it-IT" err="1"/>
              <a:t>is</a:t>
            </a:r>
            <a:r>
              <a:rPr lang="it-IT"/>
              <a:t> </a:t>
            </a:r>
            <a:r>
              <a:rPr lang="it-IT" err="1"/>
              <a:t>only</a:t>
            </a:r>
            <a:r>
              <a:rPr lang="it-IT"/>
              <a:t> for </a:t>
            </a:r>
            <a:r>
              <a:rPr lang="it-IT" err="1"/>
              <a:t>explanation</a:t>
            </a:r>
            <a:r>
              <a:rPr lang="it-IT"/>
              <a:t>, </a:t>
            </a:r>
            <a:r>
              <a:rPr lang="it-IT" err="1"/>
              <a:t>dont´t</a:t>
            </a:r>
            <a:r>
              <a:rPr lang="it-IT"/>
              <a:t> use </a:t>
            </a:r>
            <a:r>
              <a:rPr lang="it-IT" err="1"/>
              <a:t>it!</a:t>
            </a:r>
            <a:endParaRPr lang="en-GB"/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376AEEC7-3E6C-8FE6-7104-34FC93794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10/21/2025</a:t>
            </a:r>
            <a:endParaRPr lang="en-GB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527D13C7-4982-3CF9-E6C0-8109C888A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44A0136B-0337-50A8-941C-6DC048DC6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A21B8924-2541-A57C-7990-899E2DC11F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2791933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ibliograp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err="1"/>
              <a:t>Bibliography</a:t>
            </a:r>
            <a:r>
              <a:rPr lang="de-DE"/>
              <a:t> – </a:t>
            </a:r>
            <a:r>
              <a:rPr lang="de-DE" err="1"/>
              <a:t>team</a:t>
            </a:r>
            <a:r>
              <a:rPr lang="de-DE"/>
              <a:t> </a:t>
            </a:r>
            <a:r>
              <a:rPr lang="de-DE" err="1"/>
              <a:t>name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/>
              <a:t>[1] </a:t>
            </a:r>
            <a:r>
              <a:rPr lang="en-GB"/>
              <a:t>“How HOMER Calculates Wind Turbine Power Output,” </a:t>
            </a:r>
            <a:r>
              <a:rPr lang="en-GB" i="1"/>
              <a:t>Homerenergy.com</a:t>
            </a:r>
            <a:r>
              <a:rPr lang="en-GB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[2] …..</a:t>
            </a:r>
            <a:endParaRPr lang="it-IT"/>
          </a:p>
          <a:p>
            <a:pPr lvl="0"/>
            <a:endParaRPr lang="de-DE"/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79BDC2AF-40F8-8529-16FE-AE51A8BD4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10/21/2025</a:t>
            </a:r>
            <a:endParaRPr lang="en-GB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3A36B392-F5AC-41D8-5903-3EE036BA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7595A811-7A18-1583-7B9C-87A7CBB7F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5E735FEA-D591-2E8E-B9B4-2A6BAFE00D4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Vijay </a:t>
            </a:r>
            <a:r>
              <a:rPr lang="de-DE" err="1"/>
              <a:t>Simha</a:t>
            </a:r>
            <a:r>
              <a:rPr lang="de-DE"/>
              <a:t> Reddy </a:t>
            </a:r>
            <a:r>
              <a:rPr lang="de-DE" err="1"/>
              <a:t>Bogala</a:t>
            </a:r>
            <a:r>
              <a:rPr lang="de-DE"/>
              <a:t>, Josef Remberger</a:t>
            </a:r>
          </a:p>
        </p:txBody>
      </p:sp>
    </p:spTree>
    <p:extLst>
      <p:ext uri="{BB962C8B-B14F-4D97-AF65-F5344CB8AC3E}">
        <p14:creationId xmlns:p14="http://schemas.microsoft.com/office/powerpoint/2010/main" val="38615034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of tea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458857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/>
              <a:t>12. </a:t>
            </a:r>
            <a:r>
              <a:rPr lang="de-DE" err="1"/>
              <a:t>Machine</a:t>
            </a:r>
            <a:r>
              <a:rPr lang="de-DE"/>
              <a:t> </a:t>
            </a:r>
            <a:r>
              <a:rPr lang="de-DE" err="1"/>
              <a:t>Bed</a:t>
            </a:r>
            <a:r>
              <a:rPr lang="de-DE"/>
              <a:t> &amp; Yaw System  </a:t>
            </a:r>
          </a:p>
          <a:p>
            <a:pPr lvl="1"/>
            <a:r>
              <a:rPr lang="de-DE"/>
              <a:t>13. Tower  </a:t>
            </a:r>
          </a:p>
          <a:p>
            <a:pPr lvl="1"/>
            <a:r>
              <a:rPr lang="de-DE"/>
              <a:t>14. </a:t>
            </a:r>
            <a:r>
              <a:rPr lang="de-DE" err="1"/>
              <a:t>Foundation</a:t>
            </a:r>
            <a:r>
              <a:rPr lang="de-DE"/>
              <a:t>  </a:t>
            </a:r>
          </a:p>
          <a:p>
            <a:pPr lvl="1"/>
            <a:r>
              <a:rPr lang="de-DE"/>
              <a:t>15. Storage System </a:t>
            </a:r>
          </a:p>
          <a:p>
            <a:pPr lvl="1"/>
            <a:endParaRPr lang="de-DE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Teams</a:t>
            </a:r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2466CB9-E665-36BA-2132-8519CA303C9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838200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 algn="l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/>
              <a:t>1.  </a:t>
            </a:r>
            <a:r>
              <a:rPr lang="de-DE" err="1"/>
              <a:t>Windfarm</a:t>
            </a:r>
            <a:r>
              <a:rPr lang="de-DE"/>
              <a:t> Project Development  </a:t>
            </a:r>
          </a:p>
          <a:p>
            <a:pPr lvl="1"/>
            <a:r>
              <a:rPr lang="de-DE"/>
              <a:t>2.  Loads and Dynamics  </a:t>
            </a:r>
          </a:p>
          <a:p>
            <a:pPr lvl="1"/>
            <a:r>
              <a:rPr lang="de-DE"/>
              <a:t>3.  Feedback Controller  </a:t>
            </a:r>
          </a:p>
          <a:p>
            <a:pPr lvl="1"/>
            <a:r>
              <a:rPr lang="de-DE"/>
              <a:t>4.  Lidar-</a:t>
            </a:r>
            <a:r>
              <a:rPr lang="de-DE" err="1"/>
              <a:t>Assisted</a:t>
            </a:r>
            <a:r>
              <a:rPr lang="de-DE"/>
              <a:t> Controller  </a:t>
            </a:r>
          </a:p>
          <a:p>
            <a:pPr lvl="1"/>
            <a:r>
              <a:rPr lang="de-DE"/>
              <a:t>5.  Rotor Blade </a:t>
            </a:r>
            <a:r>
              <a:rPr lang="de-DE" err="1"/>
              <a:t>Aerodynamics</a:t>
            </a:r>
            <a:r>
              <a:rPr lang="de-DE"/>
              <a:t>  </a:t>
            </a:r>
          </a:p>
          <a:p>
            <a:pPr lvl="1"/>
            <a:r>
              <a:rPr lang="de-DE"/>
              <a:t>6.  Rotor Blade </a:t>
            </a:r>
            <a:r>
              <a:rPr lang="de-DE" err="1"/>
              <a:t>Structures</a:t>
            </a:r>
            <a:r>
              <a:rPr lang="de-DE"/>
              <a:t>  </a:t>
            </a:r>
          </a:p>
          <a:p>
            <a:pPr lvl="1"/>
            <a:r>
              <a:rPr lang="de-DE"/>
              <a:t>7.  </a:t>
            </a:r>
            <a:r>
              <a:rPr lang="de-DE" err="1"/>
              <a:t>Electrical</a:t>
            </a:r>
            <a:r>
              <a:rPr lang="de-DE"/>
              <a:t> </a:t>
            </a:r>
            <a:r>
              <a:rPr lang="de-DE" err="1"/>
              <a:t>Drivetrain</a:t>
            </a:r>
            <a:r>
              <a:rPr lang="de-DE"/>
              <a:t> (EDT)  </a:t>
            </a:r>
          </a:p>
          <a:p>
            <a:pPr lvl="1"/>
            <a:r>
              <a:rPr lang="de-DE"/>
              <a:t>8.  </a:t>
            </a:r>
            <a:r>
              <a:rPr lang="de-DE" err="1"/>
              <a:t>Grid</a:t>
            </a:r>
            <a:r>
              <a:rPr lang="de-DE"/>
              <a:t> Code Development (GCD)  </a:t>
            </a:r>
          </a:p>
          <a:p>
            <a:pPr lvl="1"/>
            <a:r>
              <a:rPr lang="de-DE"/>
              <a:t>9.  Rotor Hub &amp; Pitch System  </a:t>
            </a:r>
          </a:p>
          <a:p>
            <a:pPr lvl="1"/>
            <a:r>
              <a:rPr lang="de-DE"/>
              <a:t>10. Rotor </a:t>
            </a:r>
            <a:r>
              <a:rPr lang="de-DE" err="1"/>
              <a:t>Bearing</a:t>
            </a:r>
            <a:r>
              <a:rPr lang="de-DE"/>
              <a:t> System  </a:t>
            </a:r>
          </a:p>
          <a:p>
            <a:pPr lvl="1"/>
            <a:r>
              <a:rPr lang="de-DE"/>
              <a:t>11. </a:t>
            </a:r>
            <a:r>
              <a:rPr lang="de-DE" err="1"/>
              <a:t>Gearbox</a:t>
            </a:r>
            <a:r>
              <a:rPr lang="de-DE"/>
              <a:t>, Brake, Coupling  </a:t>
            </a:r>
          </a:p>
          <a:p>
            <a:pPr lvl="1"/>
            <a:r>
              <a:rPr lang="de-DE"/>
              <a:t>						</a:t>
            </a:r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FD841E35-8D66-8DA2-B806-8C18E5D2806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10/21/2025</a:t>
            </a:r>
            <a:endParaRPr lang="en-GB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6C28938A-3748-78F8-3D01-B82DF87C9B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3A903679-8273-AC0E-AD57-A9C78EE236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7237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of contents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/>
              <a:t>Title, </a:t>
            </a:r>
            <a:r>
              <a:rPr lang="de-DE" err="1"/>
              <a:t>example</a:t>
            </a:r>
            <a:r>
              <a:rPr lang="de-DE"/>
              <a:t>: Tasks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week</a:t>
            </a:r>
            <a:r>
              <a:rPr lang="de-DE"/>
              <a:t>   (</a:t>
            </a:r>
            <a:r>
              <a:rPr lang="de-DE" err="1"/>
              <a:t>Aptos</a:t>
            </a:r>
            <a:r>
              <a:rPr lang="de-DE"/>
              <a:t>, 22)</a:t>
            </a:r>
          </a:p>
          <a:p>
            <a:pPr lvl="1"/>
            <a:r>
              <a:rPr lang="de-DE" err="1"/>
              <a:t>Example</a:t>
            </a:r>
            <a:r>
              <a:rPr lang="de-DE"/>
              <a:t>: </a:t>
            </a:r>
            <a:r>
              <a:rPr lang="de-DE" err="1"/>
              <a:t>drawings</a:t>
            </a:r>
            <a:r>
              <a:rPr lang="de-DE"/>
              <a:t> </a:t>
            </a:r>
            <a:r>
              <a:rPr lang="de-DE" err="1"/>
              <a:t>from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week</a:t>
            </a:r>
            <a:r>
              <a:rPr lang="de-DE"/>
              <a:t>  (</a:t>
            </a:r>
            <a:r>
              <a:rPr lang="de-DE" err="1"/>
              <a:t>Aptos</a:t>
            </a:r>
            <a:r>
              <a:rPr lang="de-DE"/>
              <a:t>, 20)</a:t>
            </a:r>
          </a:p>
          <a:p>
            <a:pPr lvl="0"/>
            <a:r>
              <a:rPr lang="de-DE"/>
              <a:t>X</a:t>
            </a:r>
          </a:p>
          <a:p>
            <a:pPr lvl="1"/>
            <a:endParaRPr lang="de-DE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List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contents</a:t>
            </a:r>
            <a:endParaRPr lang="en-GB"/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Isosceles Triangle 6">
            <a:extLst>
              <a:ext uri="{FF2B5EF4-FFF2-40B4-BE49-F238E27FC236}">
                <a16:creationId xmlns:a16="http://schemas.microsoft.com/office/drawing/2014/main" id="{170C5CF7-7129-6BD6-B815-EAF32508EFB5}"/>
              </a:ext>
            </a:extLst>
          </p:cNvPr>
          <p:cNvSpPr/>
          <p:nvPr userDrawn="1"/>
        </p:nvSpPr>
        <p:spPr>
          <a:xfrm>
            <a:off x="5218873" y="2853022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C7BE5E88-0734-5426-D3DF-C7901A7359D4}"/>
              </a:ext>
            </a:extLst>
          </p:cNvPr>
          <p:cNvSpPr/>
          <p:nvPr userDrawn="1"/>
        </p:nvSpPr>
        <p:spPr>
          <a:xfrm>
            <a:off x="4025317" y="4094711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err="1"/>
              <a:t>This</a:t>
            </a:r>
            <a:r>
              <a:rPr lang="it-IT"/>
              <a:t> </a:t>
            </a:r>
            <a:r>
              <a:rPr lang="it-IT" err="1"/>
              <a:t>is</a:t>
            </a:r>
            <a:r>
              <a:rPr lang="it-IT"/>
              <a:t> an </a:t>
            </a:r>
            <a:r>
              <a:rPr lang="it-IT" err="1"/>
              <a:t>example</a:t>
            </a:r>
            <a:r>
              <a:rPr lang="it-IT"/>
              <a:t> </a:t>
            </a:r>
            <a:r>
              <a:rPr lang="it-IT" b="1"/>
              <a:t>BUT</a:t>
            </a:r>
            <a:br>
              <a:rPr lang="it-IT"/>
            </a:br>
            <a:r>
              <a:rPr lang="it-IT"/>
              <a:t>use the </a:t>
            </a:r>
            <a:r>
              <a:rPr lang="it-IT" err="1"/>
              <a:t>same</a:t>
            </a:r>
            <a:r>
              <a:rPr lang="it-IT"/>
              <a:t> style and short, concise bullet points) </a:t>
            </a:r>
            <a:br>
              <a:rPr lang="it-IT"/>
            </a:br>
            <a:r>
              <a:rPr lang="it-IT" err="1"/>
              <a:t>Only</a:t>
            </a:r>
            <a:r>
              <a:rPr lang="it-IT"/>
              <a:t> </a:t>
            </a:r>
            <a:r>
              <a:rPr lang="it-IT" err="1"/>
              <a:t>topics</a:t>
            </a:r>
            <a:r>
              <a:rPr lang="it-IT"/>
              <a:t> for the 4 min </a:t>
            </a:r>
            <a:r>
              <a:rPr lang="it-IT" err="1"/>
              <a:t>timeslot</a:t>
            </a:r>
            <a:r>
              <a:rPr lang="it-IT"/>
              <a:t>!</a:t>
            </a:r>
            <a:endParaRPr lang="en-GB"/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11100C08-BD4D-E3E4-CE88-2FD7DF2770C3}"/>
              </a:ext>
            </a:extLst>
          </p:cNvPr>
          <p:cNvSpPr/>
          <p:nvPr userDrawn="1"/>
        </p:nvSpPr>
        <p:spPr>
          <a:xfrm>
            <a:off x="5727842" y="3001184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65B86036-57A0-C8C5-C8BB-699A37ABA2A8}"/>
              </a:ext>
            </a:extLst>
          </p:cNvPr>
          <p:cNvSpPr/>
          <p:nvPr userDrawn="1"/>
        </p:nvSpPr>
        <p:spPr>
          <a:xfrm>
            <a:off x="908165" y="3299037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err="1"/>
              <a:t>This</a:t>
            </a:r>
            <a:r>
              <a:rPr lang="it-IT"/>
              <a:t> slide </a:t>
            </a:r>
            <a:r>
              <a:rPr lang="it-IT" err="1"/>
              <a:t>is</a:t>
            </a:r>
            <a:r>
              <a:rPr lang="it-IT"/>
              <a:t> </a:t>
            </a:r>
            <a:r>
              <a:rPr lang="it-IT" err="1"/>
              <a:t>only</a:t>
            </a:r>
            <a:r>
              <a:rPr lang="it-IT"/>
              <a:t> for </a:t>
            </a:r>
            <a:r>
              <a:rPr lang="it-IT" err="1"/>
              <a:t>explanation</a:t>
            </a:r>
            <a:r>
              <a:rPr lang="it-IT"/>
              <a:t>, </a:t>
            </a:r>
            <a:r>
              <a:rPr lang="it-IT" err="1"/>
              <a:t>dont´t</a:t>
            </a:r>
            <a:r>
              <a:rPr lang="it-IT"/>
              <a:t> use </a:t>
            </a:r>
            <a:r>
              <a:rPr lang="it-IT" err="1"/>
              <a:t>it!</a:t>
            </a:r>
            <a:endParaRPr lang="en-GB"/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64195E91-DEC0-2198-8D7F-F5D7511FB31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10/21/2025</a:t>
            </a:r>
            <a:endParaRPr lang="en-GB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0EC107A6-E0D9-69FD-44BC-CFD5F05D7C8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8CC2EBC5-DD43-6B7E-A5D7-5CD5B0E30A5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E7DFBCC3-CC46-17B2-DF15-92940A3865D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Vijay </a:t>
            </a:r>
            <a:r>
              <a:rPr lang="de-DE" err="1"/>
              <a:t>Simha</a:t>
            </a:r>
            <a:r>
              <a:rPr lang="de-DE"/>
              <a:t> Reddy </a:t>
            </a:r>
            <a:r>
              <a:rPr lang="de-DE" err="1"/>
              <a:t>Bogala</a:t>
            </a:r>
            <a:r>
              <a:rPr lang="de-DE"/>
              <a:t>, Josef Remberger</a:t>
            </a:r>
          </a:p>
        </p:txBody>
      </p:sp>
    </p:spTree>
    <p:extLst>
      <p:ext uri="{BB962C8B-B14F-4D97-AF65-F5344CB8AC3E}">
        <p14:creationId xmlns:p14="http://schemas.microsoft.com/office/powerpoint/2010/main" val="41368172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ist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/>
              <a:t>Title, </a:t>
            </a:r>
            <a:r>
              <a:rPr lang="de-DE" err="1"/>
              <a:t>example</a:t>
            </a:r>
            <a:r>
              <a:rPr lang="de-DE"/>
              <a:t>: Tasks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week</a:t>
            </a:r>
            <a:endParaRPr lang="de-DE"/>
          </a:p>
          <a:p>
            <a:pPr lvl="1"/>
            <a:r>
              <a:rPr lang="de-DE" err="1"/>
              <a:t>Example</a:t>
            </a:r>
            <a:r>
              <a:rPr lang="de-DE"/>
              <a:t>: </a:t>
            </a:r>
            <a:r>
              <a:rPr lang="de-DE" err="1"/>
              <a:t>drawings</a:t>
            </a:r>
            <a:r>
              <a:rPr lang="de-DE"/>
              <a:t> </a:t>
            </a:r>
            <a:r>
              <a:rPr lang="de-DE" err="1"/>
              <a:t>from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week</a:t>
            </a:r>
            <a:endParaRPr lang="de-DE"/>
          </a:p>
          <a:p>
            <a:pPr lvl="0"/>
            <a:r>
              <a:rPr lang="de-DE"/>
              <a:t>X</a:t>
            </a:r>
          </a:p>
          <a:p>
            <a:pPr lvl="1"/>
            <a:endParaRPr lang="de-DE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List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contents</a:t>
            </a:r>
            <a:endParaRPr lang="en-GB"/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8F6D1F16-A947-CEE2-C58A-50217E901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10/21/2025</a:t>
            </a:r>
            <a:endParaRPr lang="en-GB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873EF994-6CA7-B763-F215-A7D1723E2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67F2F56B-9E4F-A460-92A9-87055C42B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3A8B7922-CD64-E421-B5E5-B7BA56CBCB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Vijay </a:t>
            </a:r>
            <a:r>
              <a:rPr lang="de-DE" err="1"/>
              <a:t>Simha</a:t>
            </a:r>
            <a:r>
              <a:rPr lang="de-DE"/>
              <a:t> Reddy </a:t>
            </a:r>
            <a:r>
              <a:rPr lang="de-DE" err="1"/>
              <a:t>Bogala</a:t>
            </a:r>
            <a:r>
              <a:rPr lang="de-DE"/>
              <a:t>, Josef Remberger</a:t>
            </a:r>
          </a:p>
        </p:txBody>
      </p:sp>
    </p:spTree>
    <p:extLst>
      <p:ext uri="{BB962C8B-B14F-4D97-AF65-F5344CB8AC3E}">
        <p14:creationId xmlns:p14="http://schemas.microsoft.com/office/powerpoint/2010/main" val="13173009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/>
              <a:t>1. Title, </a:t>
            </a:r>
            <a:r>
              <a:rPr lang="de-DE" err="1"/>
              <a:t>example</a:t>
            </a:r>
            <a:r>
              <a:rPr lang="de-DE"/>
              <a:t>: Tasks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week</a:t>
            </a:r>
            <a:r>
              <a:rPr lang="de-DE"/>
              <a:t>  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err="1"/>
              <a:t>Abcd</a:t>
            </a:r>
            <a:r>
              <a:rPr lang="de-DE"/>
              <a:t> (</a:t>
            </a:r>
            <a:r>
              <a:rPr lang="de-DE" err="1"/>
              <a:t>Aptos</a:t>
            </a:r>
            <a:r>
              <a:rPr lang="de-DE"/>
              <a:t>, 22)</a:t>
            </a:r>
          </a:p>
          <a:p>
            <a:pPr marL="971550" marR="0" lvl="1" indent="-5143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romanLcPeriod"/>
              <a:tabLst/>
              <a:defRPr/>
            </a:pPr>
            <a:r>
              <a:rPr lang="de-DE" err="1"/>
              <a:t>efgh</a:t>
            </a:r>
            <a:r>
              <a:rPr lang="de-DE"/>
              <a:t> (</a:t>
            </a:r>
            <a:r>
              <a:rPr lang="de-DE" err="1"/>
              <a:t>Aptos</a:t>
            </a:r>
            <a:r>
              <a:rPr lang="de-DE"/>
              <a:t>, 20)</a:t>
            </a:r>
          </a:p>
          <a:p>
            <a:pPr lvl="1"/>
            <a:endParaRPr lang="de-DE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Isosceles Triangle 6">
            <a:extLst>
              <a:ext uri="{FF2B5EF4-FFF2-40B4-BE49-F238E27FC236}">
                <a16:creationId xmlns:a16="http://schemas.microsoft.com/office/drawing/2014/main" id="{3272B118-64EE-99BB-8728-CE26B185DCFC}"/>
              </a:ext>
            </a:extLst>
          </p:cNvPr>
          <p:cNvSpPr/>
          <p:nvPr userDrawn="1"/>
        </p:nvSpPr>
        <p:spPr>
          <a:xfrm>
            <a:off x="8353959" y="1690688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CCA8528F-A469-ED70-E9CA-F25798C1A305}"/>
              </a:ext>
            </a:extLst>
          </p:cNvPr>
          <p:cNvSpPr/>
          <p:nvPr userDrawn="1"/>
        </p:nvSpPr>
        <p:spPr>
          <a:xfrm>
            <a:off x="2209800" y="3095720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/>
              <a:t>Use [1], [2], [3] for </a:t>
            </a:r>
            <a:r>
              <a:rPr lang="it-IT" err="1"/>
              <a:t>everything</a:t>
            </a:r>
            <a:r>
              <a:rPr lang="it-IT"/>
              <a:t> </a:t>
            </a:r>
            <a:r>
              <a:rPr lang="it-IT" err="1"/>
              <a:t>you</a:t>
            </a:r>
            <a:r>
              <a:rPr lang="it-IT"/>
              <a:t> </a:t>
            </a:r>
            <a:r>
              <a:rPr lang="it-IT" err="1"/>
              <a:t>have</a:t>
            </a:r>
            <a:r>
              <a:rPr lang="it-IT"/>
              <a:t> from a source (</a:t>
            </a:r>
            <a:r>
              <a:rPr lang="it-IT" err="1"/>
              <a:t>numbers</a:t>
            </a:r>
            <a:r>
              <a:rPr lang="it-IT"/>
              <a:t> </a:t>
            </a:r>
            <a:r>
              <a:rPr lang="it-IT" err="1"/>
              <a:t>should</a:t>
            </a:r>
            <a:r>
              <a:rPr lang="it-IT"/>
              <a:t> be the </a:t>
            </a:r>
            <a:r>
              <a:rPr lang="it-IT" err="1"/>
              <a:t>same</a:t>
            </a:r>
            <a:r>
              <a:rPr lang="it-IT"/>
              <a:t> like in the </a:t>
            </a:r>
            <a:r>
              <a:rPr lang="it-IT" err="1"/>
              <a:t>bibliography</a:t>
            </a:r>
            <a:r>
              <a:rPr lang="it-IT"/>
              <a:t>) (</a:t>
            </a:r>
            <a:r>
              <a:rPr lang="it-IT" err="1"/>
              <a:t>incl</a:t>
            </a:r>
            <a:r>
              <a:rPr lang="it-IT"/>
              <a:t>. pictures / </a:t>
            </a:r>
            <a:r>
              <a:rPr lang="it-IT" err="1"/>
              <a:t>if</a:t>
            </a:r>
            <a:r>
              <a:rPr lang="it-IT"/>
              <a:t> </a:t>
            </a:r>
            <a:r>
              <a:rPr lang="it-IT" err="1"/>
              <a:t>you</a:t>
            </a:r>
            <a:r>
              <a:rPr lang="it-IT"/>
              <a:t> </a:t>
            </a:r>
            <a:r>
              <a:rPr lang="it-IT" err="1"/>
              <a:t>created</a:t>
            </a:r>
            <a:r>
              <a:rPr lang="it-IT"/>
              <a:t> </a:t>
            </a:r>
            <a:r>
              <a:rPr lang="it-IT" err="1"/>
              <a:t>them</a:t>
            </a:r>
            <a:r>
              <a:rPr lang="it-IT"/>
              <a:t> by </a:t>
            </a:r>
            <a:r>
              <a:rPr lang="it-IT" err="1"/>
              <a:t>your</a:t>
            </a:r>
            <a:r>
              <a:rPr lang="it-IT"/>
              <a:t> </a:t>
            </a:r>
            <a:r>
              <a:rPr lang="it-IT" err="1"/>
              <a:t>own</a:t>
            </a:r>
            <a:r>
              <a:rPr lang="it-IT"/>
              <a:t>, </a:t>
            </a:r>
            <a:r>
              <a:rPr lang="it-IT" err="1"/>
              <a:t>declare</a:t>
            </a:r>
            <a:r>
              <a:rPr lang="it-IT"/>
              <a:t> </a:t>
            </a:r>
            <a:r>
              <a:rPr lang="it-IT" err="1"/>
              <a:t>them</a:t>
            </a:r>
            <a:r>
              <a:rPr lang="it-IT"/>
              <a:t> </a:t>
            </a:r>
            <a:r>
              <a:rPr lang="it-IT" err="1"/>
              <a:t>as</a:t>
            </a:r>
            <a:r>
              <a:rPr lang="it-IT"/>
              <a:t> a </a:t>
            </a:r>
            <a:r>
              <a:rPr lang="it-IT" err="1"/>
              <a:t>thing</a:t>
            </a:r>
            <a:r>
              <a:rPr lang="it-IT"/>
              <a:t> </a:t>
            </a:r>
            <a:r>
              <a:rPr lang="it-IT" err="1"/>
              <a:t>you’ve</a:t>
            </a:r>
            <a:r>
              <a:rPr lang="it-IT"/>
              <a:t> </a:t>
            </a:r>
            <a:r>
              <a:rPr lang="it-IT" err="1"/>
              <a:t>done</a:t>
            </a:r>
            <a:r>
              <a:rPr lang="it-IT"/>
              <a:t> )</a:t>
            </a:r>
            <a:endParaRPr lang="en-GB"/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E1F8C099-06EF-7661-9A3C-60FE5CD4C5D5}"/>
              </a:ext>
            </a:extLst>
          </p:cNvPr>
          <p:cNvSpPr/>
          <p:nvPr userDrawn="1"/>
        </p:nvSpPr>
        <p:spPr>
          <a:xfrm>
            <a:off x="8862928" y="1838850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6E31FDF0-C963-BED4-C97E-FF9F67C07D21}"/>
              </a:ext>
            </a:extLst>
          </p:cNvPr>
          <p:cNvSpPr/>
          <p:nvPr userDrawn="1"/>
        </p:nvSpPr>
        <p:spPr>
          <a:xfrm>
            <a:off x="7312803" y="3084777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err="1"/>
              <a:t>This</a:t>
            </a:r>
            <a:r>
              <a:rPr lang="it-IT"/>
              <a:t> </a:t>
            </a:r>
            <a:r>
              <a:rPr lang="it-IT" err="1"/>
              <a:t>is</a:t>
            </a:r>
            <a:r>
              <a:rPr lang="it-IT"/>
              <a:t> an </a:t>
            </a:r>
            <a:r>
              <a:rPr lang="it-IT" err="1"/>
              <a:t>example</a:t>
            </a:r>
            <a:r>
              <a:rPr lang="it-IT"/>
              <a:t> </a:t>
            </a:r>
            <a:r>
              <a:rPr lang="it-IT" b="1"/>
              <a:t>BUT</a:t>
            </a:r>
          </a:p>
          <a:p>
            <a:pPr algn="ctr"/>
            <a:r>
              <a:rPr lang="it-IT"/>
              <a:t>an </a:t>
            </a:r>
            <a:r>
              <a:rPr lang="it-IT" err="1"/>
              <a:t>intial</a:t>
            </a:r>
            <a:r>
              <a:rPr lang="it-IT"/>
              <a:t> slide with </a:t>
            </a:r>
            <a:r>
              <a:rPr lang="it-IT" err="1"/>
              <a:t>all</a:t>
            </a:r>
            <a:r>
              <a:rPr lang="it-IT"/>
              <a:t> the tasks </a:t>
            </a:r>
            <a:r>
              <a:rPr lang="it-IT" err="1"/>
              <a:t>completed</a:t>
            </a:r>
            <a:r>
              <a:rPr lang="it-IT"/>
              <a:t> for the week </a:t>
            </a:r>
            <a:r>
              <a:rPr lang="it-IT" err="1"/>
              <a:t>should</a:t>
            </a:r>
            <a:r>
              <a:rPr lang="it-IT"/>
              <a:t> </a:t>
            </a:r>
            <a:r>
              <a:rPr lang="it-IT" err="1"/>
              <a:t>always</a:t>
            </a:r>
            <a:r>
              <a:rPr lang="it-IT"/>
              <a:t> be </a:t>
            </a:r>
            <a:r>
              <a:rPr lang="it-IT" err="1"/>
              <a:t>included</a:t>
            </a:r>
            <a:br>
              <a:rPr lang="it-IT"/>
            </a:br>
            <a:r>
              <a:rPr lang="it-IT"/>
              <a:t>Use the </a:t>
            </a:r>
            <a:r>
              <a:rPr lang="it-IT" err="1"/>
              <a:t>same</a:t>
            </a:r>
            <a:r>
              <a:rPr lang="it-IT"/>
              <a:t> style, do </a:t>
            </a:r>
            <a:r>
              <a:rPr lang="it-IT" err="1"/>
              <a:t>not</a:t>
            </a:r>
            <a:r>
              <a:rPr lang="it-IT"/>
              <a:t> </a:t>
            </a:r>
            <a:r>
              <a:rPr lang="it-IT" err="1"/>
              <a:t>write</a:t>
            </a:r>
            <a:r>
              <a:rPr lang="it-IT"/>
              <a:t> more text </a:t>
            </a:r>
            <a:r>
              <a:rPr lang="it-IT" err="1"/>
              <a:t>than</a:t>
            </a:r>
            <a:r>
              <a:rPr lang="it-IT"/>
              <a:t> </a:t>
            </a:r>
            <a:r>
              <a:rPr lang="it-IT" err="1"/>
              <a:t>necessary</a:t>
            </a:r>
            <a:r>
              <a:rPr lang="it-IT"/>
              <a:t> (short, concise bullet points are </a:t>
            </a:r>
            <a:r>
              <a:rPr lang="it-IT" err="1"/>
              <a:t>often</a:t>
            </a:r>
            <a:r>
              <a:rPr lang="it-IT"/>
              <a:t> </a:t>
            </a:r>
            <a:r>
              <a:rPr lang="it-IT" err="1"/>
              <a:t>enough</a:t>
            </a:r>
            <a:r>
              <a:rPr lang="it-IT"/>
              <a:t>)</a:t>
            </a:r>
            <a:endParaRPr lang="en-GB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5BA9FE0F-4438-A90E-178E-370DFB88F067}"/>
              </a:ext>
            </a:extLst>
          </p:cNvPr>
          <p:cNvSpPr txBox="1"/>
          <p:nvPr userDrawn="1"/>
        </p:nvSpPr>
        <p:spPr>
          <a:xfrm>
            <a:off x="812800" y="6219031"/>
            <a:ext cx="21209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/>
              <a:t>[1], [2]….</a:t>
            </a:r>
          </a:p>
        </p:txBody>
      </p:sp>
      <p:cxnSp>
        <p:nvCxnSpPr>
          <p:cNvPr id="13" name="Straight Arrow Connector 21">
            <a:extLst>
              <a:ext uri="{FF2B5EF4-FFF2-40B4-BE49-F238E27FC236}">
                <a16:creationId xmlns:a16="http://schemas.microsoft.com/office/drawing/2014/main" id="{C9F1C9AE-6377-666B-8F06-CF0B8B317160}"/>
              </a:ext>
            </a:extLst>
          </p:cNvPr>
          <p:cNvCxnSpPr>
            <a:cxnSpLocks/>
          </p:cNvCxnSpPr>
          <p:nvPr userDrawn="1"/>
        </p:nvCxnSpPr>
        <p:spPr>
          <a:xfrm flipH="1">
            <a:off x="1502229" y="4898571"/>
            <a:ext cx="1487714" cy="131838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7">
            <a:extLst>
              <a:ext uri="{FF2B5EF4-FFF2-40B4-BE49-F238E27FC236}">
                <a16:creationId xmlns:a16="http://schemas.microsoft.com/office/drawing/2014/main" id="{8C56F642-24B4-9889-6DFF-DDDACEFB7E68}"/>
              </a:ext>
            </a:extLst>
          </p:cNvPr>
          <p:cNvSpPr/>
          <p:nvPr userDrawn="1"/>
        </p:nvSpPr>
        <p:spPr>
          <a:xfrm>
            <a:off x="5256400" y="1634301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err="1"/>
              <a:t>This</a:t>
            </a:r>
            <a:r>
              <a:rPr lang="it-IT"/>
              <a:t> slide </a:t>
            </a:r>
            <a:r>
              <a:rPr lang="it-IT" err="1"/>
              <a:t>is</a:t>
            </a:r>
            <a:r>
              <a:rPr lang="it-IT"/>
              <a:t> </a:t>
            </a:r>
            <a:r>
              <a:rPr lang="it-IT" err="1"/>
              <a:t>only</a:t>
            </a:r>
            <a:r>
              <a:rPr lang="it-IT"/>
              <a:t> for </a:t>
            </a:r>
            <a:r>
              <a:rPr lang="it-IT" err="1"/>
              <a:t>explanation</a:t>
            </a:r>
            <a:r>
              <a:rPr lang="it-IT"/>
              <a:t>, </a:t>
            </a:r>
            <a:r>
              <a:rPr lang="it-IT" err="1"/>
              <a:t>dont´t</a:t>
            </a:r>
            <a:r>
              <a:rPr lang="it-IT"/>
              <a:t> use </a:t>
            </a:r>
            <a:r>
              <a:rPr lang="it-IT" err="1"/>
              <a:t>it!</a:t>
            </a:r>
            <a:endParaRPr lang="en-GB"/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F5B6D5E1-3173-F7DB-AFEA-577613F3A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10/21/2025</a:t>
            </a:r>
            <a:endParaRPr lang="en-GB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4201E827-9609-58AA-70BC-996E2AD05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DE013F6E-0CEE-85C3-4AD1-ADEED88F5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8" name="Textplatzhalter 16">
            <a:extLst>
              <a:ext uri="{FF2B5EF4-FFF2-40B4-BE49-F238E27FC236}">
                <a16:creationId xmlns:a16="http://schemas.microsoft.com/office/drawing/2014/main" id="{4C7AB516-D061-772D-6849-99EBB44689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819884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/>
              <a:t>1. Title, </a:t>
            </a:r>
            <a:r>
              <a:rPr lang="de-DE" err="1"/>
              <a:t>example</a:t>
            </a:r>
            <a:r>
              <a:rPr lang="de-DE"/>
              <a:t>: Tasks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week</a:t>
            </a:r>
            <a:r>
              <a:rPr lang="de-DE"/>
              <a:t>  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err="1"/>
              <a:t>Abcd</a:t>
            </a:r>
            <a:endParaRPr lang="de-DE"/>
          </a:p>
          <a:p>
            <a:pPr lvl="1"/>
            <a:r>
              <a:rPr lang="de-DE" err="1"/>
              <a:t>efgh</a:t>
            </a:r>
            <a:endParaRPr lang="de-DE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platzhalter 16">
            <a:extLst>
              <a:ext uri="{FF2B5EF4-FFF2-40B4-BE49-F238E27FC236}">
                <a16:creationId xmlns:a16="http://schemas.microsoft.com/office/drawing/2014/main" id="{479D6A9B-7716-D398-EE18-2F2D6AC11B7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Vijay </a:t>
            </a:r>
            <a:r>
              <a:rPr lang="de-DE" err="1"/>
              <a:t>Simha</a:t>
            </a:r>
            <a:r>
              <a:rPr lang="de-DE"/>
              <a:t> Reddy </a:t>
            </a:r>
            <a:r>
              <a:rPr lang="de-DE" err="1"/>
              <a:t>Bogala</a:t>
            </a:r>
            <a:r>
              <a:rPr lang="de-DE"/>
              <a:t>, Josef Remberger</a:t>
            </a:r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45BE17EA-55E6-D579-4D1F-7901F944C6AA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/>
              <a:t>10/21/2025</a:t>
            </a:r>
            <a:endParaRPr lang="en-GB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810CEF70-3482-4FC0-A3A4-7FB408C94A4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4879E7A9-C563-396E-C6B6-B45497D433BD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AB8CDF8-03C0-DF20-0ABC-80A78BDABFB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9023" y="6216958"/>
            <a:ext cx="2248453" cy="309850"/>
          </a:xfrm>
        </p:spPr>
        <p:txBody>
          <a:bodyPr/>
          <a:lstStyle>
            <a:lvl2pPr marL="457200" indent="0">
              <a:buNone/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[1], [2]….</a:t>
            </a:r>
          </a:p>
          <a:p>
            <a:pPr lvl="1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62453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item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/>
              <a:t>1-i. </a:t>
            </a:r>
            <a:r>
              <a:rPr lang="de-DE" err="1"/>
              <a:t>Example</a:t>
            </a:r>
            <a:r>
              <a:rPr lang="de-DE"/>
              <a:t>: </a:t>
            </a:r>
            <a:r>
              <a:rPr lang="de-DE" err="1"/>
              <a:t>Drawings</a:t>
            </a:r>
            <a:r>
              <a:rPr lang="de-DE"/>
              <a:t> </a:t>
            </a:r>
            <a:r>
              <a:rPr lang="de-DE" err="1"/>
              <a:t>from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week</a:t>
            </a:r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err="1"/>
              <a:t>Abcd</a:t>
            </a:r>
            <a:r>
              <a:rPr lang="de-DE"/>
              <a:t> (</a:t>
            </a:r>
            <a:r>
              <a:rPr lang="de-DE" err="1"/>
              <a:t>Aptos</a:t>
            </a:r>
            <a:r>
              <a:rPr lang="de-DE"/>
              <a:t> 22)</a:t>
            </a:r>
          </a:p>
          <a:p>
            <a:pPr lvl="1"/>
            <a:r>
              <a:rPr lang="de-DE" err="1"/>
              <a:t>efgh</a:t>
            </a:r>
            <a:r>
              <a:rPr lang="de-DE"/>
              <a:t> (</a:t>
            </a:r>
            <a:r>
              <a:rPr lang="de-DE" err="1"/>
              <a:t>Aptos</a:t>
            </a:r>
            <a:r>
              <a:rPr lang="de-DE"/>
              <a:t> 20)</a:t>
            </a:r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6">
            <a:extLst>
              <a:ext uri="{FF2B5EF4-FFF2-40B4-BE49-F238E27FC236}">
                <a16:creationId xmlns:a16="http://schemas.microsoft.com/office/drawing/2014/main" id="{703A19AF-E449-D353-12E1-A3DAF32E3EAB}"/>
              </a:ext>
            </a:extLst>
          </p:cNvPr>
          <p:cNvSpPr/>
          <p:nvPr userDrawn="1"/>
        </p:nvSpPr>
        <p:spPr>
          <a:xfrm>
            <a:off x="5218873" y="2853022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650D751B-3D4C-8864-D7F4-6EC8348A31EE}"/>
              </a:ext>
            </a:extLst>
          </p:cNvPr>
          <p:cNvSpPr/>
          <p:nvPr userDrawn="1"/>
        </p:nvSpPr>
        <p:spPr>
          <a:xfrm>
            <a:off x="4025317" y="4094711"/>
            <a:ext cx="3933255" cy="1298198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err="1"/>
              <a:t>This</a:t>
            </a:r>
            <a:r>
              <a:rPr lang="it-IT"/>
              <a:t> </a:t>
            </a:r>
            <a:r>
              <a:rPr lang="it-IT" err="1"/>
              <a:t>is</a:t>
            </a:r>
            <a:r>
              <a:rPr lang="it-IT"/>
              <a:t> an </a:t>
            </a:r>
            <a:r>
              <a:rPr lang="it-IT" err="1"/>
              <a:t>example</a:t>
            </a:r>
            <a:r>
              <a:rPr lang="it-IT"/>
              <a:t> BUT </a:t>
            </a:r>
            <a:r>
              <a:rPr lang="it-IT" err="1"/>
              <a:t>if</a:t>
            </a:r>
            <a:r>
              <a:rPr lang="it-IT"/>
              <a:t> </a:t>
            </a:r>
            <a:r>
              <a:rPr lang="it-IT" err="1"/>
              <a:t>you</a:t>
            </a:r>
            <a:r>
              <a:rPr lang="it-IT"/>
              <a:t> use </a:t>
            </a:r>
            <a:r>
              <a:rPr lang="it-IT" err="1"/>
              <a:t>underpoints</a:t>
            </a:r>
            <a:r>
              <a:rPr lang="it-IT"/>
              <a:t> </a:t>
            </a:r>
            <a:r>
              <a:rPr lang="it-IT" err="1"/>
              <a:t>please</a:t>
            </a:r>
            <a:r>
              <a:rPr lang="it-IT"/>
              <a:t> with the i, ii, iii….</a:t>
            </a:r>
            <a:endParaRPr lang="en-GB"/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9BDEC9EB-F30A-F42A-26C3-F9AE08765705}"/>
              </a:ext>
            </a:extLst>
          </p:cNvPr>
          <p:cNvSpPr/>
          <p:nvPr userDrawn="1"/>
        </p:nvSpPr>
        <p:spPr>
          <a:xfrm>
            <a:off x="5727842" y="3001184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4BA2A1-6BBA-CA7A-578A-6529C5AD3CFE}"/>
              </a:ext>
            </a:extLst>
          </p:cNvPr>
          <p:cNvSpPr/>
          <p:nvPr userDrawn="1"/>
        </p:nvSpPr>
        <p:spPr>
          <a:xfrm>
            <a:off x="927758" y="2796999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err="1"/>
              <a:t>This</a:t>
            </a:r>
            <a:r>
              <a:rPr lang="it-IT"/>
              <a:t> slide </a:t>
            </a:r>
            <a:r>
              <a:rPr lang="it-IT" err="1"/>
              <a:t>is</a:t>
            </a:r>
            <a:r>
              <a:rPr lang="it-IT"/>
              <a:t> </a:t>
            </a:r>
            <a:r>
              <a:rPr lang="it-IT" err="1"/>
              <a:t>only</a:t>
            </a:r>
            <a:r>
              <a:rPr lang="it-IT"/>
              <a:t> for </a:t>
            </a:r>
            <a:r>
              <a:rPr lang="it-IT" err="1"/>
              <a:t>explanation</a:t>
            </a:r>
            <a:r>
              <a:rPr lang="it-IT"/>
              <a:t>, </a:t>
            </a:r>
            <a:r>
              <a:rPr lang="it-IT" err="1"/>
              <a:t>dont´t</a:t>
            </a:r>
            <a:r>
              <a:rPr lang="it-IT"/>
              <a:t> use </a:t>
            </a:r>
            <a:r>
              <a:rPr lang="it-IT" err="1"/>
              <a:t>it!</a:t>
            </a:r>
            <a:endParaRPr lang="en-GB"/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19E5AF50-94A3-4308-3B68-BAD76E7A7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10/21/2025</a:t>
            </a:r>
            <a:endParaRPr lang="en-GB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9798D87B-B794-AD8A-40F1-DEA4D547F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5E6253E5-E305-7986-3017-8FAC6F34D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5" name="Textplatzhalter 16">
            <a:extLst>
              <a:ext uri="{FF2B5EF4-FFF2-40B4-BE49-F238E27FC236}">
                <a16:creationId xmlns:a16="http://schemas.microsoft.com/office/drawing/2014/main" id="{7E202380-1BD6-7A10-C51A-497A42391B9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2382285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ubit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/>
              <a:t>1-i. </a:t>
            </a:r>
            <a:r>
              <a:rPr lang="de-DE" err="1"/>
              <a:t>Example</a:t>
            </a:r>
            <a:r>
              <a:rPr lang="de-DE"/>
              <a:t>: </a:t>
            </a:r>
            <a:r>
              <a:rPr lang="de-DE" err="1"/>
              <a:t>Drawings</a:t>
            </a:r>
            <a:r>
              <a:rPr lang="de-DE"/>
              <a:t> </a:t>
            </a:r>
            <a:r>
              <a:rPr lang="de-DE" err="1"/>
              <a:t>from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week</a:t>
            </a:r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err="1"/>
              <a:t>Abcd</a:t>
            </a:r>
            <a:endParaRPr lang="de-DE"/>
          </a:p>
          <a:p>
            <a:pPr lvl="1"/>
            <a:r>
              <a:rPr lang="de-DE" err="1"/>
              <a:t>efgh</a:t>
            </a:r>
            <a:endParaRPr lang="de-DE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5228F91E-E7AD-B275-5A60-89428222D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10/21/2025</a:t>
            </a:r>
            <a:endParaRPr lang="en-GB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8F4F81C7-2C44-8CF8-2928-655E74DC8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260D8F3F-3088-D685-66AD-D2110FD40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29BD9540-0DAC-F607-0D84-145CAF084DC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Vijay </a:t>
            </a:r>
            <a:r>
              <a:rPr lang="de-DE" err="1"/>
              <a:t>Simha</a:t>
            </a:r>
            <a:r>
              <a:rPr lang="de-DE"/>
              <a:t> Reddy </a:t>
            </a:r>
            <a:r>
              <a:rPr lang="de-DE" err="1"/>
              <a:t>Bogala</a:t>
            </a:r>
            <a:r>
              <a:rPr lang="de-DE"/>
              <a:t>, Josef Remberger</a:t>
            </a:r>
          </a:p>
        </p:txBody>
      </p:sp>
      <p:sp>
        <p:nvSpPr>
          <p:cNvPr id="4" name="Textplatzhalter 4">
            <a:extLst>
              <a:ext uri="{FF2B5EF4-FFF2-40B4-BE49-F238E27FC236}">
                <a16:creationId xmlns:a16="http://schemas.microsoft.com/office/drawing/2014/main" id="{9943038B-A8F9-48D6-0A29-94D4AA659F6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9023" y="6216958"/>
            <a:ext cx="2248453" cy="309850"/>
          </a:xfrm>
        </p:spPr>
        <p:txBody>
          <a:bodyPr/>
          <a:lstStyle>
            <a:lvl2pPr marL="457200" indent="0">
              <a:buNone/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[1], [2]….</a:t>
            </a:r>
          </a:p>
          <a:p>
            <a:pPr lvl="1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84912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X. Graph</a:t>
            </a:r>
            <a:endParaRPr lang="en-GB"/>
          </a:p>
        </p:txBody>
      </p:sp>
      <p:pic>
        <p:nvPicPr>
          <p:cNvPr id="6" name="Picture 2" descr="How HOMER Calculates Wind Turbine Power Output">
            <a:extLst>
              <a:ext uri="{FF2B5EF4-FFF2-40B4-BE49-F238E27FC236}">
                <a16:creationId xmlns:a16="http://schemas.microsoft.com/office/drawing/2014/main" id="{002A61B1-6859-B9E0-5E8D-876C02B28C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70DEEB4B-BB48-7BA1-DC37-D3F70525E158}"/>
              </a:ext>
            </a:extLst>
          </p:cNvPr>
          <p:cNvSpPr txBox="1"/>
          <p:nvPr userDrawn="1"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/>
              <a:t>(</a:t>
            </a:r>
            <a:r>
              <a:rPr lang="it-IT" sz="1100" err="1"/>
              <a:t>Description</a:t>
            </a:r>
            <a:r>
              <a:rPr lang="it-IT" sz="1100"/>
              <a:t> of the </a:t>
            </a:r>
            <a:r>
              <a:rPr lang="it-IT" sz="1100" err="1"/>
              <a:t>graph</a:t>
            </a:r>
            <a:r>
              <a:rPr lang="it-IT" sz="1100"/>
              <a:t>, </a:t>
            </a:r>
            <a:r>
              <a:rPr lang="it-IT" sz="1100" err="1"/>
              <a:t>example</a:t>
            </a:r>
            <a:r>
              <a:rPr lang="it-IT" sz="1100"/>
              <a:t>: </a:t>
            </a:r>
            <a:r>
              <a:rPr lang="it-IT" sz="1100" i="1"/>
              <a:t>power curve power over wind speed</a:t>
            </a:r>
            <a:r>
              <a:rPr lang="it-IT" sz="1100"/>
              <a:t> )</a:t>
            </a:r>
          </a:p>
          <a:p>
            <a:r>
              <a:rPr lang="it-IT" sz="1100"/>
              <a:t>(</a:t>
            </a:r>
            <a:r>
              <a:rPr lang="it-IT" sz="1100" err="1"/>
              <a:t>Citation</a:t>
            </a:r>
            <a:r>
              <a:rPr lang="it-IT" sz="1100"/>
              <a:t> of the sources, </a:t>
            </a:r>
            <a:r>
              <a:rPr lang="it-IT" sz="1100" err="1"/>
              <a:t>example</a:t>
            </a:r>
            <a:r>
              <a:rPr lang="it-IT" sz="1100"/>
              <a:t>:</a:t>
            </a:r>
            <a:r>
              <a:rPr lang="it-IT" sz="1100" b="1"/>
              <a:t> </a:t>
            </a:r>
            <a:r>
              <a:rPr lang="it-IT" sz="1100" b="0"/>
              <a:t>[1] </a:t>
            </a:r>
            <a:r>
              <a:rPr lang="it-IT" sz="1100"/>
              <a:t>)  </a:t>
            </a:r>
          </a:p>
          <a:p>
            <a:r>
              <a:rPr lang="it-IT" sz="1100"/>
              <a:t>(Last date of access, </a:t>
            </a:r>
            <a:r>
              <a:rPr lang="it-IT" sz="1100" err="1"/>
              <a:t>example</a:t>
            </a:r>
            <a:r>
              <a:rPr lang="it-IT" sz="1100"/>
              <a:t>: 21/12/2015)</a:t>
            </a:r>
            <a:endParaRPr lang="en-GB" sz="1100"/>
          </a:p>
        </p:txBody>
      </p:sp>
      <p:cxnSp>
        <p:nvCxnSpPr>
          <p:cNvPr id="8" name="Connector: Elbow 6">
            <a:extLst>
              <a:ext uri="{FF2B5EF4-FFF2-40B4-BE49-F238E27FC236}">
                <a16:creationId xmlns:a16="http://schemas.microsoft.com/office/drawing/2014/main" id="{7A01EE56-12C5-DD96-C172-C145A0ED64CB}"/>
              </a:ext>
            </a:extLst>
          </p:cNvPr>
          <p:cNvCxnSpPr>
            <a:cxnSpLocks/>
          </p:cNvCxnSpPr>
          <p:nvPr userDrawn="1"/>
        </p:nvCxnSpPr>
        <p:spPr>
          <a:xfrm rot="10800000" flipV="1">
            <a:off x="3791371" y="4238699"/>
            <a:ext cx="4563205" cy="1222134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15">
            <a:extLst>
              <a:ext uri="{FF2B5EF4-FFF2-40B4-BE49-F238E27FC236}">
                <a16:creationId xmlns:a16="http://schemas.microsoft.com/office/drawing/2014/main" id="{EE3D1715-661B-80A0-F167-264ACC369A68}"/>
              </a:ext>
            </a:extLst>
          </p:cNvPr>
          <p:cNvSpPr/>
          <p:nvPr userDrawn="1"/>
        </p:nvSpPr>
        <p:spPr>
          <a:xfrm>
            <a:off x="7796637" y="3405202"/>
            <a:ext cx="3922209" cy="2011693"/>
          </a:xfrm>
          <a:prstGeom prst="ellips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400" err="1"/>
              <a:t>Add</a:t>
            </a:r>
            <a:r>
              <a:rPr lang="it-IT" sz="1400"/>
              <a:t> a link to the </a:t>
            </a:r>
            <a:r>
              <a:rPr lang="it-IT" sz="1400" err="1"/>
              <a:t>reference</a:t>
            </a:r>
            <a:r>
              <a:rPr lang="it-IT" sz="1400"/>
              <a:t> </a:t>
            </a:r>
            <a:r>
              <a:rPr lang="it-IT" sz="1400" err="1"/>
              <a:t>number</a:t>
            </a:r>
            <a:r>
              <a:rPr lang="it-IT" sz="1400"/>
              <a:t> </a:t>
            </a:r>
            <a:r>
              <a:rPr lang="it-IT" sz="1400" err="1"/>
              <a:t>that</a:t>
            </a:r>
            <a:r>
              <a:rPr lang="it-IT" sz="1400"/>
              <a:t> </a:t>
            </a:r>
            <a:r>
              <a:rPr lang="it-IT" sz="1400" err="1"/>
              <a:t>goes</a:t>
            </a:r>
            <a:r>
              <a:rPr lang="it-IT" sz="1400"/>
              <a:t> to the last slide: highlight the </a:t>
            </a:r>
            <a:r>
              <a:rPr lang="it-IT" sz="1400" err="1"/>
              <a:t>number</a:t>
            </a:r>
            <a:r>
              <a:rPr lang="it-IT" sz="1400"/>
              <a:t>-&gt;</a:t>
            </a:r>
            <a:r>
              <a:rPr lang="it-IT" sz="1400" err="1"/>
              <a:t>right</a:t>
            </a:r>
            <a:r>
              <a:rPr lang="it-IT" sz="1400"/>
              <a:t> click-&gt;</a:t>
            </a:r>
            <a:r>
              <a:rPr lang="it-IT" sz="1400" err="1"/>
              <a:t>select</a:t>
            </a:r>
            <a:r>
              <a:rPr lang="it-IT" sz="1400"/>
              <a:t> link-&gt;place in </a:t>
            </a:r>
            <a:r>
              <a:rPr lang="it-IT" sz="1400" err="1"/>
              <a:t>this</a:t>
            </a:r>
            <a:r>
              <a:rPr lang="it-IT" sz="1400"/>
              <a:t> </a:t>
            </a:r>
            <a:r>
              <a:rPr lang="it-IT" sz="1400" err="1"/>
              <a:t>document</a:t>
            </a:r>
            <a:r>
              <a:rPr lang="it-IT" sz="1400"/>
              <a:t>-&gt;</a:t>
            </a:r>
            <a:r>
              <a:rPr lang="it-IT" sz="1400" err="1"/>
              <a:t>select</a:t>
            </a:r>
            <a:r>
              <a:rPr lang="it-IT" sz="1400"/>
              <a:t> last slide</a:t>
            </a:r>
            <a:endParaRPr lang="en-GB" sz="1400"/>
          </a:p>
        </p:txBody>
      </p:sp>
      <p:cxnSp>
        <p:nvCxnSpPr>
          <p:cNvPr id="10" name="Straight Connector 5">
            <a:extLst>
              <a:ext uri="{FF2B5EF4-FFF2-40B4-BE49-F238E27FC236}">
                <a16:creationId xmlns:a16="http://schemas.microsoft.com/office/drawing/2014/main" id="{9CCD7462-E12C-CDA3-D609-4AB679728A2E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7">
            <a:extLst>
              <a:ext uri="{FF2B5EF4-FFF2-40B4-BE49-F238E27FC236}">
                <a16:creationId xmlns:a16="http://schemas.microsoft.com/office/drawing/2014/main" id="{A1188C36-D6CB-FA53-013E-FC56AD427952}"/>
              </a:ext>
            </a:extLst>
          </p:cNvPr>
          <p:cNvSpPr/>
          <p:nvPr userDrawn="1"/>
        </p:nvSpPr>
        <p:spPr>
          <a:xfrm>
            <a:off x="6495002" y="1875014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err="1"/>
              <a:t>This</a:t>
            </a:r>
            <a:r>
              <a:rPr lang="it-IT"/>
              <a:t> slide </a:t>
            </a:r>
            <a:r>
              <a:rPr lang="it-IT" err="1"/>
              <a:t>is</a:t>
            </a:r>
            <a:r>
              <a:rPr lang="it-IT"/>
              <a:t> </a:t>
            </a:r>
            <a:r>
              <a:rPr lang="it-IT" err="1"/>
              <a:t>only</a:t>
            </a:r>
            <a:r>
              <a:rPr lang="it-IT"/>
              <a:t> for </a:t>
            </a:r>
            <a:r>
              <a:rPr lang="it-IT" err="1"/>
              <a:t>explanation</a:t>
            </a:r>
            <a:r>
              <a:rPr lang="it-IT"/>
              <a:t>, </a:t>
            </a:r>
            <a:r>
              <a:rPr lang="it-IT" err="1"/>
              <a:t>dont´t</a:t>
            </a:r>
            <a:r>
              <a:rPr lang="it-IT"/>
              <a:t> use </a:t>
            </a:r>
            <a:r>
              <a:rPr lang="it-IT" err="1"/>
              <a:t>it!</a:t>
            </a:r>
            <a:endParaRPr lang="en-GB"/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749D4654-CB69-04EA-986A-2264B7AF4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10/21/2025</a:t>
            </a:r>
            <a:endParaRPr lang="en-GB"/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FC28337D-790B-E06F-0074-04AA48B92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A2A63292-0139-33E2-79E8-D1F485A4C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5" name="Textplatzhalter 16">
            <a:extLst>
              <a:ext uri="{FF2B5EF4-FFF2-40B4-BE49-F238E27FC236}">
                <a16:creationId xmlns:a16="http://schemas.microsoft.com/office/drawing/2014/main" id="{596BA109-7562-188F-19E6-BAFF28DC5C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9951101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X. Graph</a:t>
            </a:r>
            <a:endParaRPr lang="en-GB"/>
          </a:p>
        </p:txBody>
      </p:sp>
      <p:pic>
        <p:nvPicPr>
          <p:cNvPr id="6" name="Picture 2" descr="How HOMER Calculates Wind Turbine Power Output">
            <a:extLst>
              <a:ext uri="{FF2B5EF4-FFF2-40B4-BE49-F238E27FC236}">
                <a16:creationId xmlns:a16="http://schemas.microsoft.com/office/drawing/2014/main" id="{002A61B1-6859-B9E0-5E8D-876C02B28C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70DEEB4B-BB48-7BA1-DC37-D3F70525E158}"/>
              </a:ext>
            </a:extLst>
          </p:cNvPr>
          <p:cNvSpPr txBox="1"/>
          <p:nvPr userDrawn="1"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/>
              <a:t>(</a:t>
            </a:r>
            <a:r>
              <a:rPr lang="it-IT" sz="1100" err="1"/>
              <a:t>Description</a:t>
            </a:r>
            <a:r>
              <a:rPr lang="it-IT" sz="1100"/>
              <a:t> of the </a:t>
            </a:r>
            <a:r>
              <a:rPr lang="it-IT" sz="1100" err="1"/>
              <a:t>graph</a:t>
            </a:r>
            <a:r>
              <a:rPr lang="it-IT" sz="1100"/>
              <a:t>, </a:t>
            </a:r>
            <a:r>
              <a:rPr lang="it-IT" sz="1100" err="1"/>
              <a:t>example</a:t>
            </a:r>
            <a:r>
              <a:rPr lang="it-IT" sz="1100"/>
              <a:t>: </a:t>
            </a:r>
            <a:r>
              <a:rPr lang="it-IT" sz="1100" i="1"/>
              <a:t>power curve power over wind speed</a:t>
            </a:r>
            <a:r>
              <a:rPr lang="it-IT" sz="1100"/>
              <a:t> )</a:t>
            </a:r>
          </a:p>
          <a:p>
            <a:r>
              <a:rPr lang="it-IT" sz="1100"/>
              <a:t>(</a:t>
            </a:r>
            <a:r>
              <a:rPr lang="it-IT" sz="1100" err="1"/>
              <a:t>Citation</a:t>
            </a:r>
            <a:r>
              <a:rPr lang="it-IT" sz="1100"/>
              <a:t> of the sources, </a:t>
            </a:r>
            <a:r>
              <a:rPr lang="it-IT" sz="1100" err="1"/>
              <a:t>example</a:t>
            </a:r>
            <a:r>
              <a:rPr lang="it-IT" sz="1100"/>
              <a:t>:</a:t>
            </a:r>
            <a:r>
              <a:rPr lang="it-IT" sz="1100" b="1"/>
              <a:t> </a:t>
            </a:r>
            <a:r>
              <a:rPr lang="it-IT" sz="1100" b="0"/>
              <a:t>[1] </a:t>
            </a:r>
            <a:r>
              <a:rPr lang="it-IT" sz="1100"/>
              <a:t>)  </a:t>
            </a:r>
          </a:p>
          <a:p>
            <a:r>
              <a:rPr lang="it-IT" sz="1100"/>
              <a:t>(Last date of access, </a:t>
            </a:r>
            <a:r>
              <a:rPr lang="it-IT" sz="1100" err="1"/>
              <a:t>example</a:t>
            </a:r>
            <a:r>
              <a:rPr lang="it-IT" sz="1100"/>
              <a:t>: 21/12/2015)</a:t>
            </a:r>
            <a:endParaRPr lang="en-GB" sz="1100"/>
          </a:p>
        </p:txBody>
      </p:sp>
      <p:cxnSp>
        <p:nvCxnSpPr>
          <p:cNvPr id="10" name="Straight Connector 5">
            <a:extLst>
              <a:ext uri="{FF2B5EF4-FFF2-40B4-BE49-F238E27FC236}">
                <a16:creationId xmlns:a16="http://schemas.microsoft.com/office/drawing/2014/main" id="{9CCD7462-E12C-CDA3-D609-4AB679728A2E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98D8651D-3525-44E9-EF74-5AE1C96E2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10/21/2025</a:t>
            </a:r>
            <a:endParaRPr lang="en-GB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FC35C132-0CB8-F9A6-EC6C-F3AC1F1B3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722F58FF-5AD5-CF97-4FEE-FB1F38CD9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2" name="Textplatzhalter 16">
            <a:extLst>
              <a:ext uri="{FF2B5EF4-FFF2-40B4-BE49-F238E27FC236}">
                <a16:creationId xmlns:a16="http://schemas.microsoft.com/office/drawing/2014/main" id="{DC21B0DD-4D97-871C-E587-F10AD55D8B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Vijay </a:t>
            </a:r>
            <a:r>
              <a:rPr lang="de-DE" err="1"/>
              <a:t>Simha</a:t>
            </a:r>
            <a:r>
              <a:rPr lang="de-DE"/>
              <a:t> Reddy </a:t>
            </a:r>
            <a:r>
              <a:rPr lang="de-DE" err="1"/>
              <a:t>Bogala</a:t>
            </a:r>
            <a:r>
              <a:rPr lang="de-DE"/>
              <a:t>, Josef Remberger</a:t>
            </a:r>
          </a:p>
        </p:txBody>
      </p:sp>
    </p:spTree>
    <p:extLst>
      <p:ext uri="{BB962C8B-B14F-4D97-AF65-F5344CB8AC3E}">
        <p14:creationId xmlns:p14="http://schemas.microsoft.com/office/powerpoint/2010/main" val="34346517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bliography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err="1"/>
              <a:t>Bibliography</a:t>
            </a:r>
            <a:r>
              <a:rPr lang="de-DE"/>
              <a:t> – </a:t>
            </a:r>
            <a:r>
              <a:rPr lang="de-DE" err="1"/>
              <a:t>team</a:t>
            </a:r>
            <a:r>
              <a:rPr lang="de-DE"/>
              <a:t> </a:t>
            </a:r>
            <a:r>
              <a:rPr lang="de-DE" err="1"/>
              <a:t>name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/>
              <a:t>[1] </a:t>
            </a:r>
            <a:r>
              <a:rPr lang="en-GB"/>
              <a:t>“How HOMER Calculates Wind Turbine Power Output,” </a:t>
            </a:r>
            <a:r>
              <a:rPr lang="en-GB" i="1"/>
              <a:t>Homerenergy.com</a:t>
            </a:r>
            <a:r>
              <a:rPr lang="en-GB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[2] …..</a:t>
            </a:r>
            <a:endParaRPr lang="it-IT"/>
          </a:p>
          <a:p>
            <a:pPr lvl="0"/>
            <a:endParaRPr lang="de-DE"/>
          </a:p>
        </p:txBody>
      </p:sp>
      <p:cxnSp>
        <p:nvCxnSpPr>
          <p:cNvPr id="6" name="Straight Arrow Connector 21">
            <a:extLst>
              <a:ext uri="{FF2B5EF4-FFF2-40B4-BE49-F238E27FC236}">
                <a16:creationId xmlns:a16="http://schemas.microsoft.com/office/drawing/2014/main" id="{9B5BA113-ABD0-9B33-1E2F-5863B083FE29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4994031" y="2734408"/>
            <a:ext cx="1245576" cy="18375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22">
            <a:extLst>
              <a:ext uri="{FF2B5EF4-FFF2-40B4-BE49-F238E27FC236}">
                <a16:creationId xmlns:a16="http://schemas.microsoft.com/office/drawing/2014/main" id="{59531AAE-8AA3-6039-F69E-EDD1AF57C810}"/>
              </a:ext>
            </a:extLst>
          </p:cNvPr>
          <p:cNvSpPr/>
          <p:nvPr userDrawn="1"/>
        </p:nvSpPr>
        <p:spPr>
          <a:xfrm>
            <a:off x="4475285" y="4572000"/>
            <a:ext cx="5969977" cy="167786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/>
              <a:t>The style </a:t>
            </a:r>
            <a:r>
              <a:rPr lang="it-IT" err="1"/>
              <a:t>chosen</a:t>
            </a:r>
            <a:r>
              <a:rPr lang="it-IT"/>
              <a:t> for </a:t>
            </a:r>
            <a:r>
              <a:rPr lang="it-IT" err="1"/>
              <a:t>citation</a:t>
            </a:r>
            <a:r>
              <a:rPr lang="it-IT"/>
              <a:t> </a:t>
            </a:r>
            <a:r>
              <a:rPr lang="it-IT" err="1"/>
              <a:t>is</a:t>
            </a:r>
            <a:r>
              <a:rPr lang="it-IT"/>
              <a:t> IEEE, so </a:t>
            </a:r>
            <a:r>
              <a:rPr lang="it-IT" err="1"/>
              <a:t>if</a:t>
            </a:r>
            <a:r>
              <a:rPr lang="it-IT"/>
              <a:t> </a:t>
            </a:r>
            <a:r>
              <a:rPr lang="it-IT" err="1"/>
              <a:t>you</a:t>
            </a:r>
            <a:r>
              <a:rPr lang="it-IT"/>
              <a:t> </a:t>
            </a:r>
            <a:r>
              <a:rPr lang="it-IT" err="1"/>
              <a:t>want</a:t>
            </a:r>
            <a:r>
              <a:rPr lang="it-IT"/>
              <a:t> to create </a:t>
            </a:r>
            <a:r>
              <a:rPr lang="it-IT" err="1"/>
              <a:t>your</a:t>
            </a:r>
            <a:r>
              <a:rPr lang="it-IT"/>
              <a:t> </a:t>
            </a:r>
            <a:r>
              <a:rPr lang="it-IT" err="1"/>
              <a:t>citation</a:t>
            </a:r>
            <a:r>
              <a:rPr lang="it-IT"/>
              <a:t> follow </a:t>
            </a:r>
            <a:r>
              <a:rPr lang="it-IT" err="1"/>
              <a:t>that</a:t>
            </a:r>
            <a:r>
              <a:rPr lang="it-IT"/>
              <a:t> style. </a:t>
            </a:r>
            <a:r>
              <a:rPr lang="it-IT" err="1"/>
              <a:t>If</a:t>
            </a:r>
            <a:r>
              <a:rPr lang="it-IT"/>
              <a:t> </a:t>
            </a:r>
            <a:r>
              <a:rPr lang="it-IT" err="1"/>
              <a:t>you</a:t>
            </a:r>
            <a:r>
              <a:rPr lang="it-IT"/>
              <a:t> </a:t>
            </a:r>
            <a:r>
              <a:rPr lang="it-IT" err="1"/>
              <a:t>want</a:t>
            </a:r>
            <a:r>
              <a:rPr lang="it-IT"/>
              <a:t> to create an IEEE </a:t>
            </a:r>
            <a:r>
              <a:rPr lang="it-IT" err="1"/>
              <a:t>citation</a:t>
            </a:r>
            <a:r>
              <a:rPr lang="it-IT"/>
              <a:t> from a website, </a:t>
            </a:r>
            <a:r>
              <a:rPr lang="it-IT" err="1"/>
              <a:t>you</a:t>
            </a:r>
            <a:r>
              <a:rPr lang="it-IT"/>
              <a:t> can use some free </a:t>
            </a:r>
            <a:r>
              <a:rPr lang="it-IT" err="1"/>
              <a:t>converters</a:t>
            </a:r>
            <a:r>
              <a:rPr lang="it-IT"/>
              <a:t> </a:t>
            </a:r>
            <a:r>
              <a:rPr lang="it-IT" err="1"/>
              <a:t>available</a:t>
            </a:r>
            <a:r>
              <a:rPr lang="it-IT"/>
              <a:t> on the internet, like:</a:t>
            </a:r>
          </a:p>
          <a:p>
            <a:pPr algn="ctr"/>
            <a:r>
              <a:rPr lang="en-GB" b="1">
                <a:hlinkClick r:id="rId2"/>
              </a:rPr>
              <a:t>https://www.mybib.com/tools/ieee-citation-generator</a:t>
            </a:r>
            <a:r>
              <a:rPr lang="en-GB" b="1"/>
              <a:t> </a:t>
            </a:r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7">
            <a:extLst>
              <a:ext uri="{FF2B5EF4-FFF2-40B4-BE49-F238E27FC236}">
                <a16:creationId xmlns:a16="http://schemas.microsoft.com/office/drawing/2014/main" id="{226F6F8F-D65D-4B43-5785-E89E617F8616}"/>
              </a:ext>
            </a:extLst>
          </p:cNvPr>
          <p:cNvSpPr/>
          <p:nvPr userDrawn="1"/>
        </p:nvSpPr>
        <p:spPr>
          <a:xfrm>
            <a:off x="908165" y="3299037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err="1"/>
              <a:t>This</a:t>
            </a:r>
            <a:r>
              <a:rPr lang="it-IT"/>
              <a:t> slide </a:t>
            </a:r>
            <a:r>
              <a:rPr lang="it-IT" err="1"/>
              <a:t>is</a:t>
            </a:r>
            <a:r>
              <a:rPr lang="it-IT"/>
              <a:t> </a:t>
            </a:r>
            <a:r>
              <a:rPr lang="it-IT" err="1"/>
              <a:t>only</a:t>
            </a:r>
            <a:r>
              <a:rPr lang="it-IT"/>
              <a:t> for </a:t>
            </a:r>
            <a:r>
              <a:rPr lang="it-IT" err="1"/>
              <a:t>explanation</a:t>
            </a:r>
            <a:r>
              <a:rPr lang="it-IT"/>
              <a:t>, </a:t>
            </a:r>
            <a:r>
              <a:rPr lang="it-IT" err="1"/>
              <a:t>dont´t</a:t>
            </a:r>
            <a:r>
              <a:rPr lang="it-IT"/>
              <a:t> use </a:t>
            </a:r>
            <a:r>
              <a:rPr lang="it-IT" err="1"/>
              <a:t>it!</a:t>
            </a:r>
            <a:endParaRPr lang="en-GB"/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376AEEC7-3E6C-8FE6-7104-34FC93794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10/21/2025</a:t>
            </a:r>
            <a:endParaRPr lang="en-GB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527D13C7-4982-3CF9-E6C0-8109C888A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44A0136B-0337-50A8-941C-6DC048DC6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A21B8924-2541-A57C-7990-899E2DC11F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4725558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ibliograp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err="1"/>
              <a:t>Bibliography</a:t>
            </a:r>
            <a:r>
              <a:rPr lang="de-DE"/>
              <a:t> – </a:t>
            </a:r>
            <a:r>
              <a:rPr lang="de-DE" err="1"/>
              <a:t>team</a:t>
            </a:r>
            <a:r>
              <a:rPr lang="de-DE"/>
              <a:t> </a:t>
            </a:r>
            <a:r>
              <a:rPr lang="de-DE" err="1"/>
              <a:t>name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/>
              <a:t>[1] </a:t>
            </a:r>
            <a:r>
              <a:rPr lang="en-GB"/>
              <a:t>“How HOMER Calculates Wind Turbine Power Output,” </a:t>
            </a:r>
            <a:r>
              <a:rPr lang="en-GB" i="1"/>
              <a:t>Homerenergy.com</a:t>
            </a:r>
            <a:r>
              <a:rPr lang="en-GB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[2] …..</a:t>
            </a:r>
            <a:endParaRPr lang="it-IT"/>
          </a:p>
          <a:p>
            <a:pPr lvl="0"/>
            <a:endParaRPr lang="de-DE"/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79BDC2AF-40F8-8529-16FE-AE51A8BD4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10/21/2025</a:t>
            </a:r>
            <a:endParaRPr lang="en-GB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3A36B392-F5AC-41D8-5903-3EE036BA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7595A811-7A18-1583-7B9C-87A7CBB7F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5E735FEA-D591-2E8E-B9B4-2A6BAFE00D4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Vijay </a:t>
            </a:r>
            <a:r>
              <a:rPr lang="de-DE" err="1"/>
              <a:t>Simha</a:t>
            </a:r>
            <a:r>
              <a:rPr lang="de-DE"/>
              <a:t> Reddy </a:t>
            </a:r>
            <a:r>
              <a:rPr lang="de-DE" err="1"/>
              <a:t>Bogala</a:t>
            </a:r>
            <a:r>
              <a:rPr lang="de-DE"/>
              <a:t>, Josef Remberger</a:t>
            </a:r>
          </a:p>
        </p:txBody>
      </p:sp>
    </p:spTree>
    <p:extLst>
      <p:ext uri="{BB962C8B-B14F-4D97-AF65-F5344CB8AC3E}">
        <p14:creationId xmlns:p14="http://schemas.microsoft.com/office/powerpoint/2010/main" val="23327956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13920-E451-6E8D-B0CB-C3FB9C0F7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CFBA5-B73E-6B89-322D-7C32A35A12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BF8199-371A-141A-1CD7-D551EEEFDF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16092FF3-E2C2-B5C5-579F-21F140EB3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10/21/2025</a:t>
            </a:r>
            <a:endParaRPr lang="en-GB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85AD0AE9-D3B7-2239-8DBB-350367E7D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E1BD0BA0-666C-E532-C68B-11386947B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027E2607-9D4B-3DD5-A6A2-FC3CB80BCC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4011222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BF7B7-87CF-1A3E-E33E-44DC6E015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B21B8D-C5F5-5242-4069-B1546B4BC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4D26CD-98BD-17E2-BE55-DBB74BBC64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3B8D60-279E-D76A-9222-12B704BAEB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1AF34B-F683-41AD-C71C-8E8C66CC4C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4EB4231A-B976-E0CE-75F3-D34A6911E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10/21/2025</a:t>
            </a:r>
            <a:endParaRPr lang="en-GB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2E601F58-36C8-D2D9-A619-7EE495853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EBFB4D11-F600-12A5-E5C2-DCA390332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3" name="Textplatzhalter 16">
            <a:extLst>
              <a:ext uri="{FF2B5EF4-FFF2-40B4-BE49-F238E27FC236}">
                <a16:creationId xmlns:a16="http://schemas.microsoft.com/office/drawing/2014/main" id="{39AFE95F-2805-F887-3AF4-313C835B173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72098297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A9CAB1E-C3D8-B43B-64D5-963D13F3D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10/21/2025</a:t>
            </a:r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B3E84C0-2A5E-8136-84E3-1F57CD264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79EE80A-8782-7800-16FF-963D026BC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platzhalter 16">
            <a:extLst>
              <a:ext uri="{FF2B5EF4-FFF2-40B4-BE49-F238E27FC236}">
                <a16:creationId xmlns:a16="http://schemas.microsoft.com/office/drawing/2014/main" id="{CFBF4831-0820-F79B-E15A-914A0E578D4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13652204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4D20E-7D43-D4CD-1058-46300B8EE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6584A-B476-0EA1-C12B-07C273F70E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694232-1597-B186-D108-397BCF214D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63342531-5FA3-5F71-CEB1-CFCD86F17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10/21/2025</a:t>
            </a:r>
            <a:endParaRPr lang="en-GB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0D108632-F456-C23D-6809-CF44E36A5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14F6375C-67FA-9BF2-A821-A5611C211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6E6CFA6E-C964-BB71-3D6D-D966EE46607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85264688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2DC87-27CE-5A07-9629-719DC91DE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65E744-3606-1D16-E7B2-58DAFC3E88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A9C703-BF20-85AF-358A-01ADED33CF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0DAC50BC-A24B-779F-0533-7A27D611B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10/21/2025</a:t>
            </a:r>
            <a:endParaRPr lang="en-GB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2B06DBDC-0EA1-59AB-DB5D-AEE297E61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3EB43FC5-BB47-1A87-75C6-C0AFB5C72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680B36F8-3A7C-6F05-A0AB-F3F43BA0922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8560794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44B09-72C5-4D15-0E4C-46764EB8C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B470E9-1D3C-D5B3-7A54-66BD900997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C34C088-08EA-3896-8F05-16D82C511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10/21/2025</a:t>
            </a:r>
            <a:endParaRPr lang="en-GB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8EA7E74-7B1F-8648-209E-BFE07FF1E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2B97D1D-1741-1791-CBA3-FA5CA67CA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6A2FA29E-F5F4-39E0-E0C6-CACC20E04F1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15715030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68A110-A33F-744D-89CB-FFCF49E08A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B6FACB-31E5-361F-D71D-18FCBA5503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5945ED5-EBD1-3567-F959-B92E831E5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10/21/2025</a:t>
            </a:r>
            <a:endParaRPr lang="en-GB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BB6A4D0-1BA6-C02F-BE18-391B96E98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412E4BF-484F-C87E-8228-534B62A6B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A24C13F3-9C79-1E9F-ED48-61D2AD9586E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82793277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矩形"/>
          <p:cNvSpPr>
            <a:spLocks/>
          </p:cNvSpPr>
          <p:nvPr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 w="19050" cap="flat" cmpd="sng">
            <a:solidFill>
              <a:srgbClr val="FFFFFF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48" name="曲线"/>
          <p:cNvSpPr>
            <a:spLocks/>
          </p:cNvSpPr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cxnLst/>
            <a:rect l="T1" t="T2" r="T3" b="T4"/>
            <a:pathLst>
              <a:path w="21600" h="21600">
                <a:moveTo>
                  <a:pt x="35" y="5690"/>
                </a:moveTo>
                <a:cubicBezTo>
                  <a:pt x="1542" y="5786"/>
                  <a:pt x="2912" y="-6663"/>
                  <a:pt x="5378" y="4969"/>
                </a:cubicBezTo>
                <a:cubicBezTo>
                  <a:pt x="8165" y="16409"/>
                  <a:pt x="9886" y="955"/>
                  <a:pt x="11677" y="1897"/>
                </a:cubicBezTo>
                <a:cubicBezTo>
                  <a:pt x="13469" y="2838"/>
                  <a:pt x="14737" y="9220"/>
                  <a:pt x="16128" y="10617"/>
                </a:cubicBezTo>
                <a:cubicBezTo>
                  <a:pt x="17519" y="12013"/>
                  <a:pt x="18571" y="12576"/>
                  <a:pt x="19479" y="11755"/>
                </a:cubicBezTo>
                <a:cubicBezTo>
                  <a:pt x="20386" y="10934"/>
                  <a:pt x="21317" y="3979"/>
                  <a:pt x="21572" y="5690"/>
                </a:cubicBezTo>
                <a:cubicBezTo>
                  <a:pt x="21565" y="10641"/>
                  <a:pt x="21605" y="16648"/>
                  <a:pt x="21599" y="21600"/>
                </a:cubicBezTo>
                <a:lnTo>
                  <a:pt x="16482" y="21455"/>
                </a:lnTo>
                <a:lnTo>
                  <a:pt x="10994" y="20831"/>
                </a:lnTo>
                <a:lnTo>
                  <a:pt x="6321" y="21321"/>
                </a:lnTo>
                <a:lnTo>
                  <a:pt x="0" y="20878"/>
                </a:lnTo>
                <a:cubicBezTo>
                  <a:pt x="6" y="16216"/>
                  <a:pt x="8" y="10641"/>
                  <a:pt x="35" y="5690"/>
                </a:cubicBezTo>
                <a:close/>
              </a:path>
            </a:pathLst>
          </a:custGeom>
          <a:gradFill rotWithShape="1">
            <a:gsLst>
              <a:gs pos="0">
                <a:srgbClr val="0F9ED5">
                  <a:lumMod val="20000"/>
                  <a:lumOff val="80000"/>
                  <a:alpha val="100000"/>
                </a:srgbClr>
              </a:gs>
              <a:gs pos="50000">
                <a:srgbClr val="FFFFFF">
                  <a:alpha val="100000"/>
                </a:srgbClr>
              </a:gs>
              <a:gs pos="100000">
                <a:srgbClr val="0F9ED5">
                  <a:lumMod val="20000"/>
                  <a:lumOff val="80000"/>
                  <a:alpha val="100000"/>
                </a:srgbClr>
              </a:gs>
            </a:gsLst>
            <a:lin ang="0" scaled="1"/>
          </a:gradFill>
          <a:ln w="15875" cap="flat" cmpd="sng">
            <a:solidFill>
              <a:srgbClr val="156082">
                <a:alpha val="0"/>
              </a:srgbClr>
            </a:solidFill>
            <a:prstDash val="solid"/>
            <a:round/>
          </a:ln>
          <a:effectLst>
            <a:glow>
              <a:srgbClr val="FFFF00"/>
            </a:glow>
            <a:outerShdw algn="ctr" rotWithShape="0">
              <a:srgbClr val="000000">
                <a:alpha val="99607"/>
              </a:srgbClr>
            </a:outerShdw>
          </a:effectLst>
          <a:scene3d>
            <a:camera prst="legacyObliqueFront"/>
            <a:lightRig rig="legacyFlat4" dir="t"/>
          </a:scene3d>
          <a:sp3d prstMaterial="legacyMatte">
            <a:bevelT w="13500" h="13500" prst="angle"/>
            <a:bevelB w="13500" h="13500" prst="angle"/>
          </a:sp3d>
        </p:spPr>
        <p:txBody>
          <a:bodyPr/>
          <a:lstStyle/>
          <a:p>
            <a:endParaRPr lang="en-US"/>
          </a:p>
        </p:txBody>
      </p:sp>
      <p:sp>
        <p:nvSpPr>
          <p:cNvPr id="147" name="曲线"/>
          <p:cNvSpPr>
            <a:spLocks/>
          </p:cNvSpPr>
          <p:nvPr/>
        </p:nvSpPr>
        <p:spPr>
          <a:xfrm rot="10800000">
            <a:off x="-2090" y="-18190"/>
            <a:ext cx="12192000" cy="898826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cxnLst/>
            <a:rect l="T1" t="T2" r="T3" b="T4"/>
            <a:pathLst>
              <a:path w="21600" h="21600">
                <a:moveTo>
                  <a:pt x="20" y="5943"/>
                </a:moveTo>
                <a:cubicBezTo>
                  <a:pt x="1529" y="6043"/>
                  <a:pt x="2217" y="-6829"/>
                  <a:pt x="4688" y="5198"/>
                </a:cubicBezTo>
                <a:cubicBezTo>
                  <a:pt x="7480" y="17027"/>
                  <a:pt x="9070" y="10367"/>
                  <a:pt x="10158" y="6391"/>
                </a:cubicBezTo>
                <a:cubicBezTo>
                  <a:pt x="13044" y="-3797"/>
                  <a:pt x="14166" y="-119"/>
                  <a:pt x="15989" y="5794"/>
                </a:cubicBezTo>
                <a:cubicBezTo>
                  <a:pt x="19763" y="16580"/>
                  <a:pt x="19729" y="5894"/>
                  <a:pt x="21600" y="5943"/>
                </a:cubicBezTo>
                <a:cubicBezTo>
                  <a:pt x="21593" y="11063"/>
                  <a:pt x="21586" y="16182"/>
                  <a:pt x="21579" y="21301"/>
                </a:cubicBezTo>
                <a:lnTo>
                  <a:pt x="16530" y="21152"/>
                </a:lnTo>
                <a:lnTo>
                  <a:pt x="11000" y="21600"/>
                </a:lnTo>
                <a:lnTo>
                  <a:pt x="6271" y="21450"/>
                </a:lnTo>
                <a:lnTo>
                  <a:pt x="0" y="20556"/>
                </a:lnTo>
                <a:cubicBezTo>
                  <a:pt x="6" y="15735"/>
                  <a:pt x="-6" y="11063"/>
                  <a:pt x="20" y="5943"/>
                </a:cubicBezTo>
                <a:close/>
              </a:path>
            </a:pathLst>
          </a:custGeom>
          <a:gradFill rotWithShape="1">
            <a:gsLst>
              <a:gs pos="0">
                <a:srgbClr val="156082">
                  <a:lumMod val="5000"/>
                  <a:lumOff val="95000"/>
                  <a:alpha val="100000"/>
                </a:srgbClr>
              </a:gs>
              <a:gs pos="74000">
                <a:srgbClr val="156082">
                  <a:lumMod val="45000"/>
                  <a:lumOff val="55000"/>
                  <a:alpha val="100000"/>
                </a:srgbClr>
              </a:gs>
              <a:gs pos="83000">
                <a:srgbClr val="156082">
                  <a:lumMod val="45000"/>
                  <a:lumOff val="55000"/>
                  <a:alpha val="100000"/>
                </a:srgbClr>
              </a:gs>
              <a:gs pos="100000">
                <a:srgbClr val="156082">
                  <a:lumMod val="30000"/>
                  <a:lumOff val="70000"/>
                  <a:alpha val="100000"/>
                </a:srgbClr>
              </a:gs>
            </a:gsLst>
            <a:lin ang="5400000" scaled="1"/>
          </a:gradFill>
          <a:ln w="19050" cap="flat" cmpd="sng">
            <a:noFill/>
            <a:prstDash val="solid"/>
            <a:round/>
          </a:ln>
          <a:effectLst>
            <a:glow>
              <a:srgbClr val="FFFF00"/>
            </a:glow>
            <a:outerShdw algn="ctr" rotWithShape="0">
              <a:srgbClr val="000000">
                <a:alpha val="99607"/>
              </a:srgbClr>
            </a:outerShdw>
          </a:effectLst>
          <a:scene3d>
            <a:camera prst="legacyObliqueFront"/>
            <a:lightRig rig="legacyFlat4" dir="t"/>
          </a:scene3d>
          <a:sp3d prstMaterial="legacyMatte">
            <a:bevelT w="13500" h="13500" prst="angle"/>
            <a:bevelB w="13500" h="13500" prst="angle"/>
          </a:sp3d>
        </p:spPr>
        <p:txBody>
          <a:bodyPr/>
          <a:lstStyle/>
          <a:p>
            <a:endParaRPr lang="en-US"/>
          </a:p>
        </p:txBody>
      </p:sp>
      <p:sp>
        <p:nvSpPr>
          <p:cNvPr id="146" name="曲线"/>
          <p:cNvSpPr>
            <a:spLocks/>
          </p:cNvSpPr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cxnLst/>
            <a:rect l="T1" t="T2" r="T3" b="T4"/>
            <a:pathLst>
              <a:path w="21600" h="21600">
                <a:moveTo>
                  <a:pt x="19" y="8758"/>
                </a:moveTo>
                <a:cubicBezTo>
                  <a:pt x="1526" y="8840"/>
                  <a:pt x="2212" y="-1717"/>
                  <a:pt x="4678" y="8147"/>
                </a:cubicBezTo>
                <a:cubicBezTo>
                  <a:pt x="7464" y="17849"/>
                  <a:pt x="7149" y="17331"/>
                  <a:pt x="8411" y="16166"/>
                </a:cubicBezTo>
                <a:cubicBezTo>
                  <a:pt x="9673" y="15002"/>
                  <a:pt x="10993" y="3240"/>
                  <a:pt x="12248" y="1159"/>
                </a:cubicBezTo>
                <a:cubicBezTo>
                  <a:pt x="13502" y="-920"/>
                  <a:pt x="14698" y="-273"/>
                  <a:pt x="15939" y="3681"/>
                </a:cubicBezTo>
                <a:cubicBezTo>
                  <a:pt x="17387" y="8525"/>
                  <a:pt x="18200" y="14960"/>
                  <a:pt x="19133" y="14981"/>
                </a:cubicBezTo>
                <a:cubicBezTo>
                  <a:pt x="20066" y="15001"/>
                  <a:pt x="21194" y="3480"/>
                  <a:pt x="21599" y="5108"/>
                </a:cubicBezTo>
                <a:cubicBezTo>
                  <a:pt x="21593" y="9306"/>
                  <a:pt x="21540" y="17156"/>
                  <a:pt x="21533" y="21355"/>
                </a:cubicBezTo>
                <a:lnTo>
                  <a:pt x="16494" y="21233"/>
                </a:lnTo>
                <a:lnTo>
                  <a:pt x="10976" y="21600"/>
                </a:lnTo>
                <a:lnTo>
                  <a:pt x="6258" y="21477"/>
                </a:lnTo>
                <a:lnTo>
                  <a:pt x="0" y="20743"/>
                </a:lnTo>
                <a:cubicBezTo>
                  <a:pt x="6" y="16789"/>
                  <a:pt x="-6" y="12957"/>
                  <a:pt x="19" y="8758"/>
                </a:cubicBezTo>
                <a:close/>
              </a:path>
            </a:pathLst>
          </a:custGeom>
          <a:gradFill rotWithShape="1">
            <a:gsLst>
              <a:gs pos="0">
                <a:srgbClr val="EFFCFF">
                  <a:alpha val="100000"/>
                </a:srgbClr>
              </a:gs>
              <a:gs pos="50000">
                <a:srgbClr val="0F9ED5">
                  <a:lumMod val="40000"/>
                  <a:lumOff val="60000"/>
                  <a:alpha val="100000"/>
                </a:srgbClr>
              </a:gs>
              <a:gs pos="100000">
                <a:srgbClr val="FFFFFF">
                  <a:alpha val="100000"/>
                </a:srgbClr>
              </a:gs>
            </a:gsLst>
            <a:lin ang="5400000" scaled="1"/>
          </a:gradFill>
          <a:ln w="19050" cap="flat" cmpd="sng">
            <a:noFill/>
            <a:prstDash val="solid"/>
            <a:round/>
          </a:ln>
          <a:effectLst>
            <a:glow>
              <a:srgbClr val="FFFF00"/>
            </a:glow>
            <a:outerShdw algn="ctr" rotWithShape="0">
              <a:srgbClr val="000000">
                <a:alpha val="99607"/>
              </a:srgbClr>
            </a:outerShdw>
          </a:effectLst>
          <a:scene3d>
            <a:camera prst="legacyObliqueFront"/>
            <a:lightRig rig="legacyFlat4" dir="t"/>
          </a:scene3d>
          <a:sp3d prstMaterial="legacyMatte">
            <a:bevelT w="13500" h="13500" prst="angle"/>
            <a:bevelB w="13500" h="13500" prst="angle"/>
          </a:sp3d>
        </p:spPr>
        <p:txBody>
          <a:bodyPr/>
          <a:lstStyle/>
          <a:p>
            <a:endParaRPr lang="en-US"/>
          </a:p>
        </p:txBody>
      </p:sp>
      <p:sp>
        <p:nvSpPr>
          <p:cNvPr id="145" name="曲线"/>
          <p:cNvSpPr>
            <a:spLocks/>
          </p:cNvSpPr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cxnLst/>
            <a:rect l="T1" t="T2" r="T3" b="T4"/>
            <a:pathLst>
              <a:path w="21600" h="21600">
                <a:moveTo>
                  <a:pt x="35" y="5690"/>
                </a:moveTo>
                <a:cubicBezTo>
                  <a:pt x="1542" y="5786"/>
                  <a:pt x="2912" y="-6663"/>
                  <a:pt x="5378" y="4969"/>
                </a:cubicBezTo>
                <a:cubicBezTo>
                  <a:pt x="8165" y="16409"/>
                  <a:pt x="9886" y="955"/>
                  <a:pt x="11677" y="1897"/>
                </a:cubicBezTo>
                <a:cubicBezTo>
                  <a:pt x="13469" y="2838"/>
                  <a:pt x="14737" y="9220"/>
                  <a:pt x="16128" y="10617"/>
                </a:cubicBezTo>
                <a:cubicBezTo>
                  <a:pt x="17519" y="12013"/>
                  <a:pt x="18571" y="12576"/>
                  <a:pt x="19479" y="11755"/>
                </a:cubicBezTo>
                <a:cubicBezTo>
                  <a:pt x="20386" y="10934"/>
                  <a:pt x="21317" y="3979"/>
                  <a:pt x="21572" y="5690"/>
                </a:cubicBezTo>
                <a:cubicBezTo>
                  <a:pt x="21565" y="10641"/>
                  <a:pt x="21605" y="16648"/>
                  <a:pt x="21599" y="21600"/>
                </a:cubicBezTo>
                <a:lnTo>
                  <a:pt x="16482" y="21455"/>
                </a:lnTo>
                <a:lnTo>
                  <a:pt x="10994" y="20831"/>
                </a:lnTo>
                <a:lnTo>
                  <a:pt x="6321" y="21321"/>
                </a:lnTo>
                <a:lnTo>
                  <a:pt x="0" y="20878"/>
                </a:lnTo>
                <a:cubicBezTo>
                  <a:pt x="6" y="16216"/>
                  <a:pt x="8" y="10641"/>
                  <a:pt x="35" y="5690"/>
                </a:cubicBezTo>
                <a:close/>
              </a:path>
            </a:pathLst>
          </a:custGeom>
          <a:gradFill rotWithShape="1">
            <a:gsLst>
              <a:gs pos="0">
                <a:srgbClr val="0F9ED5">
                  <a:lumMod val="20000"/>
                  <a:lumOff val="80000"/>
                  <a:alpha val="100000"/>
                </a:srgbClr>
              </a:gs>
              <a:gs pos="50000">
                <a:srgbClr val="FFFFFF">
                  <a:alpha val="100000"/>
                </a:srgbClr>
              </a:gs>
              <a:gs pos="100000">
                <a:srgbClr val="0F9ED5">
                  <a:lumMod val="20000"/>
                  <a:lumOff val="80000"/>
                  <a:alpha val="100000"/>
                </a:srgbClr>
              </a:gs>
            </a:gsLst>
            <a:lin ang="0" scaled="1"/>
          </a:gradFill>
          <a:ln w="15875" cap="flat" cmpd="sng">
            <a:solidFill>
              <a:srgbClr val="156082">
                <a:alpha val="0"/>
              </a:srgbClr>
            </a:solidFill>
            <a:prstDash val="solid"/>
            <a:round/>
          </a:ln>
          <a:effectLst>
            <a:glow>
              <a:srgbClr val="FFFF00"/>
            </a:glow>
            <a:outerShdw algn="ctr" rotWithShape="0">
              <a:srgbClr val="000000">
                <a:alpha val="99607"/>
              </a:srgbClr>
            </a:outerShdw>
          </a:effectLst>
          <a:scene3d>
            <a:camera prst="legacyObliqueFront"/>
            <a:lightRig rig="legacyFlat4" dir="t"/>
          </a:scene3d>
          <a:sp3d prstMaterial="legacyMatte">
            <a:bevelT w="13500" h="13500" prst="angle"/>
            <a:bevelB w="13500" h="13500" prst="angle"/>
          </a:sp3d>
        </p:spPr>
        <p:txBody>
          <a:bodyPr/>
          <a:lstStyle/>
          <a:p>
            <a:endParaRPr lang="en-US"/>
          </a:p>
        </p:txBody>
      </p:sp>
      <p:sp>
        <p:nvSpPr>
          <p:cNvPr id="144" name="曲线"/>
          <p:cNvSpPr>
            <a:spLocks/>
          </p:cNvSpPr>
          <p:nvPr/>
        </p:nvSpPr>
        <p:spPr>
          <a:xfrm rot="10800000">
            <a:off x="-2090" y="-18190"/>
            <a:ext cx="12192000" cy="898826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cxnLst/>
            <a:rect l="T1" t="T2" r="T3" b="T4"/>
            <a:pathLst>
              <a:path w="21600" h="21600">
                <a:moveTo>
                  <a:pt x="20" y="5943"/>
                </a:moveTo>
                <a:cubicBezTo>
                  <a:pt x="1529" y="6043"/>
                  <a:pt x="2217" y="-6829"/>
                  <a:pt x="4688" y="5198"/>
                </a:cubicBezTo>
                <a:cubicBezTo>
                  <a:pt x="7480" y="17027"/>
                  <a:pt x="9070" y="10367"/>
                  <a:pt x="10158" y="6391"/>
                </a:cubicBezTo>
                <a:cubicBezTo>
                  <a:pt x="13044" y="-3797"/>
                  <a:pt x="14166" y="-119"/>
                  <a:pt x="15989" y="5794"/>
                </a:cubicBezTo>
                <a:cubicBezTo>
                  <a:pt x="19763" y="16580"/>
                  <a:pt x="19729" y="5894"/>
                  <a:pt x="21600" y="5943"/>
                </a:cubicBezTo>
                <a:cubicBezTo>
                  <a:pt x="21593" y="11063"/>
                  <a:pt x="21586" y="16182"/>
                  <a:pt x="21579" y="21301"/>
                </a:cubicBezTo>
                <a:lnTo>
                  <a:pt x="16530" y="21152"/>
                </a:lnTo>
                <a:lnTo>
                  <a:pt x="11000" y="21600"/>
                </a:lnTo>
                <a:lnTo>
                  <a:pt x="6271" y="21450"/>
                </a:lnTo>
                <a:lnTo>
                  <a:pt x="0" y="20556"/>
                </a:lnTo>
                <a:cubicBezTo>
                  <a:pt x="6" y="15735"/>
                  <a:pt x="-6" y="11063"/>
                  <a:pt x="20" y="5943"/>
                </a:cubicBezTo>
                <a:close/>
              </a:path>
            </a:pathLst>
          </a:custGeom>
          <a:gradFill rotWithShape="1">
            <a:gsLst>
              <a:gs pos="0">
                <a:srgbClr val="156082">
                  <a:lumMod val="5000"/>
                  <a:lumOff val="95000"/>
                  <a:alpha val="100000"/>
                </a:srgbClr>
              </a:gs>
              <a:gs pos="74000">
                <a:srgbClr val="156082">
                  <a:lumMod val="45000"/>
                  <a:lumOff val="55000"/>
                  <a:alpha val="100000"/>
                </a:srgbClr>
              </a:gs>
              <a:gs pos="83000">
                <a:srgbClr val="156082">
                  <a:lumMod val="45000"/>
                  <a:lumOff val="55000"/>
                  <a:alpha val="100000"/>
                </a:srgbClr>
              </a:gs>
              <a:gs pos="100000">
                <a:srgbClr val="156082">
                  <a:lumMod val="30000"/>
                  <a:lumOff val="70000"/>
                  <a:alpha val="100000"/>
                </a:srgbClr>
              </a:gs>
            </a:gsLst>
            <a:lin ang="5400000" scaled="1"/>
          </a:gradFill>
          <a:ln w="19050" cap="flat" cmpd="sng">
            <a:noFill/>
            <a:prstDash val="solid"/>
            <a:round/>
          </a:ln>
          <a:effectLst>
            <a:glow>
              <a:srgbClr val="FFFF00"/>
            </a:glow>
            <a:outerShdw algn="ctr" rotWithShape="0">
              <a:srgbClr val="000000">
                <a:alpha val="99607"/>
              </a:srgbClr>
            </a:outerShdw>
          </a:effectLst>
          <a:scene3d>
            <a:camera prst="legacyObliqueFront"/>
            <a:lightRig rig="legacyFlat4" dir="t"/>
          </a:scene3d>
          <a:sp3d prstMaterial="legacyMatte">
            <a:bevelT w="13500" h="13500" prst="angle"/>
            <a:bevelB w="13500" h="13500" prst="angle"/>
          </a:sp3d>
        </p:spPr>
        <p:txBody>
          <a:bodyPr/>
          <a:lstStyle/>
          <a:p>
            <a:endParaRPr lang="en-US"/>
          </a:p>
        </p:txBody>
      </p:sp>
      <p:sp>
        <p:nvSpPr>
          <p:cNvPr id="143" name="曲线"/>
          <p:cNvSpPr>
            <a:spLocks/>
          </p:cNvSpPr>
          <p:nvPr/>
        </p:nvSpPr>
        <p:spPr>
          <a:xfrm rot="10800000">
            <a:off x="-26376" y="-254312"/>
            <a:ext cx="12218376" cy="965187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cxnLst/>
            <a:rect l="T1" t="T2" r="T3" b="T4"/>
            <a:pathLst>
              <a:path w="21600" h="21600">
                <a:moveTo>
                  <a:pt x="19" y="8758"/>
                </a:moveTo>
                <a:cubicBezTo>
                  <a:pt x="1526" y="8840"/>
                  <a:pt x="2212" y="-1717"/>
                  <a:pt x="4678" y="8147"/>
                </a:cubicBezTo>
                <a:cubicBezTo>
                  <a:pt x="7464" y="17849"/>
                  <a:pt x="7149" y="17331"/>
                  <a:pt x="8411" y="16166"/>
                </a:cubicBezTo>
                <a:cubicBezTo>
                  <a:pt x="9673" y="15002"/>
                  <a:pt x="10993" y="3240"/>
                  <a:pt x="12248" y="1159"/>
                </a:cubicBezTo>
                <a:cubicBezTo>
                  <a:pt x="13502" y="-920"/>
                  <a:pt x="14698" y="-273"/>
                  <a:pt x="15939" y="3681"/>
                </a:cubicBezTo>
                <a:cubicBezTo>
                  <a:pt x="17387" y="8525"/>
                  <a:pt x="18200" y="14960"/>
                  <a:pt x="19133" y="14981"/>
                </a:cubicBezTo>
                <a:cubicBezTo>
                  <a:pt x="20066" y="15001"/>
                  <a:pt x="21194" y="3480"/>
                  <a:pt x="21599" y="5108"/>
                </a:cubicBezTo>
                <a:cubicBezTo>
                  <a:pt x="21593" y="9306"/>
                  <a:pt x="21540" y="17156"/>
                  <a:pt x="21533" y="21355"/>
                </a:cubicBezTo>
                <a:lnTo>
                  <a:pt x="16494" y="21233"/>
                </a:lnTo>
                <a:lnTo>
                  <a:pt x="10976" y="21600"/>
                </a:lnTo>
                <a:lnTo>
                  <a:pt x="6258" y="21477"/>
                </a:lnTo>
                <a:lnTo>
                  <a:pt x="0" y="20743"/>
                </a:lnTo>
                <a:cubicBezTo>
                  <a:pt x="6" y="16789"/>
                  <a:pt x="-6" y="12957"/>
                  <a:pt x="19" y="8758"/>
                </a:cubicBezTo>
                <a:close/>
              </a:path>
            </a:pathLst>
          </a:custGeom>
          <a:gradFill rotWithShape="1">
            <a:gsLst>
              <a:gs pos="0">
                <a:srgbClr val="EFFCFF">
                  <a:alpha val="100000"/>
                </a:srgbClr>
              </a:gs>
              <a:gs pos="50000">
                <a:srgbClr val="0F9ED5">
                  <a:lumMod val="40000"/>
                  <a:lumOff val="60000"/>
                  <a:alpha val="100000"/>
                </a:srgbClr>
              </a:gs>
              <a:gs pos="100000">
                <a:srgbClr val="FFFFFF">
                  <a:alpha val="100000"/>
                </a:srgbClr>
              </a:gs>
            </a:gsLst>
            <a:lin ang="5400000" scaled="1"/>
          </a:gradFill>
          <a:ln w="19050" cap="flat" cmpd="sng">
            <a:noFill/>
            <a:prstDash val="solid"/>
            <a:round/>
          </a:ln>
          <a:effectLst>
            <a:glow>
              <a:srgbClr val="FFFF00"/>
            </a:glow>
            <a:outerShdw algn="ctr" rotWithShape="0">
              <a:srgbClr val="000000">
                <a:alpha val="99607"/>
              </a:srgbClr>
            </a:outerShdw>
          </a:effectLst>
          <a:scene3d>
            <a:camera prst="legacyObliqueFront"/>
            <a:lightRig rig="legacyFlat4" dir="t"/>
          </a:scene3d>
          <a:sp3d prstMaterial="legacyMatte">
            <a:bevelT w="13500" h="13500" prst="angle"/>
            <a:bevelB w="13500" h="13500" prst="angle"/>
          </a:sp3d>
        </p:spPr>
        <p:txBody>
          <a:bodyPr/>
          <a:lstStyle/>
          <a:p>
            <a:endParaRPr lang="en-US"/>
          </a:p>
        </p:txBody>
      </p:sp>
      <p:sp>
        <p:nvSpPr>
          <p:cNvPr id="135" name="文本框"/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2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en-US" altLang="zh-CN" sz="4400"/>
              <a:t>1. Title, example: Tasks of the week   </a:t>
            </a:r>
            <a:endParaRPr lang="zh-CN" altLang="en-US" sz="4400"/>
          </a:p>
        </p:txBody>
      </p:sp>
      <p:sp>
        <p:nvSpPr>
          <p:cNvPr id="136" name="文本框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en-US" altLang="zh-CN" sz="2200"/>
              <a:t>Abcd</a:t>
            </a:r>
          </a:p>
          <a:p>
            <a:pPr marL="971550" lvl="1" indent="-514350">
              <a:buFontTx/>
              <a:buAutoNum type="romanLcPeriod"/>
            </a:pPr>
            <a:r>
              <a:rPr lang="en-US" altLang="zh-CN" sz="2000"/>
              <a:t>efgh</a:t>
            </a:r>
            <a:endParaRPr lang="zh-CN" altLang="en-US" sz="2000"/>
          </a:p>
        </p:txBody>
      </p:sp>
      <p:sp>
        <p:nvSpPr>
          <p:cNvPr id="137" name="直线"/>
          <p:cNvSpPr>
            <a:spLocks/>
          </p:cNvSpPr>
          <p:nvPr/>
        </p:nvSpPr>
        <p:spPr>
          <a:xfrm>
            <a:off x="838200" y="1251708"/>
            <a:ext cx="10515600" cy="0"/>
          </a:xfrm>
          <a:prstGeom prst="line">
            <a:avLst/>
          </a:prstGeom>
          <a:noFill/>
          <a:ln w="38100" cap="flat" cmpd="sng">
            <a:solidFill>
              <a:srgbClr val="8ECEFA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38" name="文本框"/>
          <p:cNvSpPr>
            <a:spLocks noGrp="1"/>
          </p:cNvSpPr>
          <p:nvPr>
            <p:ph type="body"/>
          </p:nvPr>
        </p:nvSpPr>
        <p:spPr>
          <a:xfrm>
            <a:off x="2878527" y="6564113"/>
            <a:ext cx="5596085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buNone/>
            </a:pPr>
            <a:r>
              <a:rPr lang="en-US" altLang="zh-CN" sz="1200" kern="1200">
                <a:solidFill>
                  <a:schemeClr val="bg1"/>
                </a:solidFill>
                <a:latin typeface="Aptos" charset="0"/>
                <a:ea typeface="等线" charset="0"/>
                <a:cs typeface="Droid Sans" charset="0"/>
              </a:rPr>
              <a:t>Vijay Simha Reddy Bogala, Josef Remberger</a:t>
            </a:r>
            <a:endParaRPr lang="zh-CN" altLang="en-US" sz="1200" kern="1200">
              <a:solidFill>
                <a:schemeClr val="bg1"/>
              </a:solidFill>
              <a:latin typeface="Aptos" charset="0"/>
              <a:ea typeface="等线" charset="0"/>
              <a:cs typeface="Droid Sans" charset="0"/>
            </a:endParaRPr>
          </a:p>
        </p:txBody>
      </p:sp>
      <p:sp>
        <p:nvSpPr>
          <p:cNvPr id="139" name="文本框"/>
          <p:cNvSpPr>
            <a:spLocks noGrp="1"/>
          </p:cNvSpPr>
          <p:nvPr>
            <p:ph type="dt"/>
          </p:nvPr>
        </p:nvSpPr>
        <p:spPr>
          <a:xfrm>
            <a:off x="838200" y="6566803"/>
            <a:ext cx="1111369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l"/>
            <a:r>
              <a:rPr lang="en-US" altLang="zh-CN" sz="1200">
                <a:solidFill>
                  <a:schemeClr val="bg1"/>
                </a:solidFill>
                <a:latin typeface="Aptos" charset="0"/>
                <a:ea typeface="等线" charset="0"/>
                <a:cs typeface="Aptos" charset="0"/>
              </a:rPr>
              <a:t>10/21/2025</a:t>
            </a:r>
            <a:endParaRPr lang="zh-CN" altLang="en-US" sz="1200">
              <a:solidFill>
                <a:schemeClr val="bg1"/>
              </a:solidFill>
              <a:latin typeface="Aptos" charset="0"/>
              <a:ea typeface="等线" charset="0"/>
              <a:cs typeface="Aptos" charset="0"/>
            </a:endParaRPr>
          </a:p>
        </p:txBody>
      </p:sp>
      <p:sp>
        <p:nvSpPr>
          <p:cNvPr id="140" name="文本框"/>
          <p:cNvSpPr>
            <a:spLocks noGrp="1"/>
          </p:cNvSpPr>
          <p:nvPr>
            <p:ph type="ftr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r"/>
            <a:r>
              <a:rPr lang="en-US" altLang="zh-CN" sz="1200">
                <a:solidFill>
                  <a:schemeClr val="bg1"/>
                </a:solidFill>
                <a:latin typeface="Aptos" charset="0"/>
                <a:ea typeface="等线" charset="0"/>
                <a:cs typeface="Aptos" charset="0"/>
              </a:rPr>
              <a:t>Electrical Drivetrain / Optimus Syria</a:t>
            </a:r>
            <a:endParaRPr lang="zh-CN" altLang="en-US" sz="1200">
              <a:solidFill>
                <a:schemeClr val="bg1"/>
              </a:solidFill>
              <a:latin typeface="Aptos" charset="0"/>
              <a:ea typeface="等线" charset="0"/>
              <a:cs typeface="Aptos" charset="0"/>
            </a:endParaRPr>
          </a:p>
        </p:txBody>
      </p:sp>
      <p:sp>
        <p:nvSpPr>
          <p:cNvPr id="141" name="文本框"/>
          <p:cNvSpPr>
            <a:spLocks noGrp="1"/>
          </p:cNvSpPr>
          <p:nvPr>
            <p:ph type="sldNum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ct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bg1"/>
                </a:solidFill>
                <a:latin typeface="Aptos" charset="0"/>
                <a:ea typeface="等线" charset="0"/>
                <a:cs typeface="Aptos" charset="0"/>
              </a:rPr>
              <a:t>‹#›</a:t>
            </a:fld>
            <a:endParaRPr lang="zh-CN" altLang="en-US" sz="1200">
              <a:solidFill>
                <a:schemeClr val="bg1"/>
              </a:solidFill>
              <a:latin typeface="Aptos" charset="0"/>
              <a:ea typeface="等线" charset="0"/>
              <a:cs typeface="Aptos" charset="0"/>
            </a:endParaRPr>
          </a:p>
        </p:txBody>
      </p:sp>
      <p:sp>
        <p:nvSpPr>
          <p:cNvPr id="142" name="文本框"/>
          <p:cNvSpPr>
            <a:spLocks noGrp="1"/>
          </p:cNvSpPr>
          <p:nvPr>
            <p:ph type="body"/>
          </p:nvPr>
        </p:nvSpPr>
        <p:spPr>
          <a:xfrm>
            <a:off x="749023" y="6216958"/>
            <a:ext cx="2248453" cy="30985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000000"/>
                </a:solidFill>
                <a:latin typeface="Aptos" charset="0"/>
                <a:ea typeface="等线" charset="0"/>
                <a:cs typeface="Droid Sans" charset="0"/>
              </a:rPr>
              <a:t>[1], [2]….</a:t>
            </a:r>
          </a:p>
          <a:p>
            <a:pPr marL="457200" lvl="1" indent="0">
              <a:buNone/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8928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23.xml"/><Relationship Id="rId2" Type="http://schemas.openxmlformats.org/officeDocument/2006/relationships/slideLayout" Target="../slideLayouts/slideLayout8.xml"/><Relationship Id="rId16" Type="http://schemas.openxmlformats.org/officeDocument/2006/relationships/slideLayout" Target="../slideLayouts/slideLayout22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5620995-1DFE-FB81-B1FD-1F43AD25E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F9FFA78-25BC-8AF7-71C4-CCA91A9325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8CB32A29-5E71-00A9-66DA-1FED8EA8FA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/>
              <a:t>Electrical Drivetrain / Optimus Syria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5A1141D-8ADF-66F7-AB0C-CAA4E1B2CB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07138566-A99B-8C60-010B-13E0F43C56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10/21/2025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4869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3" r:id="rId5"/>
    <p:sldLayoutId id="2147483724" r:id="rId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CD36E4AE-BF2C-D504-0887-03D81D07CDC8}"/>
              </a:ext>
            </a:extLst>
          </p:cNvPr>
          <p:cNvSpPr/>
          <p:nvPr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Free-form: Shape 13">
            <a:extLst>
              <a:ext uri="{FF2B5EF4-FFF2-40B4-BE49-F238E27FC236}">
                <a16:creationId xmlns:a16="http://schemas.microsoft.com/office/drawing/2014/main" id="{7608A32D-44F3-01F2-D6ED-924DFF3CC333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6B4C36-B64B-F839-789E-0C40D5E60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8" name="Free-form: Shape 13">
            <a:extLst>
              <a:ext uri="{FF2B5EF4-FFF2-40B4-BE49-F238E27FC236}">
                <a16:creationId xmlns:a16="http://schemas.microsoft.com/office/drawing/2014/main" id="{1DE142EE-E501-93E6-565D-AB4A5A647F0F}"/>
              </a:ext>
            </a:extLst>
          </p:cNvPr>
          <p:cNvSpPr/>
          <p:nvPr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776A7918-93DA-D7CE-97A3-DDF18B379B65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64827E-F028-4C94-EB63-600BCABCD1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/>
              <a:t>Electrical Drivetrain /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8DD39-3F07-862A-3C91-AC52452918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593D3-E60D-CF97-AC8A-2B02D933B0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10/21/2025</a:t>
            </a:r>
            <a:endParaRPr lang="en-GB"/>
          </a:p>
        </p:txBody>
      </p:sp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1ABD3F4B-4853-EC8E-00EB-5109F86CE0F1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Free-form: Shape 13">
            <a:extLst>
              <a:ext uri="{FF2B5EF4-FFF2-40B4-BE49-F238E27FC236}">
                <a16:creationId xmlns:a16="http://schemas.microsoft.com/office/drawing/2014/main" id="{2BF40EC9-0D42-5E08-04BD-F330229C7518}"/>
              </a:ext>
            </a:extLst>
          </p:cNvPr>
          <p:cNvSpPr/>
          <p:nvPr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Free-form: Shape 13">
            <a:extLst>
              <a:ext uri="{FF2B5EF4-FFF2-40B4-BE49-F238E27FC236}">
                <a16:creationId xmlns:a16="http://schemas.microsoft.com/office/drawing/2014/main" id="{0BB1BAA4-B843-57F3-9FCE-C9585D332FAE}"/>
              </a:ext>
            </a:extLst>
          </p:cNvPr>
          <p:cNvSpPr/>
          <p:nvPr/>
        </p:nvSpPr>
        <p:spPr>
          <a:xfrm rot="10800000">
            <a:off x="-26376" y="-254312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A75E23-C68E-95B1-6539-4A187BBC4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1392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8" r:id="rId13"/>
    <p:sldLayoutId id="2147483739" r:id="rId14"/>
    <p:sldLayoutId id="2147483740" r:id="rId15"/>
    <p:sldLayoutId id="2147483741" r:id="rId16"/>
    <p:sldLayoutId id="2147483742" r:id="rId17"/>
    <p:sldLayoutId id="2147483743" r:id="rId18"/>
    <p:sldLayoutId id="2147483744" r:id="rId1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Relationship Id="rId4" Type="http://schemas.openxmlformats.org/officeDocument/2006/relationships/hyperlink" Target="https://www.mathworks.com/help/sp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6BE6549-3E86-5AE5-9E5E-148C592FC8C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 dirty="0"/>
              <a:t>11/18/2025</a:t>
            </a:r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51D6649A-1E87-C9DD-E3C2-12FE7407BD3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  <a:endParaRPr lang="en-GB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00F9B30-73C2-F457-56BA-0324B85690F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</a:t>
            </a:fld>
            <a:endParaRPr lang="en-GB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9ACFA37C-C6C3-881E-9DEF-5A96ED2C1D15}"/>
              </a:ext>
            </a:extLst>
          </p:cNvPr>
          <p:cNvSpPr txBox="1">
            <a:spLocks/>
          </p:cNvSpPr>
          <p:nvPr/>
        </p:nvSpPr>
        <p:spPr>
          <a:xfrm>
            <a:off x="1565241" y="2358493"/>
            <a:ext cx="9144000" cy="9125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ptos (Textkörper)"/>
                <a:ea typeface="+mj-ea"/>
                <a:cs typeface="+mj-cs"/>
              </a:defRPr>
            </a:lvl1pPr>
          </a:lstStyle>
          <a:p>
            <a:r>
              <a:rPr lang="it-IT" sz="4000" dirty="0"/>
              <a:t>Weekly report: Electrical Drivetrain</a:t>
            </a:r>
            <a:endParaRPr lang="en-GB" sz="4000" dirty="0"/>
          </a:p>
        </p:txBody>
      </p:sp>
      <p:sp>
        <p:nvSpPr>
          <p:cNvPr id="27" name="Subtitle 2">
            <a:extLst>
              <a:ext uri="{FF2B5EF4-FFF2-40B4-BE49-F238E27FC236}">
                <a16:creationId xmlns:a16="http://schemas.microsoft.com/office/drawing/2014/main" id="{1E0415E7-E053-E995-249A-5B86E4F96002}"/>
              </a:ext>
            </a:extLst>
          </p:cNvPr>
          <p:cNvSpPr txBox="1">
            <a:spLocks/>
          </p:cNvSpPr>
          <p:nvPr/>
        </p:nvSpPr>
        <p:spPr>
          <a:xfrm>
            <a:off x="1565241" y="3581400"/>
            <a:ext cx="91440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Aptos (Textkörper)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2000" dirty="0"/>
              <a:t>Week number: 8</a:t>
            </a:r>
            <a:endParaRPr lang="en-US" dirty="0"/>
          </a:p>
          <a:p>
            <a:r>
              <a:rPr lang="it-IT" sz="2000" dirty="0"/>
              <a:t>Date: 11/18/2025</a:t>
            </a:r>
          </a:p>
          <a:p>
            <a:r>
              <a:rPr lang="it-IT" sz="2000" dirty="0"/>
              <a:t>Supervisor: </a:t>
            </a:r>
            <a:r>
              <a:rPr lang="it-IT" sz="2000" dirty="0">
                <a:latin typeface="Aptos"/>
              </a:rPr>
              <a:t>Prof. Dr.-Ing. Saiju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0F5F1D8B-AA3D-0259-5E4F-2CDC8B30563D}"/>
              </a:ext>
            </a:extLst>
          </p:cNvPr>
          <p:cNvSpPr txBox="1">
            <a:spLocks/>
          </p:cNvSpPr>
          <p:nvPr/>
        </p:nvSpPr>
        <p:spPr>
          <a:xfrm>
            <a:off x="3531588" y="3967804"/>
            <a:ext cx="5128821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Aptos (Textkörper)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Group members:  Aiswarya Vijayan, Vishranti Shivajirao Patil , Girish Mahadeo Padalkar, Cristina Milene Vergara Hernandez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8E339F-29BC-C621-536B-8758FA6723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7693" y="3246104"/>
            <a:ext cx="5596613" cy="36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159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el 21">
            <a:extLst>
              <a:ext uri="{FF2B5EF4-FFF2-40B4-BE49-F238E27FC236}">
                <a16:creationId xmlns:a16="http://schemas.microsoft.com/office/drawing/2014/main" id="{C01C5AA7-5821-01BD-1AC8-74837347C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List of contents</a:t>
            </a:r>
          </a:p>
        </p:txBody>
      </p:sp>
      <p:sp>
        <p:nvSpPr>
          <p:cNvPr id="25" name="Foliennummernplatzhalter 24">
            <a:extLst>
              <a:ext uri="{FF2B5EF4-FFF2-40B4-BE49-F238E27FC236}">
                <a16:creationId xmlns:a16="http://schemas.microsoft.com/office/drawing/2014/main" id="{1F1D02DB-C1C0-0C64-772D-D708982E9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2</a:t>
            </a:fld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3E5D9FF-3E62-4877-0B46-5730AAEC1D9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 dirty="0"/>
              <a:t>Cristina Vergara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222E4B11-7E37-C65A-E83B-0056FA29D311}"/>
              </a:ext>
            </a:extLst>
          </p:cNvPr>
          <p:cNvSpPr txBox="1">
            <a:spLocks/>
          </p:cNvSpPr>
          <p:nvPr/>
        </p:nvSpPr>
        <p:spPr>
          <a:xfrm>
            <a:off x="8802836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Electrical Drive Train/ Optimus Syria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B56400E-FF4C-7F4E-6257-267CD3B1856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567488"/>
            <a:ext cx="1111250" cy="365125"/>
          </a:xfrm>
        </p:spPr>
        <p:txBody>
          <a:bodyPr/>
          <a:lstStyle/>
          <a:p>
            <a:r>
              <a:rPr lang="en-US" dirty="0"/>
              <a:t>11/18/2025</a:t>
            </a:r>
            <a:endParaRPr lang="en-GB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7B3EF3BA-9806-6A08-507B-33B62F0955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798796"/>
            <a:ext cx="8759952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dirty="0"/>
              <a:t>Implement MATLAB model of the DFIG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dirty="0"/>
              <a:t>Generate characteristic curves (T–N, I–N, P–N)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dirty="0"/>
              <a:t>Validate generator behavior across speed range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dirty="0"/>
              <a:t>Begin building the Simscape model for all drivetrain components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dirty="0"/>
              <a:t>Results for Converter Parameters </a:t>
            </a:r>
          </a:p>
        </p:txBody>
      </p:sp>
    </p:spTree>
    <p:extLst>
      <p:ext uri="{BB962C8B-B14F-4D97-AF65-F5344CB8AC3E}">
        <p14:creationId xmlns:p14="http://schemas.microsoft.com/office/powerpoint/2010/main" val="11065537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DDFDC-311C-CB63-7057-20072F89C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el 21">
            <a:extLst>
              <a:ext uri="{FF2B5EF4-FFF2-40B4-BE49-F238E27FC236}">
                <a16:creationId xmlns:a16="http://schemas.microsoft.com/office/drawing/2014/main" id="{88B8B05E-5816-F4A9-60E8-B3DECFEF4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Generator and Parameters</a:t>
            </a:r>
          </a:p>
        </p:txBody>
      </p:sp>
      <p:sp>
        <p:nvSpPr>
          <p:cNvPr id="25" name="Foliennummernplatzhalter 24">
            <a:extLst>
              <a:ext uri="{FF2B5EF4-FFF2-40B4-BE49-F238E27FC236}">
                <a16:creationId xmlns:a16="http://schemas.microsoft.com/office/drawing/2014/main" id="{7FE7F3C3-B623-6077-B40B-BE311BB1E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3</a:t>
            </a:fld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5E67C1E-F65C-3E41-5CFB-D0E98BFDCC9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 dirty="0"/>
              <a:t>Cristina Vergara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B7656385-36D2-3D38-7243-C7ADD98A3FDD}"/>
              </a:ext>
            </a:extLst>
          </p:cNvPr>
          <p:cNvSpPr txBox="1">
            <a:spLocks/>
          </p:cNvSpPr>
          <p:nvPr/>
        </p:nvSpPr>
        <p:spPr>
          <a:xfrm>
            <a:off x="8802836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Electrical Drive Train/ Optimus Syria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91109B6-7DFF-3074-447B-5B87A635DC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567488"/>
            <a:ext cx="1111250" cy="365125"/>
          </a:xfrm>
        </p:spPr>
        <p:txBody>
          <a:bodyPr/>
          <a:lstStyle/>
          <a:p>
            <a:r>
              <a:rPr lang="en-US" dirty="0"/>
              <a:t>11/18/2025</a:t>
            </a:r>
            <a:endParaRPr lang="en-GB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ABAA67B-F4D0-291E-DB1F-788277946F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2772213"/>
              </p:ext>
            </p:extLst>
          </p:nvPr>
        </p:nvGraphicFramePr>
        <p:xfrm>
          <a:off x="838200" y="1690688"/>
          <a:ext cx="6869204" cy="4351340"/>
        </p:xfrm>
        <a:graphic>
          <a:graphicData uri="http://schemas.openxmlformats.org/drawingml/2006/table">
            <a:tbl>
              <a:tblPr/>
              <a:tblGrid>
                <a:gridCol w="1717301">
                  <a:extLst>
                    <a:ext uri="{9D8B030D-6E8A-4147-A177-3AD203B41FA5}">
                      <a16:colId xmlns:a16="http://schemas.microsoft.com/office/drawing/2014/main" val="3595837506"/>
                    </a:ext>
                  </a:extLst>
                </a:gridCol>
                <a:gridCol w="1717301">
                  <a:extLst>
                    <a:ext uri="{9D8B030D-6E8A-4147-A177-3AD203B41FA5}">
                      <a16:colId xmlns:a16="http://schemas.microsoft.com/office/drawing/2014/main" val="2791045697"/>
                    </a:ext>
                  </a:extLst>
                </a:gridCol>
                <a:gridCol w="1717301">
                  <a:extLst>
                    <a:ext uri="{9D8B030D-6E8A-4147-A177-3AD203B41FA5}">
                      <a16:colId xmlns:a16="http://schemas.microsoft.com/office/drawing/2014/main" val="2200365144"/>
                    </a:ext>
                  </a:extLst>
                </a:gridCol>
                <a:gridCol w="1717301">
                  <a:extLst>
                    <a:ext uri="{9D8B030D-6E8A-4147-A177-3AD203B41FA5}">
                      <a16:colId xmlns:a16="http://schemas.microsoft.com/office/drawing/2014/main" val="1055892686"/>
                    </a:ext>
                  </a:extLst>
                </a:gridCol>
              </a:tblGrid>
              <a:tr h="2486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Parameter</a:t>
                      </a:r>
                      <a:endParaRPr lang="en-US" sz="1200"/>
                    </a:p>
                  </a:txBody>
                  <a:tcPr marL="62162" marR="62162" marT="31081" marB="310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Symbol</a:t>
                      </a:r>
                      <a:endParaRPr lang="en-US" sz="1200"/>
                    </a:p>
                  </a:txBody>
                  <a:tcPr marL="62162" marR="62162" marT="31081" marB="310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Value</a:t>
                      </a:r>
                      <a:endParaRPr lang="en-US" sz="1200"/>
                    </a:p>
                  </a:txBody>
                  <a:tcPr marL="62162" marR="62162" marT="31081" marB="310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Unit</a:t>
                      </a:r>
                      <a:endParaRPr lang="en-US" sz="1200"/>
                    </a:p>
                  </a:txBody>
                  <a:tcPr marL="62162" marR="62162" marT="31081" marB="310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4704933"/>
                  </a:ext>
                </a:extLst>
              </a:tr>
              <a:tr h="2486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Rated Active Power</a:t>
                      </a:r>
                    </a:p>
                  </a:txBody>
                  <a:tcPr marL="62162" marR="62162" marT="31081" marB="310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Pn</a:t>
                      </a:r>
                    </a:p>
                  </a:txBody>
                  <a:tcPr marL="62162" marR="62162" marT="31081" marB="310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5.31e6</a:t>
                      </a:r>
                    </a:p>
                  </a:txBody>
                  <a:tcPr marL="62162" marR="62162" marT="31081" marB="310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W</a:t>
                      </a:r>
                    </a:p>
                  </a:txBody>
                  <a:tcPr marL="62162" marR="62162" marT="31081" marB="310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3784674"/>
                  </a:ext>
                </a:extLst>
              </a:tr>
              <a:tr h="2486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Line Voltage (LL)</a:t>
                      </a:r>
                    </a:p>
                  </a:txBody>
                  <a:tcPr marL="62162" marR="62162" marT="31081" marB="310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Vn</a:t>
                      </a:r>
                    </a:p>
                  </a:txBody>
                  <a:tcPr marL="62162" marR="62162" marT="31081" marB="310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960</a:t>
                      </a:r>
                    </a:p>
                  </a:txBody>
                  <a:tcPr marL="62162" marR="62162" marT="31081" marB="310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V</a:t>
                      </a:r>
                    </a:p>
                  </a:txBody>
                  <a:tcPr marL="62162" marR="62162" marT="31081" marB="310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3461222"/>
                  </a:ext>
                </a:extLst>
              </a:tr>
              <a:tr h="2486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Frequency</a:t>
                      </a:r>
                    </a:p>
                  </a:txBody>
                  <a:tcPr marL="62162" marR="62162" marT="31081" marB="310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f</a:t>
                      </a:r>
                    </a:p>
                  </a:txBody>
                  <a:tcPr marL="62162" marR="62162" marT="31081" marB="310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50</a:t>
                      </a:r>
                    </a:p>
                  </a:txBody>
                  <a:tcPr marL="62162" marR="62162" marT="31081" marB="310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Hz</a:t>
                      </a:r>
                    </a:p>
                  </a:txBody>
                  <a:tcPr marL="62162" marR="62162" marT="31081" marB="310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7579066"/>
                  </a:ext>
                </a:extLst>
              </a:tr>
              <a:tr h="2486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Number of Poles</a:t>
                      </a:r>
                    </a:p>
                  </a:txBody>
                  <a:tcPr marL="62162" marR="62162" marT="31081" marB="310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p</a:t>
                      </a:r>
                    </a:p>
                  </a:txBody>
                  <a:tcPr marL="62162" marR="62162" marT="31081" marB="310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6</a:t>
                      </a:r>
                    </a:p>
                  </a:txBody>
                  <a:tcPr marL="62162" marR="62162" marT="31081" marB="310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–</a:t>
                      </a:r>
                    </a:p>
                  </a:txBody>
                  <a:tcPr marL="62162" marR="62162" marT="31081" marB="310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9154245"/>
                  </a:ext>
                </a:extLst>
              </a:tr>
              <a:tr h="2486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Pole Pairs</a:t>
                      </a:r>
                    </a:p>
                  </a:txBody>
                  <a:tcPr marL="62162" marR="62162" marT="31081" marB="310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pp</a:t>
                      </a:r>
                    </a:p>
                  </a:txBody>
                  <a:tcPr marL="62162" marR="62162" marT="31081" marB="310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3</a:t>
                      </a:r>
                    </a:p>
                  </a:txBody>
                  <a:tcPr marL="62162" marR="62162" marT="31081" marB="310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–</a:t>
                      </a:r>
                    </a:p>
                  </a:txBody>
                  <a:tcPr marL="62162" marR="62162" marT="31081" marB="310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0242812"/>
                  </a:ext>
                </a:extLst>
              </a:tr>
              <a:tr h="2486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Stator Resistance</a:t>
                      </a:r>
                    </a:p>
                  </a:txBody>
                  <a:tcPr marL="62162" marR="62162" marT="31081" marB="310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Rs</a:t>
                      </a:r>
                    </a:p>
                  </a:txBody>
                  <a:tcPr marL="62162" marR="62162" marT="31081" marB="310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0.0818</a:t>
                      </a:r>
                    </a:p>
                  </a:txBody>
                  <a:tcPr marL="62162" marR="62162" marT="31081" marB="310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1200"/>
                        <a:t>Ω</a:t>
                      </a:r>
                    </a:p>
                  </a:txBody>
                  <a:tcPr marL="62162" marR="62162" marT="31081" marB="310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6714817"/>
                  </a:ext>
                </a:extLst>
              </a:tr>
              <a:tr h="2486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Rotor Resistance</a:t>
                      </a:r>
                    </a:p>
                  </a:txBody>
                  <a:tcPr marL="62162" marR="62162" marT="31081" marB="310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Rr</a:t>
                      </a:r>
                    </a:p>
                  </a:txBody>
                  <a:tcPr marL="62162" marR="62162" marT="31081" marB="310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0.253</a:t>
                      </a:r>
                    </a:p>
                  </a:txBody>
                  <a:tcPr marL="62162" marR="62162" marT="31081" marB="310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1200"/>
                        <a:t>Ω</a:t>
                      </a:r>
                    </a:p>
                  </a:txBody>
                  <a:tcPr marL="62162" marR="62162" marT="31081" marB="310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5397921"/>
                  </a:ext>
                </a:extLst>
              </a:tr>
              <a:tr h="4351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Stator Leakage Inductance</a:t>
                      </a:r>
                    </a:p>
                  </a:txBody>
                  <a:tcPr marL="62162" marR="62162" marT="31081" marB="310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Lls</a:t>
                      </a:r>
                    </a:p>
                  </a:txBody>
                  <a:tcPr marL="62162" marR="62162" marT="31081" marB="310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0.001474</a:t>
                      </a:r>
                    </a:p>
                  </a:txBody>
                  <a:tcPr marL="62162" marR="62162" marT="31081" marB="310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H</a:t>
                      </a:r>
                    </a:p>
                  </a:txBody>
                  <a:tcPr marL="62162" marR="62162" marT="31081" marB="310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7762028"/>
                  </a:ext>
                </a:extLst>
              </a:tr>
              <a:tr h="4351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Rotor Leakage Inductance</a:t>
                      </a:r>
                    </a:p>
                  </a:txBody>
                  <a:tcPr marL="62162" marR="62162" marT="31081" marB="310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Llr</a:t>
                      </a:r>
                    </a:p>
                  </a:txBody>
                  <a:tcPr marL="62162" marR="62162" marT="31081" marB="310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0.001474</a:t>
                      </a:r>
                    </a:p>
                  </a:txBody>
                  <a:tcPr marL="62162" marR="62162" marT="31081" marB="310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H</a:t>
                      </a:r>
                    </a:p>
                  </a:txBody>
                  <a:tcPr marL="62162" marR="62162" marT="31081" marB="310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4181539"/>
                  </a:ext>
                </a:extLst>
              </a:tr>
              <a:tr h="2486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Magnetizing Inductance</a:t>
                      </a:r>
                    </a:p>
                  </a:txBody>
                  <a:tcPr marL="62162" marR="62162" marT="31081" marB="310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Lm</a:t>
                      </a:r>
                    </a:p>
                  </a:txBody>
                  <a:tcPr marL="62162" marR="62162" marT="31081" marB="310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0.01295</a:t>
                      </a:r>
                    </a:p>
                  </a:txBody>
                  <a:tcPr marL="62162" marR="62162" marT="31081" marB="310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H</a:t>
                      </a:r>
                    </a:p>
                  </a:txBody>
                  <a:tcPr marL="62162" marR="62162" marT="31081" marB="310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1527750"/>
                  </a:ext>
                </a:extLst>
              </a:tr>
              <a:tr h="2486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Rotor/Stator Volt. Ratio</a:t>
                      </a:r>
                    </a:p>
                  </a:txBody>
                  <a:tcPr marL="62162" marR="62162" marT="31081" marB="310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Vr/Vs</a:t>
                      </a:r>
                    </a:p>
                  </a:txBody>
                  <a:tcPr marL="62162" marR="62162" marT="31081" marB="310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0.2</a:t>
                      </a:r>
                    </a:p>
                  </a:txBody>
                  <a:tcPr marL="62162" marR="62162" marT="31081" marB="310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–</a:t>
                      </a:r>
                    </a:p>
                  </a:txBody>
                  <a:tcPr marL="62162" marR="62162" marT="31081" marB="310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7490522"/>
                  </a:ext>
                </a:extLst>
              </a:tr>
              <a:tr h="2486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Synchronous Speed</a:t>
                      </a:r>
                    </a:p>
                  </a:txBody>
                  <a:tcPr marL="62162" marR="62162" marT="31081" marB="310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Ns</a:t>
                      </a:r>
                    </a:p>
                  </a:txBody>
                  <a:tcPr marL="62162" marR="62162" marT="31081" marB="310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1000</a:t>
                      </a:r>
                    </a:p>
                  </a:txBody>
                  <a:tcPr marL="62162" marR="62162" marT="31081" marB="310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rpm</a:t>
                      </a:r>
                    </a:p>
                  </a:txBody>
                  <a:tcPr marL="62162" marR="62162" marT="31081" marB="310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6392818"/>
                  </a:ext>
                </a:extLst>
              </a:tr>
              <a:tr h="2486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Rated Rotor Speed</a:t>
                      </a:r>
                    </a:p>
                  </a:txBody>
                  <a:tcPr marL="62162" marR="62162" marT="31081" marB="310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Nr</a:t>
                      </a:r>
                    </a:p>
                  </a:txBody>
                  <a:tcPr marL="62162" marR="62162" marT="31081" marB="310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1200</a:t>
                      </a:r>
                    </a:p>
                  </a:txBody>
                  <a:tcPr marL="62162" marR="62162" marT="31081" marB="310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rpm</a:t>
                      </a:r>
                    </a:p>
                  </a:txBody>
                  <a:tcPr marL="62162" marR="62162" marT="31081" marB="310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7847446"/>
                  </a:ext>
                </a:extLst>
              </a:tr>
              <a:tr h="2486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Slip (supersync.)</a:t>
                      </a:r>
                    </a:p>
                  </a:txBody>
                  <a:tcPr marL="62162" marR="62162" marT="31081" marB="310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s</a:t>
                      </a:r>
                    </a:p>
                  </a:txBody>
                  <a:tcPr marL="62162" marR="62162" marT="31081" marB="310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–0.2</a:t>
                      </a:r>
                    </a:p>
                  </a:txBody>
                  <a:tcPr marL="62162" marR="62162" marT="31081" marB="310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–</a:t>
                      </a:r>
                    </a:p>
                  </a:txBody>
                  <a:tcPr marL="62162" marR="62162" marT="31081" marB="310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217892"/>
                  </a:ext>
                </a:extLst>
              </a:tr>
              <a:tr h="2486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Rotor Inertia</a:t>
                      </a:r>
                    </a:p>
                  </a:txBody>
                  <a:tcPr marL="62162" marR="62162" marT="31081" marB="310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J</a:t>
                      </a:r>
                    </a:p>
                  </a:txBody>
                  <a:tcPr marL="62162" marR="62162" marT="31081" marB="310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4647</a:t>
                      </a:r>
                    </a:p>
                  </a:txBody>
                  <a:tcPr marL="62162" marR="62162" marT="31081" marB="310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kg·m²</a:t>
                      </a:r>
                    </a:p>
                  </a:txBody>
                  <a:tcPr marL="62162" marR="62162" marT="31081" marB="310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983195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3A7AEA3A-C054-2947-BFD3-A209B73B3F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5400" y="2248691"/>
            <a:ext cx="4425144" cy="2918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8163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7E4BAF1-7508-1E2A-49FF-EDC6386AB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Torque-Speed Characteristic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44056D-37C7-6B43-578B-D45D99E37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11/18/2025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3ED7F5-AA5D-A233-89B2-035139D7C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16C977-A389-8F8F-BAD5-1397BBD62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4</a:t>
            </a:fld>
            <a:endParaRPr lang="en-GB"/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D7802753-C47F-5327-95CD-8CE23F058AF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878527" y="6564113"/>
            <a:ext cx="5596085" cy="365125"/>
          </a:xfrm>
        </p:spPr>
        <p:txBody>
          <a:bodyPr/>
          <a:lstStyle/>
          <a:p>
            <a:r>
              <a:rPr lang="en-GB" dirty="0"/>
              <a:t>Cristina Vergara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2CC97C72-5C98-AF91-5424-31B7B85BD8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6492" y="1552189"/>
            <a:ext cx="4134964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dirty="0"/>
              <a:t>Torque is positive below synchronous speed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dirty="0"/>
              <a:t>Zero torque ~1000 rpm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dirty="0"/>
              <a:t>Negative torque above synchronous speed → generator region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dirty="0"/>
              <a:t>Curve shape matches theoretical DFIG characteristics</a:t>
            </a:r>
          </a:p>
        </p:txBody>
      </p:sp>
      <p:sp>
        <p:nvSpPr>
          <p:cNvPr id="10" name="AutoShape 3">
            <a:extLst>
              <a:ext uri="{FF2B5EF4-FFF2-40B4-BE49-F238E27FC236}">
                <a16:creationId xmlns:a16="http://schemas.microsoft.com/office/drawing/2014/main" id="{345B7FDC-AE2D-0AEC-F66F-97CFFD5C497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1514856" cy="1514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D928173-2B28-2792-7B49-5508E87545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6244" y="1690688"/>
            <a:ext cx="5972768" cy="436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2838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EAA3F2-1225-B39E-5690-611BA2B29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A27E7E1-476F-D851-2AE4-ADA805B00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Stator Current vs Rotor Speed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7AF05-68C7-2428-656A-7669441AF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11/18/2025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122689-77F1-9F32-39A3-35B62CDBE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B34B0F-6B92-DC75-A673-5B3644A11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5</a:t>
            </a:fld>
            <a:endParaRPr lang="en-GB"/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A2C31378-4895-1034-B45F-2C7C93D78A4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878527" y="6564113"/>
            <a:ext cx="5596085" cy="365125"/>
          </a:xfrm>
        </p:spPr>
        <p:txBody>
          <a:bodyPr/>
          <a:lstStyle/>
          <a:p>
            <a:r>
              <a:rPr lang="en-GB" dirty="0"/>
              <a:t>Cristina Vergara</a:t>
            </a:r>
          </a:p>
        </p:txBody>
      </p:sp>
      <p:sp>
        <p:nvSpPr>
          <p:cNvPr id="10" name="AutoShape 3">
            <a:extLst>
              <a:ext uri="{FF2B5EF4-FFF2-40B4-BE49-F238E27FC236}">
                <a16:creationId xmlns:a16="http://schemas.microsoft.com/office/drawing/2014/main" id="{3979960A-E34A-989F-D02F-186E4014FDD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1514856" cy="1514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6B1330D3-DB65-B491-D8F1-A6207B6D65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505" y="1951672"/>
            <a:ext cx="3827087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dirty="0"/>
              <a:t>Stator current is lowest near synchronous speed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dirty="0"/>
              <a:t>Higher slip → higher stator current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dirty="0"/>
              <a:t>Symmetrical </a:t>
            </a:r>
            <a:r>
              <a:rPr lang="en-US" altLang="en-US" dirty="0" err="1"/>
              <a:t>behaviour</a:t>
            </a:r>
            <a:r>
              <a:rPr lang="en-US" altLang="en-US" dirty="0"/>
              <a:t> indicates correct model implementation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BDFB5B0-6725-8BB2-2405-B63FE83BA2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4514" y="1576333"/>
            <a:ext cx="5489778" cy="4577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050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B8B7C-1552-CD6B-4707-A27F983D8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970EF47-200E-7871-7C2B-84BD4B052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Mechanical Power vs Rotor Speed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829A2A-5B21-83DD-3259-DBE35ABFE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11/18/2025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BEBB27-1F1D-5976-7529-4A9C3CEFA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DD00DA-D2FE-C0CF-0934-E93A07B4F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6</a:t>
            </a:fld>
            <a:endParaRPr lang="en-GB"/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73FBAFBB-7AD2-C9E1-743F-B7B96A8182F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878527" y="6564113"/>
            <a:ext cx="5596085" cy="365125"/>
          </a:xfrm>
        </p:spPr>
        <p:txBody>
          <a:bodyPr/>
          <a:lstStyle/>
          <a:p>
            <a:r>
              <a:rPr lang="en-GB" dirty="0"/>
              <a:t>Cristina Vergara</a:t>
            </a:r>
          </a:p>
        </p:txBody>
      </p:sp>
      <p:sp>
        <p:nvSpPr>
          <p:cNvPr id="10" name="AutoShape 3">
            <a:extLst>
              <a:ext uri="{FF2B5EF4-FFF2-40B4-BE49-F238E27FC236}">
                <a16:creationId xmlns:a16="http://schemas.microsoft.com/office/drawing/2014/main" id="{A92AAC0B-A722-90BD-EDA1-5DD45A3D0B1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1514856" cy="1514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9467461-F33F-F0E0-B7DF-059B607AE2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4514" y="1576333"/>
            <a:ext cx="5489778" cy="4577579"/>
          </a:xfrm>
          <a:prstGeom prst="rect">
            <a:avLst/>
          </a:prstGeom>
        </p:spPr>
      </p:pic>
      <p:sp>
        <p:nvSpPr>
          <p:cNvPr id="9" name="Rectangle 2">
            <a:extLst>
              <a:ext uri="{FF2B5EF4-FFF2-40B4-BE49-F238E27FC236}">
                <a16:creationId xmlns:a16="http://schemas.microsoft.com/office/drawing/2014/main" id="{1295716E-66A4-5BE6-E30C-6EF41E0CA8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216" y="1589042"/>
            <a:ext cx="396579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dirty="0"/>
              <a:t>Mechanical power peaks at low speed (motor side)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dirty="0"/>
              <a:t>Zero crossing at synchronous speed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dirty="0"/>
              <a:t>Becomes negative in generator range (expected)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dirty="0"/>
              <a:t>Confirms correct energy flow direction</a:t>
            </a:r>
          </a:p>
        </p:txBody>
      </p:sp>
    </p:spTree>
    <p:extLst>
      <p:ext uri="{BB962C8B-B14F-4D97-AF65-F5344CB8AC3E}">
        <p14:creationId xmlns:p14="http://schemas.microsoft.com/office/powerpoint/2010/main" val="4139799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E0758-0663-5B27-708C-8901788EC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474CDE9-9186-C3B5-D009-4695E7294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Progress on Simscape Drivetrain Model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B9200D-5FA7-47D0-E9EF-67750D331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11/18/2025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ED88F8-07C9-6E62-5BD2-FDC0CACC8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FF635B-1CA6-AE69-882A-B86B87355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7</a:t>
            </a:fld>
            <a:endParaRPr lang="en-GB"/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4604A500-4455-C8E1-212A-D14DBD626F1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878527" y="6564113"/>
            <a:ext cx="5596085" cy="365125"/>
          </a:xfrm>
        </p:spPr>
        <p:txBody>
          <a:bodyPr/>
          <a:lstStyle/>
          <a:p>
            <a:r>
              <a:rPr lang="en-GB" dirty="0"/>
              <a:t>Cristina Vergara</a:t>
            </a:r>
          </a:p>
        </p:txBody>
      </p:sp>
      <p:sp>
        <p:nvSpPr>
          <p:cNvPr id="10" name="AutoShape 3">
            <a:extLst>
              <a:ext uri="{FF2B5EF4-FFF2-40B4-BE49-F238E27FC236}">
                <a16:creationId xmlns:a16="http://schemas.microsoft.com/office/drawing/2014/main" id="{458FA5FC-2BCF-2E83-6E43-97E4E8E2935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1514856" cy="1514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632E8B4-97C8-F80A-EFA2-92D4F7E3BA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503943"/>
            <a:ext cx="10040112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dirty="0"/>
              <a:t>DFIG block selected and configured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dirty="0"/>
              <a:t>Parameters identified (R, L, </a:t>
            </a:r>
            <a:r>
              <a:rPr lang="en-US" altLang="en-US" dirty="0" err="1"/>
              <a:t>Lm</a:t>
            </a:r>
            <a:r>
              <a:rPr lang="en-US" altLang="en-US" dirty="0"/>
              <a:t>, poles, rated values)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dirty="0"/>
              <a:t>Values transferred from design table into the model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dirty="0"/>
              <a:t>Model runs with custom generator parameters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FD73708-DB35-3211-1BB8-91FBF40BFF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593" y="2704272"/>
            <a:ext cx="8804367" cy="3459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8283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A38D7E7-51E4-86DB-4936-A6A01661B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0432"/>
            <a:ext cx="10515600" cy="1325563"/>
          </a:xfrm>
        </p:spPr>
        <p:txBody>
          <a:bodyPr/>
          <a:lstStyle/>
          <a:p>
            <a:r>
              <a:rPr lang="de-DE" dirty="0"/>
              <a:t>Converter Parameters (Updated)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7E19D1-43A9-6029-36E6-4B8D174E7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11/18/2025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2CAA7-950A-7DB4-9028-EE53B0111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C11DC0-50DF-B803-1A88-ECEB94123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8</a:t>
            </a:fld>
            <a:endParaRPr lang="en-GB"/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1DD7BFCC-80C2-ECA2-1D8D-D11B35477C8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878138" y="6564313"/>
            <a:ext cx="5595937" cy="365125"/>
          </a:xfrm>
        </p:spPr>
        <p:txBody>
          <a:bodyPr/>
          <a:lstStyle/>
          <a:p>
            <a:r>
              <a:rPr lang="en-GB" dirty="0"/>
              <a:t>Cristina Vergara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D53BC491-D499-021C-1D25-56F1697E0D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0610317"/>
              </p:ext>
            </p:extLst>
          </p:nvPr>
        </p:nvGraphicFramePr>
        <p:xfrm>
          <a:off x="1312936" y="1495995"/>
          <a:ext cx="9566128" cy="4850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7798">
                  <a:extLst>
                    <a:ext uri="{9D8B030D-6E8A-4147-A177-3AD203B41FA5}">
                      <a16:colId xmlns:a16="http://schemas.microsoft.com/office/drawing/2014/main" val="4056411138"/>
                    </a:ext>
                  </a:extLst>
                </a:gridCol>
                <a:gridCol w="1338652">
                  <a:extLst>
                    <a:ext uri="{9D8B030D-6E8A-4147-A177-3AD203B41FA5}">
                      <a16:colId xmlns:a16="http://schemas.microsoft.com/office/drawing/2014/main" val="2346503515"/>
                    </a:ext>
                  </a:extLst>
                </a:gridCol>
                <a:gridCol w="1913226">
                  <a:extLst>
                    <a:ext uri="{9D8B030D-6E8A-4147-A177-3AD203B41FA5}">
                      <a16:colId xmlns:a16="http://schemas.microsoft.com/office/drawing/2014/main" val="828831712"/>
                    </a:ext>
                  </a:extLst>
                </a:gridCol>
                <a:gridCol w="3709267">
                  <a:extLst>
                    <a:ext uri="{9D8B030D-6E8A-4147-A177-3AD203B41FA5}">
                      <a16:colId xmlns:a16="http://schemas.microsoft.com/office/drawing/2014/main" val="504673627"/>
                    </a:ext>
                  </a:extLst>
                </a:gridCol>
                <a:gridCol w="117185">
                  <a:extLst>
                    <a:ext uri="{9D8B030D-6E8A-4147-A177-3AD203B41FA5}">
                      <a16:colId xmlns:a16="http://schemas.microsoft.com/office/drawing/2014/main" val="301000514"/>
                    </a:ext>
                  </a:extLst>
                </a:gridCol>
              </a:tblGrid>
              <a:tr h="222689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400" dirty="0">
                          <a:effectLst/>
                        </a:rPr>
                        <a:t>Parameter</a:t>
                      </a:r>
                      <a:endParaRPr lang="en-IN" sz="1200" dirty="0">
                        <a:effectLst/>
                      </a:endParaRP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dirty="0">
                          <a:effectLst/>
                        </a:rPr>
                        <a:t>U</a:t>
                      </a:r>
                      <a:r>
                        <a:rPr lang="en-IN" sz="1400" dirty="0">
                          <a:effectLst/>
                        </a:rPr>
                        <a:t>nit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endParaRPr lang="en-US" sz="1200" dirty="0">
                        <a:effectLst/>
                      </a:endParaRPr>
                    </a:p>
                    <a:p>
                      <a:pPr algn="ctr" rtl="0" fontAlgn="b">
                        <a:buNone/>
                      </a:pPr>
                      <a:r>
                        <a:rPr lang="en-US" sz="1400" dirty="0">
                          <a:effectLst/>
                        </a:rPr>
                        <a:t>Value</a:t>
                      </a:r>
                      <a:endParaRPr lang="en-IN" sz="1400" dirty="0">
                        <a:effectLst/>
                      </a:endParaRP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dirty="0">
                          <a:effectLst/>
                        </a:rPr>
                        <a:t>Notes</a:t>
                      </a:r>
                    </a:p>
                  </a:txBody>
                  <a:tcPr marL="0" marR="0" marT="15240" marB="1524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 sz="1200" dirty="0">
                        <a:effectLst/>
                      </a:endParaRPr>
                    </a:p>
                  </a:txBody>
                  <a:tcPr marL="22860" marR="22860" marT="15240" marB="15240" anchor="b"/>
                </a:tc>
                <a:extLst>
                  <a:ext uri="{0D108BD9-81ED-4DB2-BD59-A6C34878D82A}">
                    <a16:rowId xmlns:a16="http://schemas.microsoft.com/office/drawing/2014/main" val="2870498192"/>
                  </a:ext>
                </a:extLst>
              </a:tr>
              <a:tr h="33259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Power Range</a:t>
                      </a:r>
                      <a:endParaRPr lang="en-IN" sz="1200" dirty="0">
                        <a:effectLst/>
                      </a:endParaRP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MW</a:t>
                      </a:r>
                      <a:endParaRPr lang="en-IN" sz="1200" dirty="0">
                        <a:effectLst/>
                      </a:endParaRP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1.25</a:t>
                      </a:r>
                      <a:endParaRPr lang="en-IN" sz="1200" dirty="0">
                        <a:effectLst/>
                      </a:endParaRP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25% of 5MW DFIG</a:t>
                      </a:r>
                    </a:p>
                  </a:txBody>
                  <a:tcPr marL="0" marR="0" marT="15240" marB="1524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 sz="1200" dirty="0">
                        <a:effectLst/>
                      </a:endParaRPr>
                    </a:p>
                  </a:txBody>
                  <a:tcPr marL="22860" marR="22860" marT="15240" marB="15240" anchor="b"/>
                </a:tc>
                <a:extLst>
                  <a:ext uri="{0D108BD9-81ED-4DB2-BD59-A6C34878D82A}">
                    <a16:rowId xmlns:a16="http://schemas.microsoft.com/office/drawing/2014/main" val="3763944797"/>
                  </a:ext>
                </a:extLst>
              </a:tr>
              <a:tr h="33259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N" sz="1200" dirty="0">
                          <a:effectLst/>
                        </a:rPr>
                        <a:t>Nominal Voltage (VLL​)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200" dirty="0">
                          <a:effectLst/>
                        </a:rPr>
                        <a:t>V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200" dirty="0">
                          <a:effectLst/>
                        </a:rPr>
                        <a:t>960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N" sz="1200">
                          <a:effectLst/>
                        </a:rPr>
                        <a:t>User-specified AC voltage.</a:t>
                      </a:r>
                    </a:p>
                  </a:txBody>
                  <a:tcPr marL="0" marR="0" marT="15240" marB="1524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22860" marR="22860" marT="15240" marB="15240" anchor="b"/>
                </a:tc>
                <a:extLst>
                  <a:ext uri="{0D108BD9-81ED-4DB2-BD59-A6C34878D82A}">
                    <a16:rowId xmlns:a16="http://schemas.microsoft.com/office/drawing/2014/main" val="230895553"/>
                  </a:ext>
                </a:extLst>
              </a:tr>
              <a:tr h="33259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N" sz="1200" dirty="0">
                          <a:effectLst/>
                        </a:rPr>
                        <a:t>DC-Link Voltage (Vdc​)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200">
                          <a:effectLst/>
                        </a:rPr>
                        <a:t>V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200" dirty="0">
                          <a:effectLst/>
                        </a:rPr>
                        <a:t>1536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N" sz="1200">
                          <a:effectLst/>
                        </a:rPr>
                        <a:t>1.6×VLL​ (Calculated).</a:t>
                      </a:r>
                    </a:p>
                  </a:txBody>
                  <a:tcPr marL="0" marR="0" marT="15240" marB="1524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22860" marR="22860" marT="15240" marB="15240" anchor="b"/>
                </a:tc>
                <a:extLst>
                  <a:ext uri="{0D108BD9-81ED-4DB2-BD59-A6C34878D82A}">
                    <a16:rowId xmlns:a16="http://schemas.microsoft.com/office/drawing/2014/main" val="565569624"/>
                  </a:ext>
                </a:extLst>
              </a:tr>
              <a:tr h="353767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N" sz="1200" dirty="0">
                          <a:effectLst/>
                        </a:rPr>
                        <a:t>Switching Frequency (</a:t>
                      </a:r>
                      <a:r>
                        <a:rPr lang="en-IN" sz="1200" dirty="0" err="1">
                          <a:effectLst/>
                        </a:rPr>
                        <a:t>fsw</a:t>
                      </a:r>
                      <a:r>
                        <a:rPr lang="en-IN" sz="1200" dirty="0">
                          <a:effectLst/>
                        </a:rPr>
                        <a:t>​)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200">
                          <a:effectLst/>
                        </a:rPr>
                        <a:t>kHz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200" dirty="0">
                          <a:effectLst/>
                        </a:rPr>
                        <a:t>2.5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200">
                          <a:effectLst/>
                        </a:rPr>
                        <a:t>Typical value for high-power IGBT converters (2−4 kHz).</a:t>
                      </a:r>
                    </a:p>
                  </a:txBody>
                  <a:tcPr marL="0" marR="0" marT="15240" marB="1524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22860" marR="22860" marT="15240" marB="15240" anchor="b"/>
                </a:tc>
                <a:extLst>
                  <a:ext uri="{0D108BD9-81ED-4DB2-BD59-A6C34878D82A}">
                    <a16:rowId xmlns:a16="http://schemas.microsoft.com/office/drawing/2014/main" val="1008797608"/>
                  </a:ext>
                </a:extLst>
              </a:tr>
              <a:tr h="324091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N" sz="1200" dirty="0">
                          <a:effectLst/>
                        </a:rPr>
                        <a:t>DC Link Capacitance (</a:t>
                      </a:r>
                      <a:r>
                        <a:rPr lang="en-IN" sz="1200" dirty="0" err="1">
                          <a:effectLst/>
                        </a:rPr>
                        <a:t>Cdc</a:t>
                      </a:r>
                      <a:r>
                        <a:rPr lang="en-IN" sz="1200" dirty="0">
                          <a:effectLst/>
                        </a:rPr>
                        <a:t>​)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200" dirty="0">
                          <a:effectLst/>
                        </a:rPr>
                        <a:t>mF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200" dirty="0">
                          <a:effectLst/>
                        </a:rPr>
                        <a:t>75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Estimated for ∼7 </a:t>
                      </a:r>
                      <a:r>
                        <a:rPr lang="en-US" sz="1200" dirty="0" err="1">
                          <a:effectLst/>
                        </a:rPr>
                        <a:t>ms</a:t>
                      </a:r>
                      <a:r>
                        <a:rPr lang="en-US" sz="1200" dirty="0">
                          <a:effectLst/>
                        </a:rPr>
                        <a:t> holdup time and 5% voltage ripple.</a:t>
                      </a:r>
                    </a:p>
                  </a:txBody>
                  <a:tcPr marL="0" marR="0" marT="15240" marB="1524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22860" marR="22860" marT="15240" marB="15240" anchor="b"/>
                </a:tc>
                <a:extLst>
                  <a:ext uri="{0D108BD9-81ED-4DB2-BD59-A6C34878D82A}">
                    <a16:rowId xmlns:a16="http://schemas.microsoft.com/office/drawing/2014/main" val="19931084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N" sz="1200" dirty="0">
                          <a:effectLst/>
                        </a:rPr>
                        <a:t>Rectifier Side Inductance (Lr​)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200" dirty="0" err="1">
                          <a:effectLst/>
                        </a:rPr>
                        <a:t>mH</a:t>
                      </a:r>
                      <a:endParaRPr lang="en-IN" sz="1200" dirty="0">
                        <a:effectLst/>
                      </a:endParaRP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200" dirty="0">
                          <a:effectLst/>
                        </a:rPr>
                        <a:t>0.18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External coupling inductor for Rotor Side Converter (≈7.5% </a:t>
                      </a:r>
                      <a:r>
                        <a:rPr lang="en-US" sz="1200" dirty="0" err="1">
                          <a:effectLst/>
                        </a:rPr>
                        <a:t>pu</a:t>
                      </a:r>
                      <a:r>
                        <a:rPr lang="en-US" sz="1200" dirty="0">
                          <a:effectLst/>
                        </a:rPr>
                        <a:t>).</a:t>
                      </a:r>
                    </a:p>
                  </a:txBody>
                  <a:tcPr marL="0" marR="0" marT="15240" marB="1524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22860" marR="22860" marT="15240" marB="15240" anchor="b"/>
                </a:tc>
                <a:extLst>
                  <a:ext uri="{0D108BD9-81ED-4DB2-BD59-A6C34878D82A}">
                    <a16:rowId xmlns:a16="http://schemas.microsoft.com/office/drawing/2014/main" val="135103339"/>
                  </a:ext>
                </a:extLst>
              </a:tr>
              <a:tr h="286666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N" sz="1200" dirty="0">
                          <a:effectLst/>
                        </a:rPr>
                        <a:t>Inverter Side Inductance (L1​)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200">
                          <a:effectLst/>
                        </a:rPr>
                        <a:t>mH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200" dirty="0">
                          <a:effectLst/>
                        </a:rPr>
                        <a:t>0.12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Converter side inductor of the Grid LCL filter.</a:t>
                      </a:r>
                    </a:p>
                  </a:txBody>
                  <a:tcPr marL="0" marR="0" marT="15240" marB="1524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22860" marR="22860" marT="15240" marB="15240" anchor="b"/>
                </a:tc>
                <a:extLst>
                  <a:ext uri="{0D108BD9-81ED-4DB2-BD59-A6C34878D82A}">
                    <a16:rowId xmlns:a16="http://schemas.microsoft.com/office/drawing/2014/main" val="2586396895"/>
                  </a:ext>
                </a:extLst>
              </a:tr>
              <a:tr h="324092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N" sz="1200">
                          <a:effectLst/>
                        </a:rPr>
                        <a:t>Filter Capacitor (Cf​)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l-GR" sz="1200">
                          <a:effectLst/>
                        </a:rPr>
                        <a:t>μ</a:t>
                      </a:r>
                      <a:r>
                        <a:rPr lang="en-IN" sz="1200">
                          <a:effectLst/>
                        </a:rPr>
                        <a:t>F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200" dirty="0">
                          <a:effectLst/>
                        </a:rPr>
                        <a:t>125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Estimated for 5% reactive power absorption at VLL​.</a:t>
                      </a:r>
                    </a:p>
                  </a:txBody>
                  <a:tcPr marL="0" marR="0" marT="15240" marB="1524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22860" marR="22860" marT="15240" marB="15240" anchor="b"/>
                </a:tc>
                <a:extLst>
                  <a:ext uri="{0D108BD9-81ED-4DB2-BD59-A6C34878D82A}">
                    <a16:rowId xmlns:a16="http://schemas.microsoft.com/office/drawing/2014/main" val="901822311"/>
                  </a:ext>
                </a:extLst>
              </a:tr>
              <a:tr h="312516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N" sz="1200">
                          <a:effectLst/>
                        </a:rPr>
                        <a:t>Grid Side Inductance (L2​)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200">
                          <a:effectLst/>
                        </a:rPr>
                        <a:t>mH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200" dirty="0">
                          <a:effectLst/>
                        </a:rPr>
                        <a:t>0.06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200">
                          <a:effectLst/>
                        </a:rPr>
                        <a:t>Grid side inductor of the Grid LCL filter.</a:t>
                      </a:r>
                    </a:p>
                  </a:txBody>
                  <a:tcPr marL="0" marR="0" marT="15240" marB="1524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22860" marR="22860" marT="15240" marB="15240" anchor="b"/>
                </a:tc>
                <a:extLst>
                  <a:ext uri="{0D108BD9-81ED-4DB2-BD59-A6C34878D82A}">
                    <a16:rowId xmlns:a16="http://schemas.microsoft.com/office/drawing/2014/main" val="3088018679"/>
                  </a:ext>
                </a:extLst>
              </a:tr>
              <a:tr h="243068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N" sz="1200" dirty="0">
                          <a:effectLst/>
                        </a:rPr>
                        <a:t>Filter Resistance (Rd​)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l-GR" sz="1200">
                          <a:effectLst/>
                        </a:rPr>
                        <a:t>Ω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200">
                          <a:effectLst/>
                        </a:rPr>
                        <a:t>1−3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200">
                          <a:effectLst/>
                        </a:rPr>
                        <a:t>Estimate for passive damping of the LCL filter resonance.</a:t>
                      </a:r>
                    </a:p>
                  </a:txBody>
                  <a:tcPr marL="0" marR="0" marT="15240" marB="1524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22860" marR="22860" marT="15240" marB="15240" anchor="b"/>
                </a:tc>
                <a:extLst>
                  <a:ext uri="{0D108BD9-81ED-4DB2-BD59-A6C34878D82A}">
                    <a16:rowId xmlns:a16="http://schemas.microsoft.com/office/drawing/2014/main" val="3340005793"/>
                  </a:ext>
                </a:extLst>
              </a:tr>
              <a:tr h="335666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N" sz="1200" dirty="0">
                          <a:effectLst/>
                        </a:rPr>
                        <a:t>Dimensions (L×W×H)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200" dirty="0">
                          <a:effectLst/>
                        </a:rPr>
                        <a:t>mm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200">
                          <a:effectLst/>
                        </a:rPr>
                        <a:t>2000×1000×2200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200">
                          <a:effectLst/>
                        </a:rPr>
                        <a:t>Typical dimensions for a 1.25 MW liquid-cooled cabinet.</a:t>
                      </a:r>
                    </a:p>
                  </a:txBody>
                  <a:tcPr marL="0" marR="0" marT="15240" marB="1524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22860" marR="22860" marT="15240" marB="15240" anchor="b"/>
                </a:tc>
                <a:extLst>
                  <a:ext uri="{0D108BD9-81ED-4DB2-BD59-A6C34878D82A}">
                    <a16:rowId xmlns:a16="http://schemas.microsoft.com/office/drawing/2014/main" val="3422442741"/>
                  </a:ext>
                </a:extLst>
              </a:tr>
              <a:tr h="300942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N" sz="1200" dirty="0">
                          <a:effectLst/>
                        </a:rPr>
                        <a:t>Weight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200" dirty="0">
                          <a:effectLst/>
                        </a:rPr>
                        <a:t>kg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200" dirty="0">
                          <a:effectLst/>
                        </a:rPr>
                        <a:t>1500−3500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200" dirty="0">
                          <a:effectLst/>
                        </a:rPr>
                        <a:t>Typical weight range for a 1.25 MW VSC cabinet.</a:t>
                      </a:r>
                    </a:p>
                  </a:txBody>
                  <a:tcPr marL="0" marR="0" marT="15240" marB="1524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 sz="1200">
                        <a:effectLst/>
                      </a:endParaRPr>
                    </a:p>
                  </a:txBody>
                  <a:tcPr marL="22860" marR="22860" marT="15240" marB="15240" anchor="b"/>
                </a:tc>
                <a:extLst>
                  <a:ext uri="{0D108BD9-81ED-4DB2-BD59-A6C34878D82A}">
                    <a16:rowId xmlns:a16="http://schemas.microsoft.com/office/drawing/2014/main" val="1967008771"/>
                  </a:ext>
                </a:extLst>
              </a:tr>
              <a:tr h="381964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IN" sz="1200" dirty="0">
                          <a:effectLst/>
                        </a:rPr>
                        <a:t>Auxiliary Supply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200" dirty="0">
                          <a:effectLst/>
                        </a:rPr>
                        <a:t>V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IN" sz="1200" dirty="0">
                          <a:effectLst/>
                        </a:rPr>
                        <a:t>400 VAC​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200">
                          <a:effectLst/>
                        </a:rPr>
                        <a:t>Standard 3-phase supply for cooling/auxiliary motors and pumps.</a:t>
                      </a:r>
                    </a:p>
                  </a:txBody>
                  <a:tcPr marL="0" marR="0" marT="15240" marB="1524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IN" sz="1200" dirty="0">
                        <a:effectLst/>
                      </a:endParaRPr>
                    </a:p>
                  </a:txBody>
                  <a:tcPr marL="22860" marR="22860" marT="15240" marB="15240" anchor="b"/>
                </a:tc>
                <a:extLst>
                  <a:ext uri="{0D108BD9-81ED-4DB2-BD59-A6C34878D82A}">
                    <a16:rowId xmlns:a16="http://schemas.microsoft.com/office/drawing/2014/main" val="26938772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91744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16F3C-E304-A05B-36CC-F7987BC5A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6AEE849D-D9B7-1150-C53E-6FCB88ED0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6.Next Step</a:t>
            </a:r>
            <a:endParaRPr lang="de-DE" dirty="0">
              <a:solidFill>
                <a:prstClr val="black"/>
              </a:solidFill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23DCAAD-6FE7-ABB8-F183-34B025EBDC7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de-DE" dirty="0"/>
              <a:t>Electrical Drivetrain / Optimus Syria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0C6C4A7-3CDD-4DBA-4660-C6A2EEC435A7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65A6D213-0805-4C3E-849D-17C75FD348C3}" type="slidenum">
              <a:rPr lang="de-DE" smtClean="0"/>
              <a:t>9</a:t>
            </a:fld>
            <a:endParaRPr lang="de-DE" dirty="0"/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A53C376E-38F7-423F-EADE-D796DFBEBB7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878527" y="6564113"/>
            <a:ext cx="5596085" cy="365125"/>
          </a:xfrm>
        </p:spPr>
        <p:txBody>
          <a:bodyPr/>
          <a:lstStyle/>
          <a:p>
            <a:r>
              <a:rPr lang="en-GB" dirty="0"/>
              <a:t>Cristina Vergara</a:t>
            </a:r>
          </a:p>
        </p:txBody>
      </p:sp>
      <p:sp>
        <p:nvSpPr>
          <p:cNvPr id="2" name="Datumsplatzhalter 3">
            <a:extLst>
              <a:ext uri="{FF2B5EF4-FFF2-40B4-BE49-F238E27FC236}">
                <a16:creationId xmlns:a16="http://schemas.microsoft.com/office/drawing/2014/main" id="{8AEE8DB0-9841-5964-5327-D15E924DD505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38200" y="6567488"/>
            <a:ext cx="1111250" cy="365125"/>
          </a:xfrm>
        </p:spPr>
        <p:txBody>
          <a:bodyPr/>
          <a:lstStyle/>
          <a:p>
            <a:r>
              <a:rPr lang="en-US" dirty="0"/>
              <a:t>11/18/2025</a:t>
            </a:r>
            <a:endParaRPr lang="en-GB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425D078B-14F7-F4E5-748E-5707AED524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808" y="1786420"/>
            <a:ext cx="941832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dirty="0"/>
              <a:t>Complete the Simscape drivetrain diagram and add all parameters.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dirty="0"/>
              <a:t>Run the first full simulation and compare it with the MATLAB results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3D modeling </a:t>
            </a:r>
            <a:r>
              <a:rPr lang="en-US" altLang="en-US" dirty="0">
                <a:latin typeface="Arial" panose="020B0604020202020204" pitchFamily="34" charset="0"/>
              </a:rPr>
              <a:t>(Fusion 360) of components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0714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文本框"/>
          <p:cNvSpPr>
            <a:spLocks noGrp="1"/>
          </p:cNvSpPr>
          <p:nvPr>
            <p:ph type="title"/>
          </p:nvPr>
        </p:nvSpPr>
        <p:spPr>
          <a:xfrm>
            <a:off x="937592" y="324643"/>
            <a:ext cx="10515600" cy="1325562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en-US" noProof="0" dirty="0"/>
              <a:t>Bibliography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1F4E31-D8EF-BD6B-0B21-F913357B082A}"/>
              </a:ext>
            </a:extLst>
          </p:cNvPr>
          <p:cNvSpPr>
            <a:spLocks noGrp="1"/>
          </p:cNvSpPr>
          <p:nvPr>
            <p:ph type="ftr"/>
          </p:nvPr>
        </p:nvSpPr>
        <p:spPr/>
        <p:txBody>
          <a:bodyPr/>
          <a:lstStyle/>
          <a:p>
            <a:pPr algn="r"/>
            <a:r>
              <a:rPr lang="en-US" sz="1200" noProof="0" dirty="0">
                <a:solidFill>
                  <a:schemeClr val="bg1"/>
                </a:solidFill>
                <a:latin typeface="Aptos" charset="0"/>
                <a:ea typeface="等线" charset="0"/>
                <a:cs typeface="Aptos" charset="0"/>
              </a:rPr>
              <a:t>Electrical Drivetrain /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025A4F-3163-9DBF-FD18-19E943A66680}"/>
              </a:ext>
            </a:extLst>
          </p:cNvPr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ctr"/>
            <a:fld id="{CAD2D6BD-DE1B-4B5F-8B41-2702339687B9}" type="slidenum">
              <a:rPr lang="en-US" sz="1200" b="0" i="0" u="none" strike="noStrike" kern="1200" cap="none" spc="0" baseline="0" noProof="0" smtClean="0">
                <a:solidFill>
                  <a:schemeClr val="bg1"/>
                </a:solidFill>
                <a:latin typeface="Aptos" charset="0"/>
                <a:ea typeface="等线" charset="0"/>
                <a:cs typeface="Aptos" charset="0"/>
              </a:rPr>
              <a:t>10</a:t>
            </a:fld>
            <a:endParaRPr lang="en-US" sz="1200" noProof="0" dirty="0">
              <a:solidFill>
                <a:schemeClr val="bg1"/>
              </a:solidFill>
              <a:latin typeface="Aptos" charset="0"/>
              <a:ea typeface="等线" charset="0"/>
              <a:cs typeface="Aptos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84750FB-0F77-2AFD-5052-3F1383A74A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0142" y="6563174"/>
            <a:ext cx="2883658" cy="365792"/>
          </a:xfrm>
          <a:prstGeom prst="rect">
            <a:avLst/>
          </a:prstGeom>
        </p:spPr>
      </p:pic>
      <p:sp>
        <p:nvSpPr>
          <p:cNvPr id="9" name="Datumsplatzhalter 3">
            <a:extLst>
              <a:ext uri="{FF2B5EF4-FFF2-40B4-BE49-F238E27FC236}">
                <a16:creationId xmlns:a16="http://schemas.microsoft.com/office/drawing/2014/main" id="{41C0995E-FEBD-077C-14BB-63CEFB257421}"/>
              </a:ext>
            </a:extLst>
          </p:cNvPr>
          <p:cNvSpPr txBox="1">
            <a:spLocks/>
          </p:cNvSpPr>
          <p:nvPr/>
        </p:nvSpPr>
        <p:spPr>
          <a:xfrm>
            <a:off x="937592" y="6563841"/>
            <a:ext cx="1537252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noProof="0" dirty="0">
                <a:solidFill>
                  <a:schemeClr val="bg1"/>
                </a:solidFill>
              </a:rPr>
              <a:t>11/18/2025</a:t>
            </a:r>
          </a:p>
        </p:txBody>
      </p:sp>
      <p:sp>
        <p:nvSpPr>
          <p:cNvPr id="11" name="Textplatzhalter 2">
            <a:extLst>
              <a:ext uri="{FF2B5EF4-FFF2-40B4-BE49-F238E27FC236}">
                <a16:creationId xmlns:a16="http://schemas.microsoft.com/office/drawing/2014/main" id="{623B4881-1EC5-EE56-191B-9370A1E6C82D}"/>
              </a:ext>
            </a:extLst>
          </p:cNvPr>
          <p:cNvSpPr txBox="1">
            <a:spLocks/>
          </p:cNvSpPr>
          <p:nvPr/>
        </p:nvSpPr>
        <p:spPr>
          <a:xfrm>
            <a:off x="2878527" y="6564113"/>
            <a:ext cx="5596085" cy="36512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de-DE" sz="1200" dirty="0">
                <a:solidFill>
                  <a:schemeClr val="bg1"/>
                </a:solidFill>
              </a:rPr>
              <a:t>C</a:t>
            </a:r>
            <a:r>
              <a:rPr lang="en-US" sz="1200" dirty="0" err="1">
                <a:solidFill>
                  <a:schemeClr val="bg1"/>
                </a:solidFill>
              </a:rPr>
              <a:t>ristina</a:t>
            </a:r>
            <a:r>
              <a:rPr lang="en-US" sz="1200" dirty="0">
                <a:solidFill>
                  <a:schemeClr val="bg1"/>
                </a:solidFill>
              </a:rPr>
              <a:t> Vergara</a:t>
            </a:r>
            <a:endParaRPr lang="en-US" sz="1200" noProof="0" dirty="0">
              <a:solidFill>
                <a:schemeClr val="bg1"/>
              </a:solidFill>
            </a:endParaRPr>
          </a:p>
        </p:txBody>
      </p:sp>
      <p:sp>
        <p:nvSpPr>
          <p:cNvPr id="16" name="Foliennummernplatzhalter 5">
            <a:extLst>
              <a:ext uri="{FF2B5EF4-FFF2-40B4-BE49-F238E27FC236}">
                <a16:creationId xmlns:a16="http://schemas.microsoft.com/office/drawing/2014/main" id="{F7D00D96-B25F-2B58-BBC1-1A74FAC2127C}"/>
              </a:ext>
            </a:extLst>
          </p:cNvPr>
          <p:cNvSpPr txBox="1">
            <a:spLocks/>
          </p:cNvSpPr>
          <p:nvPr/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noProof="0" dirty="0">
                <a:solidFill>
                  <a:schemeClr val="bg1"/>
                </a:solidFill>
              </a:rPr>
              <a:t>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04FBDE-F047-28F8-F872-FBD4A9FEB5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060" y="1650205"/>
            <a:ext cx="10839880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lang="en-US" altLang="en-US" sz="1600" dirty="0"/>
              <a:t>MathWorks. Simscape Electrical Documentation.</a:t>
            </a:r>
            <a:br>
              <a:rPr lang="en-US" altLang="en-US" sz="1600" dirty="0"/>
            </a:br>
            <a:r>
              <a:rPr lang="en-US" altLang="en-US" sz="1600" dirty="0">
                <a:hlinkClick r:id="rId4"/>
              </a:rPr>
              <a:t>https://www.mathworks.com/help/sps/</a:t>
            </a:r>
            <a:br>
              <a:rPr lang="en-US" altLang="en-US" sz="1600" dirty="0"/>
            </a:br>
            <a:r>
              <a:rPr lang="en-US" altLang="en-US" sz="1600" dirty="0"/>
              <a:t>Access Date – 06/11/2025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lang="en-US" altLang="en-US" sz="1600" dirty="0"/>
              <a:t>MathWorks. Asynchronous Machine (Wound Rotor) – Simscape Electrical.</a:t>
            </a:r>
            <a:br>
              <a:rPr lang="en-US" altLang="en-US" sz="1600" dirty="0"/>
            </a:br>
            <a:r>
              <a:rPr lang="en-US" altLang="en-US" sz="1600" dirty="0"/>
              <a:t>https://www.mathworks.com/help/sps/ref/asynchronousmachine.html</a:t>
            </a:r>
            <a:br>
              <a:rPr lang="en-US" altLang="en-US" sz="1600" dirty="0"/>
            </a:br>
            <a:r>
              <a:rPr lang="en-US" altLang="en-US" sz="1600" dirty="0"/>
              <a:t>Access Date – 06/11/2025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lang="en-US" altLang="en-US" sz="1600" dirty="0"/>
              <a:t>MathWorks. DFIG Wind Turbine Examples (Simscape).</a:t>
            </a:r>
            <a:br>
              <a:rPr lang="en-US" altLang="en-US" sz="1600" dirty="0"/>
            </a:br>
            <a:r>
              <a:rPr lang="en-US" altLang="en-US" sz="1600" dirty="0"/>
              <a:t>https://www.mathworks.com/help/sps/ug/wind-turbine-modeling.html</a:t>
            </a:r>
            <a:br>
              <a:rPr lang="en-US" altLang="en-US" sz="1600" dirty="0"/>
            </a:br>
            <a:r>
              <a:rPr lang="en-US" altLang="en-US" sz="1600" dirty="0"/>
              <a:t>Access Date – 06/11/2025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lang="en-US" altLang="en-US" sz="1600" dirty="0"/>
              <a:t>MathWorks. Wind Turbine Induction Generator Models.</a:t>
            </a:r>
            <a:br>
              <a:rPr lang="en-US" altLang="en-US" sz="1600" dirty="0"/>
            </a:br>
            <a:r>
              <a:rPr lang="en-US" altLang="en-US" sz="1600" dirty="0"/>
              <a:t>https://www.mathworks.com/help/sps/powersys/ref/dfigwindturbine.html</a:t>
            </a:r>
            <a:br>
              <a:rPr lang="en-US" altLang="en-US" sz="1600" dirty="0"/>
            </a:br>
            <a:r>
              <a:rPr lang="en-US" altLang="en-US" sz="1600" dirty="0"/>
              <a:t>Access Date – 06/11/2025</a:t>
            </a:r>
          </a:p>
        </p:txBody>
      </p:sp>
    </p:spTree>
    <p:extLst>
      <p:ext uri="{BB962C8B-B14F-4D97-AF65-F5344CB8AC3E}">
        <p14:creationId xmlns:p14="http://schemas.microsoft.com/office/powerpoint/2010/main" val="40729671"/>
      </p:ext>
    </p:extLst>
  </p:cSld>
  <p:clrMapOvr>
    <a:masterClrMapping/>
  </p:clrMapOvr>
</p:sld>
</file>

<file path=ppt/theme/theme1.xml><?xml version="1.0" encoding="utf-8"?>
<a:theme xmlns:a="http://schemas.openxmlformats.org/drawingml/2006/main" name="Benutzerdefiniertes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2" id="{37666F68-9715-4511-90E3-E4140495B232}" vid="{4FEE3175-B49C-4319-8ECD-B48408CDBF8F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200"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2" id="{37666F68-9715-4511-90E3-E4140495B232}" vid="{9BE4395A-200E-4568-ABA6-DAB134CF054B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1">
    <wetp:webextensionref xmlns:r="http://schemas.openxmlformats.org/officeDocument/2006/relationships" r:id="rId1"/>
  </wetp:taskpane>
  <wetp:taskpane dockstate="right" visibility="0" width="438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BCD039B6-C6AB-492A-94BF-C46AF895D2E7}">
  <we:reference id="WA200007130" version="1.0.0.1" store="en-US" storeType="omex"/>
  <we:alternateReferences>
    <we:reference id="WA200007130" version="1.0.0.1" store="en-US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73D784B2-E216-4A14-BE4B-F0CA301E2B20}">
  <we:reference id="WA200005566" version="3.0.0.3" store="en-US" storeType="omex"/>
  <we:alternateReferences>
    <we:reference id="WA200005566" version="3.0.0.3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Presentation template_final</Template>
  <TotalTime>103</TotalTime>
  <Words>797</Words>
  <Application>Microsoft Office PowerPoint</Application>
  <PresentationFormat>Widescreen</PresentationFormat>
  <Paragraphs>204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Aptos</vt:lpstr>
      <vt:lpstr>Aptos (Textkörper)</vt:lpstr>
      <vt:lpstr>Aptos Display</vt:lpstr>
      <vt:lpstr>Arial</vt:lpstr>
      <vt:lpstr>Calibri</vt:lpstr>
      <vt:lpstr>Calibri Light</vt:lpstr>
      <vt:lpstr>Times New Roman</vt:lpstr>
      <vt:lpstr>Benutzerdefiniertes Design</vt:lpstr>
      <vt:lpstr>Office</vt:lpstr>
      <vt:lpstr>PowerPoint Presentation</vt:lpstr>
      <vt:lpstr>List of contents</vt:lpstr>
      <vt:lpstr>Generator and Parameters</vt:lpstr>
      <vt:lpstr>Torque-Speed Characteristic</vt:lpstr>
      <vt:lpstr>Stator Current vs Rotor Speed</vt:lpstr>
      <vt:lpstr>Mechanical Power vs Rotor Speed</vt:lpstr>
      <vt:lpstr>Progress on Simscape Drivetrain Model</vt:lpstr>
      <vt:lpstr>Converter Parameters (Updated)</vt:lpstr>
      <vt:lpstr>6.Next Step</vt:lpstr>
      <vt:lpstr>Bibliography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Josef Remberger</dc:creator>
  <cp:lastModifiedBy>Ecoloop ThreeSixty</cp:lastModifiedBy>
  <cp:revision>77</cp:revision>
  <dcterms:created xsi:type="dcterms:W3CDTF">2025-09-27T08:52:45Z</dcterms:created>
  <dcterms:modified xsi:type="dcterms:W3CDTF">2025-11-16T14:59:32Z</dcterms:modified>
</cp:coreProperties>
</file>