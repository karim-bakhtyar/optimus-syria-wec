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2"/>
  </p:notesMasterIdLst>
  <p:handoutMasterIdLst>
    <p:handoutMasterId r:id="rId13"/>
  </p:handoutMasterIdLst>
  <p:sldIdLst>
    <p:sldId id="263" r:id="rId3"/>
    <p:sldId id="285" r:id="rId4"/>
    <p:sldId id="308" r:id="rId5"/>
    <p:sldId id="291" r:id="rId6"/>
    <p:sldId id="309" r:id="rId7"/>
    <p:sldId id="312" r:id="rId8"/>
    <p:sldId id="310" r:id="rId9"/>
    <p:sldId id="311" r:id="rId10"/>
    <p:sldId id="31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85"/>
            <p14:sldId id="308"/>
            <p14:sldId id="291"/>
            <p14:sldId id="309"/>
            <p14:sldId id="312"/>
            <p14:sldId id="310"/>
            <p14:sldId id="311"/>
            <p14:sldId id="313"/>
          </p14:sldIdLst>
        </p14:section>
        <p14:section name="Title, main slides" id="{B26F6679-C236-4D3D-BC2F-CAE5ED400718}">
          <p14:sldIdLst/>
        </p14:section>
        <p14:section name="bibliography" id="{2ECB0A3B-7D16-4F98-AD6A-5308DF7BF07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16/11/2025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773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16/11/2025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16/11/2025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degreesymbol.net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Relationship Id="rId4" Type="http://schemas.openxmlformats.org/officeDocument/2006/relationships/slide" Target="slide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product-catalogue.pdf" TargetMode="External"/><Relationship Id="rId2" Type="http://schemas.openxmlformats.org/officeDocument/2006/relationships/hyperlink" Target="https://www.svendborg-brakes.com/products/hydraulic-brakes/active-brakes/bsac-120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6678" y="2216406"/>
            <a:ext cx="9718641" cy="912598"/>
          </a:xfrm>
        </p:spPr>
        <p:txBody>
          <a:bodyPr/>
          <a:lstStyle/>
          <a:p>
            <a:r>
              <a:rPr lang="en-GB" sz="4000" dirty="0"/>
              <a:t>Weekly report: Machine Bed &amp; Yaw System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E6C0A47-C45A-EB0C-4C45-15C9C28E75E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475992" y="4582639"/>
            <a:ext cx="7240015" cy="365125"/>
          </a:xfrm>
        </p:spPr>
        <p:txBody>
          <a:bodyPr/>
          <a:lstStyle/>
          <a:p>
            <a:r>
              <a:rPr lang="en-GB" dirty="0" err="1"/>
              <a:t>Shoukat</a:t>
            </a:r>
            <a:r>
              <a:rPr lang="en-GB" dirty="0"/>
              <a:t> Abbas, </a:t>
            </a:r>
            <a:r>
              <a:rPr lang="en-GB" dirty="0" err="1"/>
              <a:t>Luksh</a:t>
            </a:r>
            <a:r>
              <a:rPr lang="en-GB" dirty="0"/>
              <a:t> Chawla, Sathishkumar Venkatachalam, Shrihari G Kadam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18/11/2025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802836" y="6566802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Machine Bed &amp; Yaw System/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E0415E7-E053-E995-249A-5B86E4F96002}"/>
              </a:ext>
            </a:extLst>
          </p:cNvPr>
          <p:cNvSpPr txBox="1">
            <a:spLocks/>
          </p:cNvSpPr>
          <p:nvPr/>
        </p:nvSpPr>
        <p:spPr>
          <a:xfrm>
            <a:off x="1412841" y="320553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dirty="0"/>
              <a:t>Week No - 8</a:t>
            </a:r>
          </a:p>
          <a:p>
            <a:r>
              <a:rPr lang="it-IT" sz="2000" dirty="0"/>
              <a:t>Date: 18.11.2025</a:t>
            </a:r>
          </a:p>
          <a:p>
            <a:r>
              <a:rPr lang="it-IT" sz="2000" dirty="0"/>
              <a:t>Supervisor: Prof. Peter Quell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08376D06-4672-9EF6-7B17-FCFA47C3FDDF}"/>
              </a:ext>
            </a:extLst>
          </p:cNvPr>
          <p:cNvSpPr txBox="1">
            <a:spLocks/>
          </p:cNvSpPr>
          <p:nvPr/>
        </p:nvSpPr>
        <p:spPr>
          <a:xfrm>
            <a:off x="2517233" y="5089851"/>
            <a:ext cx="7240015" cy="365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Presented by –  </a:t>
            </a:r>
            <a:r>
              <a:rPr lang="en-GB" dirty="0"/>
              <a:t>Shoukat Abbas</a:t>
            </a:r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05D8C-3E5B-E602-A935-521A15813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5C580E-2809-B049-3D67-5D7769A1B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04143C-9BB0-DF67-AD4B-795FC4CF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10ED4E-7AD5-F9DB-3A70-EE05E34F0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2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FCB104A-0713-9C47-0F5D-96E287DF59C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Shoukat Abbas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3D5F662-FC69-5BA9-74AF-843D9516E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28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ptos" panose="020B0004020202020204" pitchFamily="34" charset="0"/>
              </a:rPr>
              <a:t>Contents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>
        <p:nvSpPr>
          <p:cNvPr id="2" name="Text Box 1">
            <a:extLst>
              <a:ext uri="{FF2B5EF4-FFF2-40B4-BE49-F238E27FC236}">
                <a16:creationId xmlns:a16="http://schemas.microsoft.com/office/drawing/2014/main" id="{74C8A896-5872-DF50-1F93-F0340A0A5B2E}"/>
              </a:ext>
            </a:extLst>
          </p:cNvPr>
          <p:cNvSpPr txBox="1"/>
          <p:nvPr/>
        </p:nvSpPr>
        <p:spPr>
          <a:xfrm>
            <a:off x="1814195" y="1679531"/>
            <a:ext cx="4281805" cy="282335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dirty="0"/>
              <a:t>Yaw Bearing Finalized Dimensions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dirty="0"/>
              <a:t>Yaw Bearing CAD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dirty="0"/>
              <a:t>Yaw brake disc and brake callipers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dirty="0"/>
              <a:t>Initial CAD design assumptions (Casted part)</a:t>
            </a:r>
          </a:p>
          <a:p>
            <a:endParaRPr lang="en-IN" alt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707436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6EAAE-BA35-A8A2-25C5-DD12271A1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B9983F-38B4-BEAB-5B92-A13758AC8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BBE329-24E5-1CA5-6F29-488AA9E79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976FAC-A587-5ADC-8AB6-2786487A5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3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4AEB46C-8D4C-77DA-D4ED-E81CA97C6D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Shoukat Abbas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FA82073-D53B-4D6B-A04A-11E1C6BC4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9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b="1">
                <a:latin typeface="Aptos" panose="020B0004020202020204" pitchFamily="34" charset="0"/>
                <a:cs typeface="Times New Roman" panose="02020603050405020304" pitchFamily="18" charset="0"/>
                <a:sym typeface="+mn-ea"/>
              </a:rPr>
              <a:t>Yaw Bearing Final Dimensions </a:t>
            </a:r>
            <a:endParaRPr lang="en-US" sz="4000" b="1" dirty="0"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1498" y="1041330"/>
            <a:ext cx="11360502" cy="1279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b="1" dirty="0"/>
              <a:t>Double-row four-point bearing with External Gears</a:t>
            </a:r>
          </a:p>
          <a:p>
            <a:pPr>
              <a:lnSpc>
                <a:spcPct val="150000"/>
              </a:lnSpc>
            </a:pPr>
            <a:endParaRPr lang="en-IN" sz="20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F2F589-5179-0FB6-4E0A-8BFA5E31A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731" y="2119023"/>
            <a:ext cx="4950819" cy="38042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7C9C9E-4396-D348-B3B6-493819A0AD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225"/>
          <a:stretch>
            <a:fillRect/>
          </a:stretch>
        </p:blipFill>
        <p:spPr>
          <a:xfrm>
            <a:off x="6861110" y="2107347"/>
            <a:ext cx="4111690" cy="381588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C749008-89A7-7B5A-9BC8-7C0FF5E57ACF}"/>
              </a:ext>
            </a:extLst>
          </p:cNvPr>
          <p:cNvSpPr txBox="1"/>
          <p:nvPr/>
        </p:nvSpPr>
        <p:spPr>
          <a:xfrm>
            <a:off x="8117632" y="6059007"/>
            <a:ext cx="1912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en-GB" dirty="0"/>
              <a:t>Teeth Profile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C61AC0-53CC-0834-B692-337B1ED7A59F}"/>
              </a:ext>
            </a:extLst>
          </p:cNvPr>
          <p:cNvSpPr txBox="1"/>
          <p:nvPr/>
        </p:nvSpPr>
        <p:spPr>
          <a:xfrm>
            <a:off x="1440323" y="6059007"/>
            <a:ext cx="3225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en-GB" dirty="0"/>
              <a:t>2D drawing from own 3D part</a:t>
            </a:r>
          </a:p>
        </p:txBody>
      </p:sp>
    </p:spTree>
    <p:extLst>
      <p:ext uri="{BB962C8B-B14F-4D97-AF65-F5344CB8AC3E}">
        <p14:creationId xmlns:p14="http://schemas.microsoft.com/office/powerpoint/2010/main" val="2217047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E8EEC-B589-6321-A79E-CB8F88254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C49EF7-09DF-03A6-8BF9-B41DB8090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EDAACE-52AF-503D-7C3F-7ED30E02A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8528EF-3689-DAE2-7E4A-B1638DD34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4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4B5BC06-0622-E7B0-071C-2158743C72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Shoukat Abbas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979C3CC-5284-0057-A097-F7E5E2E83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9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b="1" dirty="0">
                <a:latin typeface="Aptos" panose="020B0004020202020204" pitchFamily="34" charset="0"/>
                <a:cs typeface="Times New Roman" panose="02020603050405020304" pitchFamily="18" charset="0"/>
                <a:sym typeface="+mn-ea"/>
              </a:rPr>
              <a:t>Yaw Bearing Tooth Profile</a:t>
            </a:r>
            <a:endParaRPr lang="en-US" sz="4000" b="1" dirty="0"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3B3BB0B-D00C-7CFD-578A-8056D9B65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175" y="2676610"/>
            <a:ext cx="4491394" cy="325579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99C1CF2-C17E-2FDB-5046-0E2A9B791436}"/>
              </a:ext>
            </a:extLst>
          </p:cNvPr>
          <p:cNvSpPr txBox="1"/>
          <p:nvPr/>
        </p:nvSpPr>
        <p:spPr>
          <a:xfrm>
            <a:off x="2263256" y="6008770"/>
            <a:ext cx="2206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en-GB" dirty="0"/>
              <a:t>Tooth profile bearing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0907906-BD8D-D8EC-183B-36C4679C6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692" y="2676610"/>
            <a:ext cx="4011537" cy="346433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A655741-129B-8DF6-64D2-A7A3C3F7BF67}"/>
              </a:ext>
            </a:extLst>
          </p:cNvPr>
          <p:cNvSpPr txBox="1"/>
          <p:nvPr/>
        </p:nvSpPr>
        <p:spPr>
          <a:xfrm>
            <a:off x="7762874" y="6042056"/>
            <a:ext cx="2206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en-GB" dirty="0"/>
              <a:t>Tooth profile pinion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8BB6E7-B45A-9964-4BD5-634A375CF10E}"/>
              </a:ext>
            </a:extLst>
          </p:cNvPr>
          <p:cNvSpPr txBox="1"/>
          <p:nvPr/>
        </p:nvSpPr>
        <p:spPr>
          <a:xfrm>
            <a:off x="838200" y="1461433"/>
            <a:ext cx="29033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000" dirty="0"/>
              <a:t>Pressure angle = 20</a:t>
            </a:r>
            <a:r>
              <a:rPr lang="en-US" sz="2000" dirty="0"/>
              <a:t>°</a:t>
            </a:r>
            <a:endParaRPr lang="en-US" dirty="0">
              <a:hlinkClick r:id="rId4"/>
            </a:endParaRPr>
          </a:p>
          <a:p>
            <a:endParaRPr lang="en-IN" alt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000" dirty="0"/>
              <a:t>Module m = 24</a:t>
            </a:r>
          </a:p>
        </p:txBody>
      </p:sp>
    </p:spTree>
    <p:extLst>
      <p:ext uri="{BB962C8B-B14F-4D97-AF65-F5344CB8AC3E}">
        <p14:creationId xmlns:p14="http://schemas.microsoft.com/office/powerpoint/2010/main" val="420260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CF837-D0A8-9473-D329-97844BA50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7C539C-E88F-524D-F12D-B98945201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62ECA-2223-DDFB-0160-FFEF721D7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FEAF8B-B5BF-11F6-E77B-A9C969201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5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1F77C54-941F-05B0-B686-B6E9A99C25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Shoukat Abbas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8EF60FA-DEFE-899A-8E9C-75BDAC7C8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706" y="318474"/>
            <a:ext cx="11700587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GB" sz="4000" b="1" dirty="0">
                <a:sym typeface="+mn-ea"/>
              </a:rPr>
              <a:t>Yaw Bearing 3D Model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D6AEC78-BA89-A576-D53A-EFD8CA744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06" y="1434327"/>
            <a:ext cx="3855028" cy="34318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B3869B-CD87-F932-5D98-D4816A180C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682"/>
          <a:stretch>
            <a:fillRect/>
          </a:stretch>
        </p:blipFill>
        <p:spPr>
          <a:xfrm>
            <a:off x="4215951" y="1558704"/>
            <a:ext cx="3855029" cy="31441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109C61B-C697-5146-6163-EC9D4B030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588" y="1644037"/>
            <a:ext cx="3875313" cy="386646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096787C-255E-97D1-91ED-97B63A445387}"/>
              </a:ext>
            </a:extLst>
          </p:cNvPr>
          <p:cNvSpPr txBox="1"/>
          <p:nvPr/>
        </p:nvSpPr>
        <p:spPr>
          <a:xfrm>
            <a:off x="1583350" y="5325837"/>
            <a:ext cx="2206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en-GB" dirty="0"/>
              <a:t>Top view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94EAA6-5651-571B-FAF9-4DACBEF6BE1F}"/>
              </a:ext>
            </a:extLst>
          </p:cNvPr>
          <p:cNvSpPr txBox="1"/>
          <p:nvPr/>
        </p:nvSpPr>
        <p:spPr>
          <a:xfrm>
            <a:off x="4796682" y="5288023"/>
            <a:ext cx="2324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en-GB" dirty="0"/>
              <a:t>Tooth profile close-up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0A397B-157E-A207-FC3B-E120344CA903}"/>
              </a:ext>
            </a:extLst>
          </p:cNvPr>
          <p:cNvSpPr txBox="1"/>
          <p:nvPr/>
        </p:nvSpPr>
        <p:spPr>
          <a:xfrm>
            <a:off x="8984546" y="5325837"/>
            <a:ext cx="2324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en-GB" dirty="0"/>
              <a:t>Cross-sectioned view</a:t>
            </a:r>
          </a:p>
        </p:txBody>
      </p:sp>
    </p:spTree>
    <p:extLst>
      <p:ext uri="{BB962C8B-B14F-4D97-AF65-F5344CB8AC3E}">
        <p14:creationId xmlns:p14="http://schemas.microsoft.com/office/powerpoint/2010/main" val="1719742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E8EEC-B589-6321-A79E-CB8F88254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C49EF7-09DF-03A6-8BF9-B41DB8090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EDAACE-52AF-503D-7C3F-7ED30E02A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8528EF-3689-DAE2-7E4A-B1638DD34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6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4B5BC06-0622-E7B0-071C-2158743C72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 err="1"/>
              <a:t>Shoukat</a:t>
            </a:r>
            <a:r>
              <a:rPr lang="en-GB" dirty="0"/>
              <a:t> Abbas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C60AA31-782F-49C7-4800-0509FD0CE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Brake Calipers selection and calculation</a:t>
            </a:r>
            <a:endParaRPr lang="en-US" sz="4000" b="1" dirty="0"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F0C294-9C64-BB8C-8BE2-54541D18B4E5}"/>
              </a:ext>
            </a:extLst>
          </p:cNvPr>
          <p:cNvSpPr txBox="1"/>
          <p:nvPr/>
        </p:nvSpPr>
        <p:spPr>
          <a:xfrm>
            <a:off x="749584" y="1402084"/>
            <a:ext cx="111722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Our recommendations are the BSAC 120  or BSAB 120 brake from Svendborg Company. I have already contacted the company for one week, hoping to get their reply this week.</a:t>
            </a:r>
            <a:br>
              <a:rPr lang="en-US" sz="2000" dirty="0"/>
            </a:br>
            <a:br>
              <a:rPr lang="en-US" sz="2000" dirty="0"/>
            </a:b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89459" y="6028636"/>
            <a:ext cx="36113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400" b="1" i="1" dirty="0">
                <a:solidFill>
                  <a:prstClr val="black"/>
                </a:solidFill>
              </a:rPr>
              <a:t>Source: </a:t>
            </a:r>
            <a:r>
              <a:rPr lang="en-IN" sz="1400" i="1" dirty="0">
                <a:solidFill>
                  <a:prstClr val="black"/>
                </a:solidFill>
              </a:rPr>
              <a:t>Svendborg-brakes/hydraulic-brakes</a:t>
            </a:r>
          </a:p>
        </p:txBody>
      </p:sp>
      <p:pic>
        <p:nvPicPr>
          <p:cNvPr id="8" name="Picture 7" descr="An orange and silver machine&#10;&#10;AI-generated content may be incorrect.">
            <a:extLst>
              <a:ext uri="{FF2B5EF4-FFF2-40B4-BE49-F238E27FC236}">
                <a16:creationId xmlns:a16="http://schemas.microsoft.com/office/drawing/2014/main" id="{3C98C10F-825B-E6F5-26B5-6640DDE15C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45" t="24564" r="25317" b="15228"/>
          <a:stretch>
            <a:fillRect/>
          </a:stretch>
        </p:blipFill>
        <p:spPr>
          <a:xfrm>
            <a:off x="1240972" y="2540513"/>
            <a:ext cx="3023118" cy="2048729"/>
          </a:xfrm>
          <a:prstGeom prst="rect">
            <a:avLst/>
          </a:prstGeom>
        </p:spPr>
      </p:pic>
      <p:pic>
        <p:nvPicPr>
          <p:cNvPr id="13" name="Picture 12" descr="An orange machine with holes&#10;&#10;AI-generated content may be incorrect.">
            <a:extLst>
              <a:ext uri="{FF2B5EF4-FFF2-40B4-BE49-F238E27FC236}">
                <a16:creationId xmlns:a16="http://schemas.microsoft.com/office/drawing/2014/main" id="{2C267A8F-790E-08F3-D28A-1EF1CF13F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81" t="19931" r="21441" b="10137"/>
          <a:stretch>
            <a:fillRect/>
          </a:stretch>
        </p:blipFill>
        <p:spPr>
          <a:xfrm>
            <a:off x="6913984" y="2503265"/>
            <a:ext cx="2784705" cy="20389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2AAF56C-F340-5F3C-6DED-D7B85ADEF5EF}"/>
              </a:ext>
            </a:extLst>
          </p:cNvPr>
          <p:cNvSpPr txBox="1"/>
          <p:nvPr/>
        </p:nvSpPr>
        <p:spPr>
          <a:xfrm>
            <a:off x="1730565" y="4637287"/>
            <a:ext cx="18897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 i="1" dirty="0">
                <a:solidFill>
                  <a:prstClr val="black"/>
                </a:solidFill>
              </a:rPr>
              <a:t>Svendborg BSAC120</a:t>
            </a:r>
            <a:endParaRPr lang="en-IN" sz="1400" i="1" dirty="0">
              <a:solidFill>
                <a:prstClr val="black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6EF734-42E9-5DBE-4BB8-4FE9F9542D11}"/>
              </a:ext>
            </a:extLst>
          </p:cNvPr>
          <p:cNvSpPr txBox="1"/>
          <p:nvPr/>
        </p:nvSpPr>
        <p:spPr>
          <a:xfrm>
            <a:off x="7433442" y="4637287"/>
            <a:ext cx="22766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 i="1" dirty="0">
                <a:solidFill>
                  <a:prstClr val="black"/>
                </a:solidFill>
              </a:rPr>
              <a:t>Svendborg BSAB120</a:t>
            </a:r>
            <a:endParaRPr lang="en-IN" sz="1400" i="1" dirty="0">
              <a:solidFill>
                <a:prstClr val="black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7C7BA2-32D7-400E-D1B1-1BDADCD4D937}"/>
              </a:ext>
            </a:extLst>
          </p:cNvPr>
          <p:cNvSpPr txBox="1"/>
          <p:nvPr/>
        </p:nvSpPr>
        <p:spPr>
          <a:xfrm>
            <a:off x="10905393" y="5997859"/>
            <a:ext cx="8968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hlinkClick r:id="rId4" action="ppaction://hlinksldjump"/>
              </a:rPr>
              <a:t>[1]</a:t>
            </a:r>
            <a:r>
              <a:rPr lang="en-IN" sz="1800" dirty="0"/>
              <a:t>, </a:t>
            </a:r>
            <a:r>
              <a:rPr lang="en-IN" sz="1800" dirty="0">
                <a:hlinkClick r:id="rId4" action="ppaction://hlinksldjump"/>
              </a:rPr>
              <a:t>[2] 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EF1067-FB12-5C45-258D-48B874962F3A}"/>
              </a:ext>
            </a:extLst>
          </p:cNvPr>
          <p:cNvSpPr txBox="1"/>
          <p:nvPr/>
        </p:nvSpPr>
        <p:spPr>
          <a:xfrm>
            <a:off x="749584" y="5089918"/>
            <a:ext cx="1082815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We have done the calculations of brake calipers, we are waiting for a reply from the manufacturer.  We will present in next week. Including the parameters and calculation, no. of brake calipers for Optimus Syria are more or less 15.</a:t>
            </a:r>
          </a:p>
        </p:txBody>
      </p:sp>
    </p:spTree>
    <p:extLst>
      <p:ext uri="{BB962C8B-B14F-4D97-AF65-F5344CB8AC3E}">
        <p14:creationId xmlns:p14="http://schemas.microsoft.com/office/powerpoint/2010/main" val="3343321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674E5-EA3C-DF73-0F68-250666FD8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F45EB5-2CE9-428B-8728-9BDFF32BD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33F572-5B6D-309F-27BD-C7105859F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01AB53-3CE5-5714-38EA-C13DEC96E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7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BFDD505-E63B-3CE9-E5F5-A2E0C5DDB28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Shoukat Abbas</a:t>
            </a:r>
          </a:p>
        </p:txBody>
      </p:sp>
      <p:sp>
        <p:nvSpPr>
          <p:cNvPr id="1048661" name="Title 1">
            <a:extLst>
              <a:ext uri="{FF2B5EF4-FFF2-40B4-BE49-F238E27FC236}">
                <a16:creationId xmlns:a16="http://schemas.microsoft.com/office/drawing/2014/main" id="{5A22A91E-DECF-F37B-11BF-28FD0B772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69" y="355794"/>
            <a:ext cx="11905861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GB" sz="3600" b="1" dirty="0">
                <a:sym typeface="+mn-ea"/>
              </a:rPr>
              <a:t>Yaw Brake Disc and Brake </a:t>
            </a:r>
            <a:r>
              <a:rPr lang="en-IN" altLang="en-GB" sz="3600" b="1" dirty="0" err="1">
                <a:sym typeface="+mn-ea"/>
              </a:rPr>
              <a:t>Calipers</a:t>
            </a:r>
            <a:endParaRPr lang="en-US" sz="3600" dirty="0">
              <a:cs typeface="Times New Roman" panose="02020603050405020304" pitchFamily="18" charset="0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63985356-D77C-3AB9-6293-61F08F51DAD1}"/>
              </a:ext>
            </a:extLst>
          </p:cNvPr>
          <p:cNvSpPr txBox="1">
            <a:spLocks/>
          </p:cNvSpPr>
          <p:nvPr/>
        </p:nvSpPr>
        <p:spPr>
          <a:xfrm>
            <a:off x="645215" y="1261607"/>
            <a:ext cx="11712495" cy="71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200" b="1" dirty="0">
                <a:cs typeface="Times New Roman" panose="02020603050405020304" pitchFamily="18" charset="0"/>
              </a:rPr>
              <a:t>Yaw brake Svendborg BSAC120 - Specification</a:t>
            </a:r>
            <a:endParaRPr lang="de-DE" sz="2200" b="1" dirty="0"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016DD2-E470-9386-4431-22EB80F2D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4335"/>
            <a:ext cx="4511315" cy="38487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Brake Pad: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Pad width:</a:t>
            </a:r>
            <a:r>
              <a:rPr lang="en-US" sz="2000" dirty="0"/>
              <a:t> 138 mm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Pad area (organic):</a:t>
            </a:r>
            <a:r>
              <a:rPr lang="en-US" sz="2000" dirty="0"/>
              <a:t> 58,500 mm²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Maximum pad wear (organic):</a:t>
            </a:r>
            <a:r>
              <a:rPr lang="en-US" sz="2000" dirty="0"/>
              <a:t> 7 mm (pad thickness = 14 mm)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Nominal friction coefficient:</a:t>
            </a:r>
            <a:r>
              <a:rPr lang="en-US" sz="2000" dirty="0"/>
              <a:t> µ = 0.4</a:t>
            </a:r>
          </a:p>
          <a:p>
            <a:endParaRPr lang="en-IN" sz="2400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9634E8E-0105-A763-A5F5-500C0FE00433}"/>
              </a:ext>
            </a:extLst>
          </p:cNvPr>
          <p:cNvSpPr txBox="1">
            <a:spLocks/>
          </p:cNvSpPr>
          <p:nvPr/>
        </p:nvSpPr>
        <p:spPr>
          <a:xfrm>
            <a:off x="6196532" y="1917922"/>
            <a:ext cx="6443517" cy="4582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IN" sz="2000" b="1" dirty="0"/>
              <a:t>Hydraulic Characteristics:</a:t>
            </a:r>
          </a:p>
          <a:p>
            <a:r>
              <a:rPr lang="en-IN" sz="2000" dirty="0"/>
              <a:t>Total piston area (each </a:t>
            </a:r>
            <a:r>
              <a:rPr lang="en-IN" sz="2000" dirty="0" err="1"/>
              <a:t>caliper</a:t>
            </a:r>
            <a:r>
              <a:rPr lang="en-IN" sz="2000" dirty="0"/>
              <a:t>): 678.6 cm²</a:t>
            </a:r>
          </a:p>
          <a:p>
            <a:pPr>
              <a:buFont typeface="Arial" panose="020B0604020202020204" pitchFamily="34" charset="0"/>
              <a:buNone/>
            </a:pPr>
            <a:r>
              <a:rPr lang="en-IN" sz="2000" b="1" dirty="0"/>
              <a:t>Hydraulic Volume:</a:t>
            </a:r>
          </a:p>
          <a:p>
            <a:r>
              <a:rPr lang="en-IN" sz="2000" dirty="0"/>
              <a:t>Volume per </a:t>
            </a:r>
            <a:r>
              <a:rPr lang="en-IN" sz="2000" dirty="0" err="1"/>
              <a:t>caliper</a:t>
            </a:r>
            <a:r>
              <a:rPr lang="en-IN" sz="2000" dirty="0"/>
              <a:t> at 1 mm stroke: 67.8 cm³</a:t>
            </a:r>
          </a:p>
          <a:p>
            <a:r>
              <a:rPr lang="en-IN" sz="2000" dirty="0"/>
              <a:t>Volume per </a:t>
            </a:r>
            <a:r>
              <a:rPr lang="en-IN" sz="2000" dirty="0" err="1"/>
              <a:t>caliper</a:t>
            </a:r>
            <a:r>
              <a:rPr lang="en-IN" sz="2000" dirty="0"/>
              <a:t> at 3 mm stroke: 203.5 cm³</a:t>
            </a:r>
          </a:p>
          <a:p>
            <a:pPr>
              <a:buFont typeface="Arial" panose="020B0604020202020204" pitchFamily="34" charset="0"/>
              <a:buNone/>
            </a:pPr>
            <a:r>
              <a:rPr lang="en-IN" sz="2000" b="1" dirty="0"/>
              <a:t>Operating Pressure:</a:t>
            </a:r>
          </a:p>
          <a:p>
            <a:r>
              <a:rPr lang="en-IN" sz="2000" dirty="0"/>
              <a:t>Maximum operating pressure: 20.5 MPa</a:t>
            </a:r>
          </a:p>
          <a:p>
            <a:r>
              <a:rPr lang="en-IN" sz="2000" dirty="0"/>
              <a:t>Minimum operating pressure: 9.0 MPa</a:t>
            </a:r>
          </a:p>
          <a:p>
            <a:endParaRPr lang="en-IN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1B6A95-5E92-76CF-E69A-A8B46D40EAC0}"/>
              </a:ext>
            </a:extLst>
          </p:cNvPr>
          <p:cNvSpPr txBox="1"/>
          <p:nvPr/>
        </p:nvSpPr>
        <p:spPr>
          <a:xfrm>
            <a:off x="838200" y="5103950"/>
            <a:ext cx="94314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Operating 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General temperature range:</a:t>
            </a:r>
            <a:r>
              <a:rPr lang="en-IN" sz="2000" dirty="0"/>
              <a:t> –20°C to +70°C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Wind turbine temperature range:</a:t>
            </a:r>
            <a:r>
              <a:rPr lang="en-IN" sz="2000" dirty="0"/>
              <a:t> –40°C to +60°C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97A7E4-0CB1-78DF-DDFA-BE81EB8AF392}"/>
              </a:ext>
            </a:extLst>
          </p:cNvPr>
          <p:cNvSpPr txBox="1"/>
          <p:nvPr/>
        </p:nvSpPr>
        <p:spPr>
          <a:xfrm>
            <a:off x="10905393" y="5997859"/>
            <a:ext cx="8968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hlinkClick r:id="rId2" action="ppaction://hlinksldjump"/>
              </a:rPr>
              <a:t>[1]</a:t>
            </a:r>
            <a:r>
              <a:rPr lang="en-IN" sz="1800" dirty="0"/>
              <a:t>, </a:t>
            </a:r>
            <a:r>
              <a:rPr lang="en-IN" sz="1800" dirty="0">
                <a:hlinkClick r:id="rId2" action="ppaction://hlinksldjump"/>
              </a:rPr>
              <a:t>[2]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23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C4ABE-EC2D-4168-9C33-C738DCB46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B610F1-4F52-FD59-D357-C2535E302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BC7725-8C07-1A4E-52F0-CC65E652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9E2AC4-D631-580A-3885-C23B67BBD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8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447CCDC-97AD-F098-2112-52C8043AFC7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Shoukat Abbas</a:t>
            </a:r>
          </a:p>
        </p:txBody>
      </p:sp>
      <p:sp>
        <p:nvSpPr>
          <p:cNvPr id="1048661" name="Title 1"/>
          <p:cNvSpPr>
            <a:spLocks noGrp="1"/>
          </p:cNvSpPr>
          <p:nvPr>
            <p:ph type="title"/>
          </p:nvPr>
        </p:nvSpPr>
        <p:spPr>
          <a:xfrm>
            <a:off x="838200" y="31847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b="1" dirty="0">
                <a:latin typeface="Aptos" panose="020B0004020202020204" pitchFamily="34" charset="0"/>
              </a:rPr>
              <a:t>Bed Casting – </a:t>
            </a:r>
            <a:r>
              <a:rPr lang="en-GB" altLang="en-US" sz="4000" b="1" dirty="0">
                <a:latin typeface="Aptos" panose="020B0004020202020204" pitchFamily="34" charset="0"/>
              </a:rPr>
              <a:t>Start modelling (Initial phase)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76D2E4-946B-E8BD-8A64-43B0969DAE53}"/>
              </a:ext>
            </a:extLst>
          </p:cNvPr>
          <p:cNvSpPr txBox="1"/>
          <p:nvPr/>
        </p:nvSpPr>
        <p:spPr>
          <a:xfrm>
            <a:off x="698362" y="1967430"/>
            <a:ext cx="297789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ptos" panose="02110004020202020204"/>
                <a:sym typeface="+mn-ea"/>
              </a:rPr>
              <a:t>We have started CAD modelling of the bed (casted part). We will modify according to requirements.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ptos" panose="02110004020202020204"/>
                <a:sym typeface="+mn-ea"/>
              </a:rPr>
              <a:t>Placement of yaw drives is a bit technical, but we’re working on it and will come to an outcome as soon as possible.</a:t>
            </a:r>
            <a:endParaRPr lang="en-US" sz="2000" dirty="0"/>
          </a:p>
        </p:txBody>
      </p:sp>
      <p:pic>
        <p:nvPicPr>
          <p:cNvPr id="7" name="Picture 6" descr="A black object with orange lines&#10;&#10;AI-generated content may be incorrect.">
            <a:extLst>
              <a:ext uri="{FF2B5EF4-FFF2-40B4-BE49-F238E27FC236}">
                <a16:creationId xmlns:a16="http://schemas.microsoft.com/office/drawing/2014/main" id="{3D444DEB-593D-6526-635F-4BB30BFFA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648" y="1441504"/>
            <a:ext cx="3136641" cy="2410445"/>
          </a:xfrm>
          <a:prstGeom prst="rect">
            <a:avLst/>
          </a:prstGeom>
        </p:spPr>
      </p:pic>
      <p:pic>
        <p:nvPicPr>
          <p:cNvPr id="11" name="Picture 10" descr="A black object with grey and white stripes&#10;&#10;AI-generated content may be incorrect.">
            <a:extLst>
              <a:ext uri="{FF2B5EF4-FFF2-40B4-BE49-F238E27FC236}">
                <a16:creationId xmlns:a16="http://schemas.microsoft.com/office/drawing/2014/main" id="{96DDC29E-7F1E-F2D0-6657-618B7BA82C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30" t="11545" r="19677" b="15893"/>
          <a:stretch>
            <a:fillRect/>
          </a:stretch>
        </p:blipFill>
        <p:spPr>
          <a:xfrm>
            <a:off x="8198938" y="1441504"/>
            <a:ext cx="3225975" cy="2446196"/>
          </a:xfrm>
          <a:prstGeom prst="rect">
            <a:avLst/>
          </a:prstGeom>
        </p:spPr>
      </p:pic>
      <p:pic>
        <p:nvPicPr>
          <p:cNvPr id="13" name="Picture 12" descr="A black object with a hole&#10;&#10;AI-generated content may be incorrect.">
            <a:extLst>
              <a:ext uri="{FF2B5EF4-FFF2-40B4-BE49-F238E27FC236}">
                <a16:creationId xmlns:a16="http://schemas.microsoft.com/office/drawing/2014/main" id="{F4748886-5443-E8EE-B368-C19188025E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77" t="9957" r="17182" b="12009"/>
          <a:stretch>
            <a:fillRect/>
          </a:stretch>
        </p:blipFill>
        <p:spPr>
          <a:xfrm>
            <a:off x="4463648" y="3706368"/>
            <a:ext cx="3136641" cy="2821994"/>
          </a:xfrm>
          <a:prstGeom prst="rect">
            <a:avLst/>
          </a:prstGeom>
        </p:spPr>
      </p:pic>
      <p:pic>
        <p:nvPicPr>
          <p:cNvPr id="15" name="Picture 14" descr="A close-up of a black object&#10;&#10;AI-generated content may be incorrect.">
            <a:extLst>
              <a:ext uri="{FF2B5EF4-FFF2-40B4-BE49-F238E27FC236}">
                <a16:creationId xmlns:a16="http://schemas.microsoft.com/office/drawing/2014/main" id="{42894115-0438-077E-9631-F4F1BE8206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938" y="4200656"/>
            <a:ext cx="3902866" cy="213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05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64F9B-64FD-635C-167D-0A4E7458B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5142"/>
            <a:ext cx="10515600" cy="1411691"/>
          </a:xfrm>
        </p:spPr>
        <p:txBody>
          <a:bodyPr/>
          <a:lstStyle/>
          <a:p>
            <a:pPr algn="ctr"/>
            <a:r>
              <a:rPr lang="en-GB" sz="4000" b="1" dirty="0"/>
              <a:t>References</a:t>
            </a: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A27E4-B7DD-366F-F987-EAA488EBA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17/11/2025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91A0C-66A2-77CC-512C-55132CFBB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F7373-F230-9463-BAF9-AEF65B665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DB9DAF-A4DA-2232-E3D4-B39E2FA08E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Shoukat Abbas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A6DE7AD-D466-D851-C0C1-D75B868E8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498" y="1594192"/>
            <a:ext cx="10775302" cy="4582771"/>
          </a:xfrm>
        </p:spPr>
        <p:txBody>
          <a:bodyPr>
            <a:normAutofit/>
          </a:bodyPr>
          <a:lstStyle/>
          <a:p>
            <a:pPr lvl="2"/>
            <a:r>
              <a:rPr lang="en-IN" sz="1800" dirty="0">
                <a:hlinkClick r:id="rId2"/>
              </a:rPr>
              <a:t>[1]. </a:t>
            </a:r>
            <a:r>
              <a:rPr lang="en-IN" sz="1800" dirty="0"/>
              <a:t>Hydraulic brakes </a:t>
            </a:r>
            <a:r>
              <a:rPr lang="en-IN" sz="1800" dirty="0" err="1"/>
              <a:t>Svensborg</a:t>
            </a:r>
            <a:r>
              <a:rPr lang="en-IN" sz="1800" dirty="0"/>
              <a:t> brakes, </a:t>
            </a:r>
            <a:r>
              <a:rPr lang="en-IN" sz="1800" dirty="0">
                <a:hlinkClick r:id="rId2"/>
              </a:rPr>
              <a:t>https://www.svendborg-brakes.com/products/hydraulic-brakes/active-brakes/bsac-120/</a:t>
            </a:r>
            <a:r>
              <a:rPr lang="en-IN" sz="1800" dirty="0"/>
              <a:t> (accessed: 13.11.2025) </a:t>
            </a:r>
          </a:p>
          <a:p>
            <a:pPr lvl="2"/>
            <a:endParaRPr lang="en-IN" sz="1800" dirty="0"/>
          </a:p>
          <a:p>
            <a:pPr lvl="2"/>
            <a:r>
              <a:rPr lang="en-IN" sz="1800" dirty="0">
                <a:hlinkClick r:id="rId3" action="ppaction://hlinkfile"/>
              </a:rPr>
              <a:t>[2]. </a:t>
            </a:r>
            <a:r>
              <a:rPr lang="en-IN" sz="1800" dirty="0"/>
              <a:t>Hydraulic brakes </a:t>
            </a:r>
            <a:r>
              <a:rPr lang="en-IN" sz="1800" dirty="0" err="1"/>
              <a:t>Svensborg</a:t>
            </a:r>
            <a:r>
              <a:rPr lang="en-IN" sz="1800" dirty="0"/>
              <a:t> brakes, </a:t>
            </a:r>
            <a:r>
              <a:rPr lang="en-IN" sz="1800" dirty="0">
                <a:hlinkClick r:id="rId2"/>
              </a:rPr>
              <a:t>Svendborg-brakes </a:t>
            </a:r>
            <a:r>
              <a:rPr lang="en-IN" sz="1800" dirty="0"/>
              <a:t>/product-catalogue/ (accessed: 13.11.2025) </a:t>
            </a:r>
          </a:p>
        </p:txBody>
      </p:sp>
    </p:spTree>
    <p:extLst>
      <p:ext uri="{BB962C8B-B14F-4D97-AF65-F5344CB8AC3E}">
        <p14:creationId xmlns:p14="http://schemas.microsoft.com/office/powerpoint/2010/main" val="2332874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525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1093</TotalTime>
  <Words>547</Words>
  <Application>Microsoft Office PowerPoint</Application>
  <PresentationFormat>Widescreen</PresentationFormat>
  <Paragraphs>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Aptos (Textkörper)</vt:lpstr>
      <vt:lpstr>Aptos Display</vt:lpstr>
      <vt:lpstr>Arial</vt:lpstr>
      <vt:lpstr>Calibri</vt:lpstr>
      <vt:lpstr>Calibri Light</vt:lpstr>
      <vt:lpstr>Times New Roman</vt:lpstr>
      <vt:lpstr>Office</vt:lpstr>
      <vt:lpstr>Benutzerdefiniertes Design</vt:lpstr>
      <vt:lpstr>Weekly report: Machine Bed &amp; Yaw System</vt:lpstr>
      <vt:lpstr>Contents</vt:lpstr>
      <vt:lpstr>Yaw Bearing Final Dimensions </vt:lpstr>
      <vt:lpstr>Yaw Bearing Tooth Profile</vt:lpstr>
      <vt:lpstr>Yaw Bearing 3D Model</vt:lpstr>
      <vt:lpstr>Brake Calipers selection and calculation</vt:lpstr>
      <vt:lpstr>Yaw Brake Disc and Brake Calipers</vt:lpstr>
      <vt:lpstr>Bed Casting – Start modelling (Initial phase)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report: Machine Bed &amp; Yaw System</dc:title>
  <dc:creator>Shrihari Kadam</dc:creator>
  <cp:lastModifiedBy>Shoukat Abbas</cp:lastModifiedBy>
  <cp:revision>62</cp:revision>
  <dcterms:created xsi:type="dcterms:W3CDTF">2025-10-26T22:40:44Z</dcterms:created>
  <dcterms:modified xsi:type="dcterms:W3CDTF">2025-11-17T09:25:54Z</dcterms:modified>
</cp:coreProperties>
</file>