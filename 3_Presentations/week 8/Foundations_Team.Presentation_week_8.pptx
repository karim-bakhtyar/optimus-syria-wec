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300" r:id="rId3"/>
    <p:sldId id="301" r:id="rId4"/>
    <p:sldId id="303" r:id="rId5"/>
    <p:sldId id="318" r:id="rId6"/>
    <p:sldId id="323" r:id="rId7"/>
    <p:sldId id="324" r:id="rId8"/>
    <p:sldId id="319" r:id="rId9"/>
    <p:sldId id="320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331BD3D6-B7F1-4148-BF99-E0643B5FA8FF}">
          <p14:sldIdLst/>
        </p14:section>
        <p14:section name="management team" id="{2B72163D-2949-4563-8835-B5A6BF3A1808}">
          <p14:sldIdLst/>
        </p14:section>
        <p14:section name="Project development team" id="{0165734E-D582-475F-8D8F-D8390D9A02F3}">
          <p14:sldIdLst/>
        </p14:section>
        <p14:section name="foundation team" id="{6CF20BCC-30C5-49D5-BB67-A7F7C47F67D3}">
          <p14:sldIdLst/>
        </p14:section>
        <p14:section name="loads &amp; dynamics team" id="{B2556EC8-272D-48A5-B94D-86DE413BDD53}">
          <p14:sldIdLst/>
        </p14:section>
        <p14:section name="tower structure team" id="{B080B7D5-51DE-4691-A612-847AD1AAFC82}">
          <p14:sldIdLst>
            <p14:sldId id="300"/>
            <p14:sldId id="301"/>
            <p14:sldId id="303"/>
            <p14:sldId id="318"/>
            <p14:sldId id="323"/>
            <p14:sldId id="324"/>
            <p14:sldId id="319"/>
            <p14:sldId id="320"/>
            <p14:sldId id="321"/>
          </p14:sldIdLst>
        </p14:section>
        <p14:section name="rotor blade design" id="{B146C9B3-C78A-4A61-AAEC-721247ABE854}">
          <p14:sldIdLst/>
        </p14:section>
        <p14:section name="Rotor blades structure" id="{B442706D-6274-49C9-A7D1-C313276DB185}">
          <p14:sldIdLst/>
        </p14:section>
        <p14:section name="rotor hub and pitch system" id="{08747EF3-CA38-42EE-A1AF-7484E45039CE}">
          <p14:sldIdLst/>
        </p14:section>
        <p14:section name="electrical drivetrain" id="{1A5D22D2-BE65-4E6F-884C-4B877022F03F}">
          <p14:sldIdLst/>
        </p14:section>
        <p14:section name="rotor bearing system team" id="{DB3BAE13-317B-46D5-BF13-1546F7D1D6D4}">
          <p14:sldIdLst/>
        </p14:section>
        <p14:section name="GBC team" id="{62FD1619-6AFB-4D97-A60C-6FD16F62286D}">
          <p14:sldIdLst/>
        </p14:section>
        <p14:section name="Machine bed &amp; yaw team" id="{2739FDC4-7BC0-4D24-A2DB-018568B325C8}">
          <p14:sldIdLst/>
        </p14:section>
        <p14:section name="feedback controller team" id="{6415024D-93AC-4C7E-84F4-D0225312DA45}">
          <p14:sldIdLst/>
        </p14:section>
        <p14:section name="grid code team" id="{FD3B8E82-6082-4521-B98B-5BAB918F1115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FFD"/>
    <a:srgbClr val="FFFFFF"/>
    <a:srgbClr val="8ECEFA"/>
    <a:srgbClr val="92C6E6"/>
    <a:srgbClr val="80D2F7"/>
    <a:srgbClr val="7ED1F7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had Albaali" userId="c071a3306c18ab5a" providerId="LiveId" clId="{CEBCDB48-0611-4820-AE40-DC2D092F078E}"/>
    <pc:docChg chg="modSld">
      <pc:chgData name="Jehad Albaali" userId="c071a3306c18ab5a" providerId="LiveId" clId="{CEBCDB48-0611-4820-AE40-DC2D092F078E}" dt="2025-11-17T10:24:59.250" v="1"/>
      <pc:docMkLst>
        <pc:docMk/>
      </pc:docMkLst>
      <pc:sldChg chg="modSp mod">
        <pc:chgData name="Jehad Albaali" userId="c071a3306c18ab5a" providerId="LiveId" clId="{CEBCDB48-0611-4820-AE40-DC2D092F078E}" dt="2025-11-17T10:24:59.250" v="1"/>
        <pc:sldMkLst>
          <pc:docMk/>
          <pc:sldMk cId="2930116262" sldId="300"/>
        </pc:sldMkLst>
        <pc:spChg chg="mod">
          <ac:chgData name="Jehad Albaali" userId="c071a3306c18ab5a" providerId="LiveId" clId="{CEBCDB48-0611-4820-AE40-DC2D092F078E}" dt="2025-11-17T10:24:59.250" v="1"/>
          <ac:spMkLst>
            <pc:docMk/>
            <pc:sldMk cId="2930116262" sldId="300"/>
            <ac:spMk id="2" creationId="{F1A690F4-D79D-8EBC-12DE-D491129BCFF6}"/>
          </ac:spMkLst>
        </pc:spChg>
        <pc:spChg chg="mod">
          <ac:chgData name="Jehad Albaali" userId="c071a3306c18ab5a" providerId="LiveId" clId="{CEBCDB48-0611-4820-AE40-DC2D092F078E}" dt="2025-11-17T10:24:45.419" v="0" actId="20577"/>
          <ac:spMkLst>
            <pc:docMk/>
            <pc:sldMk cId="2930116262" sldId="300"/>
            <ac:spMk id="10" creationId="{277A63BB-08BE-619B-2533-3CC69CC19E9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212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18/11/2025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Foundations team/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86247" y="6564113"/>
            <a:ext cx="1918447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</a:t>
            </a:r>
            <a:r>
              <a:rPr lang="it-IT" b="1" dirty="0" err="1">
                <a:latin typeface="Times New Roman" pitchFamily="18" charset="0"/>
                <a:cs typeface="Times New Roman" pitchFamily="18" charset="0"/>
              </a:rPr>
              <a:t>Foundations</a:t>
            </a:r>
            <a:r>
              <a:rPr lang="it-IT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8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Date: 18/11/2025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b="1" dirty="0">
                <a:latin typeface="Lato" panose="020B0604020202020204" pitchFamily="34" charset="0"/>
              </a:rPr>
              <a:t>Prof. Dr.-Ing. Torsten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de-DE" b="1" dirty="0"/>
              <a:t>Jehad </a:t>
            </a:r>
            <a:r>
              <a:rPr lang="de-DE" b="1" dirty="0" err="1"/>
              <a:t>Albaali</a:t>
            </a:r>
            <a:r>
              <a:rPr lang="de-DE" b="1" dirty="0"/>
              <a:t>- Amgad Gerges - Reda </a:t>
            </a:r>
            <a:r>
              <a:rPr lang="de-DE" b="1" dirty="0" err="1"/>
              <a:t>Deif</a:t>
            </a:r>
            <a:endParaRPr lang="de-DE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047405" y="5070436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r>
              <a:rPr lang="de-DE" sz="1600" b="1" dirty="0"/>
              <a:t> Reda </a:t>
            </a:r>
            <a:r>
              <a:rPr lang="de-DE" sz="1600" b="1"/>
              <a:t>Deif</a:t>
            </a:r>
            <a:endParaRPr lang="de-DE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60505" y="1620370"/>
            <a:ext cx="8222130" cy="3030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Check punching shear stress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3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Concrete Dimensions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18/11/2025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D2BC3-7A77-427E-122F-070BF0C54EA8}"/>
              </a:ext>
            </a:extLst>
          </p:cNvPr>
          <p:cNvSpPr txBox="1"/>
          <p:nvPr/>
        </p:nvSpPr>
        <p:spPr>
          <a:xfrm>
            <a:off x="510308" y="2246069"/>
            <a:ext cx="4679759" cy="305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Base Plate (BP)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25 m </a:t>
            </a: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Pedestal = 7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 Pedestal = 1.5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Middle slab =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Height of </a:t>
            </a:r>
            <a:r>
              <a:rPr lang="en-GB" dirty="0"/>
              <a:t>Frustum (HF) = 1.5 m </a:t>
            </a:r>
            <a:endParaRPr lang="en-GB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Edge slab (HE) = 0.5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32509-B769-A94B-4D8C-01654767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74" y="2053592"/>
            <a:ext cx="6873077" cy="35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55F6-C01F-6769-3652-D8A8070F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E613D211-BEA0-2E32-65D1-F88000B4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30"/>
            <a:ext cx="1402080" cy="303762"/>
          </a:xfrm>
        </p:spPr>
        <p:txBody>
          <a:bodyPr>
            <a:normAutofit fontScale="90000"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Input </a:t>
            </a:r>
            <a:r>
              <a:rPr lang="de-DE" sz="2000" dirty="0" err="1">
                <a:solidFill>
                  <a:srgbClr val="FF0000"/>
                </a:solidFill>
              </a:rPr>
              <a:t>data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C9214F4-C5EE-8BCE-FE46-B988D1D3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E7ADECB0-CB60-02B7-5EA8-AC2903B128A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38C8C02D-7B39-4DC6-1528-F90940F9229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DCBBAC3-20F0-7C00-B583-D0B829E2B92D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CE1172-1EBA-4027-B2D3-8F9413A14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8" y="1393593"/>
            <a:ext cx="7640002" cy="4070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84F076-5061-4802-B8BE-6E27827D5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254" y="1499987"/>
            <a:ext cx="6085636" cy="41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30"/>
            <a:ext cx="4137660" cy="303762"/>
          </a:xfrm>
        </p:spPr>
        <p:txBody>
          <a:bodyPr>
            <a:normAutofit fontScale="90000"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Design of Raft for bending moment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F8744B-94F8-D1EA-DA14-E8540C2072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6" t="29765" r="31422" b="36800"/>
          <a:stretch/>
        </p:blipFill>
        <p:spPr bwMode="auto">
          <a:xfrm>
            <a:off x="485479" y="1415556"/>
            <a:ext cx="5588109" cy="318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E49D1C-89A1-420B-09F5-0CB49BC3B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91" y="1636456"/>
            <a:ext cx="3495675" cy="3514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F20F82-4C8D-E648-57D4-69013FBA7188}"/>
              </a:ext>
            </a:extLst>
          </p:cNvPr>
          <p:cNvSpPr txBox="1"/>
          <p:nvPr/>
        </p:nvSpPr>
        <p:spPr>
          <a:xfrm>
            <a:off x="1058115" y="4843404"/>
            <a:ext cx="613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 err="1"/>
              <a:t>VRd,c</a:t>
            </a:r>
            <a:r>
              <a:rPr lang="en-GB" sz="1400" dirty="0"/>
              <a:t>​ = 0.12 * 1.32 * (100 * 0.00182 * 30 )^1/3 *1000 *1950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CC01F-E07C-9ACE-AE03-3D30A7B97DAA}"/>
              </a:ext>
            </a:extLst>
          </p:cNvPr>
          <p:cNvSpPr txBox="1"/>
          <p:nvPr/>
        </p:nvSpPr>
        <p:spPr>
          <a:xfrm>
            <a:off x="1058115" y="5335286"/>
            <a:ext cx="613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VRd,c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F002B-2778-EA9D-5813-74827546D3A1}"/>
              </a:ext>
            </a:extLst>
          </p:cNvPr>
          <p:cNvSpPr txBox="1"/>
          <p:nvPr/>
        </p:nvSpPr>
        <p:spPr>
          <a:xfrm>
            <a:off x="1696571" y="5339110"/>
            <a:ext cx="613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= 0.54 N/mm2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9713B-7E85-1568-3B7E-417CED0367C9}"/>
              </a:ext>
            </a:extLst>
          </p:cNvPr>
          <p:cNvSpPr txBox="1"/>
          <p:nvPr/>
        </p:nvSpPr>
        <p:spPr>
          <a:xfrm>
            <a:off x="6991256" y="5257552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Reference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0D110-D2C1-1588-8215-FBCD3447DE88}"/>
              </a:ext>
            </a:extLst>
          </p:cNvPr>
          <p:cNvSpPr txBox="1"/>
          <p:nvPr/>
        </p:nvSpPr>
        <p:spPr>
          <a:xfrm>
            <a:off x="8211126" y="5312026"/>
            <a:ext cx="64839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EN 1992 – Eurocode 2: Design of Concrete Structures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CCE460-3CAB-7332-A1CB-181E35F8531B}"/>
              </a:ext>
            </a:extLst>
          </p:cNvPr>
          <p:cNvSpPr txBox="1"/>
          <p:nvPr/>
        </p:nvSpPr>
        <p:spPr>
          <a:xfrm>
            <a:off x="8090382" y="5255640"/>
            <a:ext cx="737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746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99130"/>
            <a:ext cx="4459941" cy="303762"/>
          </a:xfrm>
        </p:spPr>
        <p:txBody>
          <a:bodyPr>
            <a:normAutofit fontScale="90000"/>
          </a:bodyPr>
          <a:lstStyle/>
          <a:p>
            <a:r>
              <a:rPr lang="en-GB" sz="2000" b="1" dirty="0"/>
              <a:t>Moment per unit width at foundation edge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0A62CA-7321-BAA0-A8FB-1CA6EC36C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4" t="35392" r="36651" b="39653"/>
          <a:stretch/>
        </p:blipFill>
        <p:spPr bwMode="auto">
          <a:xfrm>
            <a:off x="945900" y="1562778"/>
            <a:ext cx="4706224" cy="256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2F05F1-E35C-83C9-E6F9-729E50178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907" y="2308920"/>
            <a:ext cx="4438858" cy="21200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6F8B96-E654-5CB9-1642-C7449B919458}"/>
              </a:ext>
            </a:extLst>
          </p:cNvPr>
          <p:cNvSpPr txBox="1"/>
          <p:nvPr/>
        </p:nvSpPr>
        <p:spPr>
          <a:xfrm>
            <a:off x="3570195" y="5361007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BEACC-11AD-99C6-82EC-045DD6BE7F20}"/>
              </a:ext>
            </a:extLst>
          </p:cNvPr>
          <p:cNvSpPr txBox="1"/>
          <p:nvPr/>
        </p:nvSpPr>
        <p:spPr>
          <a:xfrm>
            <a:off x="6638365" y="4743385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Reference : 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72886-6BD5-315B-9491-5C6B3BC2CAF2}"/>
              </a:ext>
            </a:extLst>
          </p:cNvPr>
          <p:cNvSpPr txBox="1"/>
          <p:nvPr/>
        </p:nvSpPr>
        <p:spPr>
          <a:xfrm>
            <a:off x="7931523" y="4809701"/>
            <a:ext cx="46257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baseline="0" dirty="0">
                <a:latin typeface="ArialMT"/>
              </a:rPr>
              <a:t>Concrete grades according to</a:t>
            </a:r>
            <a:r>
              <a:rPr lang="en-GB" sz="1200" dirty="0">
                <a:latin typeface="ArialMT"/>
              </a:rPr>
              <a:t> </a:t>
            </a:r>
            <a:r>
              <a:rPr lang="en-GB" sz="1200" b="0" i="0" u="none" strike="noStrike" baseline="0" dirty="0">
                <a:latin typeface="ArialMT"/>
              </a:rPr>
              <a:t>EC 2 and DIN 1045-1 (2008)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B0886-589D-866E-24E8-DE7FA35D9902}"/>
              </a:ext>
            </a:extLst>
          </p:cNvPr>
          <p:cNvSpPr txBox="1"/>
          <p:nvPr/>
        </p:nvSpPr>
        <p:spPr>
          <a:xfrm>
            <a:off x="7931523" y="5121341"/>
            <a:ext cx="6418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EN 1992 – Eurocode 2: Design of Concrete Structures</a:t>
            </a:r>
          </a:p>
        </p:txBody>
      </p:sp>
    </p:spTree>
    <p:extLst>
      <p:ext uri="{BB962C8B-B14F-4D97-AF65-F5344CB8AC3E}">
        <p14:creationId xmlns:p14="http://schemas.microsoft.com/office/powerpoint/2010/main" val="153987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FFA9-BA1A-C8D0-C871-4F7F403E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948DE0-8C7B-1C33-0712-F6CF2C73C6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46E2DB-4C80-97A2-229E-86A9910EB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4938F9E0-AF29-4824-5BD1-2FA1320438D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8F59B5E-2D6F-5BE6-1E70-C3D3A20005E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828BCD18-4799-1C8A-D341-5161F5D63C9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A5044-44BF-6443-3F90-3D80F442FBD6}"/>
              </a:ext>
            </a:extLst>
          </p:cNvPr>
          <p:cNvSpPr txBox="1"/>
          <p:nvPr/>
        </p:nvSpPr>
        <p:spPr>
          <a:xfrm>
            <a:off x="701040" y="823154"/>
            <a:ext cx="3284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Reinforcement Calculation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6180F-CD59-F62E-C2C2-7D21EE2D54C7}"/>
                  </a:ext>
                </a:extLst>
              </p:cNvPr>
              <p:cNvSpPr txBox="1"/>
              <p:nvPr/>
            </p:nvSpPr>
            <p:spPr>
              <a:xfrm>
                <a:off x="917090" y="2051514"/>
                <a:ext cx="6136340" cy="513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EG" i="1">
                            <a:latin typeface="Cambria Math" panose="02040503050406030204" pitchFamily="18" charset="0"/>
                          </a:rPr>
                          <m:t>𝑝𝑢</m:t>
                        </m:r>
                      </m:sub>
                    </m:sSub>
                    <m:r>
                      <a:rPr lang="ar-EG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734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^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123</m:t>
                        </m:r>
                        <m:r>
                          <a:rPr lang="ar-EG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1950</m:t>
                        </m:r>
                      </m:den>
                    </m:f>
                  </m:oMath>
                </a14:m>
                <a:r>
                  <a:rPr lang="en-GB" dirty="0"/>
                  <a:t> = 0.34 N/mm</a:t>
                </a:r>
                <a:endParaRPr lang="ar-E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6180F-CD59-F62E-C2C2-7D21EE2D5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90" y="2051514"/>
                <a:ext cx="6136340" cy="513795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FB5F0EE-154E-4D9D-AFBD-337AA86FED09}"/>
              </a:ext>
            </a:extLst>
          </p:cNvPr>
          <p:cNvSpPr txBox="1"/>
          <p:nvPr/>
        </p:nvSpPr>
        <p:spPr>
          <a:xfrm>
            <a:off x="979843" y="2937318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 </a:t>
            </a:r>
            <a:r>
              <a:rPr lang="en-US" sz="1200" b="1" dirty="0" err="1"/>
              <a:t>Rdc</a:t>
            </a:r>
            <a:r>
              <a:rPr lang="en-US" b="1" dirty="0"/>
              <a:t> </a:t>
            </a:r>
            <a:r>
              <a:rPr lang="en-US" b="1" dirty="0">
                <a:latin typeface="Calibri"/>
                <a:cs typeface="Calibri"/>
              </a:rPr>
              <a:t>&gt; q </a:t>
            </a:r>
            <a:r>
              <a:rPr lang="en-US" sz="1200" b="1" dirty="0" err="1">
                <a:latin typeface="Calibri"/>
                <a:cs typeface="Calibri"/>
              </a:rPr>
              <a:t>pu</a:t>
            </a:r>
            <a:endParaRPr 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090CE0-9D62-5E77-8715-63A47D3CE112}"/>
              </a:ext>
            </a:extLst>
          </p:cNvPr>
          <p:cNvSpPr txBox="1"/>
          <p:nvPr/>
        </p:nvSpPr>
        <p:spPr>
          <a:xfrm>
            <a:off x="2414049" y="2950018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Safe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14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197D-C61E-9E99-5440-0F4C4956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1A1705-D077-0689-C7D3-7F85EA14BC4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EA8708-B323-EBA9-F020-BCEDBA55B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2AE6B5D7-00B9-C809-BE88-93A6020E746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4554BFC-7FDF-A86B-41C7-D17A875F324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9E7B97A4-6905-F01C-C5CF-7924371263F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A130D-2858-A90E-ED0B-F24E1E8F1B0B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Time Schedule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7AF87-3B4A-443F-A510-13F583469123}"/>
              </a:ext>
            </a:extLst>
          </p:cNvPr>
          <p:cNvSpPr txBox="1"/>
          <p:nvPr/>
        </p:nvSpPr>
        <p:spPr>
          <a:xfrm>
            <a:off x="701040" y="1558440"/>
            <a:ext cx="96926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Time Schedule </a:t>
            </a:r>
            <a:r>
              <a:rPr lang="de-DE" sz="3200" b="1" dirty="0" err="1"/>
              <a:t>Planning</a:t>
            </a:r>
            <a:endParaRPr lang="de-DE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1-2:</a:t>
            </a:r>
            <a:r>
              <a:rPr lang="de-DE" sz="3200" dirty="0"/>
              <a:t> Data Collection &amp; Project Kick-off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3-4:</a:t>
            </a:r>
            <a:r>
              <a:rPr lang="de-DE" sz="3200" dirty="0"/>
              <a:t> </a:t>
            </a:r>
            <a:r>
              <a:rPr lang="de-DE" sz="3200" dirty="0" err="1"/>
              <a:t>Geotechnical</a:t>
            </a:r>
            <a:r>
              <a:rPr lang="de-DE" sz="3200" dirty="0"/>
              <a:t> Analysis &amp; </a:t>
            </a:r>
            <a:r>
              <a:rPr lang="de-DE" sz="3200" dirty="0" err="1"/>
              <a:t>Conceptual</a:t>
            </a:r>
            <a:r>
              <a:rPr lang="de-DE" sz="3200" dirty="0"/>
              <a:t>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>
                <a:solidFill>
                  <a:schemeClr val="bg2">
                    <a:lumMod val="10000"/>
                  </a:schemeClr>
                </a:solidFill>
              </a:rPr>
              <a:t>Week 5-7:</a:t>
            </a:r>
            <a:r>
              <a:rPr lang="de-DE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3200" dirty="0" err="1">
                <a:solidFill>
                  <a:schemeClr val="bg2">
                    <a:lumMod val="10000"/>
                  </a:schemeClr>
                </a:solidFill>
              </a:rPr>
              <a:t>Detailed</a:t>
            </a:r>
            <a:r>
              <a:rPr lang="de-DE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3200" dirty="0">
                <a:solidFill>
                  <a:schemeClr val="bg2">
                    <a:lumMod val="10000"/>
                  </a:schemeClr>
                </a:solidFill>
              </a:rPr>
              <a:t>Design</a:t>
            </a:r>
            <a:r>
              <a:rPr lang="de-DE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3200" dirty="0">
                <a:solidFill>
                  <a:schemeClr val="bg2">
                    <a:lumMod val="10000"/>
                  </a:schemeClr>
                </a:solidFill>
              </a:rPr>
              <a:t>&amp;</a:t>
            </a:r>
            <a:r>
              <a:rPr lang="de-DE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3200" dirty="0" err="1">
                <a:solidFill>
                  <a:schemeClr val="bg2">
                    <a:lumMod val="10000"/>
                  </a:schemeClr>
                </a:solidFill>
              </a:rPr>
              <a:t>Verification</a:t>
            </a:r>
            <a:r>
              <a:rPr lang="de-DE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ar-SA" sz="3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8-9:</a:t>
            </a:r>
            <a:r>
              <a:rPr lang="de-DE" sz="3200" dirty="0"/>
              <a:t> </a:t>
            </a:r>
            <a:r>
              <a:rPr lang="de-DE" sz="3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Structural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Design (</a:t>
            </a:r>
            <a:r>
              <a:rPr lang="de-DE" sz="3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Rebar</a:t>
            </a:r>
            <a:r>
              <a:rPr lang="de-DE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Shear)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10-11:</a:t>
            </a:r>
            <a:r>
              <a:rPr lang="de-DE" sz="3200" dirty="0"/>
              <a:t> </a:t>
            </a:r>
            <a:r>
              <a:rPr lang="de-DE" sz="3200" b="1" dirty="0">
                <a:solidFill>
                  <a:srgbClr val="FF0000"/>
                </a:solidFill>
              </a:rPr>
              <a:t>Final </a:t>
            </a:r>
            <a:r>
              <a:rPr lang="de-DE" sz="3200" b="1" dirty="0" err="1">
                <a:solidFill>
                  <a:srgbClr val="FF0000"/>
                </a:solidFill>
              </a:rPr>
              <a:t>Drawings</a:t>
            </a:r>
            <a:r>
              <a:rPr lang="de-DE" sz="3200" b="1" dirty="0">
                <a:solidFill>
                  <a:srgbClr val="FF0000"/>
                </a:solidFill>
              </a:rPr>
              <a:t> &amp; </a:t>
            </a:r>
            <a:r>
              <a:rPr lang="de-DE" sz="3200" b="1" dirty="0" err="1">
                <a:solidFill>
                  <a:srgbClr val="FF0000"/>
                </a:solidFill>
              </a:rPr>
              <a:t>Documentation</a:t>
            </a:r>
            <a:endParaRPr lang="de-DE" sz="32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12:</a:t>
            </a:r>
            <a:r>
              <a:rPr lang="de-DE" sz="3200" dirty="0"/>
              <a:t> Final Review &amp; Submission</a:t>
            </a:r>
          </a:p>
        </p:txBody>
      </p:sp>
    </p:spTree>
    <p:extLst>
      <p:ext uri="{BB962C8B-B14F-4D97-AF65-F5344CB8AC3E}">
        <p14:creationId xmlns:p14="http://schemas.microsoft.com/office/powerpoint/2010/main" val="193698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3D0A-C704-F121-9F4A-41F5835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DDDC6-C8B9-C58E-DDC6-F54FDE2D29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C6C56-EB19-7480-D5FA-25DAB6E54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7737309-601F-9126-6ADE-A77C268650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18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000B7E9-079E-A132-AFA4-547559A6A37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BFAFF01E-50B3-33EC-9274-55A1BAAB97D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8453-DAF7-142E-9EB9-54EA8C53EF20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Next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B2E79-6A53-F934-C671-D7D4BCC00A77}"/>
              </a:ext>
            </a:extLst>
          </p:cNvPr>
          <p:cNvSpPr txBox="1"/>
          <p:nvPr/>
        </p:nvSpPr>
        <p:spPr>
          <a:xfrm>
            <a:off x="701040" y="1558440"/>
            <a:ext cx="6136340" cy="675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de-DE" b="1" dirty="0"/>
              <a:t>Final Drawings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0730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0</TotalTime>
  <Words>397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ArialMT</vt:lpstr>
      <vt:lpstr>Calibri</vt:lpstr>
      <vt:lpstr>Calibri Light</vt:lpstr>
      <vt:lpstr>Cambria Math</vt:lpstr>
      <vt:lpstr>Lato</vt:lpstr>
      <vt:lpstr>Tahoma</vt:lpstr>
      <vt:lpstr>Times New Roman</vt:lpstr>
      <vt:lpstr>Wingdings</vt:lpstr>
      <vt:lpstr>Office</vt:lpstr>
      <vt:lpstr>Benutzerdefiniertes Design</vt:lpstr>
      <vt:lpstr>Weekly report: Foundations </vt:lpstr>
      <vt:lpstr>List of contents</vt:lpstr>
      <vt:lpstr>PowerPoint Presentation</vt:lpstr>
      <vt:lpstr>Input data</vt:lpstr>
      <vt:lpstr>Design of Raft for bending moment</vt:lpstr>
      <vt:lpstr>Moment per unit width at foundation edge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contents</dc:title>
  <dc:creator>Bakhtiar Sabir</dc:creator>
  <cp:lastModifiedBy>Jehad Albaali</cp:lastModifiedBy>
  <cp:revision>69</cp:revision>
  <dcterms:created xsi:type="dcterms:W3CDTF">2025-09-29T10:47:20Z</dcterms:created>
  <dcterms:modified xsi:type="dcterms:W3CDTF">2025-11-17T10:25:01Z</dcterms:modified>
</cp:coreProperties>
</file>