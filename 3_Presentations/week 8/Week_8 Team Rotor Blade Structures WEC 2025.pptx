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6"/>
  </p:notesMasterIdLst>
  <p:handoutMasterIdLst>
    <p:handoutMasterId r:id="rId27"/>
  </p:handoutMasterIdLst>
  <p:sldIdLst>
    <p:sldId id="263" r:id="rId3"/>
    <p:sldId id="265" r:id="rId4"/>
    <p:sldId id="271" r:id="rId5"/>
    <p:sldId id="273" r:id="rId6"/>
    <p:sldId id="279" r:id="rId7"/>
    <p:sldId id="292" r:id="rId8"/>
    <p:sldId id="295" r:id="rId9"/>
    <p:sldId id="294" r:id="rId10"/>
    <p:sldId id="296" r:id="rId11"/>
    <p:sldId id="293" r:id="rId12"/>
    <p:sldId id="298" r:id="rId13"/>
    <p:sldId id="297" r:id="rId14"/>
    <p:sldId id="299" r:id="rId15"/>
    <p:sldId id="300" r:id="rId16"/>
    <p:sldId id="301" r:id="rId17"/>
    <p:sldId id="302" r:id="rId18"/>
    <p:sldId id="303" r:id="rId19"/>
    <p:sldId id="304" r:id="rId20"/>
    <p:sldId id="306" r:id="rId21"/>
    <p:sldId id="305" r:id="rId22"/>
    <p:sldId id="307" r:id="rId23"/>
    <p:sldId id="291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279"/>
            <p14:sldId id="292"/>
            <p14:sldId id="295"/>
            <p14:sldId id="294"/>
            <p14:sldId id="296"/>
            <p14:sldId id="293"/>
            <p14:sldId id="298"/>
            <p14:sldId id="297"/>
            <p14:sldId id="299"/>
            <p14:sldId id="300"/>
            <p14:sldId id="301"/>
            <p14:sldId id="302"/>
            <p14:sldId id="303"/>
            <p14:sldId id="304"/>
            <p14:sldId id="306"/>
            <p14:sldId id="305"/>
            <p14:sldId id="307"/>
            <p14:sldId id="291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8BA"/>
    <a:srgbClr val="FFFF99"/>
    <a:srgbClr val="FFFFFF"/>
    <a:srgbClr val="8ECEFA"/>
    <a:srgbClr val="92C6E6"/>
    <a:srgbClr val="80D2F7"/>
    <a:srgbClr val="7ED1F7"/>
    <a:srgbClr val="A1DFFD"/>
    <a:srgbClr val="C0F5FF"/>
    <a:srgbClr val="3C9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FF0000"/>
                </a:solidFill>
              </a:rPr>
              <a:t>------------- 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FF0000"/>
                </a:solidFill>
              </a:rPr>
              <a:t>700000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- 8</a:t>
            </a:r>
            <a:endParaRPr lang="it-IT" sz="2000" dirty="0"/>
          </a:p>
          <a:p>
            <a:r>
              <a:rPr lang="it-IT" sz="2000" b="1" dirty="0"/>
              <a:t>Date -</a:t>
            </a:r>
            <a:r>
              <a:rPr lang="it-IT" sz="2000" dirty="0"/>
              <a:t> 18.11.2025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287577" cy="41516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 -</a:t>
            </a:r>
            <a:endParaRPr lang="en-US" sz="2200" dirty="0"/>
          </a:p>
          <a:p>
            <a:pPr marL="457200" lvl="1" indent="0">
              <a:buNone/>
            </a:pPr>
            <a:r>
              <a:rPr lang="de-DE" sz="2200" dirty="0"/>
              <a:t>3.1 About Spar Caps</a:t>
            </a:r>
          </a:p>
          <a:p>
            <a:pPr marL="1085850" lvl="3" indent="0">
              <a:buNone/>
            </a:pPr>
            <a:r>
              <a:rPr lang="en-US" sz="2000" dirty="0"/>
              <a:t>3.1.1 Types of Spar Caps</a:t>
            </a:r>
          </a:p>
          <a:p>
            <a:pPr marL="1085850" lvl="3" indent="0">
              <a:buNone/>
            </a:pPr>
            <a:r>
              <a:rPr lang="en-US" sz="2000" dirty="0"/>
              <a:t>3.1.2 Types of Bending Moments on Spar Caps</a:t>
            </a:r>
          </a:p>
          <a:p>
            <a:pPr marL="1085850" lvl="3" indent="0">
              <a:buNone/>
            </a:pPr>
            <a:r>
              <a:rPr lang="en-US" sz="2000" dirty="0"/>
              <a:t>3.1.3 Bending Stiffness of Spar Caps (</a:t>
            </a:r>
            <a:r>
              <a:rPr lang="en-US" sz="2000" dirty="0">
                <a:solidFill>
                  <a:srgbClr val="FF0000"/>
                </a:solidFill>
              </a:rPr>
              <a:t>updated results</a:t>
            </a:r>
            <a:r>
              <a:rPr lang="en-US" sz="2000" dirty="0"/>
              <a:t>)</a:t>
            </a:r>
          </a:p>
          <a:p>
            <a:pPr marL="1085850" lvl="3" indent="0">
              <a:buNone/>
            </a:pPr>
            <a:r>
              <a:rPr lang="en-US" sz="2000" dirty="0"/>
              <a:t>3.1.4 Bending Stress Analysis on Spar Caps (</a:t>
            </a:r>
            <a:r>
              <a:rPr lang="en-US" sz="2000" dirty="0">
                <a:solidFill>
                  <a:srgbClr val="FF0000"/>
                </a:solidFill>
              </a:rPr>
              <a:t>updated results</a:t>
            </a:r>
            <a:r>
              <a:rPr lang="en-US" sz="2000" dirty="0"/>
              <a:t>)</a:t>
            </a:r>
          </a:p>
          <a:p>
            <a:pPr marL="1085850" lvl="3" indent="0">
              <a:buNone/>
            </a:pPr>
            <a:r>
              <a:rPr lang="en-US" sz="2000" dirty="0"/>
              <a:t>3.1.5 Data required to fix the Spar Caps &amp; Webs Geometry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------------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November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A144F-605C-049C-04DF-6D6B030F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6" y="1854583"/>
            <a:ext cx="11556367" cy="338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43328" y="3850106"/>
            <a:ext cx="8430855" cy="39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01374"/>
              </p:ext>
            </p:extLst>
          </p:nvPr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92940-7473-0ABB-FFF7-A9ED28058716}"/>
              </a:ext>
            </a:extLst>
          </p:cNvPr>
          <p:cNvSpPr txBox="1"/>
          <p:nvPr/>
        </p:nvSpPr>
        <p:spPr>
          <a:xfrm>
            <a:off x="7324826" y="3631130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E4D62-9E7A-B0F5-F11D-8412FBF449B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About </a:t>
            </a:r>
            <a:r>
              <a:rPr lang="en-US" sz="2400" b="1" dirty="0">
                <a:solidFill>
                  <a:sysClr val="windowText" lastClr="000000"/>
                </a:solidFill>
              </a:rPr>
              <a:t>Spar Caps -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r>
              <a:rPr lang="en-US" sz="2200" dirty="0">
                <a:solidFill>
                  <a:sysClr val="windowText" lastClr="000000"/>
                </a:solidFill>
              </a:rPr>
              <a:t>The main structural component (backbone) of a wind turbine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They are long, thick beams that run along the length of the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Located on the top (suction side) and bottom (pressure side) of the blade's main spar, or internal "box beam.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Their primary job is to give the blade its stiffness and strength.</a:t>
            </a:r>
          </a:p>
        </p:txBody>
      </p:sp>
      <p:pic>
        <p:nvPicPr>
          <p:cNvPr id="7" name="Picture 6" descr="Diagram of a shear web and shear web">
            <a:extLst>
              <a:ext uri="{FF2B5EF4-FFF2-40B4-BE49-F238E27FC236}">
                <a16:creationId xmlns:a16="http://schemas.microsoft.com/office/drawing/2014/main" id="{FEDE3D7D-9C7D-08B9-3436-0A5444735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098" y="3850106"/>
            <a:ext cx="6352941" cy="216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701DA1-C5FB-B805-0570-318690908411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Impact of Process Technology on Properties of Large-Scale Wind Turbine Blade Composite Spar Cap by </a:t>
            </a:r>
            <a:r>
              <a:rPr lang="en-US" sz="1400" i="1" dirty="0" err="1"/>
              <a:t>Yuanrong</a:t>
            </a:r>
            <a:r>
              <a:rPr lang="en-US" sz="1400" i="1" dirty="0"/>
              <a:t> Sun, </a:t>
            </a:r>
            <a:r>
              <a:rPr lang="en-US" sz="1400" i="1" dirty="0" err="1"/>
              <a:t>Congli</a:t>
            </a:r>
            <a:r>
              <a:rPr lang="en-US" sz="1400" i="1" dirty="0"/>
              <a:t> Hu, </a:t>
            </a:r>
            <a:r>
              <a:rPr lang="en-US" sz="1400" i="1" dirty="0" err="1"/>
              <a:t>Jianbo</a:t>
            </a:r>
            <a:r>
              <a:rPr lang="en-US" sz="1400" i="1" dirty="0"/>
              <a:t> Li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A1035-FBC0-D8CA-9F54-6A77ADD40D65}"/>
              </a:ext>
            </a:extLst>
          </p:cNvPr>
          <p:cNvSpPr txBox="1"/>
          <p:nvPr/>
        </p:nvSpPr>
        <p:spPr>
          <a:xfrm>
            <a:off x="8969419" y="4776217"/>
            <a:ext cx="226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1 – </a:t>
            </a:r>
            <a:r>
              <a:rPr lang="en-US" sz="1400" i="1" dirty="0"/>
              <a:t>Blade Structures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D0F1-302C-CDD5-0439-E5303397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37A81D-1B05-EBDF-CA72-1288BA6D68C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44A34ED-CE6D-783F-7125-FB8C565711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3F7CF-FAF6-37AF-C5BE-08A7ACB3DD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89D29D0-70F0-6A95-457F-F5F620E631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7CD04-6992-8A9B-46DD-A0C192DF2AF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408383-E5C8-1AA5-0D73-05AFDFCCCD95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513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most common and conventional design.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These two caps are connected by one or more vertical shear webs, forming a strong, hollow "box beam" that runs down the length of the blade.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Key Features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Excellent at handling </a:t>
            </a:r>
            <a:r>
              <a:rPr lang="en-US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dirty="0">
                <a:solidFill>
                  <a:sysClr val="windowText" lastClr="000000"/>
                </a:solidFill>
              </a:rPr>
              <a:t> bending loads.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shear webs prevent the caps from moving relative to each other &amp; maintain the blade's shape.</a:t>
            </a:r>
            <a:endParaRPr lang="en-IN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2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7A99-AFA5-97EB-440D-97C031FD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74BC1-F3EA-82D3-9105-3A38DEB1A3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CE0D35A-76F1-CDCA-7A44-286BFC6539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CFD5B40-6669-9FBC-6CD1-0C1334BB25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D52B9D0-8DD2-E97B-0EDF-F0B7E0A8FE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AE961-2397-49AF-62B8-35B5C54BEFD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31BE92-0090-5517-AC2D-A092AAA462E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873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E2C1F-976A-F0DC-F69B-EA17C7771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501" y="2230635"/>
            <a:ext cx="6613095" cy="38036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56AC87-3651-8A32-600D-AA6A68BB8FD4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Multi-disciplinary constraint optimization of wind turbines by </a:t>
            </a:r>
            <a:r>
              <a:rPr lang="it-IT" sz="1400" i="1" dirty="0"/>
              <a:t>Carlo Luigi Bottasso, Filippo Campagnolo, Alessandro Croce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516D9-3E37-03E8-A0F1-66B3DDFC5B02}"/>
              </a:ext>
            </a:extLst>
          </p:cNvPr>
          <p:cNvSpPr txBox="1"/>
          <p:nvPr/>
        </p:nvSpPr>
        <p:spPr>
          <a:xfrm>
            <a:off x="8549978" y="3224498"/>
            <a:ext cx="29810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2 – </a:t>
            </a:r>
            <a:r>
              <a:rPr lang="en-US" sz="1400" i="1" dirty="0"/>
              <a:t>Box Spar Caps,</a:t>
            </a:r>
          </a:p>
          <a:p>
            <a:pPr algn="l"/>
            <a:r>
              <a:rPr lang="en-US" sz="1400" b="1" i="1" dirty="0"/>
              <a:t>A: </a:t>
            </a:r>
            <a:r>
              <a:rPr lang="en-US" sz="1400" i="1" dirty="0"/>
              <a:t>three cell with shear webs &amp; spar caps,</a:t>
            </a:r>
          </a:p>
          <a:p>
            <a:pPr algn="l"/>
            <a:r>
              <a:rPr lang="en-US" sz="1400" b="1" i="1" dirty="0"/>
              <a:t>B: </a:t>
            </a:r>
            <a:r>
              <a:rPr lang="en-US" sz="1400" i="1" dirty="0"/>
              <a:t>three cell box type, with single inter-web capping,</a:t>
            </a:r>
          </a:p>
          <a:p>
            <a:pPr algn="l"/>
            <a:r>
              <a:rPr lang="en-US" sz="1400" b="1" i="1" dirty="0"/>
              <a:t>C: </a:t>
            </a:r>
            <a:r>
              <a:rPr lang="en-US" sz="1400" i="1" dirty="0"/>
              <a:t>three cell, with single capping extending fore and aft of the shear webs.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62571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239FB-6416-4F8D-68EB-C963B0D9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34E0AB-1C4E-F54C-D3F7-3F9EC6163DA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7F13B1-A2E2-9039-3C18-676007354E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DB06141-CCD3-6F05-DD7A-925674AC0E8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989ABE-25DA-38D2-D4F2-122E1E9117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60ED55-552A-B722-A38A-DEB1A8CD773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F18F25-DF69-278D-C5E2-17E830BD06D9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513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Split Spar Cap Design 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In this type, the main cap is divided into two or more separate sections.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These "split" caps are still connected by shear webs, but this design offers specific structural advantages.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Key Features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Increases Stability - </a:t>
            </a:r>
            <a:r>
              <a:rPr lang="en-US" sz="2200" dirty="0">
                <a:solidFill>
                  <a:sysClr val="windowText" lastClr="000000"/>
                </a:solidFill>
              </a:rPr>
              <a:t>improved the Blade's resistance to buckling.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Better Stiffness - </a:t>
            </a:r>
            <a:r>
              <a:rPr lang="en-US" sz="2200" dirty="0">
                <a:solidFill>
                  <a:sysClr val="windowText" lastClr="000000"/>
                </a:solidFill>
              </a:rPr>
              <a:t>increased the Blade's stiffness in the "edgewise" direction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Weight optimization - </a:t>
            </a:r>
            <a:r>
              <a:rPr lang="en-US" sz="2200" dirty="0">
                <a:solidFill>
                  <a:sysClr val="windowText" lastClr="000000"/>
                </a:solidFill>
              </a:rPr>
              <a:t>less weight of Blade without sacrificing strength.</a:t>
            </a:r>
            <a:endParaRPr lang="en-IN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7142-D0BC-4EBA-66AD-1D6676AB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8FA4F0-51D1-99AA-23A5-C3ED309778E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ECEEC3A-A715-840B-99F7-86374AB0C36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B42F411-9EE9-3C87-10F9-DC76A4F41A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5364865-C663-7E7A-1582-59278BB0C7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9D36E8-FFF9-4504-2321-92708659C677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7DACDB-D38E-40EE-04E5-7F980962878F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100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Split Spar Cap Design 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DEF08-2F54-2DE3-0C12-54F90A9B5CA9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A concept study of a carbon spar cap design for a 80m wind turbine blade by Malo Rosemeier, M </a:t>
            </a:r>
            <a:r>
              <a:rPr lang="en-US" sz="1400" i="1" dirty="0" err="1"/>
              <a:t>Bätge</a:t>
            </a:r>
            <a:endParaRPr lang="en-IN" sz="1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DCE5E9-56BC-7F56-6F05-092F479B8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1799" y="2230635"/>
            <a:ext cx="6306499" cy="38036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4C9FC0-D3C7-D902-D8A0-55F2D3E3D0DA}"/>
              </a:ext>
            </a:extLst>
          </p:cNvPr>
          <p:cNvSpPr txBox="1"/>
          <p:nvPr/>
        </p:nvSpPr>
        <p:spPr>
          <a:xfrm>
            <a:off x="8549978" y="3224498"/>
            <a:ext cx="3240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3 – </a:t>
            </a:r>
            <a:r>
              <a:rPr lang="en-US" sz="1400" i="1" dirty="0"/>
              <a:t>Topologies of</a:t>
            </a:r>
          </a:p>
          <a:p>
            <a:pPr algn="l"/>
            <a:r>
              <a:rPr lang="en-US" sz="1400" b="1" i="1" dirty="0"/>
              <a:t>a:</a:t>
            </a:r>
            <a:r>
              <a:rPr lang="en-US" sz="1400" i="1" dirty="0"/>
              <a:t> split spar cap (SSC) concept,</a:t>
            </a:r>
          </a:p>
          <a:p>
            <a:pPr algn="l"/>
            <a:r>
              <a:rPr lang="en-US" sz="1400" b="1" i="1" dirty="0"/>
              <a:t>b:.</a:t>
            </a:r>
            <a:r>
              <a:rPr lang="en-US" sz="1400" i="1" dirty="0"/>
              <a:t> continuous spar cap (CSC) concept,</a:t>
            </a:r>
          </a:p>
          <a:p>
            <a:pPr algn="l"/>
            <a:r>
              <a:rPr lang="en-US" sz="1400" b="1" i="1" dirty="0"/>
              <a:t>c:</a:t>
            </a:r>
            <a:r>
              <a:rPr lang="en-US" sz="1400" i="1" dirty="0"/>
              <a:t> baseline. ox Spar Caps.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84968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CB2E-6538-E024-A88C-8767372C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612ECD-BC25-80E0-6850-A6113CBCFE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A892027-F50D-CF95-20BD-EB94212CD4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F97AAC-A255-044D-B1F6-455E80ACFA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04AAEC7-351E-6489-E166-A7BC4ECC79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34DAF-4D38-FB4C-A7F4-E1F2BAF2AEB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142F8D-C30C-F18A-8593-5D53241BAA9F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Primary Bending -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</a:t>
            </a:r>
            <a:endParaRPr lang="en-IN" sz="24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Secondary Bending: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9A62D-0ABD-DA41-3194-C8DDE6CDE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3116605"/>
            <a:ext cx="6923272" cy="212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E9D42D-E436-603E-4BDA-E18602DA83F2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Lecture Scripts from Prof. Dr. Francesco </a:t>
            </a:r>
            <a:r>
              <a:rPr lang="en-US" sz="1400" i="1" dirty="0" err="1"/>
              <a:t>Previtali</a:t>
            </a:r>
            <a:endParaRPr lang="en-IN" sz="1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5E4D3-3F0D-FA82-7702-4808877E0482}"/>
              </a:ext>
            </a:extLst>
          </p:cNvPr>
          <p:cNvSpPr txBox="1"/>
          <p:nvPr/>
        </p:nvSpPr>
        <p:spPr>
          <a:xfrm>
            <a:off x="7949201" y="4024716"/>
            <a:ext cx="350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4 – </a:t>
            </a:r>
            <a:r>
              <a:rPr lang="en-US" sz="1400" i="1" dirty="0"/>
              <a:t>Bending Moments on Spar Caps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5154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D782-53FF-E255-6670-33002E27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CE7DCB-F03A-CAD8-9109-58C95D6ED49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5D9073-90F7-B249-FCA3-43F93DAC0D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BDA40D-0D35-B199-C347-872920AE9A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9544F8-27E6-56B0-7A00-B52AECCFB6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FD0E6-E4A8-AFFD-6283-13993C2D0F3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7850BD-BDD7-1B62-E009-55993D0D2B94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6833135" cy="4712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Primary Bending -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This is the most significant load a spar cap is designed to handle.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It's caused by the aerodynamic thrust of the wind pushing on the wide face of the blade.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This force causes the blade to bend backwards and forwards.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49D00-7857-2CA1-BB61-7103A9BD4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3936" y="3287114"/>
            <a:ext cx="4524932" cy="25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27401-3836-9AE9-E5F7-51F367794829}"/>
              </a:ext>
            </a:extLst>
          </p:cNvPr>
          <p:cNvSpPr txBox="1"/>
          <p:nvPr/>
        </p:nvSpPr>
        <p:spPr>
          <a:xfrm>
            <a:off x="0" y="625364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Design &amp; Analysis of Equipment for Load Introduction during Full Scale Blade Test by J. Andersen, M. Escudero, L. Larsen, J. Thuesen, A. </a:t>
            </a:r>
            <a:r>
              <a:rPr lang="en-US" sz="1400" i="1" dirty="0" err="1"/>
              <a:t>Vissamsetty</a:t>
            </a:r>
            <a:endParaRPr lang="en-IN" sz="1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BE9C7-B91A-EE23-A3D2-AC8D7BEFE539}"/>
              </a:ext>
            </a:extLst>
          </p:cNvPr>
          <p:cNvSpPr txBox="1"/>
          <p:nvPr/>
        </p:nvSpPr>
        <p:spPr>
          <a:xfrm>
            <a:off x="7848277" y="5816459"/>
            <a:ext cx="434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5 – </a:t>
            </a:r>
            <a:r>
              <a:rPr lang="en-US" sz="1400" i="1" dirty="0" err="1"/>
              <a:t>Flapwise</a:t>
            </a:r>
            <a:r>
              <a:rPr lang="en-US" sz="1400" i="1" dirty="0"/>
              <a:t> Bending Moments on Blades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01067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A58B-3E67-C2E4-E26C-DDD48DEC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083323-6748-9F48-0660-D7D4AABCBE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0458171-ED3B-4499-CF21-37091C8C6D7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56800B-817F-DE55-F160-A27E2C2D4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9A7FDE3-9AA5-636D-2737-1B7774E1F87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7AD6B-AB55-7912-2943-F53C026A9E1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F61005-059F-7390-7EA7-335D3C21957B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6833135" cy="3555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Secondary Bending: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is the secondary bending load, acting parallel to the blade's direction of rotation. The main cause is gravity.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It's called "edgewise" because the blade is bending along its thin leading and trailing edges.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load is a major driver of fatigue in the blade structure.</a:t>
            </a:r>
            <a:endParaRPr lang="en-IN" sz="22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3795C2-E278-B4A9-CE05-E3E6D4493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3936" y="3287114"/>
            <a:ext cx="4524932" cy="25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C0FEF-6E86-F973-B96B-20BA589D1EE5}"/>
              </a:ext>
            </a:extLst>
          </p:cNvPr>
          <p:cNvSpPr txBox="1"/>
          <p:nvPr/>
        </p:nvSpPr>
        <p:spPr>
          <a:xfrm>
            <a:off x="0" y="625364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Design &amp; Analysis of Equipment for Load Introduction during Full Scale Blade Test by J. Andersen, M. Escudero, L. Larsen, J. Thuesen, A. </a:t>
            </a:r>
            <a:r>
              <a:rPr lang="en-US" sz="1400" i="1" dirty="0" err="1"/>
              <a:t>Vissamsetty</a:t>
            </a:r>
            <a:endParaRPr lang="en-IN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0F7AF1-9338-E1C1-1792-B1D926753349}"/>
              </a:ext>
            </a:extLst>
          </p:cNvPr>
          <p:cNvSpPr txBox="1"/>
          <p:nvPr/>
        </p:nvSpPr>
        <p:spPr>
          <a:xfrm>
            <a:off x="7848277" y="5816459"/>
            <a:ext cx="434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6 – </a:t>
            </a:r>
            <a:r>
              <a:rPr lang="en-US" sz="1400" i="1" dirty="0"/>
              <a:t>Edgewise Bending Moments on Blades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047543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1560-22F7-28D5-52D2-947ACFEC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1DD7A2-2533-0714-7728-AA5EAE4B36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0BB8D5-1892-31B7-9D3A-B8D4DEF5EC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C32190-EC5D-ADBC-9A87-18C306A343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B9B89E2-0773-5D19-1CB2-78A0396E6C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0899EE-9883-2568-31A4-86DAF9B8B14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6AABB4-95A2-6520-2E68-26D17ECDBC8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740992" cy="2846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Stiffness (</a:t>
            </a:r>
            <a:r>
              <a:rPr lang="en-IN" sz="2200" dirty="0">
                <a:solidFill>
                  <a:sysClr val="windowText" lastClr="000000"/>
                </a:solidFill>
              </a:rPr>
              <a:t>also called </a:t>
            </a:r>
            <a:r>
              <a:rPr lang="en-IN" sz="2200" b="1" dirty="0">
                <a:solidFill>
                  <a:srgbClr val="FF0000"/>
                </a:solidFill>
              </a:rPr>
              <a:t>Flexural Rigidity</a:t>
            </a:r>
            <a:r>
              <a:rPr lang="en-IN" sz="2200" b="1" dirty="0">
                <a:solidFill>
                  <a:sysClr val="windowText" lastClr="000000"/>
                </a:solidFill>
              </a:rPr>
              <a:t>)  - </a:t>
            </a:r>
            <a:endParaRPr lang="en-IN" sz="2200" b="1" i="1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spar cap's fundamental resistance to bending.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It's the most important property for preventing the blade from deflecting too much and striking the tower.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NOT the same as strength (which is resistance to breaking).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Stiffness is resistance to bending.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B1F0E-DD22-21FD-136B-8403E9B63370}"/>
                  </a:ext>
                </a:extLst>
              </p:cNvPr>
              <p:cNvSpPr txBox="1"/>
              <p:nvPr/>
            </p:nvSpPr>
            <p:spPr>
              <a:xfrm>
                <a:off x="994197" y="4683611"/>
                <a:ext cx="3768660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𝑩𝒆𝒏𝒅𝒊𝒏𝒈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𝑺𝒕𝒊𝒇𝒇𝒏𝒆𝒔𝒔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IN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B1F0E-DD22-21FD-136B-8403E9B63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97" y="4683611"/>
                <a:ext cx="3768660" cy="338554"/>
              </a:xfrm>
              <a:prstGeom prst="rect">
                <a:avLst/>
              </a:prstGeom>
              <a:blipFill>
                <a:blip r:embed="rId2"/>
                <a:stretch>
                  <a:fillRect l="-2265" t="-1786" r="-1294" b="-339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73080EC-959C-B26D-42FB-6A0A09F12F25}"/>
              </a:ext>
            </a:extLst>
          </p:cNvPr>
          <p:cNvSpPr txBox="1"/>
          <p:nvPr/>
        </p:nvSpPr>
        <p:spPr>
          <a:xfrm>
            <a:off x="5230898" y="4298890"/>
            <a:ext cx="67954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/>
              <a:t>here,</a:t>
            </a:r>
          </a:p>
          <a:p>
            <a:pPr lvl="1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i="1" dirty="0"/>
              <a:t> = Young's Modulus (Material Stiffness),</a:t>
            </a:r>
          </a:p>
          <a:p>
            <a:pPr lvl="1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i="1" dirty="0"/>
              <a:t> = Second Moment of Area (Shape Stiffness)</a:t>
            </a:r>
            <a:endParaRPr lang="en-IN" sz="2200" i="1" dirty="0"/>
          </a:p>
        </p:txBody>
      </p:sp>
    </p:spTree>
    <p:extLst>
      <p:ext uri="{BB962C8B-B14F-4D97-AF65-F5344CB8AC3E}">
        <p14:creationId xmlns:p14="http://schemas.microsoft.com/office/powerpoint/2010/main" val="268406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B628-43F4-CEBC-00E0-A1A64500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C6E95-9243-A3E1-D4F0-C119C60A02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1DA5244-5F7F-4B5A-1978-3A777DC4716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E29E1B-1603-F39B-A611-9180AF04C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540E9D6-6EDF-8BA5-1C8E-D56F97C8DD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4E2A2-BA2A-5448-149E-9A6562A9A2F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8C54E1-E1BF-0E87-A200-7B0357078306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740992" cy="2788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Stresses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Stress -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Because a blade is always moving and bending, the stress on the spar caps is cyclical.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cycle is defined by a </a:t>
            </a:r>
            <a:r>
              <a:rPr lang="en-US" sz="2200" b="1" dirty="0">
                <a:solidFill>
                  <a:sysClr val="windowText" lastClr="000000"/>
                </a:solidFill>
              </a:rPr>
              <a:t>Maximum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r>
              <a:rPr lang="en-US" sz="2200" dirty="0">
                <a:solidFill>
                  <a:sysClr val="windowText" lastClr="000000"/>
                </a:solidFill>
              </a:rPr>
              <a:t> &amp; </a:t>
            </a:r>
            <a:r>
              <a:rPr lang="en-US" sz="2200" b="1" dirty="0">
                <a:solidFill>
                  <a:sysClr val="windowText" lastClr="000000"/>
                </a:solidFill>
              </a:rPr>
              <a:t>Minimum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r>
              <a:rPr lang="en-US" sz="2200" dirty="0">
                <a:solidFill>
                  <a:sysClr val="windowText" lastClr="000000"/>
                </a:solidFill>
              </a:rPr>
              <a:t>, which is the key driver of material fatigue and a critical part of the design.</a:t>
            </a:r>
          </a:p>
        </p:txBody>
      </p:sp>
    </p:spTree>
    <p:extLst>
      <p:ext uri="{BB962C8B-B14F-4D97-AF65-F5344CB8AC3E}">
        <p14:creationId xmlns:p14="http://schemas.microsoft.com/office/powerpoint/2010/main" val="1799276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B13A-737A-2655-EAFC-4170212B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05F20D-BDA8-B709-843B-5BA84CDBE21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F0E11D-5CE8-E695-B7A1-7E1FF09AEC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7A2398-742B-B00A-3700-9E8BB89A1D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4045182-78D1-281B-FB53-10D766256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7DCC1-5393-4B4A-5743-D6C11BF833A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980C6D-8941-70C1-FC14-9CFE163BE6C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Stresses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Stress - 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1. Maximum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highest tensile (pulling) stress experienced by the spar cap during its rotation.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occurs on the suction side (top) spar cap when the blade is hit by a strong gust of wind, causing it to bend backward (</a:t>
            </a:r>
            <a:r>
              <a:rPr lang="en-US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dirty="0">
                <a:solidFill>
                  <a:sysClr val="windowText" lastClr="000000"/>
                </a:solidFill>
              </a:rPr>
              <a:t> bending).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2. Minimum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highest compressive (pushing) stress experienced by the spar cap.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occurs on the pressure side (bottom) spar cap during that same strong gust of wind.</a:t>
            </a:r>
          </a:p>
        </p:txBody>
      </p:sp>
    </p:spTree>
    <p:extLst>
      <p:ext uri="{BB962C8B-B14F-4D97-AF65-F5344CB8AC3E}">
        <p14:creationId xmlns:p14="http://schemas.microsoft.com/office/powerpoint/2010/main" val="244300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3661-CFCD-E321-E248-E5BFC2AF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337691-F6A9-9F61-303E-322856D6755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88BB23F-1AC8-358F-E401-6B7358DBB7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1287632-3C1B-20B7-4D74-291E57E8B5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991FB4B-A0D9-FD44-0AD8-C0BFB9D95D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B6A25-87F8-152A-9AA1-7E91FD17809F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C43C4D-3203-31B9-08C5-B0FC1EAEE6C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Input Tables – (</a:t>
            </a:r>
            <a:r>
              <a:rPr lang="en-IN" sz="2200" i="1" dirty="0">
                <a:solidFill>
                  <a:srgbClr val="FF0000"/>
                </a:solidFill>
              </a:rPr>
              <a:t>from WEC Shakthi 2024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loads.csv:</a:t>
            </a:r>
            <a:r>
              <a:rPr lang="en-IN" sz="2200" dirty="0">
                <a:solidFill>
                  <a:sysClr val="windowText" lastClr="000000"/>
                </a:solidFill>
              </a:rPr>
              <a:t> spanwise position &amp; </a:t>
            </a:r>
            <a:r>
              <a:rPr lang="en-IN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IN" sz="2200" dirty="0">
                <a:solidFill>
                  <a:sysClr val="windowText" lastClr="000000"/>
                </a:solidFill>
              </a:rPr>
              <a:t> bending moments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thickness.csv: </a:t>
            </a:r>
            <a:r>
              <a:rPr lang="en-IN" sz="2200" dirty="0">
                <a:solidFill>
                  <a:sysClr val="windowText" lastClr="000000"/>
                </a:solidFill>
              </a:rPr>
              <a:t>blade thickness (distance between spar caps)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Material Properties –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Glass Fiber:  </a:t>
            </a:r>
            <a:r>
              <a:rPr lang="en-IN" sz="2200" dirty="0">
                <a:solidFill>
                  <a:sysClr val="windowText" lastClr="000000"/>
                </a:solidFill>
              </a:rPr>
              <a:t>E = 43 </a:t>
            </a:r>
            <a:r>
              <a:rPr lang="en-IN" sz="2200" dirty="0" err="1">
                <a:solidFill>
                  <a:sysClr val="windowText" lastClr="000000"/>
                </a:solidFill>
              </a:rPr>
              <a:t>GPa</a:t>
            </a:r>
            <a:r>
              <a:rPr lang="en-IN" sz="2200" dirty="0">
                <a:solidFill>
                  <a:sysClr val="windowText" lastClr="000000"/>
                </a:solidFill>
              </a:rPr>
              <a:t>, </a:t>
            </a:r>
            <a:r>
              <a:rPr lang="el-GR" sz="2200" dirty="0">
                <a:solidFill>
                  <a:sysClr val="windowText" lastClr="000000"/>
                </a:solidFill>
              </a:rPr>
              <a:t>σ_</a:t>
            </a:r>
            <a:r>
              <a:rPr lang="en-IN" sz="2200" dirty="0">
                <a:solidFill>
                  <a:sysClr val="windowText" lastClr="000000"/>
                </a:solidFill>
              </a:rPr>
              <a:t>max = 750 MPa, </a:t>
            </a:r>
            <a:r>
              <a:rPr lang="el-GR" sz="2200" dirty="0">
                <a:solidFill>
                  <a:sysClr val="windowText" lastClr="000000"/>
                </a:solidFill>
              </a:rPr>
              <a:t>ρ = 1930 </a:t>
            </a:r>
            <a:r>
              <a:rPr lang="en-IN" sz="2200" dirty="0">
                <a:solidFill>
                  <a:sysClr val="windowText" lastClr="000000"/>
                </a:solidFill>
              </a:rPr>
              <a:t>kg/m³, SF = 1.6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76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2CCD-2298-1800-5246-D03BE647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C6D628-7061-5413-8CF7-1E76542441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45DF780-011E-848E-9785-7633B05A89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1D5976-8C26-5B81-B471-8537DF0195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769B088-0AEB-5FE1-42CF-61FCBF38F3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ECFA1-7E32-87AF-0AFC-60FAA3B070C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A7A24D-9077-CC0E-31EB-254185F270C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 (</a:t>
            </a:r>
            <a:r>
              <a:rPr lang="en-US" sz="2400" b="1" dirty="0">
                <a:solidFill>
                  <a:srgbClr val="FF0000"/>
                </a:solidFill>
              </a:rPr>
              <a:t>updated code</a:t>
            </a:r>
            <a:r>
              <a:rPr lang="en-US" sz="2400" b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c.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</a:t>
            </a:r>
            <a:r>
              <a:rPr lang="en-IN" sz="2200" b="1" dirty="0">
                <a:solidFill>
                  <a:srgbClr val="FF0000"/>
                </a:solidFill>
              </a:rPr>
              <a:t>Maximum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&amp;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dirty="0">
                <a:solidFill>
                  <a:srgbClr val="FF0000"/>
                </a:solidFill>
              </a:rPr>
              <a:t>Minimum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i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d.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 Bending Stiffness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for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</a:t>
            </a:r>
            <a:r>
              <a:rPr lang="en-IN" sz="2200" b="1" dirty="0"/>
              <a:t>&amp;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i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21B4-48DB-1EFC-E4A7-89DCDD27D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156" y="2887467"/>
            <a:ext cx="11697687" cy="32767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6810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54FD-9E0A-384B-E67E-A2C5857C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7F0012-D49C-6CC9-A64F-FA42915DCB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08573-2FA0-6C81-E29E-6145F67C3D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99A3B82-F79C-E116-5DD1-0EC881FC6C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541233F-70D1-4CD9-9AEB-8A2EE70D4C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31143-3532-3511-3A60-81F8333808A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43E786-B44A-5A89-465B-A075F3B4440D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e.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rgbClr val="FF0000"/>
                </a:solidFill>
              </a:rPr>
              <a:t>Maximum Stress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dirty="0">
                <a:solidFill>
                  <a:sysClr val="windowText" lastClr="000000"/>
                </a:solidFill>
              </a:rPr>
              <a:t>) 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B6201-E863-A242-FD0F-303186243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1355" y="2295856"/>
            <a:ext cx="6569289" cy="41234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749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11CA-B28D-7393-4407-93AAE8B8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D7433E-9A3C-BCAB-5903-966AAD90D35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42AE6FD-AC15-2B8A-E41E-DE360AE97C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5427B4-1ABC-E8AE-868F-C5B2CF1921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B2BD68E-31B5-842B-B31D-AC395D64D9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5C6008-7DEA-BFAE-FC83-2458118F143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75BD5D-A08B-1546-98CB-C079115BFB9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f.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rgbClr val="FF0000"/>
                </a:solidFill>
              </a:rPr>
              <a:t>Minimum Stress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dirty="0">
                <a:solidFill>
                  <a:sysClr val="windowText" lastClr="000000"/>
                </a:solidFill>
              </a:rPr>
              <a:t>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dirty="0">
                <a:solidFill>
                  <a:sysClr val="windowText" lastClr="000000"/>
                </a:solidFill>
              </a:rPr>
              <a:t>) 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74905-2E6B-9217-58E7-5D4C9C238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9683" y="2233563"/>
            <a:ext cx="6312633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2183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75A7-E1E8-85E4-4E04-D942389F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9FDEC-DA64-13F5-2729-0D9C687A779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337850D-1669-D590-AEFB-4E614EABC6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1A356D0-BA0E-7E01-FC00-9CBD2BFFC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F5B5364-6EA2-7485-0A5B-22E6782ED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64B3C-D03A-5313-7664-120C9B4A738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511D7-69B3-FCF1-3E98-BB9711255E9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1020124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g.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ysClr val="windowText" lastClr="000000"/>
                </a:solidFill>
              </a:rPr>
              <a:t>Bending Stiffness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dirty="0">
                <a:solidFill>
                  <a:sysClr val="windowText" lastClr="000000"/>
                </a:solidFill>
              </a:rPr>
              <a:t>) for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 </a:t>
            </a:r>
            <a:r>
              <a:rPr lang="en-IN" sz="2200" b="1" dirty="0"/>
              <a:t>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A83E5-5482-9CDE-06B5-0B83499C7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6251" y="2239860"/>
            <a:ext cx="6379497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355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DEF4-A57D-317C-C606-9BBD4BAA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C1073-B260-E651-6FF1-A793B20FAB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D3D864-99AC-FC78-725C-33C5445096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F713C8-7940-6F5C-C824-DD3D01F898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861F49E-0122-D146-4139-EFD8173300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7BEC0-CFFB-2901-1C7C-76D8B5ACFAC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5D4B76-764E-FFC1-0A3E-27850E79442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1145254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h.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ysClr val="windowText" lastClr="000000"/>
                </a:solidFill>
              </a:rPr>
              <a:t>Bending Stiffness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dirty="0">
                <a:solidFill>
                  <a:sysClr val="windowText" lastClr="000000"/>
                </a:solidFill>
              </a:rPr>
              <a:t>) for </a:t>
            </a:r>
            <a:r>
              <a:rPr lang="en-IN" sz="2200" b="1" i="1" dirty="0">
                <a:solidFill>
                  <a:srgbClr val="FF0000"/>
                </a:solidFill>
              </a:rPr>
              <a:t>Edgewise Bending </a:t>
            </a:r>
            <a:r>
              <a:rPr lang="en-IN" sz="2200" b="1" dirty="0"/>
              <a:t>(</a:t>
            </a:r>
            <a:r>
              <a:rPr lang="en-IN" sz="2200" b="1" i="1" dirty="0">
                <a:solidFill>
                  <a:srgbClr val="FF0000"/>
                </a:solidFill>
              </a:rPr>
              <a:t>updated from Week 7</a:t>
            </a:r>
            <a:r>
              <a:rPr lang="en-IN" sz="2200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04B56-34CA-8F78-BF4F-B544E752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3265" y="2239860"/>
            <a:ext cx="6445469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691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E2BC-879D-FD01-00A6-4A1E94C4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C30AD-8ABE-2C28-4A44-730FEF4F78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B17E5D6-143F-1F84-C48A-A18C56E4F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C9E4D-D5D7-388E-C0BB-5E78BF6D7D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62FAD8-8B25-185B-43C1-84D45C356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C99BB-4438-815F-F9E1-E04B1A50A3D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C13A5-9695-0DCD-F855-C4AC2812FD38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3400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Data required to fix the Spar Caps &amp; Webs Geometry –</a:t>
            </a:r>
          </a:p>
          <a:p>
            <a:pPr marL="400050" lvl="1" indent="0">
              <a:buNone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a. Blade Geometry -</a:t>
            </a:r>
          </a:p>
          <a:p>
            <a:pPr marL="400050" lvl="1" indent="0">
              <a:buNone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00050" lvl="1" indent="0">
              <a:buNone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00050" lvl="1" indent="0">
              <a:buNone/>
            </a:pPr>
            <a:endParaRPr lang="en-IN" sz="2200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00050" lvl="1" indent="0">
              <a:buNone/>
            </a:pPr>
            <a:endParaRPr lang="en-IN" sz="2200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b. Load and Thickness Table</a:t>
            </a:r>
            <a:r>
              <a:rPr kumimoji="0" lang="en-IN" sz="2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lang="en-IN" sz="2200" i="1" dirty="0">
                <a:solidFill>
                  <a:sysClr val="windowText" lastClr="000000"/>
                </a:solidFill>
              </a:rPr>
              <a:t>loads.csv &amp; thickness.csv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  <a:endParaRPr kumimoji="0" lang="en-IN" sz="2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CA2941-E17D-7455-5DDD-3E9BC73B5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272" y="2187573"/>
            <a:ext cx="3089554" cy="180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7C7353-6270-E85A-7F95-4F49060EE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28911"/>
              </p:ext>
            </p:extLst>
          </p:nvPr>
        </p:nvGraphicFramePr>
        <p:xfrm>
          <a:off x="5766331" y="4670427"/>
          <a:ext cx="2952000" cy="1752600"/>
        </p:xfrm>
        <a:graphic>
          <a:graphicData uri="http://schemas.openxmlformats.org/drawingml/2006/table">
            <a:tbl>
              <a:tblPr firstRow="1" bandRow="1"/>
              <a:tblGrid>
                <a:gridCol w="1476000">
                  <a:extLst>
                    <a:ext uri="{9D8B030D-6E8A-4147-A177-3AD203B41FA5}">
                      <a16:colId xmlns:a16="http://schemas.microsoft.com/office/drawing/2014/main" val="136256680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28830518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Thickness Table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37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Span</a:t>
                      </a:r>
                    </a:p>
                    <a:p>
                      <a:pPr algn="ctr"/>
                      <a:r>
                        <a:rPr lang="en-IN" b="1" dirty="0"/>
                        <a:t>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Thickness</a:t>
                      </a:r>
                    </a:p>
                    <a:p>
                      <a:pPr algn="ctr"/>
                      <a:r>
                        <a:rPr lang="en-IN" b="1" dirty="0"/>
                        <a:t>(m)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05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6762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7E07F8F-DDD0-7084-85CB-77890BB00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152165"/>
              </p:ext>
            </p:extLst>
          </p:nvPr>
        </p:nvGraphicFramePr>
        <p:xfrm>
          <a:off x="2414049" y="4683126"/>
          <a:ext cx="2952000" cy="1752600"/>
        </p:xfrm>
        <a:graphic>
          <a:graphicData uri="http://schemas.openxmlformats.org/drawingml/2006/table">
            <a:tbl>
              <a:tblPr firstRow="1" bandRow="1"/>
              <a:tblGrid>
                <a:gridCol w="984000">
                  <a:extLst>
                    <a:ext uri="{9D8B030D-6E8A-4147-A177-3AD203B41FA5}">
                      <a16:colId xmlns:a16="http://schemas.microsoft.com/office/drawing/2014/main" val="1362566801"/>
                    </a:ext>
                  </a:extLst>
                </a:gridCol>
                <a:gridCol w="984000">
                  <a:extLst>
                    <a:ext uri="{9D8B030D-6E8A-4147-A177-3AD203B41FA5}">
                      <a16:colId xmlns:a16="http://schemas.microsoft.com/office/drawing/2014/main" val="1288305188"/>
                    </a:ext>
                  </a:extLst>
                </a:gridCol>
                <a:gridCol w="984000">
                  <a:extLst>
                    <a:ext uri="{9D8B030D-6E8A-4147-A177-3AD203B41FA5}">
                      <a16:colId xmlns:a16="http://schemas.microsoft.com/office/drawing/2014/main" val="306691125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Loads Table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37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Span</a:t>
                      </a:r>
                    </a:p>
                    <a:p>
                      <a:pPr algn="ctr"/>
                      <a:r>
                        <a:rPr lang="en-IN" b="1" dirty="0"/>
                        <a:t>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M_max</a:t>
                      </a:r>
                      <a:endParaRPr lang="en-IN" b="1" dirty="0"/>
                    </a:p>
                    <a:p>
                      <a:pPr algn="ctr"/>
                      <a:r>
                        <a:rPr lang="en-IN" b="1" dirty="0"/>
                        <a:t>(</a:t>
                      </a:r>
                      <a:r>
                        <a:rPr lang="en-IN" b="1" dirty="0" err="1"/>
                        <a:t>kN</a:t>
                      </a:r>
                      <a:r>
                        <a:rPr lang="en-IN" b="1" dirty="0"/>
                        <a:t>-m)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M_min</a:t>
                      </a:r>
                      <a:endParaRPr lang="en-IN" b="1" dirty="0"/>
                    </a:p>
                    <a:p>
                      <a:pPr algn="ctr"/>
                      <a:r>
                        <a:rPr lang="en-IN" b="1" dirty="0"/>
                        <a:t>(</a:t>
                      </a:r>
                      <a:r>
                        <a:rPr lang="en-IN" b="1" dirty="0" err="1"/>
                        <a:t>kN</a:t>
                      </a:r>
                      <a:r>
                        <a:rPr lang="en-IN" b="1" dirty="0"/>
                        <a:t>-m)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05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67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778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------------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1145</TotalTime>
  <Words>1851</Words>
  <Application>Microsoft Office PowerPoint</Application>
  <PresentationFormat>Widescreen</PresentationFormat>
  <Paragraphs>258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164</cp:revision>
  <dcterms:created xsi:type="dcterms:W3CDTF">2025-10-05T16:20:08Z</dcterms:created>
  <dcterms:modified xsi:type="dcterms:W3CDTF">2025-11-17T13:23:15Z</dcterms:modified>
</cp:coreProperties>
</file>