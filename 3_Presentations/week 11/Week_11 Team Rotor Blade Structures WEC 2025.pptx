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handoutMasterIdLst>
    <p:handoutMasterId r:id="rId19"/>
  </p:handoutMasterIdLst>
  <p:sldIdLst>
    <p:sldId id="263" r:id="rId3"/>
    <p:sldId id="265" r:id="rId4"/>
    <p:sldId id="271" r:id="rId5"/>
    <p:sldId id="273" r:id="rId6"/>
    <p:sldId id="279" r:id="rId7"/>
    <p:sldId id="321" r:id="rId8"/>
    <p:sldId id="322" r:id="rId9"/>
    <p:sldId id="323" r:id="rId10"/>
    <p:sldId id="328" r:id="rId11"/>
    <p:sldId id="329" r:id="rId12"/>
    <p:sldId id="330" r:id="rId13"/>
    <p:sldId id="331" r:id="rId14"/>
    <p:sldId id="333" r:id="rId15"/>
    <p:sldId id="33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279"/>
            <p14:sldId id="321"/>
            <p14:sldId id="322"/>
            <p14:sldId id="323"/>
            <p14:sldId id="328"/>
            <p14:sldId id="329"/>
            <p14:sldId id="330"/>
            <p14:sldId id="331"/>
            <p14:sldId id="333"/>
            <p14:sldId id="332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FFFF"/>
    <a:srgbClr val="F0E8BA"/>
    <a:srgbClr val="CCCC00"/>
    <a:srgbClr val="FFFF99"/>
    <a:srgbClr val="FFFFFF"/>
    <a:srgbClr val="8ECEFA"/>
    <a:srgbClr val="92C6E6"/>
    <a:srgbClr val="80D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298084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FF0000"/>
                </a:solidFill>
              </a:rPr>
              <a:t>Anudeep Allanki 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FF0000"/>
                </a:solidFill>
              </a:rPr>
              <a:t>770625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09/12/2025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</a:t>
            </a:r>
            <a:r>
              <a:rPr lang="it-IT" sz="2000" dirty="0"/>
              <a:t>11</a:t>
            </a:r>
          </a:p>
          <a:p>
            <a:r>
              <a:rPr lang="it-IT" sz="2000" b="1" dirty="0"/>
              <a:t>Date -</a:t>
            </a:r>
            <a:r>
              <a:rPr lang="it-IT" sz="2000" dirty="0"/>
              <a:t> 09.12.2025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867900" cy="479045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 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Caps</a:t>
            </a:r>
            <a:endParaRPr lang="en-US" sz="2200" dirty="0"/>
          </a:p>
          <a:p>
            <a:pPr marL="457200" lvl="1" indent="0">
              <a:buNone/>
            </a:pPr>
            <a:r>
              <a:rPr lang="de-DE" sz="2200" dirty="0"/>
              <a:t>3.1 MATLAB Code for Spar Caps Design</a:t>
            </a:r>
          </a:p>
          <a:p>
            <a:pPr marL="1085850" lvl="3" indent="0">
              <a:buNone/>
            </a:pPr>
            <a:r>
              <a:rPr lang="en-US" sz="2000" dirty="0"/>
              <a:t>3.1.1 Interpolate Loads for Optimus Syria</a:t>
            </a:r>
          </a:p>
          <a:p>
            <a:pPr marL="1085850" lvl="3" indent="0">
              <a:buNone/>
            </a:pPr>
            <a:r>
              <a:rPr lang="en-US" sz="2000" dirty="0"/>
              <a:t>3.1.2  Deflection Calculation</a:t>
            </a:r>
          </a:p>
          <a:p>
            <a:pPr marL="1085850" lvl="3" indent="0">
              <a:buNone/>
            </a:pPr>
            <a:r>
              <a:rPr lang="en-US" sz="2000" dirty="0"/>
              <a:t>3.1.3 Results </a:t>
            </a:r>
          </a:p>
          <a:p>
            <a:pPr marL="0" lvl="3" indent="0">
              <a:buNone/>
            </a:pPr>
            <a:r>
              <a:rPr lang="en-US" sz="2000" dirty="0"/>
              <a:t>4. Pre-Bend in the Rotor Blades </a:t>
            </a:r>
          </a:p>
          <a:p>
            <a:pPr marL="0" lvl="3" indent="0">
              <a:buNone/>
            </a:pPr>
            <a:r>
              <a:rPr lang="en-US" sz="2000" dirty="0"/>
              <a:t>5. Tower Clearance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Anudeep Allanki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of December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A144F-605C-049C-04DF-6D6B030F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7" y="2275971"/>
            <a:ext cx="11556367" cy="25604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14183" y="3618935"/>
            <a:ext cx="8460000" cy="54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/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2D326CE-2281-E5D8-8DA5-8AEBA73CDC31}"/>
              </a:ext>
            </a:extLst>
          </p:cNvPr>
          <p:cNvSpPr txBox="1"/>
          <p:nvPr/>
        </p:nvSpPr>
        <p:spPr>
          <a:xfrm>
            <a:off x="6464968" y="1308626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92CAB-B53D-1448-2500-D306DA3779D3}"/>
              </a:ext>
            </a:extLst>
          </p:cNvPr>
          <p:cNvSpPr txBox="1"/>
          <p:nvPr/>
        </p:nvSpPr>
        <p:spPr>
          <a:xfrm>
            <a:off x="7307178" y="3631857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1954B6-E954-B5D1-C05C-DA1543F92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9480" y="1835798"/>
            <a:ext cx="7994178" cy="460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83D246-1212-0579-9360-7CDC54226D9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Spar Caps 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4B09E2-752A-34B4-0631-5C468978559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796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MATLAB Code for Spar Caps Design -</a:t>
            </a:r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7AFC-D710-8033-BA6D-1DB2350F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DF83C9-E61A-7488-8724-F93F258C4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6E435B1-47D0-C0D2-C568-FEEC2BD51A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DF30E24-8F0D-3A01-6930-910A16BDF7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4FAA8BD-814D-8F5A-48ED-F4CE1C3521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02B2D-2B3A-F3A1-71A7-D6AF6EB7A82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Spar Caps 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05EE8-DB09-9AC8-D7BA-0E5064F84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342" y="1837901"/>
            <a:ext cx="7714454" cy="460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4534F28-77C6-5E6F-57B8-A0A2C11CB33C}"/>
              </a:ext>
            </a:extLst>
          </p:cNvPr>
          <p:cNvSpPr txBox="1">
            <a:spLocks/>
          </p:cNvSpPr>
          <p:nvPr/>
        </p:nvSpPr>
        <p:spPr>
          <a:xfrm>
            <a:off x="838199" y="1278957"/>
            <a:ext cx="10515601" cy="471758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Interpolate Loads for Optimus Syria </a:t>
            </a:r>
            <a:r>
              <a:rPr lang="en-US" sz="2400" b="1" dirty="0">
                <a:solidFill>
                  <a:sysClr val="windowText" lastClr="00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Using Shakthi data</a:t>
            </a:r>
            <a:r>
              <a:rPr lang="en-US" sz="2400" b="1" dirty="0">
                <a:solidFill>
                  <a:sysClr val="windowText" lastClr="000000"/>
                </a:solidFill>
              </a:rPr>
              <a:t>) (</a:t>
            </a:r>
            <a:r>
              <a:rPr lang="en-US" sz="2400" b="1" dirty="0">
                <a:solidFill>
                  <a:srgbClr val="FF0000"/>
                </a:solidFill>
              </a:rPr>
              <a:t>20</a:t>
            </a:r>
            <a:r>
              <a:rPr lang="en-US" sz="2400" b="1" dirty="0">
                <a:solidFill>
                  <a:sysClr val="windowText" lastClr="000000"/>
                </a:solidFill>
              </a:rPr>
              <a:t> Nodes) –</a:t>
            </a:r>
          </a:p>
          <a:p>
            <a:pPr marL="0" indent="0">
              <a:buNone/>
            </a:pPr>
            <a:endParaRPr lang="en-US" sz="2200" i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32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BFD1-DD95-4482-4F28-DDF0A0451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FCBEF6-48F7-7329-061F-213840D27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9635A7-C3EC-101D-200C-F8CB95ACF1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C2BCB0-D70D-772B-7642-EA531F68F99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893B67-1139-DA5E-304C-B3B8C273A8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2BE52-1D88-5D63-A568-043EDA63EFCE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1022FD9C-87AE-DE88-1F45-0707C4F67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58" y="2125181"/>
            <a:ext cx="9321483" cy="435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F27D4E-5908-2592-4981-F9EF9FA044CD}"/>
              </a:ext>
            </a:extLst>
          </p:cNvPr>
          <p:cNvSpPr txBox="1">
            <a:spLocks/>
          </p:cNvSpPr>
          <p:nvPr/>
        </p:nvSpPr>
        <p:spPr>
          <a:xfrm>
            <a:off x="838200" y="1282565"/>
            <a:ext cx="10515600" cy="109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3.1.2 Deflection Calculation – (</a:t>
            </a:r>
            <a:r>
              <a:rPr lang="en-US" sz="2400" b="1" i="1" dirty="0">
                <a:solidFill>
                  <a:sysClr val="windowText" lastClr="000000"/>
                </a:solidFill>
              </a:rPr>
              <a:t>Using Switch Case to enforce Deflection Limit of </a:t>
            </a:r>
            <a:r>
              <a:rPr lang="en-US" sz="2400" b="1" i="1" dirty="0">
                <a:solidFill>
                  <a:srgbClr val="FF0000"/>
                </a:solidFill>
              </a:rPr>
              <a:t>8</a:t>
            </a:r>
            <a:r>
              <a:rPr lang="en-US" sz="2400" b="1" i="1" dirty="0">
                <a:solidFill>
                  <a:sysClr val="windowText" lastClr="000000"/>
                </a:solidFill>
              </a:rPr>
              <a:t> – </a:t>
            </a:r>
            <a:r>
              <a:rPr lang="en-US" sz="2400" b="1" i="1" dirty="0">
                <a:solidFill>
                  <a:srgbClr val="FF0000"/>
                </a:solidFill>
              </a:rPr>
              <a:t>9</a:t>
            </a:r>
            <a:r>
              <a:rPr lang="en-US" sz="2400" b="1" i="1" dirty="0">
                <a:solidFill>
                  <a:sysClr val="windowText" lastClr="000000"/>
                </a:solidFill>
              </a:rPr>
              <a:t> m</a:t>
            </a:r>
            <a:r>
              <a:rPr lang="en-US" sz="2400" b="1" dirty="0">
                <a:solidFill>
                  <a:sysClr val="windowText" lastClr="000000"/>
                </a:solidFill>
              </a:rPr>
              <a:t>) –</a:t>
            </a:r>
          </a:p>
        </p:txBody>
      </p:sp>
    </p:spTree>
    <p:extLst>
      <p:ext uri="{BB962C8B-B14F-4D97-AF65-F5344CB8AC3E}">
        <p14:creationId xmlns:p14="http://schemas.microsoft.com/office/powerpoint/2010/main" val="213846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7B9C-F14F-4ED6-4BC9-55C462EB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CB2E9-5805-9E65-F542-7A2ACCF440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A9A8BF-82CD-DD13-D18F-968A2B0D45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D1E0D5-D8A8-29CC-8E14-A6D0135E71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A7899D0-EAAC-FD0C-DB04-697FFF5E6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FF82FF-F591-4693-E2CE-DBE438A6054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60D36-4FB9-75AF-3715-3E33CC5FEB5F}"/>
              </a:ext>
            </a:extLst>
          </p:cNvPr>
          <p:cNvSpPr txBox="1"/>
          <p:nvPr/>
        </p:nvSpPr>
        <p:spPr>
          <a:xfrm>
            <a:off x="776090" y="1705476"/>
            <a:ext cx="55960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 result which we got after executing the MATLAB code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 Max deflection we got is </a:t>
            </a:r>
            <a:r>
              <a:rPr lang="en-US" sz="2200" b="1" dirty="0">
                <a:solidFill>
                  <a:srgbClr val="FF0000"/>
                </a:solidFill>
              </a:rPr>
              <a:t>15.96 </a:t>
            </a:r>
            <a:r>
              <a:rPr lang="en-US" sz="2200" b="1" dirty="0"/>
              <a:t>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We have limited the maximum deflection to </a:t>
            </a:r>
            <a:r>
              <a:rPr lang="en-US" sz="2200" b="1" dirty="0">
                <a:solidFill>
                  <a:srgbClr val="FF0000"/>
                </a:solidFill>
              </a:rPr>
              <a:t>8.5</a:t>
            </a:r>
            <a:r>
              <a:rPr lang="en-US" sz="2200" b="1" dirty="0"/>
              <a:t> m</a:t>
            </a:r>
            <a:r>
              <a:rPr lang="en-US" sz="2200" dirty="0"/>
              <a:t> as per our design requirements by altering the thickness of these spar caps and webs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E97C8-97A7-E10A-7BBE-A3224C8B028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ABAEBD4-A1A7-B1FF-854D-FF68984612F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66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3.1.3 Results 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27793-6CFE-5B18-8589-ADFE9E93B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4677" y="1426945"/>
            <a:ext cx="4609123" cy="496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945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54F5-18A2-BA08-0093-42AB3D70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3061E-4F97-A135-F5CA-EF63D004C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E2D60B9-719B-42C8-2C57-EF20C7B199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2C7B1D-F975-EE33-47EA-629574486B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28647FA-AC0F-3B77-4B1D-E18C4AD22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EA85D-62B7-0246-B0FB-8C2F757F4AC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 –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298FFC-73B6-9DDA-E0F3-BA146D258EA6}"/>
              </a:ext>
            </a:extLst>
          </p:cNvPr>
          <p:cNvSpPr txBox="1">
            <a:spLocks/>
          </p:cNvSpPr>
          <p:nvPr/>
        </p:nvSpPr>
        <p:spPr>
          <a:xfrm>
            <a:off x="838200" y="1282565"/>
            <a:ext cx="10515600" cy="960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3.1.3 Results –</a:t>
            </a:r>
          </a:p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	a.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Plots from MATLAB for Bending </a:t>
            </a:r>
            <a:r>
              <a:rPr kumimoji="0" lang="en-IN" sz="2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Analysis with 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Deflection Limit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8.5 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m)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–</a:t>
            </a:r>
          </a:p>
          <a:p>
            <a:pPr marL="0" indent="0">
              <a:buNone/>
            </a:pPr>
            <a:endParaRPr lang="en-US" sz="2400" b="1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F64E7-57DE-8AD3-4CB8-A77D554FE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9523" y="2242686"/>
            <a:ext cx="6474092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48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C83A-A16B-17DA-0E07-8776EF89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E8D4E3-AEDB-5404-A6F4-C14A30D995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A5D10F4-3D8B-BE59-D588-6179C3E0E0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57BFD8-731E-CAF2-B6FE-C332C23D6C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A5CF2AB-12CC-4DB4-20ED-2D1893250B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F8864-8E83-674D-E945-9F5D071AADA5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4. Pre-Bend in Rotor Blades 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D944E3-A209-9792-9ECB-42EACE3B9C33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72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 sz="24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3CF1C-B9AF-CA04-7A33-387D3732D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0365" y="1538797"/>
            <a:ext cx="6396640" cy="4356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7E76CC-FE95-7026-C4FA-B3060F934B7A}"/>
              </a:ext>
            </a:extLst>
          </p:cNvPr>
          <p:cNvSpPr txBox="1"/>
          <p:nvPr/>
        </p:nvSpPr>
        <p:spPr>
          <a:xfrm>
            <a:off x="685800" y="1645477"/>
            <a:ext cx="435960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Pre-bend is the intentional curvature built into a wind turbine blade to keep the blade tip away from the tower, ensuring it straightens under load and avoids tower strikes.</a:t>
            </a:r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It is essential for long flexible blades as it provides extra tower clearance, prevents tower strike, more cost-efficient </a:t>
            </a:r>
            <a:r>
              <a:rPr lang="en-US" sz="2200" b="1" dirty="0">
                <a:solidFill>
                  <a:srgbClr val="FF0000"/>
                </a:solidFill>
              </a:rPr>
              <a:t>spar cap design</a:t>
            </a:r>
            <a:r>
              <a:rPr lang="en-US" sz="2200" dirty="0"/>
              <a:t> without compromising safety under extreme wind loads.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0014BD-34E1-E06D-E571-637DBCFC0277}"/>
              </a:ext>
            </a:extLst>
          </p:cNvPr>
          <p:cNvSpPr txBox="1">
            <a:spLocks/>
          </p:cNvSpPr>
          <p:nvPr/>
        </p:nvSpPr>
        <p:spPr>
          <a:xfrm>
            <a:off x="838200" y="1277187"/>
            <a:ext cx="10740992" cy="52322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4.1 Pre-Bend –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08057-6C83-5A80-642C-8E76205FD3C0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A computational procedure for pre-bending of wind turbine blades. University of California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406031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8A4E-0EE4-63DF-BC30-5E5D4318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215BE2-616F-F6F7-FFE4-F68A22F4C7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2D7FA73-C7F0-090D-5C26-7E4D4B918B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A17965-8194-DFD4-38A6-148615E712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5E4115A-3416-6299-3DEC-CBA7EE738E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DC7F4-A973-FC82-DEC5-488E30EEE3B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4. Pre-Bend in Rotor Blades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E1094C-3F63-89A4-AE9A-5E1AF73A048F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72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5CBE8-E4B1-75A4-2DF8-ACE3CF29B8E7}"/>
              </a:ext>
            </a:extLst>
          </p:cNvPr>
          <p:cNvSpPr txBox="1"/>
          <p:nvPr/>
        </p:nvSpPr>
        <p:spPr>
          <a:xfrm>
            <a:off x="950896" y="1696533"/>
            <a:ext cx="105156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a. NREL 5 MW 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For NREL 5MW turbine (61.5m), the blade is defined as perfectly straight along the pitch axis with </a:t>
            </a:r>
            <a:r>
              <a:rPr lang="en-US" sz="2200" b="1" dirty="0"/>
              <a:t>NO </a:t>
            </a:r>
            <a:r>
              <a:rPr lang="en-US" sz="2200" dirty="0"/>
              <a:t>Pre – Bending as it is a theoretical Reference turbine, but with a cone angle of 2.5°.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For the Optimus Shakti WEC 2024 (87 m), the blade is designed with a </a:t>
            </a:r>
            <a:r>
              <a:rPr lang="en-US" sz="2200" b="1" dirty="0"/>
              <a:t>pre-bend of 3.5 m</a:t>
            </a:r>
            <a:r>
              <a:rPr lang="en-US" sz="2200" dirty="0"/>
              <a:t> and a cone angle of 2.5°.</a:t>
            </a:r>
            <a:br>
              <a:rPr lang="en-US" sz="2200" dirty="0"/>
            </a:br>
            <a:endParaRPr lang="en-US" sz="2200" dirty="0"/>
          </a:p>
          <a:p>
            <a:r>
              <a:rPr lang="en-US" sz="2200" b="1" dirty="0"/>
              <a:t>b. Optimus Syria WEC 2025 (78m) 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The provided Cone angle from the Management Team is 4.0 °.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Consider safety factor of (1.35x) as per IEC standards defining the pre-bend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Cone angle Contribution must be calculated as well for defining the Pre-bend value.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51427A-5A68-5FAE-FEA0-7F3400DFDF43}"/>
              </a:ext>
            </a:extLst>
          </p:cNvPr>
          <p:cNvSpPr txBox="1">
            <a:spLocks/>
          </p:cNvSpPr>
          <p:nvPr/>
        </p:nvSpPr>
        <p:spPr>
          <a:xfrm>
            <a:off x="838200" y="1277187"/>
            <a:ext cx="10740992" cy="52322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4.1 Pre-Bend – </a:t>
            </a:r>
          </a:p>
        </p:txBody>
      </p:sp>
    </p:spTree>
    <p:extLst>
      <p:ext uri="{BB962C8B-B14F-4D97-AF65-F5344CB8AC3E}">
        <p14:creationId xmlns:p14="http://schemas.microsoft.com/office/powerpoint/2010/main" val="2900209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8E45-CA62-8E0F-A3C4-362BAC4B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D6BB29-42AC-CC88-5A2C-045C559311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D32C4A4-6278-46A9-5979-C9A976110C5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2655EF-026F-089A-D723-F84492AD0F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E356564-F329-0AC9-A0C4-F59CCDF0E4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04491-E84B-48D7-6FED-C7B0317F0629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4. Pre-Bend in Rotor Blades 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2BD7D8-491D-8D59-A983-7E3FD6EDE9D7}"/>
              </a:ext>
            </a:extLst>
          </p:cNvPr>
          <p:cNvSpPr txBox="1">
            <a:spLocks/>
          </p:cNvSpPr>
          <p:nvPr/>
        </p:nvSpPr>
        <p:spPr>
          <a:xfrm>
            <a:off x="838199" y="1800406"/>
            <a:ext cx="10740991" cy="4552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Formula for calculating Pre – Bend, Cone Benefit, Static Space –</a:t>
            </a:r>
          </a:p>
          <a:p>
            <a:pPr marL="914400" lvl="2" indent="0">
              <a:buNone/>
            </a:pPr>
            <a:r>
              <a:rPr lang="en-IN" sz="32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Pre-Bend = </a:t>
            </a:r>
            <a:r>
              <a:rPr lang="en-IN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Space </a:t>
            </a: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(</a:t>
            </a:r>
            <a:r>
              <a:rPr lang="en-IN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Overhang</a:t>
            </a: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 Benefit</a:t>
            </a: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Cone Benefit = </a:t>
            </a:r>
            <a:r>
              <a:rPr lang="en-IN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Blade Length</a:t>
            </a: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× sin(</a:t>
            </a:r>
            <a:r>
              <a:rPr lang="el-GR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endParaRPr lang="en-US" sz="2200" b="1" dirty="0">
              <a:solidFill>
                <a:sysClr val="windowText" lastClr="000000"/>
              </a:solidFill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(Note – </a:t>
            </a:r>
            <a:r>
              <a:rPr lang="en-US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For Optimus Syria (78 m Blade) Cone angle is 4</a:t>
            </a:r>
            <a:r>
              <a:rPr lang="en-US" sz="2200" dirty="0"/>
              <a:t> °. So, Cone Benefit = </a:t>
            </a:r>
            <a:r>
              <a:rPr lang="en-US" sz="2200" b="1" dirty="0"/>
              <a:t>5.44m)</a:t>
            </a:r>
          </a:p>
          <a:p>
            <a:pPr marL="457200" lvl="1" indent="0">
              <a:buNone/>
            </a:pPr>
            <a:endParaRPr lang="en-US" sz="2200" b="1" i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Static Space = 1.35 </a:t>
            </a:r>
            <a:r>
              <a:rPr lang="en-IN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Deflection</a:t>
            </a:r>
            <a:r>
              <a:rPr lang="en-US" sz="2600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i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=</a:t>
            </a:r>
            <a:r>
              <a:rPr lang="en-US" b="1" i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11.47 m ( for Optimus Syria)</a:t>
            </a:r>
            <a:r>
              <a:rPr lang="en-IN" sz="2200" b="1" i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			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1600" dirty="0">
              <a:solidFill>
                <a:sysClr val="windowText" lastClr="000000"/>
              </a:solidFill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Consider, the overhang value as </a:t>
            </a:r>
            <a:r>
              <a:rPr lang="en-I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2.5</a:t>
            </a:r>
            <a:r>
              <a:rPr lang="en-IN" sz="2200" b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 m</a:t>
            </a: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 ( Hub team need to confirm)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So, we get the final </a:t>
            </a:r>
            <a:r>
              <a:rPr lang="en-IN" sz="2200" b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Pre-Bend</a:t>
            </a: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 value as </a:t>
            </a:r>
            <a:r>
              <a:rPr lang="en-I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3.5 </a:t>
            </a:r>
            <a:r>
              <a:rPr lang="en-IN" sz="2200" b="1" dirty="0">
                <a:cs typeface="Times New Roman" panose="02020603050405020304" pitchFamily="18" charset="0"/>
              </a:rPr>
              <a:t>m</a:t>
            </a:r>
            <a:endParaRPr lang="en-US" sz="2200" dirty="0">
              <a:solidFill>
                <a:sysClr val="windowText" lastClr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20BEFA-7530-EE80-139E-9866A6B808E7}"/>
              </a:ext>
            </a:extLst>
          </p:cNvPr>
          <p:cNvSpPr txBox="1">
            <a:spLocks/>
          </p:cNvSpPr>
          <p:nvPr/>
        </p:nvSpPr>
        <p:spPr>
          <a:xfrm>
            <a:off x="838200" y="1277187"/>
            <a:ext cx="10740992" cy="52322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4.1 Pre-Bend – (</a:t>
            </a:r>
            <a:r>
              <a:rPr lang="en-IN" sz="2400" b="1" i="1" dirty="0">
                <a:solidFill>
                  <a:srgbClr val="FF0000"/>
                </a:solidFill>
              </a:rPr>
              <a:t>formulas</a:t>
            </a:r>
            <a:r>
              <a:rPr lang="en-IN" sz="2400" b="1" dirty="0">
                <a:solidFill>
                  <a:sysClr val="windowText" lastClr="000000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222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3E57-86C2-9CF9-0C44-482B342B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F71B05-BA94-86A9-C9FE-2C848B00BA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BFBAF94-82CA-0BF1-5F5D-FAF42BD50A9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80A689-F3B5-11E7-0EB9-ED40764313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48EDC3A-020F-6D67-0C7A-EDECA5521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B2F82-CAB5-C517-C08F-7730E44442A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4. Pre-Bend in Rotor Blades 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E54616-445F-0084-8984-34383D261DC8}"/>
              </a:ext>
            </a:extLst>
          </p:cNvPr>
          <p:cNvSpPr txBox="1">
            <a:spLocks/>
          </p:cNvSpPr>
          <p:nvPr/>
        </p:nvSpPr>
        <p:spPr>
          <a:xfrm>
            <a:off x="838200" y="1458834"/>
            <a:ext cx="10515600" cy="4195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2400" dirty="0">
              <a:solidFill>
                <a:sysClr val="windowText" lastClr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shot of a computer screen">
            <a:extLst>
              <a:ext uri="{FF2B5EF4-FFF2-40B4-BE49-F238E27FC236}">
                <a16:creationId xmlns:a16="http://schemas.microsoft.com/office/drawing/2014/main" id="{3EF66B5B-CCE8-B630-F7C9-FA9F5B21A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473692"/>
            <a:ext cx="5404939" cy="4046401"/>
          </a:xfrm>
          <a:prstGeom prst="rect">
            <a:avLst/>
          </a:prstGeom>
        </p:spPr>
      </p:pic>
      <p:pic>
        <p:nvPicPr>
          <p:cNvPr id="16" name="Picture 15" descr="A graph of a graph">
            <a:extLst>
              <a:ext uri="{FF2B5EF4-FFF2-40B4-BE49-F238E27FC236}">
                <a16:creationId xmlns:a16="http://schemas.microsoft.com/office/drawing/2014/main" id="{A0653EB4-1194-2898-827D-776801335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391" y="2474935"/>
            <a:ext cx="6032810" cy="404515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B86391-82D9-5E7E-29A4-1C6DC8F491A3}"/>
              </a:ext>
            </a:extLst>
          </p:cNvPr>
          <p:cNvSpPr txBox="1">
            <a:spLocks/>
          </p:cNvSpPr>
          <p:nvPr/>
        </p:nvSpPr>
        <p:spPr>
          <a:xfrm>
            <a:off x="838200" y="1277187"/>
            <a:ext cx="10740992" cy="119650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4.1 Pre-Bend – (</a:t>
            </a:r>
            <a:r>
              <a:rPr lang="en-IN" sz="2400" b="1" i="1" dirty="0">
                <a:solidFill>
                  <a:srgbClr val="FF0000"/>
                </a:solidFill>
              </a:rPr>
              <a:t>contd.</a:t>
            </a:r>
            <a:r>
              <a:rPr lang="en-IN" sz="2400" b="1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sz="2000" b="1" dirty="0">
                <a:solidFill>
                  <a:sysClr val="windowText" lastClr="000000"/>
                </a:solidFill>
              </a:rPr>
              <a:t>For 0 m– 15 m : </a:t>
            </a:r>
            <a:r>
              <a:rPr lang="en-US" sz="2000" b="1" dirty="0">
                <a:solidFill>
                  <a:srgbClr val="FF0000"/>
                </a:solidFill>
              </a:rPr>
              <a:t>No Pre- bend  </a:t>
            </a:r>
            <a:r>
              <a:rPr lang="en-US" sz="2000" b="1" dirty="0">
                <a:solidFill>
                  <a:sysClr val="windowText" lastClr="000000"/>
                </a:solidFill>
              </a:rPr>
              <a:t>(Straight root for manufacturing/transport).</a:t>
            </a:r>
          </a:p>
          <a:p>
            <a:r>
              <a:rPr lang="en-US" sz="2000" b="1" dirty="0">
                <a:solidFill>
                  <a:sysClr val="windowText" lastClr="000000"/>
                </a:solidFill>
              </a:rPr>
              <a:t>From 15 m – 78 m : Parabolic curve increasing to the maximum value at the tip</a:t>
            </a:r>
          </a:p>
          <a:p>
            <a:pPr marL="0" indent="0">
              <a:buNone/>
            </a:pPr>
            <a:endParaRPr lang="en-IN" sz="2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032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50E8-0674-8079-EB75-7F317AD0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4FA66D-EFDA-D709-837B-60AA3356A0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FD47C20-D3D2-F9A6-3AE1-E9B15CB805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7CA578C-AF04-AF8C-8B0E-DF0B10B017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18FAD35-68EF-FF2A-9A27-DA2D08BDE6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4C52B-F2DA-33EC-1102-30C9DEB45BF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5. Tower Clearance 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3943C7-0568-5FA7-FD88-2D2B2D6BC6DB}"/>
              </a:ext>
            </a:extLst>
          </p:cNvPr>
          <p:cNvSpPr txBox="1">
            <a:spLocks/>
          </p:cNvSpPr>
          <p:nvPr/>
        </p:nvSpPr>
        <p:spPr>
          <a:xfrm>
            <a:off x="838200" y="2566384"/>
            <a:ext cx="10515600" cy="266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IN" b="1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Tower Clearance = Static Space – Deflection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IN" sz="24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= 11.47 m  – 8.5 m  = 2.97 m</a:t>
            </a:r>
            <a:br>
              <a:rPr lang="en-IN" sz="24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</a:br>
            <a:endParaRPr lang="en-IN" sz="2400" dirty="0">
              <a:solidFill>
                <a:sysClr val="windowText" lastClr="000000"/>
              </a:solidFill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Tower clearance as per Optimus Shakti reports it is around ~ 4.68m for a deflection of </a:t>
            </a:r>
            <a:r>
              <a:rPr lang="en-I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9.5 </a:t>
            </a:r>
            <a:r>
              <a:rPr lang="en-IN" sz="2200" b="1" dirty="0">
                <a:cs typeface="Times New Roman" panose="02020603050405020304" pitchFamily="18" charset="0"/>
              </a:rPr>
              <a:t>m</a:t>
            </a: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 (reference from Shakti Data)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For Optimus Syria the tower clearance would be around ~ </a:t>
            </a:r>
            <a:r>
              <a:rPr lang="en-I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2.97</a:t>
            </a:r>
            <a:r>
              <a:rPr lang="en-IN" sz="2200" b="1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 m</a:t>
            </a:r>
            <a:endParaRPr lang="en-IN" sz="2200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B5834A-AE18-8249-EAD8-71145C56B8A5}"/>
              </a:ext>
            </a:extLst>
          </p:cNvPr>
          <p:cNvSpPr txBox="1">
            <a:spLocks/>
          </p:cNvSpPr>
          <p:nvPr/>
        </p:nvSpPr>
        <p:spPr>
          <a:xfrm>
            <a:off x="838200" y="1277187"/>
            <a:ext cx="10740992" cy="119650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5.1 Tower Clearance – (</a:t>
            </a:r>
            <a:r>
              <a:rPr lang="en-IN" sz="2400" b="1" i="1" dirty="0">
                <a:solidFill>
                  <a:srgbClr val="FF0000"/>
                </a:solidFill>
              </a:rPr>
              <a:t>formulas</a:t>
            </a:r>
            <a:r>
              <a:rPr lang="en-IN" sz="2400" b="1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sz="2000" b="1" dirty="0">
                <a:solidFill>
                  <a:sysClr val="windowText" lastClr="000000"/>
                </a:solidFill>
              </a:rPr>
              <a:t>For 0 m– 15 m: </a:t>
            </a:r>
            <a:r>
              <a:rPr lang="en-US" sz="2000" b="1" dirty="0">
                <a:solidFill>
                  <a:srgbClr val="FF0000"/>
                </a:solidFill>
              </a:rPr>
              <a:t>No Pre</a:t>
            </a:r>
            <a:r>
              <a:rPr lang="en-US" sz="2000" b="1" dirty="0"/>
              <a:t>-</a:t>
            </a:r>
            <a:r>
              <a:rPr lang="en-US" sz="2000" b="1" dirty="0">
                <a:solidFill>
                  <a:srgbClr val="FF0000"/>
                </a:solidFill>
              </a:rPr>
              <a:t>bend  </a:t>
            </a:r>
            <a:r>
              <a:rPr lang="en-US" sz="2000" b="1" dirty="0">
                <a:solidFill>
                  <a:sysClr val="windowText" lastClr="000000"/>
                </a:solidFill>
              </a:rPr>
              <a:t>(</a:t>
            </a:r>
            <a:r>
              <a:rPr lang="en-US" sz="2000" b="1" i="1" dirty="0">
                <a:solidFill>
                  <a:sysClr val="windowText" lastClr="000000"/>
                </a:solidFill>
              </a:rPr>
              <a:t>Straight root for manufacturing/transport</a:t>
            </a:r>
            <a:r>
              <a:rPr lang="en-US" sz="2000" b="1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sz="2000" b="1" dirty="0">
                <a:solidFill>
                  <a:sysClr val="windowText" lastClr="000000"/>
                </a:solidFill>
              </a:rPr>
              <a:t>For 15 m – 78 m: Parabolic curve increasing to the maximum value at the tip</a:t>
            </a:r>
          </a:p>
          <a:p>
            <a:pPr marL="0" indent="0">
              <a:buNone/>
            </a:pPr>
            <a:endParaRPr lang="en-IN" sz="2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125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2558</TotalTime>
  <Words>1089</Words>
  <Application>Microsoft Office PowerPoint</Application>
  <PresentationFormat>Widescreen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280</cp:revision>
  <dcterms:created xsi:type="dcterms:W3CDTF">2025-10-05T16:20:08Z</dcterms:created>
  <dcterms:modified xsi:type="dcterms:W3CDTF">2025-12-08T16:37:23Z</dcterms:modified>
</cp:coreProperties>
</file>