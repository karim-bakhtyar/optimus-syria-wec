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1"/>
  </p:notesMasterIdLst>
  <p:handoutMasterIdLst>
    <p:handoutMasterId r:id="rId12"/>
  </p:handoutMasterIdLst>
  <p:sldIdLst>
    <p:sldId id="270" r:id="rId3"/>
    <p:sldId id="259" r:id="rId4"/>
    <p:sldId id="272" r:id="rId5"/>
    <p:sldId id="273" r:id="rId6"/>
    <p:sldId id="274" r:id="rId7"/>
    <p:sldId id="275" r:id="rId8"/>
    <p:sldId id="27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72"/>
            <p14:sldId id="273"/>
            <p14:sldId id="274"/>
            <p14:sldId id="275"/>
            <p14:sldId id="276"/>
            <p14:sldId id="267"/>
          </p14:sldIdLst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404" autoAdjust="0"/>
  </p:normalViewPr>
  <p:slideViewPr>
    <p:cSldViewPr snapToGrid="0">
      <p:cViewPr varScale="1">
        <p:scale>
          <a:sx n="78" d="100"/>
          <a:sy n="78" d="100"/>
        </p:scale>
        <p:origin x="38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024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0731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91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77647278_Petroleum_Systems_of_Syria/figures?lo=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FEA9E435-1738-7D95-8565-A990E4438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137" y="2212165"/>
            <a:ext cx="10369726" cy="912598"/>
          </a:xfrm>
        </p:spPr>
        <p:txBody>
          <a:bodyPr/>
          <a:lstStyle/>
          <a:p>
            <a:r>
              <a:rPr lang="en-GB" dirty="0"/>
              <a:t>Weekly report: Team Project Development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63E18F3-41FB-B5AE-43D3-9203434B5F0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181108" y="4626114"/>
            <a:ext cx="7829784" cy="627065"/>
          </a:xfrm>
        </p:spPr>
        <p:txBody>
          <a:bodyPr/>
          <a:lstStyle/>
          <a:p>
            <a:r>
              <a:rPr lang="en-GB" sz="1600" dirty="0"/>
              <a:t>Group members: Sohil Mansuri, </a:t>
            </a:r>
            <a:r>
              <a:rPr lang="tr-TR" sz="1600" dirty="0"/>
              <a:t>Luis Urhahn, Ahmed Sallam, Ceren </a:t>
            </a:r>
            <a:r>
              <a:rPr lang="tr-TR" sz="1600" dirty="0" err="1"/>
              <a:t>Cetin</a:t>
            </a:r>
            <a:endParaRPr lang="en-GB" sz="1600" dirty="0"/>
          </a:p>
          <a:p>
            <a:r>
              <a:rPr lang="en-GB" sz="1600" dirty="0"/>
              <a:t>Presenter: Sila Ceren Cetin</a:t>
            </a:r>
            <a:endParaRPr lang="en-GB" sz="1600" b="1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 dirty="0"/>
              <a:t>18/11/2025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Project Development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7ED1BF-5D66-636D-5730-97FE37F448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0DF395A-2830-9AA6-9F70-51EE213DECC2}"/>
              </a:ext>
            </a:extLst>
          </p:cNvPr>
          <p:cNvSpPr txBox="1">
            <a:spLocks/>
          </p:cNvSpPr>
          <p:nvPr/>
        </p:nvSpPr>
        <p:spPr>
          <a:xfrm>
            <a:off x="1524000" y="34290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number: 11</a:t>
            </a:r>
          </a:p>
          <a:p>
            <a:r>
              <a:rPr lang="it-IT" sz="2000" dirty="0"/>
              <a:t>Date: 9/12/2025</a:t>
            </a:r>
          </a:p>
          <a:p>
            <a:r>
              <a:rPr lang="it-IT" sz="2000" dirty="0"/>
              <a:t>Supervisor: Dr. Marina Blohm</a:t>
            </a:r>
          </a:p>
        </p:txBody>
      </p:sp>
    </p:spTree>
    <p:extLst>
      <p:ext uri="{BB962C8B-B14F-4D97-AF65-F5344CB8AC3E}">
        <p14:creationId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C666DE2-1276-7519-CD3A-64862C4F70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64640"/>
            <a:ext cx="10515600" cy="4612323"/>
          </a:xfrm>
        </p:spPr>
        <p:txBody>
          <a:bodyPr anchor="ctr"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Battery</a:t>
            </a:r>
            <a:r>
              <a:rPr lang="de-DE" dirty="0"/>
              <a:t> Storage</a:t>
            </a:r>
          </a:p>
          <a:p>
            <a:pPr lvl="0"/>
            <a:r>
              <a:rPr lang="de-DE" dirty="0" err="1"/>
              <a:t>Earthquake</a:t>
            </a:r>
            <a:r>
              <a:rPr lang="de-DE" dirty="0"/>
              <a:t> Evaluation </a:t>
            </a:r>
          </a:p>
          <a:p>
            <a:pPr lvl="0"/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Transportation Analysis</a:t>
            </a:r>
          </a:p>
          <a:p>
            <a:pPr lvl="0"/>
            <a:endParaRPr lang="de-DE" dirty="0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23" name="Datumsplatzhalter 22">
            <a:extLst>
              <a:ext uri="{FF2B5EF4-FFF2-40B4-BE49-F238E27FC236}">
                <a16:creationId xmlns:a16="http://schemas.microsoft.com/office/drawing/2014/main" id="{278CF838-7112-4F3F-EAE6-B2D4ED8F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18/11/2025</a:t>
            </a:r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7A4CB245-78A9-C73E-8215-8D18B273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Development / Optimus Syria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B50A548-9038-155C-8BC6-63C2D94B9A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Sila Ceren Cetin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6844F-A97C-550B-A3BA-8F7A6126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456BE8-52FA-7979-56DE-07783ABB8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Battery Storage – Placement &amp; Key Restrictions</a:t>
            </a:r>
            <a:br>
              <a:rPr lang="en-US" dirty="0"/>
            </a:br>
            <a:endParaRPr lang="tr-TR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E26DE-87F8-849B-6318-E6148DC5054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45158-397A-0E7C-C731-F7C122066E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Project Development /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C7979-769B-2CF8-C9D8-79D96044E6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044650-58E4-14FF-6272-417B1F847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000" y="6564113"/>
            <a:ext cx="5596613" cy="3657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123675-7ACF-2D88-1608-670A78F7BDB8}"/>
              </a:ext>
            </a:extLst>
          </p:cNvPr>
          <p:cNvSpPr txBox="1"/>
          <p:nvPr/>
        </p:nvSpPr>
        <p:spPr>
          <a:xfrm>
            <a:off x="454768" y="1342658"/>
            <a:ext cx="1067934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Location Strategy:</a:t>
            </a:r>
            <a:br>
              <a:rPr lang="en-US" b="0" i="0" dirty="0">
                <a:effectLst/>
                <a:latin typeface="fkGroteskNeue"/>
              </a:rPr>
            </a:br>
            <a:r>
              <a:rPr lang="tr-TR" b="0" i="0" dirty="0">
                <a:effectLst/>
                <a:latin typeface="fkGroteskNeue"/>
              </a:rPr>
              <a:t>Place </a:t>
            </a:r>
            <a:r>
              <a:rPr lang="en-US" b="0" i="0" dirty="0">
                <a:effectLst/>
                <a:latin typeface="fkGroteskNeue"/>
              </a:rPr>
              <a:t>near the wind farm substation or collector station to minimize cable length, electrical losses, and connection costs.​</a:t>
            </a:r>
            <a:r>
              <a:rPr lang="tr-TR" b="0" i="0" dirty="0">
                <a:effectLst/>
                <a:latin typeface="fkGroteskNeue"/>
              </a:rPr>
              <a:t> [4]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Site Selection Criteria:</a:t>
            </a:r>
            <a:br>
              <a:rPr lang="en-US" b="0" i="0" dirty="0">
                <a:effectLst/>
                <a:latin typeface="fkGroteskNeue"/>
              </a:rPr>
            </a:br>
            <a:r>
              <a:rPr lang="tr-TR" dirty="0">
                <a:latin typeface="fkGroteskNeue"/>
              </a:rPr>
              <a:t>F</a:t>
            </a:r>
            <a:r>
              <a:rPr lang="en-US" b="0" i="0" dirty="0" err="1">
                <a:effectLst/>
                <a:latin typeface="fkGroteskNeue"/>
              </a:rPr>
              <a:t>lat</a:t>
            </a:r>
            <a:r>
              <a:rPr lang="en-US" b="0" i="0" dirty="0">
                <a:effectLst/>
                <a:latin typeface="fkGroteskNeue"/>
              </a:rPr>
              <a:t>, stable ground outside flood zones, with direct road access for maintenance and emergency vehicles.​</a:t>
            </a:r>
            <a:r>
              <a:rPr lang="tr-TR" b="0" i="0" dirty="0">
                <a:effectLst/>
                <a:latin typeface="fkGroteskNeue"/>
              </a:rPr>
              <a:t> [5]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/>
            <a:r>
              <a:rPr lang="en-US" b="1" i="0" dirty="0">
                <a:effectLst/>
                <a:latin typeface="fkGroteskNeue"/>
              </a:rPr>
              <a:t>Fire &amp; Safety Codes – Setback Requirements:</a:t>
            </a:r>
            <a:endParaRPr lang="tr-TR" b="0" i="0" dirty="0">
              <a:effectLst/>
              <a:latin typeface="fkGrotesk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5–10 m from public roads; </a:t>
            </a:r>
            <a:r>
              <a:rPr lang="tr-TR" b="0" i="0" dirty="0">
                <a:effectLst/>
                <a:latin typeface="fkGroteskNeue"/>
              </a:rPr>
              <a:t>m</a:t>
            </a:r>
            <a:r>
              <a:rPr lang="en-US" dirty="0" err="1">
                <a:latin typeface="fkGroteskNeue"/>
              </a:rPr>
              <a:t>inimum</a:t>
            </a:r>
            <a:r>
              <a:rPr lang="en-US" dirty="0">
                <a:latin typeface="fkGroteskNeue"/>
              </a:rPr>
              <a:t> 10–15 m setback from buildings</a:t>
            </a:r>
            <a:r>
              <a:rPr lang="tr-TR" dirty="0">
                <a:latin typeface="fkGroteskNeue"/>
              </a:rPr>
              <a:t>,</a:t>
            </a:r>
            <a:endParaRPr lang="tr-TR" b="0" i="0" dirty="0">
              <a:effectLst/>
              <a:latin typeface="fkGrotesk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tr-TR" dirty="0">
                <a:latin typeface="fkGroteskNeue"/>
              </a:rPr>
              <a:t>F</a:t>
            </a:r>
            <a:r>
              <a:rPr lang="en-US" b="0" i="0" dirty="0">
                <a:effectLst/>
                <a:latin typeface="fkGroteskNeue"/>
              </a:rPr>
              <a:t>ire-suppression systems, smoke detection, and emergency escape routes mandatory. ​</a:t>
            </a:r>
            <a:r>
              <a:rPr lang="tr-TR" b="0" i="0" dirty="0">
                <a:effectLst/>
                <a:latin typeface="fkGroteskNeue"/>
              </a:rPr>
              <a:t>[7]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Environmental Compliance:</a:t>
            </a:r>
            <a:br>
              <a:rPr lang="en-US" b="0" i="0" dirty="0">
                <a:effectLst/>
                <a:latin typeface="fkGroteskNeue"/>
              </a:rPr>
            </a:br>
            <a:r>
              <a:rPr lang="en-US" b="0" i="0" dirty="0">
                <a:effectLst/>
                <a:latin typeface="fkGroteskNeue"/>
              </a:rPr>
              <a:t>Spill containment systems prevent battery electrolyte leakage into soil or groundwater; site includes fencing, warning signs, lightning protection, and local zoning compliance.​</a:t>
            </a:r>
            <a:r>
              <a:rPr lang="tr-TR" b="0" i="0" dirty="0">
                <a:effectLst/>
                <a:latin typeface="fkGroteskNeue"/>
              </a:rPr>
              <a:t> [6]</a:t>
            </a:r>
          </a:p>
          <a:p>
            <a:pPr algn="l">
              <a:buNone/>
            </a:pPr>
            <a:endParaRPr lang="tr-TR" dirty="0"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Applicable Standards:</a:t>
            </a:r>
            <a:br>
              <a:rPr lang="en-US" b="0" i="0" dirty="0">
                <a:effectLst/>
                <a:latin typeface="fkGroteskNeue"/>
              </a:rPr>
            </a:br>
            <a:r>
              <a:rPr lang="en-US" b="0" i="0" dirty="0">
                <a:effectLst/>
                <a:latin typeface="fkGroteskNeue"/>
              </a:rPr>
              <a:t>Follow NFPA 855 (fire safety) and UL 9540A (energy storage testing). Syria has no wind-specific BESS restrictions but requires compliance with general safety and planning regulations.</a:t>
            </a:r>
            <a:r>
              <a:rPr lang="tr-TR" b="0" i="0" dirty="0">
                <a:effectLst/>
                <a:latin typeface="fkGroteskNeue"/>
              </a:rPr>
              <a:t> [7]</a:t>
            </a: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790992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0FD33-D520-6A49-E725-8D08F1C58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9D6F3CB0-30D1-1C0F-3522-7EB4D2A5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Main Fault Lines</a:t>
            </a:r>
          </a:p>
        </p:txBody>
      </p:sp>
      <p:sp>
        <p:nvSpPr>
          <p:cNvPr id="23" name="Datumsplatzhalter 22">
            <a:extLst>
              <a:ext uri="{FF2B5EF4-FFF2-40B4-BE49-F238E27FC236}">
                <a16:creationId xmlns:a16="http://schemas.microsoft.com/office/drawing/2014/main" id="{392EDF75-3BC5-1054-0578-A195BF7E5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18/11/2025</a:t>
            </a:r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B69F2FAE-DE36-158B-6947-89565CBD7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Development / Optimus Syria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986D40B7-4678-3021-722C-F8B0D15D7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4</a:t>
            </a:fld>
            <a:endParaRPr lang="en-GB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6F2F569-F430-56D1-26F2-CD8628EBA37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Sila Ceren Cetin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518970-EC08-BBEA-82D7-D58A4065C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77" y="1516584"/>
            <a:ext cx="5235394" cy="49762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958A2E-5F1A-C557-DCED-6573AB4A8C99}"/>
              </a:ext>
            </a:extLst>
          </p:cNvPr>
          <p:cNvSpPr txBox="1"/>
          <p:nvPr/>
        </p:nvSpPr>
        <p:spPr>
          <a:xfrm>
            <a:off x="5676569" y="1951672"/>
            <a:ext cx="61402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● The </a:t>
            </a:r>
            <a:r>
              <a:rPr lang="en-GB" dirty="0" err="1"/>
              <a:t>Qattinah</a:t>
            </a:r>
            <a:r>
              <a:rPr lang="en-GB" dirty="0"/>
              <a:t> region is close to the Dead Sea Transform Fault</a:t>
            </a:r>
          </a:p>
          <a:p>
            <a:r>
              <a:rPr lang="en-GB" dirty="0"/>
              <a:t> ● Local fault branches from this system pass near Lake </a:t>
            </a:r>
            <a:r>
              <a:rPr lang="en-GB" dirty="0" err="1"/>
              <a:t>Qattinah</a:t>
            </a:r>
            <a:r>
              <a:rPr lang="en-GB" dirty="0"/>
              <a:t> (Lake Homs), increasing the seismic risk in the area. </a:t>
            </a:r>
          </a:p>
          <a:p>
            <a:r>
              <a:rPr lang="en-GB" dirty="0"/>
              <a:t>● The interaction of these faults with the regional geology makes </a:t>
            </a:r>
            <a:r>
              <a:rPr lang="en-GB" dirty="0" err="1"/>
              <a:t>Qattinah</a:t>
            </a:r>
            <a:r>
              <a:rPr lang="en-GB" dirty="0"/>
              <a:t> seismically significant within Syria.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27469-07AC-AA17-4C9A-C407836CE393}"/>
              </a:ext>
            </a:extLst>
          </p:cNvPr>
          <p:cNvSpPr txBox="1"/>
          <p:nvPr/>
        </p:nvSpPr>
        <p:spPr>
          <a:xfrm>
            <a:off x="5776451" y="6112996"/>
            <a:ext cx="639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b="1" dirty="0"/>
              <a:t>[1]</a:t>
            </a:r>
            <a:endParaRPr lang="en-GB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B0A01A-F976-D3F8-9728-920678BAD6FD}"/>
              </a:ext>
            </a:extLst>
          </p:cNvPr>
          <p:cNvSpPr txBox="1"/>
          <p:nvPr/>
        </p:nvSpPr>
        <p:spPr>
          <a:xfrm>
            <a:off x="10886626" y="4133304"/>
            <a:ext cx="639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 b="1" dirty="0"/>
              <a:t>[2]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2146403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F7B8CF-A34E-53CB-C65C-8F7A84C8C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6488"/>
            <a:ext cx="10515600" cy="1325563"/>
          </a:xfrm>
        </p:spPr>
        <p:txBody>
          <a:bodyPr/>
          <a:lstStyle/>
          <a:p>
            <a:r>
              <a:rPr lang="en-GB" dirty="0"/>
              <a:t>Last 50 years earthquakes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1E61D-A21E-5981-7B04-149E6B36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4BF55-2781-CB01-E5E3-D4A0CA0D4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Development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8D6FF-E569-0696-B4B6-3004CDD78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952710-5F07-4C56-5448-6712E35A55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Sila Ceren Cetin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43994B-8B72-429F-E935-DF876852D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554" y="1098755"/>
            <a:ext cx="8043904" cy="546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966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B22184-E765-CC2F-9A7E-5094E5D08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DNV-RP-0585 </a:t>
            </a:r>
            <a:r>
              <a:rPr lang="en-GB" dirty="0"/>
              <a:t>is an international engineering guideline for seismic design of wind power plants. It describes how to assess earthquake hazards and safely design wind turbines and foundations.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Use the local seismic hazard (considering fault lines and historical earthquakes).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 Design for the 475-year return period event (Ultimate Limit State scenario).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 Ensure the wind turbine and foundation can safely withstand earthquake forces, including soil-structure interaction.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Seismic Parameters for 475-Year Return Period (Ultimate Limit State):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u="sng" dirty="0"/>
              <a:t> Peak Ground Acceleration (PGA): </a:t>
            </a:r>
            <a:r>
              <a:rPr lang="en-GB" dirty="0"/>
              <a:t>Approximately 0.38–0.40g for western Syria (Homs, Hama, Latakia regions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u="sng" dirty="0"/>
              <a:t> Richter Scale History: </a:t>
            </a:r>
            <a:r>
              <a:rPr lang="en-GB" dirty="0"/>
              <a:t>Over the last 50 years, earthquakes of M≥7.0 have occurred (2023 Turkey-Syria M7.7/7.6), with approximately 60 earthquakes in the M 5.0–6.0 range recorded</a:t>
            </a:r>
          </a:p>
          <a:p>
            <a:pPr marL="0" indent="0">
              <a:buNone/>
            </a:pPr>
            <a:r>
              <a:rPr lang="en-GB" dirty="0"/>
              <a:t>										[3]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1EB68-4B00-1DDA-1283-03FD7D12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Consideration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Earthquake</a:t>
            </a:r>
            <a:r>
              <a:rPr lang="de-DE" dirty="0"/>
              <a:t> Risk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8F8C-74E8-1AB5-5024-1841BDCFB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D219E-A7BA-37F4-EACD-4039A2964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Development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8605E-F716-497C-8178-D2D4EF0C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92B011-A123-131B-C20F-6B8EF07D60D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Sila Ceren Cetin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0700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D93D32-4F98-C73D-34EA-2E93C1DF5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74" y="1620820"/>
            <a:ext cx="5680588" cy="47357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1. BLADES TRANSPORT – €290,000</a:t>
            </a:r>
          </a:p>
          <a:p>
            <a:pPr marL="0" indent="0">
              <a:buNone/>
            </a:pPr>
            <a:r>
              <a:rPr lang="en-GB" u="sng" dirty="0"/>
              <a:t>Reference (2022): </a:t>
            </a:r>
            <a:r>
              <a:rPr lang="en-GB" dirty="0"/>
              <a:t>3 blades × 90 m, Spain → Sweden = €150,000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b="1" dirty="0"/>
              <a:t>Multipliers for </a:t>
            </a:r>
            <a:r>
              <a:rPr lang="en-GB" b="1" dirty="0" err="1"/>
              <a:t>Qattinah</a:t>
            </a:r>
            <a:r>
              <a:rPr lang="en-GB" b="1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1.15× – Larger </a:t>
            </a:r>
            <a:r>
              <a:rPr lang="en-GB"/>
              <a:t>rotor (blades </a:t>
            </a:r>
            <a:r>
              <a:rPr lang="en-GB" dirty="0"/>
              <a:t>for 5 MW class)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1.25× – Longer international route (Europe → Middle East via Suez/Red Sea) + Syrian domestic logistics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1.25× – Loading at source, unloading at site, permits, escort services</a:t>
            </a:r>
          </a:p>
          <a:p>
            <a:pPr marL="0" indent="0">
              <a:buNone/>
            </a:pPr>
            <a:r>
              <a:rPr lang="en-GB" u="sng" dirty="0"/>
              <a:t>Calculation: </a:t>
            </a:r>
            <a:r>
              <a:rPr lang="en-GB" dirty="0"/>
              <a:t>€150,000 × 1.15 × 1.25 × 1.25 = €290,000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14D94A-968C-DCE9-3322-8BB7C401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Transportation Analysis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6487C-55DD-8036-5F1D-496E7E49E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08AA9-6411-FFC6-8238-FFA695BB2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Development/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71EA6-E432-3715-FBC6-7330E1254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017491-2D7A-1B70-6BE0-190DEC7D99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Sila Ceren Cetin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7E89FC-8497-E582-D417-130214FD1A66}"/>
              </a:ext>
            </a:extLst>
          </p:cNvPr>
          <p:cNvSpPr txBox="1"/>
          <p:nvPr/>
        </p:nvSpPr>
        <p:spPr>
          <a:xfrm>
            <a:off x="6377149" y="1749221"/>
            <a:ext cx="47465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2. NACELLE, HUB &amp; DRIVETRAIN</a:t>
            </a:r>
          </a:p>
          <a:p>
            <a:r>
              <a:rPr lang="en-GB" dirty="0"/>
              <a:t>Component weight: ~90 tonnes</a:t>
            </a:r>
          </a:p>
          <a:p>
            <a:r>
              <a:rPr lang="en-GB" dirty="0"/>
              <a:t>Cost per tonne (from blade reference): €5,805/tonne</a:t>
            </a:r>
          </a:p>
          <a:p>
            <a:r>
              <a:rPr lang="en-GB" dirty="0"/>
              <a:t>90 tonnes × €5,805/tonne = €522,450 </a:t>
            </a:r>
            <a:br>
              <a:rPr lang="en-GB" dirty="0"/>
            </a:b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CCB132-0BED-ED42-7124-65C5A2BBA8EC}"/>
              </a:ext>
            </a:extLst>
          </p:cNvPr>
          <p:cNvSpPr txBox="1"/>
          <p:nvPr/>
        </p:nvSpPr>
        <p:spPr>
          <a:xfrm>
            <a:off x="6377149" y="3906622"/>
            <a:ext cx="53700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3. TOWER </a:t>
            </a:r>
          </a:p>
          <a:p>
            <a:r>
              <a:rPr lang="en-GB" dirty="0"/>
              <a:t>Component weight: ~225 tonnes </a:t>
            </a:r>
          </a:p>
          <a:p>
            <a:r>
              <a:rPr lang="en-GB" dirty="0"/>
              <a:t>Cost per tonne: €1,900/tonne</a:t>
            </a:r>
          </a:p>
          <a:p>
            <a:r>
              <a:rPr lang="en-GB" dirty="0"/>
              <a:t>225 tonnes × €1,900 = €427,500</a:t>
            </a:r>
          </a:p>
        </p:txBody>
      </p:sp>
    </p:spTree>
    <p:extLst>
      <p:ext uri="{BB962C8B-B14F-4D97-AF65-F5344CB8AC3E}">
        <p14:creationId xmlns:p14="http://schemas.microsoft.com/office/powerpoint/2010/main" val="590604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Bibliography</a:t>
            </a:r>
            <a:r>
              <a:rPr lang="de-DE" dirty="0"/>
              <a:t> – Project Development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de-DE" dirty="0"/>
              <a:t>[1] </a:t>
            </a:r>
            <a:r>
              <a:rPr lang="de-DE" dirty="0">
                <a:hlinkClick r:id="rId3"/>
              </a:rPr>
              <a:t>https://www.researchgate.net/publication/277647278_Petroleum_Systems_of_Syria/figures?lo=</a:t>
            </a:r>
            <a:endParaRPr lang="de-DE" dirty="0"/>
          </a:p>
          <a:p>
            <a:r>
              <a:rPr lang="de-DE" dirty="0"/>
              <a:t>[2] </a:t>
            </a:r>
            <a:r>
              <a:rPr lang="en-GB" dirty="0"/>
              <a:t>Garfunkel, Z. (2014). "The Dead Sea Transform and its affect on the geology of the Levant region." Tectonophysics, 301(1-2), 5-27.</a:t>
            </a:r>
            <a:endParaRPr lang="de-DE" dirty="0"/>
          </a:p>
          <a:p>
            <a:r>
              <a:rPr lang="de-DE" dirty="0"/>
              <a:t>[3] </a:t>
            </a:r>
            <a:r>
              <a:rPr lang="en-GB" dirty="0"/>
              <a:t>https://www.scirp.org/journal/paperinformation?paperid=23230 </a:t>
            </a:r>
            <a:endParaRPr lang="de-DE" dirty="0"/>
          </a:p>
          <a:p>
            <a:r>
              <a:rPr lang="tr-TR" dirty="0"/>
              <a:t>[4] Battery  Storage Manual, Sustainable Energy Authority of Ireland (SEAI), 2024.​</a:t>
            </a:r>
          </a:p>
          <a:p>
            <a:r>
              <a:rPr lang="tr-TR" dirty="0"/>
              <a:t>[5] Battery Storage Siting for Developers: A Guide for Enhancing Energy Management, Enverus, 2025.​</a:t>
            </a:r>
          </a:p>
          <a:p>
            <a:r>
              <a:rPr lang="tr-TR" dirty="0"/>
              <a:t>[6] What Land is Suitable for an Energy Storage Facility? Electrum, Sept. 2024.​</a:t>
            </a:r>
          </a:p>
          <a:p>
            <a:r>
              <a:rPr lang="tr-TR" dirty="0"/>
              <a:t>[7] 8 Battery Energy Storage System (BESS) Site Requirements, Kimley-Horn, May 2024.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83DB4-11DF-4DC9-9AFB-FDB45DBDB9C4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Development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89852-0382-5806-3356-FA1C77F6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tr-TR" dirty="0"/>
              <a:t>Sila Ceren Cetin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_Project Development_Week_01" id="{565AEDCE-AEA5-4BFA-88F3-D43DDDF3E38B}" vid="{7E403B28-2726-4574-8041-C7D53A5C5E62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Project Development_Week_01" id="{565AEDCE-AEA5-4BFA-88F3-D43DDDF3E38B}" vid="{3F3711EF-5D77-458A-B8BC-3A58363DB86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87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Presentation_Project Development_Week_01</Template>
  <TotalTime>0</TotalTime>
  <Words>833</Words>
  <Application>Microsoft Office PowerPoint</Application>
  <PresentationFormat>Widescreen</PresentationFormat>
  <Paragraphs>96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Aptos (Textkörper)</vt:lpstr>
      <vt:lpstr>Aptos Display</vt:lpstr>
      <vt:lpstr>Arial</vt:lpstr>
      <vt:lpstr>Calibri</vt:lpstr>
      <vt:lpstr>Calibri Light</vt:lpstr>
      <vt:lpstr>fkGroteskNeue</vt:lpstr>
      <vt:lpstr>Times New Roman</vt:lpstr>
      <vt:lpstr>Office</vt:lpstr>
      <vt:lpstr>Benutzerdefiniertes Design</vt:lpstr>
      <vt:lpstr>Weekly report: Team Project Development</vt:lpstr>
      <vt:lpstr>Task of the week</vt:lpstr>
      <vt:lpstr>Battery Storage – Placement &amp; Key Restrictions </vt:lpstr>
      <vt:lpstr>Main Fault Lines</vt:lpstr>
      <vt:lpstr>Last 50 years earthquakes</vt:lpstr>
      <vt:lpstr>Consideration of Earthquake Risk</vt:lpstr>
      <vt:lpstr>Transportation Analysis</vt:lpstr>
      <vt:lpstr>Bibliography – Project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Sıla Ceren Çetin</dc:creator>
  <cp:lastModifiedBy>Sila Ceren Cetin</cp:lastModifiedBy>
  <cp:revision>21</cp:revision>
  <dcterms:created xsi:type="dcterms:W3CDTF">2025-09-29T09:28:46Z</dcterms:created>
  <dcterms:modified xsi:type="dcterms:W3CDTF">2025-12-08T09:54:24Z</dcterms:modified>
</cp:coreProperties>
</file>