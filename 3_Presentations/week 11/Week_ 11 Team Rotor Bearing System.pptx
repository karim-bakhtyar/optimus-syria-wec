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 /><Relationship Id="rId2" Type="http://schemas.openxmlformats.org/officeDocument/2006/relationships/officeDocument" Target="ppt/presentation.xml" /><Relationship Id="rId1" Type="http://schemas.microsoft.com/office/2011/relationships/webextensiontaskpanes" Target="ppt/webextensions/taskpanes.xml" /><Relationship Id="rId5" Type="http://schemas.openxmlformats.org/officeDocument/2006/relationships/extended-properties" Target="docProps/app.xml" /><Relationship Id="rId4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9"/>
  </p:notesMasterIdLst>
  <p:handoutMasterIdLst>
    <p:handoutMasterId r:id="rId20"/>
  </p:handoutMasterIdLst>
  <p:sldIdLst>
    <p:sldId id="271" r:id="rId3"/>
    <p:sldId id="263" r:id="rId4"/>
    <p:sldId id="259" r:id="rId5"/>
    <p:sldId id="308" r:id="rId6"/>
    <p:sldId id="302" r:id="rId7"/>
    <p:sldId id="311" r:id="rId8"/>
    <p:sldId id="315" r:id="rId9"/>
    <p:sldId id="316" r:id="rId10"/>
    <p:sldId id="309" r:id="rId11"/>
    <p:sldId id="319" r:id="rId12"/>
    <p:sldId id="318" r:id="rId13"/>
    <p:sldId id="314" r:id="rId14"/>
    <p:sldId id="310" r:id="rId15"/>
    <p:sldId id="292" r:id="rId16"/>
    <p:sldId id="317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1"/>
            <p14:sldId id="263"/>
          </p14:sldIdLst>
        </p14:section>
        <p14:section name="List of contents" id="{65043596-36B7-4360-BB5C-7A99EFAEC5C9}">
          <p14:sldIdLst>
            <p14:sldId id="259"/>
          </p14:sldIdLst>
        </p14:section>
        <p14:section name="Title, main slides" id="{B26F6679-C236-4D3D-BC2F-CAE5ED400718}">
          <p14:sldIdLst>
            <p14:sldId id="308"/>
            <p14:sldId id="302"/>
            <p14:sldId id="311"/>
            <p14:sldId id="315"/>
            <p14:sldId id="316"/>
            <p14:sldId id="309"/>
            <p14:sldId id="319"/>
            <p14:sldId id="318"/>
            <p14:sldId id="314"/>
            <p14:sldId id="310"/>
            <p14:sldId id="292"/>
            <p14:sldId id="317"/>
          </p14:sldIdLst>
        </p14:section>
        <p14:section name="bibliography" id="{2ECB0A3B-7D16-4F98-AD6A-5308DF7BF07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14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slide" Target="slides/slide16.xml" /><Relationship Id="rId3" Type="http://schemas.openxmlformats.org/officeDocument/2006/relationships/slide" Target="slides/slide1.xml" /><Relationship Id="rId21" Type="http://schemas.openxmlformats.org/officeDocument/2006/relationships/presProps" Target="presProps.xml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slide" Target="slides/slide15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4.xml" /><Relationship Id="rId20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24" Type="http://schemas.openxmlformats.org/officeDocument/2006/relationships/tableStyles" Target="tableStyles.xml" /><Relationship Id="rId5" Type="http://schemas.openxmlformats.org/officeDocument/2006/relationships/slide" Target="slides/slide3.xml" /><Relationship Id="rId15" Type="http://schemas.openxmlformats.org/officeDocument/2006/relationships/slide" Target="slides/slide13.xml" /><Relationship Id="rId23" Type="http://schemas.openxmlformats.org/officeDocument/2006/relationships/theme" Target="theme/theme1.xml" /><Relationship Id="rId10" Type="http://schemas.openxmlformats.org/officeDocument/2006/relationships/slide" Target="slides/slide8.xml" /><Relationship Id="rId19" Type="http://schemas.openxmlformats.org/officeDocument/2006/relationships/notesMaster" Target="notesMasters/notesMaster1.xml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Relationship Id="rId22" Type="http://schemas.openxmlformats.org/officeDocument/2006/relationships/viewProps" Target="viewProp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2.xml" /><Relationship Id="rId6" Type="http://schemas.openxmlformats.org/officeDocument/2006/relationships/image" Target="../media/image6.jp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2.xml" /><Relationship Id="rId6" Type="http://schemas.openxmlformats.org/officeDocument/2006/relationships/image" Target="../media/image6.jp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Relationship Id="rId5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Relationship Id="rId5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D9B92D8-576F-E2EC-294B-2558F9D8C6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3647B16-EA31-6786-DA18-D9B47CB286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44)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7DF5AC43-E5EF-0524-5C72-3AC43D2D1965}"/>
              </a:ext>
            </a:extLst>
          </p:cNvPr>
          <p:cNvSpPr/>
          <p:nvPr userDrawn="1"/>
        </p:nvSpPr>
        <p:spPr>
          <a:xfrm>
            <a:off x="7392013" y="172238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the </a:t>
            </a:r>
            <a:r>
              <a:rPr lang="it-IT" dirty="0" err="1"/>
              <a:t>heading</a:t>
            </a:r>
            <a:r>
              <a:rPr lang="it-IT" dirty="0"/>
              <a:t> in the </a:t>
            </a:r>
            <a:r>
              <a:rPr lang="it-IT" dirty="0" err="1"/>
              <a:t>same</a:t>
            </a:r>
            <a:r>
              <a:rPr lang="it-IT" dirty="0"/>
              <a:t> style </a:t>
            </a:r>
            <a:endParaRPr lang="en-GB" dirty="0"/>
          </a:p>
        </p:txBody>
      </p:sp>
      <p:cxnSp>
        <p:nvCxnSpPr>
          <p:cNvPr id="5" name="Straight Arrow Connector 21">
            <a:extLst>
              <a:ext uri="{FF2B5EF4-FFF2-40B4-BE49-F238E27FC236}">
                <a16:creationId xmlns:a16="http://schemas.microsoft.com/office/drawing/2014/main" id="{E14BA36E-5CEF-0525-3ADE-5A38CD19B2C1}"/>
              </a:ext>
            </a:extLst>
          </p:cNvPr>
          <p:cNvCxnSpPr>
            <a:cxnSpLocks/>
            <a:stCxn id="3" idx="0"/>
          </p:cNvCxnSpPr>
          <p:nvPr userDrawn="1"/>
        </p:nvCxnSpPr>
        <p:spPr>
          <a:xfrm flipH="1" flipV="1">
            <a:off x="7108466" y="1095661"/>
            <a:ext cx="1585182" cy="6267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3" name="Rectangle 7">
            <a:extLst>
              <a:ext uri="{FF2B5EF4-FFF2-40B4-BE49-F238E27FC236}">
                <a16:creationId xmlns:a16="http://schemas.microsoft.com/office/drawing/2014/main" id="{A08F222C-E6B4-CB18-1940-4D03D41410C5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48E6A6-5F2B-4404-D02B-D0186EA2675E}"/>
              </a:ext>
            </a:extLst>
          </p:cNvPr>
          <p:cNvSpPr txBox="1"/>
          <p:nvPr userDrawn="1"/>
        </p:nvSpPr>
        <p:spPr>
          <a:xfrm>
            <a:off x="3913526" y="4104491"/>
            <a:ext cx="4142630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2st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7th 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38224568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 dirty="0" err="1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</a:t>
            </a:r>
            <a:r>
              <a:rPr kumimoji="0" lang="it-IT" sz="6600" b="1" i="0" u="none" strike="noStrike" kern="1200" cap="none" spc="0" normalizeH="0" baseline="0" noProof="0" dirty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941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 /><Relationship Id="rId2" Type="http://schemas.openxmlformats.org/officeDocument/2006/relationships/slideLayout" Target="../slideLayouts/slideLayout20.xml" /><Relationship Id="rId1" Type="http://schemas.openxmlformats.org/officeDocument/2006/relationships/slideLayout" Target="../slideLayouts/slideLayout19.xml" /><Relationship Id="rId5" Type="http://schemas.openxmlformats.org/officeDocument/2006/relationships/theme" Target="../theme/theme2.xml" /><Relationship Id="rId4" Type="http://schemas.openxmlformats.org/officeDocument/2006/relationships/slideLayout" Target="../slideLayouts/slideLayout2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983DE9D-3043-CD58-EF37-FD7A4639229C}"/>
              </a:ext>
            </a:extLst>
          </p:cNvPr>
          <p:cNvSpPr txBox="1"/>
          <p:nvPr userDrawn="1"/>
        </p:nvSpPr>
        <p:spPr>
          <a:xfrm>
            <a:off x="8505523" y="6616896"/>
            <a:ext cx="2817365" cy="25955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u="none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Rotor Bearing System/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09/12/2025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3" r:id="rId2"/>
    <p:sldLayoutId id="2147483675" r:id="rId3"/>
    <p:sldLayoutId id="2147483678" r:id="rId4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11.png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17.png" /><Relationship Id="rId5" Type="http://schemas.openxmlformats.org/officeDocument/2006/relationships/image" Target="../media/image16.png" /><Relationship Id="rId4" Type="http://schemas.openxmlformats.org/officeDocument/2006/relationships/image" Target="../media/image15.png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 /><Relationship Id="rId3" Type="http://schemas.openxmlformats.org/officeDocument/2006/relationships/image" Target="../media/image19.png" /><Relationship Id="rId7" Type="http://schemas.openxmlformats.org/officeDocument/2006/relationships/image" Target="../media/image23.png" /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22.png" /><Relationship Id="rId5" Type="http://schemas.openxmlformats.org/officeDocument/2006/relationships/image" Target="../media/image21.png" /><Relationship Id="rId4" Type="http://schemas.openxmlformats.org/officeDocument/2006/relationships/image" Target="../media/image20.png" /><Relationship Id="rId9" Type="http://schemas.openxmlformats.org/officeDocument/2006/relationships/image" Target="../media/image25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 /><Relationship Id="rId7" Type="http://schemas.openxmlformats.org/officeDocument/2006/relationships/image" Target="../media/image31.png" /><Relationship Id="rId2" Type="http://schemas.openxmlformats.org/officeDocument/2006/relationships/image" Target="../media/image26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30.png" /><Relationship Id="rId5" Type="http://schemas.openxmlformats.org/officeDocument/2006/relationships/image" Target="../media/image29.png" /><Relationship Id="rId4" Type="http://schemas.openxmlformats.org/officeDocument/2006/relationships/image" Target="../media/image28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32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34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 /><Relationship Id="rId2" Type="http://schemas.openxmlformats.org/officeDocument/2006/relationships/image" Target="../media/image35.png" /><Relationship Id="rId1" Type="http://schemas.openxmlformats.org/officeDocument/2006/relationships/slideLayout" Target="../slideLayouts/slideLayout5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 /><Relationship Id="rId1" Type="http://schemas.openxmlformats.org/officeDocument/2006/relationships/slideLayout" Target="../slideLayouts/slideLayout5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 /><Relationship Id="rId2" Type="http://schemas.openxmlformats.org/officeDocument/2006/relationships/image" Target="../media/image37.pn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39.png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 /><Relationship Id="rId1" Type="http://schemas.openxmlformats.org/officeDocument/2006/relationships/slideLayout" Target="../slideLayouts/slideLayout5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ylib.net/doc/18166049/din-en-10083-steel-for-quenching-and-tempering-part-3-" TargetMode="External" /><Relationship Id="rId2" Type="http://schemas.openxmlformats.org/officeDocument/2006/relationships/hyperlink" Target="http://www.ith.de/schraubwerkzeuge/hydraulische-drehmomentschrauber" TargetMode="External" /><Relationship Id="rId1" Type="http://schemas.openxmlformats.org/officeDocument/2006/relationships/slideLayout" Target="../slideLayouts/slideLayout11.xml" /><Relationship Id="rId6" Type="http://schemas.openxmlformats.org/officeDocument/2006/relationships/hyperlink" Target="https://ehandel.mw.dk/en/steel-bolts-din-931/steel-bolt-m48-109" TargetMode="External" /><Relationship Id="rId5" Type="http://schemas.openxmlformats.org/officeDocument/2006/relationships/hyperlink" Target="https://boltport.com/weights/din-125/" TargetMode="External" /><Relationship Id="rId4" Type="http://schemas.openxmlformats.org/officeDocument/2006/relationships/hyperlink" Target="https://archive.org/details/manualofsteelcon0000amer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3FC7EDF-25D6-28E8-DCE0-52ED50209C25}"/>
              </a:ext>
            </a:extLst>
          </p:cNvPr>
          <p:cNvSpPr txBox="1"/>
          <p:nvPr/>
        </p:nvSpPr>
        <p:spPr>
          <a:xfrm>
            <a:off x="3913526" y="4104491"/>
            <a:ext cx="4142630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09</a:t>
            </a:r>
            <a:r>
              <a:rPr lang="it-IT" dirty="0">
                <a:solidFill>
                  <a:srgbClr val="0E2841">
                    <a:lumMod val="90000"/>
                    <a:lumOff val="10000"/>
                  </a:srgbClr>
                </a:solidFill>
                <a:latin typeface="Aptos (Textkörper)"/>
                <a:cs typeface="Times New Roman" panose="02020603050405020304" pitchFamily="18" charset="0"/>
              </a:rPr>
              <a:t> December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1886790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103C8AC-ACFF-082C-E04A-301598446FCB}"/>
              </a:ext>
            </a:extLst>
          </p:cNvPr>
          <p:cNvSpPr txBox="1">
            <a:spLocks/>
          </p:cNvSpPr>
          <p:nvPr/>
        </p:nvSpPr>
        <p:spPr>
          <a:xfrm>
            <a:off x="1158240" y="2516402"/>
            <a:ext cx="10414000" cy="912598"/>
          </a:xfrm>
          <a:prstGeom prst="rect">
            <a:avLst/>
          </a:prstGeom>
        </p:spPr>
        <p:txBody>
          <a:bodyPr numCol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r>
              <a:rPr lang="it-IT" sz="4000" dirty="0"/>
              <a:t>Weekly Presentation : Rotor Bearing System</a:t>
            </a:r>
            <a:endParaRPr lang="en-GB" sz="40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45C6A5A-D647-B958-532A-B6FD2180F534}"/>
              </a:ext>
            </a:extLst>
          </p:cNvPr>
          <p:cNvSpPr txBox="1"/>
          <p:nvPr/>
        </p:nvSpPr>
        <p:spPr>
          <a:xfrm>
            <a:off x="3591498" y="3539230"/>
            <a:ext cx="4786685" cy="12926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2000" dirty="0">
                <a:latin typeface="Aptos (Textkörper)"/>
              </a:rPr>
              <a:t>Week number: 11</a:t>
            </a:r>
          </a:p>
          <a:p>
            <a:pPr algn="ctr"/>
            <a:r>
              <a:rPr lang="it-IT" sz="2000" dirty="0">
                <a:latin typeface="Aptos (Textkörper)"/>
              </a:rPr>
              <a:t>Date: 09 /12/2025</a:t>
            </a:r>
          </a:p>
          <a:p>
            <a:pPr algn="ctr"/>
            <a:r>
              <a:rPr lang="it-IT" sz="2000" dirty="0">
                <a:latin typeface="Aptos (Textkörper)"/>
              </a:rPr>
              <a:t>Supervisor: </a:t>
            </a:r>
            <a:r>
              <a:rPr lang="it-IT" sz="2000" dirty="0"/>
              <a:t>Prof.  Peter Quell </a:t>
            </a:r>
            <a:endParaRPr lang="it-IT" sz="2000" dirty="0">
              <a:latin typeface="Aptos (Textkörper)"/>
            </a:endParaRPr>
          </a:p>
          <a:p>
            <a:endParaRPr lang="en-GB" dirty="0"/>
          </a:p>
        </p:txBody>
      </p:sp>
      <p:sp>
        <p:nvSpPr>
          <p:cNvPr id="5" name="Textfeld 12">
            <a:extLst>
              <a:ext uri="{FF2B5EF4-FFF2-40B4-BE49-F238E27FC236}">
                <a16:creationId xmlns:a16="http://schemas.microsoft.com/office/drawing/2014/main" id="{D9A567B7-3E99-FE45-F4F9-8DF602E8F987}"/>
              </a:ext>
            </a:extLst>
          </p:cNvPr>
          <p:cNvSpPr txBox="1">
            <a:spLocks/>
          </p:cNvSpPr>
          <p:nvPr/>
        </p:nvSpPr>
        <p:spPr>
          <a:xfrm>
            <a:off x="1393885" y="4570995"/>
            <a:ext cx="10450286" cy="371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 Divyesh Mistry,  Venkata Sreekanth .K , Sreehari Padachery, Jill Sadariya 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BEA2004-2B46-4FBB-0674-B520F411077A}"/>
              </a:ext>
            </a:extLst>
          </p:cNvPr>
          <p:cNvSpPr txBox="1">
            <a:spLocks/>
          </p:cNvSpPr>
          <p:nvPr/>
        </p:nvSpPr>
        <p:spPr>
          <a:xfrm>
            <a:off x="4801762" y="4942122"/>
            <a:ext cx="3399846" cy="365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Divyesh Mistry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C666DE2-1276-7519-CD3A-64862C4F70A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r>
              <a:rPr lang="de-DE" sz="2000" dirty="0"/>
              <a:t>Bearing Housing.</a:t>
            </a:r>
          </a:p>
          <a:p>
            <a:r>
              <a:rPr lang="en-US" sz="2000" dirty="0"/>
              <a:t>Shaft.</a:t>
            </a:r>
          </a:p>
          <a:p>
            <a:r>
              <a:rPr lang="en-US" sz="2000" dirty="0"/>
              <a:t>Bolt calculation  for Flange on Hub Side.</a:t>
            </a:r>
          </a:p>
          <a:p>
            <a:r>
              <a:rPr lang="en-US" sz="2000" dirty="0"/>
              <a:t>Rotor Lock Disc.</a:t>
            </a:r>
          </a:p>
          <a:p>
            <a:r>
              <a:rPr lang="en-US" sz="2000" dirty="0"/>
              <a:t>Rotor Lock Pin.</a:t>
            </a:r>
          </a:p>
          <a:p>
            <a:r>
              <a:rPr lang="en-US" sz="2000" dirty="0"/>
              <a:t>Labyrinth Sealing.</a:t>
            </a:r>
          </a:p>
          <a:p>
            <a:r>
              <a:rPr lang="de-DE" sz="2000" dirty="0"/>
              <a:t>Rotor Bearing Assembly.</a:t>
            </a:r>
          </a:p>
          <a:p>
            <a:r>
              <a:rPr lang="en-US" sz="2000" dirty="0"/>
              <a:t>Cost Calculation(Assumption).</a:t>
            </a:r>
            <a:endParaRPr lang="de-DE" sz="2000" dirty="0"/>
          </a:p>
          <a:p>
            <a:r>
              <a:rPr lang="en-US" sz="2000" dirty="0"/>
              <a:t>Bibliography.</a:t>
            </a:r>
          </a:p>
          <a:p>
            <a:pPr marL="457200" lvl="1" indent="0">
              <a:buNone/>
            </a:pPr>
            <a:endParaRPr lang="de-DE" dirty="0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23" name="Datumsplatzhalter 22">
            <a:extLst>
              <a:ext uri="{FF2B5EF4-FFF2-40B4-BE49-F238E27FC236}">
                <a16:creationId xmlns:a16="http://schemas.microsoft.com/office/drawing/2014/main" id="{278CF838-7112-4F3F-EAE6-B2D4ED8F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3</a:t>
            </a:fld>
            <a:endParaRPr lang="en-GB"/>
          </a:p>
        </p:txBody>
      </p:sp>
      <p:sp>
        <p:nvSpPr>
          <p:cNvPr id="3" name="Datumsplatzhalter 22">
            <a:extLst>
              <a:ext uri="{FF2B5EF4-FFF2-40B4-BE49-F238E27FC236}">
                <a16:creationId xmlns:a16="http://schemas.microsoft.com/office/drawing/2014/main" id="{A6E2EAB9-B1A6-2D7F-9370-FA47D0E5A727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Divyesh Mistry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FC6A-4A46-EA54-71F5-786625E30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Bearing Housing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3985E-3E0D-30EA-A141-3DD0D20225D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8A39C-E6FB-AF11-A80B-1D9A52BC1C2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3" name="Datumsplatzhalter 22">
            <a:extLst>
              <a:ext uri="{FF2B5EF4-FFF2-40B4-BE49-F238E27FC236}">
                <a16:creationId xmlns:a16="http://schemas.microsoft.com/office/drawing/2014/main" id="{4AD3DC1B-DA04-F86F-C53E-73B0C956493B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Divyesh Mistry </a:t>
            </a:r>
            <a:endParaRPr lang="en-GB" dirty="0"/>
          </a:p>
        </p:txBody>
      </p:sp>
      <p:pic>
        <p:nvPicPr>
          <p:cNvPr id="7" name="Picture 6" descr="A grey circular object with bolts&#10;&#10;AI-generated content may be incorrect.">
            <a:extLst>
              <a:ext uri="{FF2B5EF4-FFF2-40B4-BE49-F238E27FC236}">
                <a16:creationId xmlns:a16="http://schemas.microsoft.com/office/drawing/2014/main" id="{EEAF2B8B-A85F-E944-399E-BA0FD6D54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3" y="1445393"/>
            <a:ext cx="5189692" cy="3967213"/>
          </a:xfrm>
          <a:prstGeom prst="rect">
            <a:avLst/>
          </a:prstGeom>
        </p:spPr>
      </p:pic>
      <p:pic>
        <p:nvPicPr>
          <p:cNvPr id="12" name="Picture 11" descr="A circular object with two holes&#10;&#10;AI-generated content may be incorrect.">
            <a:extLst>
              <a:ext uri="{FF2B5EF4-FFF2-40B4-BE49-F238E27FC236}">
                <a16:creationId xmlns:a16="http://schemas.microsoft.com/office/drawing/2014/main" id="{84855FFD-C5B9-2962-961D-F526F6D93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395" y="1457550"/>
            <a:ext cx="5123043" cy="36323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FCA8F96-F043-D456-C472-DF5CE0E63D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5763" y="4251217"/>
            <a:ext cx="2749534" cy="2322777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185585-24A2-095A-ED11-5396973507DB}"/>
              </a:ext>
            </a:extLst>
          </p:cNvPr>
          <p:cNvCxnSpPr>
            <a:cxnSpLocks/>
          </p:cNvCxnSpPr>
          <p:nvPr/>
        </p:nvCxnSpPr>
        <p:spPr>
          <a:xfrm flipH="1" flipV="1">
            <a:off x="1842562" y="4586846"/>
            <a:ext cx="681979" cy="16515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BBCD211-A4FE-2292-695D-0E30503AD288}"/>
              </a:ext>
            </a:extLst>
          </p:cNvPr>
          <p:cNvSpPr txBox="1"/>
          <p:nvPr/>
        </p:nvSpPr>
        <p:spPr>
          <a:xfrm>
            <a:off x="2414049" y="5987085"/>
            <a:ext cx="1054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M42 bolts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921B3E5-380D-DF82-2D87-5829C375D4B7}"/>
              </a:ext>
            </a:extLst>
          </p:cNvPr>
          <p:cNvCxnSpPr/>
          <p:nvPr/>
        </p:nvCxnSpPr>
        <p:spPr>
          <a:xfrm flipH="1">
            <a:off x="8677469" y="1922106"/>
            <a:ext cx="2034074" cy="130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7A52C1B-9B03-3068-C5E3-9F954FD6839E}"/>
              </a:ext>
            </a:extLst>
          </p:cNvPr>
          <p:cNvSpPr txBox="1"/>
          <p:nvPr/>
        </p:nvSpPr>
        <p:spPr>
          <a:xfrm>
            <a:off x="10780530" y="1848920"/>
            <a:ext cx="1054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M20 bolts</a:t>
            </a:r>
          </a:p>
        </p:txBody>
      </p:sp>
    </p:spTree>
    <p:extLst>
      <p:ext uri="{BB962C8B-B14F-4D97-AF65-F5344CB8AC3E}">
        <p14:creationId xmlns:p14="http://schemas.microsoft.com/office/powerpoint/2010/main" val="3418867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23360-C419-8135-5DA7-6EE58FF75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DA28F-A84E-1BB7-1FB4-21BDA2870C8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37854-92E1-A67A-9C9C-A408E89D036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16" name="Titel 4">
            <a:extLst>
              <a:ext uri="{FF2B5EF4-FFF2-40B4-BE49-F238E27FC236}">
                <a16:creationId xmlns:a16="http://schemas.microsoft.com/office/drawing/2014/main" id="{A45C4106-E156-8535-290A-850082605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7201"/>
            <a:ext cx="10515600" cy="1325563"/>
          </a:xfrm>
        </p:spPr>
        <p:txBody>
          <a:bodyPr>
            <a:normAutofit/>
          </a:bodyPr>
          <a:lstStyle/>
          <a:p>
            <a:r>
              <a:rPr lang="de-DE" sz="4800" dirty="0"/>
              <a:t> Rotor </a:t>
            </a:r>
            <a:r>
              <a:rPr lang="en-US" sz="4800" dirty="0"/>
              <a:t>Shaft </a:t>
            </a:r>
            <a:endParaRPr lang="en-GB" sz="48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DE8532A-FF1C-1FD2-3C5F-2A98BEED2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537046"/>
              </p:ext>
            </p:extLst>
          </p:nvPr>
        </p:nvGraphicFramePr>
        <p:xfrm>
          <a:off x="6391469" y="1626681"/>
          <a:ext cx="5595259" cy="2178357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626040">
                  <a:extLst>
                    <a:ext uri="{9D8B030D-6E8A-4147-A177-3AD203B41FA5}">
                      <a16:colId xmlns:a16="http://schemas.microsoft.com/office/drawing/2014/main" val="2533635215"/>
                    </a:ext>
                  </a:extLst>
                </a:gridCol>
                <a:gridCol w="1359493">
                  <a:extLst>
                    <a:ext uri="{9D8B030D-6E8A-4147-A177-3AD203B41FA5}">
                      <a16:colId xmlns:a16="http://schemas.microsoft.com/office/drawing/2014/main" val="4063132216"/>
                    </a:ext>
                  </a:extLst>
                </a:gridCol>
                <a:gridCol w="1176013">
                  <a:extLst>
                    <a:ext uri="{9D8B030D-6E8A-4147-A177-3AD203B41FA5}">
                      <a16:colId xmlns:a16="http://schemas.microsoft.com/office/drawing/2014/main" val="116457611"/>
                    </a:ext>
                  </a:extLst>
                </a:gridCol>
                <a:gridCol w="433713">
                  <a:extLst>
                    <a:ext uri="{9D8B030D-6E8A-4147-A177-3AD203B41FA5}">
                      <a16:colId xmlns:a16="http://schemas.microsoft.com/office/drawing/2014/main" val="423459598"/>
                    </a:ext>
                  </a:extLst>
                </a:gridCol>
              </a:tblGrid>
              <a:tr h="31397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dirty="0">
                          <a:effectLst/>
                        </a:rPr>
                        <a:t>Description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dirty="0">
                          <a:effectLst/>
                        </a:rPr>
                        <a:t>Symbol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dirty="0">
                          <a:effectLst/>
                        </a:rPr>
                        <a:t>Value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dirty="0">
                          <a:effectLst/>
                        </a:rPr>
                        <a:t>Unit</a:t>
                      </a:r>
                    </a:p>
                  </a:txBody>
                  <a:tcPr marL="20270" marR="20270" marT="13513" marB="13513" anchor="ctr"/>
                </a:tc>
                <a:extLst>
                  <a:ext uri="{0D108BD9-81ED-4DB2-BD59-A6C34878D82A}">
                    <a16:rowId xmlns:a16="http://schemas.microsoft.com/office/drawing/2014/main" val="114745481"/>
                  </a:ext>
                </a:extLst>
              </a:tr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Outer screw circle diameter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dt2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2450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ctr"/>
                </a:tc>
                <a:extLst>
                  <a:ext uri="{0D108BD9-81ED-4DB2-BD59-A6C34878D82A}">
                    <a16:rowId xmlns:a16="http://schemas.microsoft.com/office/drawing/2014/main" val="1265938367"/>
                  </a:ext>
                </a:extLst>
              </a:tr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Inner screw circle diameter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dt1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2250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ctr"/>
                </a:tc>
                <a:extLst>
                  <a:ext uri="{0D108BD9-81ED-4DB2-BD59-A6C34878D82A}">
                    <a16:rowId xmlns:a16="http://schemas.microsoft.com/office/drawing/2014/main" val="2019828821"/>
                  </a:ext>
                </a:extLst>
              </a:tr>
              <a:tr h="58365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No. of screws per bolt circle diameter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1400" dirty="0">
                          <a:effectLst/>
                        </a:rPr>
                        <a:t>N</a:t>
                      </a:r>
                      <a:r>
                        <a:rPr lang="pt-BR" sz="1400" baseline="-25000" dirty="0">
                          <a:effectLst/>
                        </a:rPr>
                        <a:t>total</a:t>
                      </a:r>
                      <a:r>
                        <a:rPr lang="pt-BR" sz="1400" dirty="0">
                          <a:effectLst/>
                        </a:rPr>
                        <a:t> = N</a:t>
                      </a:r>
                      <a:r>
                        <a:rPr lang="pt-BR" sz="1400" baseline="-25000" dirty="0">
                          <a:effectLst/>
                        </a:rPr>
                        <a:t>ICB</a:t>
                      </a:r>
                      <a:r>
                        <a:rPr lang="pt-BR" sz="1400" dirty="0">
                          <a:effectLst/>
                        </a:rPr>
                        <a:t> + N</a:t>
                      </a:r>
                      <a:r>
                        <a:rPr lang="pt-BR" sz="1400" baseline="-25000" dirty="0">
                          <a:effectLst/>
                        </a:rPr>
                        <a:t>OCB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94+102=196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20270" marR="20270" marT="13513" marB="13513" anchor="ctr"/>
                </a:tc>
                <a:extLst>
                  <a:ext uri="{0D108BD9-81ED-4DB2-BD59-A6C34878D82A}">
                    <a16:rowId xmlns:a16="http://schemas.microsoft.com/office/drawing/2014/main" val="991108475"/>
                  </a:ext>
                </a:extLst>
              </a:tr>
              <a:tr h="28382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Integrated </a:t>
                      </a:r>
                      <a:r>
                        <a:rPr lang="en-US" sz="1400" dirty="0" err="1">
                          <a:effectLst/>
                        </a:rPr>
                        <a:t>rotorlock</a:t>
                      </a:r>
                      <a:r>
                        <a:rPr lang="en-US" sz="1400" dirty="0">
                          <a:effectLst/>
                        </a:rPr>
                        <a:t> Flange outer </a:t>
                      </a:r>
                      <a:r>
                        <a:rPr lang="en-US" sz="1400" dirty="0" err="1">
                          <a:effectLst/>
                        </a:rPr>
                        <a:t>dia</a:t>
                      </a:r>
                      <a:endParaRPr lang="en-US" sz="1400" dirty="0">
                        <a:effectLst/>
                      </a:endParaRP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1400" baseline="0" dirty="0">
                          <a:effectLst/>
                        </a:rPr>
                        <a:t>D</a:t>
                      </a:r>
                      <a:r>
                        <a:rPr lang="pt-BR" sz="1400" baseline="-25000" dirty="0">
                          <a:effectLst/>
                        </a:rPr>
                        <a:t>flange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3190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ctr"/>
                </a:tc>
                <a:extLst>
                  <a:ext uri="{0D108BD9-81ED-4DB2-BD59-A6C34878D82A}">
                    <a16:rowId xmlns:a16="http://schemas.microsoft.com/office/drawing/2014/main" val="331701992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879C6CA-377A-5819-128B-0BCA8E5C343C}"/>
              </a:ext>
            </a:extLst>
          </p:cNvPr>
          <p:cNvSpPr txBox="1"/>
          <p:nvPr/>
        </p:nvSpPr>
        <p:spPr>
          <a:xfrm>
            <a:off x="6531430" y="3969255"/>
            <a:ext cx="305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u="sng" dirty="0"/>
              <a:t>Gear box Side Flange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976937E-6616-E83D-E6FB-593998949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76878"/>
              </p:ext>
            </p:extLst>
          </p:nvPr>
        </p:nvGraphicFramePr>
        <p:xfrm>
          <a:off x="6415574" y="4338587"/>
          <a:ext cx="5571153" cy="2013215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601933">
                  <a:extLst>
                    <a:ext uri="{9D8B030D-6E8A-4147-A177-3AD203B41FA5}">
                      <a16:colId xmlns:a16="http://schemas.microsoft.com/office/drawing/2014/main" val="2533635215"/>
                    </a:ext>
                  </a:extLst>
                </a:gridCol>
                <a:gridCol w="1474626">
                  <a:extLst>
                    <a:ext uri="{9D8B030D-6E8A-4147-A177-3AD203B41FA5}">
                      <a16:colId xmlns:a16="http://schemas.microsoft.com/office/drawing/2014/main" val="4063132216"/>
                    </a:ext>
                  </a:extLst>
                </a:gridCol>
                <a:gridCol w="1060881">
                  <a:extLst>
                    <a:ext uri="{9D8B030D-6E8A-4147-A177-3AD203B41FA5}">
                      <a16:colId xmlns:a16="http://schemas.microsoft.com/office/drawing/2014/main" val="116457611"/>
                    </a:ext>
                  </a:extLst>
                </a:gridCol>
                <a:gridCol w="433713">
                  <a:extLst>
                    <a:ext uri="{9D8B030D-6E8A-4147-A177-3AD203B41FA5}">
                      <a16:colId xmlns:a16="http://schemas.microsoft.com/office/drawing/2014/main" val="423459598"/>
                    </a:ext>
                  </a:extLst>
                </a:gridCol>
              </a:tblGrid>
              <a:tr h="43241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Description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Symbol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Value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Unit</a:t>
                      </a:r>
                    </a:p>
                  </a:txBody>
                  <a:tcPr marL="20270" marR="20270" marT="13513" marB="13513" anchor="ctr"/>
                </a:tc>
                <a:extLst>
                  <a:ext uri="{0D108BD9-81ED-4DB2-BD59-A6C34878D82A}">
                    <a16:rowId xmlns:a16="http://schemas.microsoft.com/office/drawing/2014/main" val="114745481"/>
                  </a:ext>
                </a:extLst>
              </a:tr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screw circle diameter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dt1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1464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ctr"/>
                </a:tc>
                <a:extLst>
                  <a:ext uri="{0D108BD9-81ED-4DB2-BD59-A6C34878D82A}">
                    <a16:rowId xmlns:a16="http://schemas.microsoft.com/office/drawing/2014/main" val="2019828821"/>
                  </a:ext>
                </a:extLst>
              </a:tr>
              <a:tr h="58365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No. of screws per bolt circle diameter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1400" dirty="0">
                          <a:effectLst/>
                        </a:rPr>
                        <a:t>N</a:t>
                      </a:r>
                      <a:r>
                        <a:rPr lang="pt-BR" sz="1400" baseline="-25000" dirty="0">
                          <a:effectLst/>
                        </a:rPr>
                        <a:t>total</a:t>
                      </a:r>
                      <a:r>
                        <a:rPr lang="pt-BR" sz="1400" dirty="0">
                          <a:effectLst/>
                        </a:rPr>
                        <a:t> </a:t>
                      </a:r>
                      <a:endParaRPr lang="pt-BR" sz="1400" baseline="-25000" dirty="0">
                        <a:effectLst/>
                      </a:endParaRP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46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20270" marR="20270" marT="13513" marB="13513" anchor="ctr"/>
                </a:tc>
                <a:extLst>
                  <a:ext uri="{0D108BD9-81ED-4DB2-BD59-A6C34878D82A}">
                    <a16:rowId xmlns:a16="http://schemas.microsoft.com/office/drawing/2014/main" val="991108475"/>
                  </a:ext>
                </a:extLst>
              </a:tr>
              <a:tr h="58365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Flange outer </a:t>
                      </a:r>
                      <a:r>
                        <a:rPr lang="en-US" sz="1400" dirty="0" err="1">
                          <a:effectLst/>
                        </a:rPr>
                        <a:t>dia</a:t>
                      </a:r>
                      <a:endParaRPr lang="en-US" sz="1400" dirty="0">
                        <a:effectLst/>
                      </a:endParaRP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aseline="0" dirty="0">
                          <a:effectLst/>
                        </a:rPr>
                        <a:t>D</a:t>
                      </a:r>
                      <a:r>
                        <a:rPr lang="pt-BR" sz="1400" baseline="-25000" dirty="0">
                          <a:effectLst/>
                        </a:rPr>
                        <a:t>flange</a:t>
                      </a:r>
                    </a:p>
                    <a:p>
                      <a:pPr algn="ctr" rtl="0" fontAlgn="b">
                        <a:buNone/>
                      </a:pPr>
                      <a:endParaRPr lang="pt-BR" sz="1400" baseline="-25000" dirty="0">
                        <a:effectLst/>
                      </a:endParaRP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1584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ctr"/>
                </a:tc>
                <a:extLst>
                  <a:ext uri="{0D108BD9-81ED-4DB2-BD59-A6C34878D82A}">
                    <a16:rowId xmlns:a16="http://schemas.microsoft.com/office/drawing/2014/main" val="332071872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6AF81C8-B9D4-6C71-7878-5A3AB3CCC600}"/>
              </a:ext>
            </a:extLst>
          </p:cNvPr>
          <p:cNvSpPr txBox="1"/>
          <p:nvPr/>
        </p:nvSpPr>
        <p:spPr>
          <a:xfrm>
            <a:off x="7449717" y="1257349"/>
            <a:ext cx="305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u="sng" dirty="0"/>
              <a:t>Hub Side Flange</a:t>
            </a:r>
          </a:p>
        </p:txBody>
      </p:sp>
      <p:sp>
        <p:nvSpPr>
          <p:cNvPr id="2" name="Datumsplatzhalter 22">
            <a:extLst>
              <a:ext uri="{FF2B5EF4-FFF2-40B4-BE49-F238E27FC236}">
                <a16:creationId xmlns:a16="http://schemas.microsoft.com/office/drawing/2014/main" id="{0F7B8853-5241-7C59-57BD-8AC4E4B6D03F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Divyesh Mistry </a:t>
            </a:r>
            <a:endParaRPr lang="en-GB" dirty="0"/>
          </a:p>
        </p:txBody>
      </p:sp>
      <p:pic>
        <p:nvPicPr>
          <p:cNvPr id="12" name="Picture 11" descr="A black spool of thread&#10;&#10;AI-generated content may be incorrect.">
            <a:extLst>
              <a:ext uri="{FF2B5EF4-FFF2-40B4-BE49-F238E27FC236}">
                <a16:creationId xmlns:a16="http://schemas.microsoft.com/office/drawing/2014/main" id="{6A249AC1-7342-BE7C-D150-7C393B962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10" y="1483261"/>
            <a:ext cx="5004236" cy="389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561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EF340-BC38-A60D-7200-8B18B1622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655" y="33040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Bolt calculation  for the Flange on Hub Side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2F328-D9AC-32BB-A3D4-F94BB22335E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9569E-74D7-69EE-6F3D-A0752F898AD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6549A0-0437-C19C-677A-5E0364978F91}"/>
              </a:ext>
            </a:extLst>
          </p:cNvPr>
          <p:cNvSpPr txBox="1"/>
          <p:nvPr/>
        </p:nvSpPr>
        <p:spPr>
          <a:xfrm>
            <a:off x="838200" y="1566255"/>
            <a:ext cx="77459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Applied Torsional Moment: M</a:t>
            </a:r>
            <a:r>
              <a:rPr lang="en-US" sz="1600" baseline="-25000" dirty="0"/>
              <a:t>t</a:t>
            </a:r>
            <a:r>
              <a:rPr lang="en-US" sz="1600" dirty="0"/>
              <a:t> = 12800kN·m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Applied Bending Moment (Used for Axial Load): M</a:t>
            </a:r>
            <a:r>
              <a:rPr lang="en-US" sz="1600" baseline="-25000" dirty="0"/>
              <a:t>B</a:t>
            </a:r>
            <a:r>
              <a:rPr lang="en-US" sz="1600" dirty="0"/>
              <a:t> = 21573.8 </a:t>
            </a:r>
            <a:r>
              <a:rPr lang="en-US" sz="1600" dirty="0" err="1"/>
              <a:t>KN.m</a:t>
            </a:r>
            <a:endParaRPr 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A294A0-96FF-3936-D624-F9813560373D}"/>
              </a:ext>
            </a:extLst>
          </p:cNvPr>
          <p:cNvSpPr txBox="1"/>
          <p:nvPr/>
        </p:nvSpPr>
        <p:spPr>
          <a:xfrm>
            <a:off x="848308" y="3579474"/>
            <a:ext cx="7063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Outer BCD: 2450mm =⇒ </a:t>
            </a:r>
            <a:r>
              <a:rPr lang="en-US" sz="1600" dirty="0" err="1"/>
              <a:t>r</a:t>
            </a:r>
            <a:r>
              <a:rPr lang="en-US" sz="1600" baseline="-25000" dirty="0" err="1"/>
              <a:t>max</a:t>
            </a:r>
            <a:r>
              <a:rPr lang="en-US" sz="1600" dirty="0"/>
              <a:t> = 1225mm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dirty="0"/>
              <a:t>Inner BCD: 2250mm =⇒ r</a:t>
            </a:r>
            <a:r>
              <a:rPr lang="nb-NO" sz="1600" baseline="-25000" dirty="0"/>
              <a:t>min</a:t>
            </a:r>
            <a:r>
              <a:rPr lang="nb-NO" sz="1600" dirty="0"/>
              <a:t> = 1125mm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AE47C3A-07CD-60FC-13FE-549E83090BCA}"/>
                  </a:ext>
                </a:extLst>
              </p:cNvPr>
              <p:cNvSpPr txBox="1"/>
              <p:nvPr/>
            </p:nvSpPr>
            <p:spPr>
              <a:xfrm>
                <a:off x="838200" y="2341262"/>
                <a:ext cx="4012163" cy="686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𝑛𝑢𝑡</m:t>
                            </m:r>
                          </m:sub>
                        </m:sSub>
                      </m:num>
                      <m:den>
                        <m:r>
                          <a:rPr lang="en-US" sz="16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1600" i="1"/>
                      <m:t>Clearance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𝑡𝑜𝑜𝑙</m:t>
                            </m:r>
                          </m:sub>
                        </m:sSub>
                      </m:num>
                      <m:den>
                        <m:r>
                          <a:rPr lang="en-US" sz="16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1600" b="0" dirty="0"/>
              </a:p>
              <a:p>
                <a:pPr algn="l"/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AE47C3A-07CD-60FC-13FE-549E83090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41262"/>
                <a:ext cx="4012163" cy="686855"/>
              </a:xfrm>
              <a:prstGeom prst="rect">
                <a:avLst/>
              </a:prstGeom>
              <a:blipFill>
                <a:blip r:embed="rId2"/>
                <a:stretch>
                  <a:fillRect l="-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97714D7-06BF-E349-D4BB-DB03D21299F5}"/>
                  </a:ext>
                </a:extLst>
              </p:cNvPr>
              <p:cNvSpPr txBox="1"/>
              <p:nvPr/>
            </p:nvSpPr>
            <p:spPr>
              <a:xfrm>
                <a:off x="1021736" y="2547936"/>
                <a:ext cx="3713584" cy="11902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br>
                  <a:rPr lang="ar-AE" sz="1600" dirty="0"/>
                </a:br>
                <a:endParaRPr lang="ar-AE" sz="1600" dirty="0"/>
              </a:p>
              <a:p>
                <a:r>
                  <a:rPr lang="en-US" sz="1600" dirty="0"/>
                  <a:t>Bolt Counts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16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ar-AE" sz="1600">
                            <a:latin typeface="Cambria Math" panose="02040503050406030204" pitchFamily="18" charset="0"/>
                          </a:rPr>
                          <m:t>×2450</m:t>
                        </m:r>
                      </m:num>
                      <m:den>
                        <m:r>
                          <a:rPr lang="ar-AE" sz="1600">
                            <a:latin typeface="Cambria Math" panose="02040503050406030204" pitchFamily="18" charset="0"/>
                          </a:rPr>
                          <m:t>75.895</m:t>
                        </m:r>
                      </m:den>
                    </m:f>
                    <m:r>
                      <a:rPr lang="ar-AE" sz="1600">
                        <a:latin typeface="Cambria Math" panose="02040503050406030204" pitchFamily="18" charset="0"/>
                      </a:rPr>
                      <m:t>≈102</m:t>
                    </m:r>
                  </m:oMath>
                </a14:m>
                <a:endParaRPr lang="ar-AE" sz="1600" dirty="0"/>
              </a:p>
              <a:p>
                <a:pPr algn="l"/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97714D7-06BF-E349-D4BB-DB03D2129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736" y="2547936"/>
                <a:ext cx="3713584" cy="1190262"/>
              </a:xfrm>
              <a:prstGeom prst="rect">
                <a:avLst/>
              </a:prstGeom>
              <a:blipFill>
                <a:blip r:embed="rId3"/>
                <a:stretch>
                  <a:fillRect l="-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42D88EE-0416-6EE8-4333-13D298C3FBFD}"/>
                  </a:ext>
                </a:extLst>
              </p:cNvPr>
              <p:cNvSpPr txBox="1"/>
              <p:nvPr/>
            </p:nvSpPr>
            <p:spPr>
              <a:xfrm>
                <a:off x="4035486" y="2799629"/>
                <a:ext cx="3040227" cy="803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×2250</m:t>
                          </m:r>
                        </m:num>
                        <m:den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75.895</m:t>
                          </m:r>
                        </m:den>
                      </m:f>
                      <m:r>
                        <a:rPr lang="en-US" sz="1600">
                          <a:latin typeface="Cambria Math" panose="02040503050406030204" pitchFamily="18" charset="0"/>
                        </a:rPr>
                        <m:t>≈94</m:t>
                      </m:r>
                    </m:oMath>
                  </m:oMathPara>
                </a14:m>
                <a:endParaRPr lang="en-US" sz="1600" dirty="0"/>
              </a:p>
              <a:p>
                <a:pPr algn="l"/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42D88EE-0416-6EE8-4333-13D298C3F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486" y="2799629"/>
                <a:ext cx="3040227" cy="8030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3964E382-110B-8E00-94D9-65879EC4C335}"/>
              </a:ext>
            </a:extLst>
          </p:cNvPr>
          <p:cNvSpPr txBox="1"/>
          <p:nvPr/>
        </p:nvSpPr>
        <p:spPr>
          <a:xfrm>
            <a:off x="848308" y="4305274"/>
            <a:ext cx="61395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0" u="sng" strike="noStrike" baseline="0" dirty="0"/>
              <a:t>Polar Second Moment of Area</a:t>
            </a:r>
            <a:endParaRPr lang="en-US" sz="1600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CF0948D-AE4E-B90A-99BA-DC38F645AFBA}"/>
                  </a:ext>
                </a:extLst>
              </p:cNvPr>
              <p:cNvSpPr txBox="1"/>
              <p:nvPr/>
            </p:nvSpPr>
            <p:spPr>
              <a:xfrm>
                <a:off x="271366" y="4789537"/>
                <a:ext cx="4108579" cy="873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16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16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600" dirty="0"/>
              </a:p>
              <a:p>
                <a:pPr algn="l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CF0948D-AE4E-B90A-99BA-DC38F645A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66" y="4789537"/>
                <a:ext cx="4108579" cy="8732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D4D3BF3-D4DA-57C7-B185-D68ED33ADD73}"/>
                  </a:ext>
                </a:extLst>
              </p:cNvPr>
              <p:cNvSpPr txBox="1"/>
              <p:nvPr/>
            </p:nvSpPr>
            <p:spPr>
              <a:xfrm>
                <a:off x="932283" y="5399659"/>
                <a:ext cx="6139542" cy="386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102⋅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1225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94⋅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1125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600" dirty="0"/>
                  <a:t> = 272,032,500 mm</a:t>
                </a:r>
                <a:r>
                  <a:rPr lang="en-US" sz="1600" baseline="30000" dirty="0"/>
                  <a:t>2</a:t>
                </a:r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D4D3BF3-D4DA-57C7-B185-D68ED33AD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83" y="5399659"/>
                <a:ext cx="6139542" cy="386068"/>
              </a:xfrm>
              <a:prstGeom prst="rect">
                <a:avLst/>
              </a:prstGeom>
              <a:blipFill>
                <a:blip r:embed="rId6"/>
                <a:stretch>
                  <a:fillRect l="-5958" t="-122222" b="-190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E7BFB08F-1D3B-5AF6-CE16-5EE7C1EE27F7}"/>
              </a:ext>
            </a:extLst>
          </p:cNvPr>
          <p:cNvSpPr txBox="1"/>
          <p:nvPr/>
        </p:nvSpPr>
        <p:spPr>
          <a:xfrm>
            <a:off x="8909955" y="6289804"/>
            <a:ext cx="5777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Machinery components lectures</a:t>
            </a:r>
          </a:p>
        </p:txBody>
      </p:sp>
    </p:spTree>
    <p:extLst>
      <p:ext uri="{BB962C8B-B14F-4D97-AF65-F5344CB8AC3E}">
        <p14:creationId xmlns:p14="http://schemas.microsoft.com/office/powerpoint/2010/main" val="1434260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42F151DD-B609-5E52-A4E3-DB322605811E}"/>
              </a:ext>
            </a:extLst>
          </p:cNvPr>
          <p:cNvGrpSpPr/>
          <p:nvPr/>
        </p:nvGrpSpPr>
        <p:grpSpPr>
          <a:xfrm>
            <a:off x="776826" y="1732204"/>
            <a:ext cx="10127585" cy="593689"/>
            <a:chOff x="658637" y="2082113"/>
            <a:chExt cx="10127585" cy="593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D5FDE72-003F-87C1-C95B-AD005B4D3FF4}"/>
                    </a:ext>
                  </a:extLst>
                </p:cNvPr>
                <p:cNvSpPr txBox="1"/>
                <p:nvPr/>
              </p:nvSpPr>
              <p:spPr>
                <a:xfrm>
                  <a:off x="5929603" y="2149999"/>
                  <a:ext cx="4856619" cy="4783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𝑀𝑡</m:t>
                          </m:r>
                        </m:sub>
                      </m:sSub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12800</m:t>
                          </m:r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1225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600" dirty="0"/>
                            <m:t>272,032,500 </m:t>
                          </m:r>
                          <m:r>
                            <m:rPr>
                              <m:nor/>
                            </m:rPr>
                            <a:rPr lang="en-US" sz="1600" dirty="0"/>
                            <m:t>mm</m:t>
                          </m:r>
                          <m:r>
                            <m:rPr>
                              <m:nor/>
                            </m:rPr>
                            <a:rPr lang="en-US" sz="1600" baseline="30000" dirty="0"/>
                            <m:t>2</m:t>
                          </m:r>
                        </m:den>
                      </m:f>
                    </m:oMath>
                  </a14:m>
                  <a:r>
                    <a:rPr lang="en-US" sz="1600" dirty="0"/>
                    <a:t> = 57.64 </a:t>
                  </a:r>
                  <a:r>
                    <a:rPr lang="en-US" sz="1600" dirty="0" err="1"/>
                    <a:t>kN</a:t>
                  </a:r>
                  <a:endParaRPr lang="en-US" sz="16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D5FDE72-003F-87C1-C95B-AD005B4D3F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9603" y="2149999"/>
                  <a:ext cx="4856619" cy="47833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3D7A008-57A6-2D39-7B32-873E02223000}"/>
                    </a:ext>
                  </a:extLst>
                </p:cNvPr>
                <p:cNvSpPr txBox="1"/>
                <p:nvPr/>
              </p:nvSpPr>
              <p:spPr>
                <a:xfrm>
                  <a:off x="3095076" y="2082113"/>
                  <a:ext cx="3335728" cy="5936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𝑀𝑡</m:t>
                            </m:r>
                          </m:sub>
                        </m:sSub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𝑜𝑢𝑡𝑒𝑟</m:t>
                                </m:r>
                              </m:sub>
                            </m:sSub>
                          </m:num>
                          <m:den>
                            <m:nary>
                              <m:naryPr>
                                <m:chr m:val="∑"/>
                                <m:grow m:val="on"/>
                                <m:subHide m:val="on"/>
                                <m:supHide m:val="on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US" sz="16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den>
                        </m:f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3D7A008-57A6-2D39-7B32-873E022230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076" y="2082113"/>
                  <a:ext cx="3335728" cy="59368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0DBDB2C-DFB8-FC1C-A968-A78C37D130CE}"/>
                </a:ext>
              </a:extLst>
            </p:cNvPr>
            <p:cNvSpPr txBox="1"/>
            <p:nvPr/>
          </p:nvSpPr>
          <p:spPr>
            <a:xfrm>
              <a:off x="658637" y="2189752"/>
              <a:ext cx="373690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Load due to torque moment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851531A-EB07-B43B-01F2-E8C85CAA1703}"/>
              </a:ext>
            </a:extLst>
          </p:cNvPr>
          <p:cNvSpPr txBox="1"/>
          <p:nvPr/>
        </p:nvSpPr>
        <p:spPr>
          <a:xfrm>
            <a:off x="785396" y="2739325"/>
            <a:ext cx="61908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</a:rPr>
              <a:t>Load due to lateral force</a:t>
            </a:r>
            <a:endParaRPr lang="en-US" sz="16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B51C58E-A53A-4C2C-79FF-24167C24E86D}"/>
              </a:ext>
            </a:extLst>
          </p:cNvPr>
          <p:cNvGrpSpPr/>
          <p:nvPr/>
        </p:nvGrpSpPr>
        <p:grpSpPr>
          <a:xfrm>
            <a:off x="1919791" y="2595706"/>
            <a:ext cx="10281573" cy="632164"/>
            <a:chOff x="800118" y="3576304"/>
            <a:chExt cx="10281573" cy="6321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F2A67C1-FE71-EA42-5BB3-99E4663CD467}"/>
                    </a:ext>
                  </a:extLst>
                </p:cNvPr>
                <p:cNvSpPr txBox="1"/>
                <p:nvPr/>
              </p:nvSpPr>
              <p:spPr>
                <a:xfrm>
                  <a:off x="800118" y="3613497"/>
                  <a:ext cx="6190862" cy="59497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𝑙𝑎𝑡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𝑡𝑜𝑡𝑎𝑙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F2A67C1-FE71-EA42-5BB3-99E4663CD4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118" y="3613497"/>
                  <a:ext cx="6190862" cy="59497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13F8EF9-C0D3-323A-5B5D-5CADB9633F28}"/>
                    </a:ext>
                  </a:extLst>
                </p:cNvPr>
                <p:cNvSpPr txBox="1"/>
                <p:nvPr/>
              </p:nvSpPr>
              <p:spPr>
                <a:xfrm>
                  <a:off x="4918823" y="3576304"/>
                  <a:ext cx="6162868" cy="47314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𝑙𝑎𝑡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en-US" sz="1600" dirty="0"/>
                    <a:t> = 9.24 </a:t>
                  </a:r>
                  <a:r>
                    <a:rPr lang="en-US" sz="1600" dirty="0" err="1"/>
                    <a:t>kN</a:t>
                  </a:r>
                  <a:endParaRPr lang="en-US" sz="16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13F8EF9-C0D3-323A-5B5D-5CADB9633F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8823" y="3576304"/>
                  <a:ext cx="6162868" cy="47314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CCD5DF0-2194-CBFB-27AD-0C306080F4C5}"/>
                  </a:ext>
                </a:extLst>
              </p:cNvPr>
              <p:cNvSpPr txBox="1"/>
              <p:nvPr/>
            </p:nvSpPr>
            <p:spPr>
              <a:xfrm>
                <a:off x="838200" y="3469849"/>
                <a:ext cx="7049278" cy="849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0" i="0" dirty="0">
                    <a:effectLst/>
                  </a:rPr>
                  <a:t>Summation of shear components =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𝑀𝑡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57</m:t>
                    </m:r>
                    <m:r>
                      <a:rPr lang="en-US" sz="1600" b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64</m:t>
                    </m:r>
                    <m:r>
                      <a:rPr lang="en-US" sz="1600" b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1600" b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24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/>
                      <m:t>66.88 </m:t>
                    </m:r>
                    <m:r>
                      <m:rPr>
                        <m:nor/>
                      </m:rPr>
                      <a:rPr lang="en-US" sz="1600"/>
                      <m:t>kN</m:t>
                    </m:r>
                  </m:oMath>
                </a14:m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CCD5DF0-2194-CBFB-27AD-0C306080F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69849"/>
                <a:ext cx="7049278" cy="849976"/>
              </a:xfrm>
              <a:prstGeom prst="rect">
                <a:avLst/>
              </a:prstGeom>
              <a:blipFill>
                <a:blip r:embed="rId6"/>
                <a:stretch>
                  <a:fillRect l="-346" t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B2DB4B7B-6D6A-2DAE-698B-5D5FC5F19ED4}"/>
              </a:ext>
            </a:extLst>
          </p:cNvPr>
          <p:cNvGrpSpPr/>
          <p:nvPr/>
        </p:nvGrpSpPr>
        <p:grpSpPr>
          <a:xfrm>
            <a:off x="864742" y="4089805"/>
            <a:ext cx="8045213" cy="863930"/>
            <a:chOff x="864742" y="4089805"/>
            <a:chExt cx="8045213" cy="86393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FFF692A-BB3F-DDDB-1620-2F9141EA4F13}"/>
                </a:ext>
              </a:extLst>
            </p:cNvPr>
            <p:cNvSpPr txBox="1"/>
            <p:nvPr/>
          </p:nvSpPr>
          <p:spPr>
            <a:xfrm>
              <a:off x="864742" y="4223250"/>
              <a:ext cx="616286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b="0" i="0" dirty="0">
                  <a:effectLst/>
                </a:rPr>
                <a:t>Load due to bending moment</a:t>
              </a:r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9A35049-0217-1286-49E5-89EF6960EE69}"/>
                    </a:ext>
                  </a:extLst>
                </p:cNvPr>
                <p:cNvSpPr txBox="1"/>
                <p:nvPr/>
              </p:nvSpPr>
              <p:spPr>
                <a:xfrm>
                  <a:off x="3803054" y="4113825"/>
                  <a:ext cx="2183363" cy="839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6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𝑀𝑏</m:t>
                            </m:r>
                          </m:sub>
                        </m:sSub>
                        <m:r>
                          <a:rPr lang="en-US" sz="160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sz="160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𝑜𝑢𝑡𝑒𝑟</m:t>
                                </m:r>
                              </m:sub>
                            </m:sSub>
                          </m:num>
                          <m:den>
                            <m:nary>
                              <m:naryPr>
                                <m:chr m:val="∑"/>
                                <m:grow m:val="on"/>
                                <m:subHide m:val="on"/>
                                <m:supHide m:val="on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US" sz="16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den>
                        </m:f>
                      </m:oMath>
                    </m:oMathPara>
                  </a14:m>
                  <a:endParaRPr lang="en-US" sz="1600" dirty="0"/>
                </a:p>
                <a:p>
                  <a:pPr algn="l"/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9A35049-0217-1286-49E5-89EF6960EE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3054" y="4113825"/>
                  <a:ext cx="2183363" cy="8399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1412C1E5-908C-B11B-4ACF-514507A349C9}"/>
                    </a:ext>
                  </a:extLst>
                </p:cNvPr>
                <p:cNvSpPr txBox="1"/>
                <p:nvPr/>
              </p:nvSpPr>
              <p:spPr>
                <a:xfrm>
                  <a:off x="5844885" y="4089805"/>
                  <a:ext cx="3065070" cy="7520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𝑀𝑏</m:t>
                          </m:r>
                        </m:sub>
                      </m:sSub>
                      <m:r>
                        <a:rPr lang="en-US" sz="1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𝑜𝑢𝑡𝑒𝑟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a14:m>
                  <a:r>
                    <a:rPr lang="en-US" sz="1600" dirty="0"/>
                    <a:t> = 97.15 </a:t>
                  </a:r>
                  <a:r>
                    <a:rPr lang="en-US" sz="1600" dirty="0" err="1"/>
                    <a:t>kN</a:t>
                  </a:r>
                  <a:r>
                    <a:rPr lang="en-US" sz="1600" dirty="0"/>
                    <a:t> </a:t>
                  </a:r>
                </a:p>
                <a:p>
                  <a:pPr algn="l"/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1412C1E5-908C-B11B-4ACF-514507A349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4885" y="4089805"/>
                  <a:ext cx="3065070" cy="752065"/>
                </a:xfrm>
                <a:prstGeom prst="rect">
                  <a:avLst/>
                </a:prstGeom>
                <a:blipFill>
                  <a:blip r:embed="rId8"/>
                  <a:stretch>
                    <a:fillRect t="-18699" b="-3577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621722C-FC6A-9994-FC60-C247F35C85DE}"/>
              </a:ext>
            </a:extLst>
          </p:cNvPr>
          <p:cNvSpPr txBox="1"/>
          <p:nvPr/>
        </p:nvSpPr>
        <p:spPr>
          <a:xfrm>
            <a:off x="864742" y="5155580"/>
            <a:ext cx="2651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</a:rPr>
              <a:t>Load due to static thrust</a:t>
            </a:r>
            <a:endParaRPr lang="en-US" sz="16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FA9709E-7E0E-28C9-50C7-AEA55C22445C}"/>
              </a:ext>
            </a:extLst>
          </p:cNvPr>
          <p:cNvGrpSpPr/>
          <p:nvPr/>
        </p:nvGrpSpPr>
        <p:grpSpPr>
          <a:xfrm>
            <a:off x="3756825" y="5020480"/>
            <a:ext cx="3219433" cy="842346"/>
            <a:chOff x="2878528" y="5531956"/>
            <a:chExt cx="3219433" cy="8423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14023E6-653C-A712-6282-2A42F32F8A66}"/>
                    </a:ext>
                  </a:extLst>
                </p:cNvPr>
                <p:cNvSpPr txBox="1"/>
                <p:nvPr/>
              </p:nvSpPr>
              <p:spPr>
                <a:xfrm>
                  <a:off x="2878528" y="5531956"/>
                  <a:ext cx="2295329" cy="8423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6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𝑧𝑑</m:t>
                            </m:r>
                          </m:sub>
                        </m:sSub>
                        <m:r>
                          <a:rPr lang="en-US" sz="160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𝑠𝑡𝑎𝑡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𝑡𝑜𝑡𝑎𝑙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600" dirty="0"/>
                </a:p>
                <a:p>
                  <a:pPr algn="l"/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14023E6-653C-A712-6282-2A42F32F8A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8528" y="5531956"/>
                  <a:ext cx="2295329" cy="84234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A0B147A-7D2D-583A-7FEB-407059135A90}"/>
                </a:ext>
              </a:extLst>
            </p:cNvPr>
            <p:cNvSpPr txBox="1"/>
            <p:nvPr/>
          </p:nvSpPr>
          <p:spPr>
            <a:xfrm>
              <a:off x="4762940" y="5727646"/>
              <a:ext cx="133502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i="0" dirty="0">
                  <a:effectLst/>
                </a:rPr>
                <a:t>=3.23 </a:t>
              </a:r>
              <a:r>
                <a:rPr lang="en-US" sz="1600" i="0" dirty="0" err="1">
                  <a:effectLst/>
                </a:rPr>
                <a:t>kN</a:t>
              </a:r>
              <a:endParaRPr lang="en-US" sz="1600" dirty="0"/>
            </a:p>
          </p:txBody>
        </p:sp>
      </p:grpSp>
      <p:sp>
        <p:nvSpPr>
          <p:cNvPr id="36" name="Date Placeholder 3">
            <a:extLst>
              <a:ext uri="{FF2B5EF4-FFF2-40B4-BE49-F238E27FC236}">
                <a16:creationId xmlns:a16="http://schemas.microsoft.com/office/drawing/2014/main" id="{4237E505-C73C-EC01-767C-68CC6FE7132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37" name="Slide Number Placeholder 4">
            <a:extLst>
              <a:ext uri="{FF2B5EF4-FFF2-40B4-BE49-F238E27FC236}">
                <a16:creationId xmlns:a16="http://schemas.microsoft.com/office/drawing/2014/main" id="{7BBB425E-EF56-BD64-3BC8-5F697C079A9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2D4EBC5-078E-D428-4F53-3C4B2E72EE9F}"/>
              </a:ext>
            </a:extLst>
          </p:cNvPr>
          <p:cNvSpPr txBox="1"/>
          <p:nvPr/>
        </p:nvSpPr>
        <p:spPr>
          <a:xfrm>
            <a:off x="8909955" y="6289804"/>
            <a:ext cx="5777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Machinery components lectures</a:t>
            </a:r>
          </a:p>
        </p:txBody>
      </p:sp>
    </p:spTree>
    <p:extLst>
      <p:ext uri="{BB962C8B-B14F-4D97-AF65-F5344CB8AC3E}">
        <p14:creationId xmlns:p14="http://schemas.microsoft.com/office/powerpoint/2010/main" val="1257015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977E6-AE8A-3FC9-5B5A-B0177D7AE53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9AD301-DD4E-1B97-E686-3E5AC8FAF26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2758D3-517F-E858-BB05-FD4BAA412748}"/>
                  </a:ext>
                </a:extLst>
              </p:cNvPr>
              <p:cNvSpPr txBox="1"/>
              <p:nvPr/>
            </p:nvSpPr>
            <p:spPr>
              <a:xfrm>
                <a:off x="746449" y="1725606"/>
                <a:ext cx="613954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0" i="0" dirty="0">
                    <a:effectLst/>
                  </a:rPr>
                  <a:t>Summation of axial components =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97.15+3.23</m:t>
                    </m:r>
                  </m:oMath>
                </a14:m>
                <a:r>
                  <a:rPr lang="en-US" sz="1600" dirty="0"/>
                  <a:t>=100.38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2758D3-517F-E858-BB05-FD4BAA412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49" y="1725606"/>
                <a:ext cx="6139542" cy="338554"/>
              </a:xfrm>
              <a:prstGeom prst="rect">
                <a:avLst/>
              </a:prstGeom>
              <a:blipFill>
                <a:blip r:embed="rId2"/>
                <a:stretch>
                  <a:fillRect l="-397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73662EA-A3D8-69EE-4CED-33CAE33C646D}"/>
              </a:ext>
            </a:extLst>
          </p:cNvPr>
          <p:cNvSpPr txBox="1"/>
          <p:nvPr/>
        </p:nvSpPr>
        <p:spPr>
          <a:xfrm>
            <a:off x="746449" y="2234691"/>
            <a:ext cx="61395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</a:rPr>
              <a:t>Force required to prevent slip under shear load.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CD9730D-9895-4864-4750-095D06B0BDDF}"/>
                  </a:ext>
                </a:extLst>
              </p:cNvPr>
              <p:cNvSpPr txBox="1"/>
              <p:nvPr/>
            </p:nvSpPr>
            <p:spPr>
              <a:xfrm>
                <a:off x="-560365" y="2622608"/>
                <a:ext cx="6139542" cy="661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87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0.4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/>
                        <m:t>217.5 </m:t>
                      </m:r>
                      <m:r>
                        <m:rPr>
                          <m:nor/>
                        </m:rPr>
                        <a:rPr lang="en-US"/>
                        <m:t>kN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CD9730D-9895-4864-4750-095D06B0B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0365" y="2622608"/>
                <a:ext cx="6139542" cy="661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AB65BB0-4F69-6985-BEB6-89FE07379FB5}"/>
              </a:ext>
            </a:extLst>
          </p:cNvPr>
          <p:cNvSpPr txBox="1"/>
          <p:nvPr/>
        </p:nvSpPr>
        <p:spPr>
          <a:xfrm>
            <a:off x="746449" y="3400425"/>
            <a:ext cx="63868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</a:rPr>
              <a:t>Sum of Axial Design Load  and Clamping Force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7FBCF3-F33B-8AE7-C2ED-2B83A9B8BEA6}"/>
                  </a:ext>
                </a:extLst>
              </p:cNvPr>
              <p:cNvSpPr txBox="1"/>
              <p:nvPr/>
            </p:nvSpPr>
            <p:spPr>
              <a:xfrm>
                <a:off x="838200" y="3792606"/>
                <a:ext cx="3044078" cy="3583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𝑒𝑟𝑓</m:t>
                          </m:r>
                        </m:sub>
                      </m:sSub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7FBCF3-F33B-8AE7-C2ED-2B83A9B8B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792606"/>
                <a:ext cx="3044078" cy="358303"/>
              </a:xfrm>
              <a:prstGeom prst="rect">
                <a:avLst/>
              </a:prstGeom>
              <a:blipFill>
                <a:blip r:embed="rId4"/>
                <a:stretch>
                  <a:fillRect b="-6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">
            <a:extLst>
              <a:ext uri="{FF2B5EF4-FFF2-40B4-BE49-F238E27FC236}">
                <a16:creationId xmlns:a16="http://schemas.microsoft.com/office/drawing/2014/main" id="{D8DABF31-0529-E598-ADD8-736EE098C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4649"/>
            <a:ext cx="65" cy="469299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522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8FAFC"/>
              </a:solidFill>
              <a:effectLst/>
              <a:latin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45DEB06-4853-201B-384C-2CB234D9F93E}"/>
                  </a:ext>
                </a:extLst>
              </p:cNvPr>
              <p:cNvSpPr txBox="1"/>
              <p:nvPr/>
            </p:nvSpPr>
            <p:spPr>
              <a:xfrm>
                <a:off x="3382346" y="3823064"/>
                <a:ext cx="3265714" cy="608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𝑒𝑟𝑓</m:t>
                          </m:r>
                        </m:sub>
                      </m:sSub>
                      <m:r>
                        <a:rPr lang="en-US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>
                          <a:latin typeface="Cambria Math" panose="02040503050406030204" pitchFamily="18" charset="0"/>
                        </a:rPr>
                        <m:t>87</m:t>
                      </m:r>
                      <m:r>
                        <a:rPr lang="en-US" sz="1600" b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>
                          <a:latin typeface="Cambria Math" panose="02040503050406030204" pitchFamily="18" charset="0"/>
                        </a:rPr>
                        <m:t>217</m:t>
                      </m:r>
                      <m:r>
                        <a:rPr lang="en-US" sz="1600" b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600"/>
                        <m:t>304.5 </m:t>
                      </m:r>
                      <m:r>
                        <m:rPr>
                          <m:nor/>
                        </m:rPr>
                        <a:rPr lang="en-US" sz="1600"/>
                        <m:t>kN</m:t>
                      </m:r>
                    </m:oMath>
                  </m:oMathPara>
                </a14:m>
                <a:endParaRPr lang="en-US" sz="1600" dirty="0"/>
              </a:p>
              <a:p>
                <a:pPr algn="l"/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45DEB06-4853-201B-384C-2CB234D9F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346" y="3823064"/>
                <a:ext cx="3265714" cy="6081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9B478E7C-BF2B-9A95-1839-A5B55A31227E}"/>
              </a:ext>
            </a:extLst>
          </p:cNvPr>
          <p:cNvSpPr txBox="1"/>
          <p:nvPr/>
        </p:nvSpPr>
        <p:spPr>
          <a:xfrm>
            <a:off x="778259" y="4358520"/>
            <a:ext cx="63868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Stress area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A0AC073-19D3-8367-6265-F09270C95FE6}"/>
                  </a:ext>
                </a:extLst>
              </p:cNvPr>
              <p:cNvSpPr txBox="1"/>
              <p:nvPr/>
            </p:nvSpPr>
            <p:spPr>
              <a:xfrm>
                <a:off x="1393885" y="4697074"/>
                <a:ext cx="3095431" cy="9223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𝑒𝑟𝑓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sz="1600" i="0">
                                          <a:latin typeface="Cambria Math" panose="02040503050406030204" pitchFamily="18" charset="0"/>
                                        </a:rPr>
                                        <m:t>0.2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A0AC073-19D3-8367-6265-F09270C95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885" y="4697074"/>
                <a:ext cx="3095431" cy="9223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CFD94B7-B194-7C01-A15F-2F9C7EBCEFF8}"/>
                  </a:ext>
                </a:extLst>
              </p:cNvPr>
              <p:cNvSpPr txBox="1"/>
              <p:nvPr/>
            </p:nvSpPr>
            <p:spPr>
              <a:xfrm>
                <a:off x="4249050" y="4858193"/>
                <a:ext cx="2415587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1600">
                          <a:latin typeface="Cambria Math" panose="02040503050406030204" pitchFamily="18" charset="0"/>
                        </a:rPr>
                        <m:t>≈578.79</m:t>
                      </m:r>
                      <m:r>
                        <m:rPr>
                          <m:nor/>
                        </m:rPr>
                        <a:rPr lang="en-US" sz="1600" i="1"/>
                        <m:t> 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1600" i="1"/>
                            <m:t>mm</m:t>
                          </m:r>
                        </m:e>
                        <m:sup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b="0" dirty="0"/>
              </a:p>
              <a:p>
                <a:pPr algn="l"/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CFD94B7-B194-7C01-A15F-2F9C7EBCE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050" y="4858193"/>
                <a:ext cx="2415587" cy="5903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08147B4C-128C-70CA-A455-AA325EFCCAF8}"/>
              </a:ext>
            </a:extLst>
          </p:cNvPr>
          <p:cNvSpPr txBox="1"/>
          <p:nvPr/>
        </p:nvSpPr>
        <p:spPr>
          <a:xfrm>
            <a:off x="8909955" y="6289804"/>
            <a:ext cx="5777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Machinery components lectures</a:t>
            </a:r>
          </a:p>
        </p:txBody>
      </p:sp>
    </p:spTree>
    <p:extLst>
      <p:ext uri="{BB962C8B-B14F-4D97-AF65-F5344CB8AC3E}">
        <p14:creationId xmlns:p14="http://schemas.microsoft.com/office/powerpoint/2010/main" val="3212314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CD565-0BBF-4489-829E-6A942814A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Rotor Lock Disc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EA314-E1CD-FA35-8A68-6B05268CD6E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66260-867D-095A-0BC9-44084227AF7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9" name="Datumsplatzhalter 22">
            <a:extLst>
              <a:ext uri="{FF2B5EF4-FFF2-40B4-BE49-F238E27FC236}">
                <a16:creationId xmlns:a16="http://schemas.microsoft.com/office/drawing/2014/main" id="{92833BA3-8EDA-7695-60E8-60EB24D17EA9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Divyesh Mistry 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5FBC93-8213-99CD-8C32-8C854A5FC0D7}"/>
                  </a:ext>
                </a:extLst>
              </p:cNvPr>
              <p:cNvSpPr txBox="1"/>
              <p:nvPr/>
            </p:nvSpPr>
            <p:spPr>
              <a:xfrm>
                <a:off x="5652569" y="1352939"/>
                <a:ext cx="6539431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Design Load Case (DLC) 8.1 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for maintenance and repair requires that a key check is performed </a:t>
                </a: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even with the rotor locked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The system must include </a:t>
                </a: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Verification of standstill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to be provided up to an </a:t>
                </a: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oblique inflow of +/- 10</a:t>
                </a:r>
                <a14:m>
                  <m:oMath xmlns:m="http://schemas.openxmlformats.org/officeDocument/2006/math">
                    <m:r>
                      <a:rPr kumimoji="0" lang="en-US" altLang="en-US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(Section 2.2.3.4)</a:t>
                </a: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5FBC93-8213-99CD-8C32-8C854A5FC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569" y="1352939"/>
                <a:ext cx="6539431" cy="1077218"/>
              </a:xfrm>
              <a:prstGeom prst="rect">
                <a:avLst/>
              </a:prstGeom>
              <a:blipFill>
                <a:blip r:embed="rId3"/>
                <a:stretch>
                  <a:fillRect l="-466" t="-1695" r="-186" b="-6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A38B81B7-EA69-FFD6-D3DB-A8F4E23BB885}"/>
              </a:ext>
            </a:extLst>
          </p:cNvPr>
          <p:cNvSpPr txBox="1"/>
          <p:nvPr/>
        </p:nvSpPr>
        <p:spPr>
          <a:xfrm>
            <a:off x="8862526" y="6000822"/>
            <a:ext cx="3329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*Value we assigned based on our assumption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AFC5A6-76D0-16B3-82C9-4FB0AB3B1E08}"/>
              </a:ext>
            </a:extLst>
          </p:cNvPr>
          <p:cNvSpPr txBox="1"/>
          <p:nvPr/>
        </p:nvSpPr>
        <p:spPr>
          <a:xfrm>
            <a:off x="9459685" y="6285471"/>
            <a:ext cx="444759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GL 2010 &amp; LLM(Large Language Models).</a:t>
            </a:r>
          </a:p>
          <a:p>
            <a:r>
              <a:rPr lang="en-US" sz="1200" b="0" i="0" dirty="0">
                <a:effectLst/>
              </a:rPr>
              <a:t> </a:t>
            </a:r>
            <a:endParaRPr lang="en-US" sz="1200" dirty="0"/>
          </a:p>
        </p:txBody>
      </p:sp>
      <p:pic>
        <p:nvPicPr>
          <p:cNvPr id="6" name="Picture 5" descr="A black circle with white dots&#10;&#10;AI-generated content may be incorrect.">
            <a:extLst>
              <a:ext uri="{FF2B5EF4-FFF2-40B4-BE49-F238E27FC236}">
                <a16:creationId xmlns:a16="http://schemas.microsoft.com/office/drawing/2014/main" id="{F776F9D6-622B-DAF1-5A80-2E20C890C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834" y="1699832"/>
            <a:ext cx="5204911" cy="4541914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BF4DF9C-1EED-E825-F36A-BB0159811D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745026"/>
              </p:ext>
            </p:extLst>
          </p:nvPr>
        </p:nvGraphicFramePr>
        <p:xfrm>
          <a:off x="7315199" y="2543740"/>
          <a:ext cx="4486275" cy="332232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374427">
                  <a:extLst>
                    <a:ext uri="{9D8B030D-6E8A-4147-A177-3AD203B41FA5}">
                      <a16:colId xmlns:a16="http://schemas.microsoft.com/office/drawing/2014/main" val="773787763"/>
                    </a:ext>
                  </a:extLst>
                </a:gridCol>
                <a:gridCol w="974300">
                  <a:extLst>
                    <a:ext uri="{9D8B030D-6E8A-4147-A177-3AD203B41FA5}">
                      <a16:colId xmlns:a16="http://schemas.microsoft.com/office/drawing/2014/main" val="1623910389"/>
                    </a:ext>
                  </a:extLst>
                </a:gridCol>
                <a:gridCol w="1137548">
                  <a:extLst>
                    <a:ext uri="{9D8B030D-6E8A-4147-A177-3AD203B41FA5}">
                      <a16:colId xmlns:a16="http://schemas.microsoft.com/office/drawing/2014/main" val="238776865"/>
                    </a:ext>
                  </a:extLst>
                </a:gridCol>
              </a:tblGrid>
              <a:tr h="54483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Blade &amp; Reference Angle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1-pin Angle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2-pin Angle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918752704"/>
                  </a:ext>
                </a:extLst>
              </a:tr>
              <a:tr h="28675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1st Blade (0∘)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10∘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170∘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4184847409"/>
                  </a:ext>
                </a:extLst>
              </a:tr>
              <a:tr h="28675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2nd Blade (0∘)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250∘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50∘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669811869"/>
                  </a:ext>
                </a:extLst>
              </a:tr>
              <a:tr h="28675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3rd Blade (0∘)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130∘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290∘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4070617744"/>
                  </a:ext>
                </a:extLst>
              </a:tr>
              <a:tr h="28675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1st Blade (90∘)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280∘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80∘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85051722"/>
                  </a:ext>
                </a:extLst>
              </a:tr>
              <a:tr h="28675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2nd Blade (90∘)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40∘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200∘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981396104"/>
                  </a:ext>
                </a:extLst>
              </a:tr>
              <a:tr h="28675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3rd Blade (90∘)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160∘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320∘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521142405"/>
                  </a:ext>
                </a:extLst>
              </a:tr>
              <a:tr h="28675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1st Blade (270∘)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100∘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260∘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829435221"/>
                  </a:ext>
                </a:extLst>
              </a:tr>
              <a:tr h="28675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2nd Blade (270∘)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220∘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20∘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377161157"/>
                  </a:ext>
                </a:extLst>
              </a:tr>
              <a:tr h="28675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dirty="0">
                          <a:effectLst/>
                        </a:rPr>
                        <a:t>3rd Blade (270∘)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340∘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dirty="0">
                          <a:effectLst/>
                        </a:rPr>
                        <a:t>140∘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89821523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472371F-629D-6215-BB00-9A106AFD0B90}"/>
              </a:ext>
            </a:extLst>
          </p:cNvPr>
          <p:cNvSpPr txBox="1"/>
          <p:nvPr/>
        </p:nvSpPr>
        <p:spPr>
          <a:xfrm>
            <a:off x="429208" y="1371601"/>
            <a:ext cx="10263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u="sng" dirty="0"/>
              <a:t>Case 1 </a:t>
            </a:r>
            <a:r>
              <a:rPr lang="en-US" sz="1200" dirty="0">
                <a:solidFill>
                  <a:schemeClr val="bg1"/>
                </a:solidFill>
              </a:rPr>
              <a:t>e1</a:t>
            </a:r>
          </a:p>
        </p:txBody>
      </p:sp>
    </p:spTree>
    <p:extLst>
      <p:ext uri="{BB962C8B-B14F-4D97-AF65-F5344CB8AC3E}">
        <p14:creationId xmlns:p14="http://schemas.microsoft.com/office/powerpoint/2010/main" val="2422475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78035-2328-FE82-19A7-639A6E5D6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B014B-04AC-8C48-99C5-EA042D2CE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Rotor Lock Disc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FD919-7CB2-D8D8-32B7-98CFE82EAC0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4AA57-27DF-5C78-AC8E-411026B6C30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9" name="Datumsplatzhalter 22">
            <a:extLst>
              <a:ext uri="{FF2B5EF4-FFF2-40B4-BE49-F238E27FC236}">
                <a16:creationId xmlns:a16="http://schemas.microsoft.com/office/drawing/2014/main" id="{D0E6E5C6-6587-6517-0816-25A152C2B2E2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Divyesh Mistry 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9DAC5C1-133B-EBAF-C008-F8FD5A1CCB78}"/>
                  </a:ext>
                </a:extLst>
              </p:cNvPr>
              <p:cNvSpPr txBox="1"/>
              <p:nvPr/>
            </p:nvSpPr>
            <p:spPr>
              <a:xfrm>
                <a:off x="5652569" y="1352939"/>
                <a:ext cx="6539431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Design Load Case (DLC) 8.1 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for maintenance and repair requires that a key check is performed </a:t>
                </a: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even with the rotor locked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The system must include </a:t>
                </a: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Verification of standstill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to be provided up to an </a:t>
                </a: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oblique inflow of +/- 10</a:t>
                </a:r>
                <a14:m>
                  <m:oMath xmlns:m="http://schemas.openxmlformats.org/officeDocument/2006/math">
                    <m:r>
                      <a:rPr kumimoji="0" lang="en-US" altLang="en-US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(Section 2.2.3.4)</a:t>
                </a: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5FBC93-8213-99CD-8C32-8C854A5FC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569" y="1352939"/>
                <a:ext cx="6539431" cy="1077218"/>
              </a:xfrm>
              <a:prstGeom prst="rect">
                <a:avLst/>
              </a:prstGeom>
              <a:blipFill>
                <a:blip r:embed="rId3"/>
                <a:stretch>
                  <a:fillRect l="-466" t="-1695" r="-186" b="-6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A2F26C6-95A4-5BAF-3FF6-8A808A80726A}"/>
              </a:ext>
            </a:extLst>
          </p:cNvPr>
          <p:cNvSpPr txBox="1"/>
          <p:nvPr/>
        </p:nvSpPr>
        <p:spPr>
          <a:xfrm>
            <a:off x="8862526" y="6000822"/>
            <a:ext cx="3329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*Value we assigned based on our assumption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897368-2205-C3AB-15BD-CCE1AC53B7F9}"/>
              </a:ext>
            </a:extLst>
          </p:cNvPr>
          <p:cNvSpPr txBox="1"/>
          <p:nvPr/>
        </p:nvSpPr>
        <p:spPr>
          <a:xfrm>
            <a:off x="9459685" y="6285471"/>
            <a:ext cx="444759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GL 2010 &amp; LLM(Large Language Models).</a:t>
            </a:r>
          </a:p>
          <a:p>
            <a:r>
              <a:rPr lang="en-US" sz="1200" b="0" i="0" dirty="0">
                <a:effectLst/>
              </a:rPr>
              <a:t> </a:t>
            </a:r>
            <a:endParaRPr lang="en-US" sz="12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3AC48DE-30A6-2D84-67E4-CDD8D5DDF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744715"/>
              </p:ext>
            </p:extLst>
          </p:nvPr>
        </p:nvGraphicFramePr>
        <p:xfrm>
          <a:off x="7315199" y="2543740"/>
          <a:ext cx="4486275" cy="240792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374427">
                  <a:extLst>
                    <a:ext uri="{9D8B030D-6E8A-4147-A177-3AD203B41FA5}">
                      <a16:colId xmlns:a16="http://schemas.microsoft.com/office/drawing/2014/main" val="773787763"/>
                    </a:ext>
                  </a:extLst>
                </a:gridCol>
                <a:gridCol w="974300">
                  <a:extLst>
                    <a:ext uri="{9D8B030D-6E8A-4147-A177-3AD203B41FA5}">
                      <a16:colId xmlns:a16="http://schemas.microsoft.com/office/drawing/2014/main" val="1623910389"/>
                    </a:ext>
                  </a:extLst>
                </a:gridCol>
                <a:gridCol w="1137548">
                  <a:extLst>
                    <a:ext uri="{9D8B030D-6E8A-4147-A177-3AD203B41FA5}">
                      <a16:colId xmlns:a16="http://schemas.microsoft.com/office/drawing/2014/main" val="238776865"/>
                    </a:ext>
                  </a:extLst>
                </a:gridCol>
              </a:tblGrid>
              <a:tr h="54483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Blade &amp; Reference Angle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1-pin Angle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2-pin Angle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918752704"/>
                  </a:ext>
                </a:extLst>
              </a:tr>
              <a:tr h="28675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1st Blade (0∘)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10∘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170∘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4184847409"/>
                  </a:ext>
                </a:extLst>
              </a:tr>
              <a:tr h="28675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2nd Blade (0∘)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250∘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50∘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669811869"/>
                  </a:ext>
                </a:extLst>
              </a:tr>
              <a:tr h="28675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3rd Blade (0∘)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130∘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290∘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4070617744"/>
                  </a:ext>
                </a:extLst>
              </a:tr>
              <a:tr h="28675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1st Blade (90∘)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280∘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80∘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85051722"/>
                  </a:ext>
                </a:extLst>
              </a:tr>
              <a:tr h="28675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2nd Blade (90∘)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40∘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200∘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981396104"/>
                  </a:ext>
                </a:extLst>
              </a:tr>
              <a:tr h="28675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3rd Blade (90∘)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160∘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dirty="0">
                          <a:effectLst/>
                        </a:rPr>
                        <a:t>320∘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5211424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2F81AB8-C104-988F-70A2-7F9B740EDDB2}"/>
              </a:ext>
            </a:extLst>
          </p:cNvPr>
          <p:cNvSpPr txBox="1"/>
          <p:nvPr/>
        </p:nvSpPr>
        <p:spPr>
          <a:xfrm>
            <a:off x="429208" y="1371601"/>
            <a:ext cx="10263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u="sng" dirty="0"/>
              <a:t>Case 2 </a:t>
            </a:r>
            <a:r>
              <a:rPr lang="en-US" sz="1200" dirty="0">
                <a:solidFill>
                  <a:schemeClr val="bg1"/>
                </a:solidFill>
              </a:rPr>
              <a:t>e1</a:t>
            </a:r>
          </a:p>
        </p:txBody>
      </p:sp>
      <p:pic>
        <p:nvPicPr>
          <p:cNvPr id="7" name="Picture 6" descr="A black circular object with white dots&#10;&#10;AI-generated content may be incorrect.">
            <a:extLst>
              <a:ext uri="{FF2B5EF4-FFF2-40B4-BE49-F238E27FC236}">
                <a16:creationId xmlns:a16="http://schemas.microsoft.com/office/drawing/2014/main" id="{812FFAEC-3B4C-BFB7-BD69-FF46D1C0A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18" y="1904789"/>
            <a:ext cx="4769498" cy="428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019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719CD-09CA-17D7-2CAB-1C329AB3F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82272-78D0-F6E6-3E06-3F9042E2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Rotor Lock Disc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6B038-7E0E-4CB0-79F7-7E8CF6F0453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2CDC14-EFCD-9106-C243-F3D07F3B695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11</a:t>
            </a:fld>
            <a:endParaRPr lang="en-GB" dirty="0"/>
          </a:p>
        </p:txBody>
      </p:sp>
      <p:pic>
        <p:nvPicPr>
          <p:cNvPr id="8" name="Picture 7" descr="A black circle with white dots&#10;&#10;AI-generated content may be incorrect.">
            <a:extLst>
              <a:ext uri="{FF2B5EF4-FFF2-40B4-BE49-F238E27FC236}">
                <a16:creationId xmlns:a16="http://schemas.microsoft.com/office/drawing/2014/main" id="{B3CB3C19-A85C-1040-A898-1A5ABA8E2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04" y="1865227"/>
            <a:ext cx="4218765" cy="4102546"/>
          </a:xfrm>
          <a:prstGeom prst="rect">
            <a:avLst/>
          </a:prstGeom>
        </p:spPr>
      </p:pic>
      <p:sp>
        <p:nvSpPr>
          <p:cNvPr id="9" name="Datumsplatzhalter 22">
            <a:extLst>
              <a:ext uri="{FF2B5EF4-FFF2-40B4-BE49-F238E27FC236}">
                <a16:creationId xmlns:a16="http://schemas.microsoft.com/office/drawing/2014/main" id="{7CEAA8B2-772A-B527-56B8-02394843CF49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Divyesh Mistry </a:t>
            </a:r>
            <a:endParaRPr lang="en-GB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B5A4948-4E67-79CC-5FC6-FBC910C15E31}"/>
              </a:ext>
            </a:extLst>
          </p:cNvPr>
          <p:cNvGraphicFramePr>
            <a:graphicFrameLocks noGrp="1"/>
          </p:cNvGraphicFramePr>
          <p:nvPr/>
        </p:nvGraphicFramePr>
        <p:xfrm>
          <a:off x="8668139" y="2678502"/>
          <a:ext cx="3387011" cy="3322320"/>
        </p:xfrm>
        <a:graphic>
          <a:graphicData uri="http://schemas.openxmlformats.org/drawingml/2006/table">
            <a:tbl>
              <a:tblPr/>
              <a:tblGrid>
                <a:gridCol w="1177731">
                  <a:extLst>
                    <a:ext uri="{9D8B030D-6E8A-4147-A177-3AD203B41FA5}">
                      <a16:colId xmlns:a16="http://schemas.microsoft.com/office/drawing/2014/main" val="2392845030"/>
                    </a:ext>
                  </a:extLst>
                </a:gridCol>
                <a:gridCol w="1104640">
                  <a:extLst>
                    <a:ext uri="{9D8B030D-6E8A-4147-A177-3AD203B41FA5}">
                      <a16:colId xmlns:a16="http://schemas.microsoft.com/office/drawing/2014/main" val="3834964865"/>
                    </a:ext>
                  </a:extLst>
                </a:gridCol>
                <a:gridCol w="1104640">
                  <a:extLst>
                    <a:ext uri="{9D8B030D-6E8A-4147-A177-3AD203B41FA5}">
                      <a16:colId xmlns:a16="http://schemas.microsoft.com/office/drawing/2014/main" val="802735957"/>
                    </a:ext>
                  </a:extLst>
                </a:gridCol>
              </a:tblGrid>
              <a:tr h="26494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dirty="0">
                          <a:effectLst/>
                        </a:rPr>
                        <a:t>Main Position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Hole A (−10∘)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Hole B (+10∘)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594548"/>
                  </a:ext>
                </a:extLst>
              </a:tr>
              <a:tr h="13944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350∘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10∘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310511"/>
                  </a:ext>
                </a:extLst>
              </a:tr>
              <a:tr h="13944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30∘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40∘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082496"/>
                  </a:ext>
                </a:extLst>
              </a:tr>
              <a:tr h="13944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90∘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80∘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100∘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053416"/>
                  </a:ext>
                </a:extLst>
              </a:tr>
              <a:tr h="13944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120∘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110∘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130∘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434259"/>
                  </a:ext>
                </a:extLst>
              </a:tr>
              <a:tr h="13944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150∘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140∘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160∘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108501"/>
                  </a:ext>
                </a:extLst>
              </a:tr>
              <a:tr h="13944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210∘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200∘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220∘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912350"/>
                  </a:ext>
                </a:extLst>
              </a:tr>
              <a:tr h="13944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240∘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230∘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250∘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6587384"/>
                  </a:ext>
                </a:extLst>
              </a:tr>
              <a:tr h="13944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270∘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260∘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280∘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514656"/>
                  </a:ext>
                </a:extLst>
              </a:tr>
              <a:tr h="13944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330∘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320∘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dirty="0">
                          <a:effectLst/>
                        </a:rPr>
                        <a:t>340∘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2163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DC01C7-09E3-AF58-8297-5376C06DEE4E}"/>
                  </a:ext>
                </a:extLst>
              </p:cNvPr>
              <p:cNvSpPr txBox="1"/>
              <p:nvPr/>
            </p:nvSpPr>
            <p:spPr>
              <a:xfrm>
                <a:off x="5652569" y="1352939"/>
                <a:ext cx="6539431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Design Load Case (DLC) 8.1 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for maintenance and repair requires that a key check is performed </a:t>
                </a: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even with the rotor locked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The system must include </a:t>
                </a: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Verification of standstill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to be provided up to an </a:t>
                </a: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oblique inflow of +/- 10</a:t>
                </a:r>
                <a14:m>
                  <m:oMath xmlns:m="http://schemas.openxmlformats.org/officeDocument/2006/math">
                    <m:r>
                      <a:rPr kumimoji="0" lang="en-US" altLang="en-US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(Section 2.2.3.4)</a:t>
                </a: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5FBC93-8213-99CD-8C32-8C854A5FC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569" y="1352939"/>
                <a:ext cx="6539431" cy="1077218"/>
              </a:xfrm>
              <a:prstGeom prst="rect">
                <a:avLst/>
              </a:prstGeom>
              <a:blipFill>
                <a:blip r:embed="rId3"/>
                <a:stretch>
                  <a:fillRect l="-466" t="-1695" r="-186" b="-6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C89B24B-3B54-6FE5-5ED2-B7C5EE8CAD66}"/>
              </a:ext>
            </a:extLst>
          </p:cNvPr>
          <p:cNvSpPr txBox="1"/>
          <p:nvPr/>
        </p:nvSpPr>
        <p:spPr>
          <a:xfrm>
            <a:off x="8862526" y="6000822"/>
            <a:ext cx="3329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*Value we assigned based on our assumption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20B6A8-873C-21D4-6F00-84204ADFBA24}"/>
              </a:ext>
            </a:extLst>
          </p:cNvPr>
          <p:cNvSpPr txBox="1"/>
          <p:nvPr/>
        </p:nvSpPr>
        <p:spPr>
          <a:xfrm>
            <a:off x="9459685" y="6285471"/>
            <a:ext cx="444759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GL 2010 &amp; LLM(Large Language Models).</a:t>
            </a:r>
          </a:p>
          <a:p>
            <a:r>
              <a:rPr lang="en-US" sz="1200" b="0" i="0" dirty="0">
                <a:effectLst/>
              </a:rPr>
              <a:t> 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74E322-BCC6-4FA8-A75F-7C41FF704545}"/>
              </a:ext>
            </a:extLst>
          </p:cNvPr>
          <p:cNvSpPr txBox="1"/>
          <p:nvPr/>
        </p:nvSpPr>
        <p:spPr>
          <a:xfrm>
            <a:off x="429208" y="1371601"/>
            <a:ext cx="10263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u="sng" dirty="0"/>
              <a:t>Case 3 </a:t>
            </a:r>
            <a:r>
              <a:rPr lang="en-US" sz="1200" dirty="0">
                <a:solidFill>
                  <a:schemeClr val="bg1"/>
                </a:solidFill>
              </a:rPr>
              <a:t>e1</a:t>
            </a:r>
          </a:p>
        </p:txBody>
      </p:sp>
    </p:spTree>
    <p:extLst>
      <p:ext uri="{BB962C8B-B14F-4D97-AF65-F5344CB8AC3E}">
        <p14:creationId xmlns:p14="http://schemas.microsoft.com/office/powerpoint/2010/main" val="3327092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23958-A7DD-15FC-2C16-F2CEE979C81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947AF1-976A-1881-A28D-26F3403087C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F82B381-0302-71AE-39B3-E8A029909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Rotor Lock Pin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5CEFEF9-2C21-5287-B4C1-53F14F7F3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725529"/>
              </p:ext>
            </p:extLst>
          </p:nvPr>
        </p:nvGraphicFramePr>
        <p:xfrm>
          <a:off x="838200" y="1847193"/>
          <a:ext cx="5778500" cy="1767217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120900">
                  <a:extLst>
                    <a:ext uri="{9D8B030D-6E8A-4147-A177-3AD203B41FA5}">
                      <a16:colId xmlns:a16="http://schemas.microsoft.com/office/drawing/2014/main" val="1329611527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1488458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097244497"/>
                    </a:ext>
                  </a:extLst>
                </a:gridCol>
              </a:tblGrid>
              <a:tr h="57849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parameter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value 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unit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ctr"/>
                </a:tc>
                <a:extLst>
                  <a:ext uri="{0D108BD9-81ED-4DB2-BD59-A6C34878D82A}">
                    <a16:rowId xmlns:a16="http://schemas.microsoft.com/office/drawing/2014/main" val="14008572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723,68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mm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17817201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56,38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mm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13141626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D1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15482124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162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1635772401"/>
                  </a:ext>
                </a:extLst>
              </a:tr>
            </a:tbl>
          </a:graphicData>
        </a:graphic>
      </p:graphicFrame>
      <p:pic>
        <p:nvPicPr>
          <p:cNvPr id="14" name="Picture 13" descr="A close-up of a black roll&#10;&#10;AI-generated content may be incorrect.">
            <a:extLst>
              <a:ext uri="{FF2B5EF4-FFF2-40B4-BE49-F238E27FC236}">
                <a16:creationId xmlns:a16="http://schemas.microsoft.com/office/drawing/2014/main" id="{9967AF2E-DC9A-477F-84E5-E066634D5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253" y="3853544"/>
            <a:ext cx="4786033" cy="23859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58755C7-DE29-3EC5-0908-33666B2DBF47}"/>
              </a:ext>
            </a:extLst>
          </p:cNvPr>
          <p:cNvSpPr/>
          <p:nvPr/>
        </p:nvSpPr>
        <p:spPr>
          <a:xfrm>
            <a:off x="1427799" y="5195502"/>
            <a:ext cx="3175005" cy="81802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22E20F-6FE7-B4F2-E066-CF135DAC43D6}"/>
              </a:ext>
            </a:extLst>
          </p:cNvPr>
          <p:cNvCxnSpPr/>
          <p:nvPr/>
        </p:nvCxnSpPr>
        <p:spPr>
          <a:xfrm flipH="1">
            <a:off x="1157211" y="5195502"/>
            <a:ext cx="270588" cy="1832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A49DDC-EF5E-C2FF-B473-2E79C0F02149}"/>
              </a:ext>
            </a:extLst>
          </p:cNvPr>
          <p:cNvCxnSpPr/>
          <p:nvPr/>
        </p:nvCxnSpPr>
        <p:spPr>
          <a:xfrm>
            <a:off x="1157211" y="5378724"/>
            <a:ext cx="0" cy="498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37D85F0-64E0-A8A5-C1EB-57F2B9717D5D}"/>
              </a:ext>
            </a:extLst>
          </p:cNvPr>
          <p:cNvCxnSpPr/>
          <p:nvPr/>
        </p:nvCxnSpPr>
        <p:spPr>
          <a:xfrm>
            <a:off x="1157211" y="5877322"/>
            <a:ext cx="270588" cy="1362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14A5121-297E-2C0C-0156-28375EA42960}"/>
              </a:ext>
            </a:extLst>
          </p:cNvPr>
          <p:cNvCxnSpPr/>
          <p:nvPr/>
        </p:nvCxnSpPr>
        <p:spPr>
          <a:xfrm>
            <a:off x="1427799" y="6197215"/>
            <a:ext cx="306303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FC31EEF-B349-6B85-7F33-07F79A9D9EB9}"/>
              </a:ext>
            </a:extLst>
          </p:cNvPr>
          <p:cNvSpPr txBox="1"/>
          <p:nvPr/>
        </p:nvSpPr>
        <p:spPr>
          <a:xfrm>
            <a:off x="2688730" y="6215876"/>
            <a:ext cx="541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L1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39F3F4-6A95-96A6-740B-D82EA2DAE946}"/>
              </a:ext>
            </a:extLst>
          </p:cNvPr>
          <p:cNvSpPr txBox="1"/>
          <p:nvPr/>
        </p:nvSpPr>
        <p:spPr>
          <a:xfrm>
            <a:off x="1012586" y="4923270"/>
            <a:ext cx="541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L2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2682326-1084-7CC4-9B0D-1817DF334BCE}"/>
              </a:ext>
            </a:extLst>
          </p:cNvPr>
          <p:cNvCxnSpPr>
            <a:cxnSpLocks/>
          </p:cNvCxnSpPr>
          <p:nvPr/>
        </p:nvCxnSpPr>
        <p:spPr>
          <a:xfrm>
            <a:off x="965916" y="5157832"/>
            <a:ext cx="38258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6221DFD-CDE0-43D5-2E68-AED0D57C95D3}"/>
              </a:ext>
            </a:extLst>
          </p:cNvPr>
          <p:cNvCxnSpPr>
            <a:cxnSpLocks/>
          </p:cNvCxnSpPr>
          <p:nvPr/>
        </p:nvCxnSpPr>
        <p:spPr>
          <a:xfrm flipV="1">
            <a:off x="1032547" y="5378724"/>
            <a:ext cx="0" cy="5865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8441DDB-D945-EAFF-887B-CECF5A139382}"/>
              </a:ext>
            </a:extLst>
          </p:cNvPr>
          <p:cNvSpPr txBox="1"/>
          <p:nvPr/>
        </p:nvSpPr>
        <p:spPr>
          <a:xfrm>
            <a:off x="682665" y="5543411"/>
            <a:ext cx="541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D2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9F06328-A787-1075-FB5A-F9AB23A867D7}"/>
              </a:ext>
            </a:extLst>
          </p:cNvPr>
          <p:cNvCxnSpPr>
            <a:cxnSpLocks/>
          </p:cNvCxnSpPr>
          <p:nvPr/>
        </p:nvCxnSpPr>
        <p:spPr>
          <a:xfrm flipV="1">
            <a:off x="4711919" y="5195502"/>
            <a:ext cx="0" cy="8180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81269E4-ABF8-85EF-1BAB-43C7FBB69756}"/>
              </a:ext>
            </a:extLst>
          </p:cNvPr>
          <p:cNvSpPr txBox="1"/>
          <p:nvPr/>
        </p:nvSpPr>
        <p:spPr>
          <a:xfrm>
            <a:off x="4727729" y="5367125"/>
            <a:ext cx="541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D1</a:t>
            </a:r>
          </a:p>
        </p:txBody>
      </p:sp>
    </p:spTree>
    <p:extLst>
      <p:ext uri="{BB962C8B-B14F-4D97-AF65-F5344CB8AC3E}">
        <p14:creationId xmlns:p14="http://schemas.microsoft.com/office/powerpoint/2010/main" val="2455468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C2EB4-251E-677C-471E-7D083A62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Labyrinth Sealing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84DB5-D858-347A-7450-5673CF4FE2D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179C1-40D9-86C9-FC8D-A1EB48A69C2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13</a:t>
            </a:fld>
            <a:endParaRPr lang="en-GB" dirty="0"/>
          </a:p>
        </p:txBody>
      </p:sp>
      <p:pic>
        <p:nvPicPr>
          <p:cNvPr id="8" name="Picture 7" descr="A diagram of a mechanical part&#10;&#10;AI-generated content may be incorrect.">
            <a:extLst>
              <a:ext uri="{FF2B5EF4-FFF2-40B4-BE49-F238E27FC236}">
                <a16:creationId xmlns:a16="http://schemas.microsoft.com/office/drawing/2014/main" id="{7A5EE1C2-A902-7EEF-6BF3-1C9EF4037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4833" y="3918267"/>
            <a:ext cx="3526973" cy="2574608"/>
          </a:xfrm>
          <a:prstGeom prst="rect">
            <a:avLst/>
          </a:prstGeom>
        </p:spPr>
      </p:pic>
      <p:pic>
        <p:nvPicPr>
          <p:cNvPr id="10" name="Picture 9" descr="A green circle with a white circle&#10;&#10;AI-generated content may be incorrect.">
            <a:extLst>
              <a:ext uri="{FF2B5EF4-FFF2-40B4-BE49-F238E27FC236}">
                <a16:creationId xmlns:a16="http://schemas.microsoft.com/office/drawing/2014/main" id="{4C20BCAC-E177-B2CB-844A-F3010141C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03" y="1668802"/>
            <a:ext cx="4103797" cy="3571701"/>
          </a:xfrm>
          <a:prstGeom prst="rect">
            <a:avLst/>
          </a:prstGeom>
        </p:spPr>
      </p:pic>
      <p:pic>
        <p:nvPicPr>
          <p:cNvPr id="12" name="Picture 11" descr="A circular object with a white background&#10;&#10;AI-generated content may be incorrect.">
            <a:extLst>
              <a:ext uri="{FF2B5EF4-FFF2-40B4-BE49-F238E27FC236}">
                <a16:creationId xmlns:a16="http://schemas.microsoft.com/office/drawing/2014/main" id="{C16480EA-541A-86FC-2652-1E77862A4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1100" y="1568504"/>
            <a:ext cx="3991901" cy="35717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A4A7215-506F-D694-CB94-B56759C33952}"/>
              </a:ext>
            </a:extLst>
          </p:cNvPr>
          <p:cNvSpPr txBox="1"/>
          <p:nvPr/>
        </p:nvSpPr>
        <p:spPr>
          <a:xfrm>
            <a:off x="1278294" y="5240503"/>
            <a:ext cx="2799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Labyrinth ring fixed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B41F3E-87AF-0A5C-968C-E98DEF4226E8}"/>
              </a:ext>
            </a:extLst>
          </p:cNvPr>
          <p:cNvSpPr txBox="1"/>
          <p:nvPr/>
        </p:nvSpPr>
        <p:spPr>
          <a:xfrm>
            <a:off x="5610809" y="5150996"/>
            <a:ext cx="2799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Labyrinth ring rotating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775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2BCFC-C01F-F901-E135-349BFC146502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361D1-C8CB-69C7-0D73-E3696CCF4A1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95378A32-4F0F-FB4F-6AB0-6C9A00899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2574"/>
            <a:ext cx="10515600" cy="1325563"/>
          </a:xfrm>
        </p:spPr>
        <p:txBody>
          <a:bodyPr/>
          <a:lstStyle/>
          <a:p>
            <a:r>
              <a:rPr lang="de-DE" dirty="0"/>
              <a:t>Rotor Bearing Assembly</a:t>
            </a:r>
          </a:p>
        </p:txBody>
      </p:sp>
      <p:pic>
        <p:nvPicPr>
          <p:cNvPr id="3" name="Picture 2" descr="A black and green object with a black ring&#10;&#10;AI-generated content may be incorrect.">
            <a:extLst>
              <a:ext uri="{FF2B5EF4-FFF2-40B4-BE49-F238E27FC236}">
                <a16:creationId xmlns:a16="http://schemas.microsoft.com/office/drawing/2014/main" id="{30F7C06D-1737-742A-DD1E-3982C8F15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61355"/>
            <a:ext cx="5804506" cy="4661042"/>
          </a:xfrm>
          <a:prstGeom prst="rect">
            <a:avLst/>
          </a:prstGeom>
        </p:spPr>
      </p:pic>
      <p:sp>
        <p:nvSpPr>
          <p:cNvPr id="8" name="Datumsplatzhalter 22">
            <a:extLst>
              <a:ext uri="{FF2B5EF4-FFF2-40B4-BE49-F238E27FC236}">
                <a16:creationId xmlns:a16="http://schemas.microsoft.com/office/drawing/2014/main" id="{B132EBC8-FEE4-C493-EA3D-E21891BD8F0C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Divyesh Mistry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2032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24BEB-9F65-2F64-BED4-4D626EF2B43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1B2113-E42E-83CA-A261-0511959BECC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350C488-674E-8743-5882-67877D30C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21109"/>
            <a:ext cx="11039669" cy="1325563"/>
          </a:xfrm>
        </p:spPr>
        <p:txBody>
          <a:bodyPr/>
          <a:lstStyle/>
          <a:p>
            <a:r>
              <a:rPr lang="en-US" dirty="0"/>
              <a:t>Cost Calculation(Assumption)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4966093-6A72-957E-54F9-CE71C98B3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896774"/>
              </p:ext>
            </p:extLst>
          </p:nvPr>
        </p:nvGraphicFramePr>
        <p:xfrm>
          <a:off x="1164770" y="1524239"/>
          <a:ext cx="8091197" cy="10972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593842">
                  <a:extLst>
                    <a:ext uri="{9D8B030D-6E8A-4147-A177-3AD203B41FA5}">
                      <a16:colId xmlns:a16="http://schemas.microsoft.com/office/drawing/2014/main" val="3505528288"/>
                    </a:ext>
                  </a:extLst>
                </a:gridCol>
                <a:gridCol w="4497355">
                  <a:extLst>
                    <a:ext uri="{9D8B030D-6E8A-4147-A177-3AD203B41FA5}">
                      <a16:colId xmlns:a16="http://schemas.microsoft.com/office/drawing/2014/main" val="2983716984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Washer Size  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Germany – Typical Retail Price (€ per piece)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323845769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M36 (DIN125 – 37×66×5 mm)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0.31 – 2.08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915945911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M42 (DIN125 – 43×78×7 mm)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1.57 – 2.82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3396721091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M48 (DIN125 – 50×92×8 mm)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2.16 – 12.75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3659924516"/>
                  </a:ext>
                </a:extLst>
              </a:tr>
            </a:tbl>
          </a:graphicData>
        </a:graphic>
      </p:graphicFrame>
      <p:sp>
        <p:nvSpPr>
          <p:cNvPr id="14" name="Datumsplatzhalter 22">
            <a:extLst>
              <a:ext uri="{FF2B5EF4-FFF2-40B4-BE49-F238E27FC236}">
                <a16:creationId xmlns:a16="http://schemas.microsoft.com/office/drawing/2014/main" id="{138C1D2A-FA35-6C49-0C37-90A12B411D70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Divyesh Mistry </a:t>
            </a:r>
            <a:endParaRPr lang="en-GB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3D4E4C5-AE8E-5134-4C50-54033EE45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746812"/>
              </p:ext>
            </p:extLst>
          </p:nvPr>
        </p:nvGraphicFramePr>
        <p:xfrm>
          <a:off x="1164770" y="2983257"/>
          <a:ext cx="8091196" cy="18592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664684">
                  <a:extLst>
                    <a:ext uri="{9D8B030D-6E8A-4147-A177-3AD203B41FA5}">
                      <a16:colId xmlns:a16="http://schemas.microsoft.com/office/drawing/2014/main" val="661023733"/>
                    </a:ext>
                  </a:extLst>
                </a:gridCol>
                <a:gridCol w="1876514">
                  <a:extLst>
                    <a:ext uri="{9D8B030D-6E8A-4147-A177-3AD203B41FA5}">
                      <a16:colId xmlns:a16="http://schemas.microsoft.com/office/drawing/2014/main" val="1510651897"/>
                    </a:ext>
                  </a:extLst>
                </a:gridCol>
                <a:gridCol w="1873303">
                  <a:extLst>
                    <a:ext uri="{9D8B030D-6E8A-4147-A177-3AD203B41FA5}">
                      <a16:colId xmlns:a16="http://schemas.microsoft.com/office/drawing/2014/main" val="2123321755"/>
                    </a:ext>
                  </a:extLst>
                </a:gridCol>
                <a:gridCol w="2676695">
                  <a:extLst>
                    <a:ext uri="{9D8B030D-6E8A-4147-A177-3AD203B41FA5}">
                      <a16:colId xmlns:a16="http://schemas.microsoft.com/office/drawing/2014/main" val="2177955787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Bolt Specification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Quantity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Single-Piece Retail Price (Average Estimate)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Total Retail Cost (Estimated)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320528406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</a:rPr>
                        <a:t>M36 × 200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</a:rPr>
                        <a:t>196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€80.00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€15,680.00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427965953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</a:rPr>
                        <a:t>M42 × 250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</a:rPr>
                        <a:t>24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€85.00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€2,040.00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2386113202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</a:rPr>
                        <a:t>M48 × 200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</a:rPr>
                        <a:t>46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€40.00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€1,840.00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373623176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</a:rPr>
                        <a:t>TOTAL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266 bolts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600">
                        <a:effectLst/>
                      </a:endParaRP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    €19,560.00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401355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5625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Bibliography – Rotor Bearing System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5C19340-9D16-A981-A772-1E4CF9E864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0688"/>
            <a:ext cx="10988040" cy="4616806"/>
          </a:xfrm>
        </p:spPr>
        <p:txBody>
          <a:bodyPr>
            <a:normAutofit lnSpcReduction="10000"/>
          </a:bodyPr>
          <a:lstStyle>
            <a:lvl1pPr marL="0" indent="0">
              <a:buNone/>
              <a:defRPr sz="1600"/>
            </a:lvl1pPr>
          </a:lstStyle>
          <a:p>
            <a:pPr marL="342900" indent="-342900">
              <a:buFont typeface="+mj-lt"/>
              <a:buAutoNum type="arabicPeriod"/>
            </a:pPr>
            <a:r>
              <a:rPr lang="en-US" dirty="0"/>
              <a:t>Optimus Shakti, Optimus 60E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ITH. (n.d.). ITH Hydraulic Torque Wrenches Catalog. Retrieved November 08, 2025, from </a:t>
            </a:r>
            <a:r>
              <a:rPr lang="en-US" dirty="0">
                <a:hlinkClick r:id="rId2"/>
              </a:rPr>
              <a:t>www.ITH.de/schraubwerkzeuge/hydraulische-drehmomentschrauber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i="1" dirty="0"/>
              <a:t>DIN EN 10083-3: Steels for quenching and tempering – Part 3: Technical delivery conditions for alloy steels</a:t>
            </a:r>
            <a:r>
              <a:rPr lang="en-US" dirty="0"/>
              <a:t>. Retrieved November 22, 2025, from </a:t>
            </a:r>
            <a:r>
              <a:rPr lang="en-US" dirty="0">
                <a:hlinkClick r:id="rId3"/>
              </a:rPr>
              <a:t>https://studylib.net/doc/18166049/din-en-10083-steel-for-quenching-and-tempering-part-3-</a:t>
            </a:r>
            <a:r>
              <a:rPr lang="en-US" dirty="0"/>
              <a:t>       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/>
              <a:t>American Institute of Steel Construction. (1989). </a:t>
            </a:r>
            <a:r>
              <a:rPr lang="en-US" altLang="en-US" i="1" dirty="0"/>
              <a:t>Manual of Steel Construction: Allowable Stress Design</a:t>
            </a:r>
            <a:r>
              <a:rPr lang="en-US" altLang="en-US" dirty="0"/>
              <a:t> (9th ed.). Chicago, IL: Author. Retrieved November 22, 2025, from </a:t>
            </a:r>
            <a:r>
              <a:rPr lang="en-US" altLang="en-US" dirty="0">
                <a:hlinkClick r:id="rId4"/>
              </a:rPr>
              <a:t>Internet Archive (Manual of Steel Construction: Allowable Stress Design, 9th Edition)</a:t>
            </a:r>
            <a:endParaRPr lang="en-US" altLang="en-US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dirty="0"/>
              <a:t>LLM(Large Language Models).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dirty="0" err="1"/>
              <a:t>Germanischer</a:t>
            </a:r>
            <a:r>
              <a:rPr lang="en-US" dirty="0"/>
              <a:t> Lloyd Industrial Services GmbH, Renewables Certification. (2010). Guideline for the certification of wind turbines.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dirty="0" err="1"/>
              <a:t>Boltport</a:t>
            </a:r>
            <a:r>
              <a:rPr lang="en-US" dirty="0"/>
              <a:t> Fasteners. (n.d.). DIN 125 Flat Washers Weights Chart. Retrieved December 8, 2025, from </a:t>
            </a:r>
            <a:r>
              <a:rPr lang="en-US" dirty="0">
                <a:hlinkClick r:id="rId5"/>
              </a:rPr>
              <a:t>https://boltport.com/weights/din-125/</a:t>
            </a:r>
            <a:endParaRPr lang="en-US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de-DE" dirty="0"/>
              <a:t>M. Wilhelmsen A/S. (n.d.). </a:t>
            </a:r>
            <a:r>
              <a:rPr lang="de-DE" i="1" dirty="0"/>
              <a:t>STEEL BOLT M48X240 10.9 DIN 931</a:t>
            </a:r>
            <a:r>
              <a:rPr lang="de-DE" dirty="0"/>
              <a:t>. Abgerufen am 8. Dezember 2025, von </a:t>
            </a:r>
            <a:r>
              <a:rPr lang="de-DE" dirty="0">
                <a:hlinkClick r:id="rId6"/>
              </a:rPr>
              <a:t>https://ehandel.mw.dk/en/steel-bolts-din-931/steel-bolt-m48-109</a:t>
            </a:r>
            <a:endParaRPr lang="en-US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lvl="0" indent="-342900">
              <a:buFont typeface="+mj-lt"/>
              <a:buAutoNum type="arabicPeriod"/>
              <a:defRPr/>
            </a:pPr>
            <a:endParaRPr lang="en-US" dirty="0"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it-IT" dirty="0"/>
          </a:p>
          <a:p>
            <a:pPr lvl="0"/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6" name="Datumsplatzhalter 22">
            <a:extLst>
              <a:ext uri="{FF2B5EF4-FFF2-40B4-BE49-F238E27FC236}">
                <a16:creationId xmlns:a16="http://schemas.microsoft.com/office/drawing/2014/main" id="{D522F266-0CCB-4197-ED4F-AD0F111BC028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Divyesh Mistry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 template final.pptx" id="{035502AD-7CD3-43A3-812C-A08912B73661}" vid="{2F211972-A5F6-4C5A-812C-358509A8F2F3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 template final.pptx" id="{035502AD-7CD3-43A3-812C-A08912B73661}" vid="{EEC5F849-3D6F-4317-9095-D7FC4779F13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 /><Relationship Id="rId1" Type="http://schemas.microsoft.com/office/2011/relationships/webextension" Target="webextension1.xml" 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5375</TotalTime>
  <Words>1233</Words>
  <Application>Microsoft Office PowerPoint</Application>
  <PresentationFormat>Widescreen</PresentationFormat>
  <Paragraphs>313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Office</vt:lpstr>
      <vt:lpstr>Benutzerdefiniertes Design</vt:lpstr>
      <vt:lpstr>PowerPoint Presentation</vt:lpstr>
      <vt:lpstr>PowerPoint Presentation</vt:lpstr>
      <vt:lpstr>Agenda</vt:lpstr>
      <vt:lpstr>Bearing Housing</vt:lpstr>
      <vt:lpstr> Rotor Shaft </vt:lpstr>
      <vt:lpstr>Bolt calculation  for the Flange on Hub Side</vt:lpstr>
      <vt:lpstr>PowerPoint Presentation</vt:lpstr>
      <vt:lpstr>PowerPoint Presentation</vt:lpstr>
      <vt:lpstr>Rotor Lock Disc</vt:lpstr>
      <vt:lpstr>Rotor Lock Disc</vt:lpstr>
      <vt:lpstr>Rotor Lock Disc</vt:lpstr>
      <vt:lpstr>Rotor Lock Pin</vt:lpstr>
      <vt:lpstr>Labyrinth Sealing</vt:lpstr>
      <vt:lpstr>Rotor Bearing Assembly</vt:lpstr>
      <vt:lpstr>Cost Calculation(Assumption)</vt:lpstr>
      <vt:lpstr>Bibliography – Rotor Bearing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Josef Remberger</dc:creator>
  <cp:lastModifiedBy>Divyesh Satishkumar Mistry</cp:lastModifiedBy>
  <cp:revision>157</cp:revision>
  <dcterms:created xsi:type="dcterms:W3CDTF">2025-10-24T16:53:52Z</dcterms:created>
  <dcterms:modified xsi:type="dcterms:W3CDTF">2025-12-08T11:57:19Z</dcterms:modified>
</cp:coreProperties>
</file>