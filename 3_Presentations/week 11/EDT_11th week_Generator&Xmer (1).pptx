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  <p:sldMasterId id="2147483725" r:id="rId2"/>
  </p:sldMasterIdLst>
  <p:notesMasterIdLst>
    <p:notesMasterId r:id="rId15"/>
  </p:notesMasterIdLst>
  <p:handoutMasterIdLst>
    <p:handoutMasterId r:id="rId16"/>
  </p:handoutMasterIdLst>
  <p:sldIdLst>
    <p:sldId id="263" r:id="rId3"/>
    <p:sldId id="259" r:id="rId4"/>
    <p:sldId id="303" r:id="rId5"/>
    <p:sldId id="304" r:id="rId6"/>
    <p:sldId id="305" r:id="rId7"/>
    <p:sldId id="306" r:id="rId8"/>
    <p:sldId id="298" r:id="rId9"/>
    <p:sldId id="309" r:id="rId10"/>
    <p:sldId id="307" r:id="rId11"/>
    <p:sldId id="308" r:id="rId12"/>
    <p:sldId id="272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59"/>
            <p14:sldId id="303"/>
            <p14:sldId id="304"/>
            <p14:sldId id="305"/>
            <p14:sldId id="306"/>
            <p14:sldId id="298"/>
            <p14:sldId id="309"/>
            <p14:sldId id="307"/>
            <p14:sldId id="308"/>
          </p14:sldIdLst>
        </p14:section>
        <p14:section name="Next Step" id="{B26F6679-C236-4D3D-BC2F-CAE5ED400718}">
          <p14:sldIdLst>
            <p14:sldId id="272"/>
          </p14:sldIdLst>
        </p14:section>
        <p14:section name="bibliography" id="{2ECB0A3B-7D16-4F98-AD6A-5308DF7BF078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48"/>
  </p:normalViewPr>
  <p:slideViewPr>
    <p:cSldViewPr snapToGrid="0">
      <p:cViewPr varScale="1">
        <p:scale>
          <a:sx n="77" d="100"/>
          <a:sy n="77" d="100"/>
        </p:scale>
        <p:origin x="66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/>
              <a:t>Aiswarya Vijayan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9T09:59:07.8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 0,'1933'-27'0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7T02:57:59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3051 1078 23322,'-1'42'0,"-3"1"0,-1-1 0,-4 0 0,-1-1 0,-3 1 0,-2-1 0,-2-1 0,-3 0 0,-2-1 0,-2 0 0,-2-1 0,-2 0 0,-3-2 0,-1 0 0,-2-2 0,-2 0 0,-2-1 0,-2-2 0,-2 0 0,-1-2 0,-1-1 0,-3-1 0,-1-1 0,-1-2 0,-1-1 0,-2-2 0,-1-1 0,0-1 0,-2-2 0,-1-2 0,-1-1 0,0-2 0,-1-1 0,0-2 0,-1-2 0,-1-1 0,1-2 0,-1-1 0,0-2 0,0-2 0,0-2 0,1-1 0,-1-2 0,1-1 0,1-2 0,0-2 0,1-1 0,0-2 0,1-1 0,1-2 0,2-2 0,0-1 0,1-1 0,2-2 0,1-1 0,1-2 0,1-1 0,3-1 0,1-1 0,1-2 0,2 0 0,2-2 0,2-1 0,2 0 0,2-2 0,1 0 0,3-2 0,2 0 0,2-1 0,2 0 0,2-1 0,3 0 0,2-1 0,2-1 0,3 1 0,1-1 0,4 0 0,1-1 0,3 1 0,2 0 0,3-1 0,1 1 0,4 0 0,1 1 0,3-1 0,2 1 0,2 1 0,3 0 0,2 1 0,2 0 0,2 1 0,2 0 0,3 2 0,1 0 0,2 2 0,2 0 0,2 1 0,2 2 0,2 0 0,1 2 0,1 1 0,3 1 0,1 1 0,1 2 0,1 1 0,2 2 0,1 1 0,0 1 0,2 2 0,1 2 0,1 1 0,0 2 0,1 1 0,0 2 0,1 2 0,1 1 0,-1 2 0,1 1 0,0 2 0,0 2 0,0 2 0,-1 1 0,1 2 0,-1 1 0,-1 2 0,0 2 0,-1 1 0,0 2 0,-1 1 0,-1 2 0,-2 2 0,0 1 0,-1 1 0,-2 2 0,-1 1 0,-1 2 0,-1 1 0,-3 1 0,-1 1 0,-1 2 0,-2 0 0,-2 2 0,-2 1 0,-2 0 0,-2 2 0,-1 0 0,-3 2 0,-2 0 0,-2 1 0,-2 0 0,-2 1 0,-3 0 0,-2 1 0,-2 1 0,-3-1 0,-1 1 0,-4 0 0,-1 1 0,-3-1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08/12/2025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Aiswarya Vijayan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4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Aptos" charset="0"/>
              </a:rPr>
              <a:t>12</a:t>
            </a:fld>
            <a:endParaRPr lang="zh-CN" altLang="en-US" sz="1200"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E49688-41AC-DE61-6A14-1E1D413817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GB"/>
              <a:t>Aiswarya Vijayan</a:t>
            </a:r>
          </a:p>
        </p:txBody>
      </p:sp>
    </p:spTree>
    <p:extLst>
      <p:ext uri="{BB962C8B-B14F-4D97-AF65-F5344CB8AC3E}">
        <p14:creationId xmlns:p14="http://schemas.microsoft.com/office/powerpoint/2010/main" val="1886619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608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First slide for groups</a:t>
            </a:r>
            <a:endParaRPr lang="en-GB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6182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/>
              <a:t>Weekly report: Team X</a:t>
            </a:r>
            <a:endParaRPr lang="en-GB" sz="400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/>
              <a:t>Week </a:t>
            </a:r>
            <a:r>
              <a:rPr lang="it-IT" sz="2000" err="1"/>
              <a:t>number</a:t>
            </a:r>
            <a:r>
              <a:rPr lang="it-IT" sz="2000"/>
              <a:t>: X</a:t>
            </a:r>
          </a:p>
          <a:p>
            <a:r>
              <a:rPr lang="it-IT" sz="2000"/>
              <a:t>Date: DD/MM/20JJ</a:t>
            </a:r>
          </a:p>
          <a:p>
            <a:r>
              <a:rPr lang="it-IT" sz="200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0853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96636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79193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86150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12. </a:t>
            </a:r>
            <a:r>
              <a:rPr lang="de-DE" err="1"/>
              <a:t>Machine</a:t>
            </a:r>
            <a:r>
              <a:rPr lang="de-DE"/>
              <a:t> </a:t>
            </a:r>
            <a:r>
              <a:rPr lang="de-DE" err="1"/>
              <a:t>Bed</a:t>
            </a:r>
            <a:r>
              <a:rPr lang="de-DE"/>
              <a:t> &amp; Yaw System  </a:t>
            </a:r>
          </a:p>
          <a:p>
            <a:pPr lvl="1"/>
            <a:r>
              <a:rPr lang="de-DE"/>
              <a:t>13. Tower  </a:t>
            </a:r>
          </a:p>
          <a:p>
            <a:pPr lvl="1"/>
            <a:r>
              <a:rPr lang="de-DE"/>
              <a:t>14. </a:t>
            </a:r>
            <a:r>
              <a:rPr lang="de-DE" err="1"/>
              <a:t>Foundation</a:t>
            </a:r>
            <a:r>
              <a:rPr lang="de-DE"/>
              <a:t>  </a:t>
            </a:r>
          </a:p>
          <a:p>
            <a:pPr lvl="1"/>
            <a:r>
              <a:rPr lang="de-DE"/>
              <a:t>15. Storage System 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/>
              <a:t>1.  </a:t>
            </a:r>
            <a:r>
              <a:rPr lang="de-DE" err="1"/>
              <a:t>Windfarm</a:t>
            </a:r>
            <a:r>
              <a:rPr lang="de-DE"/>
              <a:t> Project Development  </a:t>
            </a:r>
          </a:p>
          <a:p>
            <a:pPr lvl="1"/>
            <a:r>
              <a:rPr lang="de-DE"/>
              <a:t>2.  Loads and Dynamics  </a:t>
            </a:r>
          </a:p>
          <a:p>
            <a:pPr lvl="1"/>
            <a:r>
              <a:rPr lang="de-DE"/>
              <a:t>3.  Feedback Controller  </a:t>
            </a:r>
          </a:p>
          <a:p>
            <a:pPr lvl="1"/>
            <a:r>
              <a:rPr lang="de-DE"/>
              <a:t>4.  Lidar-</a:t>
            </a:r>
            <a:r>
              <a:rPr lang="de-DE" err="1"/>
              <a:t>Assisted</a:t>
            </a:r>
            <a:r>
              <a:rPr lang="de-DE"/>
              <a:t> Controller  </a:t>
            </a:r>
          </a:p>
          <a:p>
            <a:pPr lvl="1"/>
            <a:r>
              <a:rPr lang="de-DE"/>
              <a:t>5.  Rotor Blade </a:t>
            </a:r>
            <a:r>
              <a:rPr lang="de-DE" err="1"/>
              <a:t>Aerodynamics</a:t>
            </a:r>
            <a:r>
              <a:rPr lang="de-DE"/>
              <a:t>  </a:t>
            </a:r>
          </a:p>
          <a:p>
            <a:pPr lvl="1"/>
            <a:r>
              <a:rPr lang="de-DE"/>
              <a:t>6.  Rotor Blade </a:t>
            </a:r>
            <a:r>
              <a:rPr lang="de-DE" err="1"/>
              <a:t>Structures</a:t>
            </a:r>
            <a:r>
              <a:rPr lang="de-DE"/>
              <a:t>  </a:t>
            </a:r>
          </a:p>
          <a:p>
            <a:pPr lvl="1"/>
            <a:r>
              <a:rPr lang="de-DE"/>
              <a:t>7.  </a:t>
            </a:r>
            <a:r>
              <a:rPr lang="de-DE" err="1"/>
              <a:t>Electrical</a:t>
            </a:r>
            <a:r>
              <a:rPr lang="de-DE"/>
              <a:t> </a:t>
            </a:r>
            <a:r>
              <a:rPr lang="de-DE" err="1"/>
              <a:t>Drivetrain</a:t>
            </a:r>
            <a:r>
              <a:rPr lang="de-DE"/>
              <a:t> (EDT)  </a:t>
            </a:r>
          </a:p>
          <a:p>
            <a:pPr lvl="1"/>
            <a:r>
              <a:rPr lang="de-DE"/>
              <a:t>8.  </a:t>
            </a:r>
            <a:r>
              <a:rPr lang="de-DE" err="1"/>
              <a:t>Grid</a:t>
            </a:r>
            <a:r>
              <a:rPr lang="de-DE"/>
              <a:t> Code Development (GCD)  </a:t>
            </a:r>
          </a:p>
          <a:p>
            <a:pPr lvl="1"/>
            <a:r>
              <a:rPr lang="de-DE"/>
              <a:t>9.  Rotor Hub &amp; Pitch System  </a:t>
            </a:r>
          </a:p>
          <a:p>
            <a:pPr lvl="1"/>
            <a:r>
              <a:rPr lang="de-DE"/>
              <a:t>10. Rotor </a:t>
            </a:r>
            <a:r>
              <a:rPr lang="de-DE" err="1"/>
              <a:t>Bearing</a:t>
            </a:r>
            <a:r>
              <a:rPr lang="de-DE"/>
              <a:t> System  </a:t>
            </a:r>
          </a:p>
          <a:p>
            <a:pPr lvl="1"/>
            <a:r>
              <a:rPr lang="de-DE"/>
              <a:t>11. </a:t>
            </a:r>
            <a:r>
              <a:rPr lang="de-DE" err="1"/>
              <a:t>Gearbox</a:t>
            </a:r>
            <a:r>
              <a:rPr lang="de-DE"/>
              <a:t>, Brake, Coupling  </a:t>
            </a:r>
          </a:p>
          <a:p>
            <a:pPr lvl="1"/>
            <a:r>
              <a:rPr lang="de-DE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2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 and short, concise bullet points) </a:t>
            </a:r>
            <a:br>
              <a:rPr lang="it-IT"/>
            </a:b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topics</a:t>
            </a:r>
            <a:r>
              <a:rPr lang="it-IT"/>
              <a:t> for the 4 min </a:t>
            </a:r>
            <a:r>
              <a:rPr lang="it-IT" err="1"/>
              <a:t>timeslot</a:t>
            </a:r>
            <a:r>
              <a:rPr lang="it-IT"/>
              <a:t>!</a:t>
            </a:r>
            <a:endParaRPr lang="en-GB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413681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/>
              <a:t>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1"/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  <a:p>
            <a:pPr lvl="0"/>
            <a:r>
              <a:rPr lang="de-DE"/>
              <a:t>X</a:t>
            </a:r>
          </a:p>
          <a:p>
            <a:pPr lvl="1"/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List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contents</a:t>
            </a:r>
            <a:endParaRPr lang="en-GB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13173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, 20)</a:t>
            </a:r>
          </a:p>
          <a:p>
            <a:pPr lvl="1"/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Use [1], [2], [3] for </a:t>
            </a:r>
            <a:r>
              <a:rPr lang="it-IT" err="1"/>
              <a:t>everything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from a source (</a:t>
            </a:r>
            <a:r>
              <a:rPr lang="it-IT" err="1"/>
              <a:t>numbers</a:t>
            </a:r>
            <a:r>
              <a:rPr lang="it-IT"/>
              <a:t> </a:t>
            </a:r>
            <a:r>
              <a:rPr lang="it-IT" err="1"/>
              <a:t>should</a:t>
            </a:r>
            <a:r>
              <a:rPr lang="it-IT"/>
              <a:t> be the </a:t>
            </a:r>
            <a:r>
              <a:rPr lang="it-IT" err="1"/>
              <a:t>same</a:t>
            </a:r>
            <a:r>
              <a:rPr lang="it-IT"/>
              <a:t> like in the </a:t>
            </a:r>
            <a:r>
              <a:rPr lang="it-IT" err="1"/>
              <a:t>bibliography</a:t>
            </a:r>
            <a:r>
              <a:rPr lang="it-IT"/>
              <a:t>) (</a:t>
            </a:r>
            <a:r>
              <a:rPr lang="it-IT" err="1"/>
              <a:t>incl</a:t>
            </a:r>
            <a:r>
              <a:rPr lang="it-IT"/>
              <a:t>. pictures /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created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by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own</a:t>
            </a:r>
            <a:r>
              <a:rPr lang="it-IT"/>
              <a:t>, </a:t>
            </a:r>
            <a:r>
              <a:rPr lang="it-IT" err="1"/>
              <a:t>declare</a:t>
            </a:r>
            <a:r>
              <a:rPr lang="it-IT"/>
              <a:t> </a:t>
            </a:r>
            <a:r>
              <a:rPr lang="it-IT" err="1"/>
              <a:t>them</a:t>
            </a:r>
            <a:r>
              <a:rPr lang="it-IT"/>
              <a:t> </a:t>
            </a:r>
            <a:r>
              <a:rPr lang="it-IT" err="1"/>
              <a:t>as</a:t>
            </a:r>
            <a:r>
              <a:rPr lang="it-IT"/>
              <a:t> a </a:t>
            </a:r>
            <a:r>
              <a:rPr lang="it-IT" err="1"/>
              <a:t>thing</a:t>
            </a:r>
            <a:r>
              <a:rPr lang="it-IT"/>
              <a:t> </a:t>
            </a:r>
            <a:r>
              <a:rPr lang="it-IT" err="1"/>
              <a:t>you’ve</a:t>
            </a:r>
            <a:r>
              <a:rPr lang="it-IT"/>
              <a:t> </a:t>
            </a:r>
            <a:r>
              <a:rPr lang="it-IT" err="1"/>
              <a:t>done</a:t>
            </a:r>
            <a:r>
              <a:rPr lang="it-IT"/>
              <a:t> )</a:t>
            </a:r>
            <a:endParaRPr lang="en-GB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</a:t>
            </a:r>
            <a:r>
              <a:rPr lang="it-IT" b="1"/>
              <a:t>BUT</a:t>
            </a:r>
          </a:p>
          <a:p>
            <a:pPr algn="ctr"/>
            <a:r>
              <a:rPr lang="it-IT"/>
              <a:t>an </a:t>
            </a:r>
            <a:r>
              <a:rPr lang="it-IT" err="1"/>
              <a:t>intial</a:t>
            </a:r>
            <a:r>
              <a:rPr lang="it-IT"/>
              <a:t> slide with </a:t>
            </a:r>
            <a:r>
              <a:rPr lang="it-IT" err="1"/>
              <a:t>all</a:t>
            </a:r>
            <a:r>
              <a:rPr lang="it-IT"/>
              <a:t> the tasks </a:t>
            </a:r>
            <a:r>
              <a:rPr lang="it-IT" err="1"/>
              <a:t>completed</a:t>
            </a:r>
            <a:r>
              <a:rPr lang="it-IT"/>
              <a:t> for the week </a:t>
            </a:r>
            <a:r>
              <a:rPr lang="it-IT" err="1"/>
              <a:t>should</a:t>
            </a:r>
            <a:r>
              <a:rPr lang="it-IT"/>
              <a:t> </a:t>
            </a:r>
            <a:r>
              <a:rPr lang="it-IT" err="1"/>
              <a:t>always</a:t>
            </a:r>
            <a:r>
              <a:rPr lang="it-IT"/>
              <a:t> be </a:t>
            </a:r>
            <a:r>
              <a:rPr lang="it-IT" err="1"/>
              <a:t>included</a:t>
            </a:r>
            <a:br>
              <a:rPr lang="it-IT"/>
            </a:br>
            <a:r>
              <a:rPr lang="it-IT"/>
              <a:t>Use the </a:t>
            </a:r>
            <a:r>
              <a:rPr lang="it-IT" err="1"/>
              <a:t>same</a:t>
            </a:r>
            <a:r>
              <a:rPr lang="it-IT"/>
              <a:t> style, do </a:t>
            </a:r>
            <a:r>
              <a:rPr lang="it-IT" err="1"/>
              <a:t>not</a:t>
            </a:r>
            <a:r>
              <a:rPr lang="it-IT"/>
              <a:t> </a:t>
            </a:r>
            <a:r>
              <a:rPr lang="it-IT" err="1"/>
              <a:t>write</a:t>
            </a:r>
            <a:r>
              <a:rPr lang="it-IT"/>
              <a:t> more text </a:t>
            </a:r>
            <a:r>
              <a:rPr lang="it-IT" err="1"/>
              <a:t>than</a:t>
            </a:r>
            <a:r>
              <a:rPr lang="it-IT"/>
              <a:t> </a:t>
            </a:r>
            <a:r>
              <a:rPr lang="it-IT" err="1"/>
              <a:t>necessary</a:t>
            </a:r>
            <a:r>
              <a:rPr lang="it-IT"/>
              <a:t> (short, concise bullet points are </a:t>
            </a:r>
            <a:r>
              <a:rPr lang="it-IT" err="1"/>
              <a:t>often</a:t>
            </a:r>
            <a:r>
              <a:rPr lang="it-IT"/>
              <a:t> </a:t>
            </a:r>
            <a:r>
              <a:rPr lang="it-IT" err="1"/>
              <a:t>enough</a:t>
            </a:r>
            <a:r>
              <a:rPr lang="it-IT"/>
              <a:t>)</a:t>
            </a:r>
            <a:endParaRPr lang="en-GB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19884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1. Title, </a:t>
            </a:r>
            <a:r>
              <a:rPr lang="de-DE" err="1"/>
              <a:t>example</a:t>
            </a:r>
            <a:r>
              <a:rPr lang="de-DE"/>
              <a:t>: Tasks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r>
              <a:rPr lang="de-DE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245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22)</a:t>
            </a:r>
          </a:p>
          <a:p>
            <a:pPr lvl="1"/>
            <a:r>
              <a:rPr lang="de-DE" err="1"/>
              <a:t>efgh</a:t>
            </a:r>
            <a:r>
              <a:rPr lang="de-DE"/>
              <a:t> (</a:t>
            </a:r>
            <a:r>
              <a:rPr lang="de-DE" err="1"/>
              <a:t>Aptos</a:t>
            </a:r>
            <a:r>
              <a:rPr lang="de-DE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an </a:t>
            </a:r>
            <a:r>
              <a:rPr lang="it-IT" err="1"/>
              <a:t>example</a:t>
            </a:r>
            <a:r>
              <a:rPr lang="it-IT"/>
              <a:t> BUT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use </a:t>
            </a:r>
            <a:r>
              <a:rPr lang="it-IT" err="1"/>
              <a:t>underpoints</a:t>
            </a:r>
            <a:r>
              <a:rPr lang="it-IT"/>
              <a:t> </a:t>
            </a:r>
            <a:r>
              <a:rPr lang="it-IT" err="1"/>
              <a:t>please</a:t>
            </a:r>
            <a:r>
              <a:rPr lang="it-IT"/>
              <a:t> with the i, ii, iii….</a:t>
            </a:r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382285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/>
              <a:t>1-i. </a:t>
            </a:r>
            <a:r>
              <a:rPr lang="de-DE" err="1"/>
              <a:t>Example</a:t>
            </a:r>
            <a:r>
              <a:rPr lang="de-DE"/>
              <a:t>: </a:t>
            </a:r>
            <a:r>
              <a:rPr lang="de-DE" err="1"/>
              <a:t>Drawings</a:t>
            </a:r>
            <a:r>
              <a:rPr lang="de-DE"/>
              <a:t> </a:t>
            </a:r>
            <a:r>
              <a:rPr lang="de-DE" err="1"/>
              <a:t>from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week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err="1"/>
              <a:t>Abcd</a:t>
            </a:r>
            <a:endParaRPr lang="de-DE"/>
          </a:p>
          <a:p>
            <a:pPr lvl="1"/>
            <a:r>
              <a:rPr lang="de-DE" err="1"/>
              <a:t>efgh</a:t>
            </a:r>
            <a:endParaRPr lang="de-DE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8491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err="1"/>
              <a:t>Add</a:t>
            </a:r>
            <a:r>
              <a:rPr lang="it-IT" sz="1400"/>
              <a:t> a link to the </a:t>
            </a:r>
            <a:r>
              <a:rPr lang="it-IT" sz="1400" err="1"/>
              <a:t>reference</a:t>
            </a:r>
            <a:r>
              <a:rPr lang="it-IT" sz="1400"/>
              <a:t> </a:t>
            </a:r>
            <a:r>
              <a:rPr lang="it-IT" sz="1400" err="1"/>
              <a:t>number</a:t>
            </a:r>
            <a:r>
              <a:rPr lang="it-IT" sz="1400"/>
              <a:t> </a:t>
            </a:r>
            <a:r>
              <a:rPr lang="it-IT" sz="1400" err="1"/>
              <a:t>that</a:t>
            </a:r>
            <a:r>
              <a:rPr lang="it-IT" sz="1400"/>
              <a:t> </a:t>
            </a:r>
            <a:r>
              <a:rPr lang="it-IT" sz="1400" err="1"/>
              <a:t>goes</a:t>
            </a:r>
            <a:r>
              <a:rPr lang="it-IT" sz="1400"/>
              <a:t> to the last slide: highlight the </a:t>
            </a:r>
            <a:r>
              <a:rPr lang="it-IT" sz="1400" err="1"/>
              <a:t>number</a:t>
            </a:r>
            <a:r>
              <a:rPr lang="it-IT" sz="1400"/>
              <a:t>-&gt;</a:t>
            </a:r>
            <a:r>
              <a:rPr lang="it-IT" sz="1400" err="1"/>
              <a:t>right</a:t>
            </a:r>
            <a:r>
              <a:rPr lang="it-IT" sz="1400"/>
              <a:t> click-&gt;</a:t>
            </a:r>
            <a:r>
              <a:rPr lang="it-IT" sz="1400" err="1"/>
              <a:t>select</a:t>
            </a:r>
            <a:r>
              <a:rPr lang="it-IT" sz="1400"/>
              <a:t> link-&gt;place in </a:t>
            </a:r>
            <a:r>
              <a:rPr lang="it-IT" sz="1400" err="1"/>
              <a:t>this</a:t>
            </a:r>
            <a:r>
              <a:rPr lang="it-IT" sz="1400"/>
              <a:t> </a:t>
            </a:r>
            <a:r>
              <a:rPr lang="it-IT" sz="1400" err="1"/>
              <a:t>document</a:t>
            </a:r>
            <a:r>
              <a:rPr lang="it-IT" sz="1400"/>
              <a:t>-&gt;</a:t>
            </a:r>
            <a:r>
              <a:rPr lang="it-IT" sz="1400" err="1"/>
              <a:t>select</a:t>
            </a:r>
            <a:r>
              <a:rPr lang="it-IT" sz="1400"/>
              <a:t> last slide</a:t>
            </a:r>
            <a:endParaRPr lang="en-GB" sz="14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95110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X. Graph</a:t>
            </a:r>
            <a:endParaRPr lang="en-GB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/>
              <a:t>(</a:t>
            </a:r>
            <a:r>
              <a:rPr lang="it-IT" sz="1100" err="1"/>
              <a:t>Description</a:t>
            </a:r>
            <a:r>
              <a:rPr lang="it-IT" sz="1100"/>
              <a:t> of the </a:t>
            </a:r>
            <a:r>
              <a:rPr lang="it-IT" sz="1100" err="1"/>
              <a:t>graph</a:t>
            </a:r>
            <a:r>
              <a:rPr lang="it-IT" sz="1100"/>
              <a:t>, </a:t>
            </a:r>
            <a:r>
              <a:rPr lang="it-IT" sz="1100" err="1"/>
              <a:t>example</a:t>
            </a:r>
            <a:r>
              <a:rPr lang="it-IT" sz="1100"/>
              <a:t>: </a:t>
            </a:r>
            <a:r>
              <a:rPr lang="it-IT" sz="1100" i="1"/>
              <a:t>power curve power over wind speed</a:t>
            </a:r>
            <a:r>
              <a:rPr lang="it-IT" sz="1100"/>
              <a:t> )</a:t>
            </a:r>
          </a:p>
          <a:p>
            <a:r>
              <a:rPr lang="it-IT" sz="1100"/>
              <a:t>(</a:t>
            </a:r>
            <a:r>
              <a:rPr lang="it-IT" sz="1100" err="1"/>
              <a:t>Citation</a:t>
            </a:r>
            <a:r>
              <a:rPr lang="it-IT" sz="1100"/>
              <a:t> of the sources, </a:t>
            </a:r>
            <a:r>
              <a:rPr lang="it-IT" sz="1100" err="1"/>
              <a:t>example</a:t>
            </a:r>
            <a:r>
              <a:rPr lang="it-IT" sz="1100"/>
              <a:t>:</a:t>
            </a:r>
            <a:r>
              <a:rPr lang="it-IT" sz="1100" b="1"/>
              <a:t> </a:t>
            </a:r>
            <a:r>
              <a:rPr lang="it-IT" sz="1100" b="0"/>
              <a:t>[1] </a:t>
            </a:r>
            <a:r>
              <a:rPr lang="it-IT" sz="1100"/>
              <a:t>)  </a:t>
            </a:r>
          </a:p>
          <a:p>
            <a:r>
              <a:rPr lang="it-IT" sz="1100"/>
              <a:t>(Last date of access, </a:t>
            </a:r>
            <a:r>
              <a:rPr lang="it-IT" sz="1100" err="1"/>
              <a:t>example</a:t>
            </a:r>
            <a:r>
              <a:rPr lang="it-IT" sz="1100"/>
              <a:t>: 21/12/2015)</a:t>
            </a:r>
            <a:endParaRPr lang="en-GB" sz="110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3434651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/>
              <a:t>The style </a:t>
            </a:r>
            <a:r>
              <a:rPr lang="it-IT" err="1"/>
              <a:t>chosen</a:t>
            </a:r>
            <a:r>
              <a:rPr lang="it-IT"/>
              <a:t> for </a:t>
            </a:r>
            <a:r>
              <a:rPr lang="it-IT" err="1"/>
              <a:t>citation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IEEE, so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</a:t>
            </a:r>
            <a:r>
              <a:rPr lang="it-IT" err="1"/>
              <a:t>your</a:t>
            </a:r>
            <a:r>
              <a:rPr lang="it-IT"/>
              <a:t> </a:t>
            </a:r>
            <a:r>
              <a:rPr lang="it-IT" err="1"/>
              <a:t>citation</a:t>
            </a:r>
            <a:r>
              <a:rPr lang="it-IT"/>
              <a:t> follow </a:t>
            </a:r>
            <a:r>
              <a:rPr lang="it-IT" err="1"/>
              <a:t>that</a:t>
            </a:r>
            <a:r>
              <a:rPr lang="it-IT"/>
              <a:t> style. </a:t>
            </a:r>
            <a:r>
              <a:rPr lang="it-IT" err="1"/>
              <a:t>If</a:t>
            </a:r>
            <a:r>
              <a:rPr lang="it-IT"/>
              <a:t> </a:t>
            </a:r>
            <a:r>
              <a:rPr lang="it-IT" err="1"/>
              <a:t>you</a:t>
            </a:r>
            <a:r>
              <a:rPr lang="it-IT"/>
              <a:t> </a:t>
            </a:r>
            <a:r>
              <a:rPr lang="it-IT" err="1"/>
              <a:t>want</a:t>
            </a:r>
            <a:r>
              <a:rPr lang="it-IT"/>
              <a:t> to create an IEEE </a:t>
            </a:r>
            <a:r>
              <a:rPr lang="it-IT" err="1"/>
              <a:t>citation</a:t>
            </a:r>
            <a:r>
              <a:rPr lang="it-IT"/>
              <a:t> from a website, </a:t>
            </a:r>
            <a:r>
              <a:rPr lang="it-IT" err="1"/>
              <a:t>you</a:t>
            </a:r>
            <a:r>
              <a:rPr lang="it-IT"/>
              <a:t> can use some free </a:t>
            </a:r>
            <a:r>
              <a:rPr lang="it-IT" err="1"/>
              <a:t>converters</a:t>
            </a:r>
            <a:r>
              <a:rPr lang="it-IT"/>
              <a:t> </a:t>
            </a:r>
            <a:r>
              <a:rPr lang="it-IT" err="1"/>
              <a:t>available</a:t>
            </a:r>
            <a:r>
              <a:rPr lang="it-IT"/>
              <a:t> on the internet, like:</a:t>
            </a:r>
          </a:p>
          <a:p>
            <a:pPr algn="ctr"/>
            <a:r>
              <a:rPr lang="en-GB" b="1">
                <a:hlinkClick r:id="rId2"/>
              </a:rPr>
              <a:t>https://www.mybib.com/tools/ieee-citation-generator</a:t>
            </a:r>
            <a:r>
              <a:rPr lang="en-GB" b="1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err="1"/>
              <a:t>This</a:t>
            </a:r>
            <a:r>
              <a:rPr lang="it-IT"/>
              <a:t> slide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only</a:t>
            </a:r>
            <a:r>
              <a:rPr lang="it-IT"/>
              <a:t> for </a:t>
            </a:r>
            <a:r>
              <a:rPr lang="it-IT" err="1"/>
              <a:t>explanation</a:t>
            </a:r>
            <a:r>
              <a:rPr lang="it-IT"/>
              <a:t>, </a:t>
            </a:r>
            <a:r>
              <a:rPr lang="it-IT" err="1"/>
              <a:t>dont´t</a:t>
            </a:r>
            <a:r>
              <a:rPr lang="it-IT"/>
              <a:t> use </a:t>
            </a:r>
            <a:r>
              <a:rPr lang="it-IT" err="1"/>
              <a:t>it!</a:t>
            </a:r>
            <a:endParaRPr lang="en-GB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725558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err="1"/>
              <a:t>Bibliography</a:t>
            </a:r>
            <a:r>
              <a:rPr lang="de-DE"/>
              <a:t> – </a:t>
            </a:r>
            <a:r>
              <a:rPr lang="de-DE" err="1"/>
              <a:t>team</a:t>
            </a:r>
            <a:r>
              <a:rPr lang="de-DE"/>
              <a:t> </a:t>
            </a:r>
            <a:r>
              <a:rPr lang="de-DE" err="1"/>
              <a:t>name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/>
              <a:t>[1] </a:t>
            </a:r>
            <a:r>
              <a:rPr lang="en-GB"/>
              <a:t>“How HOMER Calculates Wind Turbine Power Output,” </a:t>
            </a:r>
            <a:r>
              <a:rPr lang="en-GB" i="1"/>
              <a:t>Homerenergy.com</a:t>
            </a:r>
            <a:r>
              <a:rPr lang="en-GB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[2] …..</a:t>
            </a:r>
            <a:endParaRPr lang="it-IT"/>
          </a:p>
          <a:p>
            <a:pPr lvl="0"/>
            <a:endParaRPr lang="de-DE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Vijay </a:t>
            </a:r>
            <a:r>
              <a:rPr lang="de-DE" err="1"/>
              <a:t>Simha</a:t>
            </a:r>
            <a:r>
              <a:rPr lang="de-DE"/>
              <a:t> Reddy </a:t>
            </a:r>
            <a:r>
              <a:rPr lang="de-DE" err="1"/>
              <a:t>Bogala</a:t>
            </a:r>
            <a:r>
              <a:rPr lang="de-DE"/>
              <a:t>, Josef Remberger</a:t>
            </a:r>
          </a:p>
        </p:txBody>
      </p:sp>
    </p:spTree>
    <p:extLst>
      <p:ext uri="{BB962C8B-B14F-4D97-AF65-F5344CB8AC3E}">
        <p14:creationId xmlns:p14="http://schemas.microsoft.com/office/powerpoint/2010/main" val="2332795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011222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20982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36522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26468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6079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571503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/>
              <a:t>Group </a:t>
            </a:r>
            <a:r>
              <a:rPr lang="de-DE" err="1"/>
              <a:t>members</a:t>
            </a:r>
            <a:r>
              <a:rPr lang="de-DE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27932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矩形"/>
          <p:cNvSpPr>
            <a:spLocks/>
          </p:cNvSpPr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 w="19050" cap="flat" cmpd="sng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8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7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6" name="曲线"/>
          <p:cNvSpPr>
            <a:spLocks/>
          </p:cNvSpPr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5" name="曲线"/>
          <p:cNvSpPr>
            <a:spLocks/>
          </p:cNvSpPr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35" y="5690"/>
                </a:moveTo>
                <a:cubicBezTo>
                  <a:pt x="1542" y="5786"/>
                  <a:pt x="2912" y="-6663"/>
                  <a:pt x="5378" y="4969"/>
                </a:cubicBezTo>
                <a:cubicBezTo>
                  <a:pt x="8165" y="16409"/>
                  <a:pt x="9886" y="955"/>
                  <a:pt x="11677" y="1897"/>
                </a:cubicBezTo>
                <a:cubicBezTo>
                  <a:pt x="13469" y="2838"/>
                  <a:pt x="14737" y="9220"/>
                  <a:pt x="16128" y="10617"/>
                </a:cubicBezTo>
                <a:cubicBezTo>
                  <a:pt x="17519" y="12013"/>
                  <a:pt x="18571" y="12576"/>
                  <a:pt x="19479" y="11755"/>
                </a:cubicBezTo>
                <a:cubicBezTo>
                  <a:pt x="20386" y="10934"/>
                  <a:pt x="21317" y="3979"/>
                  <a:pt x="21572" y="5690"/>
                </a:cubicBezTo>
                <a:cubicBezTo>
                  <a:pt x="21565" y="10641"/>
                  <a:pt x="21605" y="16648"/>
                  <a:pt x="21599" y="21600"/>
                </a:cubicBezTo>
                <a:lnTo>
                  <a:pt x="16482" y="21455"/>
                </a:lnTo>
                <a:lnTo>
                  <a:pt x="10994" y="20831"/>
                </a:lnTo>
                <a:lnTo>
                  <a:pt x="6321" y="21321"/>
                </a:lnTo>
                <a:lnTo>
                  <a:pt x="0" y="20878"/>
                </a:lnTo>
                <a:cubicBezTo>
                  <a:pt x="6" y="16216"/>
                  <a:pt x="8" y="10641"/>
                  <a:pt x="35" y="5690"/>
                </a:cubicBezTo>
                <a:close/>
              </a:path>
            </a:pathLst>
          </a:custGeom>
          <a:gradFill rotWithShape="1">
            <a:gsLst>
              <a:gs pos="0">
                <a:srgbClr val="0F9ED5">
                  <a:lumMod val="20000"/>
                  <a:lumOff val="80000"/>
                  <a:alpha val="100000"/>
                </a:srgbClr>
              </a:gs>
              <a:gs pos="50000">
                <a:srgbClr val="FFFFFF">
                  <a:alpha val="100000"/>
                </a:srgbClr>
              </a:gs>
              <a:gs pos="100000">
                <a:srgbClr val="0F9ED5">
                  <a:lumMod val="20000"/>
                  <a:lumOff val="80000"/>
                  <a:alpha val="100000"/>
                </a:srgbClr>
              </a:gs>
            </a:gsLst>
            <a:lin ang="0" scaled="1"/>
          </a:gradFill>
          <a:ln w="15875" cap="flat" cmpd="sng">
            <a:solidFill>
              <a:srgbClr val="156082">
                <a:alpha val="0"/>
              </a:srgbClr>
            </a:solidFill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4" name="曲线"/>
          <p:cNvSpPr>
            <a:spLocks/>
          </p:cNvSpPr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20" y="5943"/>
                </a:moveTo>
                <a:cubicBezTo>
                  <a:pt x="1529" y="6043"/>
                  <a:pt x="2217" y="-6829"/>
                  <a:pt x="4688" y="5198"/>
                </a:cubicBezTo>
                <a:cubicBezTo>
                  <a:pt x="7480" y="17027"/>
                  <a:pt x="9070" y="10367"/>
                  <a:pt x="10158" y="6391"/>
                </a:cubicBezTo>
                <a:cubicBezTo>
                  <a:pt x="13044" y="-3797"/>
                  <a:pt x="14166" y="-119"/>
                  <a:pt x="15989" y="5794"/>
                </a:cubicBezTo>
                <a:cubicBezTo>
                  <a:pt x="19763" y="16580"/>
                  <a:pt x="19729" y="5894"/>
                  <a:pt x="21600" y="5943"/>
                </a:cubicBezTo>
                <a:cubicBezTo>
                  <a:pt x="21593" y="11063"/>
                  <a:pt x="21586" y="16182"/>
                  <a:pt x="21579" y="21301"/>
                </a:cubicBezTo>
                <a:lnTo>
                  <a:pt x="16530" y="21152"/>
                </a:lnTo>
                <a:lnTo>
                  <a:pt x="11000" y="21600"/>
                </a:lnTo>
                <a:lnTo>
                  <a:pt x="6271" y="21450"/>
                </a:lnTo>
                <a:lnTo>
                  <a:pt x="0" y="20556"/>
                </a:lnTo>
                <a:cubicBezTo>
                  <a:pt x="6" y="15735"/>
                  <a:pt x="-6" y="11063"/>
                  <a:pt x="20" y="5943"/>
                </a:cubicBezTo>
                <a:close/>
              </a:path>
            </a:pathLst>
          </a:custGeom>
          <a:gradFill rotWithShape="1">
            <a:gsLst>
              <a:gs pos="0">
                <a:srgbClr val="156082">
                  <a:lumMod val="5000"/>
                  <a:lumOff val="95000"/>
                  <a:alpha val="100000"/>
                </a:srgbClr>
              </a:gs>
              <a:gs pos="74000">
                <a:srgbClr val="156082">
                  <a:lumMod val="45000"/>
                  <a:lumOff val="55000"/>
                  <a:alpha val="100000"/>
                </a:srgbClr>
              </a:gs>
              <a:gs pos="83000">
                <a:srgbClr val="156082">
                  <a:lumMod val="45000"/>
                  <a:lumOff val="55000"/>
                  <a:alpha val="100000"/>
                </a:srgbClr>
              </a:gs>
              <a:gs pos="100000">
                <a:srgbClr val="156082">
                  <a:lumMod val="30000"/>
                  <a:lumOff val="70000"/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43" name="曲线"/>
          <p:cNvSpPr>
            <a:spLocks/>
          </p:cNvSpPr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T1" fmla="*/ 0 w 21600"/>
              <a:gd name="T2" fmla="*/ 0 h 21600"/>
              <a:gd name="T3" fmla="*/ 21600 w 21600"/>
              <a:gd name="T4" fmla="*/ 21600 h 21600"/>
            </a:gdLst>
            <a:ahLst/>
            <a:cxnLst/>
            <a:rect l="T1" t="T2" r="T3" b="T4"/>
            <a:pathLst>
              <a:path w="21600" h="21600">
                <a:moveTo>
                  <a:pt x="19" y="8758"/>
                </a:moveTo>
                <a:cubicBezTo>
                  <a:pt x="1526" y="8840"/>
                  <a:pt x="2212" y="-1717"/>
                  <a:pt x="4678" y="8147"/>
                </a:cubicBezTo>
                <a:cubicBezTo>
                  <a:pt x="7464" y="17849"/>
                  <a:pt x="7149" y="17331"/>
                  <a:pt x="8411" y="16166"/>
                </a:cubicBezTo>
                <a:cubicBezTo>
                  <a:pt x="9673" y="15002"/>
                  <a:pt x="10993" y="3240"/>
                  <a:pt x="12248" y="1159"/>
                </a:cubicBezTo>
                <a:cubicBezTo>
                  <a:pt x="13502" y="-920"/>
                  <a:pt x="14698" y="-273"/>
                  <a:pt x="15939" y="3681"/>
                </a:cubicBezTo>
                <a:cubicBezTo>
                  <a:pt x="17387" y="8525"/>
                  <a:pt x="18200" y="14960"/>
                  <a:pt x="19133" y="14981"/>
                </a:cubicBezTo>
                <a:cubicBezTo>
                  <a:pt x="20066" y="15001"/>
                  <a:pt x="21194" y="3480"/>
                  <a:pt x="21599" y="5108"/>
                </a:cubicBezTo>
                <a:cubicBezTo>
                  <a:pt x="21593" y="9306"/>
                  <a:pt x="21540" y="17156"/>
                  <a:pt x="21533" y="21355"/>
                </a:cubicBezTo>
                <a:lnTo>
                  <a:pt x="16494" y="21233"/>
                </a:lnTo>
                <a:lnTo>
                  <a:pt x="10976" y="21600"/>
                </a:lnTo>
                <a:lnTo>
                  <a:pt x="6258" y="21477"/>
                </a:lnTo>
                <a:lnTo>
                  <a:pt x="0" y="20743"/>
                </a:lnTo>
                <a:cubicBezTo>
                  <a:pt x="6" y="16789"/>
                  <a:pt x="-6" y="12957"/>
                  <a:pt x="19" y="8758"/>
                </a:cubicBezTo>
                <a:close/>
              </a:path>
            </a:pathLst>
          </a:custGeom>
          <a:gradFill rotWithShape="1">
            <a:gsLst>
              <a:gs pos="0">
                <a:srgbClr val="EFFCFF">
                  <a:alpha val="100000"/>
                </a:srgbClr>
              </a:gs>
              <a:gs pos="50000">
                <a:srgbClr val="0F9ED5">
                  <a:lumMod val="40000"/>
                  <a:lumOff val="60000"/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5400000" scaled="1"/>
          </a:gradFill>
          <a:ln w="19050" cap="flat" cmpd="sng">
            <a:noFill/>
            <a:prstDash val="solid"/>
            <a:round/>
          </a:ln>
          <a:effectLst>
            <a:glow>
              <a:srgbClr val="FFFF00"/>
            </a:glow>
            <a:outerShdw algn="ctr" rotWithShape="0">
              <a:srgbClr val="000000">
                <a:alpha val="99607"/>
              </a:srgbClr>
            </a:outerShdw>
          </a:effectLst>
          <a:scene3d>
            <a:camera prst="legacyObliqueFront"/>
            <a:lightRig rig="legacyFlat4" dir="t"/>
          </a:scene3d>
          <a:sp3d prstMaterial="legacyMatte">
            <a:bevelT w="13500" h="13500" prst="angle"/>
            <a:bevelB w="13500" h="13500" prst="angle"/>
          </a:sp3d>
        </p:spPr>
        <p:txBody>
          <a:bodyPr/>
          <a:lstStyle/>
          <a:p>
            <a:endParaRPr lang="en-US"/>
          </a:p>
        </p:txBody>
      </p:sp>
      <p:sp>
        <p:nvSpPr>
          <p:cNvPr id="135" name="文本框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sz="4400"/>
              <a:t>1. Title, example: Tasks of the week   </a:t>
            </a:r>
            <a:endParaRPr lang="zh-CN" altLang="en-US" sz="4400"/>
          </a:p>
        </p:txBody>
      </p:sp>
      <p:sp>
        <p:nvSpPr>
          <p:cNvPr id="136" name="文本框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 sz="2200"/>
              <a:t>Abcd</a:t>
            </a:r>
          </a:p>
          <a:p>
            <a:pPr marL="971550" lvl="1" indent="-514350">
              <a:buFontTx/>
              <a:buAutoNum type="romanLcPeriod"/>
            </a:pPr>
            <a:r>
              <a:rPr lang="en-US" altLang="zh-CN" sz="2000"/>
              <a:t>efgh</a:t>
            </a:r>
            <a:endParaRPr lang="zh-CN" altLang="en-US" sz="2000"/>
          </a:p>
        </p:txBody>
      </p:sp>
      <p:sp>
        <p:nvSpPr>
          <p:cNvPr id="137" name="直线"/>
          <p:cNvSpPr>
            <a:spLocks/>
          </p:cNvSpPr>
          <p:nvPr/>
        </p:nvSpPr>
        <p:spPr>
          <a:xfrm>
            <a:off x="838200" y="1251708"/>
            <a:ext cx="10515600" cy="0"/>
          </a:xfrm>
          <a:prstGeom prst="line">
            <a:avLst/>
          </a:prstGeom>
          <a:noFill/>
          <a:ln w="38100" cap="flat" cmpd="sng">
            <a:solidFill>
              <a:srgbClr val="8ECEFA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8" name="文本框"/>
          <p:cNvSpPr>
            <a:spLocks noGrp="1"/>
          </p:cNvSpPr>
          <p:nvPr>
            <p:ph type="body"/>
          </p:nvPr>
        </p:nvSpPr>
        <p:spPr>
          <a:xfrm>
            <a:off x="2878527" y="6564113"/>
            <a:ext cx="5596085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buNone/>
            </a:pPr>
            <a:r>
              <a:rPr lang="en-US" altLang="zh-CN" sz="1200" kern="1200">
                <a:solidFill>
                  <a:schemeClr val="bg1"/>
                </a:solidFill>
                <a:latin typeface="Aptos" charset="0"/>
                <a:ea typeface="等线" charset="0"/>
                <a:cs typeface="Droid Sans" charset="0"/>
              </a:rPr>
              <a:t>Vijay Simha Reddy Bogala, Josef Remberger</a:t>
            </a:r>
            <a:endParaRPr lang="zh-CN" altLang="en-US" sz="1200" kern="1200">
              <a:solidFill>
                <a:schemeClr val="bg1"/>
              </a:solidFill>
              <a:latin typeface="Aptos" charset="0"/>
              <a:ea typeface="等线" charset="0"/>
              <a:cs typeface="Droid Sans" charset="0"/>
            </a:endParaRPr>
          </a:p>
        </p:txBody>
      </p:sp>
      <p:sp>
        <p:nvSpPr>
          <p:cNvPr id="139" name="文本框"/>
          <p:cNvSpPr>
            <a:spLocks noGrp="1"/>
          </p:cNvSpPr>
          <p:nvPr>
            <p:ph type="dt"/>
          </p:nvPr>
        </p:nvSpPr>
        <p:spPr>
          <a:xfrm>
            <a:off x="838200" y="6566803"/>
            <a:ext cx="1111369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09/12/2025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0" name="文本框"/>
          <p:cNvSpPr>
            <a:spLocks noGrp="1"/>
          </p:cNvSpPr>
          <p:nvPr>
            <p:ph type="ftr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r>
              <a:rPr lang="en-US" altLang="zh-CN" sz="120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1" name="文本框"/>
          <p:cNvSpPr>
            <a:spLocks noGrp="1"/>
          </p:cNvSpPr>
          <p:nvPr>
            <p:ph type="sldNum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42" name="文本框"/>
          <p:cNvSpPr>
            <a:spLocks noGrp="1"/>
          </p:cNvSpPr>
          <p:nvPr>
            <p:ph type="body"/>
          </p:nvPr>
        </p:nvSpPr>
        <p:spPr>
          <a:xfrm>
            <a:off x="749023" y="6216958"/>
            <a:ext cx="2248453" cy="30985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l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400" b="0" i="0" u="none" strike="noStrike" kern="1200" cap="none" spc="0" baseline="0">
                <a:solidFill>
                  <a:srgbClr val="000000"/>
                </a:solidFill>
                <a:latin typeface="Aptos" charset="0"/>
                <a:ea typeface="等线" charset="0"/>
                <a:cs typeface="Droid Sans" charset="0"/>
              </a:rPr>
              <a:t>[1], [2]….</a:t>
            </a:r>
          </a:p>
          <a:p>
            <a:pPr marL="457200" lvl="1" indent="0"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892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8.xml"/><Relationship Id="rId16" Type="http://schemas.openxmlformats.org/officeDocument/2006/relationships/slideLayout" Target="../slideLayouts/slideLayout22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869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3" r:id="rId5"/>
    <p:sldLayoutId id="2147483724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09/12/2025</a:t>
            </a:r>
            <a:endParaRPr lang="en-GB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39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lsewedyelectric.com/pdf/Catalouges/05363875/transformers_focus_catalogue.pdf" TargetMode="External"/><Relationship Id="rId3" Type="http://schemas.openxmlformats.org/officeDocument/2006/relationships/image" Target="../media/image22.png"/><Relationship Id="rId7" Type="http://schemas.openxmlformats.org/officeDocument/2006/relationships/hyperlink" Target="https://www.vem.fi/wp-content/uploads/2018/04/Product-overview-VEM-Windpower.pdf?utm_source=chatgpt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hyperlink" Target="https://library.e.abb.com/public/b86faa2d634f4010baefd88633123c3d/Wind+power+generators+-+Standard+doubly-fed+induction+generators_9AKK105233_RevE_EN+06-2019_lowres.pdf" TargetMode="External"/><Relationship Id="rId5" Type="http://schemas.openxmlformats.org/officeDocument/2006/relationships/hyperlink" Target="https://ece.poriyaan.in/topic/equivalent-circuit-of-a-transformer-20011/?utm_source=chatgpt.com" TargetMode="External"/><Relationship Id="rId10" Type="http://schemas.openxmlformats.org/officeDocument/2006/relationships/image" Target="../media/image23.png"/><Relationship Id="rId4" Type="http://schemas.openxmlformats.org/officeDocument/2006/relationships/hyperlink" Target="https://www.beta-elektro.com/oil-transformers" TargetMode="External"/><Relationship Id="rId9" Type="http://schemas.openxmlformats.org/officeDocument/2006/relationships/hyperlink" Target="https://www.siemens-energy.com/global/en/home/products-services/product/geafol-dry-type-distribution-transformers.html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report: Electrical Drivetrain</a:t>
            </a:r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565241" y="35814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dirty="0"/>
              <a:t>Week number: 11</a:t>
            </a:r>
            <a:endParaRPr lang="en-US" dirty="0"/>
          </a:p>
          <a:p>
            <a:r>
              <a:rPr lang="it-IT" sz="2000" dirty="0"/>
              <a:t>Date: 09/12/2025</a:t>
            </a:r>
          </a:p>
          <a:p>
            <a:r>
              <a:rPr lang="it-IT" sz="2000" dirty="0"/>
              <a:t>Supervisor: </a:t>
            </a:r>
            <a:r>
              <a:rPr lang="it-IT" sz="2000" dirty="0">
                <a:latin typeface="Aptos"/>
              </a:rPr>
              <a:t>Prof. Dr.-Ing. Saiju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F5F1D8B-AA3D-0259-5E4F-2CDC8B30563D}"/>
              </a:ext>
            </a:extLst>
          </p:cNvPr>
          <p:cNvSpPr txBox="1">
            <a:spLocks/>
          </p:cNvSpPr>
          <p:nvPr/>
        </p:nvSpPr>
        <p:spPr>
          <a:xfrm>
            <a:off x="3531588" y="3967804"/>
            <a:ext cx="5128821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Group members:  Aiswarya Vijayan, </a:t>
            </a:r>
            <a:r>
              <a:rPr lang="de-DE" b="1" dirty="0"/>
              <a:t>Vishranti Shivajirao Patil </a:t>
            </a:r>
            <a:r>
              <a:rPr lang="de-DE" dirty="0"/>
              <a:t>, Girish Mahadeo Padalkar, Cristina Milene Vergara Hernandez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39F-29BC-C621-536B-8758FA67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693" y="3246104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of contents</a:t>
            </a: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E5D9FF-3E62-4877-0B46-5730AAEC1D9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22E4B11-7E37-C65A-E83B-0056FA29D311}"/>
              </a:ext>
            </a:extLst>
          </p:cNvPr>
          <p:cNvSpPr txBox="1">
            <a:spLocks/>
          </p:cNvSpPr>
          <p:nvPr/>
        </p:nvSpPr>
        <p:spPr>
          <a:xfrm>
            <a:off x="8802836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Electrical Drive Train/ Optimus Syria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B56400E-FF4C-7F4E-6257-267CD3B1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3EF3BA-9806-6A08-507B-33B62F095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798798"/>
            <a:ext cx="875995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Electrical Parameter of Transformer.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Dimension of transformer.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 lab simulation &amp; Result of transformer.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Updated design Electrical parameter of Generator.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Mat lab simulation &amp; Result of Generator.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5BCE9-4A52-20C0-64AB-9F8DF78E2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38D7E7-51E4-86DB-4936-A6A01661B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Electrical parameter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19D1-43A9-6029-36E6-4B8D174E7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2CAA7-950A-7DB4-9028-EE53B0111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11DC0-50DF-B803-1A88-ECEB9412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DD7BFCC-80C2-ECA2-1D8D-D11B35477C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66BDAE-3C48-3026-87F6-9B6BB6B8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509727"/>
            <a:ext cx="10515599" cy="45133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09174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9D408-DC81-D1E0-1994-814F4C729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C3F94-5E9C-703A-74F8-CB447ABE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9B80F-6060-917B-BF79-6DF0BEDD3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7EEA5-7239-2D0E-6EFD-295E74F69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9CF89481-BCF5-509D-C20F-18883F697DB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F58FCF-1A35-D2F9-56F3-6B8FA799E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560" y="1690687"/>
            <a:ext cx="7015929" cy="36166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itle 2">
            <a:extLst>
              <a:ext uri="{FF2B5EF4-FFF2-40B4-BE49-F238E27FC236}">
                <a16:creationId xmlns:a16="http://schemas.microsoft.com/office/drawing/2014/main" id="{2C72A788-F020-0630-73F4-8D6EAC834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1. Electrical parameter of transformer.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1692E58-D602-1287-479D-30D0E4BCC2E7}"/>
                  </a:ext>
                </a:extLst>
              </p14:cNvPr>
              <p14:cNvContentPartPr/>
              <p14:nvPr/>
            </p14:nvContentPartPr>
            <p14:xfrm>
              <a:off x="4878583" y="5151363"/>
              <a:ext cx="696240" cy="10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1692E58-D602-1287-479D-30D0E4BCC2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24583" y="5043363"/>
                <a:ext cx="803880" cy="22572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7F41653-6148-C8D2-F8B5-4A386E02B6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6489" y="1690688"/>
            <a:ext cx="4497490" cy="165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186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2D59E-654C-5E63-1C6D-9934CDE48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B55F37-159E-12CA-6A26-EDEECDEAC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Mechanical Dimension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9458D-45E0-72F7-B055-588B28F9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01A40-9FF1-D64A-E89C-F4A3897B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A45AE-9755-D904-E827-8B8FAFFE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B4398B52-F7AB-B6A9-E084-6571B5C335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C760C9-C700-38AA-D2BE-3D82D5B18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997904"/>
              </p:ext>
            </p:extLst>
          </p:nvPr>
        </p:nvGraphicFramePr>
        <p:xfrm>
          <a:off x="477077" y="1371745"/>
          <a:ext cx="6450495" cy="416435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537363">
                  <a:extLst>
                    <a:ext uri="{9D8B030D-6E8A-4147-A177-3AD203B41FA5}">
                      <a16:colId xmlns:a16="http://schemas.microsoft.com/office/drawing/2014/main" val="1649238277"/>
                    </a:ext>
                  </a:extLst>
                </a:gridCol>
                <a:gridCol w="2913132">
                  <a:extLst>
                    <a:ext uri="{9D8B030D-6E8A-4147-A177-3AD203B41FA5}">
                      <a16:colId xmlns:a16="http://schemas.microsoft.com/office/drawing/2014/main" val="2578191316"/>
                    </a:ext>
                  </a:extLst>
                </a:gridCol>
              </a:tblGrid>
              <a:tr h="489934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960V              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de-AT" sz="1400" b="1" dirty="0"/>
                        <a:t>Primary side Voltage</a:t>
                      </a:r>
                      <a:r>
                        <a:rPr lang="en-US" sz="1400" b="1" dirty="0"/>
                        <a:t>  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20639"/>
                  </a:ext>
                </a:extLst>
              </a:tr>
              <a:tr h="489934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20KV                 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Secondary side Voltage 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919061"/>
                  </a:ext>
                </a:extLst>
              </a:tr>
              <a:tr h="521860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2.2m × 1.3m × 2.3m(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Elsewedy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 Electric)</a:t>
                      </a:r>
                      <a:endParaRPr lang="ar-EG" sz="1400" b="1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Transformer Dimensions</a:t>
                      </a:r>
                    </a:p>
                    <a:p>
                      <a:pPr algn="ctr" rtl="1"/>
                      <a:r>
                        <a:rPr lang="en-US" sz="1400" b="1" u="none" strike="noStrike" cap="none" dirty="0"/>
                        <a:t>(</a:t>
                      </a:r>
                      <a:r>
                        <a:rPr lang="en-US" sz="1400" b="1" u="none" strike="noStrike" cap="none" dirty="0" err="1"/>
                        <a:t>LxHxW</a:t>
                      </a:r>
                      <a:r>
                        <a:rPr lang="en-US" sz="1400" b="1" u="none" strike="noStrike" cap="none" dirty="0"/>
                        <a:t>)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0950356"/>
                  </a:ext>
                </a:extLst>
              </a:tr>
              <a:tr h="489934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~7,400 kg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Weight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440230"/>
                  </a:ext>
                </a:extLst>
              </a:tr>
              <a:tr h="489934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 (Air Natural) - No oil required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Cooling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141586"/>
                  </a:ext>
                </a:extLst>
              </a:tr>
              <a:tr h="489934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98.0%-99.0%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Efficiency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21756"/>
                  </a:ext>
                </a:extLst>
              </a:tr>
              <a:tr h="1192823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€232,000 - €257,000 EUR 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 the Siemens GEAFOL)</a:t>
                      </a:r>
                    </a:p>
                    <a:p>
                      <a:pPr algn="ctr" rtl="1"/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€142,500 EUR 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 For </a:t>
                      </a:r>
                      <a:r>
                        <a:rPr lang="en-US" sz="14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Elsewedy</a:t>
                      </a:r>
                      <a:r>
                        <a:rPr lang="en-US" sz="14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Electric 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(Egypt) - Regional Manufacturer</a:t>
                      </a:r>
                      <a:endParaRPr lang="ar-EG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1" dirty="0"/>
                        <a:t>Cost</a:t>
                      </a:r>
                      <a:endParaRPr lang="ar-EG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04026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C842E04-71D5-41E2-F7B2-C7AF69BE7C7C}"/>
              </a:ext>
            </a:extLst>
          </p:cNvPr>
          <p:cNvSpPr txBox="1"/>
          <p:nvPr/>
        </p:nvSpPr>
        <p:spPr>
          <a:xfrm>
            <a:off x="1217479" y="5966180"/>
            <a:ext cx="534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 Dimensions ,Weight , Cost we take reference from: </a:t>
            </a:r>
            <a:r>
              <a:rPr lang="en-GB" sz="1200" dirty="0"/>
              <a:t>[Source. 3] &amp; [Source. 4]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E6774D-B71C-298F-70F7-9641EA332CD1}"/>
              </a:ext>
            </a:extLst>
          </p:cNvPr>
          <p:cNvSpPr txBox="1"/>
          <p:nvPr/>
        </p:nvSpPr>
        <p:spPr>
          <a:xfrm>
            <a:off x="6566444" y="5497327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/>
              <a:t>Transformer scheme . </a:t>
            </a:r>
            <a:r>
              <a:rPr lang="fr-MA" sz="1800" dirty="0"/>
              <a:t>Source [own]. 06.12.2025 </a:t>
            </a:r>
            <a:endParaRPr lang="en-US" sz="1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CDA5B9-D5B6-BA73-C4AC-EBCE23EDE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8695" y="1560433"/>
            <a:ext cx="4754452" cy="357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166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37A2A-CD46-C8F9-AC0F-691D48F7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1A749C3-F008-A713-2000-7FC7301F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dirty="0"/>
              <a:t>3. Mat lab simulation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DF37D-9692-D66B-C366-0654E5122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E9D62-937F-5DBD-F13A-5609E485C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BE856-9DD6-C744-E363-C762E70B3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405E2D33-711D-FF81-B80A-936F3A2FD1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EEBC5F-ECD7-D0BA-8EE3-63C18DE1A935}"/>
              </a:ext>
            </a:extLst>
          </p:cNvPr>
          <p:cNvSpPr txBox="1"/>
          <p:nvPr/>
        </p:nvSpPr>
        <p:spPr>
          <a:xfrm>
            <a:off x="3257550" y="6123543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dirty="0"/>
              <a:t>Transformer scheme . Source [own]. </a:t>
            </a:r>
            <a:r>
              <a:rPr lang="fr-MA" dirty="0"/>
              <a:t>28</a:t>
            </a:r>
            <a:r>
              <a:rPr lang="fr-MA" sz="1800" dirty="0"/>
              <a:t>.11.2025 </a:t>
            </a:r>
            <a:endParaRPr lang="en-US" sz="1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9A41287-44E2-50FD-257A-D01D1DEA2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942" y="1394691"/>
            <a:ext cx="8698598" cy="4657414"/>
          </a:xfrm>
          <a:prstGeom prst="rect">
            <a:avLst/>
          </a:prstGeom>
          <a:ln>
            <a:solidFill>
              <a:schemeClr val="tx1"/>
            </a:solidFill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4064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E4BAF1-7508-1E2A-49FF-EDC6386AB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Mat lab simulation Result of transformer.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4056D-37C7-6B43-578B-D45D99E37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ED7F5-AA5D-A233-89B2-035139D7C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6C977-A389-8F8F-BAD5-1397BBD6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7802753-C47F-5327-95CD-8CE23F058AF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45B7FDC-AE2D-0AEC-F66F-97CFFD5C497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11BF87-2A29-9DE5-2045-C051EC6931B7}"/>
              </a:ext>
            </a:extLst>
          </p:cNvPr>
          <p:cNvSpPr txBox="1"/>
          <p:nvPr/>
        </p:nvSpPr>
        <p:spPr>
          <a:xfrm>
            <a:off x="814881" y="1429078"/>
            <a:ext cx="11246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Primary Voltages                                        Secondary Voltages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F23449-1FA7-63F4-F56B-DF353E8AB865}"/>
              </a:ext>
            </a:extLst>
          </p:cNvPr>
          <p:cNvSpPr txBox="1"/>
          <p:nvPr/>
        </p:nvSpPr>
        <p:spPr>
          <a:xfrm>
            <a:off x="3257550" y="6123543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MA" sz="1800" dirty="0"/>
              <a:t>Transformer scheme . Source [own]. </a:t>
            </a:r>
            <a:r>
              <a:rPr lang="fr-MA" dirty="0"/>
              <a:t>28</a:t>
            </a:r>
            <a:r>
              <a:rPr lang="fr-MA" sz="1800" dirty="0"/>
              <a:t>.11.2025 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CF954C1-CD2D-C66D-1E38-54C4B83D5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55" y="2023536"/>
            <a:ext cx="5250346" cy="383839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479526-F33A-096B-DAF8-D833B048D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7" y="2023536"/>
            <a:ext cx="5602414" cy="383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83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140C-02C6-4F98-E27A-ECBB38B4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523153-B934-ACC9-C27F-165C50B52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8878" cy="1325563"/>
          </a:xfrm>
        </p:spPr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dirty="0"/>
              <a:t>4. Updated Electrical Parameters of Generator.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54FC8-3E43-C46A-F88A-89790635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5AF63-4BD4-4213-F1AF-1551F4C6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12DB9-23EA-2927-995E-00F2F4DA2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EF189721-1773-2AD9-EB66-D489402170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6BF1DD-F550-8DF8-59C2-8BCB5A59B85B}"/>
              </a:ext>
            </a:extLst>
          </p:cNvPr>
          <p:cNvSpPr txBox="1"/>
          <p:nvPr/>
        </p:nvSpPr>
        <p:spPr>
          <a:xfrm>
            <a:off x="227655" y="5875142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800" dirty="0"/>
              <a:t> Generator</a:t>
            </a:r>
            <a:r>
              <a:rPr lang="fr-MA" dirty="0"/>
              <a:t> scheme . </a:t>
            </a:r>
            <a:r>
              <a:rPr lang="fr-MA" sz="1800" dirty="0"/>
              <a:t>Source [own]. 06.12.2025 </a:t>
            </a:r>
            <a:endParaRPr lang="en-US" sz="1800" dirty="0"/>
          </a:p>
        </p:txBody>
      </p:sp>
      <p:graphicFrame>
        <p:nvGraphicFramePr>
          <p:cNvPr id="2" name="Google Shape;91;g2a6340dccae_0_0">
            <a:extLst>
              <a:ext uri="{FF2B5EF4-FFF2-40B4-BE49-F238E27FC236}">
                <a16:creationId xmlns:a16="http://schemas.microsoft.com/office/drawing/2014/main" id="{E31374C5-DFFE-4C1F-7769-981756FBBC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6090627"/>
              </p:ext>
            </p:extLst>
          </p:nvPr>
        </p:nvGraphicFramePr>
        <p:xfrm>
          <a:off x="6693940" y="1396729"/>
          <a:ext cx="5348965" cy="409562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952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6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40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Active Power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5.16 MW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5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Power factor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0.9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4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Speed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1200 </a:t>
                      </a:r>
                      <a:r>
                        <a:rPr lang="en-US" sz="1400" b="1" dirty="0"/>
                        <a:t>rpm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58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Frequency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50 Hz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4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Efficiency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96.01%- 97.0%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998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Dimensions</a:t>
                      </a:r>
                      <a:br>
                        <a:rPr lang="en-US" sz="1400" b="1" u="none" strike="noStrike" cap="none" dirty="0"/>
                      </a:br>
                      <a:r>
                        <a:rPr lang="en-US" sz="1400" b="1" u="none" strike="noStrike" cap="none" dirty="0"/>
                        <a:t>(</a:t>
                      </a:r>
                      <a:r>
                        <a:rPr lang="en-US" sz="1400" b="1" u="none" strike="noStrike" cap="none" dirty="0" err="1"/>
                        <a:t>LxHxW</a:t>
                      </a:r>
                      <a:r>
                        <a:rPr lang="en-US" sz="1400" b="1" u="none" strike="noStrike" cap="none" dirty="0"/>
                        <a:t>)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ABB &amp; VEM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lang="fr-FR" sz="1400" b="1" i="0" kern="1200" dirty="0">
                        <a:solidFill>
                          <a:schemeClr val="tx1"/>
                        </a:solidFill>
                        <a:effectLst/>
                        <a:highlight>
                          <a:srgbClr val="00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fr-FR" sz="14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3.5mX1.7mX1.7 m to 2.0m </a:t>
                      </a:r>
                      <a:endParaRPr sz="1400" b="1" u="none" strike="noStrike" cap="none" dirty="0">
                        <a:highlight>
                          <a:srgbClr val="00FF00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14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Weight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9–12</a:t>
                      </a:r>
                      <a:r>
                        <a:rPr lang="en-US" sz="1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tonnes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361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u="none" strike="noStrike" cap="none" dirty="0"/>
                        <a:t>Cost</a:t>
                      </a:r>
                      <a:endParaRPr sz="1400" b="1" u="none" strike="noStrike" cap="none"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4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€1.71Million - €1.90 Million Euro</a:t>
                      </a:r>
                      <a:endParaRPr sz="1400" b="1" u="none" strike="noStrike" cap="none" dirty="0">
                        <a:highlight>
                          <a:srgbClr val="00FF00"/>
                        </a:highlight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9B56984-BDFA-A1B4-FB28-C8EB0D104629}"/>
              </a:ext>
            </a:extLst>
          </p:cNvPr>
          <p:cNvSpPr txBox="1"/>
          <p:nvPr/>
        </p:nvSpPr>
        <p:spPr>
          <a:xfrm>
            <a:off x="6693940" y="5598143"/>
            <a:ext cx="534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For Dimensions ,Weight , Cost we take reference from: </a:t>
            </a:r>
            <a:r>
              <a:rPr lang="en-GB" sz="1200" dirty="0"/>
              <a:t>[Source. 1] &amp; [Source. 2]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3272BD-B3E6-90DA-6183-82EC405DC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463" y="1437964"/>
            <a:ext cx="5590537" cy="398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30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18732-04EB-44F9-369E-E3EA10380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0596D2-D892-4D07-ABED-A9670137D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0" fontAlgn="base" hangingPunct="0">
              <a:spcAft>
                <a:spcPct val="0"/>
              </a:spcAft>
            </a:pPr>
            <a:r>
              <a:rPr lang="en-US" dirty="0"/>
              <a:t>5. Mat lab simulation of Generator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55808-454B-9100-5354-B8B433C9E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BA06-B2D6-CA71-2CC0-03760721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67BA-ED89-3ACC-B42C-04BB49860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D94EB350-1430-2982-6342-3235EF53E55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138" y="6564313"/>
            <a:ext cx="5595937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099125-CD31-9A72-24BF-8CC7AAEE7F67}"/>
              </a:ext>
            </a:extLst>
          </p:cNvPr>
          <p:cNvSpPr txBox="1"/>
          <p:nvPr/>
        </p:nvSpPr>
        <p:spPr>
          <a:xfrm>
            <a:off x="3023508" y="6204947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dirty="0"/>
              <a:t>Generator scheme .</a:t>
            </a:r>
            <a:r>
              <a:rPr lang="fr-MA" sz="1800" dirty="0"/>
              <a:t>Source [own]. 06.12.2025 </a:t>
            </a: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40C178-7863-F081-26AC-B1BF944E4E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33" y="1381679"/>
            <a:ext cx="11148391" cy="47634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8E1D90-E393-3EF1-042A-AD7034FE0E9B}"/>
              </a:ext>
            </a:extLst>
          </p:cNvPr>
          <p:cNvSpPr txBox="1"/>
          <p:nvPr/>
        </p:nvSpPr>
        <p:spPr>
          <a:xfrm>
            <a:off x="8656983" y="2091835"/>
            <a:ext cx="284259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Active Power</a:t>
            </a:r>
            <a:r>
              <a:rPr lang="pt-BR" dirty="0">
                <a:effectLst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P=</a:t>
            </a:r>
            <a:r>
              <a:rPr lang="pt-BR" dirty="0">
                <a:effectLst/>
              </a:rPr>
              <a:t> (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1.72E+06)</a:t>
            </a:r>
            <a:r>
              <a:rPr lang="pt-BR" dirty="0">
                <a:effectLst/>
              </a:rPr>
              <a:t> </a:t>
            </a:r>
            <a:r>
              <a:rPr lang="pt-BR" dirty="0"/>
              <a:t>+(</a:t>
            </a:r>
            <a:r>
              <a:rPr lang="pt-BR" dirty="0">
                <a:solidFill>
                  <a:srgbClr val="000000"/>
                </a:solidFill>
                <a:latin typeface="Calibri" panose="020F0502020204030204" pitchFamily="34" charset="0"/>
              </a:rPr>
              <a:t>1.72E+06)</a:t>
            </a:r>
            <a:r>
              <a:rPr lang="pt-BR" dirty="0"/>
              <a:t> +(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1.72E+06)</a:t>
            </a:r>
            <a:r>
              <a:rPr lang="pt-BR" dirty="0">
                <a:effectLst/>
              </a:rPr>
              <a:t> =</a:t>
            </a:r>
            <a:r>
              <a:rPr lang="pt-BR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5160000=</a:t>
            </a:r>
            <a:r>
              <a:rPr lang="pt-BR" dirty="0">
                <a:effectLst/>
              </a:rPr>
              <a:t> </a:t>
            </a:r>
            <a:r>
              <a:rPr lang="pt-BR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5.16MW</a:t>
            </a:r>
            <a:r>
              <a:rPr lang="pt-BR" dirty="0">
                <a:effectLst/>
              </a:rPr>
              <a:t> 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82CB229-AB9C-BB47-3A53-0A9FC17D0CE5}"/>
                  </a:ext>
                </a:extLst>
              </p14:cNvPr>
              <p14:cNvContentPartPr/>
              <p14:nvPr/>
            </p14:nvContentPartPr>
            <p14:xfrm>
              <a:off x="7670160" y="1703755"/>
              <a:ext cx="1098360" cy="776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82CB229-AB9C-BB47-3A53-0A9FC17D0C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64040" y="1697635"/>
                <a:ext cx="1110600" cy="788400"/>
              </a:xfrm>
              <a:prstGeom prst="rect">
                <a:avLst/>
              </a:prstGeom>
            </p:spPr>
          </p:pic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7B62517-ABA6-F453-A3FE-BDC9B98BF5CE}"/>
              </a:ext>
            </a:extLst>
          </p:cNvPr>
          <p:cNvCxnSpPr>
            <a:cxnSpLocks/>
          </p:cNvCxnSpPr>
          <p:nvPr/>
        </p:nvCxnSpPr>
        <p:spPr>
          <a:xfrm flipH="1" flipV="1">
            <a:off x="8768520" y="1918252"/>
            <a:ext cx="504689" cy="112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29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ED72B-F160-0ADA-D501-DEA8AA52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D97909-FEBC-3DD2-821F-8D6E4AFB9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Mat lab simulation Result of Generator.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00914-CE59-C463-4579-B935CD537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2C22-4AFD-00CE-621F-307CA7D01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8C1DC-4D19-551A-EA29-C32E6A6D6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62B07107-554F-4056-4479-CBD8102A67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C4663E5F-402E-51B7-C0FE-6ABD33ABBA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1514856" cy="1514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8B3039-E68F-F5F3-FCF6-12F579D7E648}"/>
              </a:ext>
            </a:extLst>
          </p:cNvPr>
          <p:cNvSpPr txBox="1"/>
          <p:nvPr/>
        </p:nvSpPr>
        <p:spPr>
          <a:xfrm>
            <a:off x="3257550" y="6123543"/>
            <a:ext cx="61449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MA" sz="1800" dirty="0"/>
              <a:t> </a:t>
            </a:r>
            <a:r>
              <a:rPr lang="fr-MA" dirty="0"/>
              <a:t>Generator scheme .</a:t>
            </a:r>
            <a:r>
              <a:rPr lang="fr-MA" sz="1800" dirty="0"/>
              <a:t>Source [own]. 06.12.2025 </a:t>
            </a:r>
            <a:endParaRPr lang="en-US" sz="1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B5EF87-F721-437F-FBA1-6197A3FE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344952"/>
            <a:ext cx="10515599" cy="47785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0B419A-38DB-2C82-1852-D1984641FDB5}"/>
              </a:ext>
            </a:extLst>
          </p:cNvPr>
          <p:cNvSpPr txBox="1"/>
          <p:nvPr/>
        </p:nvSpPr>
        <p:spPr>
          <a:xfrm>
            <a:off x="3812805" y="1553534"/>
            <a:ext cx="9877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Wind Speed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B417A6-4AC3-352F-A75F-2359E00C70E1}"/>
              </a:ext>
            </a:extLst>
          </p:cNvPr>
          <p:cNvSpPr txBox="1"/>
          <p:nvPr/>
        </p:nvSpPr>
        <p:spPr>
          <a:xfrm>
            <a:off x="3682193" y="2755714"/>
            <a:ext cx="1635241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Wind Power per unit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DF73E1-4157-B09F-EEB6-6035669B84F2}"/>
              </a:ext>
            </a:extLst>
          </p:cNvPr>
          <p:cNvSpPr txBox="1"/>
          <p:nvPr/>
        </p:nvSpPr>
        <p:spPr>
          <a:xfrm>
            <a:off x="3982979" y="3819395"/>
            <a:ext cx="1635241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Pitch Angle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66EE6E-F5BB-E1BC-3F5B-F208E59CBE2C}"/>
              </a:ext>
            </a:extLst>
          </p:cNvPr>
          <p:cNvSpPr txBox="1"/>
          <p:nvPr/>
        </p:nvSpPr>
        <p:spPr>
          <a:xfrm>
            <a:off x="3812805" y="4921362"/>
            <a:ext cx="1635241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Electrical Torque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6A278-DD07-7659-CD5C-D9F1AA8D8112}"/>
              </a:ext>
            </a:extLst>
          </p:cNvPr>
          <p:cNvSpPr txBox="1"/>
          <p:nvPr/>
        </p:nvSpPr>
        <p:spPr>
          <a:xfrm>
            <a:off x="9213066" y="1633973"/>
            <a:ext cx="1635241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Rotor Speed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844205-3026-5500-6D9F-443A53892FC7}"/>
              </a:ext>
            </a:extLst>
          </p:cNvPr>
          <p:cNvSpPr txBox="1"/>
          <p:nvPr/>
        </p:nvSpPr>
        <p:spPr>
          <a:xfrm>
            <a:off x="9213066" y="2697654"/>
            <a:ext cx="1635241" cy="27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chemeClr val="bg1"/>
                </a:solidFill>
              </a:rPr>
              <a:t>Reactive Power</a:t>
            </a:r>
          </a:p>
        </p:txBody>
      </p:sp>
    </p:spTree>
    <p:extLst>
      <p:ext uri="{BB962C8B-B14F-4D97-AF65-F5344CB8AC3E}">
        <p14:creationId xmlns:p14="http://schemas.microsoft.com/office/powerpoint/2010/main" val="1711406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16F3C-E304-A05B-36CC-F7987BC5A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6AEE849D-D9B7-1150-C53E-6FCB88ED0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6.Next Step</a:t>
            </a:r>
            <a:endParaRPr lang="de-DE" dirty="0">
              <a:solidFill>
                <a:prstClr val="black"/>
              </a:solidFill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3DCAAD-6FE7-ABB8-F183-34B025EBDC7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de-DE" dirty="0"/>
              <a:t>Electrical Drivetrain / Optimus Syria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C6C4A7-3CDD-4DBA-4660-C6A2EEC435A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65A6D213-0805-4C3E-849D-17C75FD348C3}" type="slidenum">
              <a:rPr lang="de-DE" smtClean="0"/>
              <a:t>11</a:t>
            </a:fld>
            <a:endParaRPr lang="de-DE" dirty="0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8AEE8DB0-9841-5964-5327-D15E924DD505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38200" y="6567488"/>
            <a:ext cx="1111250" cy="365125"/>
          </a:xfrm>
        </p:spPr>
        <p:txBody>
          <a:bodyPr/>
          <a:lstStyle/>
          <a:p>
            <a:r>
              <a:rPr lang="en-US"/>
              <a:t>09/12/2025</a:t>
            </a:r>
            <a:endParaRPr lang="en-GB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25D078B-14F7-F4E5-748E-5707AED52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08" y="1737143"/>
            <a:ext cx="9418320" cy="1298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finalize the simulation for all components combined.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To start the redaction of report and final presentation.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Using power factory results to make final selection of cables and switchgear.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959D6EBF-8E1B-AEB8-95A4-B5DC5509C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/>
          <a:lstStyle/>
          <a:p>
            <a:r>
              <a:rPr lang="en-GB" dirty="0"/>
              <a:t>Vishranti Patil</a:t>
            </a:r>
          </a:p>
        </p:txBody>
      </p:sp>
    </p:spTree>
    <p:extLst>
      <p:ext uri="{BB962C8B-B14F-4D97-AF65-F5344CB8AC3E}">
        <p14:creationId xmlns:p14="http://schemas.microsoft.com/office/powerpoint/2010/main" val="2730714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文本框"/>
          <p:cNvSpPr>
            <a:spLocks noGrp="1"/>
          </p:cNvSpPr>
          <p:nvPr>
            <p:ph type="title"/>
          </p:nvPr>
        </p:nvSpPr>
        <p:spPr>
          <a:xfrm>
            <a:off x="937592" y="324643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noProof="0" dirty="0"/>
              <a:t>Bibliography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F4E31-D8EF-BD6B-0B21-F913357B082A}"/>
              </a:ext>
            </a:extLst>
          </p:cNvPr>
          <p:cNvSpPr>
            <a:spLocks noGrp="1"/>
          </p:cNvSpPr>
          <p:nvPr>
            <p:ph type="ftr"/>
          </p:nvPr>
        </p:nvSpPr>
        <p:spPr/>
        <p:txBody>
          <a:bodyPr/>
          <a:lstStyle/>
          <a:p>
            <a:pPr algn="r"/>
            <a:r>
              <a:rPr lang="en-US" sz="1200" noProof="0" dirty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Electrical Drivetrain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25A4F-3163-9DBF-FD18-19E943A66680}"/>
              </a:ext>
            </a:extLst>
          </p:cNvPr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ctr"/>
            <a:fld id="{CAD2D6BD-DE1B-4B5F-8B41-2702339687B9}" type="slidenum">
              <a:rPr lang="en-US" sz="1200" b="0" i="0" u="none" strike="noStrike" kern="1200" cap="none" spc="0" baseline="0" noProof="0" smtClean="0">
                <a:solidFill>
                  <a:schemeClr val="bg1"/>
                </a:solidFill>
                <a:latin typeface="Aptos" charset="0"/>
                <a:ea typeface="等线" charset="0"/>
                <a:cs typeface="Aptos" charset="0"/>
              </a:rPr>
              <a:t>12</a:t>
            </a:fld>
            <a:endParaRPr lang="en-US" sz="1200" noProof="0" dirty="0">
              <a:solidFill>
                <a:schemeClr val="bg1"/>
              </a:solidFill>
              <a:latin typeface="Aptos" charset="0"/>
              <a:ea typeface="等线" charset="0"/>
              <a:cs typeface="Aptos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50FB-0F77-2AFD-5052-3F1383A74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142" y="6563174"/>
            <a:ext cx="2883658" cy="365792"/>
          </a:xfrm>
          <a:prstGeom prst="rect">
            <a:avLst/>
          </a:prstGeom>
        </p:spPr>
      </p:pic>
      <p:sp>
        <p:nvSpPr>
          <p:cNvPr id="9" name="Datumsplatzhalter 3">
            <a:extLst>
              <a:ext uri="{FF2B5EF4-FFF2-40B4-BE49-F238E27FC236}">
                <a16:creationId xmlns:a16="http://schemas.microsoft.com/office/drawing/2014/main" id="{41C0995E-FEBD-077C-14BB-63CEFB257421}"/>
              </a:ext>
            </a:extLst>
          </p:cNvPr>
          <p:cNvSpPr txBox="1">
            <a:spLocks/>
          </p:cNvSpPr>
          <p:nvPr/>
        </p:nvSpPr>
        <p:spPr>
          <a:xfrm>
            <a:off x="937592" y="6563841"/>
            <a:ext cx="153725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02</a:t>
            </a:r>
            <a:r>
              <a:rPr lang="en-US" sz="1200" noProof="0" dirty="0">
                <a:solidFill>
                  <a:schemeClr val="bg1"/>
                </a:solidFill>
              </a:rPr>
              <a:t>/12/2025</a:t>
            </a:r>
          </a:p>
        </p:txBody>
      </p:sp>
      <p:sp>
        <p:nvSpPr>
          <p:cNvPr id="16" name="Foliennummernplatzhalter 5">
            <a:extLst>
              <a:ext uri="{FF2B5EF4-FFF2-40B4-BE49-F238E27FC236}">
                <a16:creationId xmlns:a16="http://schemas.microsoft.com/office/drawing/2014/main" id="{F7D00D96-B25F-2B58-BBC1-1A74FAC2127C}"/>
              </a:ext>
            </a:extLst>
          </p:cNvPr>
          <p:cNvSpPr txBox="1">
            <a:spLocks/>
          </p:cNvSpPr>
          <p:nvPr/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noProof="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AF1E9-7386-B27F-9F9D-313E52F38408}"/>
              </a:ext>
            </a:extLst>
          </p:cNvPr>
          <p:cNvSpPr txBox="1"/>
          <p:nvPr/>
        </p:nvSpPr>
        <p:spPr>
          <a:xfrm>
            <a:off x="838200" y="1211491"/>
            <a:ext cx="105156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1. Electrical machines and power electronics course </a:t>
            </a:r>
            <a:r>
              <a:rPr lang="de-DE" sz="1400" dirty="0"/>
              <a:t>Prof.</a:t>
            </a:r>
            <a:r>
              <a:rPr lang="en-US" sz="1400" dirty="0"/>
              <a:t>Dr.-Ing Rajesh </a:t>
            </a:r>
            <a:r>
              <a:rPr lang="en-US" sz="1400" dirty="0" err="1"/>
              <a:t>Saiju</a:t>
            </a:r>
            <a:r>
              <a:rPr lang="en-US" sz="1400" dirty="0"/>
              <a:t>,</a:t>
            </a:r>
          </a:p>
          <a:p>
            <a:r>
              <a:rPr lang="en-US" sz="1400" dirty="0"/>
              <a:t>2. Power system analysis by </a:t>
            </a:r>
            <a:r>
              <a:rPr lang="en-US" sz="1400" dirty="0" err="1"/>
              <a:t>hadi</a:t>
            </a:r>
            <a:r>
              <a:rPr lang="en-US" sz="1400" dirty="0"/>
              <a:t> </a:t>
            </a:r>
            <a:r>
              <a:rPr lang="en-US" sz="1400" dirty="0" err="1"/>
              <a:t>saadat</a:t>
            </a:r>
            <a:r>
              <a:rPr lang="en-US" sz="1400" dirty="0"/>
              <a:t>. </a:t>
            </a:r>
            <a:r>
              <a:rPr lang="en-GB" sz="1400" dirty="0"/>
              <a:t>[ 25.11.2025]</a:t>
            </a:r>
          </a:p>
          <a:p>
            <a:r>
              <a:rPr lang="en-US" sz="1400" dirty="0"/>
              <a:t>3. BETA </a:t>
            </a:r>
            <a:r>
              <a:rPr lang="en-US" sz="1400" dirty="0" err="1"/>
              <a:t>Elektrotechnik</a:t>
            </a:r>
            <a:r>
              <a:rPr lang="en-US" sz="1400" dirty="0"/>
              <a:t> GmbH. “Oil Transformers.” BETA–Elektro, accessed November 29, 2025. </a:t>
            </a:r>
            <a:r>
              <a:rPr lang="en-US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https://www.beta-elektro.com/oil-transformers</a:t>
            </a:r>
            <a:endParaRPr lang="en-US" sz="1400" dirty="0"/>
          </a:p>
          <a:p>
            <a:r>
              <a:rPr lang="en-US" sz="1400" dirty="0"/>
              <a:t>4. Equivalent Circuit of a Transformer,” </a:t>
            </a:r>
            <a:r>
              <a:rPr lang="en-US" sz="1400" dirty="0" err="1"/>
              <a:t>Poriyaan</a:t>
            </a:r>
            <a:r>
              <a:rPr lang="en-US" sz="1400" dirty="0"/>
              <a:t>. [Online]. Available: </a:t>
            </a:r>
            <a:r>
              <a:rPr lang="en-US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https://ece.poriyaan.in/topic/equivalent-circuit-of-a-transformer-20011/</a:t>
            </a:r>
            <a:r>
              <a:rPr lang="en-US" sz="1400" dirty="0"/>
              <a:t>. [Accessed: Nov. 29, 2025].</a:t>
            </a:r>
          </a:p>
          <a:p>
            <a:r>
              <a:rPr lang="en-US" sz="1400" dirty="0"/>
              <a:t>5. Electrical engineering for wind turbines course of </a:t>
            </a:r>
            <a:r>
              <a:rPr lang="en-GB" sz="1400" dirty="0"/>
              <a:t>Prof. Dr. Ingmar Leise. [ 02.12.2025]</a:t>
            </a:r>
          </a:p>
          <a:p>
            <a:r>
              <a:rPr lang="en-GB" sz="1400" dirty="0"/>
              <a:t>6. [Source. 1]</a:t>
            </a:r>
            <a:r>
              <a:rPr lang="en-US" sz="1400" b="1" dirty="0"/>
              <a:t>ABB</a:t>
            </a:r>
            <a:r>
              <a:rPr lang="en-US" sz="1400" dirty="0"/>
              <a:t>, </a:t>
            </a:r>
            <a:r>
              <a:rPr lang="en-US" sz="1400" i="1" dirty="0"/>
              <a:t>Wind power generators – Standard doubly-fed induction generators</a:t>
            </a:r>
            <a:r>
              <a:rPr lang="en-US" sz="1400" dirty="0"/>
              <a:t>. Rev. E, ABB, 06 2019. [Online]. Available: </a:t>
            </a:r>
            <a:r>
              <a:rPr lang="en-US" sz="1400" dirty="0">
                <a:hlinkClick r:id="rId6"/>
              </a:rPr>
              <a:t>https://library.e.abb.com/public/b86faa2d634f4010baefd88633123c3d/Wind+power+generators+-+Standard+doubly-fed+induction+generators_9AKK105233_RevE_EN+06-2019_lowres.pdf</a:t>
            </a:r>
            <a:br>
              <a:rPr lang="en-US" sz="1400" dirty="0"/>
            </a:br>
            <a:r>
              <a:rPr lang="en-US" sz="1400" dirty="0"/>
              <a:t>7. </a:t>
            </a:r>
            <a:r>
              <a:rPr lang="en-GB" sz="1400" dirty="0"/>
              <a:t>[Source. 2] </a:t>
            </a:r>
            <a:r>
              <a:rPr lang="en-US" sz="1400" b="1" dirty="0"/>
              <a:t>VEM </a:t>
            </a:r>
            <a:r>
              <a:rPr lang="en-US" sz="1400" b="1" dirty="0" err="1"/>
              <a:t>Sachsenwerk</a:t>
            </a:r>
            <a:r>
              <a:rPr lang="en-US" sz="1400" b="1" dirty="0"/>
              <a:t> GmbH</a:t>
            </a:r>
            <a:r>
              <a:rPr lang="en-US" sz="1400" dirty="0"/>
              <a:t>, “Product overview – VEM Windpower,” VEM-Group, Dresden, Germany, Apr. 2018. [Online]. Available: </a:t>
            </a:r>
            <a:r>
              <a:rPr lang="en-US" sz="1400" dirty="0">
                <a:hlinkClick r:id="rId7"/>
              </a:rPr>
              <a:t>https://www.vem.fi/wp-content/uploads/2018/04/Product-overview-VEM-Windpower.pdf</a:t>
            </a:r>
            <a:r>
              <a:rPr lang="en-US" sz="1400" dirty="0"/>
              <a:t> (accessed Dec. 7, 2025). </a:t>
            </a:r>
          </a:p>
          <a:p>
            <a:r>
              <a:rPr lang="en-US" sz="1400" dirty="0"/>
              <a:t>8. </a:t>
            </a:r>
            <a:r>
              <a:rPr lang="en-GB" sz="1400" dirty="0"/>
              <a:t>[Source. 3] </a:t>
            </a:r>
            <a:r>
              <a:rPr lang="en-US" sz="1400" dirty="0" err="1"/>
              <a:t>Elsewedy</a:t>
            </a:r>
            <a:r>
              <a:rPr lang="en-US" sz="1400" dirty="0"/>
              <a:t> Electric, </a:t>
            </a:r>
            <a:r>
              <a:rPr lang="en-US" sz="1400" i="1" dirty="0"/>
              <a:t>Transformers Focus Catalogue</a:t>
            </a:r>
            <a:r>
              <a:rPr lang="en-US" sz="1400" dirty="0"/>
              <a:t>. </a:t>
            </a:r>
            <a:r>
              <a:rPr lang="en-US" sz="1400" dirty="0" err="1"/>
              <a:t>Elsewedy</a:t>
            </a:r>
            <a:r>
              <a:rPr lang="en-US" sz="1400" dirty="0"/>
              <a:t> Electric, Egypt, [Online]. Available: </a:t>
            </a:r>
            <a:r>
              <a:rPr lang="en-US" sz="1400" dirty="0">
                <a:hlinkClick r:id="rId8"/>
              </a:rPr>
              <a:t>https://elsewedyelectric.com/pdf/Catalouges/05363875/transformers_focus_catalogue.pdf</a:t>
            </a:r>
            <a:endParaRPr lang="en-US" sz="1400" dirty="0"/>
          </a:p>
          <a:p>
            <a:r>
              <a:rPr lang="en-US" sz="1400" dirty="0"/>
              <a:t>9. </a:t>
            </a:r>
            <a:r>
              <a:rPr lang="en-GB" sz="1400" dirty="0"/>
              <a:t>[Source. 4] </a:t>
            </a:r>
            <a:r>
              <a:rPr lang="en-US" sz="1400" dirty="0"/>
              <a:t>Siemens Energy, “GEAFOL cast-resin transformers,” Siemens Energy. [Online]. Available: </a:t>
            </a:r>
            <a:r>
              <a:rPr lang="en-US" sz="1400" dirty="0">
                <a:hlinkClick r:id="rId9"/>
              </a:rPr>
              <a:t>https://www.siemens-energy.com/global/en/home/products-services/product/geafol-dry-type-distribution-transformers.html</a:t>
            </a:r>
            <a:r>
              <a:rPr lang="en-US" sz="1400" dirty="0"/>
              <a:t>. [Accessed: Dec. 07, 2025].</a:t>
            </a:r>
          </a:p>
          <a:p>
            <a:r>
              <a:rPr lang="en-US" sz="1400" dirty="0"/>
              <a:t>10.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83A57B-4583-AAF8-E6E0-9BDBBFAAD5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97085" y="6533357"/>
            <a:ext cx="559661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671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2" id="{37666F68-9715-4511-90E3-E4140495B232}" vid="{4FEE3175-B49C-4319-8ECD-B48408CDBF8F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2" id="{37666F68-9715-4511-90E3-E4140495B232}" vid="{9BE4395A-200E-4568-ABA6-DAB134CF054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1316</TotalTime>
  <Words>871</Words>
  <Application>Microsoft Office PowerPoint</Application>
  <PresentationFormat>Widescreen</PresentationFormat>
  <Paragraphs>132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Benutzerdefiniertes Design</vt:lpstr>
      <vt:lpstr>Office</vt:lpstr>
      <vt:lpstr>PowerPoint Presentation</vt:lpstr>
      <vt:lpstr>List of contents</vt:lpstr>
      <vt:lpstr>1. Electrical parameter of transformer.</vt:lpstr>
      <vt:lpstr>1. Electrical parameter of transformer.</vt:lpstr>
      <vt:lpstr>2. Mechanical Dimension of transformer.</vt:lpstr>
      <vt:lpstr>3. Mat lab simulation of transformer.</vt:lpstr>
      <vt:lpstr>3. Mat lab simulation Result of transformer.</vt:lpstr>
      <vt:lpstr>4. Updated Electrical Parameters of Generator.</vt:lpstr>
      <vt:lpstr>5. Mat lab simulation of Generator</vt:lpstr>
      <vt:lpstr>5. Mat lab simulation Result of Generator.</vt:lpstr>
      <vt:lpstr>6.Next Step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Girish Padalkar</cp:lastModifiedBy>
  <cp:revision>116</cp:revision>
  <dcterms:created xsi:type="dcterms:W3CDTF">2025-09-27T08:52:45Z</dcterms:created>
  <dcterms:modified xsi:type="dcterms:W3CDTF">2025-12-08T10:07:21Z</dcterms:modified>
</cp:coreProperties>
</file>