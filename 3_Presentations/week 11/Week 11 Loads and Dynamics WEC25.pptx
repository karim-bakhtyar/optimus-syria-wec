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9" r:id="rId4"/>
    <p:sldId id="272" r:id="rId5"/>
    <p:sldId id="274" r:id="rId6"/>
    <p:sldId id="281" r:id="rId7"/>
    <p:sldId id="289" r:id="rId8"/>
    <p:sldId id="290" r:id="rId9"/>
    <p:sldId id="276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56"/>
          </p14:sldIdLst>
        </p14:section>
        <p14:section name="text slide" id="{65043596-36B7-4360-BB5C-7A99EFAEC5C9}">
          <p14:sldIdLst>
            <p14:sldId id="259"/>
          </p14:sldIdLst>
        </p14:section>
        <p14:section name="graph slide" id="{B26F6679-C236-4D3D-BC2F-CAE5ED400718}">
          <p14:sldIdLst>
            <p14:sldId id="272"/>
            <p14:sldId id="274"/>
            <p14:sldId id="281"/>
            <p14:sldId id="289"/>
            <p14:sldId id="290"/>
            <p14:sldId id="276"/>
          </p14:sldIdLst>
        </p14:section>
        <p14:section name="bibliography" id="{2ECB0A3B-7D16-4F98-AD6A-5308DF7BF078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B6C1"/>
    <a:srgbClr val="FFFFFF"/>
    <a:srgbClr val="8ECEFA"/>
    <a:srgbClr val="92C6E6"/>
    <a:srgbClr val="80D2F7"/>
    <a:srgbClr val="7ED1F7"/>
    <a:srgbClr val="A1DFFD"/>
    <a:srgbClr val="C0F5FF"/>
    <a:srgbClr val="3C96FA"/>
    <a:srgbClr val="BD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24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338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7A657-38CD-C08A-9C1B-B9CD7AC4C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27432-D777-E332-0F94-ABB4525D7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29F61-B842-CCB8-1ABF-372A5F3AF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AA884-AC4C-4119-B1F3-CB5E5B1F0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548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DF72-239B-2727-0741-72937FFF7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B9894-365C-F1BB-C6D1-80520BA77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1D379-0A6D-3B73-FF18-8C52247F6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8C640-6E38-186E-E4E5-20F5F6977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076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AFC5A-F5F3-56B6-0321-C12BDD1A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7FEB2-D58C-82EF-30C4-D7690F253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9F48F-90DE-A1A7-AC91-8D253534D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6E226-7E9E-3C4F-1080-0B98C8849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54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4C545-ADA7-787D-6D7C-2C63B378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1A81B-C275-BE86-D6D6-F14BD32A9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1F224-9798-4EFB-9B22-9F6ED7FF8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C80CE-72EA-0238-243D-FD70A6059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916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231E-5A67-3A7D-9899-E9C3D164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56000-FC93-AF5B-725E-3B0F00E45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AB7B2-B716-A1D9-3ECD-FE9CB36C2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1ED5D-D283-566F-3508-C5310D954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473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8841A-68C1-E977-EF10-2F137022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33C6E-A737-72C2-AA57-F437EC30B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0D82A-8C4C-1044-594E-580A10C11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BD6B7-AC09-0DC6-468A-449328D32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3327E-A3FE-4279-B080-AD6DAF9EDC3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139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0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2582E-7652-4336-8F82-B8F78DEBE1E6}" type="datetime1">
              <a:rPr lang="en-GB" smtClean="0"/>
              <a:t>07/12/2025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03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100E-89DB-4D21-B66A-B5E24FA59FB2}" type="datetime1">
              <a:rPr lang="en-GB" smtClean="0"/>
              <a:t>07/12/2025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01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7878B-5315-4496-8D10-2F17543DB034}" type="datetime1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48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EA969-CEB0-4E87-8DDD-72161074DF01}" type="datetime1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5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A96A-71C8-435E-B03B-275B6E0D4AB2}" type="datetime1">
              <a:rPr lang="en-GB" smtClean="0"/>
              <a:t>07/12/2025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2E411-883A-45F0-8C4F-B0FE2C65FB28}" type="datetime1">
              <a:rPr lang="en-GB" smtClean="0"/>
              <a:t>07/12/2025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7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6F48-3B55-4945-B23D-B0C51AFE28E6}" type="datetime1">
              <a:rPr lang="en-GB" smtClean="0"/>
              <a:t>07/12/2025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2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9ACC-63FA-4EE9-AE4D-ECCDA5B91432}" type="datetime1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9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1FE4-6F4F-4845-8022-15597911E7C2}" type="datetime1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1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4C014-E638-4D69-B7E7-9E0555AE7620}" type="datetime1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75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5F2F9-D101-4F42-A846-5D94E4802AD7}" type="datetime1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46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EF21-84C8-586D-C38F-81DE3F931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3036B-E08D-B4B8-69CB-C42176842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DB72-09E0-8BDF-14B4-4FA2820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2740-59F3-8354-CF52-53337A80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06A1-E2ED-D4C3-86B0-3C972409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08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E779-A5CF-33E3-89F5-B43337C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D232-4F34-AEFC-AFD0-741DABBA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2E77-D5DF-1D17-C854-897B9DD3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4D6-F2CE-1582-32E1-94A59C7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7D5C-0D68-9101-A36C-9187E79B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92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8CC5-208E-4B47-6CAD-E29FCCC3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79405-6B60-96C3-7F85-CE10C287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CBA10-7C40-29AA-A669-FC24070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9825-A403-E91C-FFA8-F874E991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BFE7-28C4-5DF1-911F-E0B622E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19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7720-A6A0-DF50-E2F8-F9527E23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D186-8E32-BEAD-C81B-DE65895F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7542-2B68-1767-C023-57D111E4E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5A417-9018-30E4-0A47-8170AD7D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F8F7-6A80-4F6A-4E5F-660537A2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3418-4BA9-CD34-AE32-0EF41678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366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08D8-A3B6-96B0-A29C-1B8262B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05487-0425-138F-F9A2-08722722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BCB02-5AB4-A5E9-0917-4B9DD049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50C77-85F2-0754-8AD9-7A5A4AEF6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DDF01-B6D2-31ED-A641-114B1A0AD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FCA1D-B4D0-56C6-A678-3E062436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E1DB4-3501-792C-CAF9-4235B2E9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D0757-7BFA-7895-D03C-767D640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317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2EA9-258F-B5EB-624D-2EFA68C4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48340-45BA-0901-1551-9D9DA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2F2D2-B0BF-4202-0381-8243671B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6687B-3FE7-76CE-1134-2B3A5D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28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E6C1-24CC-682A-8886-999E9A21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75448-9567-EFBD-FC78-2B80C2BD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95C70-5A8D-518E-49A4-1BE45385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015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20AB-BD7C-3FEC-DC53-91B04780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A408-CFF5-5EB0-4399-BB87E6CF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6F81-445C-5EF6-6E32-68D1E9C1C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8E69-7027-0F17-B524-CD221B58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45A00-EFDD-31BA-C55F-26A6CC90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CCAF-2E21-16F5-1C68-06D177E1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473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A28B-29EC-E505-5884-CB4B1C6F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5986-DCF9-FBB5-39AD-D04792C65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AEB0E-C7EC-4F26-009D-409178E43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B446-5A6F-5112-F417-65A55A0D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D12D-03AA-1A0A-4595-8E063817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B350E-16AC-3E65-1704-09F648AB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644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8C89-C725-395E-E708-BEF95E19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E4975-013E-CB40-86C9-4D346B73C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6C674-4D68-9DAC-8E93-7EB627FC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C36B8-CAAE-BDC6-8DF5-9451A698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50A4-9B92-8DB3-B407-A8A74CEA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05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A6511-7D12-4461-0A24-9B3134C2C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222EB-F23C-083B-09C9-48B924A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08F9-D1F7-F94A-CA98-198F714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EC99-01D5-4EE5-ACB1-C061987EA0AA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FCF1-AD09-ED98-9C1F-DDCABBE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C831-E5D1-B4E6-5F4E-FB9FFB5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42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16A2C-1914-4EE9-9598-2A06F9BE67BF}" type="datetime1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24F72-DEC3-C328-E288-A7FC5B1D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96B6-F39D-5D3A-895A-1CE61CD3F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26E2-FBE9-5D75-A698-6FD0ED097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EC99-01D5-4EE5-ACB1-C061987EA0AA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AFA2-68FA-9BA2-4F27-A8680F50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27B2-667B-4034-930B-AB076347A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48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/>
          <a:p>
            <a:r>
              <a:rPr lang="it-IT" sz="4400" dirty="0"/>
              <a:t>Weekly report: Load &amp; Dynamics</a:t>
            </a: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795324"/>
          </a:xfrm>
        </p:spPr>
        <p:txBody>
          <a:bodyPr>
            <a:normAutofit/>
          </a:bodyPr>
          <a:lstStyle/>
          <a:p>
            <a:r>
              <a:rPr lang="it-IT" sz="2000" dirty="0"/>
              <a:t>Week number: 11</a:t>
            </a:r>
          </a:p>
          <a:p>
            <a:r>
              <a:rPr lang="it-IT" sz="2000" dirty="0"/>
              <a:t>Date: 09/12/2025</a:t>
            </a:r>
          </a:p>
          <a:p>
            <a:r>
              <a:rPr lang="it-IT" sz="2000" dirty="0"/>
              <a:t>Supervisor: Mr. </a:t>
            </a:r>
            <a:r>
              <a:rPr lang="en-US" sz="2000" dirty="0" err="1"/>
              <a:t>Manjock</a:t>
            </a:r>
            <a:endParaRPr lang="en-GB" sz="2000" dirty="0"/>
          </a:p>
        </p:txBody>
      </p:sp>
      <p:pic>
        <p:nvPicPr>
          <p:cNvPr id="8" name="Picture 8" descr="Hochschule Flensburg (Fachhochschule) – Wikipedia">
            <a:extLst>
              <a:ext uri="{FF2B5EF4-FFF2-40B4-BE49-F238E27FC236}">
                <a16:creationId xmlns:a16="http://schemas.microsoft.com/office/drawing/2014/main" id="{E88D30C2-B846-594F-69A8-55F55380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E7EEC8C-633A-AEB3-3E8A-978E3C75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13120F1-DE8B-A6AA-A1D5-19926A98F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Group members:  </a:t>
            </a:r>
            <a:r>
              <a:rPr lang="en-US" sz="1400" dirty="0"/>
              <a:t>Md Aman, Arham Memon, Paresh </a:t>
            </a:r>
            <a:r>
              <a:rPr lang="en-US" sz="1400" dirty="0" err="1"/>
              <a:t>Nakum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Presenter  – Arham Memon</a:t>
            </a:r>
          </a:p>
          <a:p>
            <a:pPr algn="ctr"/>
            <a:endParaRPr lang="en-US" sz="1400" dirty="0"/>
          </a:p>
        </p:txBody>
      </p:sp>
      <p:sp>
        <p:nvSpPr>
          <p:cNvPr id="34" name="Free-form: Shape 13">
            <a:extLst>
              <a:ext uri="{FF2B5EF4-FFF2-40B4-BE49-F238E27FC236}">
                <a16:creationId xmlns:a16="http://schemas.microsoft.com/office/drawing/2014/main" id="{44C88E41-E5B3-0D11-A4D3-711DA18380C9}"/>
              </a:ext>
            </a:extLst>
          </p:cNvPr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>
            <a:extLst>
              <a:ext uri="{FF2B5EF4-FFF2-40B4-BE49-F238E27FC236}">
                <a16:creationId xmlns:a16="http://schemas.microsoft.com/office/drawing/2014/main" id="{C26B78DF-71CA-5509-F4C5-6276C7251B89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>
            <a:extLst>
              <a:ext uri="{FF2B5EF4-FFF2-40B4-BE49-F238E27FC236}">
                <a16:creationId xmlns:a16="http://schemas.microsoft.com/office/drawing/2014/main" id="{2AC7F7CE-A165-18C0-6918-B9EA07638042}"/>
              </a:ext>
            </a:extLst>
          </p:cNvPr>
          <p:cNvSpPr/>
          <p:nvPr/>
        </p:nvSpPr>
        <p:spPr>
          <a:xfrm>
            <a:off x="31399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735E7E19-AD9A-2739-2D13-BC73EA4C759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2FD2ECB6-38EA-E857-A881-0C8E141A48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377946"/>
            <a:ext cx="1753782" cy="13136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389E-5559-8492-2D9E-AFA299DB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94158" y="6528076"/>
            <a:ext cx="433176" cy="365125"/>
          </a:xfrm>
        </p:spPr>
        <p:txBody>
          <a:bodyPr/>
          <a:lstStyle/>
          <a:p>
            <a:pPr algn="ctr"/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 algn="ctr"/>
              <a:t>1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5FE85-99F3-27E8-5CBF-44E0008EEEDF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09/12/2025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3F47E-3A0A-ECB9-FD0E-ABA07059CAA3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C26A0-56D2-A25C-6223-88C5F72E508E}"/>
              </a:ext>
            </a:extLst>
          </p:cNvPr>
          <p:cNvSpPr txBox="1"/>
          <p:nvPr/>
        </p:nvSpPr>
        <p:spPr>
          <a:xfrm>
            <a:off x="10533589" y="6549897"/>
            <a:ext cx="12456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Optimus Syria</a:t>
            </a:r>
          </a:p>
        </p:txBody>
      </p:sp>
    </p:spTree>
    <p:extLst>
      <p:ext uri="{BB962C8B-B14F-4D97-AF65-F5344CB8AC3E}">
        <p14:creationId xmlns:p14="http://schemas.microsoft.com/office/powerpoint/2010/main" val="73640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533BD2-7016-D99B-8D14-5716721F009D}"/>
              </a:ext>
            </a:extLst>
          </p:cNvPr>
          <p:cNvSpPr txBox="1"/>
          <p:nvPr/>
        </p:nvSpPr>
        <p:spPr>
          <a:xfrm>
            <a:off x="342900" y="1465091"/>
            <a:ext cx="112189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endParaRPr lang="it-I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cs typeface="Times New Roman" panose="02020603050405020304" pitchFamily="18" charset="0"/>
              </a:rPr>
              <a:t>OpenFAST</a:t>
            </a:r>
            <a:r>
              <a:rPr lang="en-US" sz="2400" dirty="0">
                <a:cs typeface="Times New Roman" panose="02020603050405020304" pitchFamily="18" charset="0"/>
              </a:rPr>
              <a:t> With LiDAR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Simulation Directory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cs typeface="Times New Roman" panose="02020603050405020304" pitchFamily="18" charset="0"/>
              </a:rPr>
              <a:t>MExtreme</a:t>
            </a:r>
            <a:r>
              <a:rPr lang="en-US" sz="2400" dirty="0">
                <a:cs typeface="Times New Roman" panose="02020603050405020304" pitchFamily="18" charset="0"/>
              </a:rPr>
              <a:t> Calculation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Final Working Procedure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Conclusion &amp; Future Plan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pitchFamily="18" charset="0"/>
              </a:rPr>
              <a:t>Bibliography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cs typeface="Times New Roman" panose="020206030504050203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33304" y="6536048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t>2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7982574" cy="712728"/>
          </a:xfrm>
        </p:spPr>
        <p:txBody>
          <a:bodyPr>
            <a:normAutofit/>
          </a:bodyPr>
          <a:lstStyle/>
          <a:p>
            <a:r>
              <a:rPr lang="en-US" sz="4400" dirty="0"/>
              <a:t>Agenda For </a:t>
            </a:r>
            <a:r>
              <a:rPr lang="it-IT" dirty="0"/>
              <a:t>Loads &amp; Dynamics</a:t>
            </a:r>
            <a:endParaRPr lang="en-US" sz="4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73AD17-49A9-1372-BEA3-994BB76CBDE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1CE810C-6C17-B4BE-B68E-E8F18C7174DF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5526F-EA1E-29F5-D36D-9C6FF00049B8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09/12/2025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68FCD7-DBCC-C4DB-3EB2-24DC1CB1FC1F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E8FF8-26DF-DC06-1B1F-F4D35D45F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92FA550B-EB6E-3B35-199D-08961285DE1F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9242A21-7A46-18F7-EA7C-13BC6DD60667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4AA6590-F0D8-22DD-ED57-A88257127BEA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F413404-13D4-6412-411C-C04E3A7567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B54AB6-8A88-1136-3EFD-86057EF7213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5BA4BB8-3F22-F9EA-D25E-727719E5DF0D}"/>
              </a:ext>
            </a:extLst>
          </p:cNvPr>
          <p:cNvSpPr txBox="1">
            <a:spLocks/>
          </p:cNvSpPr>
          <p:nvPr/>
        </p:nvSpPr>
        <p:spPr>
          <a:xfrm>
            <a:off x="1833304" y="6515527"/>
            <a:ext cx="287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3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88BC5F-AD6B-0BFD-8145-2C691A0D105E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20E2D1-B8F9-295C-5F3E-269F0C17C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26" y="36362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 err="1"/>
              <a:t>OpenFAST</a:t>
            </a:r>
            <a:r>
              <a:rPr lang="en-US" dirty="0"/>
              <a:t> with LiDAR Simulation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DE0AD-BC6B-3404-B712-4F1653A40F1F}"/>
              </a:ext>
            </a:extLst>
          </p:cNvPr>
          <p:cNvSpPr txBox="1"/>
          <p:nvPr/>
        </p:nvSpPr>
        <p:spPr>
          <a:xfrm>
            <a:off x="912778" y="1386444"/>
            <a:ext cx="102119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OpenFAST</a:t>
            </a:r>
            <a:r>
              <a:rPr lang="en-US" sz="2400" dirty="0"/>
              <a:t> v3.0 is applicable with LiDAR Simulation.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Total of 6 Design Load Cases will be used in this Optimus Syria Project.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27E474-614F-C114-4CED-406EC4E40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954853"/>
              </p:ext>
            </p:extLst>
          </p:nvPr>
        </p:nvGraphicFramePr>
        <p:xfrm>
          <a:off x="1002890" y="3005423"/>
          <a:ext cx="9625782" cy="3329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2891">
                  <a:extLst>
                    <a:ext uri="{9D8B030D-6E8A-4147-A177-3AD203B41FA5}">
                      <a16:colId xmlns:a16="http://schemas.microsoft.com/office/drawing/2014/main" val="618016475"/>
                    </a:ext>
                  </a:extLst>
                </a:gridCol>
                <a:gridCol w="4812891">
                  <a:extLst>
                    <a:ext uri="{9D8B030D-6E8A-4147-A177-3AD203B41FA5}">
                      <a16:colId xmlns:a16="http://schemas.microsoft.com/office/drawing/2014/main" val="3863608526"/>
                    </a:ext>
                  </a:extLst>
                </a:gridCol>
              </a:tblGrid>
              <a:tr h="4756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Wind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111794"/>
                  </a:ext>
                </a:extLst>
              </a:tr>
              <a:tr h="4756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 Power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616908"/>
                  </a:ext>
                </a:extLst>
              </a:tr>
              <a:tr h="4756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 Power Production + 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162035"/>
                  </a:ext>
                </a:extLst>
              </a:tr>
              <a:tr h="4756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 Normal Shut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700369"/>
                  </a:ext>
                </a:extLst>
              </a:tr>
              <a:tr h="4756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5.1 Emergency 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407996"/>
                  </a:ext>
                </a:extLst>
              </a:tr>
              <a:tr h="4756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6.1 Parked &amp; Idling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EWM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907248"/>
                  </a:ext>
                </a:extLst>
              </a:tr>
              <a:tr h="47563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7.1 Parked + 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EWM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38526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701608A-22D5-E427-D04D-D8EE189F1039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09/12/2025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330B14-AA7C-3CC6-FEF2-1002870DAD63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</p:spTree>
    <p:extLst>
      <p:ext uri="{BB962C8B-B14F-4D97-AF65-F5344CB8AC3E}">
        <p14:creationId xmlns:p14="http://schemas.microsoft.com/office/powerpoint/2010/main" val="262818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0BD9-DCF0-C18F-CBB5-2240AFCB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B159757D-E8D1-CE00-CF03-A7F07B52089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D42583EF-B99F-25C0-6636-4C358972E861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EA481050-6497-E015-F00B-773A6709737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AE3724C-C897-174D-25D3-46EBDC40CF0B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FC496C-7C4C-B904-0F4A-0008FCB8205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A1B0BF1-DB42-C121-AE22-C67847C8C00B}"/>
              </a:ext>
            </a:extLst>
          </p:cNvPr>
          <p:cNvSpPr txBox="1">
            <a:spLocks/>
          </p:cNvSpPr>
          <p:nvPr/>
        </p:nvSpPr>
        <p:spPr>
          <a:xfrm>
            <a:off x="1833304" y="6559592"/>
            <a:ext cx="457612" cy="2596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4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DD220A-BD95-30F8-877F-4F2054D7BA5E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5" name="Title 6">
            <a:extLst>
              <a:ext uri="{FF2B5EF4-FFF2-40B4-BE49-F238E27FC236}">
                <a16:creationId xmlns:a16="http://schemas.microsoft.com/office/drawing/2014/main" id="{619F541A-7C86-06B1-DE53-E8986A35A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26" y="36362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 err="1"/>
              <a:t>OpenFAST</a:t>
            </a:r>
            <a:r>
              <a:rPr lang="en-US" dirty="0"/>
              <a:t> Working Directory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4217A6-0557-A112-ADCF-04877EF8DBFD}"/>
              </a:ext>
            </a:extLst>
          </p:cNvPr>
          <p:cNvSpPr txBox="1"/>
          <p:nvPr/>
        </p:nvSpPr>
        <p:spPr>
          <a:xfrm>
            <a:off x="484418" y="4446148"/>
            <a:ext cx="107823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As of now DLC 1.2, DLC 5.1, DLC 6.1 all simulation updated with Optimus Syria Turbine, others are being updated.</a:t>
            </a:r>
          </a:p>
          <a:p>
            <a:endParaRPr lang="en-US" sz="2000" dirty="0"/>
          </a:p>
          <a:p>
            <a:r>
              <a:rPr lang="en-US" sz="2000" dirty="0"/>
              <a:t>All file parameter updated like twr.dat, bld.dat, </a:t>
            </a:r>
            <a:r>
              <a:rPr lang="en-US" sz="2000" dirty="0" err="1"/>
              <a:t>aerofoil</a:t>
            </a:r>
            <a:r>
              <a:rPr lang="en-US" sz="2000" dirty="0"/>
              <a:t>, aerodyn.dat except controller.</a:t>
            </a:r>
          </a:p>
          <a:p>
            <a:r>
              <a:rPr lang="en-US" sz="2000" dirty="0" err="1"/>
              <a:t>Updation</a:t>
            </a:r>
            <a:r>
              <a:rPr lang="en-US" sz="2000" dirty="0"/>
              <a:t> time with controller by week 12.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9F73376-D1F1-D6EE-DBBE-F172C2575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19" y="1262454"/>
            <a:ext cx="10782309" cy="303298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24A1B7B-4F6F-F0AC-4820-C5BD24018031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09/12/2025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DEC6CB-5C93-8647-BC32-D1855663D598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</p:spTree>
    <p:extLst>
      <p:ext uri="{BB962C8B-B14F-4D97-AF65-F5344CB8AC3E}">
        <p14:creationId xmlns:p14="http://schemas.microsoft.com/office/powerpoint/2010/main" val="1955384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3C398-AA62-E157-8B6E-26DDC152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500D61-2F05-A114-2FE5-0FA952AEAA1A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A1EB7822-EC27-D6D4-056B-15BFB169EB73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6F7CCEA3-81D0-2017-AF1B-CB1F32B243C1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C725B46-0C45-739A-5F70-B406CA67BC5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FD7E98-668B-EE0C-ECD9-FB998C3BF601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459639-8F72-2FCD-7C82-A30A1850B3D7}"/>
              </a:ext>
            </a:extLst>
          </p:cNvPr>
          <p:cNvSpPr txBox="1">
            <a:spLocks/>
          </p:cNvSpPr>
          <p:nvPr/>
        </p:nvSpPr>
        <p:spPr>
          <a:xfrm>
            <a:off x="1833304" y="6559591"/>
            <a:ext cx="287215" cy="298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5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F50F0-ADA0-B781-ECDF-7D5AC366A851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D689A27C-5750-33E4-FE53-996A6E212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26" y="36362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 err="1"/>
              <a:t>MExtreme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217F9-5E17-6EC1-E1AC-B8587C8C143E}"/>
              </a:ext>
            </a:extLst>
          </p:cNvPr>
          <p:cNvSpPr txBox="1"/>
          <p:nvPr/>
        </p:nvSpPr>
        <p:spPr>
          <a:xfrm>
            <a:off x="786581" y="1299905"/>
            <a:ext cx="9718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Matlab</a:t>
            </a:r>
            <a:r>
              <a:rPr lang="en-US" dirty="0"/>
              <a:t> Extreme used to calculate extreme values of </a:t>
            </a:r>
            <a:r>
              <a:rPr lang="en-US" dirty="0" err="1"/>
              <a:t>openFAST</a:t>
            </a:r>
            <a:r>
              <a:rPr lang="en-US" dirty="0"/>
              <a:t> out file.</a:t>
            </a:r>
          </a:p>
          <a:p>
            <a:r>
              <a:rPr lang="en-US" dirty="0"/>
              <a:t>Helps to locate maxima &amp; minima with different rand seed at same wind speed of one DLC case.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B14F17-7DF6-9416-929C-1EF277A33C7F}"/>
              </a:ext>
            </a:extLst>
          </p:cNvPr>
          <p:cNvSpPr txBox="1"/>
          <p:nvPr/>
        </p:nvSpPr>
        <p:spPr>
          <a:xfrm>
            <a:off x="971686" y="2139602"/>
            <a:ext cx="6918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DLC 6.1 with 3 different </a:t>
            </a:r>
            <a:r>
              <a:rPr lang="en-US" dirty="0" err="1"/>
              <a:t>randseed</a:t>
            </a:r>
            <a:r>
              <a:rPr lang="en-US" dirty="0"/>
              <a:t> at 42.5m/s wind speed</a:t>
            </a:r>
          </a:p>
        </p:txBody>
      </p:sp>
      <p:pic>
        <p:nvPicPr>
          <p:cNvPr id="20" name="Picture 19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0D272796-86CF-A9C4-36F6-D2539079E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86" y="2519638"/>
            <a:ext cx="9793067" cy="3730226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4297F34F-CE18-1F46-72A6-03B9C235BCE0}"/>
              </a:ext>
            </a:extLst>
          </p:cNvPr>
          <p:cNvSpPr/>
          <p:nvPr/>
        </p:nvSpPr>
        <p:spPr>
          <a:xfrm>
            <a:off x="2290916" y="3106994"/>
            <a:ext cx="1101213" cy="24580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69DF33-129A-1726-F08F-AE63D6BDE1F5}"/>
              </a:ext>
            </a:extLst>
          </p:cNvPr>
          <p:cNvSpPr/>
          <p:nvPr/>
        </p:nvSpPr>
        <p:spPr>
          <a:xfrm>
            <a:off x="2310580" y="3553072"/>
            <a:ext cx="1101213" cy="24580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1B58226-B9A7-D688-A154-432143F8F03A}"/>
              </a:ext>
            </a:extLst>
          </p:cNvPr>
          <p:cNvSpPr/>
          <p:nvPr/>
        </p:nvSpPr>
        <p:spPr>
          <a:xfrm>
            <a:off x="2290916" y="3999150"/>
            <a:ext cx="1101213" cy="24580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F01F49C-D5F9-3012-29D3-5236661DC283}"/>
              </a:ext>
            </a:extLst>
          </p:cNvPr>
          <p:cNvSpPr/>
          <p:nvPr/>
        </p:nvSpPr>
        <p:spPr>
          <a:xfrm>
            <a:off x="1759973" y="5563218"/>
            <a:ext cx="1425679" cy="24580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C023D3-09BF-6290-360E-9A547EB166AA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09/12/2025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A88F96-0973-45BF-7AC5-83961452978B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</p:spTree>
    <p:extLst>
      <p:ext uri="{BB962C8B-B14F-4D97-AF65-F5344CB8AC3E}">
        <p14:creationId xmlns:p14="http://schemas.microsoft.com/office/powerpoint/2010/main" val="834871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86DC0-382D-7F4F-F8B0-FF65B0CBF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A7F99DAC-6BDB-79AA-BCB7-38A44ED489A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495D4429-EAB1-ADCB-E8C6-EDC5716D9F5B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0AA599E5-54FF-7800-4481-5906F90CB038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B4D8B95-A993-7077-85E5-6FD48F2C21FD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AA462A-A5CF-B513-33F9-8CB107B9E72E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FD726-7276-05C8-A4CC-92285796EB94}"/>
              </a:ext>
            </a:extLst>
          </p:cNvPr>
          <p:cNvSpPr txBox="1">
            <a:spLocks/>
          </p:cNvSpPr>
          <p:nvPr/>
        </p:nvSpPr>
        <p:spPr>
          <a:xfrm>
            <a:off x="1833304" y="6559591"/>
            <a:ext cx="287215" cy="298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6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2F8DAA-5442-FF59-DF02-86A6F8A8208E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CC070E4-725C-611E-7D4A-9C5926E74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18" y="1204036"/>
            <a:ext cx="10301569" cy="3436790"/>
          </a:xfrm>
          <a:prstGeom prst="rect">
            <a:avLst/>
          </a:prstGeom>
        </p:spPr>
      </p:pic>
      <p:sp>
        <p:nvSpPr>
          <p:cNvPr id="22" name="Title 6">
            <a:extLst>
              <a:ext uri="{FF2B5EF4-FFF2-40B4-BE49-F238E27FC236}">
                <a16:creationId xmlns:a16="http://schemas.microsoft.com/office/drawing/2014/main" id="{63716046-8535-EC17-EC9E-552A9ED8C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26" y="36362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 err="1"/>
              <a:t>Mextremes</a:t>
            </a:r>
            <a:r>
              <a:rPr lang="en-US" dirty="0"/>
              <a:t> Calculation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9E808A-5F02-4267-1BEE-E5A295E57FB6}"/>
              </a:ext>
            </a:extLst>
          </p:cNvPr>
          <p:cNvSpPr txBox="1"/>
          <p:nvPr/>
        </p:nvSpPr>
        <p:spPr>
          <a:xfrm>
            <a:off x="412716" y="5181600"/>
            <a:ext cx="113817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Considrations</a:t>
            </a:r>
            <a:r>
              <a:rPr lang="en-US" dirty="0"/>
              <a:t> before generating </a:t>
            </a:r>
            <a:r>
              <a:rPr lang="en-US" dirty="0" err="1"/>
              <a:t>Mextremes</a:t>
            </a:r>
            <a:r>
              <a:rPr lang="en-US" dirty="0"/>
              <a:t> for DLC 6.1:-</a:t>
            </a:r>
          </a:p>
          <a:p>
            <a:r>
              <a:rPr lang="en-US" dirty="0"/>
              <a:t>Turbine Configured according Optimus Syria, All </a:t>
            </a:r>
            <a:r>
              <a:rPr lang="en-US" dirty="0" err="1"/>
              <a:t>aerodata</a:t>
            </a:r>
            <a:r>
              <a:rPr lang="en-US" dirty="0"/>
              <a:t>, structure data properties configured except Controller.</a:t>
            </a:r>
          </a:p>
          <a:p>
            <a:r>
              <a:rPr lang="en-US" dirty="0"/>
              <a:t>Safety Factors are considered during </a:t>
            </a:r>
            <a:r>
              <a:rPr lang="en-US" dirty="0" err="1"/>
              <a:t>Mextremes</a:t>
            </a:r>
            <a:r>
              <a:rPr lang="en-US" dirty="0"/>
              <a:t> calculations.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E9C1092-E571-33D8-88A4-A03BF1FAE021}"/>
              </a:ext>
            </a:extLst>
          </p:cNvPr>
          <p:cNvCxnSpPr/>
          <p:nvPr/>
        </p:nvCxnSpPr>
        <p:spPr>
          <a:xfrm>
            <a:off x="4503174" y="3549445"/>
            <a:ext cx="629265" cy="403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6DDFE93-CB9C-7BC6-7B27-10B9155CA6BE}"/>
              </a:ext>
            </a:extLst>
          </p:cNvPr>
          <p:cNvSpPr txBox="1"/>
          <p:nvPr/>
        </p:nvSpPr>
        <p:spPr>
          <a:xfrm>
            <a:off x="5191432" y="3991897"/>
            <a:ext cx="483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Extreme Point Throughout all out file of DLC 6.1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D61D2C-60C9-6E42-36B2-28F7E1958AA4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09/12/2025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AF5EA0-EDED-CA51-2FDD-1B751F3D2134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</p:spTree>
    <p:extLst>
      <p:ext uri="{BB962C8B-B14F-4D97-AF65-F5344CB8AC3E}">
        <p14:creationId xmlns:p14="http://schemas.microsoft.com/office/powerpoint/2010/main" val="4134234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BD06B-41C3-447D-33BA-0D0956516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6B126A9F-06B4-29D1-C004-78EB4398FCB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8160115-CB47-939B-646F-5DF9D9A5CD79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4475720C-15ED-C4E1-573A-2EAB3788DA36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6AF1D8-C329-CDBE-C1DE-0A432B3C26B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5A00BD-51B9-1925-C5F5-CA0097FBBF8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C65F497-F6BF-58E3-28B0-4EF64451C25E}"/>
              </a:ext>
            </a:extLst>
          </p:cNvPr>
          <p:cNvSpPr txBox="1">
            <a:spLocks/>
          </p:cNvSpPr>
          <p:nvPr/>
        </p:nvSpPr>
        <p:spPr>
          <a:xfrm>
            <a:off x="1833304" y="6559591"/>
            <a:ext cx="287215" cy="298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7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048A1B-615F-FD29-6EA3-DA58C1AC200F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CFC4D300-B489-7D27-17D0-ABFC6397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26" y="363628"/>
            <a:ext cx="10515600" cy="937132"/>
          </a:xfrm>
        </p:spPr>
        <p:txBody>
          <a:bodyPr>
            <a:normAutofit/>
          </a:bodyPr>
          <a:lstStyle/>
          <a:p>
            <a:r>
              <a:rPr lang="en-US" dirty="0"/>
              <a:t>Final Working Procedure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0A627C37-F687-41A8-1B00-9EB192220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973" y="1584188"/>
            <a:ext cx="9783096" cy="45419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06A184-5B48-5C77-E46B-3739FEFF4D8C}"/>
              </a:ext>
            </a:extLst>
          </p:cNvPr>
          <p:cNvSpPr txBox="1"/>
          <p:nvPr/>
        </p:nvSpPr>
        <p:spPr>
          <a:xfrm>
            <a:off x="1137538" y="2071835"/>
            <a:ext cx="8512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6"/>
                </a:solidFill>
              </a:rPr>
              <a:t>         Done                                                    </a:t>
            </a:r>
            <a:r>
              <a:rPr lang="en-US" b="1" i="1" dirty="0" err="1">
                <a:solidFill>
                  <a:schemeClr val="accent6"/>
                </a:solidFill>
              </a:rPr>
              <a:t>Done</a:t>
            </a:r>
            <a:r>
              <a:rPr lang="en-US" b="1" i="1" dirty="0">
                <a:solidFill>
                  <a:schemeClr val="accent6"/>
                </a:solidFill>
              </a:rPr>
              <a:t>                                       In Progress (Max 1week)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E8DF2-C34D-1FF4-7D17-625F91E6417D}"/>
              </a:ext>
            </a:extLst>
          </p:cNvPr>
          <p:cNvSpPr txBox="1"/>
          <p:nvPr/>
        </p:nvSpPr>
        <p:spPr>
          <a:xfrm>
            <a:off x="8887439" y="6120668"/>
            <a:ext cx="19426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Optimus Oceanus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AA43D5-E791-FCEE-2A98-D0C779ABDD81}"/>
              </a:ext>
            </a:extLst>
          </p:cNvPr>
          <p:cNvSpPr/>
          <p:nvPr/>
        </p:nvSpPr>
        <p:spPr>
          <a:xfrm>
            <a:off x="6902245" y="4227871"/>
            <a:ext cx="3696929" cy="131939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20AE88-8E6A-8813-E6C1-05A9E2F8749F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09/12/2025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750523-E86D-D69F-DD90-D25887BB89C9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</p:spTree>
    <p:extLst>
      <p:ext uri="{BB962C8B-B14F-4D97-AF65-F5344CB8AC3E}">
        <p14:creationId xmlns:p14="http://schemas.microsoft.com/office/powerpoint/2010/main" val="3633952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20EFD-879B-333A-DADF-811203A9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D1146A40-1723-98E5-0A30-1B424176E4E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EA702EAB-710C-AE5B-0FAC-DE25147E387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F63D863B-C1BD-E06D-7371-B341E5FB1974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A9F3BE4-1887-9E96-1479-96A7764214B0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7EE61D-15D7-3F86-7CDD-CCB0A1FC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7" y="502853"/>
            <a:ext cx="9234617" cy="712728"/>
          </a:xfrm>
        </p:spPr>
        <p:txBody>
          <a:bodyPr>
            <a:normAutofit/>
          </a:bodyPr>
          <a:lstStyle/>
          <a:p>
            <a:r>
              <a:rPr lang="en-GB" dirty="0"/>
              <a:t>Conclusion &amp; Future Plan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E2EB72-B6B0-6F50-0553-8A7EBA47EF3F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F80CF7-D661-ECEA-C323-8A635239A2B9}"/>
              </a:ext>
            </a:extLst>
          </p:cNvPr>
          <p:cNvSpPr txBox="1"/>
          <p:nvPr/>
        </p:nvSpPr>
        <p:spPr>
          <a:xfrm>
            <a:off x="573779" y="1557134"/>
            <a:ext cx="105366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last week we</a:t>
            </a:r>
          </a:p>
          <a:p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Mextremes</a:t>
            </a:r>
            <a:r>
              <a:rPr lang="en-US" dirty="0"/>
              <a:t> tests </a:t>
            </a:r>
            <a:r>
              <a:rPr lang="en-US" dirty="0" err="1"/>
              <a:t>initated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Provided forces and moments at different section of turbine to other teams with time series graph.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DLCs are configured according to Syrian Turbine.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A120C60-37B7-21C9-2762-545988EF49AC}"/>
              </a:ext>
            </a:extLst>
          </p:cNvPr>
          <p:cNvSpPr txBox="1">
            <a:spLocks/>
          </p:cNvSpPr>
          <p:nvPr/>
        </p:nvSpPr>
        <p:spPr>
          <a:xfrm>
            <a:off x="1661819" y="6533293"/>
            <a:ext cx="386021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8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01270B-C2B0-1B61-E8C4-35B5C0C53617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FF063-5965-7429-D9BA-AB5A1465307A}"/>
              </a:ext>
            </a:extLst>
          </p:cNvPr>
          <p:cNvSpPr txBox="1"/>
          <p:nvPr/>
        </p:nvSpPr>
        <p:spPr>
          <a:xfrm>
            <a:off x="573779" y="3909159"/>
            <a:ext cx="99139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next week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with controller group for controller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Remaining DLCs.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 With Final Post Processing task (</a:t>
            </a:r>
            <a:r>
              <a:rPr lang="en-US" dirty="0" err="1"/>
              <a:t>Mextremes</a:t>
            </a:r>
            <a:r>
              <a:rPr lang="en-US" dirty="0"/>
              <a:t>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AC7E68-A27A-94A1-CFF3-93B677B8D91A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09/12/2025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63D1F8-B839-DFDA-593A-1CD5D405F98A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</p:spTree>
    <p:extLst>
      <p:ext uri="{BB962C8B-B14F-4D97-AF65-F5344CB8AC3E}">
        <p14:creationId xmlns:p14="http://schemas.microsoft.com/office/powerpoint/2010/main" val="4078047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9DB2-1C60-2A59-656D-A5B74C9C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8A9E759-5D36-7577-1B72-EEFA19D202C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DF2E086-1F77-7ADA-A072-C1020548044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16784C5A-545D-7FC3-0803-92836236CBE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F48FE32-30A8-91E8-073B-1CE94513A3C5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2C03B4-4368-B8A0-5078-A33BA60C0D0C}"/>
              </a:ext>
            </a:extLst>
          </p:cNvPr>
          <p:cNvSpPr txBox="1"/>
          <p:nvPr/>
        </p:nvSpPr>
        <p:spPr>
          <a:xfrm>
            <a:off x="463483" y="1401679"/>
            <a:ext cx="105470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Load Reports of the OPTIMUS 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Ocenaus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Standard, DNVGL-ST-0376 – Edition December 2016</a:t>
            </a:r>
            <a:endParaRPr lang="en-GB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cs typeface="Times New Roman" panose="02020603050405020304" pitchFamily="18" charset="0"/>
              </a:rPr>
              <a:t>TurbSim</a:t>
            </a:r>
            <a:r>
              <a:rPr lang="en-GB" dirty="0">
                <a:cs typeface="Times New Roman" panose="02020603050405020304" pitchFamily="18" charset="0"/>
              </a:rPr>
              <a:t>, OpenFAST_v3.0 &amp; NREL 5 MW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cs typeface="Times New Roman" panose="02020603050405020304" pitchFamily="18" charset="0"/>
              </a:rPr>
              <a:t>MatLAB</a:t>
            </a:r>
            <a:r>
              <a:rPr lang="en-GB" dirty="0">
                <a:cs typeface="Times New Roman" panose="02020603050405020304" pitchFamily="18" charset="0"/>
              </a:rPr>
              <a:t> 2011b, </a:t>
            </a:r>
            <a:r>
              <a:rPr lang="en-GB" dirty="0" err="1">
                <a:cs typeface="Times New Roman" panose="02020603050405020304" pitchFamily="18" charset="0"/>
              </a:rPr>
              <a:t>MExtremes</a:t>
            </a:r>
            <a:endParaRPr lang="en-GB" dirty="0">
              <a:cs typeface="Times New Roman" panose="02020603050405020304" pitchFamily="18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5E1DA7A-832B-59A9-3560-8C4D55C2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2724774" cy="712728"/>
          </a:xfrm>
        </p:spPr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0213FB-EC9C-6767-58CC-49D609115B8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1129FCA-49E1-C2AD-B541-FCEDEF0BB603}"/>
              </a:ext>
            </a:extLst>
          </p:cNvPr>
          <p:cNvSpPr txBox="1">
            <a:spLocks/>
          </p:cNvSpPr>
          <p:nvPr/>
        </p:nvSpPr>
        <p:spPr>
          <a:xfrm>
            <a:off x="1833304" y="6538183"/>
            <a:ext cx="376496" cy="31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9</a:t>
            </a:fld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63EE5-B3E5-55A6-0898-3C96C1BE7B95}"/>
              </a:ext>
            </a:extLst>
          </p:cNvPr>
          <p:cNvSpPr txBox="1"/>
          <p:nvPr/>
        </p:nvSpPr>
        <p:spPr>
          <a:xfrm>
            <a:off x="9172575" y="6542216"/>
            <a:ext cx="278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Load &amp; Dynamics Team/ Optimus Syria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4D7F5-6570-ACBE-ED5E-F8FE71E45631}"/>
              </a:ext>
            </a:extLst>
          </p:cNvPr>
          <p:cNvSpPr txBox="1"/>
          <p:nvPr/>
        </p:nvSpPr>
        <p:spPr>
          <a:xfrm>
            <a:off x="412716" y="6565449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09/12/2025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54D57-B39A-6E7C-09BD-BB4527BE02A1}"/>
              </a:ext>
            </a:extLst>
          </p:cNvPr>
          <p:cNvSpPr txBox="1"/>
          <p:nvPr/>
        </p:nvSpPr>
        <p:spPr>
          <a:xfrm>
            <a:off x="5372759" y="6597317"/>
            <a:ext cx="1476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Arham Memon</a:t>
            </a:r>
          </a:p>
        </p:txBody>
      </p:sp>
    </p:spTree>
    <p:extLst>
      <p:ext uri="{BB962C8B-B14F-4D97-AF65-F5344CB8AC3E}">
        <p14:creationId xmlns:p14="http://schemas.microsoft.com/office/powerpoint/2010/main" val="387794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48141450-2387-4aca-b41f-19cd6be9dd3c}" enabled="1" method="Standard" siteId="{adf10e2b-b6e9-41d6-be2f-c12bb566019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466</Words>
  <Application>Microsoft Office PowerPoint</Application>
  <PresentationFormat>Widescreen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Custom Design</vt:lpstr>
      <vt:lpstr>Weekly report: Load &amp; Dynamics</vt:lpstr>
      <vt:lpstr>Agenda For Loads &amp; Dynamics</vt:lpstr>
      <vt:lpstr>OpenFAST with LiDAR Simulation</vt:lpstr>
      <vt:lpstr>OpenFAST Working Directory</vt:lpstr>
      <vt:lpstr>MExtreme</vt:lpstr>
      <vt:lpstr>Mextremes Calculation</vt:lpstr>
      <vt:lpstr>Final Working Procedure</vt:lpstr>
      <vt:lpstr>Conclusion &amp; Future Plan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lastModifiedBy>Md Aman</cp:lastModifiedBy>
  <cp:revision>96</cp:revision>
  <dcterms:created xsi:type="dcterms:W3CDTF">2025-07-21T13:11:31Z</dcterms:created>
  <dcterms:modified xsi:type="dcterms:W3CDTF">2025-12-08T00:14:52Z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nfoFinished">
    <vt:lpwstr>True</vt:lpwstr>
  </property>
  <property fmtid="{D5CDD505-2E9C-101B-9397-08002B2CF9AE}" pid="3" name="MSIP_Label_48141450-2387-4aca-b41f-19cd6be9dd3c_Enabled">
    <vt:lpwstr>true</vt:lpwstr>
  </property>
  <property fmtid="{D5CDD505-2E9C-101B-9397-08002B2CF9AE}" pid="4" name="MSIP_Label_48141450-2387-4aca-b41f-19cd6be9dd3c_SetDate">
    <vt:lpwstr>2025-09-28T13:19:16Z</vt:lpwstr>
  </property>
  <property fmtid="{D5CDD505-2E9C-101B-9397-08002B2CF9AE}" pid="5" name="MSIP_Label_48141450-2387-4aca-b41f-19cd6be9dd3c_Method">
    <vt:lpwstr>Standard</vt:lpwstr>
  </property>
  <property fmtid="{D5CDD505-2E9C-101B-9397-08002B2CF9AE}" pid="6" name="MSIP_Label_48141450-2387-4aca-b41f-19cd6be9dd3c_Name">
    <vt:lpwstr>Restricted_Unprotected</vt:lpwstr>
  </property>
  <property fmtid="{D5CDD505-2E9C-101B-9397-08002B2CF9AE}" pid="7" name="MSIP_Label_48141450-2387-4aca-b41f-19cd6be9dd3c_SiteId">
    <vt:lpwstr>adf10e2b-b6e9-41d6-be2f-c12bb566019c</vt:lpwstr>
  </property>
  <property fmtid="{D5CDD505-2E9C-101B-9397-08002B2CF9AE}" pid="8" name="MSIP_Label_48141450-2387-4aca-b41f-19cd6be9dd3c_ActionId">
    <vt:lpwstr>2ebed701-3566-4ac7-9aa9-92359fcb4805</vt:lpwstr>
  </property>
  <property fmtid="{D5CDD505-2E9C-101B-9397-08002B2CF9AE}" pid="9" name="MSIP_Label_48141450-2387-4aca-b41f-19cd6be9dd3c_ContentBits">
    <vt:lpwstr>0</vt:lpwstr>
  </property>
  <property fmtid="{D5CDD505-2E9C-101B-9397-08002B2CF9AE}" pid="10" name="MSIP_Label_48141450-2387-4aca-b41f-19cd6be9dd3c_Tag">
    <vt:lpwstr>10, 3, 0, 1</vt:lpwstr>
  </property>
</Properties>
</file>