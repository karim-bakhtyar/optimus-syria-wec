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omments/modernComment_13D_0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2"/>
  </p:sldMasterIdLst>
  <p:notesMasterIdLst>
    <p:notesMasterId r:id="rId16"/>
  </p:notesMasterIdLst>
  <p:handoutMasterIdLst>
    <p:handoutMasterId r:id="rId17"/>
  </p:handoutMasterIdLst>
  <p:sldIdLst>
    <p:sldId id="263" r:id="rId3"/>
    <p:sldId id="285" r:id="rId4"/>
    <p:sldId id="320" r:id="rId5"/>
    <p:sldId id="325" r:id="rId6"/>
    <p:sldId id="324" r:id="rId7"/>
    <p:sldId id="326" r:id="rId8"/>
    <p:sldId id="327" r:id="rId9"/>
    <p:sldId id="315" r:id="rId10"/>
    <p:sldId id="308" r:id="rId11"/>
    <p:sldId id="317" r:id="rId12"/>
    <p:sldId id="318" r:id="rId13"/>
    <p:sldId id="321" r:id="rId14"/>
    <p:sldId id="31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63"/>
          </p14:sldIdLst>
        </p14:section>
        <p14:section name="List of contents" id="{65043596-36B7-4360-BB5C-7A99EFAEC5C9}">
          <p14:sldIdLst>
            <p14:sldId id="285"/>
            <p14:sldId id="320"/>
            <p14:sldId id="325"/>
            <p14:sldId id="324"/>
            <p14:sldId id="326"/>
            <p14:sldId id="327"/>
            <p14:sldId id="315"/>
            <p14:sldId id="308"/>
            <p14:sldId id="317"/>
            <p14:sldId id="318"/>
            <p14:sldId id="321"/>
            <p14:sldId id="313"/>
          </p14:sldIdLst>
        </p14:section>
        <p14:section name="Title, main slides" id="{B26F6679-C236-4D3D-BC2F-CAE5ED400718}">
          <p14:sldIdLst/>
        </p14:section>
        <p14:section name="bibliography" id="{2ECB0A3B-7D16-4F98-AD6A-5308DF7BF07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81BD5DC-5676-6DC8-CE94-81ACB83F5E47}" name="SATHISHKUMAR V" initials="SV" userId="c6e3b939f287349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D2F7"/>
    <a:srgbClr val="FFFFFF"/>
    <a:srgbClr val="8ECEFA"/>
    <a:srgbClr val="92C6E6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C5039E-29F2-4F4C-A9F3-B8E00847F3CF}" v="4" dt="2025-12-07T17:52:51.6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8/10/relationships/authors" Target="authors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comments/modernComment_13D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9316282-DE07-406B-B9EF-E34323781A41}" authorId="{981BD5DC-5676-6DC8-CE94-81ACB83F5E47}" created="2025-12-01T05:19:39.66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17"/>
      <ac:spMk id="25"/>
    </ac:deMkLst>
    <p188:txBody>
      <a:bodyPr/>
      <a:lstStyle/>
      <a:p>
        <a:r>
          <a:rPr lang="en-GB" altLang="en-US"/>
          <a:t>?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/>
              <a:t>12. </a:t>
            </a:r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  </a:t>
            </a:r>
          </a:p>
          <a:p>
            <a:pPr lvl="1"/>
            <a:r>
              <a:rPr lang="de-DE"/>
              <a:t>13. Tower  </a:t>
            </a:r>
          </a:p>
          <a:p>
            <a:pPr lvl="1"/>
            <a:r>
              <a:rPr lang="de-DE"/>
              <a:t>14. </a:t>
            </a:r>
            <a:r>
              <a:rPr lang="de-DE" err="1"/>
              <a:t>Foundation</a:t>
            </a:r>
            <a:r>
              <a:rPr lang="de-DE"/>
              <a:t>  </a:t>
            </a:r>
          </a:p>
          <a:p>
            <a:pPr lvl="1"/>
            <a:r>
              <a:rPr lang="de-DE"/>
              <a:t>15. Storage System </a:t>
            </a:r>
          </a:p>
          <a:p>
            <a:pPr lvl="1"/>
            <a:endParaRPr lang="de-DE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Teams</a:t>
            </a:r>
          </a:p>
        </p:txBody>
      </p:sp>
      <p:cxnSp>
        <p:nvCxnSpPr>
          <p:cNvPr id="9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/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/>
              <a:t>1.  </a:t>
            </a:r>
            <a:r>
              <a:rPr lang="de-DE" err="1"/>
              <a:t>Windfarm</a:t>
            </a:r>
            <a:r>
              <a:rPr lang="de-DE"/>
              <a:t> Project Development  </a:t>
            </a:r>
          </a:p>
          <a:p>
            <a:pPr lvl="1"/>
            <a:r>
              <a:rPr lang="de-DE"/>
              <a:t>2.  Loads and Dynamics  </a:t>
            </a:r>
          </a:p>
          <a:p>
            <a:pPr lvl="1"/>
            <a:r>
              <a:rPr lang="de-DE"/>
              <a:t>3.  Feedback Controller  </a:t>
            </a:r>
          </a:p>
          <a:p>
            <a:pPr lvl="1"/>
            <a:r>
              <a:rPr lang="de-DE"/>
              <a:t>4.  Lidar-</a:t>
            </a:r>
            <a:r>
              <a:rPr lang="de-DE" err="1"/>
              <a:t>Assisted</a:t>
            </a:r>
            <a:r>
              <a:rPr lang="de-DE"/>
              <a:t> Controller  </a:t>
            </a:r>
          </a:p>
          <a:p>
            <a:pPr lvl="1"/>
            <a:r>
              <a:rPr lang="de-DE"/>
              <a:t>5.  Rotor Blade </a:t>
            </a:r>
            <a:r>
              <a:rPr lang="de-DE" err="1"/>
              <a:t>Aerodynamics</a:t>
            </a:r>
            <a:r>
              <a:rPr lang="de-DE"/>
              <a:t>  </a:t>
            </a:r>
          </a:p>
          <a:p>
            <a:pPr lvl="1"/>
            <a:r>
              <a:rPr lang="de-DE"/>
              <a:t>6.  Rotor Blade </a:t>
            </a:r>
            <a:r>
              <a:rPr lang="de-DE" err="1"/>
              <a:t>Structures</a:t>
            </a:r>
            <a:r>
              <a:rPr lang="de-DE"/>
              <a:t>  </a:t>
            </a:r>
          </a:p>
          <a:p>
            <a:pPr lvl="1"/>
            <a:r>
              <a:rPr lang="de-DE"/>
              <a:t>7.  </a:t>
            </a:r>
            <a:r>
              <a:rPr lang="de-DE" err="1"/>
              <a:t>Electrical</a:t>
            </a:r>
            <a:r>
              <a:rPr lang="de-DE"/>
              <a:t> </a:t>
            </a:r>
            <a:r>
              <a:rPr lang="de-DE" err="1"/>
              <a:t>Drivetrain</a:t>
            </a:r>
            <a:r>
              <a:rPr lang="de-DE"/>
              <a:t> (EDT)  </a:t>
            </a:r>
          </a:p>
          <a:p>
            <a:pPr lvl="1"/>
            <a:r>
              <a:rPr lang="de-DE"/>
              <a:t>8.  </a:t>
            </a:r>
            <a:r>
              <a:rPr lang="de-DE" err="1"/>
              <a:t>Grid</a:t>
            </a:r>
            <a:r>
              <a:rPr lang="de-DE"/>
              <a:t> Code Development (GCD)  </a:t>
            </a:r>
          </a:p>
          <a:p>
            <a:pPr lvl="1"/>
            <a:r>
              <a:rPr lang="de-DE"/>
              <a:t>9.  Rotor Hub &amp; Pitch System  </a:t>
            </a:r>
          </a:p>
          <a:p>
            <a:pPr lvl="1"/>
            <a:r>
              <a:rPr lang="de-DE"/>
              <a:t>10. Rotor </a:t>
            </a:r>
            <a:r>
              <a:rPr lang="de-DE" err="1"/>
              <a:t>Bearing</a:t>
            </a:r>
            <a:r>
              <a:rPr lang="de-DE"/>
              <a:t> System  </a:t>
            </a:r>
          </a:p>
          <a:p>
            <a:pPr lvl="1"/>
            <a:r>
              <a:rPr lang="de-DE"/>
              <a:t>11. </a:t>
            </a:r>
            <a:r>
              <a:rPr lang="de-DE" err="1"/>
              <a:t>Gearbox</a:t>
            </a:r>
            <a:r>
              <a:rPr lang="de-DE"/>
              <a:t>, Brake, Coupling  </a:t>
            </a:r>
          </a:p>
          <a:p>
            <a:pPr lvl="1"/>
            <a:r>
              <a:rPr lang="de-DE"/>
              <a:t>						</a:t>
            </a:r>
          </a:p>
        </p:txBody>
      </p:sp>
      <p:sp>
        <p:nvSpPr>
          <p:cNvPr id="12" name="Datumsplatzhalter 1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/>
          </a:p>
        </p:txBody>
      </p:sp>
      <p:sp>
        <p:nvSpPr>
          <p:cNvPr id="16" name="Fußzeilenplatzhalter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Optimus Syria</a:t>
            </a:r>
          </a:p>
        </p:txBody>
      </p:sp>
      <p:sp>
        <p:nvSpPr>
          <p:cNvPr id="17" name="Foliennummernplatzhalt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/>
              <a:t>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(</a:t>
            </a:r>
            <a:r>
              <a:rPr lang="de-DE" err="1"/>
              <a:t>Aptos</a:t>
            </a:r>
            <a:r>
              <a:rPr lang="de-DE"/>
              <a:t>, 22)</a:t>
            </a:r>
          </a:p>
          <a:p>
            <a:pPr lvl="1"/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(</a:t>
            </a:r>
            <a:r>
              <a:rPr lang="de-DE" err="1"/>
              <a:t>Aptos</a:t>
            </a:r>
            <a:r>
              <a:rPr lang="de-DE"/>
              <a:t>, 20)</a:t>
            </a:r>
          </a:p>
          <a:p>
            <a:pPr lvl="0"/>
            <a:r>
              <a:rPr lang="de-DE"/>
              <a:t>X</a:t>
            </a:r>
          </a:p>
          <a:p>
            <a:pPr lvl="1"/>
            <a:endParaRPr lang="de-DE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List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contents</a:t>
            </a:r>
            <a:endParaRPr lang="en-GB"/>
          </a:p>
        </p:txBody>
      </p:sp>
      <p:cxnSp>
        <p:nvCxnSpPr>
          <p:cNvPr id="9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umsplatzhalter 9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/>
              <a:t>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1"/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0"/>
            <a:r>
              <a:rPr lang="de-DE"/>
              <a:t>X</a:t>
            </a:r>
          </a:p>
          <a:p>
            <a:pPr lvl="1"/>
            <a:endParaRPr lang="de-DE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List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contents</a:t>
            </a:r>
            <a:endParaRPr lang="en-GB"/>
          </a:p>
        </p:txBody>
      </p:sp>
      <p:cxnSp>
        <p:nvCxnSpPr>
          <p:cNvPr id="9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1. 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defRPr/>
            </a:pPr>
            <a:r>
              <a:rPr lang="de-DE" err="1"/>
              <a:t>efgh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, 20)</a:t>
            </a:r>
          </a:p>
          <a:p>
            <a:pPr lvl="1"/>
            <a:endParaRPr lang="de-DE"/>
          </a:p>
        </p:txBody>
      </p:sp>
      <p:cxnSp>
        <p:nvCxnSpPr>
          <p:cNvPr id="7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umsplatzhalt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/>
          </a:p>
        </p:txBody>
      </p:sp>
      <p:sp>
        <p:nvSpPr>
          <p:cNvPr id="16" name="Fußzeilenplatzhalt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7" name="Foliennummernplatzhalt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8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1. 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endParaRPr lang="de-DE"/>
          </a:p>
          <a:p>
            <a:pPr lvl="1"/>
            <a:r>
              <a:rPr lang="de-DE" err="1"/>
              <a:t>efgh</a:t>
            </a:r>
            <a:endParaRPr lang="de-DE"/>
          </a:p>
        </p:txBody>
      </p:sp>
      <p:cxnSp>
        <p:nvCxnSpPr>
          <p:cNvPr id="7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1-i. </a:t>
            </a:r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</p:txBody>
      </p:sp>
      <p:cxnSp>
        <p:nvCxnSpPr>
          <p:cNvPr id="7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1-i. </a:t>
            </a:r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endParaRPr lang="de-DE"/>
          </a:p>
          <a:p>
            <a:pPr lvl="1"/>
            <a:r>
              <a:rPr lang="de-DE" err="1"/>
              <a:t>efgh</a:t>
            </a:r>
            <a:endParaRPr lang="de-DE"/>
          </a:p>
        </p:txBody>
      </p:sp>
      <p:cxnSp>
        <p:nvCxnSpPr>
          <p:cNvPr id="7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  <p:sp>
        <p:nvSpPr>
          <p:cNvPr id="4" name="Textplatzhalter 4"/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X. Graph</a:t>
            </a:r>
            <a:endParaRPr lang="en-GB"/>
          </a:p>
        </p:txBody>
      </p:sp>
      <p:pic>
        <p:nvPicPr>
          <p:cNvPr id="6" name="Picture 2" descr="How HOMER Calculates Wind Turbine Power Output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/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/>
              <a:t>(</a:t>
            </a:r>
            <a:r>
              <a:rPr lang="it-IT" sz="1100" err="1"/>
              <a:t>Description</a:t>
            </a:r>
            <a:r>
              <a:rPr lang="it-IT" sz="1100"/>
              <a:t> of the </a:t>
            </a:r>
            <a:r>
              <a:rPr lang="it-IT" sz="1100" err="1"/>
              <a:t>graph</a:t>
            </a:r>
            <a:r>
              <a:rPr lang="it-IT" sz="1100"/>
              <a:t>, </a:t>
            </a:r>
            <a:r>
              <a:rPr lang="it-IT" sz="1100" err="1"/>
              <a:t>example</a:t>
            </a:r>
            <a:r>
              <a:rPr lang="it-IT" sz="1100"/>
              <a:t>: </a:t>
            </a:r>
            <a:r>
              <a:rPr lang="it-IT" sz="1100" i="1"/>
              <a:t>power curve power over wind speed</a:t>
            </a:r>
            <a:r>
              <a:rPr lang="it-IT" sz="1100"/>
              <a:t> )</a:t>
            </a:r>
          </a:p>
          <a:p>
            <a:r>
              <a:rPr lang="it-IT" sz="1100"/>
              <a:t>(</a:t>
            </a:r>
            <a:r>
              <a:rPr lang="it-IT" sz="1100" err="1"/>
              <a:t>Citation</a:t>
            </a:r>
            <a:r>
              <a:rPr lang="it-IT" sz="1100"/>
              <a:t> of the sources, </a:t>
            </a:r>
            <a:r>
              <a:rPr lang="it-IT" sz="1100" err="1"/>
              <a:t>example</a:t>
            </a:r>
            <a:r>
              <a:rPr lang="it-IT" sz="1100"/>
              <a:t>:</a:t>
            </a:r>
            <a:r>
              <a:rPr lang="it-IT" sz="1100" b="1"/>
              <a:t> </a:t>
            </a:r>
            <a:r>
              <a:rPr lang="it-IT" sz="1100" b="0"/>
              <a:t>[1] </a:t>
            </a:r>
            <a:r>
              <a:rPr lang="it-IT" sz="1100"/>
              <a:t>)  </a:t>
            </a:r>
          </a:p>
          <a:p>
            <a:r>
              <a:rPr lang="it-IT" sz="1100"/>
              <a:t>(Last date of access, </a:t>
            </a:r>
            <a:r>
              <a:rPr lang="it-IT" sz="1100" err="1"/>
              <a:t>example</a:t>
            </a:r>
            <a:r>
              <a:rPr lang="it-IT" sz="1100"/>
              <a:t>: 21/12/2015)</a:t>
            </a:r>
            <a:endParaRPr lang="en-GB" sz="1100"/>
          </a:p>
        </p:txBody>
      </p:sp>
      <p:cxnSp>
        <p:nvCxnSpPr>
          <p:cNvPr id="8" name="Connector: Elbow 6"/>
          <p:cNvCxnSpPr/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/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err="1"/>
              <a:t>Add</a:t>
            </a:r>
            <a:r>
              <a:rPr lang="it-IT" sz="1400"/>
              <a:t> a link to the </a:t>
            </a:r>
            <a:r>
              <a:rPr lang="it-IT" sz="1400" err="1"/>
              <a:t>reference</a:t>
            </a:r>
            <a:r>
              <a:rPr lang="it-IT" sz="1400"/>
              <a:t> </a:t>
            </a:r>
            <a:r>
              <a:rPr lang="it-IT" sz="1400" err="1"/>
              <a:t>number</a:t>
            </a:r>
            <a:r>
              <a:rPr lang="it-IT" sz="1400"/>
              <a:t> </a:t>
            </a:r>
            <a:r>
              <a:rPr lang="it-IT" sz="1400" err="1"/>
              <a:t>that</a:t>
            </a:r>
            <a:r>
              <a:rPr lang="it-IT" sz="1400"/>
              <a:t> </a:t>
            </a:r>
            <a:r>
              <a:rPr lang="it-IT" sz="1400" err="1"/>
              <a:t>goes</a:t>
            </a:r>
            <a:r>
              <a:rPr lang="it-IT" sz="1400"/>
              <a:t> to the last slide: highlight the </a:t>
            </a:r>
            <a:r>
              <a:rPr lang="it-IT" sz="1400" err="1"/>
              <a:t>number</a:t>
            </a:r>
            <a:r>
              <a:rPr lang="it-IT" sz="1400"/>
              <a:t>-&gt;</a:t>
            </a:r>
            <a:r>
              <a:rPr lang="it-IT" sz="1400" err="1"/>
              <a:t>right</a:t>
            </a:r>
            <a:r>
              <a:rPr lang="it-IT" sz="1400"/>
              <a:t> click-&gt;</a:t>
            </a:r>
            <a:r>
              <a:rPr lang="it-IT" sz="1400" err="1"/>
              <a:t>select</a:t>
            </a:r>
            <a:r>
              <a:rPr lang="it-IT" sz="1400"/>
              <a:t> link-&gt;place in </a:t>
            </a:r>
            <a:r>
              <a:rPr lang="it-IT" sz="1400" err="1"/>
              <a:t>this</a:t>
            </a:r>
            <a:r>
              <a:rPr lang="it-IT" sz="1400"/>
              <a:t> </a:t>
            </a:r>
            <a:r>
              <a:rPr lang="it-IT" sz="1400" err="1"/>
              <a:t>document</a:t>
            </a:r>
            <a:r>
              <a:rPr lang="it-IT" sz="1400"/>
              <a:t>-&gt;</a:t>
            </a:r>
            <a:r>
              <a:rPr lang="it-IT" sz="1400" err="1"/>
              <a:t>select</a:t>
            </a:r>
            <a:r>
              <a:rPr lang="it-IT" sz="1400"/>
              <a:t> last slide</a:t>
            </a:r>
            <a:endParaRPr lang="en-GB" sz="1400"/>
          </a:p>
        </p:txBody>
      </p:sp>
      <p:cxnSp>
        <p:nvCxnSpPr>
          <p:cNvPr id="10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/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2" name="Datumsplatzhalt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/>
          </a:p>
        </p:txBody>
      </p:sp>
      <p:sp>
        <p:nvSpPr>
          <p:cNvPr id="13" name="Fußzeilenplatzhalt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X. Graph</a:t>
            </a:r>
            <a:endParaRPr lang="en-GB"/>
          </a:p>
        </p:txBody>
      </p:sp>
      <p:pic>
        <p:nvPicPr>
          <p:cNvPr id="6" name="Picture 2" descr="How HOMER Calculates Wind Turbine Power Output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/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/>
              <a:t>(</a:t>
            </a:r>
            <a:r>
              <a:rPr lang="it-IT" sz="1100" err="1"/>
              <a:t>Description</a:t>
            </a:r>
            <a:r>
              <a:rPr lang="it-IT" sz="1100"/>
              <a:t> of the </a:t>
            </a:r>
            <a:r>
              <a:rPr lang="it-IT" sz="1100" err="1"/>
              <a:t>graph</a:t>
            </a:r>
            <a:r>
              <a:rPr lang="it-IT" sz="1100"/>
              <a:t>, </a:t>
            </a:r>
            <a:r>
              <a:rPr lang="it-IT" sz="1100" err="1"/>
              <a:t>example</a:t>
            </a:r>
            <a:r>
              <a:rPr lang="it-IT" sz="1100"/>
              <a:t>: </a:t>
            </a:r>
            <a:r>
              <a:rPr lang="it-IT" sz="1100" i="1"/>
              <a:t>power curve power over wind speed</a:t>
            </a:r>
            <a:r>
              <a:rPr lang="it-IT" sz="1100"/>
              <a:t> )</a:t>
            </a:r>
          </a:p>
          <a:p>
            <a:r>
              <a:rPr lang="it-IT" sz="1100"/>
              <a:t>(</a:t>
            </a:r>
            <a:r>
              <a:rPr lang="it-IT" sz="1100" err="1"/>
              <a:t>Citation</a:t>
            </a:r>
            <a:r>
              <a:rPr lang="it-IT" sz="1100"/>
              <a:t> of the sources, </a:t>
            </a:r>
            <a:r>
              <a:rPr lang="it-IT" sz="1100" err="1"/>
              <a:t>example</a:t>
            </a:r>
            <a:r>
              <a:rPr lang="it-IT" sz="1100"/>
              <a:t>:</a:t>
            </a:r>
            <a:r>
              <a:rPr lang="it-IT" sz="1100" b="1"/>
              <a:t> </a:t>
            </a:r>
            <a:r>
              <a:rPr lang="it-IT" sz="1100" b="0"/>
              <a:t>[1] </a:t>
            </a:r>
            <a:r>
              <a:rPr lang="it-IT" sz="1100"/>
              <a:t>)  </a:t>
            </a:r>
          </a:p>
          <a:p>
            <a:r>
              <a:rPr lang="it-IT" sz="1100"/>
              <a:t>(Last date of access, </a:t>
            </a:r>
            <a:r>
              <a:rPr lang="it-IT" sz="1100" err="1"/>
              <a:t>example</a:t>
            </a:r>
            <a:r>
              <a:rPr lang="it-IT" sz="1100"/>
              <a:t>: 21/12/2015)</a:t>
            </a:r>
            <a:endParaRPr lang="en-GB" sz="1100"/>
          </a:p>
        </p:txBody>
      </p:sp>
      <p:cxnSp>
        <p:nvCxnSpPr>
          <p:cNvPr id="10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6" name="Straight Arrow Connector 21"/>
          <p:cNvCxnSpPr/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/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The style </a:t>
            </a:r>
            <a:r>
              <a:rPr lang="it-IT" err="1"/>
              <a:t>chosen</a:t>
            </a:r>
            <a:r>
              <a:rPr lang="it-IT"/>
              <a:t> for </a:t>
            </a:r>
            <a:r>
              <a:rPr lang="it-IT" err="1"/>
              <a:t>citation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IEEE, so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citation</a:t>
            </a:r>
            <a:r>
              <a:rPr lang="it-IT"/>
              <a:t> follow </a:t>
            </a:r>
            <a:r>
              <a:rPr lang="it-IT" err="1"/>
              <a:t>that</a:t>
            </a:r>
            <a:r>
              <a:rPr lang="it-IT"/>
              <a:t> style.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an IEEE </a:t>
            </a:r>
            <a:r>
              <a:rPr lang="it-IT" err="1"/>
              <a:t>citation</a:t>
            </a:r>
            <a:r>
              <a:rPr lang="it-IT"/>
              <a:t> from a website, </a:t>
            </a:r>
            <a:r>
              <a:rPr lang="it-IT" err="1"/>
              <a:t>you</a:t>
            </a:r>
            <a:r>
              <a:rPr lang="it-IT"/>
              <a:t> can use some free </a:t>
            </a:r>
            <a:r>
              <a:rPr lang="it-IT" err="1"/>
              <a:t>converters</a:t>
            </a:r>
            <a:r>
              <a:rPr lang="it-IT"/>
              <a:t> </a:t>
            </a:r>
            <a:r>
              <a:rPr lang="it-IT" err="1"/>
              <a:t>available</a:t>
            </a:r>
            <a:r>
              <a:rPr lang="it-IT"/>
              <a:t> on the internet, like:</a:t>
            </a:r>
          </a:p>
          <a:p>
            <a:pPr algn="ctr"/>
            <a:r>
              <a:rPr lang="en-GB" b="1">
                <a:hlinkClick r:id="rId2"/>
              </a:rPr>
              <a:t>https://www.mybib.com/tools/ieee-citation-generator</a:t>
            </a:r>
            <a:r>
              <a:rPr lang="en-GB" b="1"/>
              <a:t> </a:t>
            </a:r>
          </a:p>
        </p:txBody>
      </p:sp>
      <p:cxnSp>
        <p:nvCxnSpPr>
          <p:cNvPr id="4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/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4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3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t-IT" sz="6600" b="1" i="0" u="none" strike="noStrike" kern="1200" cap="none" spc="0" normalizeH="0" baseline="0" noProof="0"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5"/>
          <a:srcRect l="4671"/>
          <a:stretch>
            <a:fillRect/>
          </a:stretch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/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/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/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/>
          </a:p>
        </p:txBody>
      </p:sp>
      <p:sp>
        <p:nvSpPr>
          <p:cNvPr id="15" name="Rechteck 14"/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Picture 18" descr="A white windmill with clouds in the background&#10;&#10;AI-generated content may be incorrect.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/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/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/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/>
              <a:t>Weekly report: Team X</a:t>
            </a:r>
            <a:endParaRPr lang="en-GB" sz="4000"/>
          </a:p>
        </p:txBody>
      </p:sp>
      <p:sp>
        <p:nvSpPr>
          <p:cNvPr id="3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/>
              <a:t>Week </a:t>
            </a:r>
            <a:r>
              <a:rPr lang="it-IT" sz="2000" err="1"/>
              <a:t>number</a:t>
            </a:r>
            <a:r>
              <a:rPr lang="it-IT" sz="2000"/>
              <a:t>: X</a:t>
            </a:r>
          </a:p>
          <a:p>
            <a:r>
              <a:rPr lang="it-IT" sz="2000"/>
              <a:t>Date: DD/MM/20JJ</a:t>
            </a:r>
          </a:p>
          <a:p>
            <a:r>
              <a:rPr lang="it-IT" sz="2000"/>
              <a:t>Supervisor: X</a:t>
            </a:r>
          </a:p>
        </p:txBody>
      </p:sp>
      <p:sp>
        <p:nvSpPr>
          <p:cNvPr id="36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: </a:t>
            </a:r>
          </a:p>
        </p:txBody>
      </p:sp>
      <p:sp>
        <p:nvSpPr>
          <p:cNvPr id="37" name="Rechteck 36"/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" name="Picture 18" descr="A white windmill with clouds in the background&#10;&#10;AI-generated content may be incorrect.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9" name="Datumsplatzhalter 8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/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/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/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/>
              <a:t>Weekly report: Team X</a:t>
            </a:r>
            <a:endParaRPr lang="en-GB" sz="4000"/>
          </a:p>
        </p:txBody>
      </p:sp>
      <p:sp>
        <p:nvSpPr>
          <p:cNvPr id="31" name="Subtitle 2"/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/>
              <a:t>Week </a:t>
            </a:r>
            <a:r>
              <a:rPr lang="it-IT" sz="2000" err="1"/>
              <a:t>number</a:t>
            </a:r>
            <a:r>
              <a:rPr lang="it-IT" sz="2000"/>
              <a:t>: X</a:t>
            </a:r>
          </a:p>
          <a:p>
            <a:r>
              <a:rPr lang="it-IT" sz="2000"/>
              <a:t>Date: DD/MM/20JJ</a:t>
            </a:r>
          </a:p>
          <a:p>
            <a:r>
              <a:rPr lang="it-IT" sz="2000"/>
              <a:t>Supervisor: X</a:t>
            </a:r>
          </a:p>
        </p:txBody>
      </p:sp>
      <p:sp>
        <p:nvSpPr>
          <p:cNvPr id="4" name="Text Placeholder 2"/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: </a:t>
            </a:r>
          </a:p>
        </p:txBody>
      </p:sp>
      <p:sp>
        <p:nvSpPr>
          <p:cNvPr id="9" name="Rechteck 8"/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" name="Picture 18" descr="A white windmill with clouds in the background&#10;&#10;AI-generated content may be incorrect.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/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8" name="Free-form: Shape 13"/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/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Team Name / Optimus Syria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08/12/2025</a:t>
            </a:fld>
            <a:endParaRPr lang="en-GB"/>
          </a:p>
        </p:txBody>
      </p:sp>
      <p:sp>
        <p:nvSpPr>
          <p:cNvPr id="11" name="Free-form: Shape 13"/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-form: Shape 13"/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/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Optimus Syria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08/12/2025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microsoft.com/office/2018/10/relationships/comments" Target="../comments/modernComment_13D_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vendborg-brakes.com/products/hydraulic-brakes/active-brakes/bsab-120/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1236678" y="2216406"/>
            <a:ext cx="9718641" cy="912598"/>
          </a:xfrm>
        </p:spPr>
        <p:txBody>
          <a:bodyPr/>
          <a:lstStyle/>
          <a:p>
            <a:r>
              <a:rPr lang="en-GB" sz="4000"/>
              <a:t>Weekly report: Machine Bed &amp; Yaw System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idx="10"/>
          </p:nvPr>
        </p:nvSpPr>
        <p:spPr>
          <a:xfrm>
            <a:off x="2475992" y="4582639"/>
            <a:ext cx="7240015" cy="365125"/>
          </a:xfrm>
        </p:spPr>
        <p:txBody>
          <a:bodyPr/>
          <a:lstStyle/>
          <a:p>
            <a:r>
              <a:rPr lang="en-GB" err="1"/>
              <a:t>Shoukat</a:t>
            </a:r>
            <a:r>
              <a:rPr lang="en-GB"/>
              <a:t> Abbas, </a:t>
            </a:r>
            <a:r>
              <a:rPr lang="en-GB" err="1"/>
              <a:t>Luksh</a:t>
            </a:r>
            <a:r>
              <a:rPr lang="en-GB"/>
              <a:t> Chawla, Sathishkumar Venkatachalam, Shrihari G Kadam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09/12/2025</a:t>
            </a:r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2"/>
          </p:nvPr>
        </p:nvSpPr>
        <p:spPr>
          <a:xfrm>
            <a:off x="8802836" y="6566802"/>
            <a:ext cx="2879187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Machine Bed &amp; Yaw System/ Optimus Syria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1</a:t>
            </a:fld>
            <a:endParaRPr lang="en-GB"/>
          </a:p>
        </p:txBody>
      </p:sp>
      <p:sp>
        <p:nvSpPr>
          <p:cNvPr id="26" name="Title 1"/>
          <p:cNvSpPr txBox="1"/>
          <p:nvPr/>
        </p:nvSpPr>
        <p:spPr>
          <a:xfrm>
            <a:off x="1565241" y="235849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endParaRPr lang="en-GB" sz="4000"/>
          </a:p>
        </p:txBody>
      </p:sp>
      <p:sp>
        <p:nvSpPr>
          <p:cNvPr id="27" name="Subtitle 2"/>
          <p:cNvSpPr txBox="1"/>
          <p:nvPr/>
        </p:nvSpPr>
        <p:spPr>
          <a:xfrm>
            <a:off x="1412841" y="320553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dirty="0"/>
              <a:t>Week No - 11</a:t>
            </a:r>
          </a:p>
          <a:p>
            <a:r>
              <a:rPr lang="it-IT" sz="2000" dirty="0"/>
              <a:t>Date: 09.12.2025</a:t>
            </a:r>
          </a:p>
          <a:p>
            <a:r>
              <a:rPr lang="it-IT" sz="2000" dirty="0"/>
              <a:t>Supervisor: Prof. Peter Quell</a:t>
            </a:r>
          </a:p>
        </p:txBody>
      </p:sp>
      <p:sp>
        <p:nvSpPr>
          <p:cNvPr id="5" name="Textplatzhalter 9"/>
          <p:cNvSpPr txBox="1"/>
          <p:nvPr/>
        </p:nvSpPr>
        <p:spPr>
          <a:xfrm>
            <a:off x="2517233" y="5089851"/>
            <a:ext cx="7240015" cy="3651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Presented by –  Shrihari G Kadam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09/12/2025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225975" cy="365125"/>
          </a:xfrm>
        </p:spPr>
        <p:txBody>
          <a:bodyPr/>
          <a:lstStyle/>
          <a:p>
            <a:r>
              <a:rPr lang="de-DE" err="1"/>
              <a:t>Machine</a:t>
            </a:r>
            <a:r>
              <a:rPr lang="de-DE"/>
              <a:t> Bed &amp; Yaw System/ Optimus </a:t>
            </a:r>
            <a:r>
              <a:rPr lang="de-DE" err="1"/>
              <a:t>Syria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2</a:t>
            </a:fld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Shrihari G Kadam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38200" y="36328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ptos" panose="020B0004020202020204" pitchFamily="34" charset="0"/>
              </a:rPr>
              <a:t>Contents</a:t>
            </a:r>
            <a:endParaRPr lang="en-US" sz="4000" dirty="0"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814195" y="1610706"/>
            <a:ext cx="6405573" cy="47212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sz="2200" dirty="0"/>
              <a:t>Calculation of Brake </a:t>
            </a:r>
            <a:r>
              <a:rPr lang="en-IN" altLang="en-GB" sz="2200" dirty="0" err="1"/>
              <a:t>Caliper</a:t>
            </a:r>
            <a:r>
              <a:rPr lang="en-IN" altLang="en-GB" sz="2200" dirty="0"/>
              <a:t>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altLang="en-GB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sz="2200" dirty="0"/>
              <a:t>Calculation of Braking Torque</a:t>
            </a:r>
            <a:br>
              <a:rPr lang="en-IN" altLang="en-GB" sz="2200" dirty="0"/>
            </a:br>
            <a:endParaRPr lang="en-IN" altLang="en-GB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sz="2200" dirty="0"/>
              <a:t>No. of Brake </a:t>
            </a:r>
            <a:r>
              <a:rPr lang="en-IN" altLang="en-GB" sz="2200" dirty="0" err="1"/>
              <a:t>calipers</a:t>
            </a:r>
            <a:endParaRPr lang="en-IN" altLang="en-GB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altLang="en-GB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sz="2200" dirty="0"/>
              <a:t>Yaw Brake Disk Modification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altLang="en-GB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sz="2200" dirty="0"/>
              <a:t>Yaw System Finalization </a:t>
            </a:r>
            <a:br>
              <a:rPr lang="en-IN" altLang="en-GB" sz="2200" dirty="0"/>
            </a:br>
            <a:endParaRPr lang="en-IN" altLang="en-GB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sz="2200" dirty="0"/>
              <a:t>Machine Bed Modification and Rear bed (welded part) concept design</a:t>
            </a:r>
          </a:p>
          <a:p>
            <a:endParaRPr lang="en-IN" altLang="en-GB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sz="2200" dirty="0"/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D3DEC-B2CA-64D4-2544-C459BC2C6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54826E-4525-98FA-494D-47EEA8775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09/12/2025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21A2B5-9143-172F-48F8-FF132E0B1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50898" y="6564112"/>
            <a:ext cx="3236167" cy="365125"/>
          </a:xfrm>
        </p:spPr>
        <p:txBody>
          <a:bodyPr/>
          <a:lstStyle/>
          <a:p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System/ Optimus </a:t>
            </a:r>
            <a:r>
              <a:rPr lang="de-DE" err="1"/>
              <a:t>Syria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93757DE-C929-BCB5-7965-92A129DE0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3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8C9DBB5-A533-E7DC-9A24-131AFEDC723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Shrihari G Kadam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6EAD8B2-0A79-F1F8-FC91-A9CDA8322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0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cs typeface="Times New Roman" panose="02020603050405020304" pitchFamily="18" charset="0"/>
              </a:rPr>
              <a:t>Calculation of Brake Calipers &amp; Braking Torque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A721A-2F32-6048-671F-45858101D66A}"/>
              </a:ext>
            </a:extLst>
          </p:cNvPr>
          <p:cNvSpPr txBox="1"/>
          <p:nvPr/>
        </p:nvSpPr>
        <p:spPr>
          <a:xfrm>
            <a:off x="941832" y="1204758"/>
            <a:ext cx="10241280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sz="2200" b="1" dirty="0"/>
              <a:t>Clamping Force Determination</a:t>
            </a:r>
            <a:endParaRPr lang="en-IN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Clamping force taken from manufacturer’s performance graph (Svendborg BSAB-120).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Operating pressure: </a:t>
            </a:r>
            <a:r>
              <a:rPr lang="en-IN" sz="2200" b="1" dirty="0"/>
              <a:t>16 MPa</a:t>
            </a:r>
            <a:r>
              <a:rPr lang="en-IN" sz="22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At 16 MPa and </a:t>
            </a:r>
            <a:r>
              <a:rPr lang="el-GR" sz="2200" dirty="0"/>
              <a:t>μ = 0.35, </a:t>
            </a:r>
            <a:r>
              <a:rPr lang="en-IN" sz="2200" dirty="0"/>
              <a:t>the graph gives a clamping force of:</a:t>
            </a:r>
            <a:br>
              <a:rPr lang="en-IN" sz="2200" dirty="0"/>
            </a:br>
            <a:r>
              <a:rPr lang="en-IN" sz="2200" dirty="0"/>
              <a:t>		</a:t>
            </a:r>
            <a:r>
              <a:rPr lang="en-IN" sz="2200" b="1" dirty="0"/>
              <a:t>FC ≈ 543 </a:t>
            </a:r>
            <a:r>
              <a:rPr lang="en-IN" sz="2200" b="1" dirty="0" err="1"/>
              <a:t>kN</a:t>
            </a:r>
            <a:r>
              <a:rPr lang="en-IN" sz="2200" b="1" dirty="0"/>
              <a:t> </a:t>
            </a:r>
            <a:br>
              <a:rPr lang="en-IN" sz="2200" b="1" dirty="0"/>
            </a:br>
            <a:r>
              <a:rPr lang="en-IN" sz="2200" b="1" dirty="0"/>
              <a:t>Calculation of Braking Force (FB)</a:t>
            </a:r>
            <a:br>
              <a:rPr lang="en-IN" sz="2200" dirty="0"/>
            </a:br>
            <a:r>
              <a:rPr lang="en-IN" sz="2200" dirty="0"/>
              <a:t>Formula (manufacturer catalogue):</a:t>
            </a:r>
            <a:br>
              <a:rPr lang="en-IN" sz="2200" dirty="0"/>
            </a:br>
            <a:r>
              <a:rPr lang="en-IN" sz="2200" dirty="0"/>
              <a:t>		</a:t>
            </a:r>
            <a:r>
              <a:rPr lang="en-IN" sz="2200" b="1" dirty="0"/>
              <a:t>FB = 2 × </a:t>
            </a:r>
            <a:r>
              <a:rPr lang="el-GR" sz="2200" b="1" dirty="0"/>
              <a:t>μ × </a:t>
            </a:r>
            <a:r>
              <a:rPr lang="en-IN" sz="2200" b="1" dirty="0"/>
              <a:t>FC</a:t>
            </a:r>
          </a:p>
          <a:p>
            <a:pPr>
              <a:buNone/>
            </a:pPr>
            <a:endParaRPr lang="en-IN" sz="2200" dirty="0"/>
          </a:p>
          <a:p>
            <a:pPr>
              <a:buNone/>
            </a:pPr>
            <a:r>
              <a:rPr lang="en-IN" sz="2200" dirty="0"/>
              <a:t>	Where:</a:t>
            </a:r>
          </a:p>
          <a:p>
            <a:r>
              <a:rPr lang="en-US" sz="2200" dirty="0"/>
              <a:t>		</a:t>
            </a:r>
            <a:r>
              <a:rPr lang="el-GR" sz="2200" dirty="0"/>
              <a:t>μ = </a:t>
            </a:r>
            <a:r>
              <a:rPr lang="en-GB" sz="2200" dirty="0"/>
              <a:t>coefficient of friction = </a:t>
            </a:r>
            <a:r>
              <a:rPr lang="el-GR" sz="2200" dirty="0"/>
              <a:t>0.35</a:t>
            </a:r>
          </a:p>
          <a:p>
            <a:r>
              <a:rPr lang="en-IN" sz="2200" dirty="0"/>
              <a:t>		FC = Clamping force = 543 </a:t>
            </a:r>
            <a:r>
              <a:rPr lang="en-IN" sz="2200" dirty="0" err="1"/>
              <a:t>kN</a:t>
            </a:r>
            <a:endParaRPr lang="en-IN" sz="2200" dirty="0"/>
          </a:p>
          <a:p>
            <a:pPr>
              <a:buNone/>
            </a:pPr>
            <a:r>
              <a:rPr lang="en-IN" sz="2200" dirty="0"/>
              <a:t>		</a:t>
            </a:r>
            <a:r>
              <a:rPr lang="en-IN" sz="2200" b="1" dirty="0"/>
              <a:t>FB = </a:t>
            </a:r>
            <a:r>
              <a:rPr lang="en-IN" sz="2200" dirty="0"/>
              <a:t>Braking force = </a:t>
            </a:r>
            <a:r>
              <a:rPr lang="en-IN" sz="2200" b="1" dirty="0"/>
              <a:t>380.1 </a:t>
            </a:r>
            <a:r>
              <a:rPr lang="en-IN" sz="2200" b="1" dirty="0" err="1"/>
              <a:t>kN</a:t>
            </a:r>
            <a:endParaRPr lang="en-IN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08875-C02D-2ECE-6C94-CD3C257F80C9}"/>
              </a:ext>
            </a:extLst>
          </p:cNvPr>
          <p:cNvSpPr txBox="1"/>
          <p:nvPr/>
        </p:nvSpPr>
        <p:spPr>
          <a:xfrm>
            <a:off x="10906459" y="5901503"/>
            <a:ext cx="498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 action="ppaction://hlinksldjump"/>
              </a:rPr>
              <a:t>[1]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590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03742-E398-3A33-2E5F-57D61A1CC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081D6C-74C1-24D5-41CE-D68635690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09/12/2025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674573-B508-0773-886F-109C272A1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50898" y="6564112"/>
            <a:ext cx="3236167" cy="365125"/>
          </a:xfrm>
        </p:spPr>
        <p:txBody>
          <a:bodyPr/>
          <a:lstStyle/>
          <a:p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System/ Optimus </a:t>
            </a:r>
            <a:r>
              <a:rPr lang="de-DE" err="1"/>
              <a:t>Syria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952241-B84F-A5EB-6896-888D9B8FE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4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53B0BA83-1D0B-D6BC-357A-8C66181429C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      Shrihari G Kadam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DA6DDAE-8AF5-838E-0708-712C9B21D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0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cs typeface="Times New Roman" panose="02020603050405020304" pitchFamily="18" charset="0"/>
              </a:rPr>
              <a:t>Calculation of Brake Calipers &amp; Braking Torque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5DC4BB-B93E-9F9E-9B09-BE1630387C1C}"/>
              </a:ext>
            </a:extLst>
          </p:cNvPr>
          <p:cNvSpPr txBox="1"/>
          <p:nvPr/>
        </p:nvSpPr>
        <p:spPr>
          <a:xfrm>
            <a:off x="941832" y="1204758"/>
            <a:ext cx="102412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sz="2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90D8B2-F544-7B29-5FA9-1168C61E5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373" y="1558701"/>
            <a:ext cx="9102117" cy="43407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0528BE-7992-46DB-B1AF-833B10C7D778}"/>
              </a:ext>
            </a:extLst>
          </p:cNvPr>
          <p:cNvSpPr txBox="1"/>
          <p:nvPr/>
        </p:nvSpPr>
        <p:spPr>
          <a:xfrm>
            <a:off x="4984605" y="5884040"/>
            <a:ext cx="6140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source : Svendborg Brakes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 action="ppaction://hlinksldjump"/>
              </a:rPr>
              <a:t>[1]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774188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A0936-F812-989B-C1E6-B769FAD89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B9DB822-E70B-72F4-593F-C91587A8D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09/12/2025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D722C2-8119-3792-9774-CADB661BE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50898" y="6564112"/>
            <a:ext cx="3236167" cy="365125"/>
          </a:xfrm>
        </p:spPr>
        <p:txBody>
          <a:bodyPr/>
          <a:lstStyle/>
          <a:p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System/ Optimus </a:t>
            </a:r>
            <a:r>
              <a:rPr lang="de-DE" err="1"/>
              <a:t>Syria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CEF60E3-CBB7-218C-0AEA-FCBB39817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5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C4B366D-A5C1-A638-CC43-F6EF26BD75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 Shrihari G Kadam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1155D06-B8E8-23AA-35DC-24BFF6451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0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cs typeface="Times New Roman" panose="02020603050405020304" pitchFamily="18" charset="0"/>
              </a:rPr>
              <a:t>Calculation of Brake Calipers &amp; Braking Torque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BE90AB-0C35-5F2C-CC2C-B8293ACE22EF}"/>
              </a:ext>
            </a:extLst>
          </p:cNvPr>
          <p:cNvSpPr txBox="1"/>
          <p:nvPr/>
        </p:nvSpPr>
        <p:spPr>
          <a:xfrm>
            <a:off x="941832" y="1204758"/>
            <a:ext cx="1024128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/>
              <a:t>Calculation of Braking Torque (MB, </a:t>
            </a:r>
            <a:r>
              <a:rPr lang="en-IN" sz="2200" b="1" dirty="0" err="1"/>
              <a:t>caliper</a:t>
            </a:r>
            <a:r>
              <a:rPr lang="en-IN" sz="2200" b="1" dirty="0"/>
              <a:t>)</a:t>
            </a:r>
            <a:endParaRPr lang="en-IN" sz="2200" dirty="0"/>
          </a:p>
          <a:p>
            <a:r>
              <a:rPr lang="en-IN" sz="2200" dirty="0"/>
              <a:t>	Manufacturer formula:</a:t>
            </a:r>
          </a:p>
          <a:p>
            <a:endParaRPr lang="en-IN" dirty="0"/>
          </a:p>
          <a:p>
            <a:r>
              <a:rPr lang="en-IN" sz="2200" dirty="0"/>
              <a:t>		</a:t>
            </a:r>
            <a:r>
              <a:rPr lang="en-IN" sz="2200" b="1" dirty="0"/>
              <a:t>MB = FB × (Do − 0.136) / 2</a:t>
            </a:r>
          </a:p>
          <a:p>
            <a:endParaRPr lang="en-IN" sz="1200" dirty="0"/>
          </a:p>
          <a:p>
            <a:r>
              <a:rPr lang="en-IN" sz="2200" dirty="0"/>
              <a:t>	Where:</a:t>
            </a:r>
          </a:p>
          <a:p>
            <a:r>
              <a:rPr lang="en-IN" sz="2200" dirty="0"/>
              <a:t>		FB = 380.1 </a:t>
            </a:r>
            <a:r>
              <a:rPr lang="en-IN" sz="2200" dirty="0" err="1"/>
              <a:t>kN</a:t>
            </a:r>
            <a:endParaRPr lang="en-IN" sz="2200" dirty="0"/>
          </a:p>
          <a:p>
            <a:r>
              <a:rPr lang="en-IN" sz="2200" dirty="0"/>
              <a:t>		Do = brake disc outer diameter = </a:t>
            </a:r>
            <a:r>
              <a:rPr lang="en-IN" sz="2200" b="1" dirty="0"/>
              <a:t>3.8 m</a:t>
            </a:r>
            <a:endParaRPr lang="en-IN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/>
              <a:t>Substitution:</a:t>
            </a:r>
            <a:br>
              <a:rPr lang="en-IN" sz="2200" dirty="0"/>
            </a:br>
            <a:r>
              <a:rPr lang="en-IN" sz="2200" dirty="0"/>
              <a:t>		</a:t>
            </a:r>
            <a:r>
              <a:rPr lang="en-IN" sz="2200" b="1" dirty="0"/>
              <a:t>MB = 696.16 </a:t>
            </a:r>
            <a:r>
              <a:rPr lang="en-IN" sz="2200" b="1" dirty="0" err="1"/>
              <a:t>kNm</a:t>
            </a:r>
            <a:r>
              <a:rPr lang="en-IN" sz="2200" b="1" dirty="0"/>
              <a:t> per </a:t>
            </a:r>
            <a:r>
              <a:rPr lang="en-IN" sz="2200" b="1" dirty="0" err="1"/>
              <a:t>caliper</a:t>
            </a:r>
            <a:endParaRPr lang="en-IN" sz="2200" dirty="0"/>
          </a:p>
          <a:p>
            <a:endParaRPr lang="en-IN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/>
              <a:t>Summary</a:t>
            </a:r>
            <a:endParaRPr lang="en-IN" sz="2200" dirty="0"/>
          </a:p>
          <a:p>
            <a:r>
              <a:rPr lang="en-IN" sz="2200" dirty="0"/>
              <a:t>	Clamping force: </a:t>
            </a:r>
            <a:r>
              <a:rPr lang="en-IN" sz="2200" b="1" dirty="0"/>
              <a:t>543 </a:t>
            </a:r>
            <a:r>
              <a:rPr lang="en-IN" sz="2200" b="1" dirty="0" err="1"/>
              <a:t>kN</a:t>
            </a:r>
            <a:endParaRPr lang="en-IN" sz="2200" dirty="0"/>
          </a:p>
          <a:p>
            <a:r>
              <a:rPr lang="en-IN" sz="2200" dirty="0"/>
              <a:t>	Braking force: </a:t>
            </a:r>
            <a:r>
              <a:rPr lang="en-IN" sz="2200" b="1" dirty="0"/>
              <a:t>380.1 </a:t>
            </a:r>
            <a:r>
              <a:rPr lang="en-IN" sz="2200" b="1" dirty="0" err="1"/>
              <a:t>kN</a:t>
            </a:r>
            <a:endParaRPr lang="en-IN" sz="2200" dirty="0"/>
          </a:p>
          <a:p>
            <a:r>
              <a:rPr lang="en-IN" sz="2200" dirty="0"/>
              <a:t>	Braking moment: </a:t>
            </a:r>
            <a:r>
              <a:rPr lang="en-IN" sz="2200" b="1" dirty="0"/>
              <a:t>696.16 </a:t>
            </a:r>
            <a:r>
              <a:rPr lang="en-IN" sz="2200" b="1" dirty="0" err="1"/>
              <a:t>kNm</a:t>
            </a:r>
            <a:endParaRPr lang="en-IN" sz="2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9FF0EA-D7CB-5405-A458-301D937C9CE2}"/>
              </a:ext>
            </a:extLst>
          </p:cNvPr>
          <p:cNvSpPr txBox="1"/>
          <p:nvPr/>
        </p:nvSpPr>
        <p:spPr>
          <a:xfrm>
            <a:off x="10906459" y="5901503"/>
            <a:ext cx="498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 action="ppaction://hlinksldjump"/>
              </a:rPr>
              <a:t>[1]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14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4C131-E862-38F2-7C2C-F01B21D73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7298C8-EC37-AC13-02DA-06C652D20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09/12/2025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3826F2-0E93-C065-15C3-2D8707465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50898" y="6564112"/>
            <a:ext cx="3236167" cy="365125"/>
          </a:xfrm>
        </p:spPr>
        <p:txBody>
          <a:bodyPr/>
          <a:lstStyle/>
          <a:p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System/ Optimus </a:t>
            </a:r>
            <a:r>
              <a:rPr lang="de-DE" err="1"/>
              <a:t>Syria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305F03-423D-E87D-7BD8-6133B4935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6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5CA55DB-F9DA-4607-3D51-EBECCB7526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 Shrihari G Kadam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891E1A1-0EC8-2CC9-A392-49EC69D52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0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cs typeface="Times New Roman" panose="02020603050405020304" pitchFamily="18" charset="0"/>
              </a:rPr>
              <a:t>Calculation of Brake Calipers &amp; Braking Torque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28C39F-9B4E-A131-3769-1F3E06B7603C}"/>
              </a:ext>
            </a:extLst>
          </p:cNvPr>
          <p:cNvSpPr txBox="1"/>
          <p:nvPr/>
        </p:nvSpPr>
        <p:spPr>
          <a:xfrm>
            <a:off x="975360" y="1121999"/>
            <a:ext cx="1024128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Calculation of no. of brake </a:t>
            </a:r>
            <a:r>
              <a:rPr lang="en-IN" sz="2400" b="1" dirty="0" err="1"/>
              <a:t>calipers</a:t>
            </a:r>
            <a:endParaRPr lang="en-IN" sz="2400" b="1" dirty="0"/>
          </a:p>
          <a:p>
            <a:pPr lvl="2"/>
            <a:r>
              <a:rPr lang="en-IN" sz="2400" dirty="0"/>
              <a:t>DLC 5.1 Normal Turbulence mode @25 m/s (cut-out speed)</a:t>
            </a:r>
          </a:p>
          <a:p>
            <a:r>
              <a:rPr lang="en-IN" sz="2400" dirty="0"/>
              <a:t>	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46C918-C63F-843A-9573-266751236473}"/>
              </a:ext>
            </a:extLst>
          </p:cNvPr>
          <p:cNvSpPr txBox="1"/>
          <p:nvPr/>
        </p:nvSpPr>
        <p:spPr>
          <a:xfrm>
            <a:off x="7325032" y="6253645"/>
            <a:ext cx="51029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i="1" dirty="0"/>
              <a:t>Source: Load and Dynamics team Optimus Syria</a:t>
            </a:r>
            <a:endParaRPr lang="en-US" sz="1400" i="1" dirty="0"/>
          </a:p>
        </p:txBody>
      </p:sp>
      <p:pic>
        <p:nvPicPr>
          <p:cNvPr id="8" name="Picture 7" descr="A graph showing a sound wave&#10;&#10;AI-generated content may be incorrect.">
            <a:extLst>
              <a:ext uri="{FF2B5EF4-FFF2-40B4-BE49-F238E27FC236}">
                <a16:creationId xmlns:a16="http://schemas.microsoft.com/office/drawing/2014/main" id="{067944B8-9829-5FF4-ED72-BF5DEDB2EC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336" y="2484288"/>
            <a:ext cx="9271793" cy="376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189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6C1A6-4333-FC64-AEEE-1D1FD7E25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25E91C-FB63-9FBF-9ADD-F4F5C1410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09/12/2025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3FF52F1-740C-8E0F-743B-3B19CEB11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50898" y="6564112"/>
            <a:ext cx="3236167" cy="365125"/>
          </a:xfrm>
        </p:spPr>
        <p:txBody>
          <a:bodyPr/>
          <a:lstStyle/>
          <a:p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System/ Optimus </a:t>
            </a:r>
            <a:r>
              <a:rPr lang="de-DE" err="1"/>
              <a:t>Syria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5CA657-C9DB-5196-00A7-A4DF27A14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7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5ACEE57B-7D99-6009-CCD4-C908C7B4406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 Shrihari G Kadam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2A9983D-C6F1-9509-C592-2BE941DC7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0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cs typeface="Times New Roman" panose="02020603050405020304" pitchFamily="18" charset="0"/>
              </a:rPr>
              <a:t>Calculation of Brake Calipers &amp; Braking Torque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102524-7821-FD15-7334-24A5661A9BF1}"/>
              </a:ext>
            </a:extLst>
          </p:cNvPr>
          <p:cNvSpPr txBox="1"/>
          <p:nvPr/>
        </p:nvSpPr>
        <p:spPr>
          <a:xfrm>
            <a:off x="1345785" y="1342410"/>
            <a:ext cx="1000801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b="1" dirty="0"/>
          </a:p>
          <a:p>
            <a:r>
              <a:rPr lang="en-IN" sz="2200" b="1" dirty="0"/>
              <a:t>Calculation of no. of brake </a:t>
            </a:r>
            <a:r>
              <a:rPr lang="en-IN" sz="2200" b="1" dirty="0" err="1"/>
              <a:t>calipers</a:t>
            </a:r>
            <a:endParaRPr lang="en-IN" sz="2200" b="1" dirty="0"/>
          </a:p>
          <a:p>
            <a:pPr lvl="2"/>
            <a:endParaRPr lang="en-IN" sz="2200" b="1" dirty="0"/>
          </a:p>
          <a:p>
            <a:pPr lvl="1"/>
            <a:r>
              <a:rPr lang="en-IN" sz="2000" dirty="0"/>
              <a:t>DLC 5.1 Normal Turbulence mode @25 m/s (cut-out speed)</a:t>
            </a:r>
            <a:endParaRPr lang="en-IN" sz="2200" b="1" dirty="0"/>
          </a:p>
          <a:p>
            <a:pPr lvl="2"/>
            <a:r>
              <a:rPr lang="en-IN" sz="2200" dirty="0"/>
              <a:t>From the graph:</a:t>
            </a:r>
          </a:p>
          <a:p>
            <a:pPr lvl="3"/>
            <a:r>
              <a:rPr lang="en-IN" sz="2200" dirty="0" err="1"/>
              <a:t>Mz</a:t>
            </a:r>
            <a:r>
              <a:rPr lang="en-IN" dirty="0"/>
              <a:t>, yaw brake</a:t>
            </a:r>
            <a:r>
              <a:rPr lang="en-IN" b="1" dirty="0"/>
              <a:t> </a:t>
            </a:r>
            <a:r>
              <a:rPr lang="en-IN" sz="2200" dirty="0"/>
              <a:t>≈ </a:t>
            </a:r>
            <a:r>
              <a:rPr lang="en-IN" sz="2200" b="1" dirty="0"/>
              <a:t>10000 </a:t>
            </a:r>
            <a:r>
              <a:rPr lang="en-IN" sz="2200" b="1" dirty="0" err="1"/>
              <a:t>kNm</a:t>
            </a:r>
            <a:endParaRPr lang="en-IN" sz="2200" b="1" dirty="0"/>
          </a:p>
          <a:p>
            <a:pPr lvl="2"/>
            <a:endParaRPr lang="en-IN" sz="1200" dirty="0"/>
          </a:p>
          <a:p>
            <a:pPr lvl="3"/>
            <a:r>
              <a:rPr lang="en-IN" sz="2200" b="1" dirty="0"/>
              <a:t>a = </a:t>
            </a:r>
            <a:r>
              <a:rPr lang="en-IN" sz="2200" dirty="0"/>
              <a:t>no of brake </a:t>
            </a:r>
            <a:r>
              <a:rPr lang="en-IN" sz="2200" dirty="0" err="1"/>
              <a:t>calipers</a:t>
            </a:r>
            <a:r>
              <a:rPr lang="en-IN" sz="2200" dirty="0"/>
              <a:t>  = </a:t>
            </a:r>
            <a:r>
              <a:rPr lang="en-IN" sz="2200" dirty="0" err="1"/>
              <a:t>Mz</a:t>
            </a:r>
            <a:r>
              <a:rPr lang="en-IN" sz="2200" dirty="0"/>
              <a:t>, yaw brake / MB</a:t>
            </a:r>
          </a:p>
          <a:p>
            <a:pPr lvl="4"/>
            <a:r>
              <a:rPr lang="en-IN" sz="2200" dirty="0"/>
              <a:t>= 1000 </a:t>
            </a:r>
            <a:r>
              <a:rPr lang="en-IN" sz="2200" dirty="0" err="1"/>
              <a:t>kNm</a:t>
            </a:r>
            <a:r>
              <a:rPr lang="en-IN" sz="2200" dirty="0"/>
              <a:t> / 696.16 </a:t>
            </a:r>
            <a:r>
              <a:rPr lang="en-IN" sz="2200" dirty="0" err="1"/>
              <a:t>kNm</a:t>
            </a:r>
            <a:r>
              <a:rPr lang="en-IN" sz="2200" dirty="0"/>
              <a:t> = </a:t>
            </a:r>
            <a:r>
              <a:rPr lang="en-IN" sz="2200" b="1" dirty="0"/>
              <a:t>14.36</a:t>
            </a:r>
            <a:br>
              <a:rPr lang="en-IN" sz="2200" dirty="0"/>
            </a:br>
            <a:endParaRPr lang="en-IN" sz="2200" dirty="0"/>
          </a:p>
          <a:p>
            <a:r>
              <a:rPr lang="en-IN" sz="2200" dirty="0"/>
              <a:t>So, the number of brake </a:t>
            </a:r>
            <a:r>
              <a:rPr lang="en-IN" sz="2200" dirty="0" err="1"/>
              <a:t>calipers</a:t>
            </a:r>
            <a:r>
              <a:rPr lang="en-IN" sz="2200" dirty="0"/>
              <a:t> are 14 in Optimus Syria. Finalized numbers will be taken after confirmation from the Prof. </a:t>
            </a:r>
          </a:p>
          <a:p>
            <a:r>
              <a:rPr lang="en-IN" sz="2200" dirty="0"/>
              <a:t>	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59334E-D10B-3BA0-A6DA-CDEFFA7DB2E6}"/>
              </a:ext>
            </a:extLst>
          </p:cNvPr>
          <p:cNvSpPr txBox="1"/>
          <p:nvPr/>
        </p:nvSpPr>
        <p:spPr>
          <a:xfrm>
            <a:off x="7315199" y="6102446"/>
            <a:ext cx="51029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i="1" dirty="0"/>
              <a:t>Source: Load and Dynamics team Optimus Syria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3310798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09/12/2025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225975" cy="365125"/>
          </a:xfrm>
        </p:spPr>
        <p:txBody>
          <a:bodyPr/>
          <a:lstStyle/>
          <a:p>
            <a:r>
              <a:rPr lang="de-DE" err="1"/>
              <a:t>Machine</a:t>
            </a:r>
            <a:r>
              <a:rPr lang="de-DE"/>
              <a:t> Bed &amp; Yaw System/ Optimus </a:t>
            </a:r>
            <a:r>
              <a:rPr lang="de-DE" err="1"/>
              <a:t>Syria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8</a:t>
            </a:fld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Shrihari G Kadam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38200" y="35395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altLang="en-US" sz="4000" b="1" dirty="0">
                <a:latin typeface="Aptos" panose="02110004020202020204"/>
                <a:cs typeface="Times New Roman" panose="02020603050405020304"/>
                <a:sym typeface="+mn-ea"/>
              </a:rPr>
              <a:t>Yaw Brake – Modification Diff.</a:t>
            </a:r>
            <a:endParaRPr lang="en-US" sz="4000" b="1" dirty="0"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17632" y="6059007"/>
            <a:ext cx="2634136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altLang="en-GB" dirty="0"/>
              <a:t>Modified New Brake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343" y="6094567"/>
            <a:ext cx="3225975" cy="3683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altLang="en-GB"/>
              <a:t>Old Model – With Extra Boss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9800" y="1477645"/>
            <a:ext cx="6096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IN" sz="2000" b="1" baseline="0" dirty="0">
                <a:latin typeface="Aptos" panose="02110004020202020204"/>
              </a:rPr>
              <a:t>Yaw brake disk</a:t>
            </a:r>
            <a:endParaRPr lang="en-US" dirty="0"/>
          </a:p>
          <a:p>
            <a:pPr algn="l"/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8" name="Picture 7" descr="A drawing of a circular object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10" y="1918335"/>
            <a:ext cx="2701290" cy="2174875"/>
          </a:xfrm>
          <a:prstGeom prst="rect">
            <a:avLst/>
          </a:prstGeom>
        </p:spPr>
      </p:pic>
      <p:sp>
        <p:nvSpPr>
          <p:cNvPr id="11" name="Arrow: Right 10"/>
          <p:cNvSpPr/>
          <p:nvPr/>
        </p:nvSpPr>
        <p:spPr>
          <a:xfrm>
            <a:off x="5449570" y="3848100"/>
            <a:ext cx="898525" cy="5467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owchart: Connector 16"/>
          <p:cNvSpPr/>
          <p:nvPr/>
        </p:nvSpPr>
        <p:spPr>
          <a:xfrm>
            <a:off x="2508250" y="2200910"/>
            <a:ext cx="454025" cy="434340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Screenshot 2025-12-08 1147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2395" y="1477645"/>
            <a:ext cx="2976880" cy="2428875"/>
          </a:xfrm>
          <a:prstGeom prst="rect">
            <a:avLst/>
          </a:prstGeom>
        </p:spPr>
      </p:pic>
      <p:sp>
        <p:nvSpPr>
          <p:cNvPr id="23" name="Flowchart: Connector 22"/>
          <p:cNvSpPr/>
          <p:nvPr/>
        </p:nvSpPr>
        <p:spPr>
          <a:xfrm>
            <a:off x="8978265" y="1616710"/>
            <a:ext cx="485775" cy="446405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Screenshot 2025-12-08 1148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3365" y="4330700"/>
            <a:ext cx="2936875" cy="144081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165" y="4331335"/>
            <a:ext cx="2701925" cy="1661795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 flipV="1">
            <a:off x="7656334" y="5078576"/>
            <a:ext cx="886522" cy="5445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434479" y="5078576"/>
            <a:ext cx="886522" cy="5445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09/12/2025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225975" cy="365125"/>
          </a:xfrm>
        </p:spPr>
        <p:txBody>
          <a:bodyPr/>
          <a:lstStyle/>
          <a:p>
            <a:r>
              <a:rPr lang="de-DE" err="1"/>
              <a:t>Machine</a:t>
            </a:r>
            <a:r>
              <a:rPr lang="de-DE"/>
              <a:t> Bed &amp; Yaw System/ Optimus </a:t>
            </a:r>
            <a:r>
              <a:rPr lang="de-DE" err="1"/>
              <a:t>Syria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9</a:t>
            </a:fld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Shrihari G Kadam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38200" y="35395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altLang="en-US" sz="4000" b="1" dirty="0">
                <a:cs typeface="Times New Roman" panose="02020603050405020304" pitchFamily="18" charset="0"/>
                <a:sym typeface="+mn-ea"/>
              </a:rPr>
              <a:t>Yaw</a:t>
            </a:r>
            <a:r>
              <a:rPr lang="en-IN" altLang="en-GB" sz="4000" b="1" dirty="0"/>
              <a:t> system Finalization</a:t>
            </a:r>
            <a:r>
              <a:rPr lang="en-IN" altLang="en-US" sz="4000" b="1" dirty="0">
                <a:cs typeface="Times New Roman" panose="02020603050405020304" pitchFamily="18" charset="0"/>
                <a:sym typeface="+mn-ea"/>
              </a:rPr>
              <a:t> </a:t>
            </a:r>
            <a:endParaRPr lang="en-US" sz="4000" b="1" dirty="0"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86743" y="1417250"/>
            <a:ext cx="11360502" cy="12790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IN" sz="2000"/>
          </a:p>
          <a:p>
            <a:pPr>
              <a:lnSpc>
                <a:spcPct val="150000"/>
              </a:lnSpc>
            </a:pPr>
            <a:r>
              <a:rPr lang="en-IN" sz="2000" b="1"/>
              <a:t> </a:t>
            </a:r>
          </a:p>
          <a:p>
            <a:pPr>
              <a:lnSpc>
                <a:spcPct val="150000"/>
              </a:lnSpc>
            </a:pPr>
            <a:endParaRPr lang="en-IN" sz="2000" b="1"/>
          </a:p>
        </p:txBody>
      </p:sp>
      <p:sp>
        <p:nvSpPr>
          <p:cNvPr id="21" name="TextBox 20"/>
          <p:cNvSpPr txBox="1"/>
          <p:nvPr/>
        </p:nvSpPr>
        <p:spPr>
          <a:xfrm>
            <a:off x="1279293" y="1422524"/>
            <a:ext cx="6096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IN" sz="2000" b="1" baseline="0" dirty="0">
                <a:latin typeface="Aptos" panose="02110004020202020204"/>
              </a:rPr>
              <a:t>Yaw brake disk</a:t>
            </a:r>
            <a:r>
              <a:rPr lang="en-IN" sz="2000" b="1" dirty="0">
                <a:latin typeface="Aptos" panose="02110004020202020204"/>
              </a:rPr>
              <a:t> - 3D</a:t>
            </a:r>
            <a:endParaRPr lang="en-US" dirty="0"/>
          </a:p>
          <a:p>
            <a:pPr algn="l"/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7" name="Picture 6" descr="Screenshot 2025-12-08 1149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305" y="2337435"/>
            <a:ext cx="8004175" cy="3620770"/>
          </a:xfrm>
          <a:prstGeom prst="rect">
            <a:avLst/>
          </a:prstGeom>
        </p:spPr>
      </p:pic>
      <p:sp>
        <p:nvSpPr>
          <p:cNvPr id="14" name="Flowchart: Connector 13"/>
          <p:cNvSpPr/>
          <p:nvPr/>
        </p:nvSpPr>
        <p:spPr>
          <a:xfrm>
            <a:off x="4129405" y="3489960"/>
            <a:ext cx="1892300" cy="1906270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5681484" y="4832551"/>
            <a:ext cx="1234440" cy="12890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Box 9"/>
          <p:cNvSpPr txBox="1"/>
          <p:nvPr/>
        </p:nvSpPr>
        <p:spPr>
          <a:xfrm>
            <a:off x="2807335" y="4316095"/>
            <a:ext cx="1240155" cy="429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IN" altLang="en-GB" sz="1200" dirty="0">
                <a:solidFill>
                  <a:schemeClr val="tx1"/>
                </a:solidFill>
              </a:rPr>
              <a:t>Removed extra</a:t>
            </a:r>
          </a:p>
          <a:p>
            <a:pPr algn="l"/>
            <a:r>
              <a:rPr lang="en-IN" altLang="en-GB" sz="1200" dirty="0">
                <a:solidFill>
                  <a:schemeClr val="tx1"/>
                </a:solidFill>
              </a:rPr>
              <a:t>Gears portions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4923155" y="5958205"/>
            <a:ext cx="1240155" cy="429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IN" altLang="en-GB" sz="1200" dirty="0">
                <a:solidFill>
                  <a:schemeClr val="tx1"/>
                </a:solidFill>
              </a:rPr>
              <a:t>Modified Design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09/12/2025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8350898" y="6564112"/>
            <a:ext cx="3236167" cy="365125"/>
          </a:xfrm>
        </p:spPr>
        <p:txBody>
          <a:bodyPr/>
          <a:lstStyle/>
          <a:p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System/ Optimus </a:t>
            </a:r>
            <a:r>
              <a:rPr lang="de-DE" err="1"/>
              <a:t>Syria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10</a:t>
            </a:fld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Shrihari G Kadam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3590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cs typeface="Times New Roman" panose="02020603050405020304"/>
              </a:rPr>
              <a:t>M</a:t>
            </a:r>
            <a:r>
              <a:rPr lang="en-US" sz="4000" b="1" dirty="0" err="1">
                <a:cs typeface="Times New Roman" panose="02020603050405020304"/>
              </a:rPr>
              <a:t>achine</a:t>
            </a:r>
            <a:r>
              <a:rPr lang="en-US" sz="4000" b="1" dirty="0">
                <a:cs typeface="Times New Roman" panose="02020603050405020304"/>
              </a:rPr>
              <a:t> Bed – Modification Diff.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576182" y="1681976"/>
            <a:ext cx="6096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IN" sz="2000" b="1" dirty="0">
                <a:solidFill>
                  <a:srgbClr val="000000"/>
                </a:solidFill>
                <a:latin typeface="Aptos" panose="02110004020202020204"/>
                <a:ea typeface="Aptos" panose="02110004020202020204"/>
                <a:cs typeface="Aptos" panose="02110004020202020204"/>
              </a:rPr>
              <a:t>Machine Bed </a:t>
            </a:r>
            <a:r>
              <a:rPr lang="en-IN" sz="2000" b="1" i="0" u="none" strike="noStrike" baseline="0" dirty="0">
                <a:solidFill>
                  <a:srgbClr val="000000"/>
                </a:solidFill>
                <a:latin typeface="Aptos" panose="02110004020202020204"/>
                <a:ea typeface="Aptos" panose="02110004020202020204"/>
                <a:cs typeface="Aptos" panose="02110004020202020204"/>
              </a:rPr>
              <a:t>- 3D</a:t>
            </a:r>
            <a:endParaRPr lang="en-US" dirty="0"/>
          </a:p>
          <a:p>
            <a:pPr algn="l"/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3" name="Picture 2" descr="A black object with yellow lines&#10;&#10;AI-generated content may be incorrect."/>
          <p:cNvPicPr>
            <a:picLocks noChangeAspect="1"/>
          </p:cNvPicPr>
          <p:nvPr/>
        </p:nvPicPr>
        <p:blipFill>
          <a:blip r:embed="rId3"/>
          <a:srcRect l="14409" t="96" r="5901" b="7379"/>
          <a:stretch>
            <a:fillRect/>
          </a:stretch>
        </p:blipFill>
        <p:spPr>
          <a:xfrm>
            <a:off x="1092200" y="2116455"/>
            <a:ext cx="4041140" cy="3533140"/>
          </a:xfrm>
          <a:prstGeom prst="rect">
            <a:avLst/>
          </a:prstGeom>
        </p:spPr>
      </p:pic>
      <p:cxnSp>
        <p:nvCxnSpPr>
          <p:cNvPr id="18" name="Straight Arrow Connector 17"/>
          <p:cNvCxnSpPr/>
          <p:nvPr/>
        </p:nvCxnSpPr>
        <p:spPr>
          <a:xfrm flipV="1">
            <a:off x="998375" y="4975473"/>
            <a:ext cx="901700" cy="8077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Arrow: Right 22"/>
          <p:cNvSpPr/>
          <p:nvPr/>
        </p:nvSpPr>
        <p:spPr>
          <a:xfrm>
            <a:off x="5467566" y="366999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Screenshot 2025-12-08 1144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1365" y="1574800"/>
            <a:ext cx="3600450" cy="2305050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 flipV="1">
            <a:off x="7373140" y="3508623"/>
            <a:ext cx="765175" cy="2971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Screenshot 2025-12-08 114632"/>
          <p:cNvPicPr>
            <a:picLocks noChangeAspect="1"/>
          </p:cNvPicPr>
          <p:nvPr/>
        </p:nvPicPr>
        <p:blipFill>
          <a:blip r:embed="rId5"/>
          <a:srcRect t="9089" b="14837"/>
          <a:stretch>
            <a:fillRect/>
          </a:stretch>
        </p:blipFill>
        <p:spPr>
          <a:xfrm>
            <a:off x="7380605" y="4154805"/>
            <a:ext cx="3331210" cy="2327910"/>
          </a:xfrm>
          <a:prstGeom prst="rect">
            <a:avLst/>
          </a:prstGeom>
        </p:spPr>
      </p:pic>
      <p:sp>
        <p:nvSpPr>
          <p:cNvPr id="15" name="Text Box 14"/>
          <p:cNvSpPr txBox="1"/>
          <p:nvPr/>
        </p:nvSpPr>
        <p:spPr>
          <a:xfrm>
            <a:off x="7373620" y="4454525"/>
            <a:ext cx="1101090" cy="429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IN" altLang="en-GB" sz="1200" dirty="0">
                <a:solidFill>
                  <a:schemeClr val="tx1"/>
                </a:solidFill>
              </a:rPr>
              <a:t>We have clear gap now!!</a:t>
            </a:r>
          </a:p>
        </p:txBody>
      </p:sp>
      <p:sp>
        <p:nvSpPr>
          <p:cNvPr id="17" name="Text Box 16"/>
          <p:cNvSpPr txBox="1"/>
          <p:nvPr/>
        </p:nvSpPr>
        <p:spPr>
          <a:xfrm>
            <a:off x="7111365" y="3036570"/>
            <a:ext cx="890270" cy="3479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IN" altLang="en-GB" sz="1200" dirty="0">
                <a:solidFill>
                  <a:schemeClr val="tx1"/>
                </a:solidFill>
              </a:rPr>
              <a:t>Modified Drive</a:t>
            </a:r>
          </a:p>
          <a:p>
            <a:pPr algn="l"/>
            <a:r>
              <a:rPr lang="en-IN" altLang="en-GB" sz="1200" dirty="0">
                <a:solidFill>
                  <a:schemeClr val="tx1"/>
                </a:solidFill>
              </a:rPr>
              <a:t>flange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09/12/2025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8350898" y="6564112"/>
            <a:ext cx="3236167" cy="365125"/>
          </a:xfrm>
        </p:spPr>
        <p:txBody>
          <a:bodyPr/>
          <a:lstStyle/>
          <a:p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System/ Optimus </a:t>
            </a:r>
            <a:r>
              <a:rPr lang="de-DE" err="1"/>
              <a:t>Syria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11</a:t>
            </a:fld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Shrihari G Kadam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3590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altLang="en-GB" sz="4000" b="1">
                <a:cs typeface="Times New Roman" panose="02020603050405020304"/>
              </a:rPr>
              <a:t>Rear </a:t>
            </a:r>
            <a:r>
              <a:rPr lang="en-GB" sz="4000" b="1">
                <a:cs typeface="Times New Roman" panose="02020603050405020304"/>
              </a:rPr>
              <a:t>M</a:t>
            </a:r>
            <a:r>
              <a:rPr lang="en-US" sz="4000" b="1" err="1">
                <a:cs typeface="Times New Roman" panose="02020603050405020304"/>
              </a:rPr>
              <a:t>achine</a:t>
            </a:r>
            <a:r>
              <a:rPr lang="en-US" sz="4000" b="1">
                <a:cs typeface="Times New Roman" panose="02020603050405020304"/>
              </a:rPr>
              <a:t> Bed –</a:t>
            </a:r>
            <a:r>
              <a:rPr lang="en-IN" altLang="en-US" sz="4000" b="1">
                <a:cs typeface="Times New Roman" panose="02020603050405020304"/>
              </a:rPr>
              <a:t> Concept</a:t>
            </a:r>
          </a:p>
        </p:txBody>
      </p:sp>
      <p:sp>
        <p:nvSpPr>
          <p:cNvPr id="19" name="Flowchart: Connector 18"/>
          <p:cNvSpPr/>
          <p:nvPr/>
        </p:nvSpPr>
        <p:spPr>
          <a:xfrm>
            <a:off x="3724564" y="4358115"/>
            <a:ext cx="497230" cy="508905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Screenshot 2025-12-08 1152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690" y="1842135"/>
            <a:ext cx="5589905" cy="3752850"/>
          </a:xfrm>
          <a:prstGeom prst="rect">
            <a:avLst/>
          </a:prstGeom>
        </p:spPr>
      </p:pic>
      <p:sp>
        <p:nvSpPr>
          <p:cNvPr id="15" name="Text Box 14"/>
          <p:cNvSpPr txBox="1"/>
          <p:nvPr/>
        </p:nvSpPr>
        <p:spPr>
          <a:xfrm>
            <a:off x="6459220" y="4469765"/>
            <a:ext cx="2238375" cy="1661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IN" altLang="en-GB" sz="1200" dirty="0">
                <a:solidFill>
                  <a:schemeClr val="tx1"/>
                </a:solidFill>
              </a:rPr>
              <a:t>* Optimus model- Modified dimension according to our casted bed - Concept 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09/12/2025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8350898" y="6564112"/>
            <a:ext cx="3236167" cy="365125"/>
          </a:xfrm>
        </p:spPr>
        <p:txBody>
          <a:bodyPr/>
          <a:lstStyle/>
          <a:p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System/ Optimus </a:t>
            </a:r>
            <a:r>
              <a:rPr lang="de-DE" err="1"/>
              <a:t>Syria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12</a:t>
            </a:fld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Shrihari G Kadam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3590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>
                <a:cs typeface="Times New Roman" panose="02020603050405020304"/>
              </a:rPr>
              <a:t>Updated Machine Bed &amp; Yaw System Ass.</a:t>
            </a:r>
            <a:endParaRPr lang="en-US" sz="4000" b="1">
              <a:cs typeface="Times New Roman" panose="02020603050405020304" pitchFamily="18" charset="0"/>
            </a:endParaRPr>
          </a:p>
        </p:txBody>
      </p:sp>
      <p:pic>
        <p:nvPicPr>
          <p:cNvPr id="3" name="Picture 2" descr="Screenshot 2025-12-08 1153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370" y="1811020"/>
            <a:ext cx="5768975" cy="41884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5142"/>
            <a:ext cx="10515600" cy="1411691"/>
          </a:xfrm>
        </p:spPr>
        <p:txBody>
          <a:bodyPr/>
          <a:lstStyle/>
          <a:p>
            <a:pPr algn="ctr"/>
            <a:r>
              <a:rPr lang="en-GB" sz="4000" b="1" dirty="0"/>
              <a:t>References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09/12/2025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266923" y="6564113"/>
            <a:ext cx="3086878" cy="365125"/>
          </a:xfrm>
        </p:spPr>
        <p:txBody>
          <a:bodyPr/>
          <a:lstStyle/>
          <a:p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System/ Optimus </a:t>
            </a:r>
            <a:r>
              <a:rPr lang="de-DE" err="1"/>
              <a:t>Syria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13</a:t>
            </a:fld>
            <a:endParaRPr lang="en-GB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Shrihari G Kadam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idx="1"/>
          </p:nvPr>
        </p:nvSpPr>
        <p:spPr>
          <a:xfrm>
            <a:off x="578498" y="1594192"/>
            <a:ext cx="10775302" cy="45827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2"/>
            <a:r>
              <a:rPr lang="en-IN" sz="1800" dirty="0">
                <a:hlinkClick r:id="rId2"/>
              </a:rPr>
              <a:t>[1]. </a:t>
            </a:r>
            <a:r>
              <a:rPr lang="en-IN" sz="1800" dirty="0"/>
              <a:t>Hydraulic brakes </a:t>
            </a:r>
            <a:r>
              <a:rPr lang="en-IN" sz="1800" dirty="0" err="1"/>
              <a:t>Svensborg</a:t>
            </a:r>
            <a:r>
              <a:rPr lang="en-IN" sz="1800" dirty="0"/>
              <a:t> brakes, </a:t>
            </a:r>
            <a:r>
              <a:rPr lang="en-IN" sz="1800" dirty="0">
                <a:hlinkClick r:id="rId2"/>
              </a:rPr>
              <a:t>https://www.svendborg-brakes.com/products/hydraulic-brakes/active-brakes/bsab-120/</a:t>
            </a:r>
            <a:r>
              <a:rPr lang="en-IN" sz="1800" dirty="0"/>
              <a:t> (accessed: 13.11.2025)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589</TotalTime>
  <Words>693</Words>
  <Application>Microsoft Office PowerPoint</Application>
  <PresentationFormat>Widescreen</PresentationFormat>
  <Paragraphs>140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</vt:lpstr>
      <vt:lpstr>Aptos (Textkörper)</vt:lpstr>
      <vt:lpstr>Aptos Display</vt:lpstr>
      <vt:lpstr>Arial</vt:lpstr>
      <vt:lpstr>Calibri</vt:lpstr>
      <vt:lpstr>Calibri Light</vt:lpstr>
      <vt:lpstr>Times New Roman</vt:lpstr>
      <vt:lpstr>Office</vt:lpstr>
      <vt:lpstr>Benutzerdefiniertes Design</vt:lpstr>
      <vt:lpstr>Weekly report: Machine Bed &amp; Yaw System</vt:lpstr>
      <vt:lpstr>Contents</vt:lpstr>
      <vt:lpstr>Calculation of Brake Calipers &amp; Braking Torque </vt:lpstr>
      <vt:lpstr>Calculation of Brake Calipers &amp; Braking Torque </vt:lpstr>
      <vt:lpstr>Calculation of Brake Calipers &amp; Braking Torque </vt:lpstr>
      <vt:lpstr>Calculation of Brake Calipers &amp; Braking Torque </vt:lpstr>
      <vt:lpstr>Calculation of Brake Calipers &amp; Braking Torque </vt:lpstr>
      <vt:lpstr>Yaw Brake – Modification Diff.</vt:lpstr>
      <vt:lpstr>Yaw system Finalization </vt:lpstr>
      <vt:lpstr>Machine Bed – Modification Diff.</vt:lpstr>
      <vt:lpstr>Rear Machine Bed – Concept</vt:lpstr>
      <vt:lpstr>Updated Machine Bed &amp; Yaw System Ass.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report: Machine Bed &amp; Yaw System</dc:title>
  <dc:creator>Shrihari Kadam</dc:creator>
  <cp:lastModifiedBy>Shoukat Abbas</cp:lastModifiedBy>
  <cp:revision>24</cp:revision>
  <dcterms:created xsi:type="dcterms:W3CDTF">2025-10-26T22:40:00Z</dcterms:created>
  <dcterms:modified xsi:type="dcterms:W3CDTF">2025-12-08T11:43:21Z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DAD9A43304C8432A92F5AC9DD2E6A8D2_13</vt:lpwstr>
  </property>
  <property fmtid="{D5CDD505-2E9C-101B-9397-08002B2CF9AE}" pid="3" name="KSOProductBuildVer">
    <vt:lpwstr>2057-12.2.0.23149</vt:lpwstr>
  </property>
</Properties>
</file>