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15"/>
  </p:notesMasterIdLst>
  <p:handoutMasterIdLst>
    <p:handoutMasterId r:id="rId16"/>
  </p:handoutMasterIdLst>
  <p:sldIdLst>
    <p:sldId id="300" r:id="rId3"/>
    <p:sldId id="301" r:id="rId4"/>
    <p:sldId id="303" r:id="rId5"/>
    <p:sldId id="328" r:id="rId6"/>
    <p:sldId id="329" r:id="rId7"/>
    <p:sldId id="322" r:id="rId8"/>
    <p:sldId id="324" r:id="rId9"/>
    <p:sldId id="325" r:id="rId10"/>
    <p:sldId id="326" r:id="rId11"/>
    <p:sldId id="327" r:id="rId12"/>
    <p:sldId id="321" r:id="rId13"/>
    <p:sldId id="330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 slide" id="{331BD3D6-B7F1-4148-BF99-E0643B5FA8FF}">
          <p14:sldIdLst/>
        </p14:section>
        <p14:section name="management team" id="{2B72163D-2949-4563-8835-B5A6BF3A1808}">
          <p14:sldIdLst/>
        </p14:section>
        <p14:section name="Project development team" id="{0165734E-D582-475F-8D8F-D8390D9A02F3}">
          <p14:sldIdLst/>
        </p14:section>
        <p14:section name="foundation team" id="{6CF20BCC-30C5-49D5-BB67-A7F7C47F67D3}">
          <p14:sldIdLst/>
        </p14:section>
        <p14:section name="loads &amp; dynamics team" id="{B2556EC8-272D-48A5-B94D-86DE413BDD53}">
          <p14:sldIdLst/>
        </p14:section>
        <p14:section name="tower structure team" id="{B080B7D5-51DE-4691-A612-847AD1AAFC82}">
          <p14:sldIdLst>
            <p14:sldId id="300"/>
            <p14:sldId id="301"/>
            <p14:sldId id="303"/>
            <p14:sldId id="328"/>
            <p14:sldId id="329"/>
            <p14:sldId id="322"/>
            <p14:sldId id="324"/>
            <p14:sldId id="325"/>
            <p14:sldId id="326"/>
            <p14:sldId id="327"/>
            <p14:sldId id="321"/>
            <p14:sldId id="330"/>
          </p14:sldIdLst>
        </p14:section>
        <p14:section name="rotor blade design" id="{B146C9B3-C78A-4A61-AAEC-721247ABE854}">
          <p14:sldIdLst/>
        </p14:section>
        <p14:section name="Rotor blades structure" id="{B442706D-6274-49C9-A7D1-C313276DB185}">
          <p14:sldIdLst/>
        </p14:section>
        <p14:section name="rotor hub and pitch system" id="{08747EF3-CA38-42EE-A1AF-7484E45039CE}">
          <p14:sldIdLst/>
        </p14:section>
        <p14:section name="electrical drivetrain" id="{1A5D22D2-BE65-4E6F-884C-4B877022F03F}">
          <p14:sldIdLst/>
        </p14:section>
        <p14:section name="rotor bearing system team" id="{DB3BAE13-317B-46D5-BF13-1546F7D1D6D4}">
          <p14:sldIdLst/>
        </p14:section>
        <p14:section name="GBC team" id="{62FD1619-6AFB-4D97-A60C-6FD16F62286D}">
          <p14:sldIdLst/>
        </p14:section>
        <p14:section name="Machine bed &amp; yaw team" id="{2739FDC4-7BC0-4D24-A2DB-018568B325C8}">
          <p14:sldIdLst/>
        </p14:section>
        <p14:section name="feedback controller team" id="{6415024D-93AC-4C7E-84F4-D0225312DA45}">
          <p14:sldIdLst/>
        </p14:section>
        <p14:section name="grid code team" id="{FD3B8E82-6082-4521-B98B-5BAB918F1115}">
          <p14:sldIdLst/>
        </p14:section>
        <p14:section name="bibliography" id="{2ECB0A3B-7D16-4F98-AD6A-5308DF7BF078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1DFFD"/>
    <a:srgbClr val="FFFFFF"/>
    <a:srgbClr val="8ECEFA"/>
    <a:srgbClr val="92C6E6"/>
    <a:srgbClr val="80D2F7"/>
    <a:srgbClr val="7ED1F7"/>
    <a:srgbClr val="C0F5FF"/>
    <a:srgbClr val="3C96FA"/>
    <a:srgbClr val="BDE5F9"/>
    <a:srgbClr val="C1E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51" autoAdjust="0"/>
    <p:restoredTop sz="94660"/>
  </p:normalViewPr>
  <p:slideViewPr>
    <p:cSldViewPr snapToGrid="0">
      <p:cViewPr>
        <p:scale>
          <a:sx n="112" d="100"/>
          <a:sy n="112" d="100"/>
        </p:scale>
        <p:origin x="74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>
            <a:extLst>
              <a:ext uri="{FF2B5EF4-FFF2-40B4-BE49-F238E27FC236}">
                <a16:creationId xmlns:a16="http://schemas.microsoft.com/office/drawing/2014/main" id="{F984966E-98CC-6A78-1424-04B6E1F2673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9153D721-EFB9-BC0E-1DC1-4F7A40F3125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753E7D-EEC7-43DF-AF05-49FE1E0C7B25}" type="datetimeFigureOut">
              <a:rPr lang="de-DE" smtClean="0"/>
              <a:t>07.12.2025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7BF23EC-0BC1-545E-D00A-3466D80002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716600C-B63A-8960-82FD-8DC4BB46C81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1B05C7-DCB9-437C-9E32-70E813415345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950978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52B7C8-164C-4140-932B-122F288D33CD}" type="datetimeFigureOut">
              <a:rPr lang="en-GB" smtClean="0"/>
              <a:t>07/12/2025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3327E-A3FE-4279-B080-AD6DAF9EDC3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56791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ybib.com/tools/ieee-citation-generator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8.jpg"/><Relationship Id="rId5" Type="http://schemas.openxmlformats.org/officeDocument/2006/relationships/image" Target="../media/image7.png"/><Relationship Id="rId4" Type="http://schemas.openxmlformats.org/officeDocument/2006/relationships/image" Target="../media/image3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of tea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458857" y="1978025"/>
            <a:ext cx="4894943" cy="4351338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200"/>
            </a:lvl1pPr>
            <a:lvl2pPr marL="457200" indent="0">
              <a:buFont typeface="Arial" panose="020B0604020202020204" pitchFamily="34" charset="0"/>
              <a:buNone/>
              <a:defRPr sz="2200"/>
            </a:lvl2pPr>
          </a:lstStyle>
          <a:p>
            <a:pPr lvl="1"/>
            <a:r>
              <a:rPr lang="de-DE" dirty="0"/>
              <a:t>12. </a:t>
            </a:r>
            <a:r>
              <a:rPr lang="de-DE" dirty="0" err="1"/>
              <a:t>Machine</a:t>
            </a:r>
            <a:r>
              <a:rPr lang="de-DE" dirty="0"/>
              <a:t> </a:t>
            </a:r>
            <a:r>
              <a:rPr lang="de-DE" dirty="0" err="1"/>
              <a:t>Bed</a:t>
            </a:r>
            <a:r>
              <a:rPr lang="de-DE" dirty="0"/>
              <a:t> &amp; Yaw System  </a:t>
            </a:r>
          </a:p>
          <a:p>
            <a:pPr lvl="1"/>
            <a:r>
              <a:rPr lang="de-DE" dirty="0"/>
              <a:t>13. Tower  </a:t>
            </a:r>
          </a:p>
          <a:p>
            <a:pPr lvl="1"/>
            <a:r>
              <a:rPr lang="de-DE" dirty="0"/>
              <a:t>14. </a:t>
            </a:r>
            <a:r>
              <a:rPr lang="de-DE" dirty="0" err="1"/>
              <a:t>Foundation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15. Storage System 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en-GB" dirty="0"/>
              <a:t>Teams</a:t>
            </a:r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D2466CB9-E665-36BA-2132-8519CA303C9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838200" y="1978025"/>
            <a:ext cx="4894943" cy="4351338"/>
          </a:xfrm>
        </p:spPr>
        <p:txBody>
          <a:bodyPr>
            <a:normAutofit/>
          </a:bodyPr>
          <a:lstStyle>
            <a:lvl1pPr marL="514350" indent="-514350">
              <a:buFont typeface="+mj-lt"/>
              <a:buAutoNum type="arabicPeriod"/>
              <a:defRPr sz="2200"/>
            </a:lvl1pPr>
            <a:lvl2pPr marL="457200" indent="0" algn="l">
              <a:buFont typeface="Arial" panose="020B0604020202020204" pitchFamily="34" charset="0"/>
              <a:buNone/>
              <a:defRPr sz="2200"/>
            </a:lvl2pPr>
          </a:lstStyle>
          <a:p>
            <a:pPr lvl="1"/>
            <a:r>
              <a:rPr lang="de-DE" dirty="0"/>
              <a:t>1.  </a:t>
            </a:r>
            <a:r>
              <a:rPr lang="de-DE" dirty="0" err="1"/>
              <a:t>Windfarm</a:t>
            </a:r>
            <a:r>
              <a:rPr lang="de-DE" dirty="0"/>
              <a:t> Project Development  </a:t>
            </a:r>
          </a:p>
          <a:p>
            <a:pPr lvl="1"/>
            <a:r>
              <a:rPr lang="de-DE" dirty="0"/>
              <a:t>2.  Loads and Dynamics  </a:t>
            </a:r>
          </a:p>
          <a:p>
            <a:pPr lvl="1"/>
            <a:r>
              <a:rPr lang="de-DE" dirty="0"/>
              <a:t>3.  Feedback Controller  </a:t>
            </a:r>
          </a:p>
          <a:p>
            <a:pPr lvl="1"/>
            <a:r>
              <a:rPr lang="de-DE" dirty="0"/>
              <a:t>4.  Lidar-</a:t>
            </a:r>
            <a:r>
              <a:rPr lang="de-DE" dirty="0" err="1"/>
              <a:t>Assisted</a:t>
            </a:r>
            <a:r>
              <a:rPr lang="de-DE" dirty="0"/>
              <a:t> Controller  </a:t>
            </a:r>
          </a:p>
          <a:p>
            <a:pPr lvl="1"/>
            <a:r>
              <a:rPr lang="de-DE" dirty="0"/>
              <a:t>5.  Rotor Blade </a:t>
            </a:r>
            <a:r>
              <a:rPr lang="de-DE" dirty="0" err="1"/>
              <a:t>Aerodynamics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6.  Rotor Blade </a:t>
            </a:r>
            <a:r>
              <a:rPr lang="de-DE" dirty="0" err="1"/>
              <a:t>Structures</a:t>
            </a:r>
            <a:r>
              <a:rPr lang="de-DE" dirty="0"/>
              <a:t>  </a:t>
            </a:r>
          </a:p>
          <a:p>
            <a:pPr lvl="1"/>
            <a:r>
              <a:rPr lang="de-DE" dirty="0"/>
              <a:t>7.  </a:t>
            </a:r>
            <a:r>
              <a:rPr lang="de-DE" dirty="0" err="1"/>
              <a:t>Electrical</a:t>
            </a:r>
            <a:r>
              <a:rPr lang="de-DE" dirty="0"/>
              <a:t> </a:t>
            </a:r>
            <a:r>
              <a:rPr lang="de-DE" dirty="0" err="1"/>
              <a:t>Drivetrain</a:t>
            </a:r>
            <a:r>
              <a:rPr lang="de-DE" dirty="0"/>
              <a:t> (EDT)  </a:t>
            </a:r>
          </a:p>
          <a:p>
            <a:pPr lvl="1"/>
            <a:r>
              <a:rPr lang="de-DE" dirty="0"/>
              <a:t>8.  </a:t>
            </a:r>
            <a:r>
              <a:rPr lang="de-DE" dirty="0" err="1"/>
              <a:t>Grid</a:t>
            </a:r>
            <a:r>
              <a:rPr lang="de-DE" dirty="0"/>
              <a:t> Code Development (GCD)  </a:t>
            </a:r>
          </a:p>
          <a:p>
            <a:pPr lvl="1"/>
            <a:r>
              <a:rPr lang="de-DE" dirty="0"/>
              <a:t>9.  Rotor Hub &amp; Pitch System  </a:t>
            </a:r>
          </a:p>
          <a:p>
            <a:pPr lvl="1"/>
            <a:r>
              <a:rPr lang="de-DE" dirty="0"/>
              <a:t>10. Rotor </a:t>
            </a:r>
            <a:r>
              <a:rPr lang="de-DE" dirty="0" err="1"/>
              <a:t>Bearing</a:t>
            </a:r>
            <a:r>
              <a:rPr lang="de-DE" dirty="0"/>
              <a:t> System  </a:t>
            </a:r>
          </a:p>
          <a:p>
            <a:pPr lvl="1"/>
            <a:r>
              <a:rPr lang="de-DE" dirty="0"/>
              <a:t>11. </a:t>
            </a:r>
            <a:r>
              <a:rPr lang="de-DE" dirty="0" err="1"/>
              <a:t>Gearbox</a:t>
            </a:r>
            <a:r>
              <a:rPr lang="de-DE" dirty="0"/>
              <a:t>, Brake, Coupling  </a:t>
            </a:r>
          </a:p>
          <a:p>
            <a:pPr lvl="1"/>
            <a:r>
              <a:rPr lang="de-DE" dirty="0"/>
              <a:t>						</a:t>
            </a:r>
          </a:p>
        </p:txBody>
      </p: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FD841E35-8D66-8DA2-B806-8C18E5D2806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07/12/2025</a:t>
            </a:fld>
            <a:endParaRPr lang="en-GB" dirty="0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6C28938A-3748-78F8-3D01-B82DF87C9B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GB" dirty="0"/>
              <a:t>Optimus Syria</a:t>
            </a:r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3A903679-8273-AC0E-AD57-A9C78EE236F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933133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st of contents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/>
              <a:t>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(</a:t>
            </a:r>
            <a:r>
              <a:rPr lang="de-DE" dirty="0" err="1"/>
              <a:t>Aptos</a:t>
            </a:r>
            <a:r>
              <a:rPr lang="de-DE" dirty="0"/>
              <a:t>, 22)</a:t>
            </a:r>
          </a:p>
          <a:p>
            <a:pPr lvl="1"/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(</a:t>
            </a:r>
            <a:r>
              <a:rPr lang="de-DE" dirty="0" err="1"/>
              <a:t>Aptos</a:t>
            </a:r>
            <a:r>
              <a:rPr lang="de-DE" dirty="0"/>
              <a:t>, 20)</a:t>
            </a:r>
          </a:p>
          <a:p>
            <a:pPr lvl="0"/>
            <a:r>
              <a:rPr lang="de-DE" dirty="0"/>
              <a:t>X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List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contents</a:t>
            </a:r>
            <a:endParaRPr lang="en-GB" dirty="0"/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Isosceles Triangle 6">
            <a:extLst>
              <a:ext uri="{FF2B5EF4-FFF2-40B4-BE49-F238E27FC236}">
                <a16:creationId xmlns:a16="http://schemas.microsoft.com/office/drawing/2014/main" id="{170C5CF7-7129-6BD6-B815-EAF32508EFB5}"/>
              </a:ext>
            </a:extLst>
          </p:cNvPr>
          <p:cNvSpPr/>
          <p:nvPr userDrawn="1"/>
        </p:nvSpPr>
        <p:spPr>
          <a:xfrm>
            <a:off x="5218873" y="2853022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3" name="Rectangle 7">
            <a:extLst>
              <a:ext uri="{FF2B5EF4-FFF2-40B4-BE49-F238E27FC236}">
                <a16:creationId xmlns:a16="http://schemas.microsoft.com/office/drawing/2014/main" id="{C7BE5E88-0734-5426-D3DF-C7901A7359D4}"/>
              </a:ext>
            </a:extLst>
          </p:cNvPr>
          <p:cNvSpPr/>
          <p:nvPr userDrawn="1"/>
        </p:nvSpPr>
        <p:spPr>
          <a:xfrm>
            <a:off x="4025317" y="4094711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an </a:t>
            </a:r>
            <a:r>
              <a:rPr lang="it-IT" dirty="0" err="1"/>
              <a:t>example</a:t>
            </a:r>
            <a:r>
              <a:rPr lang="it-IT" dirty="0"/>
              <a:t> </a:t>
            </a:r>
            <a:r>
              <a:rPr lang="it-IT" b="1" dirty="0"/>
              <a:t>BUT</a:t>
            </a:r>
            <a:br>
              <a:rPr lang="it-IT" dirty="0"/>
            </a:br>
            <a:r>
              <a:rPr lang="it-IT" dirty="0"/>
              <a:t>use the </a:t>
            </a:r>
            <a:r>
              <a:rPr lang="it-IT" dirty="0" err="1"/>
              <a:t>same</a:t>
            </a:r>
            <a:r>
              <a:rPr lang="it-IT" dirty="0"/>
              <a:t> style and short, concise bullet points) </a:t>
            </a:r>
            <a:br>
              <a:rPr lang="it-IT" dirty="0"/>
            </a:br>
            <a:r>
              <a:rPr lang="it-IT" dirty="0" err="1"/>
              <a:t>Only</a:t>
            </a:r>
            <a:r>
              <a:rPr lang="it-IT" dirty="0"/>
              <a:t> </a:t>
            </a:r>
            <a:r>
              <a:rPr lang="it-IT" dirty="0" err="1"/>
              <a:t>topics</a:t>
            </a:r>
            <a:r>
              <a:rPr lang="it-IT" dirty="0"/>
              <a:t> for the 4 min </a:t>
            </a:r>
            <a:r>
              <a:rPr lang="it-IT" dirty="0" err="1"/>
              <a:t>timeslot</a:t>
            </a:r>
            <a:r>
              <a:rPr lang="it-IT" dirty="0"/>
              <a:t>!</a:t>
            </a:r>
            <a:endParaRPr lang="en-GB" dirty="0"/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11100C08-BD4D-E3E4-CE88-2FD7DF2770C3}"/>
              </a:ext>
            </a:extLst>
          </p:cNvPr>
          <p:cNvSpPr/>
          <p:nvPr userDrawn="1"/>
        </p:nvSpPr>
        <p:spPr>
          <a:xfrm>
            <a:off x="5727842" y="3001184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65B86036-57A0-C8C5-C8BB-699A37ABA2A8}"/>
              </a:ext>
            </a:extLst>
          </p:cNvPr>
          <p:cNvSpPr/>
          <p:nvPr userDrawn="1"/>
        </p:nvSpPr>
        <p:spPr>
          <a:xfrm>
            <a:off x="908165" y="3299037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64195E91-DEC0-2198-8D7F-F5D7511FB31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07/12/2025</a:t>
            </a:fld>
            <a:endParaRPr lang="en-GB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0EC107A6-E0D9-69FD-44BC-CFD5F05D7C83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5" name="Foliennummernplatzhalter 14">
            <a:extLst>
              <a:ext uri="{FF2B5EF4-FFF2-40B4-BE49-F238E27FC236}">
                <a16:creationId xmlns:a16="http://schemas.microsoft.com/office/drawing/2014/main" id="{8CC2EBC5-DD43-6B7E-A5D7-5CD5B0E30A5C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E7DFBCC3-CC46-17B2-DF15-92940A3865D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9848582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ist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8B5CAFF-79AF-87AE-7EAE-604CC93E764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10515600" cy="4351338"/>
          </a:xfrm>
        </p:spPr>
        <p:txBody>
          <a:bodyPr/>
          <a:lstStyle>
            <a:lvl1pPr marL="514350" indent="-514350">
              <a:buFont typeface="+mj-lt"/>
              <a:buAutoNum type="arabicPeriod"/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/>
              <a:t>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  <a:p>
            <a:pPr lvl="1"/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  <a:p>
            <a:pPr lvl="0"/>
            <a:r>
              <a:rPr lang="de-DE" dirty="0"/>
              <a:t>X</a:t>
            </a:r>
          </a:p>
          <a:p>
            <a:pPr lvl="1"/>
            <a:endParaRPr lang="de-DE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562E2414-A9F3-5C69-E3A8-481E091525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</p:spPr>
        <p:txBody>
          <a:bodyPr/>
          <a:lstStyle>
            <a:lvl1pPr>
              <a:defRPr/>
            </a:lvl1pPr>
          </a:lstStyle>
          <a:p>
            <a:r>
              <a:rPr lang="de-DE" dirty="0"/>
              <a:t>List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contents</a:t>
            </a:r>
            <a:endParaRPr lang="en-GB" dirty="0"/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66EB7C6A-45A8-A327-54B4-9E3A0BCAC0B4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8F6D1F16-A947-CEE2-C58A-50217E9017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07/12/2025</a:t>
            </a:fld>
            <a:endParaRPr lang="en-GB" dirty="0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873EF994-6CA7-B763-F215-A7D1723E2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67F2F56B-9E4F-A460-92A9-87055C42B8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4" name="Textplatzhalter 16">
            <a:extLst>
              <a:ext uri="{FF2B5EF4-FFF2-40B4-BE49-F238E27FC236}">
                <a16:creationId xmlns:a16="http://schemas.microsoft.com/office/drawing/2014/main" id="{3A8B7922-CD64-E421-B5E5-B7BA56CBCB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754527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1. 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, 22)</a:t>
            </a:r>
          </a:p>
          <a:p>
            <a:pPr marL="971550" marR="0" lvl="1" indent="-51435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+mj-lt"/>
              <a:buAutoNum type="romanLcPeriod"/>
              <a:tabLst/>
              <a:defRPr/>
            </a:pPr>
            <a:r>
              <a:rPr lang="de-DE" dirty="0" err="1"/>
              <a:t>efgh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, 20)</a:t>
            </a:r>
          </a:p>
          <a:p>
            <a:pPr lvl="1"/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Isosceles Triangle 6">
            <a:extLst>
              <a:ext uri="{FF2B5EF4-FFF2-40B4-BE49-F238E27FC236}">
                <a16:creationId xmlns:a16="http://schemas.microsoft.com/office/drawing/2014/main" id="{3272B118-64EE-99BB-8728-CE26B185DCFC}"/>
              </a:ext>
            </a:extLst>
          </p:cNvPr>
          <p:cNvSpPr/>
          <p:nvPr userDrawn="1"/>
        </p:nvSpPr>
        <p:spPr>
          <a:xfrm>
            <a:off x="8353959" y="1690688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CCA8528F-A469-ED70-E9CA-F25798C1A305}"/>
              </a:ext>
            </a:extLst>
          </p:cNvPr>
          <p:cNvSpPr/>
          <p:nvPr userDrawn="1"/>
        </p:nvSpPr>
        <p:spPr>
          <a:xfrm>
            <a:off x="2209800" y="3095720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Use [1], [2], [3] for </a:t>
            </a:r>
            <a:r>
              <a:rPr lang="it-IT" dirty="0" err="1"/>
              <a:t>everything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have</a:t>
            </a:r>
            <a:r>
              <a:rPr lang="it-IT" dirty="0"/>
              <a:t> from a source (</a:t>
            </a:r>
            <a:r>
              <a:rPr lang="it-IT" dirty="0" err="1"/>
              <a:t>numbers</a:t>
            </a:r>
            <a:r>
              <a:rPr lang="it-IT" dirty="0"/>
              <a:t> </a:t>
            </a:r>
            <a:r>
              <a:rPr lang="it-IT" dirty="0" err="1"/>
              <a:t>should</a:t>
            </a:r>
            <a:r>
              <a:rPr lang="it-IT" dirty="0"/>
              <a:t> be the </a:t>
            </a:r>
            <a:r>
              <a:rPr lang="it-IT" dirty="0" err="1"/>
              <a:t>same</a:t>
            </a:r>
            <a:r>
              <a:rPr lang="it-IT" dirty="0"/>
              <a:t> like in the </a:t>
            </a:r>
            <a:r>
              <a:rPr lang="it-IT" dirty="0" err="1"/>
              <a:t>bibliography</a:t>
            </a:r>
            <a:r>
              <a:rPr lang="it-IT" dirty="0"/>
              <a:t>) (</a:t>
            </a:r>
            <a:r>
              <a:rPr lang="it-IT" dirty="0" err="1"/>
              <a:t>incl</a:t>
            </a:r>
            <a:r>
              <a:rPr lang="it-IT" dirty="0"/>
              <a:t>. pictures /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created</a:t>
            </a:r>
            <a:r>
              <a:rPr lang="it-IT" dirty="0"/>
              <a:t> </a:t>
            </a:r>
            <a:r>
              <a:rPr lang="it-IT" dirty="0" err="1"/>
              <a:t>them</a:t>
            </a:r>
            <a:r>
              <a:rPr lang="it-IT" dirty="0"/>
              <a:t> by </a:t>
            </a:r>
            <a:r>
              <a:rPr lang="it-IT" dirty="0" err="1"/>
              <a:t>your</a:t>
            </a:r>
            <a:r>
              <a:rPr lang="it-IT" dirty="0"/>
              <a:t> </a:t>
            </a:r>
            <a:r>
              <a:rPr lang="it-IT" dirty="0" err="1"/>
              <a:t>own</a:t>
            </a:r>
            <a:r>
              <a:rPr lang="it-IT" dirty="0"/>
              <a:t>, </a:t>
            </a:r>
            <a:r>
              <a:rPr lang="it-IT" dirty="0" err="1"/>
              <a:t>declare</a:t>
            </a:r>
            <a:r>
              <a:rPr lang="it-IT" dirty="0"/>
              <a:t> </a:t>
            </a:r>
            <a:r>
              <a:rPr lang="it-IT" dirty="0" err="1"/>
              <a:t>them</a:t>
            </a:r>
            <a:r>
              <a:rPr lang="it-IT" dirty="0"/>
              <a:t> </a:t>
            </a:r>
            <a:r>
              <a:rPr lang="it-IT" dirty="0" err="1"/>
              <a:t>as</a:t>
            </a:r>
            <a:r>
              <a:rPr lang="it-IT" dirty="0"/>
              <a:t> a </a:t>
            </a:r>
            <a:r>
              <a:rPr lang="it-IT" dirty="0" err="1"/>
              <a:t>thing</a:t>
            </a:r>
            <a:r>
              <a:rPr lang="it-IT" dirty="0"/>
              <a:t> </a:t>
            </a:r>
            <a:r>
              <a:rPr lang="it-IT" dirty="0" err="1"/>
              <a:t>you’ve</a:t>
            </a:r>
            <a:r>
              <a:rPr lang="it-IT" dirty="0"/>
              <a:t> </a:t>
            </a:r>
            <a:r>
              <a:rPr lang="it-IT" dirty="0" err="1"/>
              <a:t>done</a:t>
            </a:r>
            <a:r>
              <a:rPr lang="it-IT" dirty="0"/>
              <a:t> ) [Style </a:t>
            </a:r>
            <a:r>
              <a:rPr lang="it-IT" dirty="0" err="1"/>
              <a:t>Aptos</a:t>
            </a:r>
            <a:r>
              <a:rPr lang="it-IT" dirty="0"/>
              <a:t>/14]</a:t>
            </a:r>
            <a:endParaRPr lang="en-GB" dirty="0"/>
          </a:p>
        </p:txBody>
      </p:sp>
      <p:sp>
        <p:nvSpPr>
          <p:cNvPr id="10" name="Rectangle 11">
            <a:extLst>
              <a:ext uri="{FF2B5EF4-FFF2-40B4-BE49-F238E27FC236}">
                <a16:creationId xmlns:a16="http://schemas.microsoft.com/office/drawing/2014/main" id="{E1F8C099-06EF-7661-9A3C-60FE5CD4C5D5}"/>
              </a:ext>
            </a:extLst>
          </p:cNvPr>
          <p:cNvSpPr/>
          <p:nvPr userDrawn="1"/>
        </p:nvSpPr>
        <p:spPr>
          <a:xfrm>
            <a:off x="8862928" y="1838850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11" name="Rectangle 7">
            <a:extLst>
              <a:ext uri="{FF2B5EF4-FFF2-40B4-BE49-F238E27FC236}">
                <a16:creationId xmlns:a16="http://schemas.microsoft.com/office/drawing/2014/main" id="{6E31FDF0-C963-BED4-C97E-FF9F67C07D21}"/>
              </a:ext>
            </a:extLst>
          </p:cNvPr>
          <p:cNvSpPr/>
          <p:nvPr userDrawn="1"/>
        </p:nvSpPr>
        <p:spPr>
          <a:xfrm>
            <a:off x="7312803" y="3084777"/>
            <a:ext cx="3933255" cy="232786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an </a:t>
            </a:r>
            <a:r>
              <a:rPr lang="it-IT" dirty="0" err="1"/>
              <a:t>example</a:t>
            </a:r>
            <a:r>
              <a:rPr lang="it-IT" dirty="0"/>
              <a:t> </a:t>
            </a:r>
            <a:r>
              <a:rPr lang="it-IT" b="1" dirty="0"/>
              <a:t>BUT</a:t>
            </a:r>
          </a:p>
          <a:p>
            <a:pPr algn="ctr"/>
            <a:r>
              <a:rPr lang="it-IT" dirty="0"/>
              <a:t>an </a:t>
            </a:r>
            <a:r>
              <a:rPr lang="it-IT" dirty="0" err="1"/>
              <a:t>intial</a:t>
            </a:r>
            <a:r>
              <a:rPr lang="it-IT" dirty="0"/>
              <a:t> slide with </a:t>
            </a:r>
            <a:r>
              <a:rPr lang="it-IT" dirty="0" err="1"/>
              <a:t>all</a:t>
            </a:r>
            <a:r>
              <a:rPr lang="it-IT" dirty="0"/>
              <a:t> the tasks </a:t>
            </a:r>
            <a:r>
              <a:rPr lang="it-IT" dirty="0" err="1"/>
              <a:t>completed</a:t>
            </a:r>
            <a:r>
              <a:rPr lang="it-IT" dirty="0"/>
              <a:t> for the week </a:t>
            </a:r>
            <a:r>
              <a:rPr lang="it-IT" dirty="0" err="1"/>
              <a:t>should</a:t>
            </a:r>
            <a:r>
              <a:rPr lang="it-IT" dirty="0"/>
              <a:t> </a:t>
            </a:r>
            <a:r>
              <a:rPr lang="it-IT" dirty="0" err="1"/>
              <a:t>always</a:t>
            </a:r>
            <a:r>
              <a:rPr lang="it-IT" dirty="0"/>
              <a:t> be </a:t>
            </a:r>
            <a:r>
              <a:rPr lang="it-IT" dirty="0" err="1"/>
              <a:t>included</a:t>
            </a:r>
            <a:br>
              <a:rPr lang="it-IT" dirty="0"/>
            </a:br>
            <a:r>
              <a:rPr lang="it-IT" dirty="0"/>
              <a:t>Use the </a:t>
            </a:r>
            <a:r>
              <a:rPr lang="it-IT" dirty="0" err="1"/>
              <a:t>same</a:t>
            </a:r>
            <a:r>
              <a:rPr lang="it-IT" dirty="0"/>
              <a:t> style, do </a:t>
            </a:r>
            <a:r>
              <a:rPr lang="it-IT" dirty="0" err="1"/>
              <a:t>not</a:t>
            </a:r>
            <a:r>
              <a:rPr lang="it-IT" dirty="0"/>
              <a:t> </a:t>
            </a:r>
            <a:r>
              <a:rPr lang="it-IT" dirty="0" err="1"/>
              <a:t>write</a:t>
            </a:r>
            <a:r>
              <a:rPr lang="it-IT" dirty="0"/>
              <a:t> more text </a:t>
            </a:r>
            <a:r>
              <a:rPr lang="it-IT" dirty="0" err="1"/>
              <a:t>than</a:t>
            </a:r>
            <a:r>
              <a:rPr lang="it-IT" dirty="0"/>
              <a:t> </a:t>
            </a:r>
            <a:r>
              <a:rPr lang="it-IT" dirty="0" err="1"/>
              <a:t>necessary</a:t>
            </a:r>
            <a:r>
              <a:rPr lang="it-IT" dirty="0"/>
              <a:t> (short, concise bullet points are </a:t>
            </a:r>
            <a:r>
              <a:rPr lang="it-IT" dirty="0" err="1"/>
              <a:t>often</a:t>
            </a:r>
            <a:r>
              <a:rPr lang="it-IT" dirty="0"/>
              <a:t> </a:t>
            </a:r>
            <a:r>
              <a:rPr lang="it-IT" dirty="0" err="1"/>
              <a:t>enough</a:t>
            </a:r>
            <a:r>
              <a:rPr lang="it-IT" dirty="0"/>
              <a:t>)</a:t>
            </a:r>
            <a:endParaRPr lang="en-GB" dirty="0"/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5BA9FE0F-4438-A90E-178E-370DFB88F067}"/>
              </a:ext>
            </a:extLst>
          </p:cNvPr>
          <p:cNvSpPr txBox="1"/>
          <p:nvPr userDrawn="1"/>
        </p:nvSpPr>
        <p:spPr>
          <a:xfrm>
            <a:off x="812800" y="6219031"/>
            <a:ext cx="21209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/>
              <a:t>[1], [2]….</a:t>
            </a:r>
          </a:p>
        </p:txBody>
      </p:sp>
      <p:cxnSp>
        <p:nvCxnSpPr>
          <p:cNvPr id="13" name="Straight Arrow Connector 21">
            <a:extLst>
              <a:ext uri="{FF2B5EF4-FFF2-40B4-BE49-F238E27FC236}">
                <a16:creationId xmlns:a16="http://schemas.microsoft.com/office/drawing/2014/main" id="{C9F1C9AE-6377-666B-8F06-CF0B8B317160}"/>
              </a:ext>
            </a:extLst>
          </p:cNvPr>
          <p:cNvCxnSpPr>
            <a:cxnSpLocks/>
          </p:cNvCxnSpPr>
          <p:nvPr userDrawn="1"/>
        </p:nvCxnSpPr>
        <p:spPr>
          <a:xfrm flipH="1">
            <a:off x="1502229" y="4898571"/>
            <a:ext cx="1487714" cy="131838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7">
            <a:extLst>
              <a:ext uri="{FF2B5EF4-FFF2-40B4-BE49-F238E27FC236}">
                <a16:creationId xmlns:a16="http://schemas.microsoft.com/office/drawing/2014/main" id="{8C56F642-24B4-9889-6DFF-DDDACEFB7E68}"/>
              </a:ext>
            </a:extLst>
          </p:cNvPr>
          <p:cNvSpPr/>
          <p:nvPr userDrawn="1"/>
        </p:nvSpPr>
        <p:spPr>
          <a:xfrm>
            <a:off x="5256400" y="1634301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5" name="Datumsplatzhalter 14">
            <a:extLst>
              <a:ext uri="{FF2B5EF4-FFF2-40B4-BE49-F238E27FC236}">
                <a16:creationId xmlns:a16="http://schemas.microsoft.com/office/drawing/2014/main" id="{F5B6D5E1-3173-F7DB-AFEA-577613F3A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07/12/2025</a:t>
            </a:fld>
            <a:endParaRPr lang="en-GB" dirty="0"/>
          </a:p>
        </p:txBody>
      </p:sp>
      <p:sp>
        <p:nvSpPr>
          <p:cNvPr id="16" name="Fußzeilenplatzhalter 15">
            <a:extLst>
              <a:ext uri="{FF2B5EF4-FFF2-40B4-BE49-F238E27FC236}">
                <a16:creationId xmlns:a16="http://schemas.microsoft.com/office/drawing/2014/main" id="{4201E827-9609-58AA-70BC-996E2AD05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7" name="Foliennummernplatzhalter 16">
            <a:extLst>
              <a:ext uri="{FF2B5EF4-FFF2-40B4-BE49-F238E27FC236}">
                <a16:creationId xmlns:a16="http://schemas.microsoft.com/office/drawing/2014/main" id="{DE013F6E-0CEE-85C3-4AD1-ADEED88F5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8" name="Textplatzhalter 16">
            <a:extLst>
              <a:ext uri="{FF2B5EF4-FFF2-40B4-BE49-F238E27FC236}">
                <a16:creationId xmlns:a16="http://schemas.microsoft.com/office/drawing/2014/main" id="{4C7AB516-D061-772D-6849-99EBB446891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9303942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1. Title, </a:t>
            </a:r>
            <a:r>
              <a:rPr lang="de-DE" dirty="0" err="1"/>
              <a:t>example</a:t>
            </a:r>
            <a:r>
              <a:rPr lang="de-DE" dirty="0"/>
              <a:t>: Tasks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r>
              <a:rPr lang="de-DE" dirty="0"/>
              <a:t>  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endParaRPr lang="de-DE" dirty="0"/>
          </a:p>
          <a:p>
            <a:pPr lvl="1"/>
            <a:r>
              <a:rPr lang="de-DE" dirty="0" err="1"/>
              <a:t>efgh</a:t>
            </a:r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platzhalter 16">
            <a:extLst>
              <a:ext uri="{FF2B5EF4-FFF2-40B4-BE49-F238E27FC236}">
                <a16:creationId xmlns:a16="http://schemas.microsoft.com/office/drawing/2014/main" id="{479D6A9B-7716-D398-EE18-2F2D6AC11B70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45BE17EA-55E6-D579-4D1F-7901F944C6AA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07/12/2025</a:t>
            </a:fld>
            <a:endParaRPr lang="en-GB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810CEF70-3482-4FC0-A3A4-7FB408C94A42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4879E7A9-C563-396E-C6B6-B45497D433BD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9AB8CDF8-03C0-DF20-0ABC-80A78BDABFB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9023" y="6216958"/>
            <a:ext cx="2248453" cy="309850"/>
          </a:xfrm>
        </p:spPr>
        <p:txBody>
          <a:bodyPr/>
          <a:lstStyle>
            <a:lvl2pPr marL="457200" indent="0">
              <a:buNone/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[1], [2]….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8435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bitem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1-i. </a:t>
            </a:r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 22)</a:t>
            </a:r>
          </a:p>
          <a:p>
            <a:pPr lvl="1"/>
            <a:r>
              <a:rPr lang="de-DE" dirty="0" err="1"/>
              <a:t>efgh</a:t>
            </a:r>
            <a:r>
              <a:rPr lang="de-DE" dirty="0"/>
              <a:t> (</a:t>
            </a:r>
            <a:r>
              <a:rPr lang="de-DE" dirty="0" err="1"/>
              <a:t>Aptos</a:t>
            </a:r>
            <a:r>
              <a:rPr lang="de-DE" dirty="0"/>
              <a:t> 20)</a:t>
            </a:r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Isosceles Triangle 6">
            <a:extLst>
              <a:ext uri="{FF2B5EF4-FFF2-40B4-BE49-F238E27FC236}">
                <a16:creationId xmlns:a16="http://schemas.microsoft.com/office/drawing/2014/main" id="{703A19AF-E449-D353-12E1-A3DAF32E3EAB}"/>
              </a:ext>
            </a:extLst>
          </p:cNvPr>
          <p:cNvSpPr/>
          <p:nvPr userDrawn="1"/>
        </p:nvSpPr>
        <p:spPr>
          <a:xfrm>
            <a:off x="5218873" y="2853022"/>
            <a:ext cx="1546144" cy="1209996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id="{650D751B-3D4C-8864-D7F4-6EC8348A31EE}"/>
              </a:ext>
            </a:extLst>
          </p:cNvPr>
          <p:cNvSpPr/>
          <p:nvPr userDrawn="1"/>
        </p:nvSpPr>
        <p:spPr>
          <a:xfrm>
            <a:off x="4025317" y="4094711"/>
            <a:ext cx="3933255" cy="1298198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an </a:t>
            </a:r>
            <a:r>
              <a:rPr lang="it-IT" dirty="0" err="1"/>
              <a:t>example</a:t>
            </a:r>
            <a:r>
              <a:rPr lang="it-IT" dirty="0"/>
              <a:t> BUT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use </a:t>
            </a:r>
            <a:r>
              <a:rPr lang="it-IT" dirty="0" err="1"/>
              <a:t>underpoints</a:t>
            </a:r>
            <a:r>
              <a:rPr lang="it-IT" dirty="0"/>
              <a:t> </a:t>
            </a:r>
            <a:r>
              <a:rPr lang="it-IT" dirty="0" err="1"/>
              <a:t>please</a:t>
            </a:r>
            <a:r>
              <a:rPr lang="it-IT" dirty="0"/>
              <a:t> with the i, ii, iii….</a:t>
            </a:r>
            <a:endParaRPr lang="en-GB" dirty="0"/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9BDEC9EB-F30A-F42A-26C3-F9AE08765705}"/>
              </a:ext>
            </a:extLst>
          </p:cNvPr>
          <p:cNvSpPr/>
          <p:nvPr userDrawn="1"/>
        </p:nvSpPr>
        <p:spPr>
          <a:xfrm>
            <a:off x="5727842" y="3001184"/>
            <a:ext cx="542886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4BA2A1-6BBA-CA7A-578A-6529C5AD3CFE}"/>
              </a:ext>
            </a:extLst>
          </p:cNvPr>
          <p:cNvSpPr/>
          <p:nvPr userDrawn="1"/>
        </p:nvSpPr>
        <p:spPr>
          <a:xfrm>
            <a:off x="927758" y="2796999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19E5AF50-94A3-4308-3B68-BAD76E7A7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07/12/2025</a:t>
            </a:fld>
            <a:endParaRPr lang="en-GB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9798D87B-B794-AD8A-40F1-DEA4D547F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5E6253E5-E305-7986-3017-8FAC6F34DD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5" name="Textplatzhalter 16">
            <a:extLst>
              <a:ext uri="{FF2B5EF4-FFF2-40B4-BE49-F238E27FC236}">
                <a16:creationId xmlns:a16="http://schemas.microsoft.com/office/drawing/2014/main" id="{7E202380-1BD6-7A10-C51A-497A42391B9C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7732677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ubit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748CB4A-E85F-FC1F-2439-52B071A98EB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lang="de-DE" dirty="0"/>
              <a:t>1-i. </a:t>
            </a:r>
            <a:r>
              <a:rPr lang="de-DE" dirty="0" err="1"/>
              <a:t>Example</a:t>
            </a:r>
            <a:r>
              <a:rPr lang="de-DE" dirty="0"/>
              <a:t>: </a:t>
            </a:r>
            <a:r>
              <a:rPr lang="de-DE" dirty="0" err="1"/>
              <a:t>Drawings</a:t>
            </a:r>
            <a:r>
              <a:rPr lang="de-DE" dirty="0"/>
              <a:t> </a:t>
            </a:r>
            <a:r>
              <a:rPr lang="de-DE" dirty="0" err="1"/>
              <a:t>from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week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4216958-F611-9E4F-AA4F-56999F637A75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defRPr sz="2200"/>
            </a:lvl1pPr>
            <a:lvl2pPr marL="971550" indent="-514350">
              <a:buFont typeface="+mj-lt"/>
              <a:buAutoNum type="romanLcPeriod"/>
              <a:defRPr sz="2000"/>
            </a:lvl2pPr>
          </a:lstStyle>
          <a:p>
            <a:pPr lvl="0"/>
            <a:r>
              <a:rPr lang="de-DE" dirty="0" err="1"/>
              <a:t>Abcd</a:t>
            </a:r>
            <a:endParaRPr lang="de-DE" dirty="0"/>
          </a:p>
          <a:p>
            <a:pPr lvl="1"/>
            <a:r>
              <a:rPr lang="de-DE" dirty="0" err="1"/>
              <a:t>efgh</a:t>
            </a:r>
            <a:endParaRPr lang="de-DE" dirty="0"/>
          </a:p>
        </p:txBody>
      </p:sp>
      <p:cxnSp>
        <p:nvCxnSpPr>
          <p:cNvPr id="7" name="Straight Connector 5">
            <a:extLst>
              <a:ext uri="{FF2B5EF4-FFF2-40B4-BE49-F238E27FC236}">
                <a16:creationId xmlns:a16="http://schemas.microsoft.com/office/drawing/2014/main" id="{C5BF7EBE-3919-817C-149B-CF38705C6BC9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5228F91E-E7AD-B275-5A60-89428222D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07/12/2025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8F4F81C7-2C44-8CF8-2928-655E74DC8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260D8F3F-3088-D685-66AD-D2110FD40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29BD9540-0DAC-F607-0D84-145CAF084DC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  <p:sp>
        <p:nvSpPr>
          <p:cNvPr id="4" name="Textplatzhalter 4">
            <a:extLst>
              <a:ext uri="{FF2B5EF4-FFF2-40B4-BE49-F238E27FC236}">
                <a16:creationId xmlns:a16="http://schemas.microsoft.com/office/drawing/2014/main" id="{9943038B-A8F9-48D6-0A29-94D4AA659F6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49023" y="6216958"/>
            <a:ext cx="2248453" cy="309850"/>
          </a:xfrm>
        </p:spPr>
        <p:txBody>
          <a:bodyPr/>
          <a:lstStyle>
            <a:lvl2pPr marL="457200" indent="0">
              <a:buNone/>
              <a:defRPr/>
            </a:lvl2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[1], [2]….</a:t>
            </a:r>
          </a:p>
          <a:p>
            <a:pPr lvl="1"/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597331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C287-18A0-EB82-8A27-F94CA3880D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X. Graph</a:t>
            </a:r>
            <a:endParaRPr lang="en-GB" dirty="0"/>
          </a:p>
        </p:txBody>
      </p:sp>
      <p:pic>
        <p:nvPicPr>
          <p:cNvPr id="6" name="Picture 2" descr="How HOMER Calculates Wind Turbine Power Output">
            <a:extLst>
              <a:ext uri="{FF2B5EF4-FFF2-40B4-BE49-F238E27FC236}">
                <a16:creationId xmlns:a16="http://schemas.microsoft.com/office/drawing/2014/main" id="{002A61B1-6859-B9E0-5E8D-876C02B28C1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24" y="1939999"/>
            <a:ext cx="542925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70DEEB4B-BB48-7BA1-DC37-D3F70525E158}"/>
              </a:ext>
            </a:extLst>
          </p:cNvPr>
          <p:cNvSpPr txBox="1"/>
          <p:nvPr userDrawn="1"/>
        </p:nvSpPr>
        <p:spPr>
          <a:xfrm>
            <a:off x="764619" y="5102669"/>
            <a:ext cx="51874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/>
              <a:t>(</a:t>
            </a:r>
            <a:r>
              <a:rPr lang="it-IT" sz="1100" dirty="0" err="1"/>
              <a:t>Description</a:t>
            </a:r>
            <a:r>
              <a:rPr lang="it-IT" sz="1100" dirty="0"/>
              <a:t> of the </a:t>
            </a:r>
            <a:r>
              <a:rPr lang="it-IT" sz="1100" dirty="0" err="1"/>
              <a:t>graph</a:t>
            </a:r>
            <a:r>
              <a:rPr lang="it-IT" sz="1100" dirty="0"/>
              <a:t>, </a:t>
            </a:r>
            <a:r>
              <a:rPr lang="it-IT" sz="1100" dirty="0" err="1"/>
              <a:t>example</a:t>
            </a:r>
            <a:r>
              <a:rPr lang="it-IT" sz="1100" dirty="0"/>
              <a:t>: </a:t>
            </a:r>
            <a:r>
              <a:rPr lang="it-IT" sz="1100" i="1" dirty="0"/>
              <a:t>power curve power over wind speed</a:t>
            </a:r>
            <a:r>
              <a:rPr lang="it-IT" sz="1100" dirty="0"/>
              <a:t> )</a:t>
            </a:r>
          </a:p>
          <a:p>
            <a:r>
              <a:rPr lang="it-IT" sz="1100" dirty="0"/>
              <a:t>(</a:t>
            </a:r>
            <a:r>
              <a:rPr lang="it-IT" sz="1100" dirty="0" err="1"/>
              <a:t>Citation</a:t>
            </a:r>
            <a:r>
              <a:rPr lang="it-IT" sz="1100" dirty="0"/>
              <a:t> of the sources, </a:t>
            </a:r>
            <a:r>
              <a:rPr lang="it-IT" sz="1100" dirty="0" err="1"/>
              <a:t>example</a:t>
            </a:r>
            <a:r>
              <a:rPr lang="it-IT" sz="1100" dirty="0"/>
              <a:t>:</a:t>
            </a:r>
            <a:r>
              <a:rPr lang="it-IT" sz="1100" b="1" dirty="0"/>
              <a:t> </a:t>
            </a:r>
            <a:r>
              <a:rPr lang="it-IT" sz="1100" b="0" dirty="0"/>
              <a:t>[1] </a:t>
            </a:r>
            <a:r>
              <a:rPr lang="it-IT" sz="1100" dirty="0"/>
              <a:t>)  </a:t>
            </a:r>
          </a:p>
          <a:p>
            <a:r>
              <a:rPr lang="it-IT" sz="1100" dirty="0"/>
              <a:t>(Last date of access, </a:t>
            </a:r>
            <a:r>
              <a:rPr lang="it-IT" sz="1100" dirty="0" err="1"/>
              <a:t>example</a:t>
            </a:r>
            <a:r>
              <a:rPr lang="it-IT" sz="1100" dirty="0"/>
              <a:t>: 21/12/2015)</a:t>
            </a:r>
            <a:endParaRPr lang="en-GB" sz="1100" dirty="0"/>
          </a:p>
        </p:txBody>
      </p:sp>
      <p:cxnSp>
        <p:nvCxnSpPr>
          <p:cNvPr id="8" name="Connector: Elbow 6">
            <a:extLst>
              <a:ext uri="{FF2B5EF4-FFF2-40B4-BE49-F238E27FC236}">
                <a16:creationId xmlns:a16="http://schemas.microsoft.com/office/drawing/2014/main" id="{7A01EE56-12C5-DD96-C172-C145A0ED64CB}"/>
              </a:ext>
            </a:extLst>
          </p:cNvPr>
          <p:cNvCxnSpPr>
            <a:cxnSpLocks/>
          </p:cNvCxnSpPr>
          <p:nvPr userDrawn="1"/>
        </p:nvCxnSpPr>
        <p:spPr>
          <a:xfrm rot="10800000" flipV="1">
            <a:off x="3791371" y="4238699"/>
            <a:ext cx="4563205" cy="1222134"/>
          </a:xfrm>
          <a:prstGeom prst="bentConnector3">
            <a:avLst>
              <a:gd name="adj1" fmla="val 50000"/>
            </a:avLst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15">
            <a:extLst>
              <a:ext uri="{FF2B5EF4-FFF2-40B4-BE49-F238E27FC236}">
                <a16:creationId xmlns:a16="http://schemas.microsoft.com/office/drawing/2014/main" id="{EE3D1715-661B-80A0-F167-264ACC369A68}"/>
              </a:ext>
            </a:extLst>
          </p:cNvPr>
          <p:cNvSpPr/>
          <p:nvPr userDrawn="1"/>
        </p:nvSpPr>
        <p:spPr>
          <a:xfrm>
            <a:off x="7796637" y="3405202"/>
            <a:ext cx="3922209" cy="2011693"/>
          </a:xfrm>
          <a:prstGeom prst="ellipse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sz="1400" dirty="0" err="1"/>
              <a:t>Add</a:t>
            </a:r>
            <a:r>
              <a:rPr lang="it-IT" sz="1400" dirty="0"/>
              <a:t> a link to the </a:t>
            </a:r>
            <a:r>
              <a:rPr lang="it-IT" sz="1400" dirty="0" err="1"/>
              <a:t>reference</a:t>
            </a:r>
            <a:r>
              <a:rPr lang="it-IT" sz="1400" dirty="0"/>
              <a:t> </a:t>
            </a:r>
            <a:r>
              <a:rPr lang="it-IT" sz="1400" dirty="0" err="1"/>
              <a:t>number</a:t>
            </a:r>
            <a:r>
              <a:rPr lang="it-IT" sz="1400" dirty="0"/>
              <a:t> </a:t>
            </a:r>
            <a:r>
              <a:rPr lang="it-IT" sz="1400" dirty="0" err="1"/>
              <a:t>that</a:t>
            </a:r>
            <a:r>
              <a:rPr lang="it-IT" sz="1400" dirty="0"/>
              <a:t> </a:t>
            </a:r>
            <a:r>
              <a:rPr lang="it-IT" sz="1400" dirty="0" err="1"/>
              <a:t>goes</a:t>
            </a:r>
            <a:r>
              <a:rPr lang="it-IT" sz="1400" dirty="0"/>
              <a:t> to the last slide: highlight the </a:t>
            </a:r>
            <a:r>
              <a:rPr lang="it-IT" sz="1400" dirty="0" err="1"/>
              <a:t>number</a:t>
            </a:r>
            <a:r>
              <a:rPr lang="it-IT" sz="1400" dirty="0"/>
              <a:t>-&gt;</a:t>
            </a:r>
            <a:r>
              <a:rPr lang="it-IT" sz="1400" dirty="0" err="1"/>
              <a:t>right</a:t>
            </a:r>
            <a:r>
              <a:rPr lang="it-IT" sz="1400" dirty="0"/>
              <a:t> click-&gt;</a:t>
            </a:r>
            <a:r>
              <a:rPr lang="it-IT" sz="1400" dirty="0" err="1"/>
              <a:t>select</a:t>
            </a:r>
            <a:r>
              <a:rPr lang="it-IT" sz="1400" dirty="0"/>
              <a:t> link-&gt;place in </a:t>
            </a:r>
            <a:r>
              <a:rPr lang="it-IT" sz="1400" dirty="0" err="1"/>
              <a:t>this</a:t>
            </a:r>
            <a:r>
              <a:rPr lang="it-IT" sz="1400" dirty="0"/>
              <a:t> </a:t>
            </a:r>
            <a:r>
              <a:rPr lang="it-IT" sz="1400" dirty="0" err="1"/>
              <a:t>document</a:t>
            </a:r>
            <a:r>
              <a:rPr lang="it-IT" sz="1400" dirty="0"/>
              <a:t>-&gt;</a:t>
            </a:r>
            <a:r>
              <a:rPr lang="it-IT" sz="1400" dirty="0" err="1"/>
              <a:t>select</a:t>
            </a:r>
            <a:r>
              <a:rPr lang="it-IT" sz="1400" dirty="0"/>
              <a:t> last slide</a:t>
            </a:r>
            <a:endParaRPr lang="en-GB" sz="1400" dirty="0"/>
          </a:p>
        </p:txBody>
      </p:sp>
      <p:cxnSp>
        <p:nvCxnSpPr>
          <p:cNvPr id="10" name="Straight Connector 5">
            <a:extLst>
              <a:ext uri="{FF2B5EF4-FFF2-40B4-BE49-F238E27FC236}">
                <a16:creationId xmlns:a16="http://schemas.microsoft.com/office/drawing/2014/main" id="{9CCD7462-E12C-CDA3-D609-4AB679728A2E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7">
            <a:extLst>
              <a:ext uri="{FF2B5EF4-FFF2-40B4-BE49-F238E27FC236}">
                <a16:creationId xmlns:a16="http://schemas.microsoft.com/office/drawing/2014/main" id="{A1188C36-D6CB-FA53-013E-FC56AD427952}"/>
              </a:ext>
            </a:extLst>
          </p:cNvPr>
          <p:cNvSpPr/>
          <p:nvPr userDrawn="1"/>
        </p:nvSpPr>
        <p:spPr>
          <a:xfrm>
            <a:off x="6495002" y="1875014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2" name="Datumsplatzhalter 11">
            <a:extLst>
              <a:ext uri="{FF2B5EF4-FFF2-40B4-BE49-F238E27FC236}">
                <a16:creationId xmlns:a16="http://schemas.microsoft.com/office/drawing/2014/main" id="{749D4654-CB69-04EA-986A-2264B7AF4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07/12/2025</a:t>
            </a:fld>
            <a:endParaRPr lang="en-GB" dirty="0"/>
          </a:p>
        </p:txBody>
      </p:sp>
      <p:sp>
        <p:nvSpPr>
          <p:cNvPr id="13" name="Fußzeilenplatzhalter 12">
            <a:extLst>
              <a:ext uri="{FF2B5EF4-FFF2-40B4-BE49-F238E27FC236}">
                <a16:creationId xmlns:a16="http://schemas.microsoft.com/office/drawing/2014/main" id="{FC28337D-790B-E06F-0074-04AA48B92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4" name="Foliennummernplatzhalter 13">
            <a:extLst>
              <a:ext uri="{FF2B5EF4-FFF2-40B4-BE49-F238E27FC236}">
                <a16:creationId xmlns:a16="http://schemas.microsoft.com/office/drawing/2014/main" id="{A2A63292-0139-33E2-79E8-D1F485A4C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5" name="Textplatzhalter 16">
            <a:extLst>
              <a:ext uri="{FF2B5EF4-FFF2-40B4-BE49-F238E27FC236}">
                <a16:creationId xmlns:a16="http://schemas.microsoft.com/office/drawing/2014/main" id="{596BA109-7562-188F-19E6-BAFF28DC5C7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864848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ph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37C287-18A0-EB82-8A27-F94CA3880D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/>
              <a:t>X. Graph</a:t>
            </a:r>
            <a:endParaRPr lang="en-GB" dirty="0"/>
          </a:p>
        </p:txBody>
      </p:sp>
      <p:pic>
        <p:nvPicPr>
          <p:cNvPr id="6" name="Picture 2" descr="How HOMER Calculates Wind Turbine Power Output">
            <a:extLst>
              <a:ext uri="{FF2B5EF4-FFF2-40B4-BE49-F238E27FC236}">
                <a16:creationId xmlns:a16="http://schemas.microsoft.com/office/drawing/2014/main" id="{002A61B1-6859-B9E0-5E8D-876C02B28C1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724" y="1939999"/>
            <a:ext cx="5429250" cy="3067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2">
            <a:extLst>
              <a:ext uri="{FF2B5EF4-FFF2-40B4-BE49-F238E27FC236}">
                <a16:creationId xmlns:a16="http://schemas.microsoft.com/office/drawing/2014/main" id="{70DEEB4B-BB48-7BA1-DC37-D3F70525E158}"/>
              </a:ext>
            </a:extLst>
          </p:cNvPr>
          <p:cNvSpPr txBox="1"/>
          <p:nvPr userDrawn="1"/>
        </p:nvSpPr>
        <p:spPr>
          <a:xfrm>
            <a:off x="764619" y="5102669"/>
            <a:ext cx="5187461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100" dirty="0"/>
              <a:t>(</a:t>
            </a:r>
            <a:r>
              <a:rPr lang="it-IT" sz="1100" dirty="0" err="1"/>
              <a:t>Description</a:t>
            </a:r>
            <a:r>
              <a:rPr lang="it-IT" sz="1100" dirty="0"/>
              <a:t> of the </a:t>
            </a:r>
            <a:r>
              <a:rPr lang="it-IT" sz="1100" dirty="0" err="1"/>
              <a:t>graph</a:t>
            </a:r>
            <a:r>
              <a:rPr lang="it-IT" sz="1100" dirty="0"/>
              <a:t>, </a:t>
            </a:r>
            <a:r>
              <a:rPr lang="it-IT" sz="1100" dirty="0" err="1"/>
              <a:t>example</a:t>
            </a:r>
            <a:r>
              <a:rPr lang="it-IT" sz="1100" dirty="0"/>
              <a:t>: </a:t>
            </a:r>
            <a:r>
              <a:rPr lang="it-IT" sz="1100" i="1" dirty="0"/>
              <a:t>power curve power over wind speed</a:t>
            </a:r>
            <a:r>
              <a:rPr lang="it-IT" sz="1100" dirty="0"/>
              <a:t> )</a:t>
            </a:r>
          </a:p>
          <a:p>
            <a:r>
              <a:rPr lang="it-IT" sz="1100" dirty="0"/>
              <a:t>(</a:t>
            </a:r>
            <a:r>
              <a:rPr lang="it-IT" sz="1100" dirty="0" err="1"/>
              <a:t>Citation</a:t>
            </a:r>
            <a:r>
              <a:rPr lang="it-IT" sz="1100" dirty="0"/>
              <a:t> of the sources, </a:t>
            </a:r>
            <a:r>
              <a:rPr lang="it-IT" sz="1100" dirty="0" err="1"/>
              <a:t>example</a:t>
            </a:r>
            <a:r>
              <a:rPr lang="it-IT" sz="1100" dirty="0"/>
              <a:t>:</a:t>
            </a:r>
            <a:r>
              <a:rPr lang="it-IT" sz="1100" b="1" dirty="0"/>
              <a:t> </a:t>
            </a:r>
            <a:r>
              <a:rPr lang="it-IT" sz="1100" b="0" dirty="0"/>
              <a:t>[1] </a:t>
            </a:r>
            <a:r>
              <a:rPr lang="it-IT" sz="1100" dirty="0"/>
              <a:t>)  </a:t>
            </a:r>
          </a:p>
          <a:p>
            <a:r>
              <a:rPr lang="it-IT" sz="1100" dirty="0"/>
              <a:t>(Last date of access, </a:t>
            </a:r>
            <a:r>
              <a:rPr lang="it-IT" sz="1100" dirty="0" err="1"/>
              <a:t>example</a:t>
            </a:r>
            <a:r>
              <a:rPr lang="it-IT" sz="1100" dirty="0"/>
              <a:t>: 21/12/2015)</a:t>
            </a:r>
            <a:endParaRPr lang="en-GB" sz="1100" dirty="0"/>
          </a:p>
        </p:txBody>
      </p:sp>
      <p:cxnSp>
        <p:nvCxnSpPr>
          <p:cNvPr id="10" name="Straight Connector 5">
            <a:extLst>
              <a:ext uri="{FF2B5EF4-FFF2-40B4-BE49-F238E27FC236}">
                <a16:creationId xmlns:a16="http://schemas.microsoft.com/office/drawing/2014/main" id="{9CCD7462-E12C-CDA3-D609-4AB679728A2E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98D8651D-3525-44E9-EF74-5AE1C96E2B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07/12/2025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FC35C132-0CB8-F9A6-EC6C-F3AC1F1B31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722F58FF-5AD5-CF97-4FEE-FB1F38CD9A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Textplatzhalter 16">
            <a:extLst>
              <a:ext uri="{FF2B5EF4-FFF2-40B4-BE49-F238E27FC236}">
                <a16:creationId xmlns:a16="http://schemas.microsoft.com/office/drawing/2014/main" id="{DC21B0DD-4D97-871C-E587-F10AD55D8B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41072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bliography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 err="1"/>
              <a:t>Bibliography</a:t>
            </a:r>
            <a:r>
              <a:rPr lang="de-DE" dirty="0"/>
              <a:t> – </a:t>
            </a:r>
            <a:r>
              <a:rPr lang="de-DE" dirty="0" err="1"/>
              <a:t>team</a:t>
            </a:r>
            <a:r>
              <a:rPr lang="de-DE" dirty="0"/>
              <a:t> </a:t>
            </a:r>
            <a:r>
              <a:rPr lang="de-DE" dirty="0" err="1"/>
              <a:t>name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dirty="0"/>
              <a:t>[1] </a:t>
            </a:r>
            <a:r>
              <a:rPr lang="en-GB" dirty="0"/>
              <a:t>“How HOMER Calculates Wind Turbine Power Output,” </a:t>
            </a:r>
            <a:r>
              <a:rPr lang="en-GB" i="1" dirty="0"/>
              <a:t>Homerenergy.com</a:t>
            </a:r>
            <a:r>
              <a:rPr lang="en-GB" dirty="0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[2] …..</a:t>
            </a:r>
            <a:endParaRPr lang="it-IT" dirty="0"/>
          </a:p>
          <a:p>
            <a:pPr lvl="0"/>
            <a:endParaRPr lang="de-DE" dirty="0"/>
          </a:p>
        </p:txBody>
      </p:sp>
      <p:cxnSp>
        <p:nvCxnSpPr>
          <p:cNvPr id="6" name="Straight Arrow Connector 21">
            <a:extLst>
              <a:ext uri="{FF2B5EF4-FFF2-40B4-BE49-F238E27FC236}">
                <a16:creationId xmlns:a16="http://schemas.microsoft.com/office/drawing/2014/main" id="{9B5BA113-ABD0-9B33-1E2F-5863B083FE29}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4994031" y="2734408"/>
            <a:ext cx="1245576" cy="183759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22">
            <a:extLst>
              <a:ext uri="{FF2B5EF4-FFF2-40B4-BE49-F238E27FC236}">
                <a16:creationId xmlns:a16="http://schemas.microsoft.com/office/drawing/2014/main" id="{59531AAE-8AA3-6039-F69E-EDD1AF57C810}"/>
              </a:ext>
            </a:extLst>
          </p:cNvPr>
          <p:cNvSpPr/>
          <p:nvPr userDrawn="1"/>
        </p:nvSpPr>
        <p:spPr>
          <a:xfrm>
            <a:off x="4475285" y="4572000"/>
            <a:ext cx="5969977" cy="167786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The style </a:t>
            </a:r>
            <a:r>
              <a:rPr lang="it-IT" dirty="0" err="1"/>
              <a:t>chosen</a:t>
            </a:r>
            <a:r>
              <a:rPr lang="it-IT" dirty="0"/>
              <a:t> for </a:t>
            </a:r>
            <a:r>
              <a:rPr lang="it-IT" dirty="0" err="1"/>
              <a:t>citation</a:t>
            </a:r>
            <a:r>
              <a:rPr lang="it-IT" dirty="0"/>
              <a:t> </a:t>
            </a:r>
            <a:r>
              <a:rPr lang="it-IT" dirty="0" err="1"/>
              <a:t>is</a:t>
            </a:r>
            <a:r>
              <a:rPr lang="it-IT" dirty="0"/>
              <a:t> IEEE, so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want</a:t>
            </a:r>
            <a:r>
              <a:rPr lang="it-IT" dirty="0"/>
              <a:t> to create </a:t>
            </a:r>
            <a:r>
              <a:rPr lang="it-IT" dirty="0" err="1"/>
              <a:t>your</a:t>
            </a:r>
            <a:r>
              <a:rPr lang="it-IT" dirty="0"/>
              <a:t> </a:t>
            </a:r>
            <a:r>
              <a:rPr lang="it-IT" dirty="0" err="1"/>
              <a:t>citation</a:t>
            </a:r>
            <a:r>
              <a:rPr lang="it-IT" dirty="0"/>
              <a:t> follow </a:t>
            </a:r>
            <a:r>
              <a:rPr lang="it-IT" dirty="0" err="1"/>
              <a:t>that</a:t>
            </a:r>
            <a:r>
              <a:rPr lang="it-IT" dirty="0"/>
              <a:t> style. </a:t>
            </a:r>
            <a:r>
              <a:rPr lang="it-IT" dirty="0" err="1"/>
              <a:t>If</a:t>
            </a:r>
            <a:r>
              <a:rPr lang="it-IT" dirty="0"/>
              <a:t> </a:t>
            </a:r>
            <a:r>
              <a:rPr lang="it-IT" dirty="0" err="1"/>
              <a:t>you</a:t>
            </a:r>
            <a:r>
              <a:rPr lang="it-IT" dirty="0"/>
              <a:t> </a:t>
            </a:r>
            <a:r>
              <a:rPr lang="it-IT" dirty="0" err="1"/>
              <a:t>want</a:t>
            </a:r>
            <a:r>
              <a:rPr lang="it-IT" dirty="0"/>
              <a:t> to create an IEEE </a:t>
            </a:r>
            <a:r>
              <a:rPr lang="it-IT" dirty="0" err="1"/>
              <a:t>citation</a:t>
            </a:r>
            <a:r>
              <a:rPr lang="it-IT" dirty="0"/>
              <a:t> from a website, </a:t>
            </a:r>
            <a:r>
              <a:rPr lang="it-IT" dirty="0" err="1"/>
              <a:t>you</a:t>
            </a:r>
            <a:r>
              <a:rPr lang="it-IT" dirty="0"/>
              <a:t> can use some free </a:t>
            </a:r>
            <a:r>
              <a:rPr lang="it-IT" dirty="0" err="1"/>
              <a:t>converters</a:t>
            </a:r>
            <a:r>
              <a:rPr lang="it-IT" dirty="0"/>
              <a:t> </a:t>
            </a:r>
            <a:r>
              <a:rPr lang="it-IT" dirty="0" err="1"/>
              <a:t>available</a:t>
            </a:r>
            <a:r>
              <a:rPr lang="it-IT" dirty="0"/>
              <a:t> on the internet, like:</a:t>
            </a:r>
          </a:p>
          <a:p>
            <a:pPr algn="ctr"/>
            <a:r>
              <a:rPr lang="en-GB" b="1" dirty="0">
                <a:hlinkClick r:id="rId2"/>
              </a:rPr>
              <a:t>https://www.mybib.com/tools/ieee-citation-generator</a:t>
            </a:r>
            <a:r>
              <a:rPr lang="en-GB" b="1" dirty="0"/>
              <a:t> </a:t>
            </a:r>
          </a:p>
        </p:txBody>
      </p:sp>
      <p:cxnSp>
        <p:nvCxnSpPr>
          <p:cNvPr id="4" name="Straight Connector 5">
            <a:extLst>
              <a:ext uri="{FF2B5EF4-FFF2-40B4-BE49-F238E27FC236}">
                <a16:creationId xmlns:a16="http://schemas.microsoft.com/office/drawing/2014/main" id="{7CC2DA80-2404-1A96-924E-A52A1DBAA341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7">
            <a:extLst>
              <a:ext uri="{FF2B5EF4-FFF2-40B4-BE49-F238E27FC236}">
                <a16:creationId xmlns:a16="http://schemas.microsoft.com/office/drawing/2014/main" id="{226F6F8F-D65D-4B43-5785-E89E617F8616}"/>
              </a:ext>
            </a:extLst>
          </p:cNvPr>
          <p:cNvSpPr/>
          <p:nvPr userDrawn="1"/>
        </p:nvSpPr>
        <p:spPr>
          <a:xfrm>
            <a:off x="908165" y="3299037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376AEEC7-3E6C-8FE6-7104-34FC93794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07/12/2025</a:t>
            </a:fld>
            <a:endParaRPr lang="en-GB" dirty="0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527D13C7-4982-3CF9-E6C0-8109C888A5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44A0136B-0337-50A8-941C-6DC048DC6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4" name="Textplatzhalter 16">
            <a:extLst>
              <a:ext uri="{FF2B5EF4-FFF2-40B4-BE49-F238E27FC236}">
                <a16:creationId xmlns:a16="http://schemas.microsoft.com/office/drawing/2014/main" id="{A21B8924-2541-A57C-7990-899E2DC11FD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0964396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ibliograp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93033-AA4A-D955-AE39-E7F2A40C8A4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DE" dirty="0" err="1"/>
              <a:t>Bibliography</a:t>
            </a:r>
            <a:r>
              <a:rPr lang="de-DE" dirty="0"/>
              <a:t> – </a:t>
            </a:r>
            <a:r>
              <a:rPr lang="de-DE" dirty="0" err="1"/>
              <a:t>team</a:t>
            </a:r>
            <a:r>
              <a:rPr lang="de-DE" dirty="0"/>
              <a:t> </a:t>
            </a:r>
            <a:r>
              <a:rPr lang="de-DE" dirty="0" err="1"/>
              <a:t>name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38BDBB-4827-8B89-3EE0-5A3DD22172FC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>
            <a:normAutofit/>
          </a:bodyPr>
          <a:lstStyle>
            <a:lvl1pPr marL="0" indent="0">
              <a:buNone/>
              <a:defRPr sz="1600"/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it-IT" dirty="0"/>
              <a:t>[1] </a:t>
            </a:r>
            <a:r>
              <a:rPr lang="en-GB" dirty="0"/>
              <a:t>“How HOMER Calculates Wind Turbine Power Output,” </a:t>
            </a:r>
            <a:r>
              <a:rPr lang="en-GB" i="1" dirty="0"/>
              <a:t>Homerenergy.com</a:t>
            </a:r>
            <a:r>
              <a:rPr lang="en-GB" dirty="0"/>
              <a:t>, 2017. https://www.homerenergy.com/products/pro/docs/3.15/how_homer_calculates_wind_turbine_power_output.html (accessed Aug. 25, 2025).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[2] …..</a:t>
            </a:r>
            <a:endParaRPr lang="it-IT" dirty="0"/>
          </a:p>
          <a:p>
            <a:pPr lvl="0"/>
            <a:endParaRPr lang="de-DE" dirty="0"/>
          </a:p>
        </p:txBody>
      </p:sp>
      <p:cxnSp>
        <p:nvCxnSpPr>
          <p:cNvPr id="4" name="Straight Connector 5">
            <a:extLst>
              <a:ext uri="{FF2B5EF4-FFF2-40B4-BE49-F238E27FC236}">
                <a16:creationId xmlns:a16="http://schemas.microsoft.com/office/drawing/2014/main" id="{7CC2DA80-2404-1A96-924E-A52A1DBAA341}"/>
              </a:ext>
            </a:extLst>
          </p:cNvPr>
          <p:cNvCxnSpPr>
            <a:cxnSpLocks/>
          </p:cNvCxnSpPr>
          <p:nvPr userDrawn="1"/>
        </p:nvCxnSpPr>
        <p:spPr>
          <a:xfrm>
            <a:off x="838200" y="1251708"/>
            <a:ext cx="10515600" cy="0"/>
          </a:xfrm>
          <a:prstGeom prst="line">
            <a:avLst/>
          </a:prstGeom>
          <a:ln w="38100">
            <a:solidFill>
              <a:srgbClr val="8ECE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79BDC2AF-40F8-8529-16FE-AE51A8BD44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07/12/2025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3A36B392-F5AC-41D8-5903-3EE036BA8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7595A811-7A18-1583-7B9C-87A7CBB7F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5E735FEA-D591-2E8E-B9B4-2A6BAFE00D4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2232809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013920-E451-6E8D-B0CB-C3FB9C0F7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7CFBA5-B73E-6B89-322D-7C32A35A12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BF8199-371A-141A-1CD7-D551EEEFDF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16092FF3-E2C2-B5C5-579F-21F140EB3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07/12/2025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85AD0AE9-D3B7-2239-8DBB-350367E7D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E1BD0BA0-666C-E532-C68B-11386947B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027E2607-9D4B-3DD5-A6A2-FC3CB80BCC1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4423501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5BF7B7-87CF-1A3E-E33E-44DC6E015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B21B8D-C5F5-5242-4069-B1546B4BC0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74D26CD-98BD-17E2-BE55-DBB74BBC64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3B8D60-279E-D76A-9222-12B704BAEB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1AF34B-F683-41AD-C71C-8E8C66CC4C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0" name="Datumsplatzhalter 9">
            <a:extLst>
              <a:ext uri="{FF2B5EF4-FFF2-40B4-BE49-F238E27FC236}">
                <a16:creationId xmlns:a16="http://schemas.microsoft.com/office/drawing/2014/main" id="{4EB4231A-B976-E0CE-75F3-D34A6911E2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07/12/2025</a:t>
            </a:fld>
            <a:endParaRPr lang="en-GB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2E601F58-36C8-D2D9-A619-7EE495853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EBFB4D11-F600-12A5-E5C2-DCA390332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Textplatzhalter 16">
            <a:extLst>
              <a:ext uri="{FF2B5EF4-FFF2-40B4-BE49-F238E27FC236}">
                <a16:creationId xmlns:a16="http://schemas.microsoft.com/office/drawing/2014/main" id="{39AFE95F-2805-F887-3AF4-313C835B173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437897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A9CAB1E-C3D8-B43B-64D5-963D13F3D8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07/12/2025</a:t>
            </a:fld>
            <a:endParaRPr lang="en-GB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3B3E84C0-2A5E-8136-84E3-1F57CD264A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79EE80A-8782-7800-16FF-963D026BCC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8" name="Textplatzhalter 16">
            <a:extLst>
              <a:ext uri="{FF2B5EF4-FFF2-40B4-BE49-F238E27FC236}">
                <a16:creationId xmlns:a16="http://schemas.microsoft.com/office/drawing/2014/main" id="{CFBF4831-0820-F79B-E15A-914A0E578D4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5370099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4D20E-7D43-D4CD-1058-46300B8EE4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B6584A-B476-0EA1-C12B-07C273F70E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694232-1597-B186-D108-397BCF214D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63342531-5FA3-5F71-CEB1-CFCD86F170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07/12/2025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0D108632-F456-C23D-6809-CF44E36A5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14F6375C-67FA-9BF2-A821-A5611C211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6E6CFA6E-C964-BB71-3D6D-D966EE46607E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84655915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E2DC87-27CE-5A07-9629-719DC91DE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F65E744-3606-1D16-E7B2-58DAFC3E88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A9C703-BF20-85AF-358A-01ADED33CF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0DAC50BC-A24B-779F-0533-7A27D611B1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07/12/2025</a:t>
            </a:fld>
            <a:endParaRPr lang="en-GB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2B06DBDC-0EA1-59AB-DB5D-AEE297E618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3EB43FC5-BB47-1A87-75C6-C0AFB5C72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1" name="Textplatzhalter 16">
            <a:extLst>
              <a:ext uri="{FF2B5EF4-FFF2-40B4-BE49-F238E27FC236}">
                <a16:creationId xmlns:a16="http://schemas.microsoft.com/office/drawing/2014/main" id="{680B36F8-3A7C-6F05-A0AB-F3F43BA0922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7126135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F44B09-72C5-4D15-0E4C-46764EB8C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B470E9-1D3C-D5B3-7A54-66BD900997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C34C088-08EA-3896-8F05-16D82C5114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07/12/2025</a:t>
            </a:fld>
            <a:endParaRPr lang="en-GB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8EA7E74-7B1F-8648-209E-BFE07FF1E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62B97D1D-1741-1791-CBA3-FA5CA67CA7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6A2FA29E-F5F4-39E0-E0C6-CACC20E04F15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226871133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68A110-A33F-744D-89CB-FFCF49E08A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DB6FACB-31E5-361F-D71D-18FCBA5503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5945ED5-EBD1-3567-F959-B92E831E51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07/12/2025</a:t>
            </a:fld>
            <a:endParaRPr lang="en-GB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CBB6A4D0-1BA6-C02F-BE18-391B96E98D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Team Name / Optimus Syria</a:t>
            </a:r>
            <a:endParaRPr lang="en-GB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412E4BF-484F-C87E-8228-534B62A6BC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Textplatzhalter 16">
            <a:extLst>
              <a:ext uri="{FF2B5EF4-FFF2-40B4-BE49-F238E27FC236}">
                <a16:creationId xmlns:a16="http://schemas.microsoft.com/office/drawing/2014/main" id="{A24C13F3-9C79-1E9F-ED48-61D2AD9586E3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878527" y="6564113"/>
            <a:ext cx="5596085" cy="365125"/>
          </a:xfrm>
        </p:spPr>
        <p:txBody>
          <a:bodyPr anchor="ctr"/>
          <a:lstStyle>
            <a:lvl1pPr marL="0" indent="0" algn="ctr">
              <a:buNone/>
              <a:defRPr lang="de-DE" sz="1200" kern="1200" dirty="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107018986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Group start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-form: Shape 13">
            <a:extLst>
              <a:ext uri="{FF2B5EF4-FFF2-40B4-BE49-F238E27FC236}">
                <a16:creationId xmlns:a16="http://schemas.microsoft.com/office/drawing/2014/main" id="{006CCD24-9C06-8926-5E3D-FFE059D5F3D2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Free-form: Shape 13">
            <a:extLst>
              <a:ext uri="{FF2B5EF4-FFF2-40B4-BE49-F238E27FC236}">
                <a16:creationId xmlns:a16="http://schemas.microsoft.com/office/drawing/2014/main" id="{1157507C-DF41-F2F7-53B7-B0DC0D568F3B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Free-form: Shape 13">
            <a:extLst>
              <a:ext uri="{FF2B5EF4-FFF2-40B4-BE49-F238E27FC236}">
                <a16:creationId xmlns:a16="http://schemas.microsoft.com/office/drawing/2014/main" id="{94DF4395-7D7A-F380-6320-D9BE1ED1DA6D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7" name="Picture 8" descr="Hochschule Flensburg (Fachhochschule) – Wikipedia">
            <a:extLst>
              <a:ext uri="{FF2B5EF4-FFF2-40B4-BE49-F238E27FC236}">
                <a16:creationId xmlns:a16="http://schemas.microsoft.com/office/drawing/2014/main" id="{811EE0A2-7B7B-66E3-65D6-A7F1D9F140E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88A3D22E-A6EF-A83A-86D5-C96D877CA4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427A8DB5-3232-D63A-5CDF-0D3AD6450C3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00FE6863-2F47-99AC-390A-A1BB2D1DD0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12841" y="2206093"/>
            <a:ext cx="9144000" cy="912598"/>
          </a:xfrm>
        </p:spPr>
        <p:txBody>
          <a:bodyPr>
            <a:noAutofit/>
          </a:bodyPr>
          <a:lstStyle>
            <a:lvl1pPr algn="ctr">
              <a:defRPr>
                <a:latin typeface="Aptos (Textkörper)"/>
              </a:defRPr>
            </a:lvl1pPr>
          </a:lstStyle>
          <a:p>
            <a:r>
              <a:rPr lang="it-IT" sz="4000" dirty="0"/>
              <a:t>Weekly report: Team X</a:t>
            </a:r>
            <a:endParaRPr lang="en-GB" sz="4000" dirty="0"/>
          </a:p>
        </p:txBody>
      </p:sp>
      <p:sp>
        <p:nvSpPr>
          <p:cNvPr id="31" name="Subtitle 2">
            <a:extLst>
              <a:ext uri="{FF2B5EF4-FFF2-40B4-BE49-F238E27FC236}">
                <a16:creationId xmlns:a16="http://schemas.microsoft.com/office/drawing/2014/main" id="{05E4BCC5-2CED-6F6C-22B8-AF74FB7ECFF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ubTitle" idx="1" hasCustomPrompt="1"/>
          </p:nvPr>
        </p:nvSpPr>
        <p:spPr>
          <a:xfrm>
            <a:off x="1412841" y="3429000"/>
            <a:ext cx="9144000" cy="11430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 algn="ctr">
              <a:buNone/>
              <a:defRPr sz="1400">
                <a:latin typeface="Aptos (Textkörper)"/>
              </a:defRPr>
            </a:lvl1pPr>
          </a:lstStyle>
          <a:p>
            <a:r>
              <a:rPr lang="it-IT" sz="2000" dirty="0"/>
              <a:t>Week </a:t>
            </a:r>
            <a:r>
              <a:rPr lang="it-IT" sz="2000" dirty="0" err="1"/>
              <a:t>number</a:t>
            </a:r>
            <a:r>
              <a:rPr lang="it-IT" sz="2000" dirty="0"/>
              <a:t>: X</a:t>
            </a:r>
          </a:p>
          <a:p>
            <a:r>
              <a:rPr lang="it-IT" sz="2000" dirty="0"/>
              <a:t>Date: DD/MM/20JJ</a:t>
            </a:r>
          </a:p>
          <a:p>
            <a:r>
              <a:rPr lang="it-IT" sz="2000" dirty="0"/>
              <a:t>Supervisor: X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5588F89-BF05-8BCF-9834-AE05DA2404B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idx="10" hasCustomPrompt="1"/>
          </p:nvPr>
        </p:nvSpPr>
        <p:spPr>
          <a:xfrm>
            <a:off x="3316826" y="4882309"/>
            <a:ext cx="5128821" cy="331717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latin typeface="Aptos (Textkörper)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: 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83077A87-075C-C9F1-CF08-7A350F77E612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6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B8218494-1E39-5AB1-96DD-936404956E5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B3C889B-2F55-2C2F-122E-E89ABE6A2D9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07/12/2025</a:t>
            </a:fld>
            <a:endParaRPr lang="en-GB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2877DC7-CA1E-181B-77C7-99C60829ED5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Optimus Syria</a:t>
            </a:r>
            <a:endParaRPr lang="en-GB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43E1ABD-9DAE-E035-8B0B-D41EFED3FC8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2621207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slide 1">
    <p:bg>
      <p:bgPr>
        <a:blipFill dpi="0" rotWithShape="1">
          <a:blip r:embed="rId2">
            <a:lum/>
          </a:blip>
          <a:srcRect/>
          <a:stretch>
            <a:fillRect l="-10000" r="-10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A7E6E28C-7B17-1432-D698-5D8867EE337B}"/>
              </a:ext>
            </a:extLst>
          </p:cNvPr>
          <p:cNvSpPr txBox="1">
            <a:spLocks/>
          </p:cNvSpPr>
          <p:nvPr userDrawn="1"/>
        </p:nvSpPr>
        <p:spPr>
          <a:xfrm>
            <a:off x="1412841" y="2281143"/>
            <a:ext cx="9144000" cy="912598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  <a:scene3d>
              <a:camera prst="orthographicFront"/>
              <a:lightRig rig="harsh" dir="t"/>
            </a:scene3d>
            <a:sp3d extrusionH="57150" prstMaterial="matte">
              <a:bevelT w="63500" h="12700" prst="angle"/>
              <a:contourClr>
                <a:schemeClr val="bg1">
                  <a:lumMod val="65000"/>
                </a:schemeClr>
              </a:contourClr>
            </a:sp3d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6600" b="1" i="0" u="none" strike="noStrike" kern="1200" cap="none" spc="0" normalizeH="0" baseline="0" noProof="0">
                <a:ln/>
                <a:solidFill>
                  <a:srgbClr val="156082"/>
                </a:solidFill>
                <a:effectLst/>
                <a:uLnTx/>
                <a:uFillTx/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Optimus Syria</a:t>
            </a:r>
            <a:endParaRPr kumimoji="0" lang="en-GB" sz="6600" b="1" i="0" u="none" strike="noStrike" kern="1200" cap="none" spc="0" normalizeH="0" baseline="0" noProof="0" dirty="0">
              <a:ln/>
              <a:solidFill>
                <a:srgbClr val="156082"/>
              </a:solidFill>
              <a:effectLst/>
              <a:uLnTx/>
              <a:uFillTx/>
              <a:latin typeface="Times New Roman" panose="02020603050405020304" pitchFamily="18" charset="0"/>
              <a:ea typeface="+mj-ea"/>
              <a:cs typeface="Times New Roman" panose="02020603050405020304" pitchFamily="18" charset="0"/>
            </a:endParaRPr>
          </a:p>
        </p:txBody>
      </p:sp>
      <p:pic>
        <p:nvPicPr>
          <p:cNvPr id="9" name="Picture 8" descr="Hochschule Flensburg (Fachhochschule) – Wikipedia">
            <a:extLst>
              <a:ext uri="{FF2B5EF4-FFF2-40B4-BE49-F238E27FC236}">
                <a16:creationId xmlns:a16="http://schemas.microsoft.com/office/drawing/2014/main" id="{A98E8D30-71DB-C779-1E77-2B8D1F32463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577870" y="80932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7FC9E882-BB5D-1CC3-9AD4-1ADE555B839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095999" y="33018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Grafik 10">
            <a:extLst>
              <a:ext uri="{FF2B5EF4-FFF2-40B4-BE49-F238E27FC236}">
                <a16:creationId xmlns:a16="http://schemas.microsoft.com/office/drawing/2014/main" id="{3EFF5A11-92DF-BC35-55CA-EECA202C55B3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rcRect l="4671"/>
          <a:stretch/>
        </p:blipFill>
        <p:spPr>
          <a:xfrm>
            <a:off x="135741" y="211147"/>
            <a:ext cx="3179298" cy="154190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" name="Picture 6">
            <a:extLst>
              <a:ext uri="{FF2B5EF4-FFF2-40B4-BE49-F238E27FC236}">
                <a16:creationId xmlns:a16="http://schemas.microsoft.com/office/drawing/2014/main" id="{D0057AC6-E958-18E0-BF43-7A806C66C90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42029" y="191498"/>
            <a:ext cx="2355285" cy="215005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8" name="Free-form: Shape 13">
            <a:extLst>
              <a:ext uri="{FF2B5EF4-FFF2-40B4-BE49-F238E27FC236}">
                <a16:creationId xmlns:a16="http://schemas.microsoft.com/office/drawing/2014/main" id="{233C0D9D-B26B-1DCE-8493-626ABDD067F7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9" name="Free-form: Shape 13">
            <a:extLst>
              <a:ext uri="{FF2B5EF4-FFF2-40B4-BE49-F238E27FC236}">
                <a16:creationId xmlns:a16="http://schemas.microsoft.com/office/drawing/2014/main" id="{95CC7C89-8F0E-07BF-6D89-44A0358FDFC8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0" name="Free-form: Shape 13">
            <a:extLst>
              <a:ext uri="{FF2B5EF4-FFF2-40B4-BE49-F238E27FC236}">
                <a16:creationId xmlns:a16="http://schemas.microsoft.com/office/drawing/2014/main" id="{4FB94905-8FF2-701D-A980-9368DF7EB04F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Textplatzhalter 13">
            <a:extLst>
              <a:ext uri="{FF2B5EF4-FFF2-40B4-BE49-F238E27FC236}">
                <a16:creationId xmlns:a16="http://schemas.microsoft.com/office/drawing/2014/main" id="{62B0D505-239D-592F-D28C-2537FD6A64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192399" y="4130862"/>
            <a:ext cx="3822700" cy="164669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1st Week Kick Off Presentation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Date: </a:t>
            </a:r>
            <a:r>
              <a:rPr kumimoji="0" lang="it-IT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th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E2841">
                    <a:lumMod val="90000"/>
                    <a:lumOff val="10000"/>
                  </a:srgbClr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 202X</a:t>
            </a:r>
          </a:p>
          <a:p>
            <a:pPr lvl="4"/>
            <a:endParaRPr lang="de-DE" dirty="0"/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64AB9256-03E9-9046-0C0F-540CE5905E92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9BDED722-8EE5-8B7F-02CA-CF3939A785CF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35806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up starting slide (Explanation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-form: Shape 13">
            <a:extLst>
              <a:ext uri="{FF2B5EF4-FFF2-40B4-BE49-F238E27FC236}">
                <a16:creationId xmlns:a16="http://schemas.microsoft.com/office/drawing/2014/main" id="{006CCD24-9C06-8926-5E3D-FFE059D5F3D2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Free-form: Shape 13">
            <a:extLst>
              <a:ext uri="{FF2B5EF4-FFF2-40B4-BE49-F238E27FC236}">
                <a16:creationId xmlns:a16="http://schemas.microsoft.com/office/drawing/2014/main" id="{1157507C-DF41-F2F7-53B7-B0DC0D568F3B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Free-form: Shape 13">
            <a:extLst>
              <a:ext uri="{FF2B5EF4-FFF2-40B4-BE49-F238E27FC236}">
                <a16:creationId xmlns:a16="http://schemas.microsoft.com/office/drawing/2014/main" id="{94DF4395-7D7A-F380-6320-D9BE1ED1DA6D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7" name="Picture 8" descr="Hochschule Flensburg (Fachhochschule) – Wikipedia">
            <a:extLst>
              <a:ext uri="{FF2B5EF4-FFF2-40B4-BE49-F238E27FC236}">
                <a16:creationId xmlns:a16="http://schemas.microsoft.com/office/drawing/2014/main" id="{811EE0A2-7B7B-66E3-65D6-A7F1D9F140E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88A3D22E-A6EF-A83A-86D5-C96D877CA4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427A8DB5-3232-D63A-5CDF-0D3AD6450C3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00FE6863-2F47-99AC-390A-A1BB2D1DD0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12841" y="2206093"/>
            <a:ext cx="9144000" cy="912598"/>
          </a:xfrm>
        </p:spPr>
        <p:txBody>
          <a:bodyPr>
            <a:noAutofit/>
          </a:bodyPr>
          <a:lstStyle>
            <a:lvl1pPr algn="ctr">
              <a:defRPr>
                <a:latin typeface="Aptos (Textkörper)"/>
              </a:defRPr>
            </a:lvl1pPr>
          </a:lstStyle>
          <a:p>
            <a:r>
              <a:rPr lang="it-IT" sz="4000" dirty="0"/>
              <a:t>Weekly report: Team X</a:t>
            </a:r>
            <a:endParaRPr lang="en-GB" sz="4000" dirty="0"/>
          </a:p>
        </p:txBody>
      </p:sp>
      <p:sp>
        <p:nvSpPr>
          <p:cNvPr id="31" name="Subtitle 2">
            <a:extLst>
              <a:ext uri="{FF2B5EF4-FFF2-40B4-BE49-F238E27FC236}">
                <a16:creationId xmlns:a16="http://schemas.microsoft.com/office/drawing/2014/main" id="{05E4BCC5-2CED-6F6C-22B8-AF74FB7ECFF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412841" y="3429000"/>
            <a:ext cx="9144000" cy="11430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 algn="ctr">
              <a:buNone/>
              <a:defRPr sz="1400">
                <a:latin typeface="Aptos (Textkörper)"/>
              </a:defRPr>
            </a:lvl1pPr>
          </a:lstStyle>
          <a:p>
            <a:r>
              <a:rPr lang="it-IT" sz="2000" dirty="0"/>
              <a:t>Week </a:t>
            </a:r>
            <a:r>
              <a:rPr lang="it-IT" sz="2000" dirty="0" err="1"/>
              <a:t>number</a:t>
            </a:r>
            <a:r>
              <a:rPr lang="it-IT" sz="2000" dirty="0"/>
              <a:t>: X</a:t>
            </a:r>
          </a:p>
          <a:p>
            <a:r>
              <a:rPr lang="it-IT" sz="2000" dirty="0"/>
              <a:t>Date: DD/MM/20JJ</a:t>
            </a:r>
          </a:p>
          <a:p>
            <a:r>
              <a:rPr lang="it-IT" sz="2000" dirty="0"/>
              <a:t>Supervisor: X</a:t>
            </a:r>
          </a:p>
        </p:txBody>
      </p:sp>
      <p:sp>
        <p:nvSpPr>
          <p:cNvPr id="33" name="Isosceles Triangle 6">
            <a:extLst>
              <a:ext uri="{FF2B5EF4-FFF2-40B4-BE49-F238E27FC236}">
                <a16:creationId xmlns:a16="http://schemas.microsoft.com/office/drawing/2014/main" id="{8F14EFAA-BA4A-16CF-D530-1409613BCF5B}"/>
              </a:ext>
            </a:extLst>
          </p:cNvPr>
          <p:cNvSpPr/>
          <p:nvPr userDrawn="1"/>
        </p:nvSpPr>
        <p:spPr>
          <a:xfrm>
            <a:off x="1412841" y="3797919"/>
            <a:ext cx="1380683" cy="886192"/>
          </a:xfrm>
          <a:prstGeom prst="triangle">
            <a:avLst>
              <a:gd name="adj" fmla="val 50565"/>
            </a:avLst>
          </a:prstGeom>
          <a:ln w="5715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4" name="Rectangle 7">
            <a:extLst>
              <a:ext uri="{FF2B5EF4-FFF2-40B4-BE49-F238E27FC236}">
                <a16:creationId xmlns:a16="http://schemas.microsoft.com/office/drawing/2014/main" id="{8CE1E011-6342-172C-03D6-BB39C24A4CCA}"/>
              </a:ext>
            </a:extLst>
          </p:cNvPr>
          <p:cNvSpPr/>
          <p:nvPr userDrawn="1"/>
        </p:nvSpPr>
        <p:spPr>
          <a:xfrm>
            <a:off x="354584" y="4714776"/>
            <a:ext cx="3512337" cy="950790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/>
              <a:t>First slide for groups</a:t>
            </a:r>
            <a:endParaRPr lang="en-GB" dirty="0"/>
          </a:p>
        </p:txBody>
      </p:sp>
      <p:sp>
        <p:nvSpPr>
          <p:cNvPr id="35" name="Rectangle 11">
            <a:extLst>
              <a:ext uri="{FF2B5EF4-FFF2-40B4-BE49-F238E27FC236}">
                <a16:creationId xmlns:a16="http://schemas.microsoft.com/office/drawing/2014/main" id="{6845F127-8728-66DF-03BE-17119A20BE05}"/>
              </a:ext>
            </a:extLst>
          </p:cNvPr>
          <p:cNvSpPr/>
          <p:nvPr userDrawn="1"/>
        </p:nvSpPr>
        <p:spPr>
          <a:xfrm>
            <a:off x="1860787" y="3750629"/>
            <a:ext cx="484789" cy="1200329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GB" sz="7200" b="1" cap="none" spc="0" dirty="0">
                <a:ln w="0"/>
                <a:solidFill>
                  <a:schemeClr val="tx1"/>
                </a:solidFill>
              </a:rPr>
              <a:t>!</a:t>
            </a:r>
          </a:p>
        </p:txBody>
      </p:sp>
      <p:sp>
        <p:nvSpPr>
          <p:cNvPr id="36" name="Text Placeholder 2">
            <a:extLst>
              <a:ext uri="{FF2B5EF4-FFF2-40B4-BE49-F238E27FC236}">
                <a16:creationId xmlns:a16="http://schemas.microsoft.com/office/drawing/2014/main" id="{C16AED5E-219C-C34B-7790-17DE2532E623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3316826" y="4882309"/>
            <a:ext cx="5128821" cy="331717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latin typeface="Aptos (Textkörper)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: </a:t>
            </a:r>
          </a:p>
        </p:txBody>
      </p:sp>
      <p:sp>
        <p:nvSpPr>
          <p:cNvPr id="37" name="Rechteck 36">
            <a:extLst>
              <a:ext uri="{FF2B5EF4-FFF2-40B4-BE49-F238E27FC236}">
                <a16:creationId xmlns:a16="http://schemas.microsoft.com/office/drawing/2014/main" id="{64DF9F8D-C604-6899-2A9F-B743F135F77F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6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B8218494-1E39-5AB1-96DD-936404956E5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5" name="Rectangle 7">
            <a:extLst>
              <a:ext uri="{FF2B5EF4-FFF2-40B4-BE49-F238E27FC236}">
                <a16:creationId xmlns:a16="http://schemas.microsoft.com/office/drawing/2014/main" id="{CA471AD5-5F65-3AF9-9ABB-E6F7475B2672}"/>
              </a:ext>
            </a:extLst>
          </p:cNvPr>
          <p:cNvSpPr/>
          <p:nvPr userDrawn="1"/>
        </p:nvSpPr>
        <p:spPr>
          <a:xfrm>
            <a:off x="8606553" y="4043001"/>
            <a:ext cx="2603270" cy="1404514"/>
          </a:xfrm>
          <a:prstGeom prst="rect">
            <a:avLst/>
          </a:prstGeom>
          <a:ln w="38100"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it-IT" dirty="0" err="1"/>
              <a:t>This</a:t>
            </a:r>
            <a:r>
              <a:rPr lang="it-IT" dirty="0"/>
              <a:t> slide </a:t>
            </a:r>
            <a:r>
              <a:rPr lang="it-IT" dirty="0" err="1"/>
              <a:t>is</a:t>
            </a:r>
            <a:r>
              <a:rPr lang="it-IT" dirty="0"/>
              <a:t> </a:t>
            </a:r>
            <a:r>
              <a:rPr lang="it-IT" dirty="0" err="1"/>
              <a:t>only</a:t>
            </a:r>
            <a:r>
              <a:rPr lang="it-IT" dirty="0"/>
              <a:t> for </a:t>
            </a:r>
            <a:r>
              <a:rPr lang="it-IT" dirty="0" err="1"/>
              <a:t>explanation</a:t>
            </a:r>
            <a:r>
              <a:rPr lang="it-IT" dirty="0"/>
              <a:t>, </a:t>
            </a:r>
            <a:r>
              <a:rPr lang="it-IT" dirty="0" err="1"/>
              <a:t>dont´t</a:t>
            </a:r>
            <a:r>
              <a:rPr lang="it-IT" dirty="0"/>
              <a:t> use </a:t>
            </a:r>
            <a:r>
              <a:rPr lang="it-IT" dirty="0" err="1"/>
              <a:t>it!</a:t>
            </a:r>
            <a:endParaRPr lang="en-GB" dirty="0"/>
          </a:p>
        </p:txBody>
      </p:sp>
      <p:sp>
        <p:nvSpPr>
          <p:cNvPr id="9" name="Datumsplatzhalter 8">
            <a:extLst>
              <a:ext uri="{FF2B5EF4-FFF2-40B4-BE49-F238E27FC236}">
                <a16:creationId xmlns:a16="http://schemas.microsoft.com/office/drawing/2014/main" id="{92481298-4C0F-EA65-5B6C-A8C69906505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07/12/2025</a:t>
            </a:fld>
            <a:endParaRPr lang="en-GB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FE2B40EC-630A-E9C4-E03F-6B44073220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Optimus Syria</a:t>
            </a:r>
            <a:endParaRPr lang="en-GB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B363FCB4-D064-121D-B878-2F160740580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844284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oup start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-form: Shape 13">
            <a:extLst>
              <a:ext uri="{FF2B5EF4-FFF2-40B4-BE49-F238E27FC236}">
                <a16:creationId xmlns:a16="http://schemas.microsoft.com/office/drawing/2014/main" id="{006CCD24-9C06-8926-5E3D-FFE059D5F3D2}"/>
              </a:ext>
            </a:extLst>
          </p:cNvPr>
          <p:cNvSpPr/>
          <p:nvPr userDrawn="1"/>
        </p:nvSpPr>
        <p:spPr>
          <a:xfrm>
            <a:off x="-7749" y="5526425"/>
            <a:ext cx="12218376" cy="72825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rgbClr val="0F9ED5">
                  <a:lumMod val="40000"/>
                  <a:lumOff val="60000"/>
                </a:srgbClr>
              </a:gs>
              <a:gs pos="100000">
                <a:sysClr val="window" lastClr="FFFFFF"/>
              </a:gs>
            </a:gsLst>
            <a:lin ang="5400000" scaled="1"/>
          </a:gradFill>
          <a:ln w="19050" cap="flat" cmpd="sng" algn="ctr">
            <a:solidFill>
              <a:sysClr val="window" lastClr="FFFFFF"/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4" name="Free-form: Shape 13">
            <a:extLst>
              <a:ext uri="{FF2B5EF4-FFF2-40B4-BE49-F238E27FC236}">
                <a16:creationId xmlns:a16="http://schemas.microsoft.com/office/drawing/2014/main" id="{1157507C-DF41-F2F7-53B7-B0DC0D568F3B}"/>
              </a:ext>
            </a:extLst>
          </p:cNvPr>
          <p:cNvSpPr/>
          <p:nvPr userDrawn="1"/>
        </p:nvSpPr>
        <p:spPr>
          <a:xfrm>
            <a:off x="0" y="5838824"/>
            <a:ext cx="12192000" cy="675673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rgbClr val="156082">
                  <a:lumMod val="5000"/>
                  <a:lumOff val="95000"/>
                </a:srgbClr>
              </a:gs>
              <a:gs pos="74000">
                <a:srgbClr val="156082">
                  <a:lumMod val="45000"/>
                  <a:lumOff val="55000"/>
                </a:srgbClr>
              </a:gs>
              <a:gs pos="83000">
                <a:srgbClr val="156082">
                  <a:lumMod val="45000"/>
                  <a:lumOff val="55000"/>
                </a:srgbClr>
              </a:gs>
              <a:gs pos="100000">
                <a:srgbClr val="156082">
                  <a:lumMod val="30000"/>
                  <a:lumOff val="70000"/>
                </a:srgbClr>
              </a:gs>
            </a:gsLst>
            <a:lin ang="5400000" scaled="1"/>
          </a:gradFill>
          <a:ln w="19050" cap="flat" cmpd="sng" algn="ctr">
            <a:noFill/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25" name="Free-form: Shape 13">
            <a:extLst>
              <a:ext uri="{FF2B5EF4-FFF2-40B4-BE49-F238E27FC236}">
                <a16:creationId xmlns:a16="http://schemas.microsoft.com/office/drawing/2014/main" id="{94DF4395-7D7A-F380-6320-D9BE1ED1DA6D}"/>
              </a:ext>
            </a:extLst>
          </p:cNvPr>
          <p:cNvSpPr/>
          <p:nvPr userDrawn="1"/>
        </p:nvSpPr>
        <p:spPr>
          <a:xfrm>
            <a:off x="-7346" y="5928072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rgbClr val="0F9ED5">
                  <a:lumMod val="20000"/>
                  <a:lumOff val="80000"/>
                </a:srgbClr>
              </a:gs>
              <a:gs pos="50000">
                <a:sysClr val="window" lastClr="FFFFFF"/>
              </a:gs>
              <a:gs pos="100000">
                <a:srgbClr val="0F9ED5">
                  <a:lumMod val="20000"/>
                  <a:lumOff val="80000"/>
                </a:srgbClr>
              </a:gs>
            </a:gsLst>
            <a:lin ang="0" scaled="1"/>
            <a:tileRect/>
          </a:gradFill>
          <a:ln w="15875" cap="flat" cmpd="sng" algn="ctr">
            <a:solidFill>
              <a:srgbClr val="156082">
                <a:alpha val="0"/>
              </a:srgbClr>
            </a:solidFill>
            <a:prstDash val="solid"/>
            <a:miter lim="800000"/>
          </a:ln>
          <a:effectLst>
            <a:glow>
              <a:srgbClr val="FFFF00"/>
            </a:glow>
            <a:outerShdw algn="ctr" rotWithShape="0">
              <a:sysClr val="windowText" lastClr="000000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pic>
        <p:nvPicPr>
          <p:cNvPr id="27" name="Picture 8" descr="Hochschule Flensburg (Fachhochschule) – Wikipedia">
            <a:extLst>
              <a:ext uri="{FF2B5EF4-FFF2-40B4-BE49-F238E27FC236}">
                <a16:creationId xmlns:a16="http://schemas.microsoft.com/office/drawing/2014/main" id="{811EE0A2-7B7B-66E3-65D6-A7F1D9F140E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70439" y="264131"/>
            <a:ext cx="2518129" cy="1672124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4" descr="A black background with blue text&#10;&#10;AI-generated content may be incorrect.">
            <a:extLst>
              <a:ext uri="{FF2B5EF4-FFF2-40B4-BE49-F238E27FC236}">
                <a16:creationId xmlns:a16="http://schemas.microsoft.com/office/drawing/2014/main" id="{88A3D22E-A6EF-A83A-86D5-C96D877CA4B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445647" y="719916"/>
            <a:ext cx="3586922" cy="1040207"/>
          </a:xfrm>
          <a:custGeom>
            <a:avLst/>
            <a:gdLst/>
            <a:ahLst/>
            <a:cxnLst/>
            <a:rect l="l" t="t" r="r" b="b"/>
            <a:pathLst>
              <a:path w="2028107" h="1916009">
                <a:moveTo>
                  <a:pt x="35370" y="0"/>
                </a:moveTo>
                <a:lnTo>
                  <a:pt x="1992737" y="0"/>
                </a:lnTo>
                <a:cubicBezTo>
                  <a:pt x="2012271" y="0"/>
                  <a:pt x="2028107" y="15836"/>
                  <a:pt x="2028107" y="35370"/>
                </a:cubicBezTo>
                <a:lnTo>
                  <a:pt x="2028107" y="1880639"/>
                </a:lnTo>
                <a:cubicBezTo>
                  <a:pt x="2028107" y="1900173"/>
                  <a:pt x="2012271" y="1916009"/>
                  <a:pt x="1992737" y="1916009"/>
                </a:cubicBezTo>
                <a:lnTo>
                  <a:pt x="35370" y="1916009"/>
                </a:lnTo>
                <a:cubicBezTo>
                  <a:pt x="15836" y="1916009"/>
                  <a:pt x="0" y="1900173"/>
                  <a:pt x="0" y="1880639"/>
                </a:cubicBezTo>
                <a:lnTo>
                  <a:pt x="0" y="35370"/>
                </a:lnTo>
                <a:cubicBezTo>
                  <a:pt x="0" y="15836"/>
                  <a:pt x="15836" y="0"/>
                  <a:pt x="35370" y="0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427A8DB5-3232-D63A-5CDF-0D3AD6450C3C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825103" y="243054"/>
            <a:ext cx="3684008" cy="1703223"/>
          </a:xfrm>
          <a:prstGeom prst="rect">
            <a:avLst/>
          </a:prstGeom>
        </p:spPr>
      </p:pic>
      <p:sp>
        <p:nvSpPr>
          <p:cNvPr id="30" name="Title 1">
            <a:extLst>
              <a:ext uri="{FF2B5EF4-FFF2-40B4-BE49-F238E27FC236}">
                <a16:creationId xmlns:a16="http://schemas.microsoft.com/office/drawing/2014/main" id="{00FE6863-2F47-99AC-390A-A1BB2D1DD014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412841" y="2206093"/>
            <a:ext cx="9144000" cy="912598"/>
          </a:xfrm>
        </p:spPr>
        <p:txBody>
          <a:bodyPr>
            <a:noAutofit/>
          </a:bodyPr>
          <a:lstStyle>
            <a:lvl1pPr algn="ctr">
              <a:defRPr>
                <a:latin typeface="Aptos (Textkörper)"/>
              </a:defRPr>
            </a:lvl1pPr>
          </a:lstStyle>
          <a:p>
            <a:r>
              <a:rPr lang="it-IT" sz="4000" dirty="0"/>
              <a:t>Weekly report: Team X</a:t>
            </a:r>
            <a:endParaRPr lang="en-GB" sz="4000" dirty="0"/>
          </a:p>
        </p:txBody>
      </p:sp>
      <p:sp>
        <p:nvSpPr>
          <p:cNvPr id="31" name="Subtitle 2">
            <a:extLst>
              <a:ext uri="{FF2B5EF4-FFF2-40B4-BE49-F238E27FC236}">
                <a16:creationId xmlns:a16="http://schemas.microsoft.com/office/drawing/2014/main" id="{05E4BCC5-2CED-6F6C-22B8-AF74FB7ECFF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subTitle" idx="1" hasCustomPrompt="1"/>
          </p:nvPr>
        </p:nvSpPr>
        <p:spPr>
          <a:xfrm>
            <a:off x="1412841" y="3429000"/>
            <a:ext cx="9144000" cy="1143000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 algn="ctr">
              <a:buNone/>
              <a:defRPr sz="1400">
                <a:latin typeface="Aptos (Textkörper)"/>
              </a:defRPr>
            </a:lvl1pPr>
          </a:lstStyle>
          <a:p>
            <a:r>
              <a:rPr lang="it-IT" sz="2000" dirty="0"/>
              <a:t>Week </a:t>
            </a:r>
            <a:r>
              <a:rPr lang="it-IT" sz="2000" dirty="0" err="1"/>
              <a:t>number</a:t>
            </a:r>
            <a:r>
              <a:rPr lang="it-IT" sz="2000" dirty="0"/>
              <a:t>: X</a:t>
            </a:r>
          </a:p>
          <a:p>
            <a:r>
              <a:rPr lang="it-IT" sz="2000" dirty="0"/>
              <a:t>Date: DD/MM/20JJ</a:t>
            </a:r>
          </a:p>
          <a:p>
            <a:r>
              <a:rPr lang="it-IT" sz="2000" dirty="0"/>
              <a:t>Supervisor: X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05588F89-BF05-8BCF-9834-AE05DA2404B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idx="10" hasCustomPrompt="1"/>
          </p:nvPr>
        </p:nvSpPr>
        <p:spPr>
          <a:xfrm>
            <a:off x="3316826" y="4882309"/>
            <a:ext cx="5128821" cy="331717"/>
          </a:xfrm>
        </p:spPr>
        <p:txBody>
          <a:bodyPr anchor="b">
            <a:noAutofit/>
          </a:bodyPr>
          <a:lstStyle>
            <a:lvl1pPr marL="0" indent="0" algn="ctr">
              <a:buNone/>
              <a:defRPr sz="1400" b="0">
                <a:latin typeface="Aptos (Textkörper)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Group </a:t>
            </a:r>
            <a:r>
              <a:rPr lang="de-DE" dirty="0" err="1"/>
              <a:t>members</a:t>
            </a:r>
            <a:r>
              <a:rPr lang="de-DE" dirty="0"/>
              <a:t>: </a:t>
            </a: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83077A87-075C-C9F1-CF08-7A350F77E612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pic>
        <p:nvPicPr>
          <p:cNvPr id="26" name="Picture 18" descr="A white windmill with clouds in the background&#10;&#10;AI-generated content may be incorrect.">
            <a:extLst>
              <a:ext uri="{FF2B5EF4-FFF2-40B4-BE49-F238E27FC236}">
                <a16:creationId xmlns:a16="http://schemas.microsoft.com/office/drawing/2014/main" id="{B8218494-1E39-5AB1-96DD-936404956E5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79950" y="5430021"/>
            <a:ext cx="1753782" cy="1313633"/>
          </a:xfrm>
          <a:prstGeom prst="rect">
            <a:avLst/>
          </a:prstGeom>
        </p:spPr>
      </p:pic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B3C889B-2F55-2C2F-122E-E89ABE6A2D9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2AEE8E4-D792-40D2-B8D4-0007E21A0CF8}" type="datetime1">
              <a:rPr lang="en-GB" smtClean="0"/>
              <a:t>07/12/2025</a:t>
            </a:fld>
            <a:endParaRPr lang="en-GB" dirty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E2877DC7-CA1E-181B-77C7-99C60829ED5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/>
              <a:t>Optimus Syria</a:t>
            </a:r>
            <a:endParaRPr lang="en-GB" dirty="0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43E1ABD-9DAE-E035-8B0B-D41EFED3FC8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477309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2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CD36E4AE-BF2C-D504-0887-03D81D07CDC8}"/>
              </a:ext>
            </a:extLst>
          </p:cNvPr>
          <p:cNvSpPr/>
          <p:nvPr userDrawn="1"/>
        </p:nvSpPr>
        <p:spPr>
          <a:xfrm>
            <a:off x="-4172" y="6542492"/>
            <a:ext cx="12207494" cy="365126"/>
          </a:xfrm>
          <a:prstGeom prst="rect">
            <a:avLst/>
          </a:prstGeom>
          <a:solidFill>
            <a:srgbClr val="8ECEFA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7" name="Free-form: Shape 13">
            <a:extLst>
              <a:ext uri="{FF2B5EF4-FFF2-40B4-BE49-F238E27FC236}">
                <a16:creationId xmlns:a16="http://schemas.microsoft.com/office/drawing/2014/main" id="{7608A32D-44F3-01F2-D6ED-924DFF3CC333}"/>
              </a:ext>
            </a:extLst>
          </p:cNvPr>
          <p:cNvSpPr/>
          <p:nvPr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6B4C36-B64B-F839-789E-0C40D5E60E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GB" dirty="0"/>
          </a:p>
        </p:txBody>
      </p:sp>
      <p:sp>
        <p:nvSpPr>
          <p:cNvPr id="8" name="Free-form: Shape 13">
            <a:extLst>
              <a:ext uri="{FF2B5EF4-FFF2-40B4-BE49-F238E27FC236}">
                <a16:creationId xmlns:a16="http://schemas.microsoft.com/office/drawing/2014/main" id="{1DE142EE-E501-93E6-565D-AB4A5A647F0F}"/>
              </a:ext>
            </a:extLst>
          </p:cNvPr>
          <p:cNvSpPr/>
          <p:nvPr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Free-form: Shape 13">
            <a:extLst>
              <a:ext uri="{FF2B5EF4-FFF2-40B4-BE49-F238E27FC236}">
                <a16:creationId xmlns:a16="http://schemas.microsoft.com/office/drawing/2014/main" id="{776A7918-93DA-D7CE-97A3-DDF18B379B65}"/>
              </a:ext>
            </a:extLst>
          </p:cNvPr>
          <p:cNvSpPr/>
          <p:nvPr/>
        </p:nvSpPr>
        <p:spPr>
          <a:xfrm rot="10800000">
            <a:off x="-26376" y="-237830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64827E-F028-4C94-EB63-600BCABCD15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Team Name / Optimus Syria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B8DD39-3F07-862A-3C91-AC52452918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D593D3-E60D-CF97-AC8A-2B02D933B0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02AEE8E4-D792-40D2-B8D4-0007E21A0CF8}" type="datetime1">
              <a:rPr lang="en-GB" smtClean="0"/>
              <a:t>07/12/2025</a:t>
            </a:fld>
            <a:endParaRPr lang="en-GB" dirty="0"/>
          </a:p>
        </p:txBody>
      </p:sp>
      <p:sp>
        <p:nvSpPr>
          <p:cNvPr id="11" name="Free-form: Shape 13">
            <a:extLst>
              <a:ext uri="{FF2B5EF4-FFF2-40B4-BE49-F238E27FC236}">
                <a16:creationId xmlns:a16="http://schemas.microsoft.com/office/drawing/2014/main" id="{1ABD3F4B-4853-EC8E-00EB-5109F86CE0F1}"/>
              </a:ext>
            </a:extLst>
          </p:cNvPr>
          <p:cNvSpPr/>
          <p:nvPr userDrawn="1"/>
        </p:nvSpPr>
        <p:spPr>
          <a:xfrm rot="10800000">
            <a:off x="-35168" y="277945"/>
            <a:ext cx="12216286" cy="898824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4457699 w 9478107"/>
              <a:gd name="connsiteY2" fmla="*/ 373331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16261 w 9478107"/>
              <a:gd name="connsiteY3" fmla="*/ 33816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724642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9478107 w 9478107"/>
              <a:gd name="connsiteY4" fmla="*/ 346954 h 1270146"/>
              <a:gd name="connsiteX5" fmla="*/ 9469315 w 9478107"/>
              <a:gd name="connsiteY5" fmla="*/ 1252562 h 1270146"/>
              <a:gd name="connsiteX6" fmla="*/ 7253653 w 9478107"/>
              <a:gd name="connsiteY6" fmla="*/ 1243769 h 1270146"/>
              <a:gd name="connsiteX7" fmla="*/ 4826976 w 9478107"/>
              <a:gd name="connsiteY7" fmla="*/ 1270146 h 1270146"/>
              <a:gd name="connsiteX8" fmla="*/ 2751992 w 9478107"/>
              <a:gd name="connsiteY8" fmla="*/ 1261354 h 1270146"/>
              <a:gd name="connsiteX9" fmla="*/ 0 w 9478107"/>
              <a:gd name="connsiteY9" fmla="*/ 1208600 h 1270146"/>
              <a:gd name="connsiteX10" fmla="*/ 8792 w 9478107"/>
              <a:gd name="connsiteY10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755857 w 9478107"/>
              <a:gd name="connsiteY4" fmla="*/ 446231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8792 w 9478107"/>
              <a:gd name="connsiteY0" fmla="*/ 346954 h 1270146"/>
              <a:gd name="connsiteX1" fmla="*/ 2358147 w 9478107"/>
              <a:gd name="connsiteY1" fmla="*/ 302992 h 1270146"/>
              <a:gd name="connsiteX2" fmla="*/ 5127546 w 9478107"/>
              <a:gd name="connsiteY2" fmla="*/ 115678 h 1270146"/>
              <a:gd name="connsiteX3" fmla="*/ 7084613 w 9478107"/>
              <a:gd name="connsiteY3" fmla="*/ 647346 h 1270146"/>
              <a:gd name="connsiteX4" fmla="*/ 8557637 w 9478107"/>
              <a:gd name="connsiteY4" fmla="*/ 716768 h 1270146"/>
              <a:gd name="connsiteX5" fmla="*/ 9478107 w 9478107"/>
              <a:gd name="connsiteY5" fmla="*/ 346954 h 1270146"/>
              <a:gd name="connsiteX6" fmla="*/ 9469315 w 9478107"/>
              <a:gd name="connsiteY6" fmla="*/ 1252562 h 1270146"/>
              <a:gd name="connsiteX7" fmla="*/ 7253653 w 9478107"/>
              <a:gd name="connsiteY7" fmla="*/ 1243769 h 1270146"/>
              <a:gd name="connsiteX8" fmla="*/ 4826976 w 9478107"/>
              <a:gd name="connsiteY8" fmla="*/ 1270146 h 1270146"/>
              <a:gd name="connsiteX9" fmla="*/ 2751992 w 9478107"/>
              <a:gd name="connsiteY9" fmla="*/ 1261354 h 1270146"/>
              <a:gd name="connsiteX10" fmla="*/ 0 w 9478107"/>
              <a:gd name="connsiteY10" fmla="*/ 1208600 h 1270146"/>
              <a:gd name="connsiteX11" fmla="*/ 8792 w 9478107"/>
              <a:gd name="connsiteY11" fmla="*/ 346954 h 1270146"/>
              <a:gd name="connsiteX0" fmla="*/ 15627 w 9484942"/>
              <a:gd name="connsiteY0" fmla="*/ 346954 h 1277035"/>
              <a:gd name="connsiteX1" fmla="*/ 2364982 w 9484942"/>
              <a:gd name="connsiteY1" fmla="*/ 302992 h 1277035"/>
              <a:gd name="connsiteX2" fmla="*/ 5134381 w 9484942"/>
              <a:gd name="connsiteY2" fmla="*/ 115678 h 1277035"/>
              <a:gd name="connsiteX3" fmla="*/ 7091448 w 9484942"/>
              <a:gd name="connsiteY3" fmla="*/ 647346 h 1277035"/>
              <a:gd name="connsiteX4" fmla="*/ 8564472 w 9484942"/>
              <a:gd name="connsiteY4" fmla="*/ 716768 h 1277035"/>
              <a:gd name="connsiteX5" fmla="*/ 9484942 w 9484942"/>
              <a:gd name="connsiteY5" fmla="*/ 346954 h 1277035"/>
              <a:gd name="connsiteX6" fmla="*/ 9476150 w 9484942"/>
              <a:gd name="connsiteY6" fmla="*/ 1252562 h 1277035"/>
              <a:gd name="connsiteX7" fmla="*/ 7260488 w 9484942"/>
              <a:gd name="connsiteY7" fmla="*/ 1243769 h 1277035"/>
              <a:gd name="connsiteX8" fmla="*/ 4833811 w 9484942"/>
              <a:gd name="connsiteY8" fmla="*/ 1270146 h 1277035"/>
              <a:gd name="connsiteX9" fmla="*/ 2758827 w 9484942"/>
              <a:gd name="connsiteY9" fmla="*/ 1261354 h 1277035"/>
              <a:gd name="connsiteX10" fmla="*/ 0 w 9484942"/>
              <a:gd name="connsiteY10" fmla="*/ 1273013 h 1277035"/>
              <a:gd name="connsiteX11" fmla="*/ 15627 w 9484942"/>
              <a:gd name="connsiteY11" fmla="*/ 346954 h 1277035"/>
              <a:gd name="connsiteX0" fmla="*/ 15627 w 9484942"/>
              <a:gd name="connsiteY0" fmla="*/ 346954 h 1300002"/>
              <a:gd name="connsiteX1" fmla="*/ 2364982 w 9484942"/>
              <a:gd name="connsiteY1" fmla="*/ 302992 h 1300002"/>
              <a:gd name="connsiteX2" fmla="*/ 5134381 w 9484942"/>
              <a:gd name="connsiteY2" fmla="*/ 115678 h 1300002"/>
              <a:gd name="connsiteX3" fmla="*/ 7091448 w 9484942"/>
              <a:gd name="connsiteY3" fmla="*/ 647346 h 1300002"/>
              <a:gd name="connsiteX4" fmla="*/ 8564472 w 9484942"/>
              <a:gd name="connsiteY4" fmla="*/ 716768 h 1300002"/>
              <a:gd name="connsiteX5" fmla="*/ 9484942 w 9484942"/>
              <a:gd name="connsiteY5" fmla="*/ 346954 h 1300002"/>
              <a:gd name="connsiteX6" fmla="*/ 9476150 w 9484942"/>
              <a:gd name="connsiteY6" fmla="*/ 1252562 h 1300002"/>
              <a:gd name="connsiteX7" fmla="*/ 7260488 w 9484942"/>
              <a:gd name="connsiteY7" fmla="*/ 1243769 h 1300002"/>
              <a:gd name="connsiteX8" fmla="*/ 4833811 w 9484942"/>
              <a:gd name="connsiteY8" fmla="*/ 1270146 h 1300002"/>
              <a:gd name="connsiteX9" fmla="*/ 2779333 w 9484942"/>
              <a:gd name="connsiteY9" fmla="*/ 1300002 h 1300002"/>
              <a:gd name="connsiteX10" fmla="*/ 0 w 9484942"/>
              <a:gd name="connsiteY10" fmla="*/ 1273013 h 1300002"/>
              <a:gd name="connsiteX11" fmla="*/ 15627 w 9484942"/>
              <a:gd name="connsiteY11" fmla="*/ 346954 h 1300002"/>
              <a:gd name="connsiteX0" fmla="*/ 15627 w 9484942"/>
              <a:gd name="connsiteY0" fmla="*/ 346954 h 1346830"/>
              <a:gd name="connsiteX1" fmla="*/ 2364982 w 9484942"/>
              <a:gd name="connsiteY1" fmla="*/ 302992 h 1346830"/>
              <a:gd name="connsiteX2" fmla="*/ 5134381 w 9484942"/>
              <a:gd name="connsiteY2" fmla="*/ 115678 h 1346830"/>
              <a:gd name="connsiteX3" fmla="*/ 7091448 w 9484942"/>
              <a:gd name="connsiteY3" fmla="*/ 647346 h 1346830"/>
              <a:gd name="connsiteX4" fmla="*/ 8564472 w 9484942"/>
              <a:gd name="connsiteY4" fmla="*/ 716768 h 1346830"/>
              <a:gd name="connsiteX5" fmla="*/ 9484942 w 9484942"/>
              <a:gd name="connsiteY5" fmla="*/ 346954 h 1346830"/>
              <a:gd name="connsiteX6" fmla="*/ 9476150 w 9484942"/>
              <a:gd name="connsiteY6" fmla="*/ 1252562 h 1346830"/>
              <a:gd name="connsiteX7" fmla="*/ 7267323 w 9484942"/>
              <a:gd name="connsiteY7" fmla="*/ 1346830 h 1346830"/>
              <a:gd name="connsiteX8" fmla="*/ 4833811 w 9484942"/>
              <a:gd name="connsiteY8" fmla="*/ 1270146 h 1346830"/>
              <a:gd name="connsiteX9" fmla="*/ 2779333 w 9484942"/>
              <a:gd name="connsiteY9" fmla="*/ 1300002 h 1346830"/>
              <a:gd name="connsiteX10" fmla="*/ 0 w 9484942"/>
              <a:gd name="connsiteY10" fmla="*/ 1273013 h 1346830"/>
              <a:gd name="connsiteX11" fmla="*/ 15627 w 9484942"/>
              <a:gd name="connsiteY11" fmla="*/ 346954 h 1346830"/>
              <a:gd name="connsiteX0" fmla="*/ 15627 w 9484942"/>
              <a:gd name="connsiteY0" fmla="*/ 346954 h 1308182"/>
              <a:gd name="connsiteX1" fmla="*/ 2364982 w 9484942"/>
              <a:gd name="connsiteY1" fmla="*/ 302992 h 1308182"/>
              <a:gd name="connsiteX2" fmla="*/ 5134381 w 9484942"/>
              <a:gd name="connsiteY2" fmla="*/ 115678 h 1308182"/>
              <a:gd name="connsiteX3" fmla="*/ 7091448 w 9484942"/>
              <a:gd name="connsiteY3" fmla="*/ 647346 h 1308182"/>
              <a:gd name="connsiteX4" fmla="*/ 8564472 w 9484942"/>
              <a:gd name="connsiteY4" fmla="*/ 716768 h 1308182"/>
              <a:gd name="connsiteX5" fmla="*/ 9484942 w 9484942"/>
              <a:gd name="connsiteY5" fmla="*/ 346954 h 1308182"/>
              <a:gd name="connsiteX6" fmla="*/ 9476150 w 9484942"/>
              <a:gd name="connsiteY6" fmla="*/ 1252562 h 1308182"/>
              <a:gd name="connsiteX7" fmla="*/ 7246817 w 9484942"/>
              <a:gd name="connsiteY7" fmla="*/ 1308182 h 1308182"/>
              <a:gd name="connsiteX8" fmla="*/ 4833811 w 9484942"/>
              <a:gd name="connsiteY8" fmla="*/ 1270146 h 1308182"/>
              <a:gd name="connsiteX9" fmla="*/ 2779333 w 9484942"/>
              <a:gd name="connsiteY9" fmla="*/ 1300002 h 1308182"/>
              <a:gd name="connsiteX10" fmla="*/ 0 w 9484942"/>
              <a:gd name="connsiteY10" fmla="*/ 1273013 h 1308182"/>
              <a:gd name="connsiteX11" fmla="*/ 15627 w 9484942"/>
              <a:gd name="connsiteY11" fmla="*/ 346954 h 1308182"/>
              <a:gd name="connsiteX0" fmla="*/ 15627 w 9496987"/>
              <a:gd name="connsiteY0" fmla="*/ 346954 h 1316976"/>
              <a:gd name="connsiteX1" fmla="*/ 2364982 w 9496987"/>
              <a:gd name="connsiteY1" fmla="*/ 302992 h 1316976"/>
              <a:gd name="connsiteX2" fmla="*/ 5134381 w 9496987"/>
              <a:gd name="connsiteY2" fmla="*/ 115678 h 1316976"/>
              <a:gd name="connsiteX3" fmla="*/ 7091448 w 9496987"/>
              <a:gd name="connsiteY3" fmla="*/ 647346 h 1316976"/>
              <a:gd name="connsiteX4" fmla="*/ 8564472 w 9496987"/>
              <a:gd name="connsiteY4" fmla="*/ 716768 h 1316976"/>
              <a:gd name="connsiteX5" fmla="*/ 9484942 w 9496987"/>
              <a:gd name="connsiteY5" fmla="*/ 346954 h 1316976"/>
              <a:gd name="connsiteX6" fmla="*/ 9496656 w 9496987"/>
              <a:gd name="connsiteY6" fmla="*/ 1316976 h 1316976"/>
              <a:gd name="connsiteX7" fmla="*/ 7246817 w 9496987"/>
              <a:gd name="connsiteY7" fmla="*/ 1308182 h 1316976"/>
              <a:gd name="connsiteX8" fmla="*/ 4833811 w 9496987"/>
              <a:gd name="connsiteY8" fmla="*/ 1270146 h 1316976"/>
              <a:gd name="connsiteX9" fmla="*/ 2779333 w 9496987"/>
              <a:gd name="connsiteY9" fmla="*/ 1300002 h 1316976"/>
              <a:gd name="connsiteX10" fmla="*/ 0 w 9496987"/>
              <a:gd name="connsiteY10" fmla="*/ 1273013 h 1316976"/>
              <a:gd name="connsiteX11" fmla="*/ 15627 w 9496987"/>
              <a:gd name="connsiteY11" fmla="*/ 346954 h 13169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96987" h="1316976">
                <a:moveTo>
                  <a:pt x="15627" y="346954"/>
                </a:moveTo>
                <a:cubicBezTo>
                  <a:pt x="677981" y="352815"/>
                  <a:pt x="1280597" y="-406254"/>
                  <a:pt x="2364982" y="302992"/>
                </a:cubicBezTo>
                <a:cubicBezTo>
                  <a:pt x="3590042" y="1000515"/>
                  <a:pt x="4346637" y="58286"/>
                  <a:pt x="5134381" y="115678"/>
                </a:cubicBezTo>
                <a:cubicBezTo>
                  <a:pt x="5922125" y="173070"/>
                  <a:pt x="6479894" y="562194"/>
                  <a:pt x="7091448" y="647346"/>
                </a:cubicBezTo>
                <a:cubicBezTo>
                  <a:pt x="7703002" y="732498"/>
                  <a:pt x="8165556" y="766833"/>
                  <a:pt x="8564472" y="716768"/>
                </a:cubicBezTo>
                <a:cubicBezTo>
                  <a:pt x="8963388" y="666703"/>
                  <a:pt x="9372868" y="242625"/>
                  <a:pt x="9484942" y="346954"/>
                </a:cubicBezTo>
                <a:cubicBezTo>
                  <a:pt x="9482011" y="648823"/>
                  <a:pt x="9499587" y="1015107"/>
                  <a:pt x="9496656" y="1316976"/>
                </a:cubicBezTo>
                <a:lnTo>
                  <a:pt x="7246817" y="1308182"/>
                </a:lnTo>
                <a:lnTo>
                  <a:pt x="4833811" y="1270146"/>
                </a:lnTo>
                <a:lnTo>
                  <a:pt x="2779333" y="1300002"/>
                </a:lnTo>
                <a:lnTo>
                  <a:pt x="0" y="1273013"/>
                </a:lnTo>
                <a:cubicBezTo>
                  <a:pt x="2931" y="988728"/>
                  <a:pt x="3903" y="648823"/>
                  <a:pt x="15627" y="346954"/>
                </a:cubicBezTo>
                <a:close/>
              </a:path>
            </a:pathLst>
          </a:custGeom>
          <a:gradFill flip="none" rotWithShape="1">
            <a:gsLst>
              <a:gs pos="0">
                <a:schemeClr val="accent4">
                  <a:lumMod val="20000"/>
                  <a:lumOff val="80000"/>
                </a:schemeClr>
              </a:gs>
              <a:gs pos="50000">
                <a:schemeClr val="bg1"/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15875">
            <a:solidFill>
              <a:schemeClr val="accent1">
                <a:alpha val="0"/>
              </a:schemeClr>
            </a:solidFill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2" name="Free-form: Shape 13">
            <a:extLst>
              <a:ext uri="{FF2B5EF4-FFF2-40B4-BE49-F238E27FC236}">
                <a16:creationId xmlns:a16="http://schemas.microsoft.com/office/drawing/2014/main" id="{2BF40EC9-0D42-5E08-04BD-F330229C7518}"/>
              </a:ext>
            </a:extLst>
          </p:cNvPr>
          <p:cNvSpPr/>
          <p:nvPr userDrawn="1"/>
        </p:nvSpPr>
        <p:spPr>
          <a:xfrm rot="10800000">
            <a:off x="-2090" y="-18190"/>
            <a:ext cx="12192000" cy="898826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478107" h="1273677">
                <a:moveTo>
                  <a:pt x="8792" y="350485"/>
                </a:moveTo>
                <a:cubicBezTo>
                  <a:pt x="671146" y="356346"/>
                  <a:pt x="973014" y="-402723"/>
                  <a:pt x="2057399" y="306523"/>
                </a:cubicBezTo>
                <a:cubicBezTo>
                  <a:pt x="3282459" y="1004046"/>
                  <a:pt x="3979984" y="611323"/>
                  <a:pt x="4457699" y="376862"/>
                </a:cubicBezTo>
                <a:cubicBezTo>
                  <a:pt x="5723792" y="-223945"/>
                  <a:pt x="6216161" y="-7069"/>
                  <a:pt x="7016261" y="341693"/>
                </a:cubicBezTo>
                <a:cubicBezTo>
                  <a:pt x="8672145" y="977671"/>
                  <a:pt x="8657492" y="347554"/>
                  <a:pt x="9478107" y="350485"/>
                </a:cubicBezTo>
                <a:cubicBezTo>
                  <a:pt x="9475176" y="652354"/>
                  <a:pt x="9472246" y="954224"/>
                  <a:pt x="9469315" y="1256093"/>
                </a:cubicBezTo>
                <a:lnTo>
                  <a:pt x="7253653" y="1247300"/>
                </a:lnTo>
                <a:lnTo>
                  <a:pt x="4826976" y="1273677"/>
                </a:lnTo>
                <a:lnTo>
                  <a:pt x="2751992" y="1264885"/>
                </a:lnTo>
                <a:lnTo>
                  <a:pt x="0" y="1212131"/>
                </a:lnTo>
                <a:cubicBezTo>
                  <a:pt x="2931" y="927846"/>
                  <a:pt x="-2932" y="652354"/>
                  <a:pt x="8792" y="350485"/>
                </a:cubicBezTo>
                <a:close/>
              </a:path>
            </a:pathLst>
          </a:cu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Free-form: Shape 13">
            <a:extLst>
              <a:ext uri="{FF2B5EF4-FFF2-40B4-BE49-F238E27FC236}">
                <a16:creationId xmlns:a16="http://schemas.microsoft.com/office/drawing/2014/main" id="{0BB1BAA4-B843-57F3-9FCE-C9585D332FAE}"/>
              </a:ext>
            </a:extLst>
          </p:cNvPr>
          <p:cNvSpPr/>
          <p:nvPr userDrawn="1"/>
        </p:nvSpPr>
        <p:spPr>
          <a:xfrm rot="10800000">
            <a:off x="-26376" y="-254312"/>
            <a:ext cx="12218376" cy="965187"/>
          </a:xfrm>
          <a:custGeom>
            <a:avLst/>
            <a:gdLst>
              <a:gd name="connsiteX0" fmla="*/ 17585 w 9486900"/>
              <a:gd name="connsiteY0" fmla="*/ 8792 h 931984"/>
              <a:gd name="connsiteX1" fmla="*/ 2004646 w 9486900"/>
              <a:gd name="connsiteY1" fmla="*/ 26376 h 931984"/>
              <a:gd name="connsiteX2" fmla="*/ 4466492 w 9486900"/>
              <a:gd name="connsiteY2" fmla="*/ 35169 h 931984"/>
              <a:gd name="connsiteX3" fmla="*/ 7025054 w 9486900"/>
              <a:gd name="connsiteY3" fmla="*/ 0 h 931984"/>
              <a:gd name="connsiteX4" fmla="*/ 9486900 w 9486900"/>
              <a:gd name="connsiteY4" fmla="*/ 8792 h 931984"/>
              <a:gd name="connsiteX5" fmla="*/ 9478108 w 9486900"/>
              <a:gd name="connsiteY5" fmla="*/ 914400 h 931984"/>
              <a:gd name="connsiteX6" fmla="*/ 7262446 w 9486900"/>
              <a:gd name="connsiteY6" fmla="*/ 905607 h 931984"/>
              <a:gd name="connsiteX7" fmla="*/ 4835769 w 9486900"/>
              <a:gd name="connsiteY7" fmla="*/ 931984 h 931984"/>
              <a:gd name="connsiteX8" fmla="*/ 2760785 w 9486900"/>
              <a:gd name="connsiteY8" fmla="*/ 923192 h 931984"/>
              <a:gd name="connsiteX9" fmla="*/ 0 w 9486900"/>
              <a:gd name="connsiteY9" fmla="*/ 879230 h 931984"/>
              <a:gd name="connsiteX10" fmla="*/ 17585 w 9486900"/>
              <a:gd name="connsiteY10" fmla="*/ 8792 h 931984"/>
              <a:gd name="connsiteX0" fmla="*/ 17585 w 9486900"/>
              <a:gd name="connsiteY0" fmla="*/ 168095 h 1091287"/>
              <a:gd name="connsiteX1" fmla="*/ 2004646 w 9486900"/>
              <a:gd name="connsiteY1" fmla="*/ 185679 h 1091287"/>
              <a:gd name="connsiteX2" fmla="*/ 4466492 w 9486900"/>
              <a:gd name="connsiteY2" fmla="*/ 194472 h 1091287"/>
              <a:gd name="connsiteX3" fmla="*/ 7025054 w 9486900"/>
              <a:gd name="connsiteY3" fmla="*/ 159303 h 1091287"/>
              <a:gd name="connsiteX4" fmla="*/ 9486900 w 9486900"/>
              <a:gd name="connsiteY4" fmla="*/ 168095 h 1091287"/>
              <a:gd name="connsiteX5" fmla="*/ 9478108 w 9486900"/>
              <a:gd name="connsiteY5" fmla="*/ 1073703 h 1091287"/>
              <a:gd name="connsiteX6" fmla="*/ 7262446 w 9486900"/>
              <a:gd name="connsiteY6" fmla="*/ 1064910 h 1091287"/>
              <a:gd name="connsiteX7" fmla="*/ 4835769 w 9486900"/>
              <a:gd name="connsiteY7" fmla="*/ 1091287 h 1091287"/>
              <a:gd name="connsiteX8" fmla="*/ 2760785 w 9486900"/>
              <a:gd name="connsiteY8" fmla="*/ 1082495 h 1091287"/>
              <a:gd name="connsiteX9" fmla="*/ 0 w 9486900"/>
              <a:gd name="connsiteY9" fmla="*/ 1038533 h 1091287"/>
              <a:gd name="connsiteX10" fmla="*/ 17585 w 9486900"/>
              <a:gd name="connsiteY10" fmla="*/ 168095 h 1091287"/>
              <a:gd name="connsiteX0" fmla="*/ 17585 w 9486900"/>
              <a:gd name="connsiteY0" fmla="*/ 234508 h 1157700"/>
              <a:gd name="connsiteX1" fmla="*/ 2004646 w 9486900"/>
              <a:gd name="connsiteY1" fmla="*/ 252092 h 1157700"/>
              <a:gd name="connsiteX2" fmla="*/ 4466492 w 9486900"/>
              <a:gd name="connsiteY2" fmla="*/ 260885 h 1157700"/>
              <a:gd name="connsiteX3" fmla="*/ 7025054 w 9486900"/>
              <a:gd name="connsiteY3" fmla="*/ 225716 h 1157700"/>
              <a:gd name="connsiteX4" fmla="*/ 9486900 w 9486900"/>
              <a:gd name="connsiteY4" fmla="*/ 234508 h 1157700"/>
              <a:gd name="connsiteX5" fmla="*/ 9478108 w 9486900"/>
              <a:gd name="connsiteY5" fmla="*/ 1140116 h 1157700"/>
              <a:gd name="connsiteX6" fmla="*/ 7262446 w 9486900"/>
              <a:gd name="connsiteY6" fmla="*/ 1131323 h 1157700"/>
              <a:gd name="connsiteX7" fmla="*/ 4835769 w 9486900"/>
              <a:gd name="connsiteY7" fmla="*/ 1157700 h 1157700"/>
              <a:gd name="connsiteX8" fmla="*/ 2760785 w 9486900"/>
              <a:gd name="connsiteY8" fmla="*/ 1148908 h 1157700"/>
              <a:gd name="connsiteX9" fmla="*/ 0 w 9486900"/>
              <a:gd name="connsiteY9" fmla="*/ 1104946 h 1157700"/>
              <a:gd name="connsiteX10" fmla="*/ 17585 w 9486900"/>
              <a:gd name="connsiteY10" fmla="*/ 234508 h 115770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17585 w 9486900"/>
              <a:gd name="connsiteY0" fmla="*/ 375168 h 1298360"/>
              <a:gd name="connsiteX1" fmla="*/ 2004646 w 9486900"/>
              <a:gd name="connsiteY1" fmla="*/ 392752 h 1298360"/>
              <a:gd name="connsiteX2" fmla="*/ 4466492 w 9486900"/>
              <a:gd name="connsiteY2" fmla="*/ 401545 h 1298360"/>
              <a:gd name="connsiteX3" fmla="*/ 7025054 w 9486900"/>
              <a:gd name="connsiteY3" fmla="*/ 366376 h 1298360"/>
              <a:gd name="connsiteX4" fmla="*/ 9486900 w 9486900"/>
              <a:gd name="connsiteY4" fmla="*/ 375168 h 1298360"/>
              <a:gd name="connsiteX5" fmla="*/ 9478108 w 9486900"/>
              <a:gd name="connsiteY5" fmla="*/ 1280776 h 1298360"/>
              <a:gd name="connsiteX6" fmla="*/ 7262446 w 9486900"/>
              <a:gd name="connsiteY6" fmla="*/ 1271983 h 1298360"/>
              <a:gd name="connsiteX7" fmla="*/ 4835769 w 9486900"/>
              <a:gd name="connsiteY7" fmla="*/ 1298360 h 1298360"/>
              <a:gd name="connsiteX8" fmla="*/ 2760785 w 9486900"/>
              <a:gd name="connsiteY8" fmla="*/ 1289568 h 1298360"/>
              <a:gd name="connsiteX9" fmla="*/ 0 w 9486900"/>
              <a:gd name="connsiteY9" fmla="*/ 1245606 h 1298360"/>
              <a:gd name="connsiteX10" fmla="*/ 17585 w 9486900"/>
              <a:gd name="connsiteY10" fmla="*/ 375168 h 1298360"/>
              <a:gd name="connsiteX0" fmla="*/ 8792 w 9478107"/>
              <a:gd name="connsiteY0" fmla="*/ 375168 h 1298360"/>
              <a:gd name="connsiteX1" fmla="*/ 1995853 w 9478107"/>
              <a:gd name="connsiteY1" fmla="*/ 392752 h 1298360"/>
              <a:gd name="connsiteX2" fmla="*/ 4457699 w 9478107"/>
              <a:gd name="connsiteY2" fmla="*/ 401545 h 1298360"/>
              <a:gd name="connsiteX3" fmla="*/ 7016261 w 9478107"/>
              <a:gd name="connsiteY3" fmla="*/ 366376 h 1298360"/>
              <a:gd name="connsiteX4" fmla="*/ 9478107 w 9478107"/>
              <a:gd name="connsiteY4" fmla="*/ 375168 h 1298360"/>
              <a:gd name="connsiteX5" fmla="*/ 9469315 w 9478107"/>
              <a:gd name="connsiteY5" fmla="*/ 1280776 h 1298360"/>
              <a:gd name="connsiteX6" fmla="*/ 7253653 w 9478107"/>
              <a:gd name="connsiteY6" fmla="*/ 1271983 h 1298360"/>
              <a:gd name="connsiteX7" fmla="*/ 4826976 w 9478107"/>
              <a:gd name="connsiteY7" fmla="*/ 1298360 h 1298360"/>
              <a:gd name="connsiteX8" fmla="*/ 2751992 w 9478107"/>
              <a:gd name="connsiteY8" fmla="*/ 1289568 h 1298360"/>
              <a:gd name="connsiteX9" fmla="*/ 0 w 9478107"/>
              <a:gd name="connsiteY9" fmla="*/ 1236814 h 1298360"/>
              <a:gd name="connsiteX10" fmla="*/ 8792 w 9478107"/>
              <a:gd name="connsiteY10" fmla="*/ 375168 h 1298360"/>
              <a:gd name="connsiteX0" fmla="*/ 8792 w 9478107"/>
              <a:gd name="connsiteY0" fmla="*/ 421112 h 1344304"/>
              <a:gd name="connsiteX1" fmla="*/ 2057399 w 9478107"/>
              <a:gd name="connsiteY1" fmla="*/ 377150 h 1344304"/>
              <a:gd name="connsiteX2" fmla="*/ 4457699 w 9478107"/>
              <a:gd name="connsiteY2" fmla="*/ 447489 h 1344304"/>
              <a:gd name="connsiteX3" fmla="*/ 7016261 w 9478107"/>
              <a:gd name="connsiteY3" fmla="*/ 412320 h 1344304"/>
              <a:gd name="connsiteX4" fmla="*/ 9478107 w 9478107"/>
              <a:gd name="connsiteY4" fmla="*/ 421112 h 1344304"/>
              <a:gd name="connsiteX5" fmla="*/ 9469315 w 9478107"/>
              <a:gd name="connsiteY5" fmla="*/ 1326720 h 1344304"/>
              <a:gd name="connsiteX6" fmla="*/ 7253653 w 9478107"/>
              <a:gd name="connsiteY6" fmla="*/ 1317927 h 1344304"/>
              <a:gd name="connsiteX7" fmla="*/ 4826976 w 9478107"/>
              <a:gd name="connsiteY7" fmla="*/ 1344304 h 1344304"/>
              <a:gd name="connsiteX8" fmla="*/ 2751992 w 9478107"/>
              <a:gd name="connsiteY8" fmla="*/ 1335512 h 1344304"/>
              <a:gd name="connsiteX9" fmla="*/ 0 w 9478107"/>
              <a:gd name="connsiteY9" fmla="*/ 1282758 h 1344304"/>
              <a:gd name="connsiteX10" fmla="*/ 8792 w 9478107"/>
              <a:gd name="connsiteY10" fmla="*/ 421112 h 1344304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9478107 w 9478107"/>
              <a:gd name="connsiteY4" fmla="*/ 350485 h 1273677"/>
              <a:gd name="connsiteX5" fmla="*/ 9469315 w 9478107"/>
              <a:gd name="connsiteY5" fmla="*/ 1256093 h 1273677"/>
              <a:gd name="connsiteX6" fmla="*/ 7253653 w 9478107"/>
              <a:gd name="connsiteY6" fmla="*/ 1247300 h 1273677"/>
              <a:gd name="connsiteX7" fmla="*/ 4826976 w 9478107"/>
              <a:gd name="connsiteY7" fmla="*/ 1273677 h 1273677"/>
              <a:gd name="connsiteX8" fmla="*/ 2751992 w 9478107"/>
              <a:gd name="connsiteY8" fmla="*/ 1264885 h 1273677"/>
              <a:gd name="connsiteX9" fmla="*/ 0 w 9478107"/>
              <a:gd name="connsiteY9" fmla="*/ 1212131 h 1273677"/>
              <a:gd name="connsiteX10" fmla="*/ 8792 w 9478107"/>
              <a:gd name="connsiteY10" fmla="*/ 350485 h 1273677"/>
              <a:gd name="connsiteX0" fmla="*/ 8792 w 9478107"/>
              <a:gd name="connsiteY0" fmla="*/ 350485 h 1273677"/>
              <a:gd name="connsiteX1" fmla="*/ 2057399 w 9478107"/>
              <a:gd name="connsiteY1" fmla="*/ 306523 h 1273677"/>
              <a:gd name="connsiteX2" fmla="*/ 4457699 w 9478107"/>
              <a:gd name="connsiteY2" fmla="*/ 376862 h 1273677"/>
              <a:gd name="connsiteX3" fmla="*/ 7016261 w 9478107"/>
              <a:gd name="connsiteY3" fmla="*/ 341693 h 1273677"/>
              <a:gd name="connsiteX4" fmla="*/ 8414099 w 9478107"/>
              <a:gd name="connsiteY4" fmla="*/ 797823 h 1273677"/>
              <a:gd name="connsiteX5" fmla="*/ 9478107 w 9478107"/>
              <a:gd name="connsiteY5" fmla="*/ 350485 h 1273677"/>
              <a:gd name="connsiteX6" fmla="*/ 9469315 w 9478107"/>
              <a:gd name="connsiteY6" fmla="*/ 1256093 h 1273677"/>
              <a:gd name="connsiteX7" fmla="*/ 7253653 w 9478107"/>
              <a:gd name="connsiteY7" fmla="*/ 1247300 h 1273677"/>
              <a:gd name="connsiteX8" fmla="*/ 4826976 w 9478107"/>
              <a:gd name="connsiteY8" fmla="*/ 1273677 h 1273677"/>
              <a:gd name="connsiteX9" fmla="*/ 2751992 w 9478107"/>
              <a:gd name="connsiteY9" fmla="*/ 1264885 h 1273677"/>
              <a:gd name="connsiteX10" fmla="*/ 0 w 9478107"/>
              <a:gd name="connsiteY10" fmla="*/ 1212131 h 1273677"/>
              <a:gd name="connsiteX11" fmla="*/ 8792 w 9478107"/>
              <a:gd name="connsiteY11" fmla="*/ 350485 h 1273677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78107"/>
              <a:gd name="connsiteY0" fmla="*/ 463370 h 1386562"/>
              <a:gd name="connsiteX1" fmla="*/ 2057399 w 9478107"/>
              <a:gd name="connsiteY1" fmla="*/ 419408 h 1386562"/>
              <a:gd name="connsiteX2" fmla="*/ 4457699 w 9478107"/>
              <a:gd name="connsiteY2" fmla="*/ 489747 h 1386562"/>
              <a:gd name="connsiteX3" fmla="*/ 7009426 w 9478107"/>
              <a:gd name="connsiteY3" fmla="*/ 98357 h 1386562"/>
              <a:gd name="connsiteX4" fmla="*/ 8414099 w 9478107"/>
              <a:gd name="connsiteY4" fmla="*/ 910708 h 1386562"/>
              <a:gd name="connsiteX5" fmla="*/ 9478107 w 9478107"/>
              <a:gd name="connsiteY5" fmla="*/ 463370 h 1386562"/>
              <a:gd name="connsiteX6" fmla="*/ 9469315 w 9478107"/>
              <a:gd name="connsiteY6" fmla="*/ 1368978 h 1386562"/>
              <a:gd name="connsiteX7" fmla="*/ 7253653 w 9478107"/>
              <a:gd name="connsiteY7" fmla="*/ 1360185 h 1386562"/>
              <a:gd name="connsiteX8" fmla="*/ 4826976 w 9478107"/>
              <a:gd name="connsiteY8" fmla="*/ 1386562 h 1386562"/>
              <a:gd name="connsiteX9" fmla="*/ 2751992 w 9478107"/>
              <a:gd name="connsiteY9" fmla="*/ 1377770 h 1386562"/>
              <a:gd name="connsiteX10" fmla="*/ 0 w 9478107"/>
              <a:gd name="connsiteY10" fmla="*/ 1325016 h 1386562"/>
              <a:gd name="connsiteX11" fmla="*/ 8792 w 9478107"/>
              <a:gd name="connsiteY11" fmla="*/ 463370 h 1386562"/>
              <a:gd name="connsiteX0" fmla="*/ 8792 w 9498612"/>
              <a:gd name="connsiteY0" fmla="*/ 463370 h 1386562"/>
              <a:gd name="connsiteX1" fmla="*/ 2057399 w 9498612"/>
              <a:gd name="connsiteY1" fmla="*/ 419408 h 1386562"/>
              <a:gd name="connsiteX2" fmla="*/ 4457699 w 9498612"/>
              <a:gd name="connsiteY2" fmla="*/ 489747 h 1386562"/>
              <a:gd name="connsiteX3" fmla="*/ 7009426 w 9498612"/>
              <a:gd name="connsiteY3" fmla="*/ 98357 h 1386562"/>
              <a:gd name="connsiteX4" fmla="*/ 8414099 w 9498612"/>
              <a:gd name="connsiteY4" fmla="*/ 910708 h 1386562"/>
              <a:gd name="connsiteX5" fmla="*/ 9498612 w 9498612"/>
              <a:gd name="connsiteY5" fmla="*/ 200892 h 1386562"/>
              <a:gd name="connsiteX6" fmla="*/ 9469315 w 9498612"/>
              <a:gd name="connsiteY6" fmla="*/ 1368978 h 1386562"/>
              <a:gd name="connsiteX7" fmla="*/ 7253653 w 9498612"/>
              <a:gd name="connsiteY7" fmla="*/ 1360185 h 1386562"/>
              <a:gd name="connsiteX8" fmla="*/ 4826976 w 9498612"/>
              <a:gd name="connsiteY8" fmla="*/ 1386562 h 1386562"/>
              <a:gd name="connsiteX9" fmla="*/ 2751992 w 9498612"/>
              <a:gd name="connsiteY9" fmla="*/ 1377770 h 1386562"/>
              <a:gd name="connsiteX10" fmla="*/ 0 w 9498612"/>
              <a:gd name="connsiteY10" fmla="*/ 1325016 h 1386562"/>
              <a:gd name="connsiteX11" fmla="*/ 8792 w 9498612"/>
              <a:gd name="connsiteY11" fmla="*/ 463370 h 1386562"/>
              <a:gd name="connsiteX0" fmla="*/ 8792 w 9498612"/>
              <a:gd name="connsiteY0" fmla="*/ 444298 h 1367490"/>
              <a:gd name="connsiteX1" fmla="*/ 2057399 w 9498612"/>
              <a:gd name="connsiteY1" fmla="*/ 400336 h 1367490"/>
              <a:gd name="connsiteX2" fmla="*/ 4320995 w 9498612"/>
              <a:gd name="connsiteY2" fmla="*/ 695656 h 1367490"/>
              <a:gd name="connsiteX3" fmla="*/ 7009426 w 9498612"/>
              <a:gd name="connsiteY3" fmla="*/ 79285 h 1367490"/>
              <a:gd name="connsiteX4" fmla="*/ 8414099 w 9498612"/>
              <a:gd name="connsiteY4" fmla="*/ 891636 h 1367490"/>
              <a:gd name="connsiteX5" fmla="*/ 9498612 w 9498612"/>
              <a:gd name="connsiteY5" fmla="*/ 181820 h 1367490"/>
              <a:gd name="connsiteX6" fmla="*/ 9469315 w 9498612"/>
              <a:gd name="connsiteY6" fmla="*/ 1349906 h 1367490"/>
              <a:gd name="connsiteX7" fmla="*/ 7253653 w 9498612"/>
              <a:gd name="connsiteY7" fmla="*/ 1341113 h 1367490"/>
              <a:gd name="connsiteX8" fmla="*/ 4826976 w 9498612"/>
              <a:gd name="connsiteY8" fmla="*/ 1367490 h 1367490"/>
              <a:gd name="connsiteX9" fmla="*/ 2751992 w 9498612"/>
              <a:gd name="connsiteY9" fmla="*/ 1358698 h 1367490"/>
              <a:gd name="connsiteX10" fmla="*/ 0 w 9498612"/>
              <a:gd name="connsiteY10" fmla="*/ 1305944 h 1367490"/>
              <a:gd name="connsiteX11" fmla="*/ 8792 w 9498612"/>
              <a:gd name="connsiteY11" fmla="*/ 444298 h 1367490"/>
              <a:gd name="connsiteX0" fmla="*/ 8792 w 9498612"/>
              <a:gd name="connsiteY0" fmla="*/ 428789 h 1351981"/>
              <a:gd name="connsiteX1" fmla="*/ 2057399 w 9498612"/>
              <a:gd name="connsiteY1" fmla="*/ 384827 h 1351981"/>
              <a:gd name="connsiteX2" fmla="*/ 3698995 w 9498612"/>
              <a:gd name="connsiteY2" fmla="*/ 961374 h 1351981"/>
              <a:gd name="connsiteX3" fmla="*/ 7009426 w 9498612"/>
              <a:gd name="connsiteY3" fmla="*/ 63776 h 1351981"/>
              <a:gd name="connsiteX4" fmla="*/ 8414099 w 9498612"/>
              <a:gd name="connsiteY4" fmla="*/ 876127 h 1351981"/>
              <a:gd name="connsiteX5" fmla="*/ 9498612 w 9498612"/>
              <a:gd name="connsiteY5" fmla="*/ 166311 h 1351981"/>
              <a:gd name="connsiteX6" fmla="*/ 9469315 w 9498612"/>
              <a:gd name="connsiteY6" fmla="*/ 1334397 h 1351981"/>
              <a:gd name="connsiteX7" fmla="*/ 7253653 w 9498612"/>
              <a:gd name="connsiteY7" fmla="*/ 1325604 h 1351981"/>
              <a:gd name="connsiteX8" fmla="*/ 4826976 w 9498612"/>
              <a:gd name="connsiteY8" fmla="*/ 1351981 h 1351981"/>
              <a:gd name="connsiteX9" fmla="*/ 2751992 w 9498612"/>
              <a:gd name="connsiteY9" fmla="*/ 1343189 h 1351981"/>
              <a:gd name="connsiteX10" fmla="*/ 0 w 9498612"/>
              <a:gd name="connsiteY10" fmla="*/ 1290435 h 1351981"/>
              <a:gd name="connsiteX11" fmla="*/ 8792 w 9498612"/>
              <a:gd name="connsiteY11" fmla="*/ 428789 h 1351981"/>
              <a:gd name="connsiteX0" fmla="*/ 8792 w 9498612"/>
              <a:gd name="connsiteY0" fmla="*/ 595005 h 1518197"/>
              <a:gd name="connsiteX1" fmla="*/ 2057399 w 9498612"/>
              <a:gd name="connsiteY1" fmla="*/ 551043 h 1518197"/>
              <a:gd name="connsiteX2" fmla="*/ 3698995 w 9498612"/>
              <a:gd name="connsiteY2" fmla="*/ 1127590 h 1518197"/>
              <a:gd name="connsiteX3" fmla="*/ 5386116 w 9498612"/>
              <a:gd name="connsiteY3" fmla="*/ 48678 h 1518197"/>
              <a:gd name="connsiteX4" fmla="*/ 7009426 w 9498612"/>
              <a:gd name="connsiteY4" fmla="*/ 229992 h 1518197"/>
              <a:gd name="connsiteX5" fmla="*/ 8414099 w 9498612"/>
              <a:gd name="connsiteY5" fmla="*/ 1042343 h 1518197"/>
              <a:gd name="connsiteX6" fmla="*/ 9498612 w 9498612"/>
              <a:gd name="connsiteY6" fmla="*/ 332527 h 1518197"/>
              <a:gd name="connsiteX7" fmla="*/ 9469315 w 9498612"/>
              <a:gd name="connsiteY7" fmla="*/ 1500613 h 1518197"/>
              <a:gd name="connsiteX8" fmla="*/ 7253653 w 9498612"/>
              <a:gd name="connsiteY8" fmla="*/ 1491820 h 1518197"/>
              <a:gd name="connsiteX9" fmla="*/ 4826976 w 9498612"/>
              <a:gd name="connsiteY9" fmla="*/ 1518197 h 1518197"/>
              <a:gd name="connsiteX10" fmla="*/ 2751992 w 9498612"/>
              <a:gd name="connsiteY10" fmla="*/ 1509405 h 1518197"/>
              <a:gd name="connsiteX11" fmla="*/ 0 w 9498612"/>
              <a:gd name="connsiteY11" fmla="*/ 1456651 h 1518197"/>
              <a:gd name="connsiteX12" fmla="*/ 8792 w 9498612"/>
              <a:gd name="connsiteY12" fmla="*/ 595005 h 1518197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  <a:gd name="connsiteX0" fmla="*/ 8792 w 9498612"/>
              <a:gd name="connsiteY0" fmla="*/ 629716 h 1552908"/>
              <a:gd name="connsiteX1" fmla="*/ 2057399 w 9498612"/>
              <a:gd name="connsiteY1" fmla="*/ 585754 h 1552908"/>
              <a:gd name="connsiteX2" fmla="*/ 3698995 w 9498612"/>
              <a:gd name="connsiteY2" fmla="*/ 1162301 h 1552908"/>
              <a:gd name="connsiteX3" fmla="*/ 5386116 w 9498612"/>
              <a:gd name="connsiteY3" fmla="*/ 83389 h 1552908"/>
              <a:gd name="connsiteX4" fmla="*/ 7009426 w 9498612"/>
              <a:gd name="connsiteY4" fmla="*/ 264703 h 1552908"/>
              <a:gd name="connsiteX5" fmla="*/ 8414099 w 9498612"/>
              <a:gd name="connsiteY5" fmla="*/ 1077054 h 1552908"/>
              <a:gd name="connsiteX6" fmla="*/ 9498612 w 9498612"/>
              <a:gd name="connsiteY6" fmla="*/ 367238 h 1552908"/>
              <a:gd name="connsiteX7" fmla="*/ 9469315 w 9498612"/>
              <a:gd name="connsiteY7" fmla="*/ 1535324 h 1552908"/>
              <a:gd name="connsiteX8" fmla="*/ 7253653 w 9498612"/>
              <a:gd name="connsiteY8" fmla="*/ 1526531 h 1552908"/>
              <a:gd name="connsiteX9" fmla="*/ 4826976 w 9498612"/>
              <a:gd name="connsiteY9" fmla="*/ 1552908 h 1552908"/>
              <a:gd name="connsiteX10" fmla="*/ 2751992 w 9498612"/>
              <a:gd name="connsiteY10" fmla="*/ 1544116 h 1552908"/>
              <a:gd name="connsiteX11" fmla="*/ 0 w 9498612"/>
              <a:gd name="connsiteY11" fmla="*/ 1491362 h 1552908"/>
              <a:gd name="connsiteX12" fmla="*/ 8792 w 9498612"/>
              <a:gd name="connsiteY12" fmla="*/ 629716 h 1552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9498612" h="1552908">
                <a:moveTo>
                  <a:pt x="8792" y="629716"/>
                </a:moveTo>
                <a:cubicBezTo>
                  <a:pt x="671146" y="635577"/>
                  <a:pt x="973014" y="-123492"/>
                  <a:pt x="2057399" y="585754"/>
                </a:cubicBezTo>
                <a:cubicBezTo>
                  <a:pt x="3282459" y="1283277"/>
                  <a:pt x="3144209" y="1246028"/>
                  <a:pt x="3698995" y="1162301"/>
                </a:cubicBezTo>
                <a:cubicBezTo>
                  <a:pt x="4253781" y="1078574"/>
                  <a:pt x="4834377" y="232989"/>
                  <a:pt x="5386116" y="83389"/>
                </a:cubicBezTo>
                <a:cubicBezTo>
                  <a:pt x="5937855" y="-66211"/>
                  <a:pt x="6463751" y="-19649"/>
                  <a:pt x="7009426" y="264703"/>
                </a:cubicBezTo>
                <a:cubicBezTo>
                  <a:pt x="7646042" y="612966"/>
                  <a:pt x="8003791" y="1075589"/>
                  <a:pt x="8414099" y="1077054"/>
                </a:cubicBezTo>
                <a:cubicBezTo>
                  <a:pt x="8824407" y="1078519"/>
                  <a:pt x="9320464" y="250238"/>
                  <a:pt x="9498612" y="367238"/>
                </a:cubicBezTo>
                <a:cubicBezTo>
                  <a:pt x="9495681" y="669107"/>
                  <a:pt x="9472246" y="1233455"/>
                  <a:pt x="9469315" y="1535324"/>
                </a:cubicBezTo>
                <a:lnTo>
                  <a:pt x="7253653" y="1526531"/>
                </a:lnTo>
                <a:lnTo>
                  <a:pt x="4826976" y="1552908"/>
                </a:lnTo>
                <a:lnTo>
                  <a:pt x="2751992" y="1544116"/>
                </a:lnTo>
                <a:lnTo>
                  <a:pt x="0" y="1491362"/>
                </a:lnTo>
                <a:cubicBezTo>
                  <a:pt x="2931" y="1207077"/>
                  <a:pt x="-2932" y="931585"/>
                  <a:pt x="8792" y="629716"/>
                </a:cubicBezTo>
                <a:close/>
              </a:path>
            </a:pathLst>
          </a:custGeom>
          <a:gradFill>
            <a:gsLst>
              <a:gs pos="0">
                <a:srgbClr val="EFFCFF"/>
              </a:gs>
              <a:gs pos="50000">
                <a:schemeClr val="accent4">
                  <a:lumMod val="40000"/>
                  <a:lumOff val="60000"/>
                </a:schemeClr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ffectLst>
            <a:glow>
              <a:srgbClr val="FFFF00"/>
            </a:glow>
            <a:outerShdw algn="ctr" rotWithShape="0">
              <a:schemeClr val="tx1"/>
            </a:outerShdw>
          </a:effectLst>
          <a:scene3d>
            <a:camera prst="orthographicFront"/>
            <a:lightRig rig="threePt" dir="t"/>
          </a:scene3d>
          <a:sp3d>
            <a:bevelT w="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A75E23-C68E-95B1-6539-4A187BBC42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53178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63" r:id="rId2"/>
    <p:sldLayoutId id="2147483686" r:id="rId3"/>
    <p:sldLayoutId id="2147483674" r:id="rId4"/>
    <p:sldLayoutId id="2147483685" r:id="rId5"/>
    <p:sldLayoutId id="2147483684" r:id="rId6"/>
    <p:sldLayoutId id="2147483688" r:id="rId7"/>
    <p:sldLayoutId id="2147483666" r:id="rId8"/>
    <p:sldLayoutId id="2147483689" r:id="rId9"/>
    <p:sldLayoutId id="2147483662" r:id="rId10"/>
    <p:sldLayoutId id="2147483690" r:id="rId11"/>
    <p:sldLayoutId id="2147483664" r:id="rId12"/>
    <p:sldLayoutId id="2147483665" r:id="rId13"/>
    <p:sldLayoutId id="2147483667" r:id="rId14"/>
    <p:sldLayoutId id="2147483668" r:id="rId15"/>
    <p:sldLayoutId id="2147483669" r:id="rId16"/>
    <p:sldLayoutId id="2147483670" r:id="rId17"/>
    <p:sldLayoutId id="2147483671" r:id="rId18"/>
    <p:sldLayoutId id="2147483691" r:id="rId1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5620995-1DFE-FB81-B1FD-1F43AD25E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F9FFA78-25BC-8AF7-71C4-CCA91A9325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8CB32A29-5E71-00A9-66DA-1FED8EA8FA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474613" y="65641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Optimus Syria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5A1141D-8ADF-66F7-AB0C-CAA4E1B2CB8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949570" y="6566803"/>
            <a:ext cx="9289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013F6232-4F06-48BA-8F69-BF531F607829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07138566-A99B-8C60-010B-13E0F43C56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566803"/>
            <a:ext cx="111137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fld id="{02AEE8E4-D792-40D2-B8D4-0007E21A0CF8}" type="datetime1">
              <a:rPr lang="en-GB" smtClean="0"/>
              <a:t>07/12/2025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11557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5" r:id="rId2"/>
    <p:sldLayoutId id="2147483676" r:id="rId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tmp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26B2514-13D3-FEE4-A76A-25778AA0047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GB" b="1" dirty="0">
                <a:solidFill>
                  <a:schemeClr val="tx1"/>
                </a:solidFill>
              </a:rPr>
              <a:t>25/11/2025</a:t>
            </a:r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F11D7F1-39D2-6CD0-A45E-2199A3CF943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GB" b="1" dirty="0">
                <a:solidFill>
                  <a:schemeClr val="tx1"/>
                </a:solidFill>
              </a:rPr>
              <a:t>Foundations team/ Optimus Syria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E7ED1BF-5D66-636D-5730-97FE37F4481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286247" y="6564113"/>
            <a:ext cx="1918447" cy="365125"/>
          </a:xfrm>
        </p:spPr>
        <p:txBody>
          <a:bodyPr/>
          <a:lstStyle/>
          <a:p>
            <a:fld id="{013F6232-4F06-48BA-8F69-BF531F607829}" type="slidenum">
              <a:rPr lang="en-GB" smtClean="0"/>
              <a:pPr/>
              <a:t>1</a:t>
            </a:fld>
            <a:endParaRPr lang="en-GB" dirty="0"/>
          </a:p>
        </p:txBody>
      </p:sp>
      <p:sp>
        <p:nvSpPr>
          <p:cNvPr id="8" name="Titel 7">
            <a:extLst>
              <a:ext uri="{FF2B5EF4-FFF2-40B4-BE49-F238E27FC236}">
                <a16:creationId xmlns:a16="http://schemas.microsoft.com/office/drawing/2014/main" id="{7FF1E788-369D-9A8F-8F84-AD852E9D2ED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b="1" dirty="0">
                <a:latin typeface="Times New Roman" pitchFamily="18" charset="0"/>
                <a:cs typeface="Times New Roman" pitchFamily="18" charset="0"/>
              </a:rPr>
              <a:t>Weekly report: </a:t>
            </a:r>
            <a:r>
              <a:rPr lang="it-IT" b="1" dirty="0" err="1">
                <a:latin typeface="Times New Roman" pitchFamily="18" charset="0"/>
                <a:cs typeface="Times New Roman" pitchFamily="18" charset="0"/>
              </a:rPr>
              <a:t>Foundations</a:t>
            </a:r>
            <a:r>
              <a:rPr lang="it-IT" b="1" dirty="0">
                <a:latin typeface="Times New Roman" pitchFamily="18" charset="0"/>
                <a:cs typeface="Times New Roman" pitchFamily="18" charset="0"/>
              </a:rPr>
              <a:t> </a:t>
            </a:r>
            <a:endParaRPr lang="en-GB" b="1" dirty="0"/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277A63BB-08BE-619B-2533-3CC69CC19E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429000"/>
            <a:ext cx="9144000" cy="2032000"/>
          </a:xfrm>
        </p:spPr>
        <p:txBody>
          <a:bodyPr>
            <a:normAutofit/>
          </a:bodyPr>
          <a:lstStyle/>
          <a:p>
            <a:r>
              <a:rPr lang="it-IT" sz="2000" b="1" dirty="0">
                <a:latin typeface="Times New Roman" pitchFamily="18" charset="0"/>
                <a:cs typeface="Times New Roman" pitchFamily="18" charset="0"/>
              </a:rPr>
              <a:t>Week number: 11</a:t>
            </a:r>
          </a:p>
          <a:p>
            <a:r>
              <a:rPr lang="it-IT" sz="2000" b="1" dirty="0">
                <a:latin typeface="Times New Roman" pitchFamily="18" charset="0"/>
                <a:cs typeface="Times New Roman" pitchFamily="18" charset="0"/>
              </a:rPr>
              <a:t>Date: </a:t>
            </a: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09</a:t>
            </a:r>
            <a:r>
              <a:rPr lang="it-IT" sz="2000" b="1" dirty="0">
                <a:latin typeface="Times New Roman" pitchFamily="18" charset="0"/>
                <a:cs typeface="Times New Roman" pitchFamily="18" charset="0"/>
              </a:rPr>
              <a:t>/12/2025</a:t>
            </a:r>
          </a:p>
          <a:p>
            <a:r>
              <a:rPr lang="it-IT" sz="2000" b="1" dirty="0">
                <a:latin typeface="Times New Roman" pitchFamily="18" charset="0"/>
                <a:cs typeface="Times New Roman" pitchFamily="18" charset="0"/>
              </a:rPr>
              <a:t>Supervisor:</a:t>
            </a:r>
            <a:r>
              <a:rPr lang="it-IT" sz="2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de-DE" sz="2000" b="1" dirty="0">
                <a:latin typeface="Lato" panose="020B0604020202020204" pitchFamily="34" charset="0"/>
              </a:rPr>
              <a:t>Prof. Dr.-Ing. Torsten Faber</a:t>
            </a:r>
            <a:endParaRPr lang="en-GB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132D16E5-6BE7-8FC8-CFB3-81C918BB45F1}"/>
              </a:ext>
            </a:extLst>
          </p:cNvPr>
          <p:cNvSpPr txBox="1"/>
          <p:nvPr/>
        </p:nvSpPr>
        <p:spPr>
          <a:xfrm>
            <a:off x="2172911" y="4701104"/>
            <a:ext cx="73706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b="1" dirty="0">
                <a:latin typeface="Times New Roman" pitchFamily="18" charset="0"/>
                <a:cs typeface="Times New Roman" pitchFamily="18" charset="0"/>
              </a:rPr>
              <a:t>Group </a:t>
            </a:r>
            <a:r>
              <a:rPr lang="de-DE" b="1" dirty="0" err="1">
                <a:latin typeface="Times New Roman" pitchFamily="18" charset="0"/>
                <a:cs typeface="Times New Roman" pitchFamily="18" charset="0"/>
              </a:rPr>
              <a:t>members</a:t>
            </a:r>
            <a:r>
              <a:rPr lang="de-DE" b="1" dirty="0">
                <a:latin typeface="Times New Roman" pitchFamily="18" charset="0"/>
                <a:cs typeface="Times New Roman" pitchFamily="18" charset="0"/>
              </a:rPr>
              <a:t> : </a:t>
            </a:r>
            <a:r>
              <a:rPr lang="de-DE" b="1" dirty="0"/>
              <a:t>Jehad </a:t>
            </a:r>
            <a:r>
              <a:rPr lang="de-DE" b="1" dirty="0" err="1"/>
              <a:t>Albaali</a:t>
            </a:r>
            <a:r>
              <a:rPr lang="de-DE" b="1" dirty="0"/>
              <a:t>- Amgad Gerges - Reda </a:t>
            </a:r>
            <a:r>
              <a:rPr lang="de-DE" b="1" dirty="0" err="1"/>
              <a:t>Deif</a:t>
            </a:r>
            <a:endParaRPr lang="de-DE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Textfeld 12">
            <a:extLst>
              <a:ext uri="{FF2B5EF4-FFF2-40B4-BE49-F238E27FC236}">
                <a16:creationId xmlns:a16="http://schemas.microsoft.com/office/drawing/2014/main" id="{F1A690F4-D79D-8EBC-12DE-D491129BCFF6}"/>
              </a:ext>
            </a:extLst>
          </p:cNvPr>
          <p:cNvSpPr txBox="1"/>
          <p:nvPr/>
        </p:nvSpPr>
        <p:spPr>
          <a:xfrm>
            <a:off x="2047405" y="5070436"/>
            <a:ext cx="73706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presented </a:t>
            </a:r>
            <a:r>
              <a:rPr lang="de-DE" sz="1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by</a:t>
            </a:r>
            <a:r>
              <a:rPr lang="de-DE" sz="16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: Jehad </a:t>
            </a:r>
            <a:r>
              <a:rPr lang="de-DE" sz="1600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Albaali</a:t>
            </a:r>
            <a:endParaRPr lang="de-DE" sz="16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301162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el 21">
            <a:extLst>
              <a:ext uri="{FF2B5EF4-FFF2-40B4-BE49-F238E27FC236}">
                <a16:creationId xmlns:a16="http://schemas.microsoft.com/office/drawing/2014/main" id="{C01C5AA7-5821-01BD-1AC8-74837347C7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List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contents</a:t>
            </a:r>
            <a:endParaRPr lang="de-DE" dirty="0"/>
          </a:p>
        </p:txBody>
      </p:sp>
      <p:sp>
        <p:nvSpPr>
          <p:cNvPr id="25" name="Foliennummernplatzhalter 24">
            <a:extLst>
              <a:ext uri="{FF2B5EF4-FFF2-40B4-BE49-F238E27FC236}">
                <a16:creationId xmlns:a16="http://schemas.microsoft.com/office/drawing/2014/main" id="{1F1D02DB-C1C0-0C64-772D-D708982E9F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2</a:t>
            </a:fld>
            <a:endParaRPr lang="en-GB" dirty="0"/>
          </a:p>
        </p:txBody>
      </p:sp>
      <p:sp>
        <p:nvSpPr>
          <p:cNvPr id="4" name="Rectangle 3"/>
          <p:cNvSpPr/>
          <p:nvPr/>
        </p:nvSpPr>
        <p:spPr>
          <a:xfrm>
            <a:off x="777597" y="883947"/>
            <a:ext cx="8222130" cy="64895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b="1" dirty="0"/>
              <a:t> 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GB" b="1" dirty="0"/>
              <a:t>Reasons for Design Pedestal 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GB" b="1" dirty="0"/>
              <a:t>Bolt Tension Verification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Reinforcement Details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Complete Foundation Cost Breakdown</a:t>
            </a:r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Ø"/>
            </a:pPr>
            <a:r>
              <a:rPr lang="en-US" b="1" dirty="0"/>
              <a:t>References</a:t>
            </a:r>
            <a:endParaRPr lang="en-GB" b="1" dirty="0"/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Ø"/>
            </a:pPr>
            <a:endParaRPr lang="en-US" b="1" dirty="0"/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Ø"/>
            </a:pPr>
            <a:endParaRPr lang="en-US" b="1" dirty="0"/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Ø"/>
            </a:pPr>
            <a:endParaRPr lang="en-GB" b="1" dirty="0"/>
          </a:p>
          <a:p>
            <a:pPr marL="285750" indent="-285750">
              <a:lnSpc>
                <a:spcPct val="250000"/>
              </a:lnSpc>
              <a:buFont typeface="Wingdings" panose="05000000000000000000" pitchFamily="2" charset="2"/>
              <a:buChar char="Ø"/>
            </a:pPr>
            <a:endParaRPr lang="en-US" b="1" dirty="0"/>
          </a:p>
        </p:txBody>
      </p:sp>
      <p:sp>
        <p:nvSpPr>
          <p:cNvPr id="10" name="Datumsplatzhalter 4">
            <a:extLst>
              <a:ext uri="{FF2B5EF4-FFF2-40B4-BE49-F238E27FC236}">
                <a16:creationId xmlns:a16="http://schemas.microsoft.com/office/drawing/2014/main" id="{626B2514-13D3-FEE4-A76A-25778AA00477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38200" y="6554103"/>
            <a:ext cx="1111370" cy="365125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09</a:t>
            </a:r>
            <a:r>
              <a:rPr lang="en-GB" b="1" dirty="0">
                <a:solidFill>
                  <a:schemeClr val="tx1"/>
                </a:solidFill>
              </a:rPr>
              <a:t>/12/2025</a:t>
            </a:r>
          </a:p>
        </p:txBody>
      </p:sp>
      <p:sp>
        <p:nvSpPr>
          <p:cNvPr id="11" name="Fußzeilenplatzhalter 5">
            <a:extLst>
              <a:ext uri="{FF2B5EF4-FFF2-40B4-BE49-F238E27FC236}">
                <a16:creationId xmlns:a16="http://schemas.microsoft.com/office/drawing/2014/main" id="{8F11D7F1-39D2-6CD0-A45E-2199A3CF9435}"/>
              </a:ext>
            </a:extLst>
          </p:cNvPr>
          <p:cNvSpPr txBox="1">
            <a:spLocks/>
          </p:cNvSpPr>
          <p:nvPr/>
        </p:nvSpPr>
        <p:spPr>
          <a:xfrm>
            <a:off x="8474613" y="65514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/>
              <a:t>Foundations team/ Optimus Syria</a:t>
            </a: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132D16E5-6BE7-8FC8-CFB3-81C918BB45F1}"/>
              </a:ext>
            </a:extLst>
          </p:cNvPr>
          <p:cNvSpPr txBox="1"/>
          <p:nvPr/>
        </p:nvSpPr>
        <p:spPr>
          <a:xfrm>
            <a:off x="2806700" y="6582775"/>
            <a:ext cx="6085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b="1" dirty="0"/>
              <a:t>Jehad Albaali</a:t>
            </a:r>
            <a:endParaRPr lang="de-DE" sz="1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35358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82D30E5-E8EB-4514-D402-7006892C79B8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3</a:t>
            </a:fld>
            <a:endParaRPr lang="en-GB"/>
          </a:p>
        </p:txBody>
      </p:sp>
      <p:sp>
        <p:nvSpPr>
          <p:cNvPr id="8" name="Titel 4">
            <a:extLst>
              <a:ext uri="{FF2B5EF4-FFF2-40B4-BE49-F238E27FC236}">
                <a16:creationId xmlns:a16="http://schemas.microsoft.com/office/drawing/2014/main" id="{0B893F6D-288A-550A-C796-008FEA91A947}"/>
              </a:ext>
            </a:extLst>
          </p:cNvPr>
          <p:cNvSpPr txBox="1">
            <a:spLocks/>
          </p:cNvSpPr>
          <p:nvPr/>
        </p:nvSpPr>
        <p:spPr>
          <a:xfrm>
            <a:off x="764309" y="631689"/>
            <a:ext cx="1051560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250000"/>
              </a:lnSpc>
            </a:pPr>
            <a:r>
              <a:rPr lang="en-GB" sz="2000" b="1" dirty="0">
                <a:solidFill>
                  <a:srgbClr val="FF0000"/>
                </a:solidFill>
              </a:rPr>
              <a:t>Concrete Dimensions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DE"/>
          </a:p>
        </p:txBody>
      </p:sp>
      <p:sp>
        <p:nvSpPr>
          <p:cNvPr id="17" name="Datumsplatzhalter 4">
            <a:extLst>
              <a:ext uri="{FF2B5EF4-FFF2-40B4-BE49-F238E27FC236}">
                <a16:creationId xmlns:a16="http://schemas.microsoft.com/office/drawing/2014/main" id="{626B2514-13D3-FEE4-A76A-25778AA00477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838200" y="6554103"/>
            <a:ext cx="1111370" cy="365125"/>
          </a:xfrm>
          <a:prstGeom prst="rect">
            <a:avLst/>
          </a:prstGeom>
        </p:spPr>
        <p:txBody>
          <a:bodyPr/>
          <a:lstStyle/>
          <a:p>
            <a:r>
              <a:rPr lang="en-GB" b="1" dirty="0">
                <a:solidFill>
                  <a:schemeClr val="tx1"/>
                </a:solidFill>
              </a:rPr>
              <a:t>09/12/2025</a:t>
            </a:r>
          </a:p>
        </p:txBody>
      </p:sp>
      <p:sp>
        <p:nvSpPr>
          <p:cNvPr id="18" name="Fußzeilenplatzhalter 5">
            <a:extLst>
              <a:ext uri="{FF2B5EF4-FFF2-40B4-BE49-F238E27FC236}">
                <a16:creationId xmlns:a16="http://schemas.microsoft.com/office/drawing/2014/main" id="{8F11D7F1-39D2-6CD0-A45E-2199A3CF9435}"/>
              </a:ext>
            </a:extLst>
          </p:cNvPr>
          <p:cNvSpPr txBox="1">
            <a:spLocks/>
          </p:cNvSpPr>
          <p:nvPr/>
        </p:nvSpPr>
        <p:spPr>
          <a:xfrm>
            <a:off x="8474613" y="65514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/>
              <a:t>Foundations team/ Optimus Syria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46D2BC3-7A77-427E-122F-070BF0C54EA8}"/>
              </a:ext>
            </a:extLst>
          </p:cNvPr>
          <p:cNvSpPr txBox="1"/>
          <p:nvPr/>
        </p:nvSpPr>
        <p:spPr>
          <a:xfrm>
            <a:off x="510308" y="2246069"/>
            <a:ext cx="4679759" cy="30561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Aft>
                <a:spcPts val="800"/>
              </a:spcAft>
              <a:buNone/>
            </a:pPr>
            <a:r>
              <a:rPr lang="en-GB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Diameter of Base Plate (BP) </a:t>
            </a:r>
            <a:r>
              <a:rPr lang="en-GB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= 25 m </a:t>
            </a:r>
            <a:r>
              <a:rPr lang="en-GB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endParaRPr lang="en-GB" sz="14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  <a:buNone/>
            </a:pPr>
            <a:r>
              <a:rPr lang="en-GB" sz="18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Diameter of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Pedestal = 7 m </a:t>
            </a:r>
            <a:endParaRPr lang="en-GB" sz="14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Height Pedestal = 1.5 m </a:t>
            </a:r>
            <a:endParaRPr lang="en-GB" sz="14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Height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of Middle slab = </a:t>
            </a:r>
            <a:r>
              <a:rPr lang="en-GB" dirty="0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2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m </a:t>
            </a:r>
          </a:p>
          <a:p>
            <a:pPr>
              <a:lnSpc>
                <a:spcPct val="150000"/>
              </a:lnSpc>
              <a:spcAft>
                <a:spcPts val="800"/>
              </a:spcAft>
            </a:pPr>
            <a:r>
              <a:rPr lang="en-US" dirty="0">
                <a:latin typeface="Times New Roman" panose="02020603050405020304" pitchFamily="18" charset="0"/>
                <a:cs typeface="Arial" panose="020B0604020202020204" pitchFamily="34" charset="0"/>
              </a:rPr>
              <a:t>Height of </a:t>
            </a:r>
            <a:r>
              <a:rPr lang="en-GB" dirty="0"/>
              <a:t>Frustum (HF) = 1.5 m </a:t>
            </a:r>
            <a:endParaRPr lang="en-GB" dirty="0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  <a:spcAft>
                <a:spcPts val="800"/>
              </a:spcAft>
              <a:buNone/>
            </a:pPr>
            <a:r>
              <a:rPr lang="en-US" dirty="0"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Height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 of Edge slab (HE) = 0.5 m </a:t>
            </a:r>
            <a:endParaRPr lang="en-GB" sz="1400" dirty="0">
              <a:effectLst/>
              <a:latin typeface="Aptos" panose="020B0004020202020204" pitchFamily="34" charset="0"/>
              <a:ea typeface="Aptos" panose="020B00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2432509-B769-A94B-4D8C-016547672C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8074" y="2053592"/>
            <a:ext cx="6873077" cy="3564479"/>
          </a:xfrm>
          <a:prstGeom prst="rect">
            <a:avLst/>
          </a:prstGeom>
        </p:spPr>
      </p:pic>
      <p:sp>
        <p:nvSpPr>
          <p:cNvPr id="10" name="Textfeld 12">
            <a:extLst>
              <a:ext uri="{FF2B5EF4-FFF2-40B4-BE49-F238E27FC236}">
                <a16:creationId xmlns:a16="http://schemas.microsoft.com/office/drawing/2014/main" id="{DE04D7BF-ACF2-44DB-9EDE-31B6CDA40272}"/>
              </a:ext>
            </a:extLst>
          </p:cNvPr>
          <p:cNvSpPr txBox="1"/>
          <p:nvPr/>
        </p:nvSpPr>
        <p:spPr>
          <a:xfrm>
            <a:off x="2806700" y="6582775"/>
            <a:ext cx="6085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b="1" dirty="0"/>
              <a:t>Jehad Albaali</a:t>
            </a:r>
            <a:endParaRPr lang="de-DE" sz="1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51986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E8DEF-95C2-8867-B8E7-2D6FE68E82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B7433A7-8F5F-6FC4-675A-084AF22E98BD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4</a:t>
            </a:fld>
            <a:endParaRPr lang="en-GB"/>
          </a:p>
        </p:txBody>
      </p:sp>
      <p:sp>
        <p:nvSpPr>
          <p:cNvPr id="8" name="Titel 4">
            <a:extLst>
              <a:ext uri="{FF2B5EF4-FFF2-40B4-BE49-F238E27FC236}">
                <a16:creationId xmlns:a16="http://schemas.microsoft.com/office/drawing/2014/main" id="{18F1BDAA-0FDE-18D2-919E-EBD6B56FAF01}"/>
              </a:ext>
            </a:extLst>
          </p:cNvPr>
          <p:cNvSpPr txBox="1">
            <a:spLocks/>
          </p:cNvSpPr>
          <p:nvPr/>
        </p:nvSpPr>
        <p:spPr>
          <a:xfrm>
            <a:off x="933643" y="640156"/>
            <a:ext cx="1051560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250000"/>
              </a:lnSpc>
            </a:pPr>
            <a:r>
              <a:rPr lang="en-GB" sz="2000" b="1" dirty="0">
                <a:solidFill>
                  <a:srgbClr val="FF0000"/>
                </a:solidFill>
              </a:rPr>
              <a:t>Reasons for Design Pedestal 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F917594F-BFA6-E9ED-69AA-1EE1C861CC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DE"/>
          </a:p>
        </p:txBody>
      </p:sp>
      <p:sp>
        <p:nvSpPr>
          <p:cNvPr id="17" name="Datumsplatzhalter 4">
            <a:extLst>
              <a:ext uri="{FF2B5EF4-FFF2-40B4-BE49-F238E27FC236}">
                <a16:creationId xmlns:a16="http://schemas.microsoft.com/office/drawing/2014/main" id="{B1011627-5CEF-9304-93BA-723EF14E6EF6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838200" y="6554103"/>
            <a:ext cx="1111370" cy="365125"/>
          </a:xfrm>
          <a:prstGeom prst="rect">
            <a:avLst/>
          </a:prstGeom>
        </p:spPr>
        <p:txBody>
          <a:bodyPr/>
          <a:lstStyle/>
          <a:p>
            <a:r>
              <a:rPr lang="en-GB" b="1" dirty="0">
                <a:solidFill>
                  <a:schemeClr val="tx1"/>
                </a:solidFill>
              </a:rPr>
              <a:t>09/12/2025</a:t>
            </a:r>
          </a:p>
        </p:txBody>
      </p:sp>
      <p:sp>
        <p:nvSpPr>
          <p:cNvPr id="18" name="Fußzeilenplatzhalter 5">
            <a:extLst>
              <a:ext uri="{FF2B5EF4-FFF2-40B4-BE49-F238E27FC236}">
                <a16:creationId xmlns:a16="http://schemas.microsoft.com/office/drawing/2014/main" id="{00DB3D48-3530-C610-2A71-130A4E43E3B9}"/>
              </a:ext>
            </a:extLst>
          </p:cNvPr>
          <p:cNvSpPr txBox="1">
            <a:spLocks/>
          </p:cNvSpPr>
          <p:nvPr/>
        </p:nvSpPr>
        <p:spPr>
          <a:xfrm>
            <a:off x="8474613" y="65514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/>
              <a:t>Foundations team/ Optimus Syria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52D0B4-86AB-FDDB-B938-E2BDCA9D8CCE}"/>
              </a:ext>
            </a:extLst>
          </p:cNvPr>
          <p:cNvSpPr txBox="1"/>
          <p:nvPr/>
        </p:nvSpPr>
        <p:spPr>
          <a:xfrm>
            <a:off x="427567" y="1370158"/>
            <a:ext cx="8834967" cy="49398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dirty="0">
                <a:cs typeface="+mj-cs"/>
              </a:rPr>
              <a:t>Improved load transfer from the tower to the foundation</a:t>
            </a:r>
            <a:endParaRPr lang="ar-EG" dirty="0">
              <a:cs typeface="+mj-cs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dirty="0">
                <a:cs typeface="+mj-cs"/>
              </a:rPr>
              <a:t>Strengthening the critical upper concrete zone and enhancing cone-shear resistance</a:t>
            </a:r>
            <a:endParaRPr lang="ar-EG" dirty="0">
              <a:cs typeface="+mj-cs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dirty="0">
                <a:cs typeface="+mj-cs"/>
              </a:rPr>
              <a:t>Better bending-moment distribution and reduced structural deformations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dirty="0">
                <a:cs typeface="+mj-cs"/>
              </a:rPr>
              <a:t>Higher pull-out capacity and confinement for anchor bolts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dirty="0">
                <a:cs typeface="+mj-cs"/>
              </a:rPr>
              <a:t>Enhancing anchor-cage performance and increasing its structural safety margin</a:t>
            </a:r>
            <a:endParaRPr lang="ar-EG" dirty="0">
              <a:cs typeface="+mj-cs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dirty="0">
                <a:cs typeface="+mj-cs"/>
              </a:rPr>
              <a:t>High-precision tower alignment (±2 mm per IEC).</a:t>
            </a:r>
            <a:endParaRPr lang="ar-EG" dirty="0">
              <a:cs typeface="+mj-cs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GB" dirty="0">
                <a:cs typeface="+mj-cs"/>
              </a:rPr>
              <a:t>Safe and efficient installation workspace for anchor cage &amp; bolt tensioning.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ar-EG" dirty="0"/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GB" dirty="0"/>
          </a:p>
          <a:p>
            <a:endParaRPr lang="en-GB" dirty="0"/>
          </a:p>
        </p:txBody>
      </p:sp>
      <p:sp>
        <p:nvSpPr>
          <p:cNvPr id="9" name="Textfeld 12">
            <a:extLst>
              <a:ext uri="{FF2B5EF4-FFF2-40B4-BE49-F238E27FC236}">
                <a16:creationId xmlns:a16="http://schemas.microsoft.com/office/drawing/2014/main" id="{2AE9E50F-9CEC-4312-ABE8-04F75565285A}"/>
              </a:ext>
            </a:extLst>
          </p:cNvPr>
          <p:cNvSpPr txBox="1"/>
          <p:nvPr/>
        </p:nvSpPr>
        <p:spPr>
          <a:xfrm>
            <a:off x="2806700" y="6582775"/>
            <a:ext cx="6085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b="1" dirty="0"/>
              <a:t>Jehad Albaali</a:t>
            </a:r>
            <a:endParaRPr lang="de-DE" sz="1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41571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6A701C-ED6F-45B9-C725-7587C612E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C6921F3-D68D-9241-6B31-2CC540335B41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5</a:t>
            </a:fld>
            <a:endParaRPr lang="en-GB"/>
          </a:p>
        </p:txBody>
      </p:sp>
      <p:sp>
        <p:nvSpPr>
          <p:cNvPr id="8" name="Titel 4">
            <a:extLst>
              <a:ext uri="{FF2B5EF4-FFF2-40B4-BE49-F238E27FC236}">
                <a16:creationId xmlns:a16="http://schemas.microsoft.com/office/drawing/2014/main" id="{EC625C16-3F6A-6C84-5F5F-992713D6B28C}"/>
              </a:ext>
            </a:extLst>
          </p:cNvPr>
          <p:cNvSpPr txBox="1">
            <a:spLocks/>
          </p:cNvSpPr>
          <p:nvPr/>
        </p:nvSpPr>
        <p:spPr>
          <a:xfrm>
            <a:off x="933643" y="640156"/>
            <a:ext cx="1051560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250000"/>
              </a:lnSpc>
            </a:pPr>
            <a:r>
              <a:rPr lang="en-GB" sz="2000" b="1" dirty="0">
                <a:solidFill>
                  <a:srgbClr val="FF0000"/>
                </a:solidFill>
              </a:rPr>
              <a:t>Bolt Tension Verification </a:t>
            </a:r>
            <a:endParaRPr lang="en-US" sz="2000" b="1" dirty="0">
              <a:solidFill>
                <a:srgbClr val="FF0000"/>
              </a:solidFill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B02104CE-3B0B-289F-821C-D617AC9EEA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DE"/>
          </a:p>
        </p:txBody>
      </p:sp>
      <p:sp>
        <p:nvSpPr>
          <p:cNvPr id="17" name="Datumsplatzhalter 4">
            <a:extLst>
              <a:ext uri="{FF2B5EF4-FFF2-40B4-BE49-F238E27FC236}">
                <a16:creationId xmlns:a16="http://schemas.microsoft.com/office/drawing/2014/main" id="{E7642CF3-4B79-3A11-4542-114154243405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838200" y="6554103"/>
            <a:ext cx="1111370" cy="365125"/>
          </a:xfrm>
          <a:prstGeom prst="rect">
            <a:avLst/>
          </a:prstGeom>
        </p:spPr>
        <p:txBody>
          <a:bodyPr/>
          <a:lstStyle/>
          <a:p>
            <a:r>
              <a:rPr lang="en-GB" b="1" dirty="0">
                <a:solidFill>
                  <a:schemeClr val="tx1"/>
                </a:solidFill>
              </a:rPr>
              <a:t>09/12/2025</a:t>
            </a:r>
          </a:p>
        </p:txBody>
      </p:sp>
      <p:sp>
        <p:nvSpPr>
          <p:cNvPr id="18" name="Fußzeilenplatzhalter 5">
            <a:extLst>
              <a:ext uri="{FF2B5EF4-FFF2-40B4-BE49-F238E27FC236}">
                <a16:creationId xmlns:a16="http://schemas.microsoft.com/office/drawing/2014/main" id="{D48E8BB5-58E9-39C3-AC09-609F8B7BB23C}"/>
              </a:ext>
            </a:extLst>
          </p:cNvPr>
          <p:cNvSpPr txBox="1">
            <a:spLocks/>
          </p:cNvSpPr>
          <p:nvPr/>
        </p:nvSpPr>
        <p:spPr>
          <a:xfrm>
            <a:off x="8474613" y="65514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/>
              <a:t>Foundations team/ Optimus Syria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74433CE-2835-2D30-A646-EB792CF6B534}"/>
                  </a:ext>
                </a:extLst>
              </p:cNvPr>
              <p:cNvSpPr txBox="1"/>
              <p:nvPr/>
            </p:nvSpPr>
            <p:spPr>
              <a:xfrm>
                <a:off x="500119" y="1331145"/>
                <a:ext cx="9414087" cy="52516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  <a:spcAft>
                    <a:spcPts val="5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i="1" smtClean="0">
                          <a:latin typeface="Cambria Math" panose="02040503050406030204" pitchFamily="18" charset="0"/>
                        </a:rPr>
                        <m:t>∑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48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e>
                          </m:d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48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∗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.</m:t>
                              </m:r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5</m:t>
                              </m:r>
                            </m:e>
                          </m:d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n-GB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553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92</m:t>
                      </m:r>
                      <m:r>
                        <a:rPr lang="en-GB" i="1">
                          <a:latin typeface="Cambria Math" panose="02040503050406030204" pitchFamily="18" charset="0"/>
                        </a:rPr>
                        <m:t> </m:t>
                      </m:r>
                      <m:sSup>
                        <m:sSupPr>
                          <m:ctrlPr>
                            <a:rPr lang="en-GB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GB">
                              <a:latin typeface="Cambria Math" panose="02040503050406030204" pitchFamily="18" charset="0"/>
                            </a:rPr>
                            <m:t>m</m:t>
                          </m:r>
                        </m:e>
                        <m:sup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US" sz="1800" b="1" i="1" dirty="0">
                  <a:effectLst/>
                  <a:latin typeface="Cambria Math" panose="02040503050406030204" pitchFamily="18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  <a:spcAft>
                    <a:spcPts val="5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𝐸𝑑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𝑏𝑜𝑙𝑡</m:t>
                              </m:r>
                            </m:sub>
                          </m:sSub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(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𝑖𝑛𝑛𝑒𝑟</m:t>
                          </m:r>
                          <m:r>
                            <a:rPr lang="en-GB" i="1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)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𝐸𝑑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∗</m:t>
                          </m:r>
                          <m:r>
                            <a:rPr lang="en-GB" i="1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𝑟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∑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236822</m:t>
                          </m:r>
                          <m:r>
                            <a:rPr lang="en-GB" i="1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∗</m:t>
                          </m:r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en-GB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6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.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3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∗</m:t>
                          </m:r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en-GB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553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.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92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∗</m:t>
                          </m:r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en-GB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6</m:t>
                              </m:r>
                            </m:sup>
                          </m:sSup>
                        </m:den>
                      </m:f>
                      <m:r>
                        <a:rPr lang="en-GB"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983338</m:t>
                      </m:r>
                      <m:r>
                        <a:rPr lang="en-US"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.</m:t>
                      </m:r>
                      <m:r>
                        <a:rPr lang="en-US"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03</m:t>
                      </m:r>
                      <m:r>
                        <a:rPr lang="en-GB"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GB"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N</m:t>
                      </m:r>
                      <m:r>
                        <a:rPr lang="en-GB" b="1" i="1"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	</m:t>
                      </m:r>
                      <m:r>
                        <a:rPr lang="en-US" b="1" i="1"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b="1" i="1"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𝟗𝟖</m:t>
                      </m:r>
                      <m:r>
                        <a:rPr lang="en-US" b="1" i="1"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.</m:t>
                      </m:r>
                      <m:r>
                        <a:rPr lang="en-US" b="1" i="1"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𝟑𝟑</m:t>
                      </m:r>
                      <m:r>
                        <a:rPr lang="en-US" b="1" i="1"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n-US" b="1" i="1"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𝒕𝒐𝒏</m:t>
                      </m:r>
                      <m:r>
                        <a:rPr lang="en-GB" sz="1800" b="1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			</m:t>
                      </m:r>
                    </m:oMath>
                  </m:oMathPara>
                </a14:m>
                <a:endParaRPr lang="en-US" sz="1800" b="1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  <a:spcAft>
                    <a:spcPts val="5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𝑁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𝐸𝑑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,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𝑏𝑜𝑙𝑡</m:t>
                              </m:r>
                            </m:sub>
                          </m:sSub>
                        </m:e>
                        <m:sub>
                          <m:r>
                            <a:rPr lang="en-GB" i="1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(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𝑜𝑢𝑡𝑒𝑟</m:t>
                          </m:r>
                          <m:r>
                            <a:rPr lang="en-GB" i="1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)</m:t>
                          </m:r>
                        </m:sub>
                      </m:sSub>
                      <m:r>
                        <a:rPr lang="en-GB" i="1"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𝑀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𝐸𝑑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∗</m:t>
                          </m:r>
                          <m:r>
                            <a:rPr lang="en-GB" i="1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𝑟</m:t>
                          </m:r>
                        </m:num>
                        <m:den>
                          <m:r>
                            <a:rPr lang="en-GB" i="1">
                              <a:latin typeface="Cambria Math" panose="02040503050406030204" pitchFamily="18" charset="0"/>
                            </a:rPr>
                            <m:t>∑</m:t>
                          </m:r>
                          <m:sSub>
                            <m:sSub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GB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 panose="02040503050406030204" pitchFamily="18" charset="0"/>
                                    </a:rPr>
                                    <m:t>𝑟</m:t>
                                  </m:r>
                                </m:e>
                                <m:sub>
                                  <m:r>
                                    <a:rPr lang="en-GB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r>
                        <a:rPr lang="en-GB" i="1"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=</m:t>
                      </m:r>
                      <m:f>
                        <m:fPr>
                          <m:ctrlPr>
                            <a:rPr lang="en-GB" i="1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a:rPr lang="en-GB" i="1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236822</m:t>
                          </m:r>
                          <m:r>
                            <a:rPr lang="en-GB" i="1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∗</m:t>
                          </m:r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en-GB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6</m:t>
                              </m:r>
                            </m:sup>
                          </m:sSup>
                          <m:r>
                            <a:rPr lang="en-US" i="1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∗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.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5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∗</m:t>
                          </m:r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en-GB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US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553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.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92</m:t>
                          </m:r>
                          <m:r>
                            <a:rPr lang="en-US" i="1"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∗</m:t>
                          </m:r>
                          <m:sSup>
                            <m:sSupPr>
                              <m:ctrlPr>
                                <a:rPr lang="en-GB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</m:ctrlPr>
                            </m:sSupPr>
                            <m:e>
                              <m:r>
                                <a:rPr lang="en-GB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10</m:t>
                              </m:r>
                            </m:e>
                            <m:sup>
                              <m:r>
                                <a:rPr lang="en-GB" i="1"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6</m:t>
                              </m:r>
                            </m:sup>
                          </m:sSup>
                        </m:den>
                      </m:f>
                      <m:r>
                        <a:rPr lang="en-GB"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b="0" i="0" smtClean="0"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1068845</m:t>
                      </m:r>
                      <m:r>
                        <a:rPr lang="en-US" b="0" i="0" smtClean="0"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.</m:t>
                      </m:r>
                      <m:r>
                        <a:rPr lang="en-US" b="0" i="0" smtClean="0"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7</m:t>
                      </m:r>
                      <m:r>
                        <a:rPr lang="en-GB"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GB"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N</m:t>
                      </m:r>
                      <m:r>
                        <a:rPr lang="en-GB" b="1" i="1"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	</m:t>
                      </m:r>
                      <m:r>
                        <a:rPr lang="en-US" b="1" i="1"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𝟏𝟎𝟔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.</m:t>
                      </m:r>
                      <m:r>
                        <a:rPr lang="en-US" b="1" i="1" smtClean="0"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𝟗</m:t>
                      </m:r>
                      <m:r>
                        <a:rPr lang="en-US" b="1" i="1"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𝒕𝒐𝒏</m:t>
                      </m:r>
                    </m:oMath>
                  </m:oMathPara>
                </a14:m>
                <a:endParaRPr lang="en-GB" sz="18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  <a:spcAft>
                    <a:spcPts val="5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800" b="1" i="1" smtClean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GB" sz="1800" b="1" i="1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𝑵</m:t>
                          </m:r>
                        </m:e>
                        <m:sub>
                          <m:r>
                            <a:rPr lang="en-US" sz="1800" b="1" i="1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𝑬𝒅</m:t>
                          </m:r>
                          <m:r>
                            <a:rPr lang="en-US" sz="1800" b="1" i="1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800" b="1" i="1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𝒃𝒐𝒍𝒕</m:t>
                          </m:r>
                        </m:sub>
                      </m:sSub>
                      <m:r>
                        <a:rPr lang="en-GB" sz="1800" b="1" i="1">
                          <a:solidFill>
                            <a:srgbClr val="002060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:</m:t>
                      </m:r>
                      <m:r>
                        <a:rPr lang="en-GB" sz="1800" b="1" i="1">
                          <a:solidFill>
                            <a:srgbClr val="002060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𝒊𝒔</m:t>
                      </m:r>
                      <m:r>
                        <a:rPr lang="en-GB" sz="1800" b="1" i="1">
                          <a:solidFill>
                            <a:srgbClr val="002060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n-GB" sz="1800" b="1" i="1">
                          <a:solidFill>
                            <a:srgbClr val="002060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𝑻𝒆𝒏𝒔𝒊𝒐𝒏</m:t>
                      </m:r>
                      <m:r>
                        <a:rPr lang="en-GB" sz="1800" b="1" i="1">
                          <a:solidFill>
                            <a:srgbClr val="002060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n-GB" sz="1800" b="1" i="1">
                          <a:solidFill>
                            <a:srgbClr val="002060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𝑭𝒐𝒓𝒄𝒆</m:t>
                      </m:r>
                      <m:r>
                        <a:rPr lang="en-GB" sz="1800" b="1" i="1">
                          <a:solidFill>
                            <a:srgbClr val="002060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n-GB" sz="1800" b="1" i="1">
                          <a:solidFill>
                            <a:srgbClr val="002060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𝒂𝒑𝒑𝒍𝒊𝒆𝒅</m:t>
                      </m:r>
                      <m:r>
                        <a:rPr lang="en-GB" sz="1800" b="1" i="1">
                          <a:solidFill>
                            <a:srgbClr val="002060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n-GB" sz="1800" b="1" i="1">
                          <a:solidFill>
                            <a:srgbClr val="002060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𝒐𝒏</m:t>
                      </m:r>
                      <m:r>
                        <a:rPr lang="en-GB" sz="1800" b="1" i="1">
                          <a:solidFill>
                            <a:srgbClr val="002060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n-GB" sz="1800" b="1" i="1">
                          <a:solidFill>
                            <a:srgbClr val="002060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𝒆𝒂𝒄𝒉</m:t>
                      </m:r>
                      <m:r>
                        <a:rPr lang="en-GB" sz="1800" b="1" i="1">
                          <a:solidFill>
                            <a:srgbClr val="002060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n-GB" sz="1800" b="1" i="1">
                          <a:solidFill>
                            <a:srgbClr val="002060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𝒃𝒐𝒍𝒕</m:t>
                      </m:r>
                    </m:oMath>
                  </m:oMathPara>
                </a14:m>
                <a:endParaRPr lang="en-GB" sz="1800" b="1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  <a:spcAft>
                    <a:spcPts val="5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GB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𝑓𝑜𝑟</m:t>
                      </m:r>
                      <m:r>
                        <a:rPr lang="en-GB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n-GB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𝑀</m:t>
                      </m:r>
                      <m:r>
                        <a:rPr lang="en-GB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48</m:t>
                      </m:r>
                      <m:r>
                        <a:rPr lang="en-GB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,</m:t>
                      </m:r>
                      <m:r>
                        <a:rPr lang="en-GB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𝐺𝑟𝑎𝑑𝑒</m:t>
                      </m:r>
                      <m:r>
                        <a:rPr lang="en-GB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n-GB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10</m:t>
                      </m:r>
                      <m:r>
                        <a:rPr lang="en-GB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.</m:t>
                      </m:r>
                      <m:r>
                        <a:rPr lang="en-GB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9</m:t>
                      </m:r>
                      <m:r>
                        <a:rPr lang="en-GB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 → </m:t>
                      </m:r>
                      <m:sSub>
                        <m:sSubPr>
                          <m:ctrlPr>
                            <a:rPr lang="en-GB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GB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𝐹</m:t>
                          </m:r>
                        </m:e>
                        <m:sub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𝑢𝑏</m:t>
                          </m:r>
                        </m:sub>
                      </m:sSub>
                      <m:r>
                        <a:rPr lang="en-GB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GB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1000</m:t>
                      </m:r>
                      <m:r>
                        <a:rPr lang="en-GB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GB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N</m:t>
                      </m:r>
                      <m:r>
                        <a:rPr lang="en-GB" sz="1800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/</m:t>
                      </m:r>
                      <m:sSup>
                        <m:sSupPr>
                          <m:ctrlPr>
                            <a:rPr lang="en-GB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r>
                            <m:rPr>
                              <m:sty m:val="p"/>
                            </m:rPr>
                            <a:rPr lang="en-GB" sz="18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mm</m:t>
                          </m:r>
                        </m:e>
                        <m:sup>
                          <m:r>
                            <a:rPr lang="en-GB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GB" sz="18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  <a:spcAft>
                    <a:spcPts val="5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GB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𝐹</m:t>
                          </m:r>
                        </m:e>
                        <m:sub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𝑏</m:t>
                          </m:r>
                        </m:sub>
                      </m:sSub>
                      <m:r>
                        <a:rPr lang="en-GB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GB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0</m:t>
                      </m:r>
                      <m:r>
                        <a:rPr lang="en-GB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.</m:t>
                      </m:r>
                      <m:r>
                        <a:rPr lang="en-GB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7</m:t>
                      </m:r>
                      <m:r>
                        <a:rPr lang="en-GB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∗</m:t>
                      </m:r>
                      <m:sSub>
                        <m:sSubPr>
                          <m:ctrlPr>
                            <a:rPr lang="en-GB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GB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𝐹</m:t>
                          </m:r>
                        </m:e>
                        <m:sub>
                          <m:r>
                            <a:rPr lang="en-US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𝑢𝑏</m:t>
                          </m:r>
                        </m:sub>
                      </m:sSub>
                      <m:r>
                        <a:rPr lang="en-GB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∗ </m:t>
                      </m:r>
                      <m:sSub>
                        <m:sSubPr>
                          <m:ctrlPr>
                            <a:rPr lang="en-GB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GB" sz="1800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𝐀</m:t>
                          </m:r>
                        </m:e>
                        <m:sub>
                          <m:r>
                            <a:rPr lang="en-GB" sz="1800" b="1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𝐛𝐨𝐥𝐭</m:t>
                          </m:r>
                        </m:sub>
                      </m:sSub>
                      <m:r>
                        <a:rPr lang="en-GB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GB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0</m:t>
                      </m:r>
                      <m:r>
                        <a:rPr lang="en-GB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.</m:t>
                      </m:r>
                      <m:r>
                        <a:rPr lang="en-GB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7</m:t>
                      </m:r>
                      <m:r>
                        <a:rPr lang="en-GB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∗</m:t>
                      </m:r>
                      <m:r>
                        <a:rPr lang="en-GB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1000</m:t>
                      </m:r>
                      <m:r>
                        <a:rPr lang="en-GB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∗</m:t>
                      </m:r>
                      <m:f>
                        <m:fPr>
                          <m:ctrlPr>
                            <a:rPr lang="en-GB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GB" sz="1800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π</m:t>
                          </m:r>
                        </m:num>
                        <m:den>
                          <m:r>
                            <a:rPr lang="en-GB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4</m:t>
                          </m:r>
                        </m:den>
                      </m:f>
                      <m:r>
                        <a:rPr lang="en-GB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∗</m:t>
                      </m:r>
                      <m:sSup>
                        <m:sSupPr>
                          <m:ctrlPr>
                            <a:rPr lang="en-GB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GB" sz="1800" i="1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</m:ctrlPr>
                            </m:dPr>
                            <m:e>
                              <m:r>
                                <a:rPr lang="en-GB" sz="1800">
                                  <a:effectLst/>
                                  <a:latin typeface="Cambria Math" panose="02040503050406030204" pitchFamily="18" charset="0"/>
                                  <a:ea typeface="Aptos" panose="020B0004020202020204" pitchFamily="34" charset="0"/>
                                  <a:cs typeface="Arial" panose="020B0604020202020204" pitchFamily="34" charset="0"/>
                                </a:rPr>
                                <m:t>48</m:t>
                              </m:r>
                            </m:e>
                          </m:d>
                        </m:e>
                        <m:sup>
                          <m:r>
                            <a:rPr lang="en-GB" sz="1800" i="1"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2</m:t>
                          </m:r>
                        </m:sup>
                      </m:sSup>
                      <m:r>
                        <a:rPr lang="en-GB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GB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126690</m:t>
                      </m:r>
                      <m:r>
                        <a:rPr lang="en-GB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.</m:t>
                      </m:r>
                      <m:r>
                        <a:rPr lang="en-GB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2</m:t>
                      </m:r>
                      <m:r>
                        <a:rPr lang="en-GB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n-GB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𝑁</m:t>
                      </m:r>
                      <m:r>
                        <a:rPr lang="en-GB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=</m:t>
                      </m:r>
                      <m:r>
                        <a:rPr lang="en-GB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126</m:t>
                      </m:r>
                      <m:r>
                        <a:rPr lang="en-GB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.</m:t>
                      </m:r>
                      <m:r>
                        <a:rPr lang="en-GB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7</m:t>
                      </m:r>
                      <m:r>
                        <a:rPr lang="en-GB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n-GB" sz="1800" i="1"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𝑡𝑜𝑛</m:t>
                      </m:r>
                    </m:oMath>
                  </m:oMathPara>
                </a14:m>
                <a:endParaRPr lang="en-GB" sz="1800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  <a:spcAft>
                    <a:spcPts val="5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800" b="1" i="1" smtClean="0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GB" sz="1800" b="1" i="1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𝑵</m:t>
                          </m:r>
                        </m:e>
                        <m:sub>
                          <m:r>
                            <a:rPr lang="en-US" sz="1800" b="1" i="1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𝑬𝒅</m:t>
                          </m:r>
                          <m:r>
                            <a:rPr lang="en-US" sz="1800" b="1" i="1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800" b="1" i="1">
                              <a:solidFill>
                                <a:srgbClr val="002060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𝒃𝒐𝒍𝒕</m:t>
                          </m:r>
                        </m:sub>
                      </m:sSub>
                      <m:r>
                        <a:rPr lang="en-GB" sz="1800" b="1" i="1">
                          <a:solidFill>
                            <a:srgbClr val="002060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:</m:t>
                      </m:r>
                      <m:r>
                        <a:rPr lang="en-GB" sz="1800" b="1" i="1">
                          <a:solidFill>
                            <a:srgbClr val="002060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𝒊𝒔</m:t>
                      </m:r>
                      <m:r>
                        <a:rPr lang="en-GB" sz="1800" b="1" i="1">
                          <a:solidFill>
                            <a:srgbClr val="002060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n-GB" sz="1800" b="1" i="1">
                          <a:solidFill>
                            <a:srgbClr val="002060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𝑻𝑷𝒓𝒆𝒕𝒆𝒏𝒔𝒊𝒐𝒏</m:t>
                      </m:r>
                      <m:r>
                        <a:rPr lang="en-GB" sz="1800" b="1" i="1">
                          <a:solidFill>
                            <a:srgbClr val="002060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n-GB" sz="1800" b="1" i="1">
                          <a:solidFill>
                            <a:srgbClr val="002060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𝑭𝒐𝒓𝒄𝒆</m:t>
                      </m:r>
                      <m:r>
                        <a:rPr lang="en-GB" sz="1800" b="1" i="1">
                          <a:solidFill>
                            <a:srgbClr val="002060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n-GB" sz="1800" b="1" i="1">
                          <a:solidFill>
                            <a:srgbClr val="002060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𝒂𝒑𝒑𝒍𝒊𝒆𝒅</m:t>
                      </m:r>
                      <m:r>
                        <a:rPr lang="en-GB" sz="1800" b="1" i="1">
                          <a:solidFill>
                            <a:srgbClr val="002060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n-GB" sz="1800" b="1" i="1">
                          <a:solidFill>
                            <a:srgbClr val="002060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𝒐𝒏</m:t>
                      </m:r>
                      <m:r>
                        <a:rPr lang="en-GB" sz="1800" b="1" i="1">
                          <a:solidFill>
                            <a:srgbClr val="002060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n-GB" sz="1800" b="1" i="1">
                          <a:solidFill>
                            <a:srgbClr val="002060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𝒆𝒂𝒄𝒉</m:t>
                      </m:r>
                      <m:r>
                        <a:rPr lang="en-GB" sz="1800" b="1" i="1">
                          <a:solidFill>
                            <a:srgbClr val="002060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 </m:t>
                      </m:r>
                      <m:r>
                        <a:rPr lang="en-GB" sz="1800" b="1" i="1">
                          <a:solidFill>
                            <a:srgbClr val="002060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𝒃𝒐𝒍𝒕</m:t>
                      </m:r>
                    </m:oMath>
                  </m:oMathPara>
                </a14:m>
                <a:endParaRPr lang="en-GB" sz="1800" b="1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  <a:p>
                <a:pPr>
                  <a:lnSpc>
                    <a:spcPct val="150000"/>
                  </a:lnSpc>
                  <a:spcAft>
                    <a:spcPts val="500"/>
                  </a:spcAft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800" b="1" i="1" smtClean="0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GB" sz="1800" b="1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𝑭</m:t>
                          </m:r>
                        </m:e>
                        <m:sub>
                          <m:r>
                            <a:rPr lang="en-US" sz="1800" b="1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𝒃</m:t>
                          </m:r>
                        </m:sub>
                      </m:sSub>
                      <m:r>
                        <a:rPr lang="en-GB" sz="1800" b="1" i="1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&gt; </m:t>
                      </m:r>
                      <m:sSub>
                        <m:sSubPr>
                          <m:ctrlPr>
                            <a:rPr lang="en-GB" sz="1800" b="1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</m:ctrlPr>
                        </m:sSubPr>
                        <m:e>
                          <m:r>
                            <a:rPr lang="en-GB" sz="1800" b="1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𝑵</m:t>
                          </m:r>
                        </m:e>
                        <m:sub>
                          <m:r>
                            <a:rPr lang="en-US" sz="1800" b="1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𝑬𝒅</m:t>
                          </m:r>
                          <m:r>
                            <a:rPr lang="en-US" sz="1800" b="1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,</m:t>
                          </m:r>
                          <m:r>
                            <a:rPr lang="en-US" sz="1800" b="1" i="1">
                              <a:solidFill>
                                <a:srgbClr val="FF0000"/>
                              </a:solidFill>
                              <a:effectLst/>
                              <a:latin typeface="Cambria Math" panose="02040503050406030204" pitchFamily="18" charset="0"/>
                              <a:ea typeface="Aptos" panose="020B0004020202020204" pitchFamily="34" charset="0"/>
                              <a:cs typeface="Arial" panose="020B0604020202020204" pitchFamily="34" charset="0"/>
                            </a:rPr>
                            <m:t>𝒃𝒐𝒍𝒕</m:t>
                          </m:r>
                        </m:sub>
                      </m:sSub>
                      <m:r>
                        <a:rPr lang="en-GB" sz="1800" b="1" i="1">
                          <a:solidFill>
                            <a:srgbClr val="FF0000"/>
                          </a:solidFill>
                          <a:effectLst/>
                          <a:latin typeface="Cambria Math" panose="02040503050406030204" pitchFamily="18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m:t> </m:t>
                      </m:r>
                    </m:oMath>
                  </m:oMathPara>
                </a14:m>
                <a:endParaRPr lang="en-GB" sz="1800" b="1" dirty="0">
                  <a:effectLst/>
                  <a:latin typeface="Aptos" panose="020B0004020202020204" pitchFamily="34" charset="0"/>
                  <a:ea typeface="Aptos" panose="020B00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974433CE-2835-2D30-A646-EB792CF6B5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0119" y="1331145"/>
                <a:ext cx="9414087" cy="5251630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" name="Picture 9">
            <a:extLst>
              <a:ext uri="{FF2B5EF4-FFF2-40B4-BE49-F238E27FC236}">
                <a16:creationId xmlns:a16="http://schemas.microsoft.com/office/drawing/2014/main" id="{44E46389-950B-1198-19D0-FC6A14A686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27475" y="2621177"/>
            <a:ext cx="2869024" cy="2531492"/>
          </a:xfrm>
          <a:prstGeom prst="rect">
            <a:avLst/>
          </a:prstGeom>
        </p:spPr>
      </p:pic>
      <p:sp>
        <p:nvSpPr>
          <p:cNvPr id="11" name="Textfeld 12">
            <a:extLst>
              <a:ext uri="{FF2B5EF4-FFF2-40B4-BE49-F238E27FC236}">
                <a16:creationId xmlns:a16="http://schemas.microsoft.com/office/drawing/2014/main" id="{A8E00E50-B010-4CCA-82D9-E0D3ECD81534}"/>
              </a:ext>
            </a:extLst>
          </p:cNvPr>
          <p:cNvSpPr txBox="1"/>
          <p:nvPr/>
        </p:nvSpPr>
        <p:spPr>
          <a:xfrm>
            <a:off x="2806700" y="6582775"/>
            <a:ext cx="6085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b="1" dirty="0"/>
              <a:t>Jehad Albaali</a:t>
            </a:r>
            <a:endParaRPr lang="de-DE" sz="1200" dirty="0">
              <a:latin typeface="Times New Roman" pitchFamily="18" charset="0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24399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E9E51-5D28-F1C4-C8CD-7EB6AF805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913F397-CBDE-7568-B0AE-84A97318BB4F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6</a:t>
            </a:fld>
            <a:endParaRPr lang="en-GB"/>
          </a:p>
        </p:txBody>
      </p:sp>
      <p:sp>
        <p:nvSpPr>
          <p:cNvPr id="8" name="Titel 4">
            <a:extLst>
              <a:ext uri="{FF2B5EF4-FFF2-40B4-BE49-F238E27FC236}">
                <a16:creationId xmlns:a16="http://schemas.microsoft.com/office/drawing/2014/main" id="{765CE4CC-A7EF-4868-AD1B-81486D0B7C7B}"/>
              </a:ext>
            </a:extLst>
          </p:cNvPr>
          <p:cNvSpPr txBox="1">
            <a:spLocks/>
          </p:cNvSpPr>
          <p:nvPr/>
        </p:nvSpPr>
        <p:spPr>
          <a:xfrm>
            <a:off x="764309" y="631689"/>
            <a:ext cx="1051560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250000"/>
              </a:lnSpc>
            </a:pPr>
            <a:r>
              <a:rPr lang="en-US" sz="2000" b="1" dirty="0">
                <a:solidFill>
                  <a:srgbClr val="FF0000"/>
                </a:solidFill>
              </a:rPr>
              <a:t>Reinforcement Details</a:t>
            </a:r>
            <a:endParaRPr lang="en-GB" sz="2000" b="1" dirty="0">
              <a:solidFill>
                <a:srgbClr val="FF0000"/>
              </a:solidFill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F538912C-E882-AF7B-56ED-AC5449FAEB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DE"/>
          </a:p>
        </p:txBody>
      </p:sp>
      <p:sp>
        <p:nvSpPr>
          <p:cNvPr id="17" name="Datumsplatzhalter 4">
            <a:extLst>
              <a:ext uri="{FF2B5EF4-FFF2-40B4-BE49-F238E27FC236}">
                <a16:creationId xmlns:a16="http://schemas.microsoft.com/office/drawing/2014/main" id="{CB105793-30D7-3CCC-E974-0777B1F55617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838200" y="6554103"/>
            <a:ext cx="1111370" cy="365125"/>
          </a:xfrm>
          <a:prstGeom prst="rect">
            <a:avLst/>
          </a:prstGeom>
        </p:spPr>
        <p:txBody>
          <a:bodyPr/>
          <a:lstStyle/>
          <a:p>
            <a:r>
              <a:rPr lang="en-GB" b="1" dirty="0">
                <a:solidFill>
                  <a:schemeClr val="tx1"/>
                </a:solidFill>
              </a:rPr>
              <a:t>09/12/2025</a:t>
            </a:r>
          </a:p>
        </p:txBody>
      </p:sp>
      <p:sp>
        <p:nvSpPr>
          <p:cNvPr id="18" name="Fußzeilenplatzhalter 5">
            <a:extLst>
              <a:ext uri="{FF2B5EF4-FFF2-40B4-BE49-F238E27FC236}">
                <a16:creationId xmlns:a16="http://schemas.microsoft.com/office/drawing/2014/main" id="{35F654B8-99BD-AD73-01EC-119C8E7576DF}"/>
              </a:ext>
            </a:extLst>
          </p:cNvPr>
          <p:cNvSpPr txBox="1">
            <a:spLocks/>
          </p:cNvSpPr>
          <p:nvPr/>
        </p:nvSpPr>
        <p:spPr>
          <a:xfrm>
            <a:off x="8474613" y="65514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/>
              <a:t>Foundations team/ Optimus Syria</a:t>
            </a:r>
          </a:p>
        </p:txBody>
      </p:sp>
      <p:pic>
        <p:nvPicPr>
          <p:cNvPr id="5" name="Picture 4" descr="A diagram of a graph&#10;&#10;AI-generated content may be incorrect.">
            <a:extLst>
              <a:ext uri="{FF2B5EF4-FFF2-40B4-BE49-F238E27FC236}">
                <a16:creationId xmlns:a16="http://schemas.microsoft.com/office/drawing/2014/main" id="{19A0D537-EDE5-B0A7-56BD-57A95743B8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4049" y="1316131"/>
            <a:ext cx="6947612" cy="5178518"/>
          </a:xfrm>
          <a:prstGeom prst="rect">
            <a:avLst/>
          </a:prstGeom>
        </p:spPr>
      </p:pic>
      <p:sp>
        <p:nvSpPr>
          <p:cNvPr id="9" name="Textfeld 12">
            <a:extLst>
              <a:ext uri="{FF2B5EF4-FFF2-40B4-BE49-F238E27FC236}">
                <a16:creationId xmlns:a16="http://schemas.microsoft.com/office/drawing/2014/main" id="{E3FB5FBD-EE9F-4A99-A1D7-7B7ACB15224C}"/>
              </a:ext>
            </a:extLst>
          </p:cNvPr>
          <p:cNvSpPr txBox="1"/>
          <p:nvPr/>
        </p:nvSpPr>
        <p:spPr>
          <a:xfrm>
            <a:off x="2806700" y="6582775"/>
            <a:ext cx="6085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b="1" dirty="0"/>
              <a:t>Jehad Albaali</a:t>
            </a:r>
            <a:endParaRPr lang="de-DE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578A80-DEC3-405F-BD57-563A5B1097CB}"/>
              </a:ext>
            </a:extLst>
          </p:cNvPr>
          <p:cNvSpPr txBox="1"/>
          <p:nvPr/>
        </p:nvSpPr>
        <p:spPr>
          <a:xfrm>
            <a:off x="9252369" y="6184727"/>
            <a:ext cx="293963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r-SA" sz="1100" dirty="0"/>
              <a:t>Figure created by the author (AutoCAD, 2025</a:t>
            </a:r>
            <a:r>
              <a:rPr lang="de-DE" sz="1100" dirty="0"/>
              <a:t>)</a:t>
            </a:r>
            <a:endParaRPr lang="ar-SA" sz="1100" dirty="0"/>
          </a:p>
        </p:txBody>
      </p:sp>
    </p:spTree>
    <p:extLst>
      <p:ext uri="{BB962C8B-B14F-4D97-AF65-F5344CB8AC3E}">
        <p14:creationId xmlns:p14="http://schemas.microsoft.com/office/powerpoint/2010/main" val="21401533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41A103-2B6B-3CE8-CD64-0DDD23CE90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DF9C15D-46DF-5DDC-7696-159F89D748D3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7</a:t>
            </a:fld>
            <a:endParaRPr lang="en-GB"/>
          </a:p>
        </p:txBody>
      </p:sp>
      <p:sp>
        <p:nvSpPr>
          <p:cNvPr id="8" name="Titel 4">
            <a:extLst>
              <a:ext uri="{FF2B5EF4-FFF2-40B4-BE49-F238E27FC236}">
                <a16:creationId xmlns:a16="http://schemas.microsoft.com/office/drawing/2014/main" id="{DE874A80-466E-1BDF-CE03-C88EFD913618}"/>
              </a:ext>
            </a:extLst>
          </p:cNvPr>
          <p:cNvSpPr txBox="1">
            <a:spLocks/>
          </p:cNvSpPr>
          <p:nvPr/>
        </p:nvSpPr>
        <p:spPr>
          <a:xfrm>
            <a:off x="764309" y="631689"/>
            <a:ext cx="1051560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250000"/>
              </a:lnSpc>
            </a:pPr>
            <a:r>
              <a:rPr lang="en-US" sz="2000" b="1" dirty="0">
                <a:solidFill>
                  <a:srgbClr val="FF0000"/>
                </a:solidFill>
              </a:rPr>
              <a:t>Reinforcement Details</a:t>
            </a:r>
            <a:endParaRPr lang="en-GB" sz="2000" b="1" dirty="0">
              <a:solidFill>
                <a:srgbClr val="FF0000"/>
              </a:solidFill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9A06A30D-A6FA-72FB-4D00-A27889CCBD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DE"/>
          </a:p>
        </p:txBody>
      </p:sp>
      <p:sp>
        <p:nvSpPr>
          <p:cNvPr id="17" name="Datumsplatzhalter 4">
            <a:extLst>
              <a:ext uri="{FF2B5EF4-FFF2-40B4-BE49-F238E27FC236}">
                <a16:creationId xmlns:a16="http://schemas.microsoft.com/office/drawing/2014/main" id="{C83BB0C6-737C-E0AC-2DE3-132DC15E5194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838200" y="6554103"/>
            <a:ext cx="1111370" cy="365125"/>
          </a:xfrm>
          <a:prstGeom prst="rect">
            <a:avLst/>
          </a:prstGeom>
        </p:spPr>
        <p:txBody>
          <a:bodyPr/>
          <a:lstStyle/>
          <a:p>
            <a:r>
              <a:rPr lang="en-GB" b="1" dirty="0">
                <a:solidFill>
                  <a:schemeClr val="tx1"/>
                </a:solidFill>
              </a:rPr>
              <a:t>09/12/2025</a:t>
            </a:r>
          </a:p>
        </p:txBody>
      </p:sp>
      <p:sp>
        <p:nvSpPr>
          <p:cNvPr id="18" name="Fußzeilenplatzhalter 5">
            <a:extLst>
              <a:ext uri="{FF2B5EF4-FFF2-40B4-BE49-F238E27FC236}">
                <a16:creationId xmlns:a16="http://schemas.microsoft.com/office/drawing/2014/main" id="{C22EF552-7B54-BD9F-B064-38DBDD9BE034}"/>
              </a:ext>
            </a:extLst>
          </p:cNvPr>
          <p:cNvSpPr txBox="1">
            <a:spLocks/>
          </p:cNvSpPr>
          <p:nvPr/>
        </p:nvSpPr>
        <p:spPr>
          <a:xfrm>
            <a:off x="8474613" y="65514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/>
              <a:t>Foundations team/ Optimus Syria</a:t>
            </a:r>
          </a:p>
        </p:txBody>
      </p:sp>
      <p:pic>
        <p:nvPicPr>
          <p:cNvPr id="9" name="Picture 8" descr="A diagram of a graph&#10;&#10;AI-generated content may be incorrect.">
            <a:extLst>
              <a:ext uri="{FF2B5EF4-FFF2-40B4-BE49-F238E27FC236}">
                <a16:creationId xmlns:a16="http://schemas.microsoft.com/office/drawing/2014/main" id="{80F56381-A848-C61B-E92D-61E16873F2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0174" y="1315964"/>
            <a:ext cx="6999530" cy="5194075"/>
          </a:xfrm>
          <a:prstGeom prst="rect">
            <a:avLst/>
          </a:prstGeom>
        </p:spPr>
      </p:pic>
      <p:sp>
        <p:nvSpPr>
          <p:cNvPr id="10" name="Textfeld 12">
            <a:extLst>
              <a:ext uri="{FF2B5EF4-FFF2-40B4-BE49-F238E27FC236}">
                <a16:creationId xmlns:a16="http://schemas.microsoft.com/office/drawing/2014/main" id="{1AC22109-92FE-4466-BE6C-4C7B5E95FF4E}"/>
              </a:ext>
            </a:extLst>
          </p:cNvPr>
          <p:cNvSpPr txBox="1"/>
          <p:nvPr/>
        </p:nvSpPr>
        <p:spPr>
          <a:xfrm>
            <a:off x="2806700" y="6582775"/>
            <a:ext cx="6085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b="1" dirty="0"/>
              <a:t>Jehad Albaali</a:t>
            </a:r>
            <a:endParaRPr lang="de-DE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CF633D8-87CC-424D-ABB5-72DF031D2F6A}"/>
              </a:ext>
            </a:extLst>
          </p:cNvPr>
          <p:cNvSpPr txBox="1"/>
          <p:nvPr/>
        </p:nvSpPr>
        <p:spPr>
          <a:xfrm>
            <a:off x="9252368" y="6226311"/>
            <a:ext cx="293963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r-SA" sz="1100" dirty="0"/>
              <a:t>Figure created by the author (AutoCAD, 2025</a:t>
            </a:r>
            <a:r>
              <a:rPr lang="de-DE" sz="1100" dirty="0"/>
              <a:t>)</a:t>
            </a:r>
            <a:endParaRPr lang="ar-SA" sz="1100" dirty="0"/>
          </a:p>
        </p:txBody>
      </p:sp>
    </p:spTree>
    <p:extLst>
      <p:ext uri="{BB962C8B-B14F-4D97-AF65-F5344CB8AC3E}">
        <p14:creationId xmlns:p14="http://schemas.microsoft.com/office/powerpoint/2010/main" val="26485913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CDB11C-DC81-C89E-1432-7198963028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A24E356-0A82-9F51-FE14-E5412EA137B7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8</a:t>
            </a:fld>
            <a:endParaRPr lang="en-GB"/>
          </a:p>
        </p:txBody>
      </p:sp>
      <p:sp>
        <p:nvSpPr>
          <p:cNvPr id="8" name="Titel 4">
            <a:extLst>
              <a:ext uri="{FF2B5EF4-FFF2-40B4-BE49-F238E27FC236}">
                <a16:creationId xmlns:a16="http://schemas.microsoft.com/office/drawing/2014/main" id="{59A5B6EA-01AA-8C9A-6AAA-0DA5CD33FD5C}"/>
              </a:ext>
            </a:extLst>
          </p:cNvPr>
          <p:cNvSpPr txBox="1">
            <a:spLocks/>
          </p:cNvSpPr>
          <p:nvPr/>
        </p:nvSpPr>
        <p:spPr>
          <a:xfrm>
            <a:off x="764309" y="631689"/>
            <a:ext cx="1051560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250000"/>
              </a:lnSpc>
            </a:pPr>
            <a:r>
              <a:rPr lang="en-US" sz="2000" b="1" dirty="0">
                <a:solidFill>
                  <a:srgbClr val="FF0000"/>
                </a:solidFill>
              </a:rPr>
              <a:t>Reinforcement Details</a:t>
            </a:r>
            <a:endParaRPr lang="en-GB" sz="2000" b="1" dirty="0">
              <a:solidFill>
                <a:srgbClr val="FF0000"/>
              </a:solidFill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203B5579-620B-4DD6-088E-FFF364E003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DE"/>
          </a:p>
        </p:txBody>
      </p:sp>
      <p:sp>
        <p:nvSpPr>
          <p:cNvPr id="17" name="Datumsplatzhalter 4">
            <a:extLst>
              <a:ext uri="{FF2B5EF4-FFF2-40B4-BE49-F238E27FC236}">
                <a16:creationId xmlns:a16="http://schemas.microsoft.com/office/drawing/2014/main" id="{5B3BC303-B4D0-FEB7-B6B6-BB369969395E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838200" y="6554103"/>
            <a:ext cx="1111370" cy="365125"/>
          </a:xfrm>
          <a:prstGeom prst="rect">
            <a:avLst/>
          </a:prstGeom>
        </p:spPr>
        <p:txBody>
          <a:bodyPr/>
          <a:lstStyle/>
          <a:p>
            <a:r>
              <a:rPr lang="en-GB" b="1" dirty="0">
                <a:solidFill>
                  <a:schemeClr val="tx1"/>
                </a:solidFill>
              </a:rPr>
              <a:t>09/12/2025</a:t>
            </a:r>
          </a:p>
        </p:txBody>
      </p:sp>
      <p:sp>
        <p:nvSpPr>
          <p:cNvPr id="18" name="Fußzeilenplatzhalter 5">
            <a:extLst>
              <a:ext uri="{FF2B5EF4-FFF2-40B4-BE49-F238E27FC236}">
                <a16:creationId xmlns:a16="http://schemas.microsoft.com/office/drawing/2014/main" id="{59C79438-CE19-8EC2-C1CA-C7CBFD61C833}"/>
              </a:ext>
            </a:extLst>
          </p:cNvPr>
          <p:cNvSpPr txBox="1">
            <a:spLocks/>
          </p:cNvSpPr>
          <p:nvPr/>
        </p:nvSpPr>
        <p:spPr>
          <a:xfrm>
            <a:off x="8474613" y="65514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/>
              <a:t>Foundations team/ Optimus Syria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9B67D91-2AB9-2050-7F1A-12F6309242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82157" y="1405227"/>
            <a:ext cx="6894377" cy="5074032"/>
          </a:xfrm>
          <a:prstGeom prst="rect">
            <a:avLst/>
          </a:prstGeom>
        </p:spPr>
      </p:pic>
      <p:sp>
        <p:nvSpPr>
          <p:cNvPr id="9" name="Textfeld 12">
            <a:extLst>
              <a:ext uri="{FF2B5EF4-FFF2-40B4-BE49-F238E27FC236}">
                <a16:creationId xmlns:a16="http://schemas.microsoft.com/office/drawing/2014/main" id="{7AD64D1C-2A71-49CD-8EB6-09042F54F03C}"/>
              </a:ext>
            </a:extLst>
          </p:cNvPr>
          <p:cNvSpPr txBox="1"/>
          <p:nvPr/>
        </p:nvSpPr>
        <p:spPr>
          <a:xfrm>
            <a:off x="2806700" y="6582775"/>
            <a:ext cx="6085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b="1" dirty="0"/>
              <a:t>Jehad Albaali</a:t>
            </a:r>
            <a:endParaRPr lang="de-DE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FC7C7D4-A6AE-4D93-A1C1-80E78FF1E721}"/>
              </a:ext>
            </a:extLst>
          </p:cNvPr>
          <p:cNvSpPr txBox="1"/>
          <p:nvPr/>
        </p:nvSpPr>
        <p:spPr>
          <a:xfrm>
            <a:off x="9353968" y="6141913"/>
            <a:ext cx="293963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r-SA" sz="1100" dirty="0"/>
              <a:t>Figure created by the author (AutoCAD, 2025</a:t>
            </a:r>
            <a:r>
              <a:rPr lang="de-DE" sz="1100" dirty="0"/>
              <a:t>)</a:t>
            </a:r>
            <a:endParaRPr lang="ar-SA" sz="1100" dirty="0"/>
          </a:p>
        </p:txBody>
      </p:sp>
    </p:spTree>
    <p:extLst>
      <p:ext uri="{BB962C8B-B14F-4D97-AF65-F5344CB8AC3E}">
        <p14:creationId xmlns:p14="http://schemas.microsoft.com/office/powerpoint/2010/main" val="17387588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66CA67-E815-BE9E-03D0-2B468B8AC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E99E821-1D40-1AF9-8DAA-C43C863988EC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9</a:t>
            </a:fld>
            <a:endParaRPr lang="en-GB"/>
          </a:p>
        </p:txBody>
      </p:sp>
      <p:sp>
        <p:nvSpPr>
          <p:cNvPr id="8" name="Titel 4">
            <a:extLst>
              <a:ext uri="{FF2B5EF4-FFF2-40B4-BE49-F238E27FC236}">
                <a16:creationId xmlns:a16="http://schemas.microsoft.com/office/drawing/2014/main" id="{88BBBF5A-EA29-324A-B135-34CA2F51F0E5}"/>
              </a:ext>
            </a:extLst>
          </p:cNvPr>
          <p:cNvSpPr txBox="1">
            <a:spLocks/>
          </p:cNvSpPr>
          <p:nvPr/>
        </p:nvSpPr>
        <p:spPr>
          <a:xfrm>
            <a:off x="764309" y="631689"/>
            <a:ext cx="1051560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250000"/>
              </a:lnSpc>
            </a:pPr>
            <a:r>
              <a:rPr lang="en-US" sz="2000" b="1" dirty="0">
                <a:solidFill>
                  <a:srgbClr val="FF0000"/>
                </a:solidFill>
              </a:rPr>
              <a:t>Reinforcement Details</a:t>
            </a:r>
            <a:endParaRPr lang="en-GB" sz="2000" b="1" dirty="0">
              <a:solidFill>
                <a:srgbClr val="FF0000"/>
              </a:solidFill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79630C9D-88E7-DBC0-729B-2C2EE0CE40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DE"/>
          </a:p>
        </p:txBody>
      </p:sp>
      <p:sp>
        <p:nvSpPr>
          <p:cNvPr id="17" name="Datumsplatzhalter 4">
            <a:extLst>
              <a:ext uri="{FF2B5EF4-FFF2-40B4-BE49-F238E27FC236}">
                <a16:creationId xmlns:a16="http://schemas.microsoft.com/office/drawing/2014/main" id="{8C921DEF-F43F-2F23-2F5A-AB7FBE96AB06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838200" y="6554103"/>
            <a:ext cx="1111370" cy="365125"/>
          </a:xfrm>
          <a:prstGeom prst="rect">
            <a:avLst/>
          </a:prstGeom>
        </p:spPr>
        <p:txBody>
          <a:bodyPr/>
          <a:lstStyle/>
          <a:p>
            <a:r>
              <a:rPr lang="en-GB" b="1" dirty="0">
                <a:solidFill>
                  <a:schemeClr val="tx1"/>
                </a:solidFill>
              </a:rPr>
              <a:t>09/12/2025</a:t>
            </a:r>
          </a:p>
        </p:txBody>
      </p:sp>
      <p:sp>
        <p:nvSpPr>
          <p:cNvPr id="18" name="Fußzeilenplatzhalter 5">
            <a:extLst>
              <a:ext uri="{FF2B5EF4-FFF2-40B4-BE49-F238E27FC236}">
                <a16:creationId xmlns:a16="http://schemas.microsoft.com/office/drawing/2014/main" id="{50A3B3DB-90AB-D934-4EAF-841F2F43764D}"/>
              </a:ext>
            </a:extLst>
          </p:cNvPr>
          <p:cNvSpPr txBox="1">
            <a:spLocks/>
          </p:cNvSpPr>
          <p:nvPr/>
        </p:nvSpPr>
        <p:spPr>
          <a:xfrm>
            <a:off x="8474613" y="65514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/>
              <a:t>Foundations team/ Optimus Syria</a:t>
            </a:r>
          </a:p>
        </p:txBody>
      </p:sp>
      <p:pic>
        <p:nvPicPr>
          <p:cNvPr id="9" name="Picture 8" descr="A diagram of a bridge&#10;&#10;AI-generated content may be incorrect.">
            <a:extLst>
              <a:ext uri="{FF2B5EF4-FFF2-40B4-BE49-F238E27FC236}">
                <a16:creationId xmlns:a16="http://schemas.microsoft.com/office/drawing/2014/main" id="{3374662B-6EF6-ABBB-BBD8-20365462A5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74203" y="1305959"/>
            <a:ext cx="6940146" cy="5188690"/>
          </a:xfrm>
          <a:prstGeom prst="rect">
            <a:avLst/>
          </a:prstGeom>
        </p:spPr>
      </p:pic>
      <p:sp>
        <p:nvSpPr>
          <p:cNvPr id="10" name="Textfeld 12">
            <a:extLst>
              <a:ext uri="{FF2B5EF4-FFF2-40B4-BE49-F238E27FC236}">
                <a16:creationId xmlns:a16="http://schemas.microsoft.com/office/drawing/2014/main" id="{A59CEE5B-70E2-47F7-80FD-EC5E2FBC9B2B}"/>
              </a:ext>
            </a:extLst>
          </p:cNvPr>
          <p:cNvSpPr txBox="1"/>
          <p:nvPr/>
        </p:nvSpPr>
        <p:spPr>
          <a:xfrm>
            <a:off x="2806700" y="6582775"/>
            <a:ext cx="6085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b="1" dirty="0"/>
              <a:t>Jehad Albaali</a:t>
            </a:r>
            <a:endParaRPr lang="de-DE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8DD33FC-B24C-47FA-8D71-C598118DF41D}"/>
              </a:ext>
            </a:extLst>
          </p:cNvPr>
          <p:cNvSpPr txBox="1"/>
          <p:nvPr/>
        </p:nvSpPr>
        <p:spPr>
          <a:xfrm>
            <a:off x="9252368" y="6226311"/>
            <a:ext cx="293963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r-SA" sz="1100" dirty="0"/>
              <a:t>Figure created by the author (AutoCAD, 2025</a:t>
            </a:r>
            <a:r>
              <a:rPr lang="de-DE" sz="1100" dirty="0"/>
              <a:t>)</a:t>
            </a:r>
            <a:endParaRPr lang="ar-SA" sz="1100" dirty="0"/>
          </a:p>
        </p:txBody>
      </p:sp>
    </p:spTree>
    <p:extLst>
      <p:ext uri="{BB962C8B-B14F-4D97-AF65-F5344CB8AC3E}">
        <p14:creationId xmlns:p14="http://schemas.microsoft.com/office/powerpoint/2010/main" val="8465391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4B644E-617A-F74B-11FB-893622E17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00CD23F-74D8-5D24-0F87-D905D8DAD217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10</a:t>
            </a:fld>
            <a:endParaRPr lang="en-GB"/>
          </a:p>
        </p:txBody>
      </p:sp>
      <p:sp>
        <p:nvSpPr>
          <p:cNvPr id="8" name="Titel 4">
            <a:extLst>
              <a:ext uri="{FF2B5EF4-FFF2-40B4-BE49-F238E27FC236}">
                <a16:creationId xmlns:a16="http://schemas.microsoft.com/office/drawing/2014/main" id="{3BFF5D4D-F268-6B83-790B-A43A508D9FDF}"/>
              </a:ext>
            </a:extLst>
          </p:cNvPr>
          <p:cNvSpPr txBox="1">
            <a:spLocks/>
          </p:cNvSpPr>
          <p:nvPr/>
        </p:nvSpPr>
        <p:spPr>
          <a:xfrm>
            <a:off x="764309" y="631689"/>
            <a:ext cx="1051560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250000"/>
              </a:lnSpc>
            </a:pPr>
            <a:r>
              <a:rPr lang="en-US" sz="2000" b="1" dirty="0">
                <a:solidFill>
                  <a:srgbClr val="FF0000"/>
                </a:solidFill>
              </a:rPr>
              <a:t>Reinforcement Details</a:t>
            </a:r>
            <a:endParaRPr lang="en-GB" sz="2000" b="1" dirty="0">
              <a:solidFill>
                <a:srgbClr val="FF0000"/>
              </a:solidFill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E8F22E22-5CE2-4832-0A06-99D8D6BEEA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DE"/>
          </a:p>
        </p:txBody>
      </p:sp>
      <p:sp>
        <p:nvSpPr>
          <p:cNvPr id="17" name="Datumsplatzhalter 4">
            <a:extLst>
              <a:ext uri="{FF2B5EF4-FFF2-40B4-BE49-F238E27FC236}">
                <a16:creationId xmlns:a16="http://schemas.microsoft.com/office/drawing/2014/main" id="{D36EAD76-C89E-6BDD-B0FB-CBFDC67367FF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838200" y="6554103"/>
            <a:ext cx="1111370" cy="365125"/>
          </a:xfrm>
          <a:prstGeom prst="rect">
            <a:avLst/>
          </a:prstGeom>
        </p:spPr>
        <p:txBody>
          <a:bodyPr/>
          <a:lstStyle/>
          <a:p>
            <a:r>
              <a:rPr lang="en-GB" b="1" dirty="0">
                <a:solidFill>
                  <a:schemeClr val="tx1"/>
                </a:solidFill>
              </a:rPr>
              <a:t>09/12/2025</a:t>
            </a:r>
          </a:p>
        </p:txBody>
      </p:sp>
      <p:sp>
        <p:nvSpPr>
          <p:cNvPr id="18" name="Fußzeilenplatzhalter 5">
            <a:extLst>
              <a:ext uri="{FF2B5EF4-FFF2-40B4-BE49-F238E27FC236}">
                <a16:creationId xmlns:a16="http://schemas.microsoft.com/office/drawing/2014/main" id="{789EADDA-0ADA-F208-DDD9-F0EF009DAB3A}"/>
              </a:ext>
            </a:extLst>
          </p:cNvPr>
          <p:cNvSpPr txBox="1">
            <a:spLocks/>
          </p:cNvSpPr>
          <p:nvPr/>
        </p:nvSpPr>
        <p:spPr>
          <a:xfrm>
            <a:off x="8474613" y="65514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/>
              <a:t>Foundations team/ Optimus Syria</a:t>
            </a:r>
          </a:p>
        </p:txBody>
      </p:sp>
      <p:pic>
        <p:nvPicPr>
          <p:cNvPr id="3" name="Picture 2" descr="A diagram of a circle with lines and text&#10;&#10;AI-generated content may be incorrect.">
            <a:extLst>
              <a:ext uri="{FF2B5EF4-FFF2-40B4-BE49-F238E27FC236}">
                <a16:creationId xmlns:a16="http://schemas.microsoft.com/office/drawing/2014/main" id="{35593772-B68A-B5AF-2D38-1517C4258E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0519" y="1376858"/>
            <a:ext cx="6861850" cy="5102401"/>
          </a:xfrm>
          <a:prstGeom prst="rect">
            <a:avLst/>
          </a:prstGeom>
        </p:spPr>
      </p:pic>
      <p:sp>
        <p:nvSpPr>
          <p:cNvPr id="9" name="Textfeld 12">
            <a:extLst>
              <a:ext uri="{FF2B5EF4-FFF2-40B4-BE49-F238E27FC236}">
                <a16:creationId xmlns:a16="http://schemas.microsoft.com/office/drawing/2014/main" id="{A3AC6B89-5C42-48FC-837A-35DA4D90E62E}"/>
              </a:ext>
            </a:extLst>
          </p:cNvPr>
          <p:cNvSpPr txBox="1"/>
          <p:nvPr/>
        </p:nvSpPr>
        <p:spPr>
          <a:xfrm>
            <a:off x="2806700" y="6582775"/>
            <a:ext cx="6085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b="1" dirty="0"/>
              <a:t>Jehad Albaali</a:t>
            </a:r>
            <a:endParaRPr lang="de-DE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131551A-7BA1-4B1A-BC29-438BCE4A4CA5}"/>
              </a:ext>
            </a:extLst>
          </p:cNvPr>
          <p:cNvSpPr txBox="1"/>
          <p:nvPr/>
        </p:nvSpPr>
        <p:spPr>
          <a:xfrm>
            <a:off x="9252368" y="6226311"/>
            <a:ext cx="293963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ar-SA" sz="1100" dirty="0"/>
              <a:t>Figure created by the author (AutoCAD, 2025</a:t>
            </a:r>
            <a:r>
              <a:rPr lang="de-DE" sz="1100" dirty="0"/>
              <a:t>)</a:t>
            </a:r>
            <a:endParaRPr lang="ar-SA" sz="1100" dirty="0"/>
          </a:p>
        </p:txBody>
      </p:sp>
    </p:spTree>
    <p:extLst>
      <p:ext uri="{BB962C8B-B14F-4D97-AF65-F5344CB8AC3E}">
        <p14:creationId xmlns:p14="http://schemas.microsoft.com/office/powerpoint/2010/main" val="25811796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FE3D0A-C704-F121-9F4A-41F5835FA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AE7DDDC6-C8B9-C58E-DDC6-F54FDE2D29DE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11</a:t>
            </a:fld>
            <a:endParaRPr lang="en-GB" dirty="0"/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EFBC6C56-EB19-7480-D5FA-25DAB6E544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DE"/>
          </a:p>
        </p:txBody>
      </p:sp>
      <p:sp>
        <p:nvSpPr>
          <p:cNvPr id="17" name="Datumsplatzhalter 4">
            <a:extLst>
              <a:ext uri="{FF2B5EF4-FFF2-40B4-BE49-F238E27FC236}">
                <a16:creationId xmlns:a16="http://schemas.microsoft.com/office/drawing/2014/main" id="{57737309-601F-9126-6ADE-A77C268650FF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838200" y="6554103"/>
            <a:ext cx="1111370" cy="365125"/>
          </a:xfrm>
          <a:prstGeom prst="rect">
            <a:avLst/>
          </a:prstGeo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09</a:t>
            </a:r>
            <a:r>
              <a:rPr lang="en-GB" b="1" dirty="0">
                <a:solidFill>
                  <a:schemeClr val="tx1"/>
                </a:solidFill>
              </a:rPr>
              <a:t>/12/2025</a:t>
            </a:r>
          </a:p>
        </p:txBody>
      </p:sp>
      <p:sp>
        <p:nvSpPr>
          <p:cNvPr id="18" name="Fußzeilenplatzhalter 5">
            <a:extLst>
              <a:ext uri="{FF2B5EF4-FFF2-40B4-BE49-F238E27FC236}">
                <a16:creationId xmlns:a16="http://schemas.microsoft.com/office/drawing/2014/main" id="{F000B7E9-079E-A132-AFA4-547559A6A37F}"/>
              </a:ext>
            </a:extLst>
          </p:cNvPr>
          <p:cNvSpPr txBox="1">
            <a:spLocks/>
          </p:cNvSpPr>
          <p:nvPr/>
        </p:nvSpPr>
        <p:spPr>
          <a:xfrm>
            <a:off x="8474613" y="65514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/>
              <a:t>Foundations team/ Optimus Syria</a:t>
            </a:r>
          </a:p>
        </p:txBody>
      </p:sp>
      <p:sp>
        <p:nvSpPr>
          <p:cNvPr id="8" name="Textfeld 12">
            <a:extLst>
              <a:ext uri="{FF2B5EF4-FFF2-40B4-BE49-F238E27FC236}">
                <a16:creationId xmlns:a16="http://schemas.microsoft.com/office/drawing/2014/main" id="{81123033-991D-4314-95BD-3B543314EECF}"/>
              </a:ext>
            </a:extLst>
          </p:cNvPr>
          <p:cNvSpPr txBox="1"/>
          <p:nvPr/>
        </p:nvSpPr>
        <p:spPr>
          <a:xfrm>
            <a:off x="2806700" y="6582775"/>
            <a:ext cx="6085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b="1" dirty="0"/>
              <a:t>Jehad Albaali</a:t>
            </a:r>
            <a:endParaRPr lang="de-DE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9" name="Text 0">
            <a:extLst>
              <a:ext uri="{FF2B5EF4-FFF2-40B4-BE49-F238E27FC236}">
                <a16:creationId xmlns:a16="http://schemas.microsoft.com/office/drawing/2014/main" id="{38FE7176-7A28-4A46-9C61-3ECBB6911640}"/>
              </a:ext>
            </a:extLst>
          </p:cNvPr>
          <p:cNvSpPr/>
          <p:nvPr/>
        </p:nvSpPr>
        <p:spPr>
          <a:xfrm>
            <a:off x="490376" y="752903"/>
            <a:ext cx="7667744" cy="4032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b="1" dirty="0">
                <a:solidFill>
                  <a:srgbClr val="FF0000"/>
                </a:solidFill>
              </a:rPr>
              <a:t>Complete</a:t>
            </a:r>
            <a:r>
              <a:rPr lang="en-US" sz="25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 </a:t>
            </a:r>
            <a:r>
              <a:rPr lang="en-US" b="1" dirty="0">
                <a:solidFill>
                  <a:srgbClr val="FF0000"/>
                </a:solidFill>
              </a:rPr>
              <a:t>Foundation Cost Breakdown</a:t>
            </a:r>
          </a:p>
        </p:txBody>
      </p:sp>
      <p:sp>
        <p:nvSpPr>
          <p:cNvPr id="10" name="Shape 1">
            <a:extLst>
              <a:ext uri="{FF2B5EF4-FFF2-40B4-BE49-F238E27FC236}">
                <a16:creationId xmlns:a16="http://schemas.microsoft.com/office/drawing/2014/main" id="{C807F795-187B-4818-8C44-C8E46BBE68CD}"/>
              </a:ext>
            </a:extLst>
          </p:cNvPr>
          <p:cNvSpPr/>
          <p:nvPr/>
        </p:nvSpPr>
        <p:spPr>
          <a:xfrm>
            <a:off x="266090" y="1192486"/>
            <a:ext cx="4705875" cy="1749862"/>
          </a:xfrm>
          <a:prstGeom prst="roundRect">
            <a:avLst>
              <a:gd name="adj" fmla="val 1107"/>
            </a:avLst>
          </a:prstGeom>
          <a:solidFill>
            <a:srgbClr val="C8CAC1">
              <a:alpha val="50000"/>
            </a:srgbClr>
          </a:solidFill>
          <a:ln/>
        </p:spPr>
      </p:sp>
      <p:sp>
        <p:nvSpPr>
          <p:cNvPr id="11" name="Text 2">
            <a:extLst>
              <a:ext uri="{FF2B5EF4-FFF2-40B4-BE49-F238E27FC236}">
                <a16:creationId xmlns:a16="http://schemas.microsoft.com/office/drawing/2014/main" id="{C2A5A3D9-4D2D-46DD-B711-4857943880BC}"/>
              </a:ext>
            </a:extLst>
          </p:cNvPr>
          <p:cNvSpPr/>
          <p:nvPr/>
        </p:nvSpPr>
        <p:spPr>
          <a:xfrm>
            <a:off x="395154" y="1341076"/>
            <a:ext cx="1932536" cy="201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Foundation Specifications</a:t>
            </a:r>
            <a:endParaRPr lang="en-US" sz="1250" dirty="0"/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3009B80B-4949-4C6E-A605-DDFB96AD4E3A}"/>
              </a:ext>
            </a:extLst>
          </p:cNvPr>
          <p:cNvSpPr/>
          <p:nvPr/>
        </p:nvSpPr>
        <p:spPr>
          <a:xfrm>
            <a:off x="395154" y="1620040"/>
            <a:ext cx="4525501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Concrete volume: 1,121 m³</a:t>
            </a:r>
            <a:endParaRPr lang="en-US" sz="1000" dirty="0"/>
          </a:p>
        </p:txBody>
      </p:sp>
      <p:sp>
        <p:nvSpPr>
          <p:cNvPr id="13" name="Text 4">
            <a:extLst>
              <a:ext uri="{FF2B5EF4-FFF2-40B4-BE49-F238E27FC236}">
                <a16:creationId xmlns:a16="http://schemas.microsoft.com/office/drawing/2014/main" id="{011C4C55-9FD0-46F8-A208-B0A4C833592C}"/>
              </a:ext>
            </a:extLst>
          </p:cNvPr>
          <p:cNvSpPr/>
          <p:nvPr/>
        </p:nvSpPr>
        <p:spPr>
          <a:xfrm>
            <a:off x="395154" y="1871619"/>
            <a:ext cx="4525501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Reinforcement steel: 49.4 tons</a:t>
            </a:r>
            <a:endParaRPr lang="en-US" sz="1000" dirty="0"/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E7087D1C-0B77-412F-9629-121E26F24962}"/>
              </a:ext>
            </a:extLst>
          </p:cNvPr>
          <p:cNvSpPr/>
          <p:nvPr/>
        </p:nvSpPr>
        <p:spPr>
          <a:xfrm>
            <a:off x="395154" y="2123198"/>
            <a:ext cx="4525501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Anchor bolt cage: 4.0 tons</a:t>
            </a:r>
            <a:endParaRPr lang="en-US" sz="1000" dirty="0"/>
          </a:p>
        </p:txBody>
      </p:sp>
      <p:sp>
        <p:nvSpPr>
          <p:cNvPr id="15" name="Text 6">
            <a:extLst>
              <a:ext uri="{FF2B5EF4-FFF2-40B4-BE49-F238E27FC236}">
                <a16:creationId xmlns:a16="http://schemas.microsoft.com/office/drawing/2014/main" id="{20104375-4AC6-45CC-B2A2-8508B75C69D8}"/>
              </a:ext>
            </a:extLst>
          </p:cNvPr>
          <p:cNvSpPr/>
          <p:nvPr/>
        </p:nvSpPr>
        <p:spPr>
          <a:xfrm>
            <a:off x="395154" y="2374777"/>
            <a:ext cx="4525501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Grout volume: 0.54 m³</a:t>
            </a:r>
            <a:endParaRPr lang="en-US" sz="1000" dirty="0"/>
          </a:p>
        </p:txBody>
      </p:sp>
      <p:sp>
        <p:nvSpPr>
          <p:cNvPr id="16" name="Text 7">
            <a:extLst>
              <a:ext uri="{FF2B5EF4-FFF2-40B4-BE49-F238E27FC236}">
                <a16:creationId xmlns:a16="http://schemas.microsoft.com/office/drawing/2014/main" id="{843F903B-441B-438A-A820-A49F29EEEE21}"/>
              </a:ext>
            </a:extLst>
          </p:cNvPr>
          <p:cNvSpPr/>
          <p:nvPr/>
        </p:nvSpPr>
        <p:spPr>
          <a:xfrm>
            <a:off x="395154" y="2626356"/>
            <a:ext cx="4525501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Total foundation area: 491 m²</a:t>
            </a:r>
            <a:endParaRPr lang="en-US" sz="1000" dirty="0"/>
          </a:p>
        </p:txBody>
      </p:sp>
      <p:sp>
        <p:nvSpPr>
          <p:cNvPr id="20" name="Shape 8">
            <a:extLst>
              <a:ext uri="{FF2B5EF4-FFF2-40B4-BE49-F238E27FC236}">
                <a16:creationId xmlns:a16="http://schemas.microsoft.com/office/drawing/2014/main" id="{002E045A-10DB-419F-AB73-B56816585ADB}"/>
              </a:ext>
            </a:extLst>
          </p:cNvPr>
          <p:cNvSpPr/>
          <p:nvPr/>
        </p:nvSpPr>
        <p:spPr>
          <a:xfrm>
            <a:off x="6132989" y="1203142"/>
            <a:ext cx="4705875" cy="1749862"/>
          </a:xfrm>
          <a:prstGeom prst="roundRect">
            <a:avLst>
              <a:gd name="adj" fmla="val 1107"/>
            </a:avLst>
          </a:prstGeom>
          <a:solidFill>
            <a:srgbClr val="C8CAC1">
              <a:alpha val="50000"/>
            </a:srgbClr>
          </a:solidFill>
          <a:ln/>
        </p:spPr>
      </p:sp>
      <p:sp>
        <p:nvSpPr>
          <p:cNvPr id="21" name="Text 9">
            <a:extLst>
              <a:ext uri="{FF2B5EF4-FFF2-40B4-BE49-F238E27FC236}">
                <a16:creationId xmlns:a16="http://schemas.microsoft.com/office/drawing/2014/main" id="{A070E141-CEF3-4188-A151-140C7CB94C12}"/>
              </a:ext>
            </a:extLst>
          </p:cNvPr>
          <p:cNvSpPr/>
          <p:nvPr/>
        </p:nvSpPr>
        <p:spPr>
          <a:xfrm>
            <a:off x="6262054" y="1332206"/>
            <a:ext cx="1661558" cy="201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Unit Pricing Structure</a:t>
            </a:r>
            <a:endParaRPr lang="en-US" sz="1250" dirty="0"/>
          </a:p>
        </p:txBody>
      </p:sp>
      <p:sp>
        <p:nvSpPr>
          <p:cNvPr id="22" name="Text 10">
            <a:extLst>
              <a:ext uri="{FF2B5EF4-FFF2-40B4-BE49-F238E27FC236}">
                <a16:creationId xmlns:a16="http://schemas.microsoft.com/office/drawing/2014/main" id="{A792BCB6-71C2-4994-9A38-6ACFD831BD5A}"/>
              </a:ext>
            </a:extLst>
          </p:cNvPr>
          <p:cNvSpPr/>
          <p:nvPr/>
        </p:nvSpPr>
        <p:spPr>
          <a:xfrm>
            <a:off x="6262053" y="1611170"/>
            <a:ext cx="4525501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Concrete + labor + formwork: €182/m²</a:t>
            </a:r>
            <a:endParaRPr lang="en-US" sz="1000" dirty="0"/>
          </a:p>
        </p:txBody>
      </p:sp>
      <p:sp>
        <p:nvSpPr>
          <p:cNvPr id="23" name="Text 11">
            <a:extLst>
              <a:ext uri="{FF2B5EF4-FFF2-40B4-BE49-F238E27FC236}">
                <a16:creationId xmlns:a16="http://schemas.microsoft.com/office/drawing/2014/main" id="{84F52689-7918-4707-806A-29BC1CD52AEE}"/>
              </a:ext>
            </a:extLst>
          </p:cNvPr>
          <p:cNvSpPr/>
          <p:nvPr/>
        </p:nvSpPr>
        <p:spPr>
          <a:xfrm>
            <a:off x="6262053" y="1862749"/>
            <a:ext cx="4525501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Reinforcement steel: €595/ton</a:t>
            </a:r>
            <a:endParaRPr lang="en-US" sz="1000" dirty="0"/>
          </a:p>
        </p:txBody>
      </p:sp>
      <p:sp>
        <p:nvSpPr>
          <p:cNvPr id="24" name="Text 12">
            <a:extLst>
              <a:ext uri="{FF2B5EF4-FFF2-40B4-BE49-F238E27FC236}">
                <a16:creationId xmlns:a16="http://schemas.microsoft.com/office/drawing/2014/main" id="{BB1E5A8C-2924-419E-B1DA-27B558C1044A}"/>
              </a:ext>
            </a:extLst>
          </p:cNvPr>
          <p:cNvSpPr/>
          <p:nvPr/>
        </p:nvSpPr>
        <p:spPr>
          <a:xfrm>
            <a:off x="6262053" y="2114328"/>
            <a:ext cx="4525501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Anchor bolts: €2,273/ton</a:t>
            </a:r>
            <a:endParaRPr lang="en-US" sz="1000" dirty="0"/>
          </a:p>
        </p:txBody>
      </p:sp>
      <p:sp>
        <p:nvSpPr>
          <p:cNvPr id="25" name="Text 13">
            <a:extLst>
              <a:ext uri="{FF2B5EF4-FFF2-40B4-BE49-F238E27FC236}">
                <a16:creationId xmlns:a16="http://schemas.microsoft.com/office/drawing/2014/main" id="{63BCB7E2-FCC1-460F-A212-BE9ACDF3F3BD}"/>
              </a:ext>
            </a:extLst>
          </p:cNvPr>
          <p:cNvSpPr/>
          <p:nvPr/>
        </p:nvSpPr>
        <p:spPr>
          <a:xfrm>
            <a:off x="6262053" y="2365907"/>
            <a:ext cx="4525501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1600"/>
              </a:lnSpc>
              <a:buSzPct val="100000"/>
              <a:buChar char="•"/>
            </a:pPr>
            <a:r>
              <a:rPr lang="en-US" sz="1000" dirty="0">
                <a:solidFill>
                  <a:srgbClr val="000000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Grout materials: €727/m³</a:t>
            </a:r>
            <a:endParaRPr lang="en-US" sz="1000" dirty="0"/>
          </a:p>
        </p:txBody>
      </p:sp>
      <p:sp>
        <p:nvSpPr>
          <p:cNvPr id="26" name="Text 14">
            <a:extLst>
              <a:ext uri="{FF2B5EF4-FFF2-40B4-BE49-F238E27FC236}">
                <a16:creationId xmlns:a16="http://schemas.microsoft.com/office/drawing/2014/main" id="{DFEB5064-DA7C-4533-9F37-9DEB672271D4}"/>
              </a:ext>
            </a:extLst>
          </p:cNvPr>
          <p:cNvSpPr/>
          <p:nvPr/>
        </p:nvSpPr>
        <p:spPr>
          <a:xfrm>
            <a:off x="277405" y="2942064"/>
            <a:ext cx="3131010" cy="322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Detailed Cost Calculations</a:t>
            </a:r>
            <a:endParaRPr lang="en-US" sz="2000" dirty="0"/>
          </a:p>
        </p:txBody>
      </p:sp>
      <p:sp>
        <p:nvSpPr>
          <p:cNvPr id="27" name="Text 15">
            <a:extLst>
              <a:ext uri="{FF2B5EF4-FFF2-40B4-BE49-F238E27FC236}">
                <a16:creationId xmlns:a16="http://schemas.microsoft.com/office/drawing/2014/main" id="{964F9788-7B33-4519-95F3-1325487D80DB}"/>
              </a:ext>
            </a:extLst>
          </p:cNvPr>
          <p:cNvSpPr/>
          <p:nvPr/>
        </p:nvSpPr>
        <p:spPr>
          <a:xfrm>
            <a:off x="277404" y="3587382"/>
            <a:ext cx="1208791" cy="201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Concrete &amp; Labor</a:t>
            </a:r>
            <a:endParaRPr lang="en-US" sz="1250" dirty="0"/>
          </a:p>
        </p:txBody>
      </p:sp>
      <p:sp>
        <p:nvSpPr>
          <p:cNvPr id="28" name="Text 16">
            <a:extLst>
              <a:ext uri="{FF2B5EF4-FFF2-40B4-BE49-F238E27FC236}">
                <a16:creationId xmlns:a16="http://schemas.microsoft.com/office/drawing/2014/main" id="{D2B60658-599F-4023-BFDA-DD5773EA2028}"/>
              </a:ext>
            </a:extLst>
          </p:cNvPr>
          <p:cNvSpPr/>
          <p:nvPr/>
        </p:nvSpPr>
        <p:spPr>
          <a:xfrm>
            <a:off x="266090" y="4165715"/>
            <a:ext cx="4640980" cy="210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endParaRPr lang="en-US" sz="1100" dirty="0"/>
          </a:p>
        </p:txBody>
      </p:sp>
      <p:pic>
        <p:nvPicPr>
          <p:cNvPr id="29" name="Image 0" descr="preencoded.png">
            <a:extLst>
              <a:ext uri="{FF2B5EF4-FFF2-40B4-BE49-F238E27FC236}">
                <a16:creationId xmlns:a16="http://schemas.microsoft.com/office/drawing/2014/main" id="{811E7B53-5754-4351-B33F-EB25B12D4F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090" y="3814033"/>
            <a:ext cx="4640980" cy="210860"/>
          </a:xfrm>
          <a:prstGeom prst="rect">
            <a:avLst/>
          </a:prstGeom>
        </p:spPr>
      </p:pic>
      <p:sp>
        <p:nvSpPr>
          <p:cNvPr id="30" name="Text 17">
            <a:extLst>
              <a:ext uri="{FF2B5EF4-FFF2-40B4-BE49-F238E27FC236}">
                <a16:creationId xmlns:a16="http://schemas.microsoft.com/office/drawing/2014/main" id="{D3682A0D-866B-4003-8A1F-197A755823A0}"/>
              </a:ext>
            </a:extLst>
          </p:cNvPr>
          <p:cNvSpPr/>
          <p:nvPr/>
        </p:nvSpPr>
        <p:spPr>
          <a:xfrm>
            <a:off x="277404" y="4084098"/>
            <a:ext cx="4640980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Includes all concrete materials, labor costs, and formwork installation for the 491 m² foundation area.</a:t>
            </a:r>
            <a:endParaRPr lang="en-US" sz="1000" dirty="0"/>
          </a:p>
        </p:txBody>
      </p:sp>
      <p:sp>
        <p:nvSpPr>
          <p:cNvPr id="31" name="Text 18">
            <a:extLst>
              <a:ext uri="{FF2B5EF4-FFF2-40B4-BE49-F238E27FC236}">
                <a16:creationId xmlns:a16="http://schemas.microsoft.com/office/drawing/2014/main" id="{47891371-3114-4FC2-908B-91072A685BC1}"/>
              </a:ext>
            </a:extLst>
          </p:cNvPr>
          <p:cNvSpPr/>
          <p:nvPr/>
        </p:nvSpPr>
        <p:spPr>
          <a:xfrm>
            <a:off x="277404" y="4427920"/>
            <a:ext cx="1465376" cy="201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Reinforcement Steel</a:t>
            </a:r>
            <a:endParaRPr lang="en-US" sz="1250" dirty="0"/>
          </a:p>
        </p:txBody>
      </p:sp>
      <p:sp>
        <p:nvSpPr>
          <p:cNvPr id="32" name="Text 19">
            <a:extLst>
              <a:ext uri="{FF2B5EF4-FFF2-40B4-BE49-F238E27FC236}">
                <a16:creationId xmlns:a16="http://schemas.microsoft.com/office/drawing/2014/main" id="{E89C7737-B60E-4234-89CC-0593681264BD}"/>
              </a:ext>
            </a:extLst>
          </p:cNvPr>
          <p:cNvSpPr/>
          <p:nvPr/>
        </p:nvSpPr>
        <p:spPr>
          <a:xfrm>
            <a:off x="266090" y="5240373"/>
            <a:ext cx="4640980" cy="210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endParaRPr lang="en-US" sz="1100" dirty="0"/>
          </a:p>
        </p:txBody>
      </p:sp>
      <p:pic>
        <p:nvPicPr>
          <p:cNvPr id="33" name="Image 1" descr="preencoded.png">
            <a:extLst>
              <a:ext uri="{FF2B5EF4-FFF2-40B4-BE49-F238E27FC236}">
                <a16:creationId xmlns:a16="http://schemas.microsoft.com/office/drawing/2014/main" id="{734D2C54-E3C0-4A52-929E-9EC5A21BA3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300" y="4760181"/>
            <a:ext cx="4640980" cy="210860"/>
          </a:xfrm>
          <a:prstGeom prst="rect">
            <a:avLst/>
          </a:prstGeom>
        </p:spPr>
      </p:pic>
      <p:sp>
        <p:nvSpPr>
          <p:cNvPr id="34" name="Text 20">
            <a:extLst>
              <a:ext uri="{FF2B5EF4-FFF2-40B4-BE49-F238E27FC236}">
                <a16:creationId xmlns:a16="http://schemas.microsoft.com/office/drawing/2014/main" id="{16BA762E-1087-4655-AC95-E67961A4D98E}"/>
              </a:ext>
            </a:extLst>
          </p:cNvPr>
          <p:cNvSpPr/>
          <p:nvPr/>
        </p:nvSpPr>
        <p:spPr>
          <a:xfrm>
            <a:off x="284683" y="5075543"/>
            <a:ext cx="4640980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Total cost for 49.4 tons of reinforcement steel required for structural integrity.</a:t>
            </a:r>
            <a:endParaRPr lang="en-US" sz="1000" dirty="0"/>
          </a:p>
        </p:txBody>
      </p:sp>
      <p:sp>
        <p:nvSpPr>
          <p:cNvPr id="35" name="Text 21">
            <a:extLst>
              <a:ext uri="{FF2B5EF4-FFF2-40B4-BE49-F238E27FC236}">
                <a16:creationId xmlns:a16="http://schemas.microsoft.com/office/drawing/2014/main" id="{D22CF61A-C7F3-41CB-8819-6263A205CF7D}"/>
              </a:ext>
            </a:extLst>
          </p:cNvPr>
          <p:cNvSpPr/>
          <p:nvPr/>
        </p:nvSpPr>
        <p:spPr>
          <a:xfrm>
            <a:off x="6146574" y="2953897"/>
            <a:ext cx="1206046" cy="201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Anchor Bolt Cage</a:t>
            </a:r>
            <a:endParaRPr lang="en-US" sz="1250" dirty="0"/>
          </a:p>
        </p:txBody>
      </p:sp>
      <p:sp>
        <p:nvSpPr>
          <p:cNvPr id="36" name="Text 22">
            <a:extLst>
              <a:ext uri="{FF2B5EF4-FFF2-40B4-BE49-F238E27FC236}">
                <a16:creationId xmlns:a16="http://schemas.microsoft.com/office/drawing/2014/main" id="{A1B5E5D9-F0AF-47B3-BBBE-E90087174B94}"/>
              </a:ext>
            </a:extLst>
          </p:cNvPr>
          <p:cNvSpPr/>
          <p:nvPr/>
        </p:nvSpPr>
        <p:spPr>
          <a:xfrm>
            <a:off x="6146574" y="3318824"/>
            <a:ext cx="4640980" cy="210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endParaRPr lang="en-US" sz="1100" dirty="0"/>
          </a:p>
        </p:txBody>
      </p:sp>
      <p:pic>
        <p:nvPicPr>
          <p:cNvPr id="37" name="Image 2" descr="preencoded.png">
            <a:extLst>
              <a:ext uri="{FF2B5EF4-FFF2-40B4-BE49-F238E27FC236}">
                <a16:creationId xmlns:a16="http://schemas.microsoft.com/office/drawing/2014/main" id="{F48CDCE1-FAB0-4175-82C3-925BF12D3B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9518" y="3353631"/>
            <a:ext cx="4640980" cy="210860"/>
          </a:xfrm>
          <a:prstGeom prst="rect">
            <a:avLst/>
          </a:prstGeom>
        </p:spPr>
      </p:pic>
      <p:sp>
        <p:nvSpPr>
          <p:cNvPr id="38" name="Text 23">
            <a:extLst>
              <a:ext uri="{FF2B5EF4-FFF2-40B4-BE49-F238E27FC236}">
                <a16:creationId xmlns:a16="http://schemas.microsoft.com/office/drawing/2014/main" id="{5084322F-6DC9-4DA8-A169-8AE19F871082}"/>
              </a:ext>
            </a:extLst>
          </p:cNvPr>
          <p:cNvSpPr/>
          <p:nvPr/>
        </p:nvSpPr>
        <p:spPr>
          <a:xfrm>
            <a:off x="6146574" y="3693037"/>
            <a:ext cx="4640980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Specialized anchor system weighing 4.0 tons to secure the turbine tower to the foundation.</a:t>
            </a:r>
            <a:endParaRPr lang="en-US" sz="1000" dirty="0"/>
          </a:p>
        </p:txBody>
      </p:sp>
      <p:sp>
        <p:nvSpPr>
          <p:cNvPr id="39" name="Text 24">
            <a:extLst>
              <a:ext uri="{FF2B5EF4-FFF2-40B4-BE49-F238E27FC236}">
                <a16:creationId xmlns:a16="http://schemas.microsoft.com/office/drawing/2014/main" id="{FB668D71-5BCC-4D43-BD13-2C8178B7B6F2}"/>
              </a:ext>
            </a:extLst>
          </p:cNvPr>
          <p:cNvSpPr/>
          <p:nvPr/>
        </p:nvSpPr>
        <p:spPr>
          <a:xfrm>
            <a:off x="6146575" y="4028555"/>
            <a:ext cx="1177592" cy="201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0C0D0F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Grout Materials</a:t>
            </a:r>
            <a:endParaRPr lang="en-US" sz="1250" dirty="0"/>
          </a:p>
        </p:txBody>
      </p:sp>
      <p:sp>
        <p:nvSpPr>
          <p:cNvPr id="40" name="Text 25">
            <a:extLst>
              <a:ext uri="{FF2B5EF4-FFF2-40B4-BE49-F238E27FC236}">
                <a16:creationId xmlns:a16="http://schemas.microsoft.com/office/drawing/2014/main" id="{7DBAC861-3721-46F1-9A4D-59852BFFF7BA}"/>
              </a:ext>
            </a:extLst>
          </p:cNvPr>
          <p:cNvSpPr/>
          <p:nvPr/>
        </p:nvSpPr>
        <p:spPr>
          <a:xfrm>
            <a:off x="6146574" y="4393482"/>
            <a:ext cx="4640980" cy="2108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endParaRPr lang="en-US" sz="1100" dirty="0"/>
          </a:p>
        </p:txBody>
      </p:sp>
      <p:pic>
        <p:nvPicPr>
          <p:cNvPr id="41" name="Image 3" descr="preencoded.png">
            <a:extLst>
              <a:ext uri="{FF2B5EF4-FFF2-40B4-BE49-F238E27FC236}">
                <a16:creationId xmlns:a16="http://schemas.microsoft.com/office/drawing/2014/main" id="{364AA21D-475C-4085-B125-BA9B8C27DC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6574" y="4393482"/>
            <a:ext cx="4640980" cy="210860"/>
          </a:xfrm>
          <a:prstGeom prst="rect">
            <a:avLst/>
          </a:prstGeom>
        </p:spPr>
      </p:pic>
      <p:sp>
        <p:nvSpPr>
          <p:cNvPr id="42" name="Text 26">
            <a:extLst>
              <a:ext uri="{FF2B5EF4-FFF2-40B4-BE49-F238E27FC236}">
                <a16:creationId xmlns:a16="http://schemas.microsoft.com/office/drawing/2014/main" id="{2614D63D-4994-441B-8379-3C05B6CF03A8}"/>
              </a:ext>
            </a:extLst>
          </p:cNvPr>
          <p:cNvSpPr/>
          <p:nvPr/>
        </p:nvSpPr>
        <p:spPr>
          <a:xfrm>
            <a:off x="6146574" y="4767695"/>
            <a:ext cx="4640980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0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High-strength grout for final anchor bolt installation and load distribution.</a:t>
            </a:r>
            <a:endParaRPr lang="en-US" sz="1000" dirty="0"/>
          </a:p>
        </p:txBody>
      </p:sp>
      <p:sp>
        <p:nvSpPr>
          <p:cNvPr id="43" name="Text 27">
            <a:extLst>
              <a:ext uri="{FF2B5EF4-FFF2-40B4-BE49-F238E27FC236}">
                <a16:creationId xmlns:a16="http://schemas.microsoft.com/office/drawing/2014/main" id="{7945E790-5EE9-42FA-B4F5-28DFAFF28F37}"/>
              </a:ext>
            </a:extLst>
          </p:cNvPr>
          <p:cNvSpPr/>
          <p:nvPr/>
        </p:nvSpPr>
        <p:spPr>
          <a:xfrm>
            <a:off x="185720" y="5416466"/>
            <a:ext cx="4694560" cy="425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50"/>
              </a:lnSpc>
              <a:buNone/>
            </a:pPr>
            <a:r>
              <a:rPr lang="en-US" sz="33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€128,240</a:t>
            </a:r>
            <a:endParaRPr lang="en-US" sz="3350" dirty="0"/>
          </a:p>
        </p:txBody>
      </p:sp>
      <p:sp>
        <p:nvSpPr>
          <p:cNvPr id="44" name="Text 28">
            <a:extLst>
              <a:ext uri="{FF2B5EF4-FFF2-40B4-BE49-F238E27FC236}">
                <a16:creationId xmlns:a16="http://schemas.microsoft.com/office/drawing/2014/main" id="{93136F55-2F1C-4349-B718-7A2AC7D3BE28}"/>
              </a:ext>
            </a:extLst>
          </p:cNvPr>
          <p:cNvSpPr/>
          <p:nvPr/>
        </p:nvSpPr>
        <p:spPr>
          <a:xfrm>
            <a:off x="1813455" y="5896658"/>
            <a:ext cx="1583435" cy="201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Total Foundation Cost</a:t>
            </a:r>
            <a:endParaRPr lang="en-US" sz="1250" dirty="0"/>
          </a:p>
        </p:txBody>
      </p:sp>
      <p:sp>
        <p:nvSpPr>
          <p:cNvPr id="45" name="Text 29">
            <a:extLst>
              <a:ext uri="{FF2B5EF4-FFF2-40B4-BE49-F238E27FC236}">
                <a16:creationId xmlns:a16="http://schemas.microsoft.com/office/drawing/2014/main" id="{2A0B69B4-73C0-4C43-88C8-0C90AE28DFE8}"/>
              </a:ext>
            </a:extLst>
          </p:cNvPr>
          <p:cNvSpPr/>
          <p:nvPr/>
        </p:nvSpPr>
        <p:spPr>
          <a:xfrm>
            <a:off x="185720" y="6162983"/>
            <a:ext cx="4694560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0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Complete construction cost including all materials and labor</a:t>
            </a:r>
            <a:endParaRPr lang="en-US" sz="1000" dirty="0"/>
          </a:p>
        </p:txBody>
      </p:sp>
      <p:sp>
        <p:nvSpPr>
          <p:cNvPr id="46" name="Text 30">
            <a:extLst>
              <a:ext uri="{FF2B5EF4-FFF2-40B4-BE49-F238E27FC236}">
                <a16:creationId xmlns:a16="http://schemas.microsoft.com/office/drawing/2014/main" id="{65A98612-A749-4A0B-B7CE-C220EA16CEE1}"/>
              </a:ext>
            </a:extLst>
          </p:cNvPr>
          <p:cNvSpPr/>
          <p:nvPr/>
        </p:nvSpPr>
        <p:spPr>
          <a:xfrm>
            <a:off x="6062158" y="5299905"/>
            <a:ext cx="4694644" cy="4258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350"/>
              </a:lnSpc>
              <a:buNone/>
            </a:pPr>
            <a:r>
              <a:rPr lang="en-US" sz="33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€261</a:t>
            </a:r>
            <a:endParaRPr lang="en-US" sz="3350" dirty="0"/>
          </a:p>
        </p:txBody>
      </p:sp>
      <p:sp>
        <p:nvSpPr>
          <p:cNvPr id="47" name="Text 31">
            <a:extLst>
              <a:ext uri="{FF2B5EF4-FFF2-40B4-BE49-F238E27FC236}">
                <a16:creationId xmlns:a16="http://schemas.microsoft.com/office/drawing/2014/main" id="{6821EE00-8ABD-47DB-8E78-4B20E2DF9C0C}"/>
              </a:ext>
            </a:extLst>
          </p:cNvPr>
          <p:cNvSpPr/>
          <p:nvPr/>
        </p:nvSpPr>
        <p:spPr>
          <a:xfrm>
            <a:off x="7750890" y="5862269"/>
            <a:ext cx="1547826" cy="2015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55575A"/>
                </a:solidFill>
                <a:latin typeface="Hubot Sans Bold" pitchFamily="34" charset="0"/>
                <a:ea typeface="Hubot Sans Bold" pitchFamily="34" charset="-122"/>
                <a:cs typeface="Hubot Sans Bold" pitchFamily="34" charset="-120"/>
              </a:rPr>
              <a:t>Cost per Square Meter</a:t>
            </a:r>
            <a:endParaRPr lang="en-US" sz="1250" dirty="0"/>
          </a:p>
        </p:txBody>
      </p:sp>
      <p:sp>
        <p:nvSpPr>
          <p:cNvPr id="48" name="Text 32">
            <a:extLst>
              <a:ext uri="{FF2B5EF4-FFF2-40B4-BE49-F238E27FC236}">
                <a16:creationId xmlns:a16="http://schemas.microsoft.com/office/drawing/2014/main" id="{AF523D99-5E44-47B1-8EAC-4D43D92B40DC}"/>
              </a:ext>
            </a:extLst>
          </p:cNvPr>
          <p:cNvSpPr/>
          <p:nvPr/>
        </p:nvSpPr>
        <p:spPr>
          <a:xfrm>
            <a:off x="6062158" y="6166085"/>
            <a:ext cx="4694644" cy="2064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000" dirty="0">
                <a:solidFill>
                  <a:srgbClr val="55575A"/>
                </a:solidFill>
                <a:latin typeface="Roboto Condensed" pitchFamily="34" charset="0"/>
                <a:ea typeface="Roboto Condensed" pitchFamily="34" charset="-122"/>
                <a:cs typeface="Roboto Condensed" pitchFamily="34" charset="-120"/>
              </a:rPr>
              <a:t>Average cost per m² of foundation area (128,240 ÷ 491)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6073042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4B644E-617A-F74B-11FB-893622E17F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800CD23F-74D8-5D24-0F87-D905D8DAD217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013F6232-4F06-48BA-8F69-BF531F607829}" type="slidenum">
              <a:rPr lang="en-GB" smtClean="0"/>
              <a:t>12</a:t>
            </a:fld>
            <a:endParaRPr lang="en-GB"/>
          </a:p>
        </p:txBody>
      </p:sp>
      <p:sp>
        <p:nvSpPr>
          <p:cNvPr id="8" name="Titel 4">
            <a:extLst>
              <a:ext uri="{FF2B5EF4-FFF2-40B4-BE49-F238E27FC236}">
                <a16:creationId xmlns:a16="http://schemas.microsoft.com/office/drawing/2014/main" id="{3BFF5D4D-F268-6B83-790B-A43A508D9FDF}"/>
              </a:ext>
            </a:extLst>
          </p:cNvPr>
          <p:cNvSpPr txBox="1">
            <a:spLocks/>
          </p:cNvSpPr>
          <p:nvPr/>
        </p:nvSpPr>
        <p:spPr>
          <a:xfrm>
            <a:off x="764309" y="631689"/>
            <a:ext cx="10515600" cy="4572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250000"/>
              </a:lnSpc>
            </a:pPr>
            <a:r>
              <a:rPr lang="en-US" sz="2000" b="1" dirty="0">
                <a:solidFill>
                  <a:srgbClr val="FF0000"/>
                </a:solidFill>
              </a:rPr>
              <a:t>References</a:t>
            </a:r>
            <a:endParaRPr lang="en-GB" sz="2000" b="1" dirty="0">
              <a:solidFill>
                <a:srgbClr val="FF0000"/>
              </a:solidFill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E8F22E22-5CE2-4832-0A06-99D8D6BEEA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de-DE"/>
          </a:p>
        </p:txBody>
      </p:sp>
      <p:sp>
        <p:nvSpPr>
          <p:cNvPr id="17" name="Datumsplatzhalter 4">
            <a:extLst>
              <a:ext uri="{FF2B5EF4-FFF2-40B4-BE49-F238E27FC236}">
                <a16:creationId xmlns:a16="http://schemas.microsoft.com/office/drawing/2014/main" id="{D36EAD76-C89E-6BDD-B0FB-CBFDC67367FF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838200" y="6554103"/>
            <a:ext cx="1111370" cy="365125"/>
          </a:xfrm>
          <a:prstGeom prst="rect">
            <a:avLst/>
          </a:prstGeom>
        </p:spPr>
        <p:txBody>
          <a:bodyPr/>
          <a:lstStyle/>
          <a:p>
            <a:r>
              <a:rPr lang="en-GB" b="1" dirty="0">
                <a:solidFill>
                  <a:schemeClr val="tx1"/>
                </a:solidFill>
              </a:rPr>
              <a:t>09/12/2025</a:t>
            </a:r>
          </a:p>
        </p:txBody>
      </p:sp>
      <p:sp>
        <p:nvSpPr>
          <p:cNvPr id="18" name="Fußzeilenplatzhalter 5">
            <a:extLst>
              <a:ext uri="{FF2B5EF4-FFF2-40B4-BE49-F238E27FC236}">
                <a16:creationId xmlns:a16="http://schemas.microsoft.com/office/drawing/2014/main" id="{789EADDA-0ADA-F208-DDD9-F0EF009DAB3A}"/>
              </a:ext>
            </a:extLst>
          </p:cNvPr>
          <p:cNvSpPr txBox="1">
            <a:spLocks/>
          </p:cNvSpPr>
          <p:nvPr/>
        </p:nvSpPr>
        <p:spPr>
          <a:xfrm>
            <a:off x="8474613" y="6551413"/>
            <a:ext cx="28791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b="1" dirty="0"/>
              <a:t>Foundations team/ Optimus Syria</a:t>
            </a:r>
          </a:p>
        </p:txBody>
      </p:sp>
      <p:sp>
        <p:nvSpPr>
          <p:cNvPr id="9" name="Textfeld 12">
            <a:extLst>
              <a:ext uri="{FF2B5EF4-FFF2-40B4-BE49-F238E27FC236}">
                <a16:creationId xmlns:a16="http://schemas.microsoft.com/office/drawing/2014/main" id="{A3AC6B89-5C42-48FC-837A-35DA4D90E62E}"/>
              </a:ext>
            </a:extLst>
          </p:cNvPr>
          <p:cNvSpPr txBox="1"/>
          <p:nvPr/>
        </p:nvSpPr>
        <p:spPr>
          <a:xfrm>
            <a:off x="2806700" y="6582775"/>
            <a:ext cx="60856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1200" b="1" dirty="0"/>
              <a:t>Jehad Albaali</a:t>
            </a:r>
            <a:endParaRPr lang="de-DE" sz="12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75DE4C5-E6CF-47FD-80DB-56DDF3F4A124}"/>
              </a:ext>
            </a:extLst>
          </p:cNvPr>
          <p:cNvSpPr txBox="1"/>
          <p:nvPr/>
        </p:nvSpPr>
        <p:spPr>
          <a:xfrm>
            <a:off x="764309" y="1467534"/>
            <a:ext cx="613833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ar-SA" dirty="0"/>
              <a:t> IEC 61400-6: Wind Turbines – Tower and Foundation Design Requirements, IEC (2020).</a:t>
            </a:r>
          </a:p>
          <a:p>
            <a:pPr marL="342900" indent="-342900">
              <a:buFont typeface="+mj-lt"/>
              <a:buAutoNum type="arabicPeriod"/>
            </a:pPr>
            <a:r>
              <a:rPr lang="de-DE" dirty="0"/>
              <a:t> EN 1992-1-1: Eurocode 2 – Design </a:t>
            </a:r>
            <a:r>
              <a:rPr lang="de-DE" dirty="0" err="1"/>
              <a:t>of</a:t>
            </a:r>
            <a:r>
              <a:rPr lang="de-DE" dirty="0"/>
              <a:t> </a:t>
            </a:r>
            <a:r>
              <a:rPr lang="de-DE" dirty="0" err="1"/>
              <a:t>Concrete</a:t>
            </a:r>
            <a:r>
              <a:rPr lang="de-DE" dirty="0"/>
              <a:t> </a:t>
            </a:r>
            <a:r>
              <a:rPr lang="de-DE" dirty="0" err="1"/>
              <a:t>Structures</a:t>
            </a:r>
            <a:r>
              <a:rPr lang="de-DE" dirty="0"/>
              <a:t>, CEN.</a:t>
            </a:r>
            <a:endParaRPr lang="ar-SA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EN 1993-1-8: Eurocode 3 – Design of Steel Structures, CEN.</a:t>
            </a:r>
            <a:br>
              <a:rPr lang="en-US" dirty="0"/>
            </a:br>
            <a:endParaRPr lang="ar-SA" dirty="0"/>
          </a:p>
          <a:p>
            <a:pPr marL="342900" indent="-342900">
              <a:buFont typeface="+mj-lt"/>
              <a:buAutoNum type="arabicPeriod"/>
            </a:pPr>
            <a:r>
              <a:rPr lang="de-DE" dirty="0"/>
              <a:t>Bautabellen für Ingenieure ( mit Berechnungshinweisen und Beispielen )</a:t>
            </a:r>
            <a:endParaRPr lang="ar-SA" dirty="0"/>
          </a:p>
        </p:txBody>
      </p:sp>
    </p:spTree>
    <p:extLst>
      <p:ext uri="{BB962C8B-B14F-4D97-AF65-F5344CB8AC3E}">
        <p14:creationId xmlns:p14="http://schemas.microsoft.com/office/powerpoint/2010/main" val="24083649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sz="1200" dirty="0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anagment team" id="{49CF8F14-4D36-410B-8FD7-EF9AC5FC0265}" vid="{E0BCDBF3-E95D-42DF-9CFA-5A341A93A409}"/>
    </a:ext>
  </a:extLst>
</a:theme>
</file>

<file path=ppt/theme/theme2.xml><?xml version="1.0" encoding="utf-8"?>
<a:theme xmlns:a="http://schemas.openxmlformats.org/drawingml/2006/main" name="Benutzerdefiniertes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nagment team" id="{49CF8F14-4D36-410B-8FD7-EF9AC5FC0265}" vid="{B7A59B36-2137-465F-86DC-E5A6887FF7C3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4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  <wetp:taskpane dockstate="right" visibility="0" width="438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BCD039B6-C6AB-492A-94BF-C46AF895D2E7}">
  <we:reference id="WA200007130" version="1.0.0.1" store="en-US" storeType="omex"/>
  <we:alternateReferences>
    <we:reference id="WA200007130" version="1.0.0.1" store="en-US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73D784B2-E216-4A14-BE4B-F0CA301E2B20}">
  <we:reference id="WA200005566" version="3.0.0.3" store="en-US" storeType="omex"/>
  <we:alternateReferences>
    <we:reference id="WA200005566" version="3.0.0.3" store="en-US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Managment team</Template>
  <TotalTime>0</TotalTime>
  <Words>665</Words>
  <Application>Microsoft Office PowerPoint</Application>
  <PresentationFormat>Widescreen</PresentationFormat>
  <Paragraphs>129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12</vt:i4>
      </vt:variant>
    </vt:vector>
  </HeadingPairs>
  <TitlesOfParts>
    <vt:vector size="27" baseType="lpstr">
      <vt:lpstr>Aptos</vt:lpstr>
      <vt:lpstr>Aptos (Textkörper)</vt:lpstr>
      <vt:lpstr>Aptos Display</vt:lpstr>
      <vt:lpstr>Arial</vt:lpstr>
      <vt:lpstr>Calibri</vt:lpstr>
      <vt:lpstr>Calibri Light</vt:lpstr>
      <vt:lpstr>Cambria Math</vt:lpstr>
      <vt:lpstr>Hubot Sans Bold</vt:lpstr>
      <vt:lpstr>Lato</vt:lpstr>
      <vt:lpstr>Roboto Condensed</vt:lpstr>
      <vt:lpstr>Tahoma</vt:lpstr>
      <vt:lpstr>Times New Roman</vt:lpstr>
      <vt:lpstr>Wingdings</vt:lpstr>
      <vt:lpstr>Office</vt:lpstr>
      <vt:lpstr>Benutzerdefiniertes Design</vt:lpstr>
      <vt:lpstr>Weekly report: Foundations </vt:lpstr>
      <vt:lpstr>List of contents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List of contents</dc:title>
  <dc:creator>Bakhtiar Sabir</dc:creator>
  <cp:lastModifiedBy>Jehad Albaali</cp:lastModifiedBy>
  <cp:revision>89</cp:revision>
  <dcterms:created xsi:type="dcterms:W3CDTF">2025-09-29T10:47:20Z</dcterms:created>
  <dcterms:modified xsi:type="dcterms:W3CDTF">2025-12-07T20:47:54Z</dcterms:modified>
</cp:coreProperties>
</file>