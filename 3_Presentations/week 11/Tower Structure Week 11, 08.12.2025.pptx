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7"/>
  </p:notesMasterIdLst>
  <p:handoutMasterIdLst>
    <p:handoutMasterId r:id="rId18"/>
  </p:handoutMasterIdLst>
  <p:sldIdLst>
    <p:sldId id="270" r:id="rId4"/>
    <p:sldId id="259" r:id="rId5"/>
    <p:sldId id="284" r:id="rId6"/>
    <p:sldId id="305" r:id="rId7"/>
    <p:sldId id="304" r:id="rId8"/>
    <p:sldId id="303" r:id="rId9"/>
    <p:sldId id="311" r:id="rId10"/>
    <p:sldId id="312" r:id="rId11"/>
    <p:sldId id="314" r:id="rId12"/>
    <p:sldId id="313" r:id="rId13"/>
    <p:sldId id="315" r:id="rId14"/>
    <p:sldId id="294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84"/>
            <p14:sldId id="305"/>
            <p14:sldId id="304"/>
            <p14:sldId id="303"/>
            <p14:sldId id="311"/>
            <p14:sldId id="312"/>
            <p14:sldId id="314"/>
            <p14:sldId id="313"/>
            <p14:sldId id="315"/>
            <p14:sldId id="294"/>
          </p14:sldIdLst>
        </p14:section>
        <p14:section name="bibliography" id="{2ECB0A3B-7D16-4F98-AD6A-5308DF7BF078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6CE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>
        <p:scale>
          <a:sx n="100" d="100"/>
          <a:sy n="100" d="100"/>
        </p:scale>
        <p:origin x="1050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25/11/2025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jret.org/volumes/2014v03/i05/IJRET20140305090.pdf" TargetMode="External"/><Relationship Id="rId2" Type="http://schemas.openxmlformats.org/officeDocument/2006/relationships/hyperlink" Target="https://www.nrel.gov/wind/data-tool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file:///C:\Users\eldem\Downloads\002+Tower+Structures+WS+2025+WM.pdf" TargetMode="External"/><Relationship Id="rId4" Type="http://schemas.openxmlformats.org/officeDocument/2006/relationships/hyperlink" Target="file:///C:\Users\eldem\AppData\Local\Packages\5319275A.WhatsAppDesktop_cv1g1gvanyjgm\LocalState\sessions\D82BD7A5C2B927D4C982121C5A8673058E5AD7EE\transfers\2025-49\DNVGL-ST-0126%20Support%20structures%20for%20wind%20turbines%2007-201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Tower structure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number: 11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09/12/2025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Times New Roman" pitchFamily="18" charset="0"/>
                <a:cs typeface="Times New Roman" pitchFamily="18" charset="0"/>
              </a:rPr>
              <a:t>Group members:  Ibrahim Mostafa, Mohammed Eldemerdash, Kirollos Ghaly</a:t>
            </a: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172911" y="5081052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Speaker: Mohammed </a:t>
            </a:r>
            <a:r>
              <a:rPr lang="de-DE" sz="1600" b="1" dirty="0" err="1">
                <a:latin typeface="Times New Roman" pitchFamily="18" charset="0"/>
                <a:cs typeface="Times New Roman" pitchFamily="18" charset="0"/>
              </a:rPr>
              <a:t>Eldemerdash</a:t>
            </a:r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 (760137)</a:t>
            </a: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E62260CD-B144-4EB9-8D9D-216FC0CC947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4" name="Textfeld 12">
            <a:extLst>
              <a:ext uri="{FF2B5EF4-FFF2-40B4-BE49-F238E27FC236}">
                <a16:creationId xmlns:a16="http://schemas.microsoft.com/office/drawing/2014/main" id="{6E833C60-4A4D-B8D1-F7BE-493A37B4CBA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589088"/>
            <a:ext cx="10261600" cy="4128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Redesign the flange connection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door opening.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and challenges of the door opening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and stresses that affect the opening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for supporting the tower shell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reinforcement of the tower opening </a:t>
            </a:r>
          </a:p>
        </p:txBody>
      </p:sp>
      <p:sp>
        <p:nvSpPr>
          <p:cNvPr id="7" name="Foliennummernplatzhalter 24">
            <a:extLst>
              <a:ext uri="{FF2B5EF4-FFF2-40B4-BE49-F238E27FC236}">
                <a16:creationId xmlns:a16="http://schemas.microsoft.com/office/drawing/2014/main" id="{0E3436C3-5E09-0CA3-6E5B-BF6116E9198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2</a:t>
            </a:fld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6E1B0336-21E3-007F-1A36-C38E75573C78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9" name="Datumsplatzhalter 4">
            <a:extLst>
              <a:ext uri="{FF2B5EF4-FFF2-40B4-BE49-F238E27FC236}">
                <a16:creationId xmlns:a16="http://schemas.microsoft.com/office/drawing/2014/main" id="{9DC01AF2-16A9-2A71-F2FE-96A3B482BC4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BF1F2861-0911-3F82-9F55-88BE6CB45C8F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24">
            <a:extLst>
              <a:ext uri="{FF2B5EF4-FFF2-40B4-BE49-F238E27FC236}">
                <a16:creationId xmlns:a16="http://schemas.microsoft.com/office/drawing/2014/main" id="{869B8607-9161-1F2B-0A0D-5D770F75EFDD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3</a:t>
            </a:fld>
            <a:endParaRPr lang="en-GB" dirty="0"/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954F10BB-1115-8BD6-5D97-35AFCA6E2864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32197F83-AFDC-5967-9B77-9B2DE31FBDA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388CD-3F8C-1FF4-4F24-9DC69F4F6197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table of text and numbers&#10;&#10;AI-generated content may be incorrect.">
            <a:extLst>
              <a:ext uri="{FF2B5EF4-FFF2-40B4-BE49-F238E27FC236}">
                <a16:creationId xmlns:a16="http://schemas.microsoft.com/office/drawing/2014/main" id="{230A54F9-899A-13FE-CC6C-82B7A309D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61" y="1106745"/>
            <a:ext cx="7610642" cy="5240236"/>
          </a:xfrm>
          <a:prstGeom prst="rect">
            <a:avLst/>
          </a:prstGeom>
        </p:spPr>
      </p:pic>
      <p:sp>
        <p:nvSpPr>
          <p:cNvPr id="12" name="Textfeld 12">
            <a:extLst>
              <a:ext uri="{FF2B5EF4-FFF2-40B4-BE49-F238E27FC236}">
                <a16:creationId xmlns:a16="http://schemas.microsoft.com/office/drawing/2014/main" id="{411DF5D5-93A7-50F1-8937-8F303170108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1BE8-704D-2500-2030-753425CB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liennummernplatzhalter 24">
            <a:extLst>
              <a:ext uri="{FF2B5EF4-FFF2-40B4-BE49-F238E27FC236}">
                <a16:creationId xmlns:a16="http://schemas.microsoft.com/office/drawing/2014/main" id="{7AC6B26A-38BA-D51D-7E1F-4328B8AF961E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4</a:t>
            </a:fld>
            <a:endParaRPr lang="en-GB" dirty="0"/>
          </a:p>
        </p:txBody>
      </p:sp>
      <p:sp>
        <p:nvSpPr>
          <p:cNvPr id="19" name="Fußzeilenplatzhalter 5">
            <a:extLst>
              <a:ext uri="{FF2B5EF4-FFF2-40B4-BE49-F238E27FC236}">
                <a16:creationId xmlns:a16="http://schemas.microsoft.com/office/drawing/2014/main" id="{660ACE7B-6767-41C3-8176-6152B51C9B02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20" name="Datumsplatzhalter 4">
            <a:extLst>
              <a:ext uri="{FF2B5EF4-FFF2-40B4-BE49-F238E27FC236}">
                <a16:creationId xmlns:a16="http://schemas.microsoft.com/office/drawing/2014/main" id="{22E264D1-15BE-032D-348F-FF739E1E5E88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21" name="Textfeld 12">
            <a:extLst>
              <a:ext uri="{FF2B5EF4-FFF2-40B4-BE49-F238E27FC236}">
                <a16:creationId xmlns:a16="http://schemas.microsoft.com/office/drawing/2014/main" id="{77E809BE-7802-4C15-1DC0-48A2A7FABF13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4C1F7-5E77-EC31-3656-9863CF52F7B5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circular object with red lines&#10;&#10;AI-generated content may be incorrect.">
            <a:extLst>
              <a:ext uri="{FF2B5EF4-FFF2-40B4-BE49-F238E27FC236}">
                <a16:creationId xmlns:a16="http://schemas.microsoft.com/office/drawing/2014/main" id="{EDA792B7-4368-BD95-7E04-6BA2AD7C7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3" y="1593237"/>
            <a:ext cx="6085636" cy="4372772"/>
          </a:xfrm>
          <a:prstGeom prst="rect">
            <a:avLst/>
          </a:prstGeom>
        </p:spPr>
      </p:pic>
      <p:pic>
        <p:nvPicPr>
          <p:cNvPr id="15" name="Picture 14" descr="A close-up of a receipt&#10;&#10;AI-generated content may be incorrect.">
            <a:extLst>
              <a:ext uri="{FF2B5EF4-FFF2-40B4-BE49-F238E27FC236}">
                <a16:creationId xmlns:a16="http://schemas.microsoft.com/office/drawing/2014/main" id="{22652858-D631-4636-B916-D7BFD5A2A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019" y="2295591"/>
            <a:ext cx="5631282" cy="306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07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248F-0B7B-5EC0-D8F8-62DACA88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24">
            <a:extLst>
              <a:ext uri="{FF2B5EF4-FFF2-40B4-BE49-F238E27FC236}">
                <a16:creationId xmlns:a16="http://schemas.microsoft.com/office/drawing/2014/main" id="{A27DA2A0-9E85-14AA-81A6-7D6AD0E29BCE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5</a:t>
            </a:fld>
            <a:endParaRPr lang="en-GB" dirty="0"/>
          </a:p>
        </p:txBody>
      </p:sp>
      <p:sp>
        <p:nvSpPr>
          <p:cNvPr id="25" name="Fußzeilenplatzhalter 5">
            <a:extLst>
              <a:ext uri="{FF2B5EF4-FFF2-40B4-BE49-F238E27FC236}">
                <a16:creationId xmlns:a16="http://schemas.microsoft.com/office/drawing/2014/main" id="{3DADFAEE-22E8-4E52-E171-D26E83B61D1A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26" name="Datumsplatzhalter 4">
            <a:extLst>
              <a:ext uri="{FF2B5EF4-FFF2-40B4-BE49-F238E27FC236}">
                <a16:creationId xmlns:a16="http://schemas.microsoft.com/office/drawing/2014/main" id="{FF4C3579-21C4-86F2-E033-534324AA8F7D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644ACC-740A-66DF-F126-9123248FA229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feld 12">
            <a:extLst>
              <a:ext uri="{FF2B5EF4-FFF2-40B4-BE49-F238E27FC236}">
                <a16:creationId xmlns:a16="http://schemas.microsoft.com/office/drawing/2014/main" id="{094A20DA-76AB-E4CA-824D-0B4E9DA09A69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pic>
        <p:nvPicPr>
          <p:cNvPr id="9" name="Picture 8" descr="A drawing of a rectangular object&#10;&#10;AI-generated content may be incorrect.">
            <a:extLst>
              <a:ext uri="{FF2B5EF4-FFF2-40B4-BE49-F238E27FC236}">
                <a16:creationId xmlns:a16="http://schemas.microsoft.com/office/drawing/2014/main" id="{7676D196-B563-9DC9-E81A-C7BE14C89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077" y="1680743"/>
            <a:ext cx="5378726" cy="3943553"/>
          </a:xfrm>
          <a:prstGeom prst="rect">
            <a:avLst/>
          </a:prstGeom>
        </p:spPr>
      </p:pic>
      <p:pic>
        <p:nvPicPr>
          <p:cNvPr id="16" name="Picture 15" descr="A circular object with lines and symbols&#10;&#10;AI-generated content may be incorrect.">
            <a:extLst>
              <a:ext uri="{FF2B5EF4-FFF2-40B4-BE49-F238E27FC236}">
                <a16:creationId xmlns:a16="http://schemas.microsoft.com/office/drawing/2014/main" id="{FF6CF61A-3227-54D1-9406-51E9945E0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44" y="1563052"/>
            <a:ext cx="5962956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6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23F35-37EA-7B5A-F7AB-A2F3B508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24">
            <a:extLst>
              <a:ext uri="{FF2B5EF4-FFF2-40B4-BE49-F238E27FC236}">
                <a16:creationId xmlns:a16="http://schemas.microsoft.com/office/drawing/2014/main" id="{39AE4F53-607B-9A98-4DA5-A5AD5B719867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6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519088AC-53A7-E18F-B50E-91C63CE1AC6C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Datumsplatzhalter 4">
            <a:extLst>
              <a:ext uri="{FF2B5EF4-FFF2-40B4-BE49-F238E27FC236}">
                <a16:creationId xmlns:a16="http://schemas.microsoft.com/office/drawing/2014/main" id="{F6499574-E318-75F9-9F72-4ED4ED0DE725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DD77A-3219-FF7F-4843-CB89B6BAE411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feld 12">
            <a:extLst>
              <a:ext uri="{FF2B5EF4-FFF2-40B4-BE49-F238E27FC236}">
                <a16:creationId xmlns:a16="http://schemas.microsoft.com/office/drawing/2014/main" id="{204EDD38-C6BC-AAF4-2CB1-E6350A73020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pic>
        <p:nvPicPr>
          <p:cNvPr id="6" name="Picture 5" descr="A circular diagram of a circle&#10;&#10;AI-generated content may be incorrect.">
            <a:extLst>
              <a:ext uri="{FF2B5EF4-FFF2-40B4-BE49-F238E27FC236}">
                <a16:creationId xmlns:a16="http://schemas.microsoft.com/office/drawing/2014/main" id="{06C2CAC2-4F4A-1C18-3219-D829F9BD2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10" y="1775712"/>
            <a:ext cx="5696770" cy="4306457"/>
          </a:xfrm>
          <a:prstGeom prst="rect">
            <a:avLst/>
          </a:prstGeom>
        </p:spPr>
      </p:pic>
      <p:pic>
        <p:nvPicPr>
          <p:cNvPr id="14" name="Picture 13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8287B73E-9D4F-BF04-CC3C-337C9C9D4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280" y="1938564"/>
            <a:ext cx="6001058" cy="35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49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F363-0299-BC02-55E8-6DA61B2B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2523BF-55D9-F731-5ED7-777B10EE7922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1093EB-98D7-805D-7D4C-2DCB9A1C2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95256"/>
              </p:ext>
            </p:extLst>
          </p:nvPr>
        </p:nvGraphicFramePr>
        <p:xfrm>
          <a:off x="1858744" y="2221207"/>
          <a:ext cx="7420007" cy="337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001">
                  <a:extLst>
                    <a:ext uri="{9D8B030D-6E8A-4147-A177-3AD203B41FA5}">
                      <a16:colId xmlns:a16="http://schemas.microsoft.com/office/drawing/2014/main" val="3900567876"/>
                    </a:ext>
                  </a:extLst>
                </a:gridCol>
                <a:gridCol w="1060001">
                  <a:extLst>
                    <a:ext uri="{9D8B030D-6E8A-4147-A177-3AD203B41FA5}">
                      <a16:colId xmlns:a16="http://schemas.microsoft.com/office/drawing/2014/main" val="2031803221"/>
                    </a:ext>
                  </a:extLst>
                </a:gridCol>
                <a:gridCol w="1060001">
                  <a:extLst>
                    <a:ext uri="{9D8B030D-6E8A-4147-A177-3AD203B41FA5}">
                      <a16:colId xmlns:a16="http://schemas.microsoft.com/office/drawing/2014/main" val="3555465664"/>
                    </a:ext>
                  </a:extLst>
                </a:gridCol>
                <a:gridCol w="1060001">
                  <a:extLst>
                    <a:ext uri="{9D8B030D-6E8A-4147-A177-3AD203B41FA5}">
                      <a16:colId xmlns:a16="http://schemas.microsoft.com/office/drawing/2014/main" val="890189287"/>
                    </a:ext>
                  </a:extLst>
                </a:gridCol>
                <a:gridCol w="1060001">
                  <a:extLst>
                    <a:ext uri="{9D8B030D-6E8A-4147-A177-3AD203B41FA5}">
                      <a16:colId xmlns:a16="http://schemas.microsoft.com/office/drawing/2014/main" val="94732311"/>
                    </a:ext>
                  </a:extLst>
                </a:gridCol>
                <a:gridCol w="1060001">
                  <a:extLst>
                    <a:ext uri="{9D8B030D-6E8A-4147-A177-3AD203B41FA5}">
                      <a16:colId xmlns:a16="http://schemas.microsoft.com/office/drawing/2014/main" val="2259558707"/>
                    </a:ext>
                  </a:extLst>
                </a:gridCol>
                <a:gridCol w="1060001">
                  <a:extLst>
                    <a:ext uri="{9D8B030D-6E8A-4147-A177-3AD203B41FA5}">
                      <a16:colId xmlns:a16="http://schemas.microsoft.com/office/drawing/2014/main" val="1416680367"/>
                    </a:ext>
                  </a:extLst>
                </a:gridCol>
              </a:tblGrid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Flange Location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Bolt Size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Bolt Grade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Bolts (total)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Flange Width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Flange Thickness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05573"/>
                  </a:ext>
                </a:extLst>
              </a:tr>
              <a:tr h="483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 Anchor bolts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455mm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9671595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m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260mm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00710515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m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260mm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27499704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 m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260mm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1348925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260mm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73714413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242mm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23720530"/>
                  </a:ext>
                </a:extLst>
              </a:tr>
            </a:tbl>
          </a:graphicData>
        </a:graphic>
      </p:graphicFrame>
      <p:sp>
        <p:nvSpPr>
          <p:cNvPr id="4" name="Foliennummernplatzhalter 24">
            <a:extLst>
              <a:ext uri="{FF2B5EF4-FFF2-40B4-BE49-F238E27FC236}">
                <a16:creationId xmlns:a16="http://schemas.microsoft.com/office/drawing/2014/main" id="{7AA17248-8C16-088B-00B8-A860B3B8785B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7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70E0A8-8040-082C-378B-20E4F642EEF2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4EE20024-12A2-527B-0122-A52AF3A729C6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AA804EB5-3534-AA3F-A706-1B35EEF164B9}"/>
              </a:ext>
            </a:extLst>
          </p:cNvPr>
          <p:cNvSpPr txBox="1"/>
          <p:nvPr/>
        </p:nvSpPr>
        <p:spPr>
          <a:xfrm>
            <a:off x="2878528" y="65954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Eldemerdash (760137)</a:t>
            </a:r>
          </a:p>
        </p:txBody>
      </p:sp>
    </p:spTree>
    <p:extLst>
      <p:ext uri="{BB962C8B-B14F-4D97-AF65-F5344CB8AC3E}">
        <p14:creationId xmlns:p14="http://schemas.microsoft.com/office/powerpoint/2010/main" val="434277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3B5F-3D02-A04B-5CE7-AAB6A846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420A6-F793-BA43-FE35-A7700737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Tower structure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CDB44-A1CC-E6E6-48E4-8C4AB028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0E0EF1-343C-7BA0-1890-9BAB3400FC51}"/>
              </a:ext>
            </a:extLst>
          </p:cNvPr>
          <p:cNvSpPr txBox="1"/>
          <p:nvPr/>
        </p:nvSpPr>
        <p:spPr>
          <a:xfrm>
            <a:off x="322729" y="1225620"/>
            <a:ext cx="6582896" cy="466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• Provides personnel access, emergency exit, and equipment handling</a:t>
            </a:r>
            <a:br>
              <a:rPr lang="en-US" sz="2000" dirty="0"/>
            </a:br>
            <a:r>
              <a:rPr lang="en-US" sz="2000" dirty="0"/>
              <a:t>• Cut-out reduces tower shell strength → reinforcement required</a:t>
            </a:r>
            <a:br>
              <a:rPr lang="en-US" sz="2000" dirty="0"/>
            </a:br>
            <a:r>
              <a:rPr lang="en-US" sz="2000" dirty="0"/>
              <a:t>• Key loads: global tower axial + bending, wind pressure, pressure difference, fatigue, buckling</a:t>
            </a:r>
            <a:br>
              <a:rPr lang="en-US" sz="2000" dirty="0"/>
            </a:br>
            <a:r>
              <a:rPr lang="en-US" sz="2000" dirty="0"/>
              <a:t>• Critical issues: stress concentration, local buckling, weld fatigue, door deflection/sealing</a:t>
            </a:r>
            <a:br>
              <a:rPr lang="en-US" sz="2000" dirty="0"/>
            </a:br>
            <a:r>
              <a:rPr lang="en-US" sz="2000" dirty="0"/>
              <a:t>• Safety provisions: internal opening, corrosion protection, regular inspection</a:t>
            </a:r>
            <a:endParaRPr lang="en-DE" sz="2000" dirty="0"/>
          </a:p>
        </p:txBody>
      </p:sp>
      <p:pic>
        <p:nvPicPr>
          <p:cNvPr id="16" name="Picture 15" descr="Men in blue overalls standing on a staircase">
            <a:extLst>
              <a:ext uri="{FF2B5EF4-FFF2-40B4-BE49-F238E27FC236}">
                <a16:creationId xmlns:a16="http://schemas.microsoft.com/office/drawing/2014/main" id="{189CD602-33DF-0DD3-316E-3E84E9AC7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282" y="1305523"/>
            <a:ext cx="4513489" cy="42469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7EF8BB-4278-B7D2-F208-68F2490FE7D2}"/>
              </a:ext>
            </a:extLst>
          </p:cNvPr>
          <p:cNvSpPr txBox="1"/>
          <p:nvPr/>
        </p:nvSpPr>
        <p:spPr>
          <a:xfrm>
            <a:off x="322729" y="549047"/>
            <a:ext cx="61647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and challenges of the door opening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88B4E2-9EA6-3430-B4E3-4D2570FFF2BC}"/>
              </a:ext>
            </a:extLst>
          </p:cNvPr>
          <p:cNvSpPr txBox="1"/>
          <p:nvPr/>
        </p:nvSpPr>
        <p:spPr>
          <a:xfrm>
            <a:off x="7943850" y="5751730"/>
            <a:ext cx="360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Fig: Typical door opening in a wind turbine</a:t>
            </a:r>
          </a:p>
          <a:p>
            <a:r>
              <a:rPr lang="en-US" sz="1200" dirty="0"/>
              <a:t>IJRET </a:t>
            </a:r>
            <a:endParaRPr lang="en-DE" sz="1200" dirty="0"/>
          </a:p>
        </p:txBody>
      </p:sp>
      <p:sp>
        <p:nvSpPr>
          <p:cNvPr id="20" name="Textfeld 12">
            <a:extLst>
              <a:ext uri="{FF2B5EF4-FFF2-40B4-BE49-F238E27FC236}">
                <a16:creationId xmlns:a16="http://schemas.microsoft.com/office/drawing/2014/main" id="{F83B5FA3-A8BA-9CB4-EBB7-5E6FC3A6FB78}"/>
              </a:ext>
            </a:extLst>
          </p:cNvPr>
          <p:cNvSpPr txBox="1"/>
          <p:nvPr/>
        </p:nvSpPr>
        <p:spPr>
          <a:xfrm>
            <a:off x="2878528" y="65954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Eldemerdash (760137)</a:t>
            </a:r>
          </a:p>
        </p:txBody>
      </p:sp>
    </p:spTree>
    <p:extLst>
      <p:ext uri="{BB962C8B-B14F-4D97-AF65-F5344CB8AC3E}">
        <p14:creationId xmlns:p14="http://schemas.microsoft.com/office/powerpoint/2010/main" val="140762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035FD-FEC3-2104-657F-40E695C0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8958D-FDF6-5CDD-F0DE-F9A8053E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11" name="Picture 10" descr="A diagram of a cylinder with a hole in the middle">
            <a:extLst>
              <a:ext uri="{FF2B5EF4-FFF2-40B4-BE49-F238E27FC236}">
                <a16:creationId xmlns:a16="http://schemas.microsoft.com/office/drawing/2014/main" id="{D7D4CB0B-9CD5-AB5D-0B3A-ACA3A2EF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53"/>
          <a:stretch>
            <a:fillRect/>
          </a:stretch>
        </p:blipFill>
        <p:spPr>
          <a:xfrm>
            <a:off x="4845115" y="1125939"/>
            <a:ext cx="3861776" cy="43597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75CBC7-B0C7-5B4C-9307-F11F2234805B}"/>
              </a:ext>
            </a:extLst>
          </p:cNvPr>
          <p:cNvSpPr txBox="1"/>
          <p:nvPr/>
        </p:nvSpPr>
        <p:spPr>
          <a:xfrm>
            <a:off x="5119022" y="5543636"/>
            <a:ext cx="3480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Figure: Circumferentially edge-stiffened openings</a:t>
            </a:r>
          </a:p>
          <a:p>
            <a:r>
              <a:rPr lang="en-US" sz="1200" dirty="0"/>
              <a:t>DNVGL-ST-0126</a:t>
            </a:r>
            <a:endParaRPr lang="en-DE" sz="1200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ACB05EF-2460-842A-E811-A0FA63774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55" y="1648224"/>
            <a:ext cx="5173069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1" fontAlgn="ctr" latinLnBrk="0" hangingPunct="1"/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</a:rPr>
              <a:t>Horizontal forces:-</a:t>
            </a:r>
            <a:endParaRPr lang="en-US" sz="1600" b="1" i="0" u="none" strike="noStrike" kern="12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fontAlgn="ctr"/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FH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= F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H1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+ F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H2 </a:t>
            </a:r>
            <a:r>
              <a:rPr lang="en-US" sz="1600" baseline="-25000" dirty="0">
                <a:latin typeface="Arial" panose="020B0604020202020204" pitchFamily="34" charset="0"/>
              </a:rPr>
              <a:t>   =              </a:t>
            </a:r>
            <a:r>
              <a:rPr lang="en-US" sz="1600" dirty="0"/>
              <a:t>356</a:t>
            </a:r>
            <a:r>
              <a:rPr lang="en-US" sz="1600" baseline="-25000" dirty="0">
                <a:latin typeface="Arial" panose="020B0604020202020204" pitchFamily="34" charset="0"/>
              </a:rPr>
              <a:t>         </a:t>
            </a:r>
            <a:r>
              <a:rPr lang="en-US" sz="1600" dirty="0">
                <a:latin typeface="Arial" panose="020B0604020202020204" pitchFamily="34" charset="0"/>
              </a:rPr>
              <a:t>    </a:t>
            </a: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kN</a:t>
            </a:r>
            <a:endParaRPr lang="en-US" sz="1600" b="0" i="0" u="none" strike="noStrike" kern="12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fontAlgn="ctr"/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</a:rPr>
              <a:t>Vertical  forces:-</a:t>
            </a:r>
            <a:endParaRPr lang="en-US" sz="1600" b="1" i="0" u="none" strike="noStrike" kern="12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FV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= F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v1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+ F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v2 =</a:t>
            </a:r>
            <a:r>
              <a:rPr lang="en-US" sz="1600" baseline="-25000" dirty="0">
                <a:latin typeface="Arial" panose="020B0604020202020204" pitchFamily="34" charset="0"/>
              </a:rPr>
              <a:t>               </a:t>
            </a:r>
            <a:r>
              <a:rPr lang="de-DE" sz="1600" dirty="0"/>
              <a:t>9807</a:t>
            </a:r>
            <a:r>
              <a:rPr lang="ar-EG" sz="1400" b="1" dirty="0">
                <a:solidFill>
                  <a:prstClr val="black"/>
                </a:solidFill>
              </a:rPr>
              <a:t> </a:t>
            </a:r>
            <a:r>
              <a:rPr lang="en-US" sz="1600" dirty="0">
                <a:latin typeface="Arial" panose="020B0604020202020204" pitchFamily="34" charset="0"/>
              </a:rPr>
              <a:t>       </a:t>
            </a: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kN</a:t>
            </a:r>
            <a:endParaRPr lang="en-US" sz="1600" b="0" i="0" u="none" strike="noStrike" kern="12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fontAlgn="ctr"/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</a:rPr>
              <a:t>Moments:-</a:t>
            </a:r>
            <a:endParaRPr lang="en-US" sz="1600" b="0" i="0" u="none" strike="noStrike" dirty="0">
              <a:effectLst/>
              <a:latin typeface="Arial" panose="020B0604020202020204" pitchFamily="34" charset="0"/>
            </a:endParaRPr>
          </a:p>
          <a:p>
            <a:pPr fontAlgn="ctr"/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= </a:t>
            </a: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</a:t>
            </a:r>
            <a:r>
              <a:rPr lang="en-US" sz="1600" b="0" i="0" u="none" strike="noStrike" kern="1200" baseline="-250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thrust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+ </a:t>
            </a: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</a:t>
            </a:r>
            <a:r>
              <a:rPr lang="en-US" sz="1600" b="0" i="0" u="none" strike="noStrike" kern="1200" baseline="-250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drag</a:t>
            </a:r>
            <a:r>
              <a:rPr lang="en-US" sz="1600" b="0" i="0" u="none" strike="noStrike" kern="12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tower2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+ </a:t>
            </a: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</a:t>
            </a:r>
            <a:r>
              <a:rPr lang="en-US" sz="1600" b="0" i="0" u="none" strike="noStrike" kern="1200" baseline="-250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nacelle</a:t>
            </a:r>
            <a:r>
              <a:rPr lang="en-US" sz="1600" baseline="-25000" dirty="0">
                <a:latin typeface="Arial" panose="020B0604020202020204" pitchFamily="34" charset="0"/>
              </a:rPr>
              <a:t>   =            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de-DE" sz="1600" dirty="0"/>
              <a:t>284000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kN.m</a:t>
            </a:r>
            <a:endParaRPr lang="en-US" sz="16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35A81-09A6-EB2F-AD84-8440B37D8E14}"/>
              </a:ext>
            </a:extLst>
          </p:cNvPr>
          <p:cNvSpPr txBox="1"/>
          <p:nvPr/>
        </p:nvSpPr>
        <p:spPr>
          <a:xfrm>
            <a:off x="338181" y="3452856"/>
            <a:ext cx="509107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</a:rPr>
              <a:t>Axial stress :-</a:t>
            </a:r>
            <a:endParaRPr lang="en-US" sz="1600" b="1" i="0" u="none" strike="noStrike" kern="12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171450" indent="-171450" algn="l" rtl="0" eaLnBrk="1" fontAlgn="ctr" latinLnBrk="0" hangingPunct="1">
              <a:buFont typeface="Arial" panose="020B0604020202020204" pitchFamily="34" charset="0"/>
              <a:buChar char="•"/>
            </a:pP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σa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= FV /  A- tower sec</a:t>
            </a:r>
            <a:r>
              <a:rPr lang="en-US" sz="1600" dirty="0">
                <a:latin typeface="Arial" panose="020B0604020202020204" pitchFamily="34" charset="0"/>
              </a:rPr>
              <a:t>                 11.88         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N/mm²</a:t>
            </a:r>
          </a:p>
          <a:p>
            <a:pPr fontAlgn="ctr"/>
            <a:r>
              <a:rPr lang="en-US" altLang="en-US" sz="1600" b="1" dirty="0">
                <a:solidFill>
                  <a:srgbClr val="000000"/>
                </a:solidFill>
                <a:latin typeface="Aptos" panose="020B0004020202020204" pitchFamily="34" charset="0"/>
              </a:rPr>
              <a:t>Bending Stress</a:t>
            </a:r>
            <a:endParaRPr lang="en-US" sz="1600" b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l-GR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σ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 =- (M / Io )* (D-out / 2 )           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</a:rPr>
              <a:t>    309.8            N/ mm²</a:t>
            </a:r>
            <a:endParaRPr lang="en-US" sz="1600" b="0" i="0" u="none" strike="noStrike" kern="12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fontAlgn="ctr"/>
            <a:r>
              <a:rPr lang="en-US" altLang="en-US" sz="1600" b="1" dirty="0">
                <a:solidFill>
                  <a:srgbClr val="000000"/>
                </a:solidFill>
                <a:latin typeface="Aptos" panose="020B0004020202020204" pitchFamily="34" charset="0"/>
              </a:rPr>
              <a:t>Combined Stress</a:t>
            </a:r>
            <a:endParaRPr lang="en-US" sz="1600" b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Fk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= </a:t>
            </a:r>
            <a:r>
              <a:rPr lang="el-GR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σ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 +</a:t>
            </a:r>
            <a:r>
              <a:rPr lang="el-GR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σ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</a:t>
            </a:r>
            <a:r>
              <a:rPr lang="en-US" sz="1600" dirty="0">
                <a:latin typeface="Arial" panose="020B0604020202020204" pitchFamily="34" charset="0"/>
              </a:rPr>
              <a:t>                                  321.7        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</a:rPr>
              <a:t>N/ mm²</a:t>
            </a:r>
          </a:p>
          <a:p>
            <a:pPr fontAlgn="ctr"/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</a:rPr>
              <a:t>Allowable  stress :-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fd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= </a:t>
            </a:r>
            <a:r>
              <a:rPr lang="en-US" sz="1600" b="0" i="0" u="none" strike="noStrike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fk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/ </a:t>
            </a:r>
            <a:r>
              <a:rPr lang="el-GR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γ </a:t>
            </a:r>
            <a: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                                     322     N/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</a:rPr>
              <a:t> mm²</a:t>
            </a:r>
            <a:br>
              <a:rPr lang="en-US" sz="1600" b="0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r>
              <a:rPr lang="pl-PL" sz="1600" b="1" dirty="0">
                <a:solidFill>
                  <a:srgbClr val="000000"/>
                </a:solidFill>
                <a:latin typeface="Aptos" panose="020B0004020202020204" pitchFamily="34" charset="0"/>
              </a:rPr>
              <a:t>u = (Fk*γ M) / fd   &lt; 1</a:t>
            </a:r>
            <a:r>
              <a:rPr lang="en-US" sz="1600" b="1" dirty="0">
                <a:latin typeface="Arial" panose="020B0604020202020204" pitchFamily="34" charset="0"/>
              </a:rPr>
              <a:t>    </a:t>
            </a: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</a:rPr>
              <a:t>0         .085 &lt; 1</a:t>
            </a:r>
            <a:endParaRPr lang="en-US" sz="1600" b="1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/>
            <a:r>
              <a:rPr lang="en-US" sz="1600" b="1" i="0" u="none" strike="noStrike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endParaRPr lang="en-US" sz="1600" b="1" i="0" u="none" strike="noStrike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694034-425A-4C48-BD81-F365FF155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290" y="1524399"/>
            <a:ext cx="2899952" cy="40192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D730651-E981-C1DC-1744-7689ADE00F10}"/>
              </a:ext>
            </a:extLst>
          </p:cNvPr>
          <p:cNvSpPr txBox="1"/>
          <p:nvPr/>
        </p:nvSpPr>
        <p:spPr>
          <a:xfrm>
            <a:off x="322729" y="549047"/>
            <a:ext cx="56533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and stresses that affect the opening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DD9083-06D3-658D-0976-5FBE3DF787DB}"/>
              </a:ext>
            </a:extLst>
          </p:cNvPr>
          <p:cNvSpPr txBox="1"/>
          <p:nvPr/>
        </p:nvSpPr>
        <p:spPr>
          <a:xfrm>
            <a:off x="8711204" y="5543635"/>
            <a:ext cx="3480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Figure: forces and moments on the turbine</a:t>
            </a:r>
          </a:p>
          <a:p>
            <a:r>
              <a:rPr lang="en-US" sz="1200" dirty="0"/>
              <a:t>Tower structure lecture notes</a:t>
            </a:r>
            <a:endParaRPr lang="en-DE" sz="1200" dirty="0"/>
          </a:p>
        </p:txBody>
      </p:sp>
      <p:sp>
        <p:nvSpPr>
          <p:cNvPr id="21" name="Textfeld 12">
            <a:extLst>
              <a:ext uri="{FF2B5EF4-FFF2-40B4-BE49-F238E27FC236}">
                <a16:creationId xmlns:a16="http://schemas.microsoft.com/office/drawing/2014/main" id="{98E01A96-3849-231E-3260-C558C892F4F1}"/>
              </a:ext>
            </a:extLst>
          </p:cNvPr>
          <p:cNvSpPr txBox="1"/>
          <p:nvPr/>
        </p:nvSpPr>
        <p:spPr>
          <a:xfrm>
            <a:off x="2878528" y="65954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Eldemerdash (760137)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663CAF5B-0336-291A-6CEF-AA466857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Tower structure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334006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ABD79-3020-6CC4-EA98-43F54BC3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503F-130F-C991-7173-C207940D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16B09D-CA67-FCE3-4257-34EE7CD1490D}"/>
              </a:ext>
            </a:extLst>
          </p:cNvPr>
          <p:cNvSpPr txBox="1"/>
          <p:nvPr/>
        </p:nvSpPr>
        <p:spPr>
          <a:xfrm>
            <a:off x="360829" y="1558359"/>
            <a:ext cx="5980696" cy="493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• Reinforcement solutions: doubler plates, rounded corners, Circumferentially edge-stiffened openings</a:t>
            </a:r>
            <a:br>
              <a:rPr lang="en-US" sz="2000" dirty="0"/>
            </a:br>
            <a:r>
              <a:rPr lang="en-US" sz="2000" dirty="0"/>
              <a:t>• Verification: hand checks (stress + buckling), detailed FEA, fatigue assessment, functional/sealing tests</a:t>
            </a:r>
            <a:br>
              <a:rPr lang="en-US" sz="2000" dirty="0"/>
            </a:br>
            <a:r>
              <a:rPr lang="en-US" sz="2000" dirty="0"/>
              <a:t>• Hardware sizing: hinges, locks, seals designed for wind forces and durability</a:t>
            </a:r>
            <a:br>
              <a:rPr lang="en-US" sz="2000" dirty="0"/>
            </a:br>
            <a:endParaRPr lang="en-DE" sz="2000" dirty="0"/>
          </a:p>
        </p:txBody>
      </p:sp>
      <p:pic>
        <p:nvPicPr>
          <p:cNvPr id="15" name="Picture 14" descr="A screenshot of a computer generated image">
            <a:extLst>
              <a:ext uri="{FF2B5EF4-FFF2-40B4-BE49-F238E27FC236}">
                <a16:creationId xmlns:a16="http://schemas.microsoft.com/office/drawing/2014/main" id="{21378799-3994-6CC4-A12F-D4D001014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515" y="2147260"/>
            <a:ext cx="5101656" cy="28022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E3591C-28C9-4658-13E4-770A27D1D6A4}"/>
              </a:ext>
            </a:extLst>
          </p:cNvPr>
          <p:cNvSpPr txBox="1"/>
          <p:nvPr/>
        </p:nvSpPr>
        <p:spPr>
          <a:xfrm>
            <a:off x="360829" y="825272"/>
            <a:ext cx="536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for supporting the tower shell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E15063-D1D4-034E-970B-1C2DF78F3B66}"/>
              </a:ext>
            </a:extLst>
          </p:cNvPr>
          <p:cNvSpPr txBox="1"/>
          <p:nvPr/>
        </p:nvSpPr>
        <p:spPr>
          <a:xfrm>
            <a:off x="6938963" y="5087098"/>
            <a:ext cx="510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Fig: stress concentration and results of the Finite Element Calculation </a:t>
            </a:r>
          </a:p>
          <a:p>
            <a:r>
              <a:rPr lang="en-US" sz="1200" dirty="0"/>
              <a:t>Prof. Dr.-Ing. Torsten Faber’s Tower structure lecture notes</a:t>
            </a:r>
            <a:endParaRPr lang="en-DE" sz="1200" dirty="0"/>
          </a:p>
        </p:txBody>
      </p:sp>
      <p:sp>
        <p:nvSpPr>
          <p:cNvPr id="17" name="Textfeld 12">
            <a:extLst>
              <a:ext uri="{FF2B5EF4-FFF2-40B4-BE49-F238E27FC236}">
                <a16:creationId xmlns:a16="http://schemas.microsoft.com/office/drawing/2014/main" id="{AAE31BAB-8BBE-77C9-D9F9-9C85D7559086}"/>
              </a:ext>
            </a:extLst>
          </p:cNvPr>
          <p:cNvSpPr txBox="1"/>
          <p:nvPr/>
        </p:nvSpPr>
        <p:spPr>
          <a:xfrm>
            <a:off x="2878528" y="65954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Eldemerdash (760137)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A73F00-9BBF-B5D4-C54A-7AC7C2ED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Tower structure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22210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76C86-FB32-7F89-350E-DA2548B4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09/12/2025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316FF-14B3-B398-54AC-1DF7BE5B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385F59D7-B5CD-A0B1-3985-F742C28DC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67"/>
          <a:stretch>
            <a:fillRect/>
          </a:stretch>
        </p:blipFill>
        <p:spPr>
          <a:xfrm>
            <a:off x="7876891" y="1905000"/>
            <a:ext cx="3881886" cy="3576619"/>
          </a:xfrm>
          <a:prstGeom prst="rect">
            <a:avLst/>
          </a:prstGeom>
        </p:spPr>
      </p:pic>
      <p:pic>
        <p:nvPicPr>
          <p:cNvPr id="11" name="Picture 10" descr="A black cylinder with a hole in it">
            <a:extLst>
              <a:ext uri="{FF2B5EF4-FFF2-40B4-BE49-F238E27FC236}">
                <a16:creationId xmlns:a16="http://schemas.microsoft.com/office/drawing/2014/main" id="{A11A2630-63F7-2978-7415-6628532EE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358" y="1905000"/>
            <a:ext cx="3881887" cy="3586397"/>
          </a:xfrm>
          <a:prstGeom prst="rect">
            <a:avLst/>
          </a:prstGeom>
        </p:spPr>
      </p:pic>
      <p:pic>
        <p:nvPicPr>
          <p:cNvPr id="12" name="Picture 11" descr="A blueprint of a rectangular object with numbers and lines">
            <a:extLst>
              <a:ext uri="{FF2B5EF4-FFF2-40B4-BE49-F238E27FC236}">
                <a16:creationId xmlns:a16="http://schemas.microsoft.com/office/drawing/2014/main" id="{E452C479-CECF-A58D-E359-E3107C7FB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69" y="1899134"/>
            <a:ext cx="3056986" cy="35863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FC0490-4C1F-32F1-A365-F05B3251FF79}"/>
              </a:ext>
            </a:extLst>
          </p:cNvPr>
          <p:cNvSpPr txBox="1"/>
          <p:nvPr/>
        </p:nvSpPr>
        <p:spPr>
          <a:xfrm>
            <a:off x="360829" y="825272"/>
            <a:ext cx="5465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reinforcement of the tower opening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55B07-75A0-AE3A-D2E5-B5AB61FC30C3}"/>
              </a:ext>
            </a:extLst>
          </p:cNvPr>
          <p:cNvSpPr txBox="1"/>
          <p:nvPr/>
        </p:nvSpPr>
        <p:spPr>
          <a:xfrm>
            <a:off x="3495675" y="5864088"/>
            <a:ext cx="55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Fig: Circumferentially edge-stiffened reinforcement </a:t>
            </a:r>
          </a:p>
          <a:p>
            <a:r>
              <a:rPr lang="en-US" sz="1400" dirty="0"/>
              <a:t>Personal CAD drawing and modeling using Auto CAD and SolidWorks </a:t>
            </a:r>
            <a:endParaRPr lang="en-DE" sz="1400" dirty="0"/>
          </a:p>
        </p:txBody>
      </p:sp>
      <p:sp>
        <p:nvSpPr>
          <p:cNvPr id="16" name="Textfeld 12">
            <a:extLst>
              <a:ext uri="{FF2B5EF4-FFF2-40B4-BE49-F238E27FC236}">
                <a16:creationId xmlns:a16="http://schemas.microsoft.com/office/drawing/2014/main" id="{9CF44596-0AE4-F7A4-E41F-E1D7C3C780C8}"/>
              </a:ext>
            </a:extLst>
          </p:cNvPr>
          <p:cNvSpPr txBox="1"/>
          <p:nvPr/>
        </p:nvSpPr>
        <p:spPr>
          <a:xfrm>
            <a:off x="2878528" y="65954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Eldemerdash (760137)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9F24ACC-DAA5-366F-3DB6-D0BB8D5E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Tower structure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966431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EC3E-8B07-DF81-E063-8591A704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43EB71-A80F-7219-3FDF-EE740DE97B08}"/>
              </a:ext>
            </a:extLst>
          </p:cNvPr>
          <p:cNvSpPr txBox="1"/>
          <p:nvPr/>
        </p:nvSpPr>
        <p:spPr>
          <a:xfrm>
            <a:off x="857249" y="787400"/>
            <a:ext cx="1963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task</a:t>
            </a:r>
          </a:p>
          <a:p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B9464D02-4ED6-68C7-F640-4959233BC8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0420" y="2443480"/>
            <a:ext cx="5766760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/>
              <a:t>Design the door opening.</a:t>
            </a:r>
          </a:p>
        </p:txBody>
      </p:sp>
      <p:sp>
        <p:nvSpPr>
          <p:cNvPr id="4" name="Foliennummernplatzhalter 24">
            <a:extLst>
              <a:ext uri="{FF2B5EF4-FFF2-40B4-BE49-F238E27FC236}">
                <a16:creationId xmlns:a16="http://schemas.microsoft.com/office/drawing/2014/main" id="{8AC358D7-CD4C-2BCB-891B-7FFA48455832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12</a:t>
            </a:fld>
            <a:endParaRPr lang="en-GB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A83C4CB-9163-B07B-DA26-16011DAB5988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Datumsplatzhalter 4">
            <a:extLst>
              <a:ext uri="{FF2B5EF4-FFF2-40B4-BE49-F238E27FC236}">
                <a16:creationId xmlns:a16="http://schemas.microsoft.com/office/drawing/2014/main" id="{26D61203-EF38-035E-D148-FF06908CA9AE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3" name="Textfeld 12">
            <a:extLst>
              <a:ext uri="{FF2B5EF4-FFF2-40B4-BE49-F238E27FC236}">
                <a16:creationId xmlns:a16="http://schemas.microsoft.com/office/drawing/2014/main" id="{50B43A96-69FA-CD67-74C7-D26C276ACEE8}"/>
              </a:ext>
            </a:extLst>
          </p:cNvPr>
          <p:cNvSpPr txBox="1"/>
          <p:nvPr/>
        </p:nvSpPr>
        <p:spPr>
          <a:xfrm>
            <a:off x="2878528" y="65954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Eldemerdash (760137)</a:t>
            </a:r>
          </a:p>
        </p:txBody>
      </p:sp>
    </p:spTree>
    <p:extLst>
      <p:ext uri="{BB962C8B-B14F-4D97-AF65-F5344CB8AC3E}">
        <p14:creationId xmlns:p14="http://schemas.microsoft.com/office/powerpoint/2010/main" val="282152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AC34-E000-296B-BF88-4E96CA88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7A96429-E842-C392-9543-A09CF6B3AD05}"/>
              </a:ext>
            </a:extLst>
          </p:cNvPr>
          <p:cNvSpPr txBox="1"/>
          <p:nvPr/>
        </p:nvSpPr>
        <p:spPr>
          <a:xfrm>
            <a:off x="857249" y="787400"/>
            <a:ext cx="1613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4483DB-7424-526E-C4CE-BA30E222D24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57249" y="1624330"/>
            <a:ext cx="8818880" cy="2230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https://www.nrel.gov/wind/data-tools</a:t>
            </a:r>
            <a:endParaRPr lang="en-US" dirty="0"/>
          </a:p>
          <a:p>
            <a:r>
              <a:rPr lang="en-US" dirty="0">
                <a:hlinkClick r:id="rId3"/>
              </a:rPr>
              <a:t>IJRET20140305090.pdf</a:t>
            </a:r>
            <a:endParaRPr lang="en-US" dirty="0"/>
          </a:p>
          <a:p>
            <a:r>
              <a:rPr lang="en-US" dirty="0">
                <a:hlinkClick r:id="rId4"/>
              </a:rPr>
              <a:t>DNVGL-ST-0126 Support structures for wind turbines 07-2018.pdf</a:t>
            </a:r>
            <a:endParaRPr lang="en-US" dirty="0"/>
          </a:p>
          <a:p>
            <a:r>
              <a:rPr lang="en-US" dirty="0">
                <a:hlinkClick r:id="rId5"/>
              </a:rPr>
              <a:t>002+Tower+Structures+WS+2025+WM.pdf</a:t>
            </a:r>
            <a:endParaRPr lang="en-US" dirty="0"/>
          </a:p>
          <a:p>
            <a:endParaRPr lang="de-DE" dirty="0"/>
          </a:p>
          <a:p>
            <a:pPr indent="0">
              <a:buNone/>
            </a:pPr>
            <a:endParaRPr lang="en-US" dirty="0"/>
          </a:p>
        </p:txBody>
      </p:sp>
      <p:sp>
        <p:nvSpPr>
          <p:cNvPr id="4" name="Foliennummernplatzhalter 24">
            <a:extLst>
              <a:ext uri="{FF2B5EF4-FFF2-40B4-BE49-F238E27FC236}">
                <a16:creationId xmlns:a16="http://schemas.microsoft.com/office/drawing/2014/main" id="{F10194F4-3D37-512B-2B26-9C04B8C1650F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13</a:t>
            </a:fld>
            <a:endParaRPr lang="en-GB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B93DC041-90B6-C941-52B5-00E4518378E0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Optimus Syria</a:t>
            </a:r>
          </a:p>
        </p:txBody>
      </p:sp>
      <p:sp>
        <p:nvSpPr>
          <p:cNvPr id="6" name="Datumsplatzhalter 4">
            <a:extLst>
              <a:ext uri="{FF2B5EF4-FFF2-40B4-BE49-F238E27FC236}">
                <a16:creationId xmlns:a16="http://schemas.microsoft.com/office/drawing/2014/main" id="{03BC1F16-3018-9278-A858-729D629BD305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09/12/2025</a:t>
            </a:r>
          </a:p>
        </p:txBody>
      </p:sp>
      <p:sp>
        <p:nvSpPr>
          <p:cNvPr id="8" name="Textfeld 12">
            <a:extLst>
              <a:ext uri="{FF2B5EF4-FFF2-40B4-BE49-F238E27FC236}">
                <a16:creationId xmlns:a16="http://schemas.microsoft.com/office/drawing/2014/main" id="{1F831D32-8865-0D60-F414-90E43E938CA5}"/>
              </a:ext>
            </a:extLst>
          </p:cNvPr>
          <p:cNvSpPr txBox="1"/>
          <p:nvPr/>
        </p:nvSpPr>
        <p:spPr>
          <a:xfrm>
            <a:off x="2878528" y="65954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Eldemerdash (760137)</a:t>
            </a:r>
          </a:p>
        </p:txBody>
      </p:sp>
    </p:spTree>
    <p:extLst>
      <p:ext uri="{BB962C8B-B14F-4D97-AF65-F5344CB8AC3E}">
        <p14:creationId xmlns:p14="http://schemas.microsoft.com/office/powerpoint/2010/main" val="411886644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93</TotalTime>
  <Words>749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Presentation template_final</vt:lpstr>
      <vt:lpstr>Custom Design</vt:lpstr>
      <vt:lpstr>Benutzerdefiniertes Design</vt:lpstr>
      <vt:lpstr>Weekly report: Tower structure 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Mohammed Eldemerdash</cp:lastModifiedBy>
  <cp:revision>84</cp:revision>
  <dcterms:created xsi:type="dcterms:W3CDTF">2025-09-28T13:42:33Z</dcterms:created>
  <dcterms:modified xsi:type="dcterms:W3CDTF">2025-12-07T22:59:54Z</dcterms:modified>
</cp:coreProperties>
</file>