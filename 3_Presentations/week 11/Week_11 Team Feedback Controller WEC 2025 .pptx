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</p:sldMasterIdLst>
  <p:notesMasterIdLst>
    <p:notesMasterId r:id="rId14"/>
  </p:notesMasterIdLst>
  <p:sldIdLst>
    <p:sldId id="257" r:id="rId3"/>
    <p:sldId id="259" r:id="rId4"/>
    <p:sldId id="261" r:id="rId5"/>
    <p:sldId id="297" r:id="rId6"/>
    <p:sldId id="291" r:id="rId7"/>
    <p:sldId id="294" r:id="rId8"/>
    <p:sldId id="292" r:id="rId9"/>
    <p:sldId id="293" r:id="rId10"/>
    <p:sldId id="295" r:id="rId11"/>
    <p:sldId id="296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3C7D5-49C9-4310-99B0-74BF8F98F62E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34A5A-C299-4527-A106-DBD1B288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34A5A-C299-4527-A106-DBD1B2885A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4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35032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6662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5741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23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6663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534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9461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466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94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50291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32093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78992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88053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1413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9885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55202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07005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8792-EDF0-A005-2CE2-24C261AC6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3DE22-B4B9-EA44-EF61-D733C53BE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83C22-FDA0-3E63-68DD-4A6E7DD4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4B19-AF55-A977-1451-9DC5DC1F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D61A8-50FB-0E57-BC6B-11987F02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88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91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1956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520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3A84E93A-72FE-4BB6-A500-FB6DD421822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09/12/2025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459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sv-SE"/>
              <a:t>Feedback &amp; Lidar Controller  / Optimus Syria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09/12/2025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519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13D3613-1229-23C4-BBAC-0C4D5D552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6908"/>
            <a:ext cx="12192000" cy="912598"/>
          </a:xfrm>
        </p:spPr>
        <p:txBody>
          <a:bodyPr/>
          <a:lstStyle/>
          <a:p>
            <a:r>
              <a:rPr lang="en-US" noProof="0" dirty="0"/>
              <a:t>Weekly report: Feedback &amp; Lidar – Assisted Controller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11943A6-016A-175F-ED49-9090C8C30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noProof="0" dirty="0"/>
              <a:t>Week number: </a:t>
            </a:r>
            <a:r>
              <a:rPr lang="tr-TR" sz="2000" noProof="0" dirty="0"/>
              <a:t>11</a:t>
            </a:r>
            <a:endParaRPr lang="en-US" sz="2000" noProof="0" dirty="0"/>
          </a:p>
          <a:p>
            <a:r>
              <a:rPr lang="en-US" sz="2000" noProof="0" dirty="0"/>
              <a:t>Date: 0</a:t>
            </a:r>
            <a:r>
              <a:rPr lang="tr-TR" sz="2000" noProof="0" dirty="0"/>
              <a:t>9</a:t>
            </a:r>
            <a:r>
              <a:rPr lang="en-US" sz="2000" noProof="0" dirty="0"/>
              <a:t>/12/2025</a:t>
            </a:r>
          </a:p>
          <a:p>
            <a:r>
              <a:rPr lang="en-US" sz="2000" noProof="0" dirty="0"/>
              <a:t>Supervisor: Prof. Dr.-Ing. David Schlipf</a:t>
            </a:r>
          </a:p>
          <a:p>
            <a:endParaRPr lang="en-US" sz="2000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D66077-75E8-B72F-9B4E-64E062858EC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982755" y="4653709"/>
            <a:ext cx="6226490" cy="758312"/>
          </a:xfrm>
        </p:spPr>
        <p:txBody>
          <a:bodyPr/>
          <a:lstStyle/>
          <a:p>
            <a:r>
              <a:rPr lang="en-US" noProof="0" dirty="0"/>
              <a:t>Group members: Mirza Dincer, Saurabh Pankaj Jha, Midhun </a:t>
            </a:r>
            <a:r>
              <a:rPr lang="en-US" noProof="0" dirty="0" err="1"/>
              <a:t>Kanichattu</a:t>
            </a:r>
            <a:r>
              <a:rPr lang="en-US" noProof="0" dirty="0"/>
              <a:t> Venu</a:t>
            </a:r>
          </a:p>
          <a:p>
            <a:r>
              <a:rPr lang="en-US" noProof="0" dirty="0"/>
              <a:t>Presenter:</a:t>
            </a:r>
            <a:r>
              <a:rPr lang="tr-TR" noProof="0" dirty="0"/>
              <a:t> </a:t>
            </a:r>
            <a:r>
              <a:rPr lang="en-US" dirty="0"/>
              <a:t>Saurabh Pankaj Jha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51974-AA80-93E7-DE29-6B240912C06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noProof="0"/>
              <a:t>09/12/2025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1378A-4F01-6B30-CC0C-0D06C211A4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US" noProof="0" smtClean="0"/>
              <a:pPr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D90F1C-B0AB-81E1-63B6-F10AE37370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6803"/>
            <a:ext cx="3055971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11454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96C42-5C8A-4DF6-469E-AA02488B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Tasks of the week</a:t>
            </a:r>
          </a:p>
          <a:p>
            <a:r>
              <a:rPr lang="en-US" dirty="0"/>
              <a:t>Results of </a:t>
            </a:r>
            <a:r>
              <a:rPr lang="tr-TR" dirty="0"/>
              <a:t>Steady States</a:t>
            </a:r>
            <a:r>
              <a:rPr lang="en-US" dirty="0"/>
              <a:t> calculation for Optimus project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E0BEDA-D340-0E86-7B6A-D958296C7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List of Contents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26A6A-DC19-EFAF-AC42-F8701A3F5C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Saurabh Pankaj Jha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A55B5-D29A-D64C-52F3-986289E5F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09/12/2025</a:t>
            </a:r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052D8F-1675-605E-CB1B-9CD5E63E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B39CA5-143A-78A6-B398-AAF845BF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776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BD1F737-C9E5-D61C-802C-D8AA46A8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Tasks of the Week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CE80E-4A9A-B819-E481-DA6D7AC2F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02112" cy="435133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r-TR" noProof="0" dirty="0" err="1"/>
              <a:t>Adjusting</a:t>
            </a:r>
            <a:r>
              <a:rPr lang="tr-TR" noProof="0" dirty="0"/>
              <a:t> </a:t>
            </a:r>
            <a:r>
              <a:rPr lang="tr-TR" noProof="0" dirty="0" err="1"/>
              <a:t>torque</a:t>
            </a:r>
            <a:r>
              <a:rPr lang="tr-TR" noProof="0" dirty="0"/>
              <a:t> </a:t>
            </a:r>
            <a:r>
              <a:rPr lang="tr-TR" noProof="0" dirty="0" err="1"/>
              <a:t>controller</a:t>
            </a:r>
            <a:endParaRPr lang="tr-TR" noProof="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noProof="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r-TR" noProof="0" dirty="0"/>
              <a:t>Calculating steady </a:t>
            </a:r>
            <a:r>
              <a:rPr lang="tr-TR" dirty="0"/>
              <a:t>s</a:t>
            </a:r>
            <a:r>
              <a:rPr lang="tr-TR" noProof="0" dirty="0"/>
              <a:t>tates</a:t>
            </a:r>
            <a:r>
              <a:rPr lang="en-US" noProof="0" dirty="0"/>
              <a:t> for the Optimus project.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22DFD0-8551-3A05-D2F0-A2FEDE79CB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dirty="0"/>
              <a:t>Saurabh Pankaj Jha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189547C-E522-4813-C302-A8977F7E796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/>
              <a:t>09/12/2025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04BE1C-7C80-B8F9-3A23-EBD96702EE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2FC9593-3854-FCA1-E2BE-010AAED06C6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9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3245172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A4094-EA8D-C3AA-AE75-9DD3AC76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BAA471-CB9E-3C17-99C3-C45956CD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Setting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99F05-0528-8690-8A9C-DAB208873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02112" cy="4351338"/>
          </a:xfrm>
        </p:spPr>
        <p:txBody>
          <a:bodyPr>
            <a:normAutofit/>
          </a:bodyPr>
          <a:lstStyle/>
          <a:p>
            <a:r>
              <a:rPr lang="en-US" b="1" dirty="0"/>
              <a:t>6</a:t>
            </a:r>
            <a:r>
              <a:rPr lang="tr-TR" b="1" dirty="0"/>
              <a:t>00</a:t>
            </a:r>
            <a:r>
              <a:rPr lang="en-US" b="1" dirty="0"/>
              <a:t> seconds </a:t>
            </a:r>
            <a:r>
              <a:rPr lang="en-US" dirty="0"/>
              <a:t>of simulation. </a:t>
            </a:r>
          </a:p>
          <a:p>
            <a:endParaRPr lang="en-US" dirty="0"/>
          </a:p>
          <a:p>
            <a:r>
              <a:rPr lang="tr-TR" b="1" dirty="0" err="1"/>
              <a:t>Wind</a:t>
            </a:r>
            <a:r>
              <a:rPr lang="tr-TR" b="1" dirty="0"/>
              <a:t> </a:t>
            </a:r>
            <a:r>
              <a:rPr lang="tr-TR" b="1" dirty="0" err="1"/>
              <a:t>speeds</a:t>
            </a:r>
            <a:r>
              <a:rPr lang="tr-TR" b="1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b="1" dirty="0"/>
              <a:t>1 m/s </a:t>
            </a:r>
            <a:r>
              <a:rPr lang="tr-TR" b="1" dirty="0" err="1"/>
              <a:t>to</a:t>
            </a:r>
            <a:r>
              <a:rPr lang="tr-TR" b="1" dirty="0"/>
              <a:t> 25 m/s</a:t>
            </a:r>
            <a:r>
              <a:rPr lang="tr-TR" dirty="0"/>
              <a:t>,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increments</a:t>
            </a:r>
            <a:r>
              <a:rPr lang="tr-TR" dirty="0"/>
              <a:t> of 1 m/s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Only enabled </a:t>
            </a:r>
            <a:r>
              <a:rPr lang="en-US" b="1" dirty="0"/>
              <a:t>Rotor DOF </a:t>
            </a:r>
            <a:r>
              <a:rPr lang="en-US" dirty="0"/>
              <a:t>and </a:t>
            </a:r>
            <a:r>
              <a:rPr lang="en-US" b="1" dirty="0"/>
              <a:t>First fore-aft tower bending-mode DOF.</a:t>
            </a:r>
            <a:endParaRPr lang="tr-TR" b="1" dirty="0"/>
          </a:p>
          <a:p>
            <a:endParaRPr lang="en-US" b="1" dirty="0"/>
          </a:p>
          <a:p>
            <a:r>
              <a:rPr lang="en-US" b="1" dirty="0"/>
              <a:t>Initial conditions of pitch angle, rotor speed</a:t>
            </a:r>
            <a:r>
              <a:rPr lang="en-US" dirty="0"/>
              <a:t> and </a:t>
            </a:r>
            <a:r>
              <a:rPr lang="en-US" b="1" dirty="0"/>
              <a:t>fore-aft tower position</a:t>
            </a:r>
            <a:r>
              <a:rPr lang="en-US" dirty="0"/>
              <a:t> for every corresponding wind speed.</a:t>
            </a:r>
          </a:p>
          <a:p>
            <a:endParaRPr lang="en-US" dirty="0"/>
          </a:p>
          <a:p>
            <a:r>
              <a:rPr lang="tr-TR" dirty="0" err="1"/>
              <a:t>Torque</a:t>
            </a:r>
            <a:r>
              <a:rPr lang="tr-TR" dirty="0"/>
              <a:t> </a:t>
            </a:r>
            <a:r>
              <a:rPr lang="tr-TR" dirty="0" err="1"/>
              <a:t>controller</a:t>
            </a:r>
            <a:r>
              <a:rPr lang="tr-TR" dirty="0"/>
              <a:t> </a:t>
            </a:r>
            <a:r>
              <a:rPr lang="tr-TR" dirty="0" err="1"/>
              <a:t>adjusted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Optimus</a:t>
            </a:r>
            <a:r>
              <a:rPr lang="tr-TR" dirty="0"/>
              <a:t> </a:t>
            </a:r>
            <a:r>
              <a:rPr lang="tr-TR" dirty="0" err="1"/>
              <a:t>Syria</a:t>
            </a:r>
            <a:endParaRPr lang="tr-TR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2E7C50-4550-B117-82AF-F87C3C8D94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US" dirty="0"/>
              <a:t>Saurabh Pankaj Jha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8A1229E-324E-6EA5-9094-6BC846CE153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/>
              <a:t>09/12/2025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D36336-C750-117E-702F-B37FF05675B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97A22F-6FF2-8D28-7439-2DAE2EB04F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9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244473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892B-0F84-3BC0-0E9C-E679F50A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Rotational Speed</a:t>
            </a:r>
            <a:endParaRPr lang="en-US" dirty="0"/>
          </a:p>
        </p:txBody>
      </p:sp>
      <p:pic>
        <p:nvPicPr>
          <p:cNvPr id="10" name="Content Placeholder 9" descr="A graph with a line&#10;&#10;AI-generated content may be incorrect.">
            <a:extLst>
              <a:ext uri="{FF2B5EF4-FFF2-40B4-BE49-F238E27FC236}">
                <a16:creationId xmlns:a16="http://schemas.microsoft.com/office/drawing/2014/main" id="{DA9A5FC1-8684-1571-52FD-18DAD8B40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9851" y="1825625"/>
            <a:ext cx="7092407" cy="435133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FBA76-116E-5DAB-07C7-0B02878E46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Saurabh Pankaj Jha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93D13-4833-2113-3372-C442D0F492F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41307-F66B-F38B-E8B3-C62E108FC06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E76F5-03AD-39AF-2166-75E12C3E89C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13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6818A-34AE-63D5-9133-EA83656F3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A98D-A0FE-4EE5-4403-2349BA66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Pitch Angle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ADC66-8D39-5B45-345B-6C7693D22A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Saurabh Pankaj Jha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A6C79-17EC-8151-1F6D-A474D2F154C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CA45A-9A37-0DE2-236F-431EC746D98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5AE435-EEA9-CA8A-5100-FADE3753561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6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97C8F1-762F-A8E1-5432-C70329397EC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endParaRPr lang="en-US"/>
          </a:p>
        </p:txBody>
      </p:sp>
      <p:pic>
        <p:nvPicPr>
          <p:cNvPr id="12" name="Content Placeholder 11" descr="A graph with a line&#10;&#10;AI-generated content may be incorrect.">
            <a:extLst>
              <a:ext uri="{FF2B5EF4-FFF2-40B4-BE49-F238E27FC236}">
                <a16:creationId xmlns:a16="http://schemas.microsoft.com/office/drawing/2014/main" id="{A38A941F-C854-ABCB-EA13-258BCD2B3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9851" y="1825625"/>
            <a:ext cx="67122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03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BFFE-AB10-D949-383C-15F71D20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3465-A627-1DBE-9F72-0D16AE73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Tower Top Displacement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F2F59-0811-D009-859A-D86B6AB88A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Saurabh Pankaj Jha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10681-C247-B0CB-7560-5D0E7AE2C1B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DAFAA-DE65-573C-388B-75861CBC308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4D6A7-7FC4-9DE6-CFB5-1F40D4B9104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7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DCFC10-CB3C-6CE2-140B-946681D5F8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endParaRPr lang="en-US"/>
          </a:p>
        </p:txBody>
      </p:sp>
      <p:pic>
        <p:nvPicPr>
          <p:cNvPr id="12" name="Content Placeholder 11" descr="A graph with a line&#10;&#10;AI-generated content may be incorrect.">
            <a:extLst>
              <a:ext uri="{FF2B5EF4-FFF2-40B4-BE49-F238E27FC236}">
                <a16:creationId xmlns:a16="http://schemas.microsoft.com/office/drawing/2014/main" id="{26508DC7-0230-379A-4276-3652F67D7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1000" y="1825625"/>
            <a:ext cx="67899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20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3F11-F60D-E63E-8CD6-A679557E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F88C2-3923-2DA8-64F6-0C82263DC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Generator Torque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F643E-C58F-FF38-0A34-3367571C11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Saurabh Pankaj Jha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95D1E-F88C-1ACC-08FF-685857AAAF3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A93F7-8E5B-40E4-EBA5-2D0CBBFABF2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A4335-116B-29D6-2BE5-EC6364F3DFF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8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84BEE2-7F2A-7F75-8B8F-9EAFBF29050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endParaRPr lang="en-US"/>
          </a:p>
        </p:txBody>
      </p:sp>
      <p:pic>
        <p:nvPicPr>
          <p:cNvPr id="12" name="Content Placeholder 11" descr="A graph with a line&#10;&#10;AI-generated content may be incorrect.">
            <a:extLst>
              <a:ext uri="{FF2B5EF4-FFF2-40B4-BE49-F238E27FC236}">
                <a16:creationId xmlns:a16="http://schemas.microsoft.com/office/drawing/2014/main" id="{894F5BCC-E9DB-6629-2BFD-EBD16CF58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6863" y="1825625"/>
            <a:ext cx="67182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70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29429-E228-0659-5E7B-EFDA78162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5CEA-B23F-1704-604C-D2AC579CF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Curve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CF060-1112-D7A4-E173-B9C8C3ADFE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Saurabh Pankaj Jha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91060-0990-7479-CA05-540CA530D8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2821F-EE0E-2B9F-BF12-EF1C4F4E227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C48CD-87FD-A85C-3678-6E99D5CD2E8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9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917353-0DA3-8509-2458-7486275C9B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62500" lnSpcReduction="20000"/>
          </a:bodyPr>
          <a:lstStyle/>
          <a:p>
            <a:endParaRPr lang="en-US"/>
          </a:p>
        </p:txBody>
      </p:sp>
      <p:pic>
        <p:nvPicPr>
          <p:cNvPr id="12" name="Content Placeholder 11" descr="A graph with a line&#10;&#10;AI-generated content may be incorrect.">
            <a:extLst>
              <a:ext uri="{FF2B5EF4-FFF2-40B4-BE49-F238E27FC236}">
                <a16:creationId xmlns:a16="http://schemas.microsoft.com/office/drawing/2014/main" id="{0DA18176-43E4-0D99-9A52-235E461DA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3069" y="1825625"/>
            <a:ext cx="68258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27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744BA-DD2E-C0D1-876F-653DD366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4AC48-64ED-50A5-BFF5-D579B1DD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Rotational Speed - Torque Curve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69276-AD4A-0612-BAF7-DB9A0ED1AB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Saurabh Pankaj Jha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2CE57-9A5A-699D-95E0-0236CADF593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15D96-BA41-4C51-8607-E322466DAA2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sv-SE"/>
              <a:t>Feedback &amp; Lidar Controller  / Optimus Syria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7A940-F9BE-9461-3A01-62E02FE00A1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smtClean="0"/>
              <a:t>10</a:t>
            </a:fld>
            <a:endParaRPr lang="en-US"/>
          </a:p>
        </p:txBody>
      </p:sp>
      <p:pic>
        <p:nvPicPr>
          <p:cNvPr id="16" name="Content Placeholder 15" descr="A graph with a line&#10;&#10;AI-generated content may be incorrect.">
            <a:extLst>
              <a:ext uri="{FF2B5EF4-FFF2-40B4-BE49-F238E27FC236}">
                <a16:creationId xmlns:a16="http://schemas.microsoft.com/office/drawing/2014/main" id="{29302066-A67B-26D7-EF56-ADD44602D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9851" y="1825625"/>
            <a:ext cx="67122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73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FF05-E4FA-0C0D-C7B9-03579DF8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4F11E-0379-23D5-BA8E-334FB43B2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335"/>
            <a:ext cx="10515600" cy="46726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noProof="0" dirty="0" err="1"/>
              <a:t>Torque</a:t>
            </a:r>
            <a:r>
              <a:rPr lang="tr-TR" noProof="0" dirty="0"/>
              <a:t> </a:t>
            </a:r>
            <a:r>
              <a:rPr lang="tr-TR" noProof="0" dirty="0" err="1"/>
              <a:t>controller</a:t>
            </a:r>
            <a:r>
              <a:rPr lang="tr-TR" noProof="0" dirty="0"/>
              <a:t> </a:t>
            </a:r>
            <a:r>
              <a:rPr lang="tr-TR" noProof="0" dirty="0" err="1"/>
              <a:t>and</a:t>
            </a:r>
            <a:r>
              <a:rPr lang="tr-TR" noProof="0" dirty="0"/>
              <a:t> </a:t>
            </a:r>
            <a:r>
              <a:rPr lang="tr-TR" noProof="0" dirty="0" err="1"/>
              <a:t>steady</a:t>
            </a:r>
            <a:r>
              <a:rPr lang="tr-TR" noProof="0" dirty="0"/>
              <a:t> </a:t>
            </a:r>
            <a:r>
              <a:rPr lang="tr-TR" noProof="0" dirty="0" err="1"/>
              <a:t>states</a:t>
            </a:r>
            <a:r>
              <a:rPr lang="tr-TR" noProof="0" dirty="0"/>
              <a:t> </a:t>
            </a:r>
            <a:r>
              <a:rPr lang="tr-TR" noProof="0" dirty="0" err="1"/>
              <a:t>needs</a:t>
            </a:r>
            <a:r>
              <a:rPr lang="tr-TR" noProof="0" dirty="0"/>
              <a:t> </a:t>
            </a:r>
            <a:r>
              <a:rPr lang="tr-TR" noProof="0" dirty="0" err="1"/>
              <a:t>to</a:t>
            </a:r>
            <a:r>
              <a:rPr lang="tr-TR" noProof="0" dirty="0"/>
              <a:t> be </a:t>
            </a:r>
            <a:r>
              <a:rPr lang="tr-TR" noProof="0" dirty="0" err="1"/>
              <a:t>updated</a:t>
            </a:r>
            <a:r>
              <a:rPr lang="tr-TR" noProof="0" dirty="0"/>
              <a:t>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en-US" noProof="0" dirty="0"/>
          </a:p>
          <a:p>
            <a:pPr fontAlgn="base"/>
            <a:r>
              <a:rPr lang="en-US" b="1" noProof="0" dirty="0"/>
              <a:t>Next weeks:</a:t>
            </a:r>
          </a:p>
          <a:p>
            <a:pPr marL="0" indent="0" fontAlgn="base">
              <a:buNone/>
            </a:pPr>
            <a:r>
              <a:rPr lang="en-US" dirty="0"/>
              <a:t>Finalize steady states.</a:t>
            </a:r>
            <a:endParaRPr lang="tr-TR" noProof="0" dirty="0"/>
          </a:p>
          <a:p>
            <a:pPr marL="0" indent="0" fontAlgn="base">
              <a:buNone/>
            </a:pPr>
            <a:r>
              <a:rPr lang="en-GB" noProof="0" dirty="0"/>
              <a:t>Show </a:t>
            </a:r>
            <a:r>
              <a:rPr lang="en-GB" dirty="0"/>
              <a:t>t</a:t>
            </a:r>
            <a:r>
              <a:rPr lang="tr-TR" noProof="0" dirty="0" err="1"/>
              <a:t>orque</a:t>
            </a:r>
            <a:r>
              <a:rPr lang="tr-TR" noProof="0" dirty="0"/>
              <a:t> </a:t>
            </a:r>
            <a:r>
              <a:rPr lang="tr-TR" noProof="0" dirty="0" err="1"/>
              <a:t>and</a:t>
            </a:r>
            <a:r>
              <a:rPr lang="tr-TR" noProof="0" dirty="0"/>
              <a:t> </a:t>
            </a:r>
            <a:r>
              <a:rPr lang="tr-TR" noProof="0" dirty="0" err="1"/>
              <a:t>pitch</a:t>
            </a:r>
            <a:r>
              <a:rPr lang="tr-TR" noProof="0" dirty="0"/>
              <a:t> </a:t>
            </a:r>
            <a:r>
              <a:rPr lang="tr-TR" dirty="0"/>
              <a:t>c</a:t>
            </a:r>
            <a:r>
              <a:rPr lang="tr-TR" noProof="0" dirty="0" err="1"/>
              <a:t>ontroller</a:t>
            </a:r>
            <a:r>
              <a:rPr lang="tr-TR" noProof="0" dirty="0"/>
              <a:t> </a:t>
            </a:r>
            <a:r>
              <a:rPr lang="tr-TR" noProof="0" dirty="0" err="1"/>
              <a:t>results</a:t>
            </a:r>
            <a:r>
              <a:rPr lang="en-GB" noProof="0" dirty="0"/>
              <a:t>.</a:t>
            </a:r>
            <a:endParaRPr lang="tr-TR" noProof="0" dirty="0"/>
          </a:p>
          <a:p>
            <a:pPr marL="0" indent="0" fontAlgn="base">
              <a:buNone/>
            </a:pPr>
            <a:r>
              <a:rPr lang="tr-TR" noProof="0" dirty="0" err="1"/>
              <a:t>Find</a:t>
            </a:r>
            <a:r>
              <a:rPr lang="tr-TR" noProof="0" dirty="0"/>
              <a:t> </a:t>
            </a:r>
            <a:r>
              <a:rPr lang="tr-TR" noProof="0" dirty="0" err="1"/>
              <a:t>the</a:t>
            </a:r>
            <a:r>
              <a:rPr lang="tr-TR" noProof="0" dirty="0"/>
              <a:t> optimal </a:t>
            </a:r>
            <a:r>
              <a:rPr lang="tr-TR" noProof="0" dirty="0" err="1"/>
              <a:t>gain-schedule</a:t>
            </a:r>
            <a:r>
              <a:rPr lang="tr-TR" noProof="0" dirty="0"/>
              <a:t> </a:t>
            </a:r>
            <a:r>
              <a:rPr lang="tr-TR" noProof="0" dirty="0" err="1"/>
              <a:t>table</a:t>
            </a:r>
            <a:r>
              <a:rPr lang="tr-TR" noProof="0" dirty="0"/>
              <a:t> </a:t>
            </a:r>
            <a:r>
              <a:rPr lang="tr-TR" noProof="0" dirty="0" err="1"/>
              <a:t>for</a:t>
            </a:r>
            <a:r>
              <a:rPr lang="tr-TR" noProof="0" dirty="0"/>
              <a:t> </a:t>
            </a:r>
            <a:r>
              <a:rPr lang="tr-TR" noProof="0" dirty="0" err="1"/>
              <a:t>pitch</a:t>
            </a:r>
            <a:r>
              <a:rPr lang="tr-TR" noProof="0" dirty="0"/>
              <a:t> </a:t>
            </a:r>
            <a:r>
              <a:rPr lang="tr-TR" noProof="0" dirty="0" err="1"/>
              <a:t>controller</a:t>
            </a:r>
            <a:endParaRPr lang="en-GB" noProof="0" dirty="0"/>
          </a:p>
          <a:p>
            <a:pPr marL="0" indent="0" fontAlgn="base">
              <a:buNone/>
            </a:pPr>
            <a:r>
              <a:rPr lang="en-GB" noProof="0" dirty="0"/>
              <a:t>Adjust static pitch curve for feedforward pitch controller and verify by EOG.</a:t>
            </a:r>
          </a:p>
          <a:p>
            <a:pPr marL="0" indent="0" fontAlgn="base">
              <a:buNone/>
            </a:pPr>
            <a:r>
              <a:rPr lang="en-GB" dirty="0"/>
              <a:t>Determine best lidar measurement distance.</a:t>
            </a:r>
          </a:p>
          <a:p>
            <a:pPr marL="0" indent="0" fontAlgn="base">
              <a:buNone/>
            </a:pPr>
            <a:r>
              <a:rPr lang="en-GB" noProof="0" dirty="0"/>
              <a:t>Determine the cut-off frequency of low pass filter in feedforward pitch controller.</a:t>
            </a:r>
          </a:p>
          <a:p>
            <a:pPr marL="0" indent="0" fontAlgn="base">
              <a:buNone/>
            </a:pPr>
            <a:r>
              <a:rPr lang="en-GB" noProof="0" dirty="0"/>
              <a:t>Verify results by turbulent wind simulations.</a:t>
            </a:r>
          </a:p>
          <a:p>
            <a:pPr marL="0" indent="0" fontAlgn="base">
              <a:buNone/>
            </a:pPr>
            <a:endParaRPr lang="en-GB" noProof="0" dirty="0"/>
          </a:p>
          <a:p>
            <a:pPr marL="0" indent="0" fontAlgn="base">
              <a:buNone/>
            </a:pPr>
            <a:endParaRPr lang="en-GB" noProof="0" dirty="0"/>
          </a:p>
          <a:p>
            <a:pPr marL="0" indent="0" fontAlgn="base">
              <a:buNone/>
            </a:pPr>
            <a:endParaRPr lang="tr-TR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57715-04AD-1733-D6EE-3ED2075EF0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Saurabh Pankaj Jha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E55E15D-A89A-0E88-0C10-DCC57A70042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noProof="0"/>
              <a:t>09/12/2025</a:t>
            </a:r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4600388-DD13-10AE-D6E8-C3B2B3F898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83757" y="6564113"/>
            <a:ext cx="3165698" cy="365125"/>
          </a:xfrm>
        </p:spPr>
        <p:txBody>
          <a:bodyPr/>
          <a:lstStyle/>
          <a:p>
            <a:r>
              <a:rPr lang="en-US" noProof="0" dirty="0"/>
              <a:t>Feedback &amp; Lidar Controller  /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0AAE9-4FCB-81C8-9E6C-E44698F413F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A84E93A-72FE-4BB6-A500-FB6DD421822B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365014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E7258755-3B8A-428F-9B71-020BDB6F6014}" vid="{2CB19E59-5F41-4D40-98BC-C6D4E668C96F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9663</TotalTime>
  <Words>358</Words>
  <Application>Microsoft Office PowerPoint</Application>
  <PresentationFormat>Widescreen</PresentationFormat>
  <Paragraphs>86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Theme1</vt:lpstr>
      <vt:lpstr>Benutzerdefiniertes Design</vt:lpstr>
      <vt:lpstr>Weekly report: Feedback &amp; Lidar – Assisted Controller</vt:lpstr>
      <vt:lpstr>List of Contents</vt:lpstr>
      <vt:lpstr>Tasks of the Week</vt:lpstr>
      <vt:lpstr>Simulation Setting</vt:lpstr>
      <vt:lpstr>Rotational Speed</vt:lpstr>
      <vt:lpstr>Pitch Angle</vt:lpstr>
      <vt:lpstr>Tower Top Displacement</vt:lpstr>
      <vt:lpstr>Generator Torque</vt:lpstr>
      <vt:lpstr>Power Curve</vt:lpstr>
      <vt:lpstr>Rotational Speed - Torque Curve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Mirza Dincer</dc:creator>
  <cp:lastModifiedBy>Mirza Dincer</cp:lastModifiedBy>
  <cp:revision>159</cp:revision>
  <dcterms:created xsi:type="dcterms:W3CDTF">2025-10-04T12:59:06Z</dcterms:created>
  <dcterms:modified xsi:type="dcterms:W3CDTF">2025-12-08T20:52:58Z</dcterms:modified>
</cp:coreProperties>
</file>