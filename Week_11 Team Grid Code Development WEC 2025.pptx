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1" r:id="rId5"/>
    <p:sldMasterId id="2147483672" r:id="rId6"/>
  </p:sldMasterIdLst>
  <p:notesMasterIdLst>
    <p:notesMasterId r:id="rId19"/>
  </p:notesMasterIdLst>
  <p:handoutMasterIdLst>
    <p:handoutMasterId r:id="rId20"/>
  </p:handoutMasterIdLst>
  <p:sldIdLst>
    <p:sldId id="263" r:id="rId7"/>
    <p:sldId id="273" r:id="rId8"/>
    <p:sldId id="276" r:id="rId9"/>
    <p:sldId id="277" r:id="rId10"/>
    <p:sldId id="278" r:id="rId11"/>
    <p:sldId id="279" r:id="rId12"/>
    <p:sldId id="280" r:id="rId13"/>
    <p:sldId id="281" r:id="rId14"/>
    <p:sldId id="284" r:id="rId15"/>
    <p:sldId id="282" r:id="rId16"/>
    <p:sldId id="283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73"/>
          </p14:sldIdLst>
        </p14:section>
        <p14:section name="Title, main slides" id="{B26F6679-C236-4D3D-BC2F-CAE5ED400718}">
          <p14:sldIdLst>
            <p14:sldId id="276"/>
            <p14:sldId id="277"/>
            <p14:sldId id="278"/>
            <p14:sldId id="279"/>
            <p14:sldId id="280"/>
            <p14:sldId id="281"/>
            <p14:sldId id="284"/>
            <p14:sldId id="282"/>
            <p14:sldId id="283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7EB39A-314F-4720-91FB-30F830F32CB0}" v="428" dt="2025-12-06T17:58:21.439"/>
    <p1510:client id="{C8DE5304-040E-5BB8-15D0-93B668E41098}" v="74" dt="2025-12-07T11:54:22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f Remberger" userId="S::jore7960@stud.hs-flensburg.de::7497df3f-f8b8-4cfe-8089-9b4ad60d4715" providerId="AD" clId="Web-{C8DE5304-040E-5BB8-15D0-93B668E41098}"/>
    <pc:docChg chg="modSld">
      <pc:chgData name="Josef Remberger" userId="S::jore7960@stud.hs-flensburg.de::7497df3f-f8b8-4cfe-8089-9b4ad60d4715" providerId="AD" clId="Web-{C8DE5304-040E-5BB8-15D0-93B668E41098}" dt="2025-12-07T11:54:19.226" v="69" actId="20577"/>
      <pc:docMkLst>
        <pc:docMk/>
      </pc:docMkLst>
      <pc:sldChg chg="modSp">
        <pc:chgData name="Josef Remberger" userId="S::jore7960@stud.hs-flensburg.de::7497df3f-f8b8-4cfe-8089-9b4ad60d4715" providerId="AD" clId="Web-{C8DE5304-040E-5BB8-15D0-93B668E41098}" dt="2025-12-07T11:25:09.701" v="23" actId="20577"/>
        <pc:sldMkLst>
          <pc:docMk/>
          <pc:sldMk cId="2324200714" sldId="282"/>
        </pc:sldMkLst>
        <pc:spChg chg="mod">
          <ac:chgData name="Josef Remberger" userId="S::jore7960@stud.hs-flensburg.de::7497df3f-f8b8-4cfe-8089-9b4ad60d4715" providerId="AD" clId="Web-{C8DE5304-040E-5BB8-15D0-93B668E41098}" dt="2025-12-07T11:25:09.701" v="23" actId="20577"/>
          <ac:spMkLst>
            <pc:docMk/>
            <pc:sldMk cId="2324200714" sldId="282"/>
            <ac:spMk id="3" creationId="{00965CB1-4D6D-A0AB-630E-2CB9A112B029}"/>
          </ac:spMkLst>
        </pc:spChg>
      </pc:sldChg>
      <pc:sldChg chg="modSp">
        <pc:chgData name="Josef Remberger" userId="S::jore7960@stud.hs-flensburg.de::7497df3f-f8b8-4cfe-8089-9b4ad60d4715" providerId="AD" clId="Web-{C8DE5304-040E-5BB8-15D0-93B668E41098}" dt="2025-12-07T11:54:19.226" v="69" actId="20577"/>
        <pc:sldMkLst>
          <pc:docMk/>
          <pc:sldMk cId="3039513686" sldId="283"/>
        </pc:sldMkLst>
        <pc:spChg chg="mod">
          <ac:chgData name="Josef Remberger" userId="S::jore7960@stud.hs-flensburg.de::7497df3f-f8b8-4cfe-8089-9b4ad60d4715" providerId="AD" clId="Web-{C8DE5304-040E-5BB8-15D0-93B668E41098}" dt="2025-12-07T11:54:19.226" v="69" actId="20577"/>
          <ac:spMkLst>
            <pc:docMk/>
            <pc:sldMk cId="3039513686" sldId="283"/>
            <ac:spMk id="3" creationId="{00965CB1-4D6D-A0AB-630E-2CB9A112B02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44)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DF5AC43-E5EF-0524-5C72-3AC43D2D1965}"/>
              </a:ext>
            </a:extLst>
          </p:cNvPr>
          <p:cNvSpPr/>
          <p:nvPr userDrawn="1"/>
        </p:nvSpPr>
        <p:spPr>
          <a:xfrm>
            <a:off x="7392013" y="172238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the </a:t>
            </a:r>
            <a:r>
              <a:rPr lang="it-IT" dirty="0" err="1"/>
              <a:t>heading</a:t>
            </a:r>
            <a:r>
              <a:rPr lang="it-IT" dirty="0"/>
              <a:t> in the </a:t>
            </a:r>
            <a:r>
              <a:rPr lang="it-IT" dirty="0" err="1"/>
              <a:t>same</a:t>
            </a:r>
            <a:r>
              <a:rPr lang="it-IT" dirty="0"/>
              <a:t> style </a:t>
            </a:r>
            <a:endParaRPr lang="en-GB" dirty="0"/>
          </a:p>
        </p:txBody>
      </p:sp>
      <p:cxnSp>
        <p:nvCxnSpPr>
          <p:cNvPr id="5" name="Straight Arrow Connector 21">
            <a:extLst>
              <a:ext uri="{FF2B5EF4-FFF2-40B4-BE49-F238E27FC236}">
                <a16:creationId xmlns:a16="http://schemas.microsoft.com/office/drawing/2014/main" id="{E14BA36E-5CEF-0525-3ADE-5A38CD19B2C1}"/>
              </a:ext>
            </a:extLst>
          </p:cNvPr>
          <p:cNvCxnSpPr>
            <a:cxnSpLocks/>
            <a:stCxn id="3" idx="0"/>
          </p:cNvCxnSpPr>
          <p:nvPr userDrawn="1"/>
        </p:nvCxnSpPr>
        <p:spPr>
          <a:xfrm flipH="1" flipV="1">
            <a:off x="7108466" y="1095661"/>
            <a:ext cx="1585182" cy="6267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66B44A4-CCF4-F4ED-41B9-357EC476AE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Griid</a:t>
            </a:r>
            <a:r>
              <a:rPr lang="en-GB" dirty="0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Grid Code Development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21482-13B3-7966-1561-2C8B2003D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Griid</a:t>
            </a:r>
            <a:r>
              <a:rPr lang="en-GB" dirty="0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F4671D2-6B89-9B90-5B1E-A013325B2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Griid</a:t>
            </a:r>
            <a:r>
              <a:rPr lang="en-GB" dirty="0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5E503-ABFD-2524-8ED8-4D081D587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Griid</a:t>
            </a:r>
            <a:r>
              <a:rPr lang="en-GB" dirty="0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  <p:sp>
        <p:nvSpPr>
          <p:cNvPr id="6" name="Textplatzhalter 16">
            <a:extLst>
              <a:ext uri="{FF2B5EF4-FFF2-40B4-BE49-F238E27FC236}">
                <a16:creationId xmlns:a16="http://schemas.microsoft.com/office/drawing/2014/main" id="{9E45A9B0-40B3-EFC2-CB05-B97B489810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Josef Remberger / </a:t>
            </a:r>
            <a:r>
              <a:rPr lang="de-DE" sz="1200" dirty="0"/>
              <a:t>Vijay </a:t>
            </a:r>
            <a:r>
              <a:rPr lang="de-DE" sz="1200" dirty="0" err="1"/>
              <a:t>Simha</a:t>
            </a:r>
            <a:r>
              <a:rPr lang="de-DE" sz="1200" dirty="0"/>
              <a:t> Reddy </a:t>
            </a:r>
            <a:r>
              <a:rPr lang="de-DE" sz="1200" dirty="0" err="1"/>
              <a:t>Bogala</a:t>
            </a:r>
            <a:endParaRPr lang="de-DE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94D06B6-F957-715C-C460-88CE66E11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Griid</a:t>
            </a:r>
            <a:r>
              <a:rPr lang="en-GB" dirty="0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F5722C0-AE44-1F16-8E78-87C36A4CA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Griid</a:t>
            </a:r>
            <a:r>
              <a:rPr lang="en-GB" dirty="0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7912943-580F-7AC8-E0BF-45D08A6BE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Griid</a:t>
            </a:r>
            <a:r>
              <a:rPr lang="en-GB" dirty="0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EFB681C-08C7-CC13-3F14-D6E37E4D3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Griid</a:t>
            </a:r>
            <a:r>
              <a:rPr lang="en-GB" dirty="0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D9DCA57-DD06-AC71-BA63-5EEB27100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Griid</a:t>
            </a:r>
            <a:r>
              <a:rPr lang="en-GB" dirty="0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3C3F959-2B9D-9EB1-44CA-0009FEF3A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Griid</a:t>
            </a:r>
            <a:r>
              <a:rPr lang="en-GB" dirty="0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57614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A08F222C-E6B4-CB18-1940-4D03D41410C5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48E6A6-5F2B-4404-D02B-D0186EA2675E}"/>
              </a:ext>
            </a:extLst>
          </p:cNvPr>
          <p:cNvSpPr txBox="1"/>
          <p:nvPr userDrawn="1"/>
        </p:nvSpPr>
        <p:spPr>
          <a:xfrm>
            <a:off x="3913526" y="4104491"/>
            <a:ext cx="414263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2st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7th 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38224568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dirty="0" err="1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</a:t>
            </a:r>
            <a:r>
              <a:rPr kumimoji="0" lang="it-IT" sz="6600" b="1" i="0" u="none" strike="noStrike" kern="1200" cap="none" spc="0" normalizeH="0" baseline="0" noProof="0" dirty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941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Griid</a:t>
            </a:r>
            <a:r>
              <a:rPr lang="en-GB" dirty="0"/>
              <a:t> Code Development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6" r:id="rId2"/>
    <p:sldLayoutId id="2147483674" r:id="rId3"/>
    <p:sldLayoutId id="2147483685" r:id="rId4"/>
    <p:sldLayoutId id="2147483684" r:id="rId5"/>
    <p:sldLayoutId id="2147483688" r:id="rId6"/>
    <p:sldLayoutId id="2147483666" r:id="rId7"/>
    <p:sldLayoutId id="2147483689" r:id="rId8"/>
    <p:sldLayoutId id="2147483662" r:id="rId9"/>
    <p:sldLayoutId id="2147483690" r:id="rId10"/>
    <p:sldLayoutId id="2147483664" r:id="rId11"/>
    <p:sldLayoutId id="2147483665" r:id="rId12"/>
    <p:sldLayoutId id="2147483667" r:id="rId13"/>
    <p:sldLayoutId id="2147483668" r:id="rId14"/>
    <p:sldLayoutId id="2147483669" r:id="rId15"/>
    <p:sldLayoutId id="2147483670" r:id="rId16"/>
    <p:sldLayoutId id="2147483671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3994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3" r:id="rId2"/>
    <p:sldLayoutId id="2147483675" r:id="rId3"/>
    <p:sldLayoutId id="214748367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fld id="{E9760055-B4F0-4D03-A54C-8326910BC371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103C8AC-ACFF-082C-E04A-301598446FCB}"/>
              </a:ext>
            </a:extLst>
          </p:cNvPr>
          <p:cNvSpPr txBox="1">
            <a:spLocks/>
          </p:cNvSpPr>
          <p:nvPr/>
        </p:nvSpPr>
        <p:spPr>
          <a:xfrm>
            <a:off x="1524000" y="2492563"/>
            <a:ext cx="9144000" cy="912598"/>
          </a:xfrm>
          <a:prstGeom prst="rect">
            <a:avLst/>
          </a:prstGeom>
        </p:spPr>
        <p:txBody>
          <a:bodyPr numCol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 dirty="0"/>
              <a:t>Weekly report: </a:t>
            </a:r>
            <a:r>
              <a:rPr lang="it-IT" sz="4000" dirty="0" err="1"/>
              <a:t>Grid</a:t>
            </a:r>
            <a:r>
              <a:rPr lang="it-IT" sz="4000" dirty="0"/>
              <a:t> Code Development</a:t>
            </a:r>
            <a:endParaRPr lang="en-GB" sz="40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45C6A5A-D647-B958-532A-B6FD2180F534}"/>
              </a:ext>
            </a:extLst>
          </p:cNvPr>
          <p:cNvSpPr txBox="1"/>
          <p:nvPr/>
        </p:nvSpPr>
        <p:spPr>
          <a:xfrm>
            <a:off x="3591498" y="3539230"/>
            <a:ext cx="4786685" cy="12926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000" dirty="0">
                <a:latin typeface="Aptos (Textkörper)"/>
              </a:rPr>
              <a:t>Week </a:t>
            </a:r>
            <a:r>
              <a:rPr lang="it-IT" sz="2000" dirty="0" err="1">
                <a:latin typeface="Aptos (Textkörper)"/>
              </a:rPr>
              <a:t>number</a:t>
            </a:r>
            <a:r>
              <a:rPr lang="it-IT" sz="2000" dirty="0">
                <a:latin typeface="Aptos (Textkörper)"/>
              </a:rPr>
              <a:t>: 11</a:t>
            </a:r>
          </a:p>
          <a:p>
            <a:pPr algn="ctr"/>
            <a:r>
              <a:rPr lang="it-IT" sz="2000" dirty="0">
                <a:latin typeface="Aptos (Textkörper)"/>
              </a:rPr>
              <a:t>Date: 09/12/2025</a:t>
            </a:r>
          </a:p>
          <a:p>
            <a:pPr algn="ctr"/>
            <a:r>
              <a:rPr lang="it-IT" sz="2000" dirty="0">
                <a:latin typeface="Aptos (Textkörper)"/>
              </a:rPr>
              <a:t>Supervisor: Prof. Ing. </a:t>
            </a:r>
            <a:r>
              <a:rPr lang="it-IT" sz="2000" dirty="0" err="1">
                <a:latin typeface="Aptos (Textkörper)"/>
              </a:rPr>
              <a:t>Saiju</a:t>
            </a:r>
            <a:r>
              <a:rPr lang="it-IT" sz="2000" dirty="0">
                <a:latin typeface="Aptos (Textkörper)"/>
              </a:rPr>
              <a:t> </a:t>
            </a:r>
          </a:p>
          <a:p>
            <a:endParaRPr lang="en-GB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3C000AB-BF1C-5055-7B6C-B6CC03EBAE85}"/>
              </a:ext>
            </a:extLst>
          </p:cNvPr>
          <p:cNvSpPr txBox="1">
            <a:spLocks/>
          </p:cNvSpPr>
          <p:nvPr/>
        </p:nvSpPr>
        <p:spPr>
          <a:xfrm>
            <a:off x="3420429" y="4789634"/>
            <a:ext cx="5128821" cy="33171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Josef Remberger / </a:t>
            </a:r>
            <a:r>
              <a:rPr lang="de-DE" sz="1400" dirty="0"/>
              <a:t>Vijay </a:t>
            </a:r>
            <a:r>
              <a:rPr lang="de-DE" sz="1400" dirty="0" err="1"/>
              <a:t>Simha</a:t>
            </a:r>
            <a:r>
              <a:rPr lang="de-DE" sz="1400" dirty="0"/>
              <a:t> Reddy </a:t>
            </a:r>
            <a:r>
              <a:rPr lang="de-DE" sz="1400" dirty="0" err="1"/>
              <a:t>Bogala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C8A5761-C58E-5FDF-F2C0-8788E28E8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/>
              <a:t>PowerFactory</a:t>
            </a:r>
            <a:r>
              <a:rPr lang="de-DE" dirty="0"/>
              <a:t> </a:t>
            </a:r>
            <a:r>
              <a:rPr lang="de-DE" dirty="0" err="1"/>
              <a:t>Results</a:t>
            </a:r>
            <a:endParaRPr lang="de-DE" dirty="0"/>
          </a:p>
          <a:p>
            <a:pPr lvl="1"/>
            <a:r>
              <a:rPr lang="de-DE" dirty="0" err="1"/>
              <a:t>PowerFlow</a:t>
            </a:r>
            <a:endParaRPr lang="de-DE" dirty="0"/>
          </a:p>
          <a:p>
            <a:pPr lvl="1"/>
            <a:r>
              <a:rPr lang="de-DE" dirty="0"/>
              <a:t>Short Circuit</a:t>
            </a:r>
          </a:p>
          <a:p>
            <a:pPr lvl="1"/>
            <a:r>
              <a:rPr lang="de-DE" dirty="0"/>
              <a:t>LVRT</a:t>
            </a:r>
          </a:p>
          <a:p>
            <a:pPr lvl="1"/>
            <a:r>
              <a:rPr lang="de-DE" dirty="0"/>
              <a:t>HVRT</a:t>
            </a:r>
          </a:p>
          <a:p>
            <a:r>
              <a:rPr lang="de-DE" dirty="0" err="1"/>
              <a:t>Conclusion</a:t>
            </a:r>
            <a:endParaRPr lang="de-DE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7B97233-25F0-AC70-89CB-32DC983F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 of contents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2F8E95-F853-D383-97C6-DACDAC8A4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9371BD-3289-37AA-010C-E60A7C4DE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Grid Code Development / Optimus Syria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B5AD07-F640-5D0C-F7E5-7D452038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7" name="Textplatzhalter 16">
            <a:extLst>
              <a:ext uri="{FF2B5EF4-FFF2-40B4-BE49-F238E27FC236}">
                <a16:creationId xmlns:a16="http://schemas.microsoft.com/office/drawing/2014/main" id="{CEACD933-8F22-29A7-E9AC-5D793160E145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2664931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2E69788C-3D63-655C-B160-44D540649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1-i. </a:t>
            </a:r>
            <a:r>
              <a:rPr kumimoji="0" lang="de-DE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PowerFlow</a:t>
            </a:r>
            <a:endParaRPr lang="en-GB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98FF2E8-9003-14B1-C723-372819E3C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Number of turbines: 4</a:t>
            </a:r>
          </a:p>
          <a:p>
            <a:r>
              <a:rPr lang="en-GB" dirty="0"/>
              <a:t>Power at the PCC (</a:t>
            </a:r>
            <a:r>
              <a:rPr lang="en-GB" dirty="0" err="1"/>
              <a:t>Qattinah</a:t>
            </a:r>
            <a:br>
              <a:rPr lang="en-GB" dirty="0"/>
            </a:br>
            <a:r>
              <a:rPr lang="en-GB" dirty="0"/>
              <a:t>Substation): 19,57MW</a:t>
            </a:r>
          </a:p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21D73C-0798-D64A-65F8-347CE6F0278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A34618D-9962-E5B2-2630-9F76D5D6602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7B91BDE-CD1F-21C8-B76D-275F49DC50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/>
              <a:t>[1]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6E64777-270B-BA9C-6314-1758115199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Grid Code Development / Optimus Syria</a:t>
            </a:r>
          </a:p>
        </p:txBody>
      </p:sp>
      <p:sp>
        <p:nvSpPr>
          <p:cNvPr id="2" name="Textplatzhalter 16">
            <a:extLst>
              <a:ext uri="{FF2B5EF4-FFF2-40B4-BE49-F238E27FC236}">
                <a16:creationId xmlns:a16="http://schemas.microsoft.com/office/drawing/2014/main" id="{75227E0F-51BD-2CEF-733A-7F1CF24D57B3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Josef Remberger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8C7D84B-4AF9-C25E-4AA8-2014C5636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049" y="1369927"/>
            <a:ext cx="7247525" cy="512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998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2E82F-751C-9CDD-7F51-F8A868CF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1-ii. Short Circuit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965CB1-4D6D-A0AB-630E-2CB9A112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Complete 3-Phase </a:t>
            </a:r>
            <a:br>
              <a:rPr lang="en-GB" dirty="0"/>
            </a:br>
            <a:r>
              <a:rPr lang="en-GB" dirty="0"/>
              <a:t>short circuit at PCC</a:t>
            </a:r>
          </a:p>
          <a:p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F59BAB-43FB-D1E1-51A7-EAD15E63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5B8928-1466-B0AB-173E-6A488322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CE7171-A413-C0C3-E8D9-C2A819300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Grid Code Development / Optimus Syria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16619651-CD3C-C0C4-0898-1C7F8C1F15A4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Josef Remberger</a:t>
            </a:r>
          </a:p>
        </p:txBody>
      </p:sp>
      <p:pic>
        <p:nvPicPr>
          <p:cNvPr id="8" name="Grafik 7" descr="Ein Bild, das Text, Diagramm, parallel, Plan enthält.&#10;&#10;Automatisch generierte Beschreibung">
            <a:extLst>
              <a:ext uri="{FF2B5EF4-FFF2-40B4-BE49-F238E27FC236}">
                <a16:creationId xmlns:a16="http://schemas.microsoft.com/office/drawing/2014/main" id="{B62C3675-ED40-08FE-F8EA-EB1F862A7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091" y="1325563"/>
            <a:ext cx="7310287" cy="516731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8D95E00-4D88-8F56-77C2-9F8A95B3B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886" y="2398142"/>
            <a:ext cx="2417330" cy="1378477"/>
          </a:xfrm>
          <a:prstGeom prst="rect">
            <a:avLst/>
          </a:prstGeom>
        </p:spPr>
      </p:pic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57F20AD2-30DB-BB64-942A-CFFBA3EBD3C2}"/>
              </a:ext>
            </a:extLst>
          </p:cNvPr>
          <p:cNvCxnSpPr>
            <a:cxnSpLocks/>
          </p:cNvCxnSpPr>
          <p:nvPr/>
        </p:nvCxnSpPr>
        <p:spPr>
          <a:xfrm>
            <a:off x="7453223" y="1552755"/>
            <a:ext cx="2700068" cy="1259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5" name="Ellipse 14">
            <a:extLst>
              <a:ext uri="{FF2B5EF4-FFF2-40B4-BE49-F238E27FC236}">
                <a16:creationId xmlns:a16="http://schemas.microsoft.com/office/drawing/2014/main" id="{98F540F8-B780-1BCA-8BE3-864180A37D64}"/>
              </a:ext>
            </a:extLst>
          </p:cNvPr>
          <p:cNvSpPr/>
          <p:nvPr/>
        </p:nvSpPr>
        <p:spPr>
          <a:xfrm>
            <a:off x="7090913" y="1232449"/>
            <a:ext cx="439947" cy="458239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0AEA4EC1-B63F-9375-C795-7BD6C2CBFBB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9023" y="6216958"/>
            <a:ext cx="2248453" cy="309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2675395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2E82F-751C-9CDD-7F51-F8A868CF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1-iii. LVRT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965CB1-4D6D-A0AB-630E-2CB9A112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V_grid</a:t>
            </a:r>
            <a:r>
              <a:rPr lang="en-GB" dirty="0"/>
              <a:t> = 0 %, time = 100 </a:t>
            </a:r>
            <a:r>
              <a:rPr lang="en-GB" dirty="0" err="1"/>
              <a:t>ms</a:t>
            </a:r>
            <a:r>
              <a:rPr lang="en-GB" dirty="0"/>
              <a:t>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F59BAB-43FB-D1E1-51A7-EAD15E63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5B8928-1466-B0AB-173E-6A488322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CE7171-A413-C0C3-E8D9-C2A819300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Grid Code Development / Optimus Syria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16619651-CD3C-C0C4-0898-1C7F8C1F15A4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Josef Remberger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4A4F46A-CF41-3406-30D7-96F903102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70509"/>
            <a:ext cx="5339547" cy="378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5AA604D5-B528-CF3E-DBD7-32C6414D3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850" y="2270509"/>
            <a:ext cx="5355000" cy="3780000"/>
          </a:xfrm>
          <a:prstGeom prst="rect">
            <a:avLst/>
          </a:prstGeom>
        </p:spPr>
      </p:pic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62B36935-3426-276D-4B0B-8EFA4B09B36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9023" y="6216958"/>
            <a:ext cx="2248453" cy="309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384993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2E82F-751C-9CDD-7F51-F8A868CF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1-iii. LVRT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965CB1-4D6D-A0AB-630E-2CB9A112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V_grid</a:t>
            </a:r>
            <a:r>
              <a:rPr lang="en-GB" dirty="0"/>
              <a:t> = 20 %, time = 500 </a:t>
            </a:r>
            <a:r>
              <a:rPr lang="en-GB" dirty="0" err="1"/>
              <a:t>ms</a:t>
            </a:r>
            <a:r>
              <a:rPr lang="en-GB" dirty="0"/>
              <a:t> 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F59BAB-43FB-D1E1-51A7-EAD15E63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5B8928-1466-B0AB-173E-6A488322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CE7171-A413-C0C3-E8D9-C2A819300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Grid Code Development / Optimus Syria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16619651-CD3C-C0C4-0898-1C7F8C1F15A4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Josef Remberger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114FC74-B965-09EA-02CC-F20DE00CF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67568"/>
            <a:ext cx="5327228" cy="3780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ABFD8E7-F9FC-9B4D-102A-6F873871A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785" y="2267568"/>
            <a:ext cx="5342663" cy="3780000"/>
          </a:xfrm>
          <a:prstGeom prst="rect">
            <a:avLst/>
          </a:prstGeom>
        </p:spPr>
      </p:pic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A1767D80-D559-DC3B-47CD-32DB6D606B6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9023" y="6216958"/>
            <a:ext cx="2248453" cy="309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1485339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2E82F-751C-9CDD-7F51-F8A868CF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1-iii. LVRT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965CB1-4D6D-A0AB-630E-2CB9A112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V_grid</a:t>
            </a:r>
            <a:r>
              <a:rPr lang="en-GB" dirty="0"/>
              <a:t> = 80 %, time = 1000 </a:t>
            </a:r>
            <a:r>
              <a:rPr lang="en-GB" dirty="0" err="1"/>
              <a:t>ms</a:t>
            </a:r>
            <a:r>
              <a:rPr lang="en-GB" dirty="0"/>
              <a:t> </a:t>
            </a:r>
          </a:p>
          <a:p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F59BAB-43FB-D1E1-51A7-EAD15E63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5B8928-1466-B0AB-173E-6A488322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CE7171-A413-C0C3-E8D9-C2A819300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Grid Code Development / Optimus Syria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16619651-CD3C-C0C4-0898-1C7F8C1F15A4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Josef Remberger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EE786B6-18C8-1871-EE38-3EAA0C338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68913"/>
            <a:ext cx="5333948" cy="3780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081C00F-2E4C-24E2-BF25-89AC10487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859" y="2268913"/>
            <a:ext cx="5327228" cy="3780000"/>
          </a:xfrm>
          <a:prstGeom prst="rect">
            <a:avLst/>
          </a:prstGeom>
        </p:spPr>
      </p:pic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8C457B44-47EF-D0A3-10E3-BCB001DA249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9023" y="6216958"/>
            <a:ext cx="2248453" cy="309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550516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2E82F-751C-9CDD-7F51-F8A868CF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1-iv</a:t>
            </a:r>
            <a:r>
              <a:rPr lang="de-DE" dirty="0">
                <a:solidFill>
                  <a:prstClr val="black"/>
                </a:solidFill>
                <a:latin typeface="Aptos Display" panose="02110004020202020204"/>
              </a:rPr>
              <a:t>. L</a:t>
            </a:r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VRT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965CB1-4D6D-A0AB-630E-2CB9A112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V_grid</a:t>
            </a:r>
            <a:r>
              <a:rPr lang="en-GB" dirty="0"/>
              <a:t> = 90 %, time = 15000 </a:t>
            </a:r>
            <a:r>
              <a:rPr lang="en-GB" dirty="0" err="1"/>
              <a:t>ms</a:t>
            </a:r>
            <a:endParaRPr lang="en-GB" dirty="0"/>
          </a:p>
          <a:p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F59BAB-43FB-D1E1-51A7-EAD15E63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5B8928-1466-B0AB-173E-6A488322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CE7171-A413-C0C3-E8D9-C2A819300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Grid Code Development / Optimus Syria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16619651-CD3C-C0C4-0898-1C7F8C1F15A4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Josef Remberger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A773E71-01CE-BB76-0FDD-929B91B90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50314"/>
            <a:ext cx="5369312" cy="3780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4B1B6E3-71AF-4323-D2D4-BCF602510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297" y="2250314"/>
            <a:ext cx="5352212" cy="3780000"/>
          </a:xfrm>
          <a:prstGeom prst="rect">
            <a:avLst/>
          </a:prstGeom>
        </p:spPr>
      </p:pic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63F65764-C545-1004-5171-882E42E5B97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9023" y="6216958"/>
            <a:ext cx="2248453" cy="309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1109844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2E82F-751C-9CDD-7F51-F8A868CF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1-iv</a:t>
            </a:r>
            <a:r>
              <a:rPr lang="de-DE" dirty="0">
                <a:solidFill>
                  <a:prstClr val="black"/>
                </a:solidFill>
                <a:latin typeface="Aptos Display" panose="02110004020202020204"/>
              </a:rPr>
              <a:t>. H</a:t>
            </a:r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VRT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965CB1-4D6D-A0AB-630E-2CB9A112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V_grid</a:t>
            </a:r>
            <a:r>
              <a:rPr lang="en-GB" dirty="0"/>
              <a:t> = 125 %, time = 100 </a:t>
            </a:r>
            <a:r>
              <a:rPr lang="en-GB" dirty="0" err="1"/>
              <a:t>ms</a:t>
            </a:r>
            <a:endParaRPr lang="en-GB" dirty="0"/>
          </a:p>
          <a:p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F59BAB-43FB-D1E1-51A7-EAD15E63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5B8928-1466-B0AB-173E-6A488322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CE7171-A413-C0C3-E8D9-C2A819300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Grid Code Development / Optimus Syria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16619651-CD3C-C0C4-0898-1C7F8C1F15A4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Josef Remberger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CB78A97-06D4-EB3F-D774-90F5E31E1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77372"/>
            <a:ext cx="5358987" cy="3780000"/>
          </a:xfrm>
          <a:prstGeom prst="rect">
            <a:avLst/>
          </a:prstGeom>
        </p:spPr>
      </p:pic>
      <p:pic>
        <p:nvPicPr>
          <p:cNvPr id="10" name="Grafik 9" descr="Ein Bild, das Text, Reihe, Diagramm, parallel enthält.&#10;&#10;Automatisch generierte Beschreibung">
            <a:extLst>
              <a:ext uri="{FF2B5EF4-FFF2-40B4-BE49-F238E27FC236}">
                <a16:creationId xmlns:a16="http://schemas.microsoft.com/office/drawing/2014/main" id="{5054E881-71BA-FBD6-4FE3-F59B50A6E8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137" y="2277372"/>
            <a:ext cx="5327235" cy="3780000"/>
          </a:xfrm>
          <a:prstGeom prst="rect">
            <a:avLst/>
          </a:prstGeom>
        </p:spPr>
      </p:pic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925B69B9-68DC-CE63-1C7F-66B06B6625A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9023" y="6216958"/>
            <a:ext cx="2248453" cy="309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2076113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2E82F-751C-9CDD-7F51-F8A868CF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1-iv</a:t>
            </a:r>
            <a:r>
              <a:rPr lang="de-DE" dirty="0">
                <a:solidFill>
                  <a:prstClr val="black"/>
                </a:solidFill>
                <a:latin typeface="Aptos Display" panose="02110004020202020204"/>
              </a:rPr>
              <a:t>. H</a:t>
            </a:r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VRT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965CB1-4D6D-A0AB-630E-2CB9A112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/>
              <a:t>V_grid</a:t>
            </a:r>
            <a:r>
              <a:rPr lang="en-GB" dirty="0"/>
              <a:t> = 120 %, time = 5000 </a:t>
            </a:r>
            <a:r>
              <a:rPr lang="en-GB" dirty="0" err="1"/>
              <a:t>ms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-&gt; turbines are disconnected due to </a:t>
            </a:r>
            <a:r>
              <a:rPr lang="en-GB" dirty="0">
                <a:ea typeface="+mn-lt"/>
                <a:cs typeface="+mn-lt"/>
              </a:rPr>
              <a:t>inadequate protection settings in the turbine controller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F59BAB-43FB-D1E1-51A7-EAD15E63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5B8928-1466-B0AB-173E-6A488322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CE7171-A413-C0C3-E8D9-C2A819300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Grid Code Development / Optimus Syria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16619651-CD3C-C0C4-0898-1C7F8C1F15A4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Josef Remberger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D06478DD-B631-E920-976F-FC261F6AE62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9023" y="6216958"/>
            <a:ext cx="2248453" cy="309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2324200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2E82F-751C-9CDD-7F51-F8A868CF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2. </a:t>
            </a:r>
            <a:r>
              <a:rPr lang="de-DE" dirty="0">
                <a:solidFill>
                  <a:prstClr val="black"/>
                </a:solidFill>
                <a:latin typeface="Aptos Display" panose="02110004020202020204"/>
              </a:rPr>
              <a:t>C</a:t>
            </a:r>
            <a:r>
              <a:rPr kumimoji="0" lang="de-DE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onclusion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965CB1-4D6D-A0AB-630E-2CB9A112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Grid Code compliance for our turbine with the current protection devices </a:t>
            </a:r>
            <a:r>
              <a:rPr lang="en-GB" dirty="0">
                <a:solidFill>
                  <a:srgbClr val="000000"/>
                </a:solidFill>
              </a:rPr>
              <a:t>excluded the 120% HVRT</a:t>
            </a:r>
            <a:r>
              <a:rPr lang="en-GB" b="1" dirty="0">
                <a:solidFill>
                  <a:schemeClr val="accent6"/>
                </a:solidFill>
              </a:rPr>
              <a:t>✓</a:t>
            </a:r>
          </a:p>
          <a:p>
            <a:pPr marL="457200" lvl="1" indent="0">
              <a:buNone/>
            </a:pPr>
            <a:r>
              <a:rPr lang="en-GB" dirty="0"/>
              <a:t>-&gt; </a:t>
            </a:r>
            <a:r>
              <a:rPr lang="en-GB" dirty="0">
                <a:ea typeface="+mn-lt"/>
                <a:cs typeface="+mn-lt"/>
              </a:rPr>
              <a:t>Adjustments must be made to the controller settings in </a:t>
            </a:r>
            <a:r>
              <a:rPr lang="en-GB" dirty="0" err="1">
                <a:ea typeface="+mn-lt"/>
                <a:cs typeface="+mn-lt"/>
              </a:rPr>
              <a:t>PowerFactory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F59BAB-43FB-D1E1-51A7-EAD15E63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5B8928-1466-B0AB-173E-6A488322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CE7171-A413-C0C3-E8D9-C2A819300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Grid Code Development / Optimus Syria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16619651-CD3C-C0C4-0898-1C7F8C1F15A4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039513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Grid</a:t>
            </a:r>
            <a:r>
              <a:rPr lang="de-DE" dirty="0"/>
              <a:t> Code Development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C19340-9D16-A981-A772-1E4CF9E8643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de-DE" dirty="0" err="1"/>
              <a:t>Created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PowerFactory</a:t>
            </a:r>
            <a:r>
              <a:rPr lang="de-DE" dirty="0"/>
              <a:t> / </a:t>
            </a:r>
            <a:r>
              <a:rPr lang="de-DE" dirty="0" err="1"/>
              <a:t>DigSilent</a:t>
            </a:r>
            <a:endParaRPr lang="it-IT" dirty="0"/>
          </a:p>
          <a:p>
            <a:pPr lvl="0"/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83DB4-11DF-4DC9-9AFB-FDB45DBDB9C4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055318-CDFF-2436-5D76-D30CE5CB6A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8ECEFA"/>
        </a:solidFill>
        <a:ln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rid Code-Template.potx" id="{C4851253-06FE-4A6F-8FFF-D36998EFD417}" vid="{31D6BA52-6D61-41C1-9F78-91EE95D14E5D}"/>
    </a:ext>
  </a:extLst>
</a:theme>
</file>

<file path=ppt/theme/theme2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rid Code-Template.potx" id="{C4851253-06FE-4A6F-8FFF-D36998EFD417}" vid="{109DA6D4-AF04-4B2C-B785-3DDDACD6DBF6}"/>
    </a:ext>
  </a:extLst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id Code-Template.potx" id="{C4851253-06FE-4A6F-8FFF-D36998EFD417}" vid="{66097A27-5132-489B-912F-E1984D46994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a14e038-f945-4f95-9d7d-2a93662242b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7529408ED8F9D45807E67D1DE03BA44" ma:contentTypeVersion="9" ma:contentTypeDescription="Ein neues Dokument erstellen." ma:contentTypeScope="" ma:versionID="4b2b97589b31a68f5263fd7b93c6e6c2">
  <xsd:schema xmlns:xsd="http://www.w3.org/2001/XMLSchema" xmlns:xs="http://www.w3.org/2001/XMLSchema" xmlns:p="http://schemas.microsoft.com/office/2006/metadata/properties" xmlns:ns3="fa14e038-f945-4f95-9d7d-2a93662242ba" targetNamespace="http://schemas.microsoft.com/office/2006/metadata/properties" ma:root="true" ma:fieldsID="3c91ade0476817ba0b2ddfcacb458831" ns3:_="">
    <xsd:import namespace="fa14e038-f945-4f95-9d7d-2a93662242b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14e038-f945-4f95-9d7d-2a93662242b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60777D-BA33-4846-A3F4-94A28502EF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4793350-8D6A-4A23-B620-A7B724A19FBA}">
  <ds:schemaRefs>
    <ds:schemaRef ds:uri="http://purl.org/dc/elements/1.1/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fa14e038-f945-4f95-9d7d-2a93662242ba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91D4DD7-FAE7-4271-ACC4-1D2FB76FC4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14e038-f945-4f95-9d7d-2a93662242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Grid Code-Template Josef Remberger</Template>
  <TotalTime>0</TotalTime>
  <Words>344</Words>
  <Application>Microsoft Office PowerPoint</Application>
  <PresentationFormat>Breitbild</PresentationFormat>
  <Paragraphs>89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12</vt:i4>
      </vt:variant>
    </vt:vector>
  </HeadingPairs>
  <TitlesOfParts>
    <vt:vector size="22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Office</vt:lpstr>
      <vt:lpstr>1_Office</vt:lpstr>
      <vt:lpstr>Benutzerdefiniertes Design</vt:lpstr>
      <vt:lpstr>PowerPoint-Präsentation</vt:lpstr>
      <vt:lpstr>List of contents</vt:lpstr>
      <vt:lpstr>1-i. PowerFlow</vt:lpstr>
      <vt:lpstr>1-ii. Short Circuit</vt:lpstr>
      <vt:lpstr>1-iii. LVRT</vt:lpstr>
      <vt:lpstr>1-iii. LVRT</vt:lpstr>
      <vt:lpstr>1-iii. LVRT</vt:lpstr>
      <vt:lpstr>1-iv. LVRT</vt:lpstr>
      <vt:lpstr>1-iv. HVRT</vt:lpstr>
      <vt:lpstr>1-iv. HVRT</vt:lpstr>
      <vt:lpstr>2. Conclusion</vt:lpstr>
      <vt:lpstr>Bibliography – Grid Code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Josef Remberger</dc:creator>
  <cp:lastModifiedBy>Josef Remberger</cp:lastModifiedBy>
  <cp:revision>33</cp:revision>
  <dcterms:created xsi:type="dcterms:W3CDTF">2025-10-17T13:38:21Z</dcterms:created>
  <dcterms:modified xsi:type="dcterms:W3CDTF">2025-12-07T21:31:52Z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0x01010097529408ED8F9D45807E67D1DE03BA44</vt:lpwstr>
  </property>
</Properties>
</file>